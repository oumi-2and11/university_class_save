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3" r:id="rId3"/>
    <p:sldId id="295" r:id="rId5"/>
    <p:sldId id="296" r:id="rId6"/>
    <p:sldId id="261" r:id="rId7"/>
    <p:sldId id="297" r:id="rId8"/>
    <p:sldId id="268" r:id="rId9"/>
    <p:sldId id="304" r:id="rId10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603F"/>
    <a:srgbClr val="9BD5DA"/>
    <a:srgbClr val="3EAEB7"/>
    <a:srgbClr val="C83144"/>
    <a:srgbClr val="55B2A5"/>
    <a:srgbClr val="418F84"/>
    <a:srgbClr val="2C625A"/>
    <a:srgbClr val="55B2A7"/>
    <a:srgbClr val="DD1B3F"/>
    <a:srgbClr val="7033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4" autoAdjust="0"/>
    <p:restoredTop sz="93891" autoAdjust="0"/>
  </p:normalViewPr>
  <p:slideViewPr>
    <p:cSldViewPr snapToGrid="0">
      <p:cViewPr varScale="1">
        <p:scale>
          <a:sx n="100" d="100"/>
          <a:sy n="100" d="100"/>
        </p:scale>
        <p:origin x="78" y="444"/>
      </p:cViewPr>
      <p:guideLst>
        <p:guide orient="horz" pos="2115"/>
        <p:guide pos="5428"/>
        <p:guide orient="horz" pos="1321"/>
        <p:guide orient="horz" pos="129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92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87F3D-A9B4-48A4-B1A8-9B23B25036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349ED-01C7-4932-82E8-42DB3C01F7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349ED-01C7-4932-82E8-42DB3C01F7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349ED-01C7-4932-82E8-42DB3C01F7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349ED-01C7-4932-82E8-42DB3C01F7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349ED-01C7-4932-82E8-42DB3C01F7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349ED-01C7-4932-82E8-42DB3C01F7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349ED-01C7-4932-82E8-42DB3C01F7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349ED-01C7-4932-82E8-42DB3C01F7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4588D6-15B0-4D34-B160-748A245039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 6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" t="8889" r="15812" b="1748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矩形 259"/>
          <p:cNvSpPr>
            <a:spLocks noChangeArrowheads="1"/>
          </p:cNvSpPr>
          <p:nvPr/>
        </p:nvSpPr>
        <p:spPr bwMode="auto">
          <a:xfrm>
            <a:off x="3113977" y="2182969"/>
            <a:ext cx="729681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buNone/>
            </a:pPr>
            <a:r>
              <a:rPr lang="zh-CN" altLang="en-US" sz="7200" b="1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工作汇报总结</a:t>
            </a:r>
            <a:endParaRPr lang="en-US" altLang="zh-CN" sz="7200" b="1" spc="4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0" name="矩形 259"/>
          <p:cNvSpPr>
            <a:spLocks noChangeArrowheads="1"/>
          </p:cNvSpPr>
          <p:nvPr/>
        </p:nvSpPr>
        <p:spPr bwMode="auto">
          <a:xfrm>
            <a:off x="8045688" y="1235857"/>
            <a:ext cx="23223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buNone/>
            </a:pPr>
            <a:r>
              <a:rPr lang="en-US" altLang="zh-CN" sz="5400" b="1" dirty="0">
                <a:solidFill>
                  <a:srgbClr val="E3603F"/>
                </a:solidFill>
                <a:latin typeface="+mn-lt"/>
                <a:ea typeface="+mn-ea"/>
                <a:cs typeface="+mn-ea"/>
                <a:sym typeface="+mn-lt"/>
              </a:rPr>
              <a:t>201X</a:t>
            </a:r>
            <a:r>
              <a:rPr lang="zh-CN" altLang="en-US" sz="5400" b="1" dirty="0">
                <a:solidFill>
                  <a:srgbClr val="E3603F"/>
                </a:solidFill>
                <a:latin typeface="+mn-lt"/>
                <a:ea typeface="+mn-ea"/>
                <a:cs typeface="+mn-ea"/>
                <a:sym typeface="+mn-lt"/>
              </a:rPr>
              <a:t>年</a:t>
            </a:r>
            <a:endParaRPr lang="en-US" altLang="zh-CN" sz="5400" b="1" dirty="0">
              <a:solidFill>
                <a:srgbClr val="E3603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5" name="文本框 7"/>
          <p:cNvSpPr txBox="1"/>
          <p:nvPr/>
        </p:nvSpPr>
        <p:spPr>
          <a:xfrm>
            <a:off x="3647811" y="3420952"/>
            <a:ext cx="6780070" cy="800217"/>
          </a:xfrm>
          <a:prstGeom prst="rect">
            <a:avLst/>
          </a:prstGeom>
          <a:noFill/>
        </p:spPr>
        <p:txBody>
          <a:bodyPr wrap="square" lIns="91359" tIns="45719" rIns="91359" bIns="45719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 defTabSz="912495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The user can demonstrate on a projector or computer, or print the presentation and make it into a film to be used in a wider field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28348" y="5429250"/>
            <a:ext cx="1649811" cy="400110"/>
          </a:xfrm>
          <a:prstGeom prst="rect">
            <a:avLst/>
          </a:prstGeom>
          <a:noFill/>
          <a:ln>
            <a:solidFill>
              <a:srgbClr val="3EAEB7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AEB7"/>
                </a:solidFill>
                <a:cs typeface="+mn-ea"/>
                <a:sym typeface="+mn-lt"/>
              </a:rPr>
              <a:t>时间</a:t>
            </a:r>
            <a:r>
              <a:rPr lang="en-US" altLang="zh-CN" sz="2000" dirty="0">
                <a:solidFill>
                  <a:srgbClr val="3EAEB7"/>
                </a:solidFill>
                <a:cs typeface="+mn-ea"/>
                <a:sym typeface="+mn-lt"/>
              </a:rPr>
              <a:t>/201X</a:t>
            </a:r>
            <a:r>
              <a:rPr lang="zh-CN" altLang="en-US" sz="2000" dirty="0">
                <a:solidFill>
                  <a:srgbClr val="3EAEB7"/>
                </a:solidFill>
                <a:cs typeface="+mn-ea"/>
                <a:sym typeface="+mn-lt"/>
              </a:rPr>
              <a:t>年</a:t>
            </a:r>
            <a:endParaRPr lang="en-US" altLang="zh-CN" sz="2000" dirty="0">
              <a:solidFill>
                <a:srgbClr val="3EAEB7"/>
              </a:solidFill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63178" y="5429250"/>
            <a:ext cx="1595309" cy="400110"/>
          </a:xfrm>
          <a:prstGeom prst="rect">
            <a:avLst/>
          </a:prstGeom>
          <a:ln>
            <a:solidFill>
              <a:srgbClr val="3EAEB7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3EAEB7"/>
                </a:solidFill>
                <a:cs typeface="+mn-ea"/>
                <a:sym typeface="+mn-lt"/>
              </a:rPr>
              <a:t>汇报人</a:t>
            </a:r>
            <a:r>
              <a:rPr lang="en-US" altLang="zh-CN" sz="2000" dirty="0" smtClean="0">
                <a:solidFill>
                  <a:srgbClr val="3EAEB7"/>
                </a:solidFill>
                <a:cs typeface="+mn-ea"/>
                <a:sym typeface="+mn-lt"/>
              </a:rPr>
              <a:t>/</a:t>
            </a:r>
            <a:r>
              <a:rPr lang="zh-CN" altLang="en-US" sz="2000" dirty="0" smtClean="0">
                <a:solidFill>
                  <a:srgbClr val="3EAEB7"/>
                </a:solidFill>
                <a:cs typeface="+mn-ea"/>
                <a:sym typeface="+mn-lt"/>
              </a:rPr>
              <a:t>青课</a:t>
            </a:r>
            <a:endParaRPr lang="zh-CN" altLang="en-US" sz="2000" dirty="0">
              <a:solidFill>
                <a:srgbClr val="3EAEB7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99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5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0" grpId="0"/>
      <p:bldP spid="5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2" t="4963" r="13710" b="33139"/>
          <a:stretch>
            <a:fillRect/>
          </a:stretch>
        </p:blipFill>
        <p:spPr>
          <a:xfrm flipH="1">
            <a:off x="0" y="0"/>
            <a:ext cx="5865697" cy="4038601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6037137" y="4134510"/>
            <a:ext cx="4497446" cy="830996"/>
            <a:chOff x="898446" y="3506312"/>
            <a:chExt cx="3373082" cy="623247"/>
          </a:xfrm>
        </p:grpSpPr>
        <p:sp>
          <p:nvSpPr>
            <p:cNvPr id="19" name="矩形 18"/>
            <p:cNvSpPr/>
            <p:nvPr/>
          </p:nvSpPr>
          <p:spPr>
            <a:xfrm>
              <a:off x="1394759" y="3816265"/>
              <a:ext cx="2876769" cy="28474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defRPr/>
              </a:pPr>
              <a:r>
                <a:rPr lang="en-US" altLang="zh-CN" sz="1865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Work target plan next year</a:t>
              </a:r>
              <a:endParaRPr lang="zh-CN" altLang="en-US" sz="1865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22"/>
            <p:cNvSpPr txBox="1"/>
            <p:nvPr/>
          </p:nvSpPr>
          <p:spPr>
            <a:xfrm>
              <a:off x="1394759" y="3521037"/>
              <a:ext cx="1674978" cy="3770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665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工作经验欠缺</a:t>
              </a:r>
              <a:endParaRPr lang="zh-CN" altLang="en-US" sz="2665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" name="文本框 20"/>
            <p:cNvSpPr txBox="1"/>
            <p:nvPr/>
          </p:nvSpPr>
          <p:spPr>
            <a:xfrm>
              <a:off x="898446" y="3506312"/>
              <a:ext cx="396984" cy="62324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4</a:t>
              </a:r>
              <a:endPara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037137" y="1013445"/>
            <a:ext cx="4497436" cy="848670"/>
            <a:chOff x="6819852" y="1760489"/>
            <a:chExt cx="4497436" cy="848673"/>
          </a:xfrm>
        </p:grpSpPr>
        <p:grpSp>
          <p:nvGrpSpPr>
            <p:cNvPr id="25" name="组合 24"/>
            <p:cNvGrpSpPr/>
            <p:nvPr/>
          </p:nvGrpSpPr>
          <p:grpSpPr>
            <a:xfrm>
              <a:off x="7481596" y="1780122"/>
              <a:ext cx="3835692" cy="829040"/>
              <a:chOff x="6875851" y="2143368"/>
              <a:chExt cx="3835692" cy="829040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6875851" y="2592751"/>
                <a:ext cx="3835692" cy="379657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lvl="0">
                  <a:defRPr/>
                </a:pPr>
                <a:r>
                  <a:rPr lang="en-US" altLang="zh-CN" sz="1865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Overview of annual work</a:t>
                </a:r>
                <a:endParaRPr lang="zh-CN" altLang="en-US" sz="1865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7" name="文本框 7"/>
              <p:cNvSpPr txBox="1"/>
              <p:nvPr/>
            </p:nvSpPr>
            <p:spPr>
              <a:xfrm>
                <a:off x="6875851" y="2143368"/>
                <a:ext cx="2233304" cy="5027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665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工作总体回顾</a:t>
                </a:r>
                <a:endParaRPr lang="zh-CN" altLang="en-US" sz="2665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5" name="文本框 5"/>
            <p:cNvSpPr txBox="1"/>
            <p:nvPr/>
          </p:nvSpPr>
          <p:spPr>
            <a:xfrm>
              <a:off x="6819852" y="1760489"/>
              <a:ext cx="415498" cy="83100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1</a:t>
              </a:r>
              <a:endPara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037137" y="2053800"/>
            <a:ext cx="5361532" cy="848670"/>
            <a:chOff x="6819852" y="2767253"/>
            <a:chExt cx="5361532" cy="848673"/>
          </a:xfrm>
        </p:grpSpPr>
        <p:grpSp>
          <p:nvGrpSpPr>
            <p:cNvPr id="39" name="组合 38"/>
            <p:cNvGrpSpPr/>
            <p:nvPr/>
          </p:nvGrpSpPr>
          <p:grpSpPr>
            <a:xfrm>
              <a:off x="7481596" y="2786886"/>
              <a:ext cx="4699788" cy="829040"/>
              <a:chOff x="6875851" y="2143368"/>
              <a:chExt cx="4699788" cy="829040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6875851" y="2592751"/>
                <a:ext cx="4699788" cy="379657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lvl="0">
                  <a:defRPr/>
                </a:pPr>
                <a:r>
                  <a:rPr lang="en-US" altLang="zh-CN" sz="1865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Successful projects are shown in detail</a:t>
                </a:r>
                <a:endParaRPr lang="zh-CN" altLang="en-US" sz="1865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3" name="文本框 12"/>
              <p:cNvSpPr txBox="1"/>
              <p:nvPr/>
            </p:nvSpPr>
            <p:spPr>
              <a:xfrm>
                <a:off x="6875851" y="2143368"/>
                <a:ext cx="2233304" cy="5027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665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工作绩效总结</a:t>
                </a:r>
                <a:endParaRPr lang="zh-CN" altLang="en-US" sz="2665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40" name="文本框 10"/>
            <p:cNvSpPr txBox="1"/>
            <p:nvPr/>
          </p:nvSpPr>
          <p:spPr>
            <a:xfrm>
              <a:off x="6819852" y="2767253"/>
              <a:ext cx="529312" cy="83100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2</a:t>
              </a:r>
              <a:endPara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037137" y="3094155"/>
            <a:ext cx="4802302" cy="848670"/>
            <a:chOff x="6819852" y="3774017"/>
            <a:chExt cx="4802302" cy="848673"/>
          </a:xfrm>
        </p:grpSpPr>
        <p:grpSp>
          <p:nvGrpSpPr>
            <p:cNvPr id="45" name="组合 44"/>
            <p:cNvGrpSpPr/>
            <p:nvPr/>
          </p:nvGrpSpPr>
          <p:grpSpPr>
            <a:xfrm>
              <a:off x="7481595" y="3793650"/>
              <a:ext cx="4140559" cy="829040"/>
              <a:chOff x="6875850" y="2143368"/>
              <a:chExt cx="4140559" cy="829040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6875850" y="2592751"/>
                <a:ext cx="4140559" cy="379657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lvl="0">
                  <a:defRPr/>
                </a:pPr>
                <a:r>
                  <a:rPr lang="en-US" altLang="zh-CN" sz="1865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There are deficiencies in the work</a:t>
                </a:r>
                <a:endParaRPr lang="zh-CN" altLang="en-US" sz="1865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8" name="文本框 17"/>
              <p:cNvSpPr txBox="1"/>
              <p:nvPr/>
            </p:nvSpPr>
            <p:spPr>
              <a:xfrm>
                <a:off x="6875851" y="2143368"/>
                <a:ext cx="2233304" cy="5027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665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成功项目展示</a:t>
                </a:r>
                <a:endParaRPr lang="zh-CN" altLang="en-US" sz="2665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46" name="文本框 15"/>
            <p:cNvSpPr txBox="1"/>
            <p:nvPr/>
          </p:nvSpPr>
          <p:spPr>
            <a:xfrm>
              <a:off x="6819852" y="3774017"/>
              <a:ext cx="529312" cy="83100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</a:t>
              </a:r>
              <a:endPara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6037137" y="5157192"/>
            <a:ext cx="4497446" cy="888936"/>
            <a:chOff x="898446" y="4278389"/>
            <a:chExt cx="3373082" cy="666702"/>
          </a:xfrm>
        </p:grpSpPr>
        <p:sp>
          <p:nvSpPr>
            <p:cNvPr id="50" name="矩形 49"/>
            <p:cNvSpPr/>
            <p:nvPr/>
          </p:nvSpPr>
          <p:spPr>
            <a:xfrm>
              <a:off x="1394759" y="4660349"/>
              <a:ext cx="2876769" cy="28474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defRPr/>
              </a:pPr>
              <a:r>
                <a:rPr lang="en-US" altLang="zh-CN" sz="1865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Work target plan next year</a:t>
              </a:r>
              <a:endParaRPr lang="zh-CN" altLang="en-US" sz="1865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" name="文本框 22"/>
            <p:cNvSpPr txBox="1"/>
            <p:nvPr/>
          </p:nvSpPr>
          <p:spPr>
            <a:xfrm>
              <a:off x="1394759" y="4293114"/>
              <a:ext cx="1674978" cy="3770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665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后续工作计划</a:t>
              </a:r>
              <a:endParaRPr lang="zh-CN" altLang="en-US" sz="2665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" name="文本框 20"/>
            <p:cNvSpPr txBox="1"/>
            <p:nvPr/>
          </p:nvSpPr>
          <p:spPr>
            <a:xfrm>
              <a:off x="898446" y="4278389"/>
              <a:ext cx="381354" cy="623248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5</a:t>
              </a:r>
              <a:endPara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2674063" y="1821921"/>
            <a:ext cx="2009182" cy="3019105"/>
            <a:chOff x="5468063" y="-93319"/>
            <a:chExt cx="2009182" cy="3019108"/>
          </a:xfrm>
        </p:grpSpPr>
        <p:sp>
          <p:nvSpPr>
            <p:cNvPr id="54" name="TextBox 9"/>
            <p:cNvSpPr txBox="1"/>
            <p:nvPr/>
          </p:nvSpPr>
          <p:spPr>
            <a:xfrm>
              <a:off x="6800137" y="1018855"/>
              <a:ext cx="677108" cy="190693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eaVert"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CONTENTS</a:t>
              </a:r>
              <a:endPara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55" name="Straight Connector 3"/>
            <p:cNvCxnSpPr/>
            <p:nvPr/>
          </p:nvCxnSpPr>
          <p:spPr>
            <a:xfrm>
              <a:off x="5813425" y="1230313"/>
              <a:ext cx="56515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99"/>
            <p:cNvSpPr txBox="1"/>
            <p:nvPr/>
          </p:nvSpPr>
          <p:spPr>
            <a:xfrm>
              <a:off x="5468063" y="-93319"/>
              <a:ext cx="1292662" cy="284896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>
              <a:spAutoFit/>
            </a:bodyPr>
            <a:lstStyle/>
            <a:p>
              <a:pPr algn="ctr"/>
              <a:r>
                <a:rPr lang="zh-CN" altLang="en-US" sz="7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目 录</a:t>
              </a:r>
              <a:endParaRPr lang="zh-CN" alt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2" t="4963" r="13710" b="33139"/>
          <a:stretch>
            <a:fillRect/>
          </a:stretch>
        </p:blipFill>
        <p:spPr>
          <a:xfrm rot="5400000">
            <a:off x="6402094" y="1068095"/>
            <a:ext cx="6857999" cy="4721812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2869341" y="871538"/>
            <a:ext cx="2266770" cy="2266770"/>
            <a:chOff x="2629080" y="1018471"/>
            <a:chExt cx="2266770" cy="2266770"/>
          </a:xfrm>
        </p:grpSpPr>
        <p:sp>
          <p:nvSpPr>
            <p:cNvPr id="2" name="椭圆 1"/>
            <p:cNvSpPr/>
            <p:nvPr/>
          </p:nvSpPr>
          <p:spPr>
            <a:xfrm>
              <a:off x="2629080" y="1018471"/>
              <a:ext cx="2266770" cy="2266770"/>
            </a:xfrm>
            <a:prstGeom prst="ellipse">
              <a:avLst/>
            </a:prstGeom>
            <a:noFill/>
            <a:ln w="57150">
              <a:solidFill>
                <a:srgbClr val="9B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3" name="Freeform 104"/>
            <p:cNvSpPr>
              <a:spLocks noEditPoints="1"/>
            </p:cNvSpPr>
            <p:nvPr/>
          </p:nvSpPr>
          <p:spPr bwMode="auto">
            <a:xfrm>
              <a:off x="3267578" y="1649316"/>
              <a:ext cx="989774" cy="1005080"/>
            </a:xfrm>
            <a:custGeom>
              <a:avLst/>
              <a:gdLst>
                <a:gd name="T0" fmla="*/ 390102 w 60"/>
                <a:gd name="T1" fmla="*/ 82030 h 61"/>
                <a:gd name="T2" fmla="*/ 225848 w 60"/>
                <a:gd name="T3" fmla="*/ 82030 h 61"/>
                <a:gd name="T4" fmla="*/ 461963 w 60"/>
                <a:gd name="T5" fmla="*/ 420401 h 61"/>
                <a:gd name="T6" fmla="*/ 513292 w 60"/>
                <a:gd name="T7" fmla="*/ 594714 h 61"/>
                <a:gd name="T8" fmla="*/ 523558 w 60"/>
                <a:gd name="T9" fmla="*/ 451162 h 61"/>
                <a:gd name="T10" fmla="*/ 564621 w 60"/>
                <a:gd name="T11" fmla="*/ 594714 h 61"/>
                <a:gd name="T12" fmla="*/ 564621 w 60"/>
                <a:gd name="T13" fmla="*/ 389640 h 61"/>
                <a:gd name="T14" fmla="*/ 574887 w 60"/>
                <a:gd name="T15" fmla="*/ 297357 h 61"/>
                <a:gd name="T16" fmla="*/ 615950 w 60"/>
                <a:gd name="T17" fmla="*/ 389640 h 61"/>
                <a:gd name="T18" fmla="*/ 574887 w 60"/>
                <a:gd name="T19" fmla="*/ 215327 h 61"/>
                <a:gd name="T20" fmla="*/ 482494 w 60"/>
                <a:gd name="T21" fmla="*/ 235835 h 61"/>
                <a:gd name="T22" fmla="*/ 461963 w 60"/>
                <a:gd name="T23" fmla="*/ 420401 h 61"/>
                <a:gd name="T24" fmla="*/ 379836 w 60"/>
                <a:gd name="T25" fmla="*/ 266596 h 61"/>
                <a:gd name="T26" fmla="*/ 369570 w 60"/>
                <a:gd name="T27" fmla="*/ 379386 h 61"/>
                <a:gd name="T28" fmla="*/ 369570 w 60"/>
                <a:gd name="T29" fmla="*/ 625475 h 61"/>
                <a:gd name="T30" fmla="*/ 318241 w 60"/>
                <a:gd name="T31" fmla="*/ 451162 h 61"/>
                <a:gd name="T32" fmla="*/ 307975 w 60"/>
                <a:gd name="T33" fmla="*/ 625475 h 61"/>
                <a:gd name="T34" fmla="*/ 246380 w 60"/>
                <a:gd name="T35" fmla="*/ 410148 h 61"/>
                <a:gd name="T36" fmla="*/ 246380 w 60"/>
                <a:gd name="T37" fmla="*/ 266596 h 61"/>
                <a:gd name="T38" fmla="*/ 236114 w 60"/>
                <a:gd name="T39" fmla="*/ 379386 h 61"/>
                <a:gd name="T40" fmla="*/ 184785 w 60"/>
                <a:gd name="T41" fmla="*/ 225581 h 61"/>
                <a:gd name="T42" fmla="*/ 379836 w 60"/>
                <a:gd name="T43" fmla="*/ 174313 h 61"/>
                <a:gd name="T44" fmla="*/ 441431 w 60"/>
                <a:gd name="T45" fmla="*/ 379386 h 61"/>
                <a:gd name="T46" fmla="*/ 153988 w 60"/>
                <a:gd name="T47" fmla="*/ 420401 h 61"/>
                <a:gd name="T48" fmla="*/ 102658 w 60"/>
                <a:gd name="T49" fmla="*/ 594714 h 61"/>
                <a:gd name="T50" fmla="*/ 92393 w 60"/>
                <a:gd name="T51" fmla="*/ 451162 h 61"/>
                <a:gd name="T52" fmla="*/ 51329 w 60"/>
                <a:gd name="T53" fmla="*/ 594714 h 61"/>
                <a:gd name="T54" fmla="*/ 51329 w 60"/>
                <a:gd name="T55" fmla="*/ 389640 h 61"/>
                <a:gd name="T56" fmla="*/ 41063 w 60"/>
                <a:gd name="T57" fmla="*/ 297357 h 61"/>
                <a:gd name="T58" fmla="*/ 0 w 60"/>
                <a:gd name="T59" fmla="*/ 389640 h 61"/>
                <a:gd name="T60" fmla="*/ 41063 w 60"/>
                <a:gd name="T61" fmla="*/ 215327 h 61"/>
                <a:gd name="T62" fmla="*/ 133456 w 60"/>
                <a:gd name="T63" fmla="*/ 235835 h 61"/>
                <a:gd name="T64" fmla="*/ 153988 w 60"/>
                <a:gd name="T65" fmla="*/ 420401 h 61"/>
                <a:gd name="T66" fmla="*/ 164253 w 60"/>
                <a:gd name="T67" fmla="*/ 143552 h 61"/>
                <a:gd name="T68" fmla="*/ 153988 w 60"/>
                <a:gd name="T69" fmla="*/ 184566 h 61"/>
                <a:gd name="T70" fmla="*/ 30798 w 60"/>
                <a:gd name="T71" fmla="*/ 143552 h 61"/>
                <a:gd name="T72" fmla="*/ 513292 w 60"/>
                <a:gd name="T73" fmla="*/ 71776 h 61"/>
                <a:gd name="T74" fmla="*/ 461963 w 60"/>
                <a:gd name="T75" fmla="*/ 184566 h 61"/>
                <a:gd name="T76" fmla="*/ 513292 w 60"/>
                <a:gd name="T77" fmla="*/ 205074 h 61"/>
                <a:gd name="T78" fmla="*/ 513292 w 60"/>
                <a:gd name="T79" fmla="*/ 71776 h 6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35" y="0"/>
                    <a:pt x="38" y="3"/>
                    <a:pt x="38" y="8"/>
                  </a:cubicBezTo>
                  <a:cubicBezTo>
                    <a:pt x="38" y="12"/>
                    <a:pt x="35" y="16"/>
                    <a:pt x="30" y="16"/>
                  </a:cubicBezTo>
                  <a:cubicBezTo>
                    <a:pt x="26" y="16"/>
                    <a:pt x="22" y="12"/>
                    <a:pt x="22" y="8"/>
                  </a:cubicBezTo>
                  <a:cubicBezTo>
                    <a:pt x="22" y="3"/>
                    <a:pt x="26" y="0"/>
                    <a:pt x="30" y="0"/>
                  </a:cubicBezTo>
                  <a:close/>
                  <a:moveTo>
                    <a:pt x="45" y="41"/>
                  </a:moveTo>
                  <a:cubicBezTo>
                    <a:pt x="45" y="58"/>
                    <a:pt x="45" y="58"/>
                    <a:pt x="45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1" y="44"/>
                    <a:pt x="51" y="44"/>
                    <a:pt x="51" y="44"/>
                  </a:cubicBezTo>
                  <a:cubicBezTo>
                    <a:pt x="51" y="58"/>
                    <a:pt x="51" y="58"/>
                    <a:pt x="51" y="58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5" y="29"/>
                    <a:pt x="55" y="29"/>
                    <a:pt x="55" y="29"/>
                  </a:cubicBezTo>
                  <a:cubicBezTo>
                    <a:pt x="56" y="29"/>
                    <a:pt x="56" y="29"/>
                    <a:pt x="56" y="29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25"/>
                    <a:pt x="60" y="25"/>
                    <a:pt x="60" y="25"/>
                  </a:cubicBezTo>
                  <a:cubicBezTo>
                    <a:pt x="60" y="23"/>
                    <a:pt x="58" y="21"/>
                    <a:pt x="56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2"/>
                    <a:pt x="47" y="22"/>
                    <a:pt x="47" y="23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41"/>
                    <a:pt x="45" y="41"/>
                    <a:pt x="45" y="41"/>
                  </a:cubicBezTo>
                  <a:close/>
                  <a:moveTo>
                    <a:pt x="37" y="37"/>
                  </a:moveTo>
                  <a:cubicBezTo>
                    <a:pt x="37" y="26"/>
                    <a:pt x="37" y="26"/>
                    <a:pt x="37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19"/>
                    <a:pt x="20" y="17"/>
                    <a:pt x="23" y="17"/>
                  </a:cubicBezTo>
                  <a:cubicBezTo>
                    <a:pt x="38" y="17"/>
                    <a:pt x="22" y="17"/>
                    <a:pt x="37" y="17"/>
                  </a:cubicBezTo>
                  <a:cubicBezTo>
                    <a:pt x="40" y="17"/>
                    <a:pt x="43" y="19"/>
                    <a:pt x="43" y="22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2" y="37"/>
                    <a:pt x="40" y="37"/>
                    <a:pt x="37" y="37"/>
                  </a:cubicBezTo>
                  <a:close/>
                  <a:moveTo>
                    <a:pt x="15" y="41"/>
                  </a:moveTo>
                  <a:cubicBezTo>
                    <a:pt x="15" y="58"/>
                    <a:pt x="15" y="58"/>
                    <a:pt x="15" y="58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3"/>
                    <a:pt x="2" y="21"/>
                    <a:pt x="4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2"/>
                    <a:pt x="13" y="22"/>
                    <a:pt x="13" y="23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5" y="41"/>
                    <a:pt x="15" y="41"/>
                    <a:pt x="15" y="41"/>
                  </a:cubicBezTo>
                  <a:close/>
                  <a:moveTo>
                    <a:pt x="10" y="7"/>
                  </a:moveTo>
                  <a:cubicBezTo>
                    <a:pt x="14" y="7"/>
                    <a:pt x="16" y="10"/>
                    <a:pt x="16" y="14"/>
                  </a:cubicBezTo>
                  <a:cubicBezTo>
                    <a:pt x="16" y="15"/>
                    <a:pt x="16" y="16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3" y="19"/>
                    <a:pt x="12" y="20"/>
                    <a:pt x="10" y="20"/>
                  </a:cubicBezTo>
                  <a:cubicBezTo>
                    <a:pt x="6" y="20"/>
                    <a:pt x="3" y="17"/>
                    <a:pt x="3" y="14"/>
                  </a:cubicBezTo>
                  <a:cubicBezTo>
                    <a:pt x="3" y="10"/>
                    <a:pt x="6" y="7"/>
                    <a:pt x="10" y="7"/>
                  </a:cubicBezTo>
                  <a:close/>
                  <a:moveTo>
                    <a:pt x="50" y="7"/>
                  </a:moveTo>
                  <a:cubicBezTo>
                    <a:pt x="46" y="7"/>
                    <a:pt x="43" y="10"/>
                    <a:pt x="43" y="14"/>
                  </a:cubicBezTo>
                  <a:cubicBezTo>
                    <a:pt x="43" y="15"/>
                    <a:pt x="44" y="16"/>
                    <a:pt x="45" y="18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7" y="19"/>
                    <a:pt x="48" y="20"/>
                    <a:pt x="50" y="20"/>
                  </a:cubicBezTo>
                  <a:cubicBezTo>
                    <a:pt x="54" y="20"/>
                    <a:pt x="57" y="17"/>
                    <a:pt x="57" y="14"/>
                  </a:cubicBezTo>
                  <a:cubicBezTo>
                    <a:pt x="57" y="10"/>
                    <a:pt x="54" y="7"/>
                    <a:pt x="50" y="7"/>
                  </a:cubicBezTo>
                  <a:close/>
                </a:path>
              </a:pathLst>
            </a:custGeom>
            <a:solidFill>
              <a:srgbClr val="3EAEB7"/>
            </a:solidFill>
            <a:ln>
              <a:noFill/>
            </a:ln>
          </p:spPr>
          <p:txBody>
            <a:bodyPr/>
            <a:lstStyle/>
            <a:p>
              <a:pPr eaLnBrk="0" hangingPunct="0"/>
              <a:endParaRPr lang="zh-CN" altLang="en-US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4" name="文本框 5"/>
          <p:cNvSpPr txBox="1"/>
          <p:nvPr/>
        </p:nvSpPr>
        <p:spPr>
          <a:xfrm>
            <a:off x="2772261" y="3509877"/>
            <a:ext cx="2228495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 01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063733" y="4705933"/>
            <a:ext cx="3877986" cy="1197528"/>
            <a:chOff x="6854705" y="2143368"/>
            <a:chExt cx="3877986" cy="1197531"/>
          </a:xfrm>
        </p:grpSpPr>
        <p:sp>
          <p:nvSpPr>
            <p:cNvPr id="19" name="文本框 7"/>
            <p:cNvSpPr txBox="1"/>
            <p:nvPr/>
          </p:nvSpPr>
          <p:spPr>
            <a:xfrm>
              <a:off x="6854705" y="2143368"/>
              <a:ext cx="3877986" cy="830999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工作总体回顾</a:t>
              </a:r>
              <a:endPara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875851" y="2961242"/>
              <a:ext cx="3835692" cy="37965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defRPr/>
              </a:pPr>
              <a:r>
                <a:rPr lang="en-US" altLang="zh-CN" sz="1865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Overview of annual work</a:t>
              </a:r>
              <a:endParaRPr lang="zh-CN" altLang="en-US" sz="1865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178154" y="530496"/>
            <a:ext cx="3835692" cy="773201"/>
            <a:chOff x="4222456" y="265814"/>
            <a:chExt cx="3835692" cy="773201"/>
          </a:xfrm>
        </p:grpSpPr>
        <p:sp>
          <p:nvSpPr>
            <p:cNvPr id="4" name="文本框 3"/>
            <p:cNvSpPr txBox="1"/>
            <p:nvPr/>
          </p:nvSpPr>
          <p:spPr>
            <a:xfrm>
              <a:off x="4750094" y="265814"/>
              <a:ext cx="2780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工作总体回顾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222456" y="700461"/>
              <a:ext cx="3835692" cy="33855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defRPr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Overview of annual work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2" t="4963" r="13710" b="33139"/>
          <a:stretch>
            <a:fillRect/>
          </a:stretch>
        </p:blipFill>
        <p:spPr>
          <a:xfrm rot="5400000">
            <a:off x="6402094" y="1068095"/>
            <a:ext cx="6857999" cy="4721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7"/>
          <p:cNvSpPr/>
          <p:nvPr/>
        </p:nvSpPr>
        <p:spPr>
          <a:xfrm>
            <a:off x="1" y="2978348"/>
            <a:ext cx="12192000" cy="3336323"/>
          </a:xfrm>
          <a:custGeom>
            <a:avLst/>
            <a:gdLst>
              <a:gd name="connsiteX0" fmla="*/ 0 w 9848335"/>
              <a:gd name="connsiteY0" fmla="*/ 3422821 h 3422821"/>
              <a:gd name="connsiteX1" fmla="*/ 2496065 w 9848335"/>
              <a:gd name="connsiteY1" fmla="*/ 1989438 h 3422821"/>
              <a:gd name="connsiteX2" fmla="*/ 6277232 w 9848335"/>
              <a:gd name="connsiteY2" fmla="*/ 2409567 h 3422821"/>
              <a:gd name="connsiteX3" fmla="*/ 9848335 w 9848335"/>
              <a:gd name="connsiteY3" fmla="*/ 0 h 3422821"/>
              <a:gd name="connsiteX0-1" fmla="*/ 0 w 9848335"/>
              <a:gd name="connsiteY0-2" fmla="*/ 3422821 h 3422821"/>
              <a:gd name="connsiteX1-3" fmla="*/ 2496065 w 9848335"/>
              <a:gd name="connsiteY1-4" fmla="*/ 1989438 h 3422821"/>
              <a:gd name="connsiteX2-5" fmla="*/ 6450227 w 9848335"/>
              <a:gd name="connsiteY2-6" fmla="*/ 2125362 h 3422821"/>
              <a:gd name="connsiteX3-7" fmla="*/ 9848335 w 9848335"/>
              <a:gd name="connsiteY3-8" fmla="*/ 0 h 3422821"/>
              <a:gd name="connsiteX0-9" fmla="*/ 0 w 9848335"/>
              <a:gd name="connsiteY0-10" fmla="*/ 3422821 h 3422821"/>
              <a:gd name="connsiteX1-11" fmla="*/ 2496065 w 9848335"/>
              <a:gd name="connsiteY1-12" fmla="*/ 1989438 h 3422821"/>
              <a:gd name="connsiteX2-13" fmla="*/ 6759145 w 9848335"/>
              <a:gd name="connsiteY2-14" fmla="*/ 2113005 h 3422821"/>
              <a:gd name="connsiteX3-15" fmla="*/ 9848335 w 9848335"/>
              <a:gd name="connsiteY3-16" fmla="*/ 0 h 3422821"/>
              <a:gd name="connsiteX0-17" fmla="*/ 0 w 9848335"/>
              <a:gd name="connsiteY0-18" fmla="*/ 3422821 h 3422821"/>
              <a:gd name="connsiteX1-19" fmla="*/ 3262184 w 9848335"/>
              <a:gd name="connsiteY1-20" fmla="*/ 1952367 h 3422821"/>
              <a:gd name="connsiteX2-21" fmla="*/ 6759145 w 9848335"/>
              <a:gd name="connsiteY2-22" fmla="*/ 2113005 h 3422821"/>
              <a:gd name="connsiteX3-23" fmla="*/ 9848335 w 9848335"/>
              <a:gd name="connsiteY3-24" fmla="*/ 0 h 3422821"/>
              <a:gd name="connsiteX0-25" fmla="*/ 0 w 9811265"/>
              <a:gd name="connsiteY0-26" fmla="*/ 3002691 h 3002691"/>
              <a:gd name="connsiteX1-27" fmla="*/ 3262184 w 9811265"/>
              <a:gd name="connsiteY1-28" fmla="*/ 1532237 h 3002691"/>
              <a:gd name="connsiteX2-29" fmla="*/ 6759145 w 9811265"/>
              <a:gd name="connsiteY2-30" fmla="*/ 1692875 h 3002691"/>
              <a:gd name="connsiteX3-31" fmla="*/ 9811265 w 9811265"/>
              <a:gd name="connsiteY3-32" fmla="*/ 0 h 3002691"/>
              <a:gd name="connsiteX0-33" fmla="*/ 0 w 9811265"/>
              <a:gd name="connsiteY0-34" fmla="*/ 3002691 h 3002691"/>
              <a:gd name="connsiteX1-35" fmla="*/ 3249827 w 9811265"/>
              <a:gd name="connsiteY1-36" fmla="*/ 1458097 h 3002691"/>
              <a:gd name="connsiteX2-37" fmla="*/ 6759145 w 9811265"/>
              <a:gd name="connsiteY2-38" fmla="*/ 1692875 h 3002691"/>
              <a:gd name="connsiteX3-39" fmla="*/ 9811265 w 9811265"/>
              <a:gd name="connsiteY3-40" fmla="*/ 0 h 3002691"/>
              <a:gd name="connsiteX0-41" fmla="*/ 0 w 10293179"/>
              <a:gd name="connsiteY0-42" fmla="*/ 3336323 h 3336323"/>
              <a:gd name="connsiteX1-43" fmla="*/ 3249827 w 10293179"/>
              <a:gd name="connsiteY1-44" fmla="*/ 1791729 h 3336323"/>
              <a:gd name="connsiteX2-45" fmla="*/ 6759145 w 10293179"/>
              <a:gd name="connsiteY2-46" fmla="*/ 2026507 h 3336323"/>
              <a:gd name="connsiteX3-47" fmla="*/ 10293179 w 10293179"/>
              <a:gd name="connsiteY3-48" fmla="*/ 0 h 3336323"/>
              <a:gd name="connsiteX0-49" fmla="*/ 0 w 10293179"/>
              <a:gd name="connsiteY0-50" fmla="*/ 3336323 h 3336323"/>
              <a:gd name="connsiteX1-51" fmla="*/ 3249827 w 10293179"/>
              <a:gd name="connsiteY1-52" fmla="*/ 1791729 h 3336323"/>
              <a:gd name="connsiteX2-53" fmla="*/ 7414054 w 10293179"/>
              <a:gd name="connsiteY2-54" fmla="*/ 1964723 h 3336323"/>
              <a:gd name="connsiteX3-55" fmla="*/ 10293179 w 10293179"/>
              <a:gd name="connsiteY3-56" fmla="*/ 0 h 3336323"/>
              <a:gd name="connsiteX0-57" fmla="*/ 0 w 10293179"/>
              <a:gd name="connsiteY0-58" fmla="*/ 3336323 h 3336323"/>
              <a:gd name="connsiteX1-59" fmla="*/ 3249827 w 10293179"/>
              <a:gd name="connsiteY1-60" fmla="*/ 1791729 h 3336323"/>
              <a:gd name="connsiteX2-61" fmla="*/ 7414054 w 10293179"/>
              <a:gd name="connsiteY2-62" fmla="*/ 1964723 h 3336323"/>
              <a:gd name="connsiteX3-63" fmla="*/ 10293179 w 10293179"/>
              <a:gd name="connsiteY3-64" fmla="*/ 0 h 3336323"/>
              <a:gd name="connsiteX0-65" fmla="*/ 0 w 10293179"/>
              <a:gd name="connsiteY0-66" fmla="*/ 3336323 h 3336323"/>
              <a:gd name="connsiteX1-67" fmla="*/ 3249827 w 10293179"/>
              <a:gd name="connsiteY1-68" fmla="*/ 1791729 h 3336323"/>
              <a:gd name="connsiteX2-69" fmla="*/ 7006281 w 10293179"/>
              <a:gd name="connsiteY2-70" fmla="*/ 1989436 h 3336323"/>
              <a:gd name="connsiteX3-71" fmla="*/ 10293179 w 10293179"/>
              <a:gd name="connsiteY3-72" fmla="*/ 0 h 3336323"/>
              <a:gd name="connsiteX0-73" fmla="*/ 0 w 10293179"/>
              <a:gd name="connsiteY0-74" fmla="*/ 3336323 h 3336323"/>
              <a:gd name="connsiteX1-75" fmla="*/ 2842054 w 10293179"/>
              <a:gd name="connsiteY1-76" fmla="*/ 1828799 h 3336323"/>
              <a:gd name="connsiteX2-77" fmla="*/ 7006281 w 10293179"/>
              <a:gd name="connsiteY2-78" fmla="*/ 1989436 h 3336323"/>
              <a:gd name="connsiteX3-79" fmla="*/ 10293179 w 10293179"/>
              <a:gd name="connsiteY3-80" fmla="*/ 0 h 3336323"/>
              <a:gd name="connsiteX0-81" fmla="*/ 0 w 10293179"/>
              <a:gd name="connsiteY0-82" fmla="*/ 3336323 h 3336323"/>
              <a:gd name="connsiteX1-83" fmla="*/ 2842054 w 10293179"/>
              <a:gd name="connsiteY1-84" fmla="*/ 1828799 h 3336323"/>
              <a:gd name="connsiteX2-85" fmla="*/ 6709719 w 10293179"/>
              <a:gd name="connsiteY2-86" fmla="*/ 2199501 h 3336323"/>
              <a:gd name="connsiteX3-87" fmla="*/ 10293179 w 10293179"/>
              <a:gd name="connsiteY3-88" fmla="*/ 0 h 3336323"/>
              <a:gd name="connsiteX0-89" fmla="*/ 0 w 10293179"/>
              <a:gd name="connsiteY0-90" fmla="*/ 3336323 h 3336323"/>
              <a:gd name="connsiteX1-91" fmla="*/ 2842054 w 10293179"/>
              <a:gd name="connsiteY1-92" fmla="*/ 1828799 h 3336323"/>
              <a:gd name="connsiteX2-93" fmla="*/ 6709719 w 10293179"/>
              <a:gd name="connsiteY2-94" fmla="*/ 2199501 h 3336323"/>
              <a:gd name="connsiteX3-95" fmla="*/ 10293179 w 10293179"/>
              <a:gd name="connsiteY3-96" fmla="*/ 0 h 3336323"/>
              <a:gd name="connsiteX0-97" fmla="*/ 0 w 10293179"/>
              <a:gd name="connsiteY0-98" fmla="*/ 3336323 h 3336323"/>
              <a:gd name="connsiteX1-99" fmla="*/ 2842054 w 10293179"/>
              <a:gd name="connsiteY1-100" fmla="*/ 1828799 h 3336323"/>
              <a:gd name="connsiteX2-101" fmla="*/ 6709719 w 10293179"/>
              <a:gd name="connsiteY2-102" fmla="*/ 2199501 h 3336323"/>
              <a:gd name="connsiteX3-103" fmla="*/ 10293179 w 10293179"/>
              <a:gd name="connsiteY3-104" fmla="*/ 0 h 3336323"/>
              <a:gd name="connsiteX0-105" fmla="*/ 0 w 10293179"/>
              <a:gd name="connsiteY0-106" fmla="*/ 3336323 h 3336323"/>
              <a:gd name="connsiteX1-107" fmla="*/ 2842054 w 10293179"/>
              <a:gd name="connsiteY1-108" fmla="*/ 1828799 h 3336323"/>
              <a:gd name="connsiteX2-109" fmla="*/ 6709719 w 10293179"/>
              <a:gd name="connsiteY2-110" fmla="*/ 2199501 h 3336323"/>
              <a:gd name="connsiteX3-111" fmla="*/ 10293179 w 10293179"/>
              <a:gd name="connsiteY3-112" fmla="*/ 0 h 33363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0293179" h="3336323">
                <a:moveTo>
                  <a:pt x="0" y="3336323"/>
                </a:moveTo>
                <a:cubicBezTo>
                  <a:pt x="724930" y="2704069"/>
                  <a:pt x="1723768" y="2018269"/>
                  <a:pt x="2842054" y="1828799"/>
                </a:cubicBezTo>
                <a:cubicBezTo>
                  <a:pt x="3960340" y="1639329"/>
                  <a:pt x="5467865" y="2504301"/>
                  <a:pt x="6709719" y="2199501"/>
                </a:cubicBezTo>
                <a:cubicBezTo>
                  <a:pt x="7951573" y="1894701"/>
                  <a:pt x="8826844" y="1165653"/>
                  <a:pt x="10293179" y="0"/>
                </a:cubicBez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880791" y="2870052"/>
            <a:ext cx="2538809" cy="2302099"/>
            <a:chOff x="1880791" y="2474267"/>
            <a:chExt cx="2538809" cy="2302099"/>
          </a:xfrm>
        </p:grpSpPr>
        <p:grpSp>
          <p:nvGrpSpPr>
            <p:cNvPr id="5" name="组合 4"/>
            <p:cNvGrpSpPr/>
            <p:nvPr/>
          </p:nvGrpSpPr>
          <p:grpSpPr>
            <a:xfrm>
              <a:off x="1880791" y="3312723"/>
              <a:ext cx="288000" cy="1463643"/>
              <a:chOff x="1868091" y="3436365"/>
              <a:chExt cx="288000" cy="1463643"/>
            </a:xfrm>
          </p:grpSpPr>
          <p:cxnSp>
            <p:nvCxnSpPr>
              <p:cNvPr id="6" name="直接连接符 5"/>
              <p:cNvCxnSpPr/>
              <p:nvPr/>
            </p:nvCxnSpPr>
            <p:spPr>
              <a:xfrm flipV="1">
                <a:off x="2012091" y="3712008"/>
                <a:ext cx="0" cy="1188000"/>
              </a:xfrm>
              <a:prstGeom prst="line">
                <a:avLst/>
              </a:prstGeom>
              <a:ln w="12700">
                <a:solidFill>
                  <a:srgbClr val="3EAE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组合 6"/>
              <p:cNvGrpSpPr/>
              <p:nvPr/>
            </p:nvGrpSpPr>
            <p:grpSpPr>
              <a:xfrm>
                <a:off x="1868091" y="3436365"/>
                <a:ext cx="288000" cy="288000"/>
                <a:chOff x="3220832" y="327040"/>
                <a:chExt cx="288000" cy="288000"/>
              </a:xfrm>
            </p:grpSpPr>
            <p:sp>
              <p:nvSpPr>
                <p:cNvPr id="8" name="椭圆 7"/>
                <p:cNvSpPr/>
                <p:nvPr/>
              </p:nvSpPr>
              <p:spPr>
                <a:xfrm>
                  <a:off x="3220832" y="327040"/>
                  <a:ext cx="288000" cy="288000"/>
                </a:xfrm>
                <a:prstGeom prst="ellipse">
                  <a:avLst/>
                </a:prstGeom>
                <a:solidFill>
                  <a:srgbClr val="3EAEB7"/>
                </a:solidFill>
                <a:ln>
                  <a:solidFill>
                    <a:srgbClr val="3EAEB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椭圆 8"/>
                <p:cNvSpPr/>
                <p:nvPr/>
              </p:nvSpPr>
              <p:spPr>
                <a:xfrm>
                  <a:off x="3274832" y="381040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20" name="文本框 19"/>
            <p:cNvSpPr txBox="1"/>
            <p:nvPr/>
          </p:nvSpPr>
          <p:spPr>
            <a:xfrm>
              <a:off x="2384353" y="2474267"/>
              <a:ext cx="17331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请输入标题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384351" y="2911384"/>
              <a:ext cx="2035249" cy="1532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请在此输入替换内容请在此输入替换内容请在此输入替换内容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433700" y="3085952"/>
            <a:ext cx="2453000" cy="1969844"/>
            <a:chOff x="5433700" y="2690167"/>
            <a:chExt cx="2453000" cy="1969844"/>
          </a:xfrm>
        </p:grpSpPr>
        <p:grpSp>
          <p:nvGrpSpPr>
            <p:cNvPr id="10" name="组合 9"/>
            <p:cNvGrpSpPr/>
            <p:nvPr/>
          </p:nvGrpSpPr>
          <p:grpSpPr>
            <a:xfrm>
              <a:off x="5433700" y="3229169"/>
              <a:ext cx="288000" cy="1351738"/>
              <a:chOff x="5225010" y="3238439"/>
              <a:chExt cx="288000" cy="1351738"/>
            </a:xfrm>
          </p:grpSpPr>
          <p:cxnSp>
            <p:nvCxnSpPr>
              <p:cNvPr id="11" name="直接连接符 10"/>
              <p:cNvCxnSpPr/>
              <p:nvPr/>
            </p:nvCxnSpPr>
            <p:spPr>
              <a:xfrm flipV="1">
                <a:off x="5369010" y="3510177"/>
                <a:ext cx="0" cy="1080000"/>
              </a:xfrm>
              <a:prstGeom prst="line">
                <a:avLst/>
              </a:prstGeom>
              <a:ln w="12700">
                <a:solidFill>
                  <a:srgbClr val="E3603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" name="组合 11"/>
              <p:cNvGrpSpPr/>
              <p:nvPr/>
            </p:nvGrpSpPr>
            <p:grpSpPr>
              <a:xfrm>
                <a:off x="5225010" y="3238439"/>
                <a:ext cx="288000" cy="288000"/>
                <a:chOff x="3220832" y="327040"/>
                <a:chExt cx="288000" cy="288000"/>
              </a:xfrm>
            </p:grpSpPr>
            <p:sp>
              <p:nvSpPr>
                <p:cNvPr id="13" name="椭圆 12"/>
                <p:cNvSpPr/>
                <p:nvPr/>
              </p:nvSpPr>
              <p:spPr>
                <a:xfrm>
                  <a:off x="3220832" y="327040"/>
                  <a:ext cx="288000" cy="288000"/>
                </a:xfrm>
                <a:prstGeom prst="ellipse">
                  <a:avLst/>
                </a:prstGeom>
                <a:solidFill>
                  <a:srgbClr val="E3603F"/>
                </a:solidFill>
                <a:ln>
                  <a:solidFill>
                    <a:srgbClr val="E360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椭圆 13"/>
                <p:cNvSpPr/>
                <p:nvPr/>
              </p:nvSpPr>
              <p:spPr>
                <a:xfrm>
                  <a:off x="3274832" y="381040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22" name="文本框 21"/>
            <p:cNvSpPr txBox="1"/>
            <p:nvPr/>
          </p:nvSpPr>
          <p:spPr>
            <a:xfrm>
              <a:off x="5851453" y="2690167"/>
              <a:ext cx="17331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请输入标题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851451" y="3127284"/>
              <a:ext cx="2035249" cy="1532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请在此输入替换内容请在此输入替换内容请在此输入替换内容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986609" y="1879452"/>
            <a:ext cx="2494191" cy="2936776"/>
            <a:chOff x="8986609" y="1483667"/>
            <a:chExt cx="2494191" cy="2936776"/>
          </a:xfrm>
        </p:grpSpPr>
        <p:grpSp>
          <p:nvGrpSpPr>
            <p:cNvPr id="19" name="组合 18"/>
            <p:cNvGrpSpPr/>
            <p:nvPr/>
          </p:nvGrpSpPr>
          <p:grpSpPr>
            <a:xfrm>
              <a:off x="8986609" y="2133600"/>
              <a:ext cx="288000" cy="2286843"/>
              <a:chOff x="7729309" y="2431884"/>
              <a:chExt cx="288000" cy="2286843"/>
            </a:xfrm>
          </p:grpSpPr>
          <p:cxnSp>
            <p:nvCxnSpPr>
              <p:cNvPr id="15" name="直接连接符 14"/>
              <p:cNvCxnSpPr/>
              <p:nvPr/>
            </p:nvCxnSpPr>
            <p:spPr>
              <a:xfrm flipV="1">
                <a:off x="7873309" y="2666727"/>
                <a:ext cx="0" cy="2052000"/>
              </a:xfrm>
              <a:prstGeom prst="line">
                <a:avLst/>
              </a:prstGeom>
              <a:ln w="12700">
                <a:solidFill>
                  <a:srgbClr val="3EAE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组合 15"/>
              <p:cNvGrpSpPr/>
              <p:nvPr/>
            </p:nvGrpSpPr>
            <p:grpSpPr>
              <a:xfrm>
                <a:off x="7729309" y="2431884"/>
                <a:ext cx="288000" cy="288000"/>
                <a:chOff x="3220832" y="-43664"/>
                <a:chExt cx="288000" cy="288000"/>
              </a:xfrm>
            </p:grpSpPr>
            <p:sp>
              <p:nvSpPr>
                <p:cNvPr id="17" name="椭圆 16"/>
                <p:cNvSpPr/>
                <p:nvPr/>
              </p:nvSpPr>
              <p:spPr>
                <a:xfrm>
                  <a:off x="3220832" y="-43664"/>
                  <a:ext cx="288000" cy="288000"/>
                </a:xfrm>
                <a:prstGeom prst="ellipse">
                  <a:avLst/>
                </a:prstGeom>
                <a:solidFill>
                  <a:srgbClr val="3EAEB7"/>
                </a:solidFill>
                <a:ln>
                  <a:solidFill>
                    <a:srgbClr val="55B2A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椭圆 17"/>
                <p:cNvSpPr/>
                <p:nvPr/>
              </p:nvSpPr>
              <p:spPr>
                <a:xfrm>
                  <a:off x="3274832" y="10336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24" name="文本框 23"/>
            <p:cNvSpPr txBox="1"/>
            <p:nvPr/>
          </p:nvSpPr>
          <p:spPr>
            <a:xfrm>
              <a:off x="9445553" y="1483667"/>
              <a:ext cx="17331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请输入标题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445551" y="1920784"/>
              <a:ext cx="2035249" cy="1532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请在此输入替换内容请在此输入替换内容请在此输入替换内容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970824" y="530496"/>
            <a:ext cx="4250352" cy="773201"/>
            <a:chOff x="4015126" y="265814"/>
            <a:chExt cx="4250352" cy="773201"/>
          </a:xfrm>
        </p:grpSpPr>
        <p:sp>
          <p:nvSpPr>
            <p:cNvPr id="30" name="文本框 29"/>
            <p:cNvSpPr txBox="1"/>
            <p:nvPr/>
          </p:nvSpPr>
          <p:spPr>
            <a:xfrm>
              <a:off x="4750094" y="265814"/>
              <a:ext cx="2780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工作绩效总结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4015126" y="700461"/>
              <a:ext cx="4250352" cy="33855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defRPr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Successful projects are shown in detail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 6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" t="8889" r="15812" b="1748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矩形 259"/>
          <p:cNvSpPr>
            <a:spLocks noChangeArrowheads="1"/>
          </p:cNvSpPr>
          <p:nvPr/>
        </p:nvSpPr>
        <p:spPr bwMode="auto">
          <a:xfrm>
            <a:off x="3113977" y="2182969"/>
            <a:ext cx="729681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buNone/>
            </a:pPr>
            <a:r>
              <a:rPr lang="zh-CN" altLang="en-US" sz="7200" b="1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感谢大家聆听</a:t>
            </a:r>
            <a:endParaRPr lang="en-US" altLang="zh-CN" sz="7200" b="1" spc="4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0" name="矩形 259"/>
          <p:cNvSpPr>
            <a:spLocks noChangeArrowheads="1"/>
          </p:cNvSpPr>
          <p:nvPr/>
        </p:nvSpPr>
        <p:spPr bwMode="auto">
          <a:xfrm>
            <a:off x="7794171" y="1235857"/>
            <a:ext cx="25738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buNone/>
            </a:pPr>
            <a:r>
              <a:rPr lang="en-US" altLang="zh-CN" sz="5400" b="1" dirty="0">
                <a:solidFill>
                  <a:srgbClr val="E3603F"/>
                </a:solidFill>
                <a:latin typeface="+mn-lt"/>
                <a:ea typeface="+mn-ea"/>
                <a:cs typeface="+mn-ea"/>
                <a:sym typeface="+mn-lt"/>
              </a:rPr>
              <a:t>THANKS</a:t>
            </a:r>
            <a:endParaRPr lang="en-US" altLang="zh-CN" sz="5400" b="1" dirty="0">
              <a:solidFill>
                <a:srgbClr val="E3603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5" name="文本框 7"/>
          <p:cNvSpPr txBox="1"/>
          <p:nvPr/>
        </p:nvSpPr>
        <p:spPr>
          <a:xfrm>
            <a:off x="3647811" y="3420952"/>
            <a:ext cx="6780070" cy="800217"/>
          </a:xfrm>
          <a:prstGeom prst="rect">
            <a:avLst/>
          </a:prstGeom>
          <a:noFill/>
        </p:spPr>
        <p:txBody>
          <a:bodyPr wrap="square" lIns="91359" tIns="45719" rIns="91359" bIns="45719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 defTabSz="912495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The user can demonstrate on a projector or computer, or print the presentation and make it into a film to be used in a wider field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28348" y="5429250"/>
            <a:ext cx="1649811" cy="400110"/>
          </a:xfrm>
          <a:prstGeom prst="rect">
            <a:avLst/>
          </a:prstGeom>
          <a:noFill/>
          <a:ln>
            <a:solidFill>
              <a:srgbClr val="3EAEB7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AEB7"/>
                </a:solidFill>
                <a:cs typeface="+mn-ea"/>
                <a:sym typeface="+mn-lt"/>
              </a:rPr>
              <a:t>时间</a:t>
            </a:r>
            <a:r>
              <a:rPr lang="en-US" altLang="zh-CN" sz="2000" dirty="0">
                <a:solidFill>
                  <a:srgbClr val="3EAEB7"/>
                </a:solidFill>
                <a:cs typeface="+mn-ea"/>
                <a:sym typeface="+mn-lt"/>
              </a:rPr>
              <a:t>/201X</a:t>
            </a:r>
            <a:r>
              <a:rPr lang="zh-CN" altLang="en-US" sz="2000" dirty="0">
                <a:solidFill>
                  <a:srgbClr val="3EAEB7"/>
                </a:solidFill>
                <a:cs typeface="+mn-ea"/>
                <a:sym typeface="+mn-lt"/>
              </a:rPr>
              <a:t>年</a:t>
            </a:r>
            <a:endParaRPr lang="en-US" altLang="zh-CN" sz="2000" dirty="0">
              <a:solidFill>
                <a:srgbClr val="3EAEB7"/>
              </a:solidFill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63176" y="5429250"/>
            <a:ext cx="1595310" cy="400110"/>
          </a:xfrm>
          <a:prstGeom prst="rect">
            <a:avLst/>
          </a:prstGeom>
          <a:ln>
            <a:solidFill>
              <a:srgbClr val="3EAEB7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3EAEB7"/>
                </a:solidFill>
                <a:cs typeface="+mn-ea"/>
                <a:sym typeface="+mn-lt"/>
              </a:rPr>
              <a:t>汇报人</a:t>
            </a:r>
            <a:r>
              <a:rPr lang="en-US" altLang="zh-CN" sz="2000" dirty="0" smtClean="0">
                <a:solidFill>
                  <a:srgbClr val="3EAEB7"/>
                </a:solidFill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rgbClr val="3EAEB7"/>
                </a:solidFill>
                <a:cs typeface="+mn-ea"/>
                <a:sym typeface="+mn-lt"/>
              </a:rPr>
              <a:t>青课</a:t>
            </a:r>
            <a:endParaRPr lang="zh-CN" altLang="en-US" sz="2000" dirty="0">
              <a:solidFill>
                <a:srgbClr val="3EAEB7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0" grpId="0"/>
      <p:bldP spid="55" grpId="0"/>
    </p:bldLst>
  </p:timing>
</p:sld>
</file>

<file path=ppt/tags/tag1.xml><?xml version="1.0" encoding="utf-8"?>
<p:tagLst xmlns:p="http://schemas.openxmlformats.org/presentationml/2006/main">
  <p:tag name="ISPRING_ULTRA_SCORM_COURSE_ID" val="5BC057E1-A3E9-4E60-AFA8-267931925C8D"/>
  <p:tag name="ISPRING_SCORM_RATE_SLIDES" val="1"/>
  <p:tag name="ISPRINGONLINEFOLDERID" val="0"/>
  <p:tag name="ISPRINGONLINEFOLDERPATH" val="内容列表"/>
  <p:tag name="ISPRINGCLOUDFOLDERID" val="0"/>
  <p:tag name="ISPRINGCLOUDFOLDERPATH" val="资源库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SCORM_RATE_QUIZZES" val="0"/>
  <p:tag name="ISPRING_SCORM_PASSING_SCORE" val="100.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F:\1.30修改\78893"/>
  <p:tag name="ISPRING_FIRST_PUBLISH" val="1"/>
  <p:tag name="ISPRING_PRESENTATION_TITLE" val="清新几何简约工作汇报总结PPT背景"/>
  <p:tag name="KSO_WPP_MARK_KEY" val="beca1b8e-638e-4018-871a-d818f5b7d5bc"/>
  <p:tag name="COMMONDATA" val="eyJoZGlkIjoiZTJkODRiZTJkNTM2YWY1Y2JmOTNkNTM4YjQ5ZDU2ZTEifQ=="/>
</p:tagLst>
</file>

<file path=ppt/theme/theme1.xml><?xml version="1.0" encoding="utf-8"?>
<a:theme xmlns:a="http://schemas.openxmlformats.org/drawingml/2006/main" name="Office Theme">
  <a:themeElements>
    <a:clrScheme name="自定义 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DBEEF3"/>
      </a:accent5>
      <a:accent6>
        <a:srgbClr val="3995AD"/>
      </a:accent6>
      <a:hlink>
        <a:srgbClr val="3995AD"/>
      </a:hlink>
      <a:folHlink>
        <a:srgbClr val="3995AD"/>
      </a:folHlink>
    </a:clrScheme>
    <a:fontScheme name="eecods0a">
      <a:majorFont>
        <a:latin typeface="字魂59号-创粗黑"/>
        <a:ea typeface="字魂59号-创粗黑"/>
        <a:cs typeface=""/>
      </a:majorFont>
      <a:minorFont>
        <a:latin typeface="字魂59号-创粗黑"/>
        <a:ea typeface="字魂59号-创粗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711</Words>
  <Application>WPS 演示</Application>
  <PresentationFormat>宽屏</PresentationFormat>
  <Paragraphs>80</Paragraphs>
  <Slides>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Calibri</vt:lpstr>
      <vt:lpstr>Calibri</vt:lpstr>
      <vt:lpstr>字魂59号-创粗黑</vt:lpstr>
      <vt:lpstr>黑体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清新几何简约工作汇报总结PPT背景</dc:title>
  <dc:creator>WIN7</dc:creator>
  <cp:lastModifiedBy>欧蜜（2和11）</cp:lastModifiedBy>
  <cp:revision>78</cp:revision>
  <dcterms:created xsi:type="dcterms:W3CDTF">2017-08-18T03:02:00Z</dcterms:created>
  <dcterms:modified xsi:type="dcterms:W3CDTF">2023-12-08T01:10:43Z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2052-11.1.0.12165</vt:lpwstr>
  </property>
  <property fmtid="{D5CDD505-2E9C-101B-9397-08002B2CF9AE}" pid="3" name="ICV">
    <vt:lpwstr>69818617CE064508BCA8E1D3CF27A50D</vt:lpwstr>
  </property>
</Properties>
</file>