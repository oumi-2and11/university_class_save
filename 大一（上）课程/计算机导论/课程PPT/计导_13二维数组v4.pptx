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56" r:id="rId2"/>
    <p:sldId id="437" r:id="rId3"/>
    <p:sldId id="672" r:id="rId4"/>
    <p:sldId id="673" r:id="rId5"/>
    <p:sldId id="419" r:id="rId6"/>
    <p:sldId id="821" r:id="rId7"/>
    <p:sldId id="420" r:id="rId8"/>
    <p:sldId id="421" r:id="rId9"/>
    <p:sldId id="425" r:id="rId10"/>
    <p:sldId id="822" r:id="rId11"/>
    <p:sldId id="422" r:id="rId12"/>
    <p:sldId id="423" r:id="rId13"/>
    <p:sldId id="424" r:id="rId14"/>
    <p:sldId id="823" r:id="rId15"/>
    <p:sldId id="675" r:id="rId16"/>
    <p:sldId id="676" r:id="rId17"/>
    <p:sldId id="677" r:id="rId18"/>
    <p:sldId id="824" r:id="rId19"/>
    <p:sldId id="447" r:id="rId20"/>
    <p:sldId id="450" r:id="rId21"/>
    <p:sldId id="1149" r:id="rId22"/>
    <p:sldId id="1150" r:id="rId23"/>
    <p:sldId id="453" r:id="rId24"/>
    <p:sldId id="489" r:id="rId25"/>
    <p:sldId id="825" r:id="rId26"/>
    <p:sldId id="454" r:id="rId27"/>
    <p:sldId id="455" r:id="rId28"/>
    <p:sldId id="1151" r:id="rId29"/>
    <p:sldId id="427" r:id="rId30"/>
    <p:sldId id="1152" r:id="rId31"/>
    <p:sldId id="486" r:id="rId32"/>
    <p:sldId id="490" r:id="rId33"/>
    <p:sldId id="491" r:id="rId34"/>
    <p:sldId id="493" r:id="rId35"/>
    <p:sldId id="428" r:id="rId36"/>
    <p:sldId id="430" r:id="rId37"/>
    <p:sldId id="457" r:id="rId38"/>
    <p:sldId id="458" r:id="rId39"/>
    <p:sldId id="1153" r:id="rId40"/>
    <p:sldId id="497" r:id="rId41"/>
    <p:sldId id="498" r:id="rId42"/>
    <p:sldId id="826" r:id="rId43"/>
    <p:sldId id="827" r:id="rId44"/>
    <p:sldId id="499" r:id="rId45"/>
    <p:sldId id="487" r:id="rId46"/>
    <p:sldId id="500" r:id="rId47"/>
    <p:sldId id="501" r:id="rId48"/>
    <p:sldId id="494" r:id="rId49"/>
    <p:sldId id="495" r:id="rId50"/>
    <p:sldId id="496" r:id="rId51"/>
    <p:sldId id="515" r:id="rId52"/>
    <p:sldId id="733" r:id="rId53"/>
    <p:sldId id="432" r:id="rId54"/>
    <p:sldId id="828" r:id="rId55"/>
    <p:sldId id="460" r:id="rId56"/>
    <p:sldId id="829" r:id="rId57"/>
    <p:sldId id="461" r:id="rId58"/>
    <p:sldId id="511" r:id="rId59"/>
    <p:sldId id="512" r:id="rId60"/>
    <p:sldId id="513" r:id="rId61"/>
    <p:sldId id="952" r:id="rId62"/>
    <p:sldId id="953" r:id="rId63"/>
    <p:sldId id="954" r:id="rId64"/>
    <p:sldId id="955" r:id="rId65"/>
    <p:sldId id="956" r:id="rId66"/>
    <p:sldId id="514" r:id="rId67"/>
    <p:sldId id="1147" r:id="rId68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二维数组的概念" id="{491E470B-7E83-4E62-ABD3-8B4790F67EA9}">
          <p14:sldIdLst>
            <p14:sldId id="256"/>
            <p14:sldId id="437"/>
            <p14:sldId id="672"/>
            <p14:sldId id="673"/>
            <p14:sldId id="419"/>
          </p14:sldIdLst>
        </p14:section>
        <p14:section name="二维数组的表示" id="{009612B0-9A4D-4649-BA56-A3179269055B}">
          <p14:sldIdLst>
            <p14:sldId id="821"/>
            <p14:sldId id="420"/>
            <p14:sldId id="421"/>
            <p14:sldId id="425"/>
            <p14:sldId id="822"/>
            <p14:sldId id="422"/>
            <p14:sldId id="423"/>
            <p14:sldId id="424"/>
          </p14:sldIdLst>
        </p14:section>
        <p14:section name="二维数组的访问" id="{CF384FD4-4581-4EA4-A566-E8EA6DAA1BA8}">
          <p14:sldIdLst>
            <p14:sldId id="823"/>
            <p14:sldId id="675"/>
            <p14:sldId id="676"/>
            <p14:sldId id="677"/>
          </p14:sldIdLst>
        </p14:section>
        <p14:section name="二维数组传参" id="{1C83848B-FB9D-4179-B2D8-E396B48B0F9D}">
          <p14:sldIdLst>
            <p14:sldId id="824"/>
            <p14:sldId id="447"/>
            <p14:sldId id="450"/>
            <p14:sldId id="1149"/>
            <p14:sldId id="1150"/>
            <p14:sldId id="453"/>
            <p14:sldId id="489"/>
          </p14:sldIdLst>
        </p14:section>
        <p14:section name="矩阵计算" id="{932532C8-2ABE-416E-9E55-9D189140A506}">
          <p14:sldIdLst>
            <p14:sldId id="825"/>
            <p14:sldId id="454"/>
            <p14:sldId id="455"/>
            <p14:sldId id="1151"/>
            <p14:sldId id="427"/>
            <p14:sldId id="1152"/>
            <p14:sldId id="486"/>
            <p14:sldId id="490"/>
            <p14:sldId id="491"/>
            <p14:sldId id="493"/>
            <p14:sldId id="428"/>
            <p14:sldId id="430"/>
            <p14:sldId id="457"/>
            <p14:sldId id="458"/>
            <p14:sldId id="1153"/>
            <p14:sldId id="497"/>
            <p14:sldId id="498"/>
          </p14:sldIdLst>
        </p14:section>
        <p14:section name="二维数组应用" id="{7AD073EC-EB74-4075-9028-83CE24300FA4}">
          <p14:sldIdLst>
            <p14:sldId id="826"/>
            <p14:sldId id="827"/>
            <p14:sldId id="499"/>
            <p14:sldId id="487"/>
            <p14:sldId id="500"/>
            <p14:sldId id="501"/>
            <p14:sldId id="494"/>
            <p14:sldId id="495"/>
            <p14:sldId id="496"/>
            <p14:sldId id="515"/>
            <p14:sldId id="733"/>
            <p14:sldId id="432"/>
            <p14:sldId id="828"/>
            <p14:sldId id="460"/>
            <p14:sldId id="829"/>
            <p14:sldId id="461"/>
            <p14:sldId id="511"/>
            <p14:sldId id="512"/>
            <p14:sldId id="513"/>
            <p14:sldId id="952"/>
            <p14:sldId id="953"/>
            <p14:sldId id="954"/>
            <p14:sldId id="955"/>
            <p14:sldId id="956"/>
            <p14:sldId id="514"/>
          </p14:sldIdLst>
        </p14:section>
        <p14:section name="end" id="{1E242ADD-DBD9-450A-BB0E-DE22633FDBFD}">
          <p14:sldIdLst>
            <p14:sldId id="11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5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FF"/>
    <a:srgbClr val="000099"/>
    <a:srgbClr val="003399"/>
    <a:srgbClr val="FFFF66"/>
    <a:srgbClr val="FF66CC"/>
    <a:srgbClr val="9900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07" autoAdjust="0"/>
    <p:restoredTop sz="93826" autoAdjust="0"/>
  </p:normalViewPr>
  <p:slideViewPr>
    <p:cSldViewPr>
      <p:cViewPr varScale="1">
        <p:scale>
          <a:sx n="67" d="100"/>
          <a:sy n="67" d="100"/>
        </p:scale>
        <p:origin x="1032" y="52"/>
      </p:cViewPr>
      <p:guideLst>
        <p:guide orient="horz" pos="2160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98"/>
    </p:cViewPr>
  </p:sorterViewPr>
  <p:notesViewPr>
    <p:cSldViewPr>
      <p:cViewPr varScale="1">
        <p:scale>
          <a:sx n="62" d="100"/>
          <a:sy n="62" d="100"/>
        </p:scale>
        <p:origin x="-2436" y="-90"/>
      </p:cViewPr>
      <p:guideLst>
        <p:guide orient="horz" pos="2880"/>
        <p:guide pos="215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3A1D5920-E781-45E2-AC47-9045A780A24A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45D2F3F-009E-4C69-B954-65C8D576346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6706353-0EDA-4BC7-80C2-5A7BFEFF0BDC}" type="slidenum">
              <a:rPr lang="zh-CN" altLang="en-US" smtClean="0"/>
              <a:t>1</a:t>
            </a:fld>
            <a:endParaRPr lang="en-US" altLang="zh-CN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ACD649-BF7C-4723-A03A-A76EF5FF6E6B}" type="slidenum">
              <a:rPr lang="zh-CN" altLang="en-US"/>
              <a:t>43</a:t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1、</a:t>
            </a:r>
            <a:r>
              <a:rPr lang="zh-CN" altLang="en-US"/>
              <a:t>介绍</a:t>
            </a:r>
            <a:r>
              <a:rPr lang="en-US" altLang="zh-CN"/>
              <a:t>suit、face</a:t>
            </a:r>
            <a:r>
              <a:rPr lang="zh-CN" altLang="en-US"/>
              <a:t>的含义；</a:t>
            </a:r>
          </a:p>
          <a:p>
            <a:pPr eaLnBrk="1" hangingPunct="1"/>
            <a:r>
              <a:rPr lang="zh-CN" altLang="en-US"/>
              <a:t>2、用具体的实例（如</a:t>
            </a:r>
            <a:r>
              <a:rPr lang="en-US" altLang="zh-CN"/>
              <a:t>deck[1][2]=1）</a:t>
            </a:r>
            <a:r>
              <a:rPr lang="zh-CN" altLang="en-US"/>
              <a:t>介绍</a:t>
            </a:r>
            <a:r>
              <a:rPr lang="en-US" altLang="zh-CN"/>
              <a:t>deck</a:t>
            </a:r>
            <a:r>
              <a:rPr lang="zh-CN" altLang="en-US"/>
              <a:t>的含义;</a:t>
            </a:r>
          </a:p>
          <a:p>
            <a:pPr eaLnBrk="1" hangingPunct="1"/>
            <a:r>
              <a:rPr lang="zh-CN" altLang="en-US"/>
              <a:t>3、介绍调用随机函数模拟产生牌的过程；</a:t>
            </a:r>
          </a:p>
          <a:p>
            <a:pPr eaLnBrk="1" hangingPunct="1"/>
            <a:r>
              <a:rPr lang="zh-CN" altLang="en-US"/>
              <a:t>4、介绍发牌的过程，以及书上算法的缺陷（纠正：用</a:t>
            </a:r>
            <a:r>
              <a:rPr lang="en-US" altLang="zh-CN"/>
              <a:t>while</a:t>
            </a:r>
            <a:r>
              <a:rPr lang="zh-CN" altLang="en-US"/>
              <a:t>语句，并且将</a:t>
            </a:r>
            <a:r>
              <a:rPr lang="en-US" altLang="zh-CN"/>
              <a:t>flag</a:t>
            </a:r>
            <a:r>
              <a:rPr lang="zh-CN" altLang="en-US"/>
              <a:t>作为</a:t>
            </a:r>
            <a:r>
              <a:rPr lang="en-US" altLang="zh-CN"/>
              <a:t>while</a:t>
            </a:r>
            <a:r>
              <a:rPr lang="zh-CN" altLang="en-US"/>
              <a:t>的条件之一。只要找到当前要发的那张牌，</a:t>
            </a:r>
            <a:r>
              <a:rPr lang="en-US" altLang="zh-CN"/>
              <a:t>flag</a:t>
            </a:r>
            <a:r>
              <a:rPr lang="zh-CN" altLang="en-US"/>
              <a:t>就设成</a:t>
            </a:r>
            <a:r>
              <a:rPr lang="en-US" altLang="zh-CN"/>
              <a:t>false，</a:t>
            </a:r>
            <a:r>
              <a:rPr lang="zh-CN" altLang="en-US"/>
              <a:t>从而退出循环）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void draw(</a:t>
            </a:r>
            <a:r>
              <a:rPr lang="en-US" altLang="zh-CN" dirty="0" err="1"/>
              <a:t>int</a:t>
            </a:r>
            <a:r>
              <a:rPr lang="en-US" altLang="zh-CN" dirty="0"/>
              <a:t> commands[],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size,int</a:t>
            </a:r>
            <a:r>
              <a:rPr lang="en-US" altLang="zh-CN" dirty="0"/>
              <a:t> picture[][50],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rows,int</a:t>
            </a:r>
            <a:r>
              <a:rPr lang="en-US" altLang="zh-CN" dirty="0"/>
              <a:t> cols)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i,j</a:t>
            </a:r>
            <a:r>
              <a:rPr lang="en-US" altLang="zh-CN" dirty="0"/>
              <a:t>;//</a:t>
            </a:r>
            <a:r>
              <a:rPr lang="zh-CN" altLang="en-US" dirty="0"/>
              <a:t>循环控制变量 </a:t>
            </a:r>
          </a:p>
          <a:p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row=49,col=0;//</a:t>
            </a:r>
            <a:r>
              <a:rPr lang="zh-CN" altLang="en-US" dirty="0"/>
              <a:t>海龟初始位置在坐标原点 </a:t>
            </a:r>
          </a:p>
          <a:p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dir</a:t>
            </a:r>
            <a:r>
              <a:rPr lang="en-US" altLang="zh-CN" dirty="0"/>
              <a:t>=NORTH;//</a:t>
            </a:r>
            <a:r>
              <a:rPr lang="zh-CN" altLang="en-US" dirty="0"/>
              <a:t>海龟初始方向是向北</a:t>
            </a:r>
          </a:p>
          <a:p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write=0; //</a:t>
            </a:r>
            <a:r>
              <a:rPr lang="zh-CN" altLang="en-US" dirty="0"/>
              <a:t>用于记录笔是否超上。</a:t>
            </a:r>
            <a:r>
              <a:rPr lang="en-US" altLang="zh-CN" dirty="0"/>
              <a:t>0</a:t>
            </a:r>
            <a:r>
              <a:rPr lang="zh-CN" altLang="en-US" dirty="0"/>
              <a:t>：朝上；</a:t>
            </a:r>
            <a:r>
              <a:rPr lang="en-US" altLang="zh-CN" dirty="0"/>
              <a:t>1</a:t>
            </a:r>
            <a:r>
              <a:rPr lang="zh-CN" altLang="en-US" dirty="0"/>
              <a:t>：朝下。初始朝上 </a:t>
            </a:r>
          </a:p>
          <a:p>
            <a:r>
              <a:rPr lang="zh-CN" altLang="en-US" dirty="0"/>
              <a:t>    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=0;i&lt;=size-1 &amp;&amp; commands[</a:t>
            </a:r>
            <a:r>
              <a:rPr lang="en-US" altLang="zh-CN" dirty="0" err="1"/>
              <a:t>i</a:t>
            </a:r>
            <a:r>
              <a:rPr lang="en-US" altLang="zh-CN" dirty="0"/>
              <a:t>]!=9;i++)</a:t>
            </a:r>
          </a:p>
          <a:p>
            <a:r>
              <a:rPr lang="en-US" altLang="zh-CN" dirty="0"/>
              <a:t>      switch (commands[</a:t>
            </a:r>
            <a:r>
              <a:rPr lang="en-US" altLang="zh-CN" dirty="0" err="1"/>
              <a:t>i</a:t>
            </a:r>
            <a:r>
              <a:rPr lang="en-US" altLang="zh-CN" dirty="0"/>
              <a:t>]){</a:t>
            </a:r>
          </a:p>
          <a:p>
            <a:r>
              <a:rPr lang="en-US" altLang="zh-CN" dirty="0"/>
              <a:t>         case 1:write=0;break;</a:t>
            </a:r>
          </a:p>
          <a:p>
            <a:r>
              <a:rPr lang="en-US" altLang="zh-CN" dirty="0"/>
              <a:t>         case 2:write=1;break;</a:t>
            </a:r>
          </a:p>
          <a:p>
            <a:r>
              <a:rPr lang="en-US" altLang="zh-CN" dirty="0"/>
              <a:t>         case 3://</a:t>
            </a:r>
            <a:r>
              <a:rPr lang="zh-CN" altLang="en-US" dirty="0"/>
              <a:t>右转，改变海龟朝向</a:t>
            </a:r>
          </a:p>
          <a:p>
            <a:r>
              <a:rPr lang="zh-CN" altLang="en-US" dirty="0"/>
              <a:t>            </a:t>
            </a:r>
            <a:r>
              <a:rPr lang="en-US" altLang="zh-CN" dirty="0"/>
              <a:t>switch (</a:t>
            </a:r>
            <a:r>
              <a:rPr lang="en-US" altLang="zh-CN" dirty="0" err="1"/>
              <a:t>dir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       case EAST:   </a:t>
            </a:r>
            <a:r>
              <a:rPr lang="en-US" altLang="zh-CN" dirty="0" err="1"/>
              <a:t>dir</a:t>
            </a:r>
            <a:r>
              <a:rPr lang="en-US" altLang="zh-CN" dirty="0"/>
              <a:t>=SOUTH; break;</a:t>
            </a:r>
          </a:p>
          <a:p>
            <a:r>
              <a:rPr lang="en-US" altLang="zh-CN" dirty="0"/>
              <a:t>               case SOUTH:  </a:t>
            </a:r>
            <a:r>
              <a:rPr lang="en-US" altLang="zh-CN" dirty="0" err="1"/>
              <a:t>dir</a:t>
            </a:r>
            <a:r>
              <a:rPr lang="en-US" altLang="zh-CN" dirty="0"/>
              <a:t>=WEST;  break;</a:t>
            </a:r>
          </a:p>
          <a:p>
            <a:r>
              <a:rPr lang="en-US" altLang="zh-CN" dirty="0"/>
              <a:t>               case WEST:   </a:t>
            </a:r>
            <a:r>
              <a:rPr lang="en-US" altLang="zh-CN" dirty="0" err="1"/>
              <a:t>dir</a:t>
            </a:r>
            <a:r>
              <a:rPr lang="en-US" altLang="zh-CN" dirty="0"/>
              <a:t>=NORTH; break;</a:t>
            </a:r>
          </a:p>
          <a:p>
            <a:r>
              <a:rPr lang="en-US" altLang="zh-CN" dirty="0"/>
              <a:t>               case NORTH:  </a:t>
            </a:r>
            <a:r>
              <a:rPr lang="en-US" altLang="zh-CN" dirty="0" err="1"/>
              <a:t>dir</a:t>
            </a:r>
            <a:r>
              <a:rPr lang="en-US" altLang="zh-CN" dirty="0"/>
              <a:t>=EAST;  break;</a:t>
            </a:r>
          </a:p>
          <a:p>
            <a:r>
              <a:rPr lang="en-US" altLang="zh-CN" dirty="0"/>
              <a:t>               default: </a:t>
            </a:r>
            <a:r>
              <a:rPr lang="en-US" altLang="zh-CN" dirty="0" err="1"/>
              <a:t>printf</a:t>
            </a:r>
            <a:r>
              <a:rPr lang="en-US" altLang="zh-CN" dirty="0"/>
              <a:t>(" error </a:t>
            </a:r>
            <a:r>
              <a:rPr lang="en-US" altLang="zh-CN" dirty="0" err="1"/>
              <a:t>dir</a:t>
            </a:r>
            <a:r>
              <a:rPr lang="en-US" altLang="zh-CN" dirty="0"/>
              <a:t>\n");break;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    break;</a:t>
            </a:r>
          </a:p>
          <a:p>
            <a:r>
              <a:rPr lang="en-US" altLang="zh-CN" dirty="0"/>
              <a:t>         case 4://</a:t>
            </a:r>
            <a:r>
              <a:rPr lang="zh-CN" altLang="en-US" dirty="0"/>
              <a:t>左转，改变海龟朝向 </a:t>
            </a:r>
          </a:p>
          <a:p>
            <a:r>
              <a:rPr lang="zh-CN" altLang="en-US" dirty="0"/>
              <a:t>            </a:t>
            </a:r>
            <a:r>
              <a:rPr lang="en-US" altLang="zh-CN" dirty="0"/>
              <a:t>switch (</a:t>
            </a:r>
            <a:r>
              <a:rPr lang="en-US" altLang="zh-CN" dirty="0" err="1"/>
              <a:t>dir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       case EAST:   </a:t>
            </a:r>
            <a:r>
              <a:rPr lang="en-US" altLang="zh-CN" dirty="0" err="1"/>
              <a:t>dir</a:t>
            </a:r>
            <a:r>
              <a:rPr lang="en-US" altLang="zh-CN" dirty="0"/>
              <a:t>=NORTH; break;</a:t>
            </a:r>
          </a:p>
          <a:p>
            <a:r>
              <a:rPr lang="en-US" altLang="zh-CN" dirty="0"/>
              <a:t>               case SOUTH:  </a:t>
            </a:r>
            <a:r>
              <a:rPr lang="en-US" altLang="zh-CN" dirty="0" err="1"/>
              <a:t>dir</a:t>
            </a:r>
            <a:r>
              <a:rPr lang="en-US" altLang="zh-CN" dirty="0"/>
              <a:t>=EAST;  break;</a:t>
            </a:r>
          </a:p>
          <a:p>
            <a:r>
              <a:rPr lang="en-US" altLang="zh-CN" dirty="0"/>
              <a:t>               case WEST:   </a:t>
            </a:r>
            <a:r>
              <a:rPr lang="en-US" altLang="zh-CN" dirty="0" err="1"/>
              <a:t>dir</a:t>
            </a:r>
            <a:r>
              <a:rPr lang="en-US" altLang="zh-CN" dirty="0"/>
              <a:t>=SOUTH; break;</a:t>
            </a:r>
          </a:p>
          <a:p>
            <a:r>
              <a:rPr lang="en-US" altLang="zh-CN" dirty="0"/>
              <a:t>               case NORTH:  </a:t>
            </a:r>
            <a:r>
              <a:rPr lang="en-US" altLang="zh-CN" dirty="0" err="1"/>
              <a:t>dir</a:t>
            </a:r>
            <a:r>
              <a:rPr lang="en-US" altLang="zh-CN" dirty="0"/>
              <a:t>=WEST;  break;</a:t>
            </a:r>
          </a:p>
          <a:p>
            <a:r>
              <a:rPr lang="en-US" altLang="zh-CN" dirty="0"/>
              <a:t>               default: </a:t>
            </a:r>
            <a:r>
              <a:rPr lang="en-US" altLang="zh-CN" dirty="0" err="1"/>
              <a:t>printf</a:t>
            </a:r>
            <a:r>
              <a:rPr lang="en-US" altLang="zh-CN" dirty="0"/>
              <a:t>("error </a:t>
            </a:r>
            <a:r>
              <a:rPr lang="en-US" altLang="zh-CN" dirty="0" err="1"/>
              <a:t>dir</a:t>
            </a:r>
            <a:r>
              <a:rPr lang="en-US" altLang="zh-CN" dirty="0"/>
              <a:t>\n");break;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    break;</a:t>
            </a:r>
          </a:p>
          <a:p>
            <a:r>
              <a:rPr lang="en-US" altLang="zh-CN" dirty="0"/>
              <a:t>        case 5://</a:t>
            </a:r>
            <a:r>
              <a:rPr lang="zh-CN" altLang="en-US" dirty="0"/>
              <a:t>画图 </a:t>
            </a:r>
          </a:p>
          <a:p>
            <a:r>
              <a:rPr lang="zh-CN" altLang="en-US" dirty="0"/>
              <a:t>            </a:t>
            </a:r>
            <a:r>
              <a:rPr lang="en-US" altLang="zh-CN" dirty="0" err="1"/>
              <a:t>i</a:t>
            </a:r>
            <a:r>
              <a:rPr lang="en-US" altLang="zh-CN" dirty="0"/>
              <a:t>++;  //</a:t>
            </a:r>
            <a:r>
              <a:rPr lang="zh-CN" altLang="en-US" dirty="0"/>
              <a:t>用于读取前进的步数       </a:t>
            </a:r>
          </a:p>
          <a:p>
            <a:r>
              <a:rPr lang="zh-CN" altLang="en-US" dirty="0"/>
              <a:t>            </a:t>
            </a:r>
            <a:r>
              <a:rPr lang="en-US" altLang="zh-CN" dirty="0"/>
              <a:t>if (write==1){ //</a:t>
            </a:r>
            <a:r>
              <a:rPr lang="zh-CN" altLang="en-US" dirty="0"/>
              <a:t>如果笔朝下，则画图</a:t>
            </a:r>
          </a:p>
          <a:p>
            <a:r>
              <a:rPr lang="zh-CN" altLang="en-US" dirty="0"/>
              <a:t>              </a:t>
            </a:r>
            <a:r>
              <a:rPr lang="en-US" altLang="zh-CN" dirty="0"/>
              <a:t>switch (</a:t>
            </a:r>
            <a:r>
              <a:rPr lang="en-US" altLang="zh-CN" dirty="0" err="1"/>
              <a:t>dir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            case EAST:  </a:t>
            </a:r>
          </a:p>
          <a:p>
            <a:r>
              <a:rPr lang="en-US" altLang="zh-CN" dirty="0"/>
              <a:t>                         for(j=1;j&lt;=commands[</a:t>
            </a:r>
            <a:r>
              <a:rPr lang="en-US" altLang="zh-CN" dirty="0" err="1"/>
              <a:t>i</a:t>
            </a:r>
            <a:r>
              <a:rPr lang="en-US" altLang="zh-CN" dirty="0"/>
              <a:t>];j++){</a:t>
            </a:r>
          </a:p>
          <a:p>
            <a:r>
              <a:rPr lang="en-US" altLang="zh-CN" dirty="0"/>
              <a:t>                            col++;</a:t>
            </a:r>
          </a:p>
          <a:p>
            <a:r>
              <a:rPr lang="en-US" altLang="zh-CN" dirty="0"/>
              <a:t>                            picture[row][col]=1;</a:t>
            </a:r>
          </a:p>
          <a:p>
            <a:r>
              <a:rPr lang="en-US" altLang="zh-CN" dirty="0"/>
              <a:t>                         }    </a:t>
            </a:r>
          </a:p>
          <a:p>
            <a:r>
              <a:rPr lang="en-US" altLang="zh-CN" dirty="0"/>
              <a:t>                         break;</a:t>
            </a:r>
          </a:p>
          <a:p>
            <a:r>
              <a:rPr lang="en-US" altLang="zh-CN" dirty="0"/>
              <a:t>                    case SOUTH: </a:t>
            </a:r>
          </a:p>
          <a:p>
            <a:r>
              <a:rPr lang="en-US" altLang="zh-CN" dirty="0"/>
              <a:t>                         for(j=1;j&lt;=commands[</a:t>
            </a:r>
            <a:r>
              <a:rPr lang="en-US" altLang="zh-CN" dirty="0" err="1"/>
              <a:t>i</a:t>
            </a:r>
            <a:r>
              <a:rPr lang="en-US" altLang="zh-CN" dirty="0"/>
              <a:t>];j++){</a:t>
            </a:r>
          </a:p>
          <a:p>
            <a:r>
              <a:rPr lang="en-US" altLang="zh-CN" dirty="0"/>
              <a:t>                            row++;</a:t>
            </a:r>
          </a:p>
          <a:p>
            <a:r>
              <a:rPr lang="en-US" altLang="zh-CN" dirty="0"/>
              <a:t>                            picture[row][col]=1;</a:t>
            </a:r>
          </a:p>
          <a:p>
            <a:r>
              <a:rPr lang="en-US" altLang="zh-CN" dirty="0"/>
              <a:t>                         }  </a:t>
            </a:r>
          </a:p>
          <a:p>
            <a:r>
              <a:rPr lang="en-US" altLang="zh-CN" dirty="0"/>
              <a:t>                         break; </a:t>
            </a:r>
          </a:p>
          <a:p>
            <a:r>
              <a:rPr lang="en-US" altLang="zh-CN" dirty="0"/>
              <a:t>                    case WEST:  </a:t>
            </a:r>
          </a:p>
          <a:p>
            <a:r>
              <a:rPr lang="en-US" altLang="zh-CN" dirty="0"/>
              <a:t>                         for(j=1;j&lt;=commands[</a:t>
            </a:r>
            <a:r>
              <a:rPr lang="en-US" altLang="zh-CN" dirty="0" err="1"/>
              <a:t>i</a:t>
            </a:r>
            <a:r>
              <a:rPr lang="en-US" altLang="zh-CN" dirty="0"/>
              <a:t>];j++){</a:t>
            </a:r>
          </a:p>
          <a:p>
            <a:r>
              <a:rPr lang="en-US" altLang="zh-CN" dirty="0"/>
              <a:t>                            col--;</a:t>
            </a:r>
          </a:p>
          <a:p>
            <a:r>
              <a:rPr lang="en-US" altLang="zh-CN" dirty="0"/>
              <a:t>                            picture[row][col]=1;</a:t>
            </a:r>
          </a:p>
          <a:p>
            <a:r>
              <a:rPr lang="en-US" altLang="zh-CN" dirty="0"/>
              <a:t>                         }    </a:t>
            </a:r>
          </a:p>
          <a:p>
            <a:r>
              <a:rPr lang="en-US" altLang="zh-CN" dirty="0"/>
              <a:t>                         break;</a:t>
            </a:r>
          </a:p>
          <a:p>
            <a:r>
              <a:rPr lang="en-US" altLang="zh-CN" dirty="0"/>
              <a:t>                    case NORTH: </a:t>
            </a:r>
          </a:p>
          <a:p>
            <a:r>
              <a:rPr lang="en-US" altLang="zh-CN" dirty="0"/>
              <a:t>                         for(j=1;j&lt;=commands[</a:t>
            </a:r>
            <a:r>
              <a:rPr lang="en-US" altLang="zh-CN" dirty="0" err="1"/>
              <a:t>i</a:t>
            </a:r>
            <a:r>
              <a:rPr lang="en-US" altLang="zh-CN" dirty="0"/>
              <a:t>];j++){</a:t>
            </a:r>
          </a:p>
          <a:p>
            <a:r>
              <a:rPr lang="en-US" altLang="zh-CN" dirty="0"/>
              <a:t>                            row--;</a:t>
            </a:r>
          </a:p>
          <a:p>
            <a:r>
              <a:rPr lang="en-US" altLang="zh-CN" dirty="0"/>
              <a:t>                            picture[row][col]=1;</a:t>
            </a:r>
          </a:p>
          <a:p>
            <a:r>
              <a:rPr lang="en-US" altLang="zh-CN" dirty="0"/>
              <a:t>                         }  </a:t>
            </a:r>
          </a:p>
          <a:p>
            <a:r>
              <a:rPr lang="en-US" altLang="zh-CN" dirty="0"/>
              <a:t>                         break;   </a:t>
            </a:r>
          </a:p>
          <a:p>
            <a:r>
              <a:rPr lang="en-US" altLang="zh-CN" dirty="0"/>
              <a:t>                    </a:t>
            </a:r>
            <a:r>
              <a:rPr lang="en-US" altLang="zh-CN" dirty="0" err="1"/>
              <a:t>default:printf</a:t>
            </a:r>
            <a:r>
              <a:rPr lang="en-US" altLang="zh-CN" dirty="0"/>
              <a:t>("invalid direction in first part of case 5\n");</a:t>
            </a:r>
          </a:p>
          <a:p>
            <a:r>
              <a:rPr lang="en-US" altLang="zh-CN" dirty="0"/>
              <a:t>                 }   </a:t>
            </a:r>
          </a:p>
          <a:p>
            <a:r>
              <a:rPr lang="en-US" altLang="zh-CN" dirty="0"/>
              <a:t>            }                 </a:t>
            </a:r>
          </a:p>
          <a:p>
            <a:r>
              <a:rPr lang="en-US" altLang="zh-CN" dirty="0"/>
              <a:t>            else{//</a:t>
            </a:r>
            <a:r>
              <a:rPr lang="zh-CN" altLang="en-US" dirty="0"/>
              <a:t>如果笔朝上</a:t>
            </a:r>
            <a:r>
              <a:rPr lang="en-US" altLang="zh-CN" dirty="0"/>
              <a:t>,</a:t>
            </a:r>
            <a:r>
              <a:rPr lang="zh-CN" altLang="en-US" dirty="0"/>
              <a:t>则只是简单修改海龟的坐标 </a:t>
            </a:r>
          </a:p>
          <a:p>
            <a:r>
              <a:rPr lang="zh-CN" altLang="en-US" dirty="0"/>
              <a:t>               </a:t>
            </a:r>
            <a:r>
              <a:rPr lang="en-US" altLang="zh-CN" dirty="0"/>
              <a:t>switch (</a:t>
            </a:r>
            <a:r>
              <a:rPr lang="en-US" altLang="zh-CN" dirty="0" err="1"/>
              <a:t>dir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          case EAST: col+=commands[</a:t>
            </a:r>
            <a:r>
              <a:rPr lang="en-US" altLang="zh-CN" dirty="0" err="1"/>
              <a:t>i</a:t>
            </a:r>
            <a:r>
              <a:rPr lang="en-US" altLang="zh-CN" dirty="0"/>
              <a:t>]; break; </a:t>
            </a:r>
          </a:p>
          <a:p>
            <a:r>
              <a:rPr lang="en-US" altLang="zh-CN" dirty="0"/>
              <a:t>                  case </a:t>
            </a:r>
            <a:r>
              <a:rPr lang="en-US" altLang="zh-CN" dirty="0" err="1"/>
              <a:t>SOUTH:row</a:t>
            </a:r>
            <a:r>
              <a:rPr lang="en-US" altLang="zh-CN" dirty="0"/>
              <a:t>+=commands[</a:t>
            </a:r>
            <a:r>
              <a:rPr lang="en-US" altLang="zh-CN" dirty="0" err="1"/>
              <a:t>i</a:t>
            </a:r>
            <a:r>
              <a:rPr lang="en-US" altLang="zh-CN" dirty="0"/>
              <a:t>]; break;   </a:t>
            </a:r>
          </a:p>
          <a:p>
            <a:r>
              <a:rPr lang="en-US" altLang="zh-CN" dirty="0"/>
              <a:t>                  case WEST: col-=commands[</a:t>
            </a:r>
            <a:r>
              <a:rPr lang="en-US" altLang="zh-CN" dirty="0" err="1"/>
              <a:t>i</a:t>
            </a:r>
            <a:r>
              <a:rPr lang="en-US" altLang="zh-CN" dirty="0"/>
              <a:t>]; break; </a:t>
            </a:r>
          </a:p>
          <a:p>
            <a:r>
              <a:rPr lang="en-US" altLang="zh-CN" dirty="0"/>
              <a:t>                  case </a:t>
            </a:r>
            <a:r>
              <a:rPr lang="en-US" altLang="zh-CN" dirty="0" err="1"/>
              <a:t>NORTH:row</a:t>
            </a:r>
            <a:r>
              <a:rPr lang="en-US" altLang="zh-CN" dirty="0"/>
              <a:t>-=commands[</a:t>
            </a:r>
            <a:r>
              <a:rPr lang="en-US" altLang="zh-CN" dirty="0" err="1"/>
              <a:t>i</a:t>
            </a:r>
            <a:r>
              <a:rPr lang="en-US" altLang="zh-CN" dirty="0"/>
              <a:t>]; break; </a:t>
            </a:r>
          </a:p>
          <a:p>
            <a:r>
              <a:rPr lang="en-US" altLang="zh-CN" dirty="0"/>
              <a:t>                  </a:t>
            </a:r>
            <a:r>
              <a:rPr lang="en-US" altLang="zh-CN" dirty="0" err="1"/>
              <a:t>default:printf</a:t>
            </a:r>
            <a:r>
              <a:rPr lang="en-US" altLang="zh-CN" dirty="0"/>
              <a:t>("invalid direction in second part of case 5\n");</a:t>
            </a:r>
          </a:p>
          <a:p>
            <a:r>
              <a:rPr lang="en-US" altLang="zh-CN" dirty="0"/>
              <a:t>               } </a:t>
            </a:r>
          </a:p>
          <a:p>
            <a:r>
              <a:rPr lang="en-US" altLang="zh-CN" dirty="0"/>
              <a:t>            } </a:t>
            </a:r>
          </a:p>
          <a:p>
            <a:r>
              <a:rPr lang="en-US" altLang="zh-CN" dirty="0"/>
              <a:t>            break;</a:t>
            </a:r>
          </a:p>
          <a:p>
            <a:r>
              <a:rPr lang="en-US" altLang="zh-CN" dirty="0"/>
              <a:t>         case 6:printArray(picture,50,50);break;    </a:t>
            </a:r>
          </a:p>
          <a:p>
            <a:r>
              <a:rPr lang="en-US" altLang="zh-CN" dirty="0"/>
              <a:t>      }//case</a:t>
            </a:r>
          </a:p>
          <a:p>
            <a:r>
              <a:rPr lang="en-US" altLang="zh-CN" dirty="0"/>
              <a:t>     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5D2F3F-009E-4C69-B954-65C8D576346B}" type="slidenum">
              <a:rPr lang="zh-CN" altLang="en-US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CD573-0D49-40E5-93E7-DC3FCED26C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>
            <a:noFill/>
          </a:ln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CF81A-63DF-425F-8382-179C6EBDE7B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5B4C6-FA0B-43F5-9B36-C09E90DCCB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816D3-0A73-4BB0-AF78-3AE6E035861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DCD31-C104-402E-B1B7-C115A793F4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71CB8-5422-4627-929F-D04EDEDC549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ED743-0921-459D-BB2C-FAFFDF8127E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3091-4486-4721-8A48-5461B5FBD4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56985-8F54-43AA-9E3F-A0C553F902D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4583B-E286-4AE6-9615-05A90E07B79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E0632-ACB6-4DFF-AFB3-6D1FFBB56EB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118F0-02F8-4E30-94D3-5331A22F9A6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265FB-3B64-48F5-8911-E58D7790646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FB8C4-260F-4946-A15E-45F800611AC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buFontTx/>
              <a:buNone/>
              <a:defRPr sz="1400" b="1"/>
            </a:lvl1pPr>
          </a:lstStyle>
          <a:p>
            <a:pPr>
              <a:defRPr/>
            </a:pPr>
            <a:fld id="{528C3BB1-4401-40CC-883B-BDFB3B36ED38}" type="slidenum">
              <a:rPr lang="zh-CN" altLang="en-US"/>
              <a:t>‹#›</a:t>
            </a:fld>
            <a:endParaRPr lang="en-US" altLang="zh-CN"/>
          </a:p>
        </p:txBody>
      </p:sp>
      <p:grpSp>
        <p:nvGrpSpPr>
          <p:cNvPr id="1030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5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1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32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33" name="Picture 18" descr="bupt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0564E8-6F9D-4D50-A1EB-C277FCE6E4C9}" type="slidenum">
              <a:rPr lang="zh-CN" altLang="en-US" sz="1400" smtClean="0"/>
              <a:t>1</a:t>
            </a:fld>
            <a:endParaRPr lang="en-US" altLang="zh-CN" sz="1400"/>
          </a:p>
        </p:txBody>
      </p:sp>
      <p:grpSp>
        <p:nvGrpSpPr>
          <p:cNvPr id="2051" name="Group 4"/>
          <p:cNvGrpSpPr/>
          <p:nvPr/>
        </p:nvGrpSpPr>
        <p:grpSpPr bwMode="auto">
          <a:xfrm>
            <a:off x="1619250" y="1917700"/>
            <a:ext cx="5903913" cy="863600"/>
            <a:chOff x="1488" y="1152"/>
            <a:chExt cx="2736" cy="624"/>
          </a:xfrm>
        </p:grpSpPr>
        <p:sp>
          <p:nvSpPr>
            <p:cNvPr id="2053" name="Rectangle 5"/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3600" b="1">
                  <a:solidFill>
                    <a:schemeClr val="bg1"/>
                  </a:solidFill>
                </a:rPr>
                <a:t>第十章  多维数组</a:t>
              </a:r>
            </a:p>
          </p:txBody>
        </p:sp>
      </p:grpSp>
      <p:pic>
        <p:nvPicPr>
          <p:cNvPr id="2052" name="Picture 7" descr="地球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63" y="4940300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508760" y="4064635"/>
            <a:ext cx="3911600" cy="37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dirty="0"/>
              <a:t>选自</a:t>
            </a:r>
            <a:r>
              <a:rPr lang="en-US" altLang="zh-CN" dirty="0"/>
              <a:t>C Primer Plus 10.2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2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多维数组的应用（设计数据结构）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二维数组的表达对象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/>
              <a:t>案例：气象分析员要分析近</a:t>
            </a:r>
            <a:r>
              <a:rPr lang="en-US" altLang="zh-CN" b="1"/>
              <a:t>5</a:t>
            </a:r>
            <a:r>
              <a:rPr lang="zh-CN" altLang="en-US" b="1"/>
              <a:t>年中每月的降水量数据，求每年的平均降水量，以及这</a:t>
            </a:r>
            <a:r>
              <a:rPr lang="en-US" altLang="zh-CN" b="1"/>
              <a:t>5</a:t>
            </a:r>
            <a:r>
              <a:rPr lang="zh-CN" altLang="en-US" b="1"/>
              <a:t>年每月的平均降水量。</a:t>
            </a:r>
          </a:p>
          <a:p>
            <a:r>
              <a:rPr lang="zh-CN" altLang="zh-CN" b="1">
                <a:sym typeface="+mn-ea"/>
              </a:rPr>
              <a:t>问题：</a:t>
            </a:r>
            <a:r>
              <a:rPr lang="zh-CN" altLang="en-US" b="1"/>
              <a:t>如何表示这些数据？</a:t>
            </a:r>
          </a:p>
          <a:p>
            <a:pPr lvl="1"/>
            <a:r>
              <a:rPr lang="zh-CN" altLang="en-US" sz="2400" b="1"/>
              <a:t>用</a:t>
            </a:r>
            <a:r>
              <a:rPr lang="en-US" altLang="zh-CN" sz="2400" b="1"/>
              <a:t>60</a:t>
            </a:r>
            <a:r>
              <a:rPr lang="zh-CN" altLang="en-US" sz="2400" b="1"/>
              <a:t>个变量？</a:t>
            </a:r>
          </a:p>
          <a:p>
            <a:pPr lvl="1"/>
            <a:r>
              <a:rPr lang="zh-CN" altLang="en-US" sz="2400" b="1">
                <a:sym typeface="+mn-ea"/>
              </a:rPr>
              <a:t>用</a:t>
            </a:r>
            <a:r>
              <a:rPr lang="en-US" altLang="zh-CN" sz="2400" b="1"/>
              <a:t>5</a:t>
            </a:r>
            <a:r>
              <a:rPr lang="zh-CN" altLang="en-US" sz="2400" b="1"/>
              <a:t>个一维数组？</a:t>
            </a:r>
          </a:p>
          <a:p>
            <a:pPr lvl="2"/>
            <a:r>
              <a:rPr lang="zh-CN" altLang="en-US" sz="2400" b="1">
                <a:sym typeface="+mn-ea"/>
              </a:rPr>
              <a:t>可是，如果要分析</a:t>
            </a:r>
            <a:r>
              <a:rPr lang="en-US" altLang="zh-CN" sz="2400" b="1">
                <a:sym typeface="+mn-ea"/>
              </a:rPr>
              <a:t>50</a:t>
            </a:r>
            <a:r>
              <a:rPr lang="zh-CN" altLang="en-US" sz="2400" b="1">
                <a:sym typeface="+mn-ea"/>
              </a:rPr>
              <a:t>年的数据，又该怎么办？</a:t>
            </a:r>
            <a:endParaRPr lang="zh-CN" altLang="en-US" sz="2400" b="1"/>
          </a:p>
          <a:p>
            <a:pPr lvl="1"/>
            <a:r>
              <a:rPr lang="zh-CN" altLang="en-US" sz="2400" b="1">
                <a:solidFill>
                  <a:srgbClr val="FF0000"/>
                </a:solidFill>
              </a:rPr>
              <a:t>使用一个元素为数组的数组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zh-CN" altLang="en-US" sz="2400" b="1">
                <a:solidFill>
                  <a:srgbClr val="FF0000"/>
                </a:solidFill>
              </a:rPr>
              <a:t>二维数组）</a:t>
            </a:r>
          </a:p>
          <a:p>
            <a:pPr lvl="2"/>
            <a:r>
              <a:rPr lang="en-US" altLang="zh-CN" sz="2400" b="1">
                <a:solidFill>
                  <a:srgbClr val="FF0000"/>
                </a:solidFill>
              </a:rPr>
              <a:t>float rains[5][12];</a:t>
            </a:r>
          </a:p>
          <a:p>
            <a:pPr lvl="2"/>
            <a:endParaRPr lang="zh-CN" altLang="en-US" b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3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659880" y="4509135"/>
            <a:ext cx="377825" cy="4959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√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二维数组的表达对象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理解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float rains[5][12]:</a:t>
            </a:r>
          </a:p>
          <a:p>
            <a:pPr lvl="1"/>
            <a:r>
              <a:rPr lang="en-US" altLang="zh-CN" b="1" dirty="0">
                <a:solidFill>
                  <a:schemeClr val="tx1"/>
                </a:solidFill>
                <a:sym typeface="+mn-ea"/>
              </a:rPr>
              <a:t>f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loat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rains[5]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[12]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rains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是一个包含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个元素的数组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  <a:sym typeface="+mn-ea"/>
              </a:rPr>
              <a:t>float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rains[5]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[12]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rains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中每个元素的类型是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float [12]</a:t>
            </a:r>
          </a:p>
          <a:p>
            <a:pPr lvl="1"/>
            <a:r>
              <a:rPr lang="zh-CN" altLang="en-US" sz="2400" b="1" dirty="0">
                <a:sym typeface="+mn-ea"/>
              </a:rPr>
              <a:t>即：</a:t>
            </a:r>
            <a:r>
              <a:rPr lang="en-US" altLang="zh-CN" sz="2400" b="1" dirty="0">
                <a:sym typeface="+mn-ea"/>
              </a:rPr>
              <a:t>rains</a:t>
            </a:r>
            <a:r>
              <a:rPr lang="zh-CN" altLang="en-US" sz="2400" b="1" dirty="0">
                <a:sym typeface="+mn-ea"/>
              </a:rPr>
              <a:t>具有</a:t>
            </a:r>
            <a:r>
              <a:rPr lang="en-US" altLang="zh-CN" sz="2400" b="1" dirty="0">
                <a:sym typeface="+mn-ea"/>
              </a:rPr>
              <a:t>5</a:t>
            </a:r>
            <a:r>
              <a:rPr lang="zh-CN" altLang="en-US" sz="2400" b="1" dirty="0">
                <a:sym typeface="+mn-ea"/>
              </a:rPr>
              <a:t>个元素，每个元素是包含</a:t>
            </a:r>
            <a:r>
              <a:rPr lang="en-US" altLang="zh-CN" sz="2400" b="1" dirty="0">
                <a:sym typeface="+mn-ea"/>
              </a:rPr>
              <a:t>12</a:t>
            </a:r>
            <a:r>
              <a:rPr lang="zh-CN" altLang="en-US" sz="2400" b="1" dirty="0">
                <a:sym typeface="+mn-ea"/>
              </a:rPr>
              <a:t>个</a:t>
            </a:r>
            <a:r>
              <a:rPr lang="en-US" altLang="zh-CN" sz="2400" b="1" dirty="0">
                <a:sym typeface="+mn-ea"/>
              </a:rPr>
              <a:t>float</a:t>
            </a:r>
            <a:r>
              <a:rPr lang="zh-CN" altLang="en-US" sz="2400" b="1" dirty="0">
                <a:sym typeface="+mn-ea"/>
              </a:rPr>
              <a:t>数值的数组。如：</a:t>
            </a:r>
            <a:r>
              <a:rPr lang="en-US" altLang="zh-CN" sz="2400" b="1" dirty="0">
                <a:sym typeface="+mn-ea"/>
              </a:rPr>
              <a:t>rains[0]</a:t>
            </a:r>
            <a:r>
              <a:rPr lang="zh-CN" altLang="en-US" sz="2400" b="1" dirty="0">
                <a:sym typeface="+mn-ea"/>
              </a:rPr>
              <a:t>是一个数组，其元素为：</a:t>
            </a:r>
            <a:r>
              <a:rPr lang="en-US" altLang="zh-CN" sz="2400" b="1" dirty="0">
                <a:sym typeface="+mn-ea"/>
              </a:rPr>
              <a:t>rains[0][0],rains[0][1],......rains[0][11].</a:t>
            </a:r>
            <a:endParaRPr lang="en-US" altLang="zh-CN" sz="2400" b="1" dirty="0">
              <a:solidFill>
                <a:schemeClr val="tx1"/>
              </a:solidFill>
              <a:sym typeface="+mn-ea"/>
            </a:endParaRPr>
          </a:p>
          <a:p>
            <a:pPr lvl="1"/>
            <a:endParaRPr lang="zh-CN" altLang="en-US" sz="2400" b="1" dirty="0">
              <a:solidFill>
                <a:schemeClr val="tx1"/>
              </a:solidFill>
              <a:sym typeface="+mn-ea"/>
            </a:endParaRPr>
          </a:p>
          <a:p>
            <a:pPr lvl="1"/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588125" y="6236970"/>
            <a:ext cx="1905000" cy="457200"/>
          </a:xfrm>
        </p:spPr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4</a:t>
            </a:fld>
            <a:endParaRPr lang="en-US" altLang="zh-CN"/>
          </a:p>
        </p:txBody>
      </p:sp>
      <p:graphicFrame>
        <p:nvGraphicFramePr>
          <p:cNvPr id="292925" name="Group 61"/>
          <p:cNvGraphicFramePr>
            <a:graphicFrameLocks noGrp="1"/>
          </p:cNvGraphicFramePr>
          <p:nvPr/>
        </p:nvGraphicFramePr>
        <p:xfrm>
          <a:off x="2462213" y="4798378"/>
          <a:ext cx="4989512" cy="1371600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692" name="Text Box 84"/>
          <p:cNvSpPr txBox="1">
            <a:spLocks noChangeArrowheads="1"/>
          </p:cNvSpPr>
          <p:nvPr/>
        </p:nvSpPr>
        <p:spPr bwMode="auto">
          <a:xfrm>
            <a:off x="1468755" y="4871085"/>
            <a:ext cx="1092200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chemeClr val="accent2">
                    <a:lumMod val="60000"/>
                    <a:lumOff val="40000"/>
                  </a:schemeClr>
                </a:solidFill>
                <a:sym typeface="+mn-ea"/>
              </a:rPr>
              <a:t>rains[0]</a:t>
            </a:r>
          </a:p>
        </p:txBody>
      </p:sp>
      <p:sp>
        <p:nvSpPr>
          <p:cNvPr id="5" name="Text Box 84"/>
          <p:cNvSpPr txBox="1">
            <a:spLocks noChangeArrowheads="1"/>
          </p:cNvSpPr>
          <p:nvPr/>
        </p:nvSpPr>
        <p:spPr bwMode="auto">
          <a:xfrm>
            <a:off x="1452245" y="5285105"/>
            <a:ext cx="1092200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rains[1]</a:t>
            </a:r>
          </a:p>
        </p:txBody>
      </p:sp>
      <p:sp>
        <p:nvSpPr>
          <p:cNvPr id="6" name="Text Box 84"/>
          <p:cNvSpPr txBox="1">
            <a:spLocks noChangeArrowheads="1"/>
          </p:cNvSpPr>
          <p:nvPr/>
        </p:nvSpPr>
        <p:spPr bwMode="auto">
          <a:xfrm>
            <a:off x="1468755" y="5732145"/>
            <a:ext cx="1092200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rains[2]</a:t>
            </a:r>
          </a:p>
        </p:txBody>
      </p:sp>
      <p:sp>
        <p:nvSpPr>
          <p:cNvPr id="7" name="Text Box 84"/>
          <p:cNvSpPr txBox="1">
            <a:spLocks noChangeArrowheads="1"/>
          </p:cNvSpPr>
          <p:nvPr/>
        </p:nvSpPr>
        <p:spPr bwMode="auto">
          <a:xfrm>
            <a:off x="2411730" y="4869815"/>
            <a:ext cx="1397635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rains[0][0]</a:t>
            </a:r>
            <a:endParaRPr lang="zh-CN" altLang="en-US" sz="2000" b="1">
              <a:sym typeface="+mn-ea"/>
            </a:endParaRPr>
          </a:p>
        </p:txBody>
      </p:sp>
      <p:sp>
        <p:nvSpPr>
          <p:cNvPr id="8" name="Text Box 84"/>
          <p:cNvSpPr txBox="1">
            <a:spLocks noChangeArrowheads="1"/>
          </p:cNvSpPr>
          <p:nvPr/>
        </p:nvSpPr>
        <p:spPr bwMode="auto">
          <a:xfrm>
            <a:off x="3707765" y="4869815"/>
            <a:ext cx="1397635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rains[0][1]</a:t>
            </a:r>
            <a:endParaRPr lang="zh-CN" altLang="en-US" sz="2000" b="1">
              <a:sym typeface="+mn-ea"/>
            </a:endParaRPr>
          </a:p>
        </p:txBody>
      </p:sp>
      <p:sp>
        <p:nvSpPr>
          <p:cNvPr id="9" name="Text Box 84"/>
          <p:cNvSpPr txBox="1">
            <a:spLocks noChangeArrowheads="1"/>
          </p:cNvSpPr>
          <p:nvPr/>
        </p:nvSpPr>
        <p:spPr bwMode="auto">
          <a:xfrm>
            <a:off x="2440940" y="5340985"/>
            <a:ext cx="1397635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rains[1][0]</a:t>
            </a:r>
            <a:endParaRPr lang="zh-CN" altLang="en-US" sz="2000" b="1">
              <a:sym typeface="+mn-ea"/>
            </a:endParaRPr>
          </a:p>
        </p:txBody>
      </p:sp>
      <p:sp>
        <p:nvSpPr>
          <p:cNvPr id="10" name="Text Box 84"/>
          <p:cNvSpPr txBox="1">
            <a:spLocks noChangeArrowheads="1"/>
          </p:cNvSpPr>
          <p:nvPr/>
        </p:nvSpPr>
        <p:spPr bwMode="auto">
          <a:xfrm>
            <a:off x="3716020" y="5324475"/>
            <a:ext cx="1397635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rains[1][1]</a:t>
            </a:r>
            <a:endParaRPr lang="zh-CN" altLang="en-US" sz="2000" b="1">
              <a:sym typeface="+mn-ea"/>
            </a:endParaRPr>
          </a:p>
        </p:txBody>
      </p:sp>
      <p:sp>
        <p:nvSpPr>
          <p:cNvPr id="11" name="Text Box 84"/>
          <p:cNvSpPr txBox="1">
            <a:spLocks noChangeArrowheads="1"/>
          </p:cNvSpPr>
          <p:nvPr/>
        </p:nvSpPr>
        <p:spPr bwMode="auto">
          <a:xfrm>
            <a:off x="5843905" y="4853305"/>
            <a:ext cx="1397635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rains[0][11]</a:t>
            </a:r>
            <a:endParaRPr lang="zh-CN" altLang="en-US" sz="2000" b="1">
              <a:sym typeface="+mn-ea"/>
            </a:endParaRPr>
          </a:p>
        </p:txBody>
      </p:sp>
      <p:sp>
        <p:nvSpPr>
          <p:cNvPr id="12" name="Text Box 84"/>
          <p:cNvSpPr txBox="1">
            <a:spLocks noChangeArrowheads="1"/>
          </p:cNvSpPr>
          <p:nvPr/>
        </p:nvSpPr>
        <p:spPr bwMode="auto">
          <a:xfrm>
            <a:off x="5827395" y="5339080"/>
            <a:ext cx="1397635" cy="37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ym typeface="+mn-ea"/>
              </a:rPr>
              <a:t>rains[1][11]</a:t>
            </a:r>
            <a:endParaRPr lang="zh-CN" altLang="en-US" sz="2000" b="1">
              <a:sym typeface="+mn-ea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5D1777-579F-4BDE-BE29-BC1C024C0A94}" type="slidenum">
              <a:rPr lang="zh-CN" altLang="en-US" sz="1400" smtClean="0"/>
              <a:t>5</a:t>
            </a:fld>
            <a:endParaRPr lang="en-US" altLang="zh-CN" sz="1400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dirty="0"/>
              <a:t>工程中经常要使用矩阵来表达数据，进行运算</a:t>
            </a:r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r>
              <a:rPr lang="zh-CN" altLang="en-US" b="1" dirty="0"/>
              <a:t>二维数组也可以看作矩阵。矩阵中元素类型相同，元素通过所在行和列进行标识。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    </a:t>
            </a:r>
            <a:endParaRPr lang="en-US" altLang="zh-CN" b="1" dirty="0"/>
          </a:p>
        </p:txBody>
      </p:sp>
      <p:sp>
        <p:nvSpPr>
          <p:cNvPr id="112644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1"/>
              <a:t>1.</a:t>
            </a:r>
            <a:r>
              <a:rPr lang="zh-CN" altLang="en-US" b="1"/>
              <a:t>二维数组的表达对象</a:t>
            </a:r>
            <a:endParaRPr lang="en-US" altLang="zh-CN" b="1"/>
          </a:p>
        </p:txBody>
      </p:sp>
      <p:grpSp>
        <p:nvGrpSpPr>
          <p:cNvPr id="112645" name="Group 6"/>
          <p:cNvGrpSpPr/>
          <p:nvPr/>
        </p:nvGrpSpPr>
        <p:grpSpPr bwMode="auto">
          <a:xfrm>
            <a:off x="1619250" y="2271713"/>
            <a:ext cx="2376488" cy="1373187"/>
            <a:chOff x="2789" y="2069"/>
            <a:chExt cx="1497" cy="865"/>
          </a:xfrm>
        </p:grpSpPr>
        <p:sp>
          <p:nvSpPr>
            <p:cNvPr id="291847" name="AutoShape 7"/>
            <p:cNvSpPr/>
            <p:nvPr/>
          </p:nvSpPr>
          <p:spPr bwMode="auto">
            <a:xfrm>
              <a:off x="2789" y="2114"/>
              <a:ext cx="45" cy="726"/>
            </a:xfrm>
            <a:prstGeom prst="leftBracket">
              <a:avLst>
                <a:gd name="adj" fmla="val 134444"/>
              </a:avLst>
            </a:prstGeom>
            <a:noFill/>
            <a:ln w="9525">
              <a:solidFill>
                <a:schemeClr val="tx2"/>
              </a:solidFill>
              <a:round/>
            </a:ln>
            <a:effectLst>
              <a:prstShdw prst="shdw18" dist="17961" dir="13500000">
                <a:schemeClr val="tx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1848" name="AutoShape 8"/>
            <p:cNvSpPr/>
            <p:nvPr/>
          </p:nvSpPr>
          <p:spPr bwMode="auto">
            <a:xfrm>
              <a:off x="4104" y="2114"/>
              <a:ext cx="46" cy="726"/>
            </a:xfrm>
            <a:prstGeom prst="rightBracket">
              <a:avLst>
                <a:gd name="adj" fmla="val 131522"/>
              </a:avLst>
            </a:prstGeom>
            <a:noFill/>
            <a:ln w="9525">
              <a:solidFill>
                <a:schemeClr val="tx2"/>
              </a:solidFill>
              <a:round/>
            </a:ln>
            <a:effectLst>
              <a:prstShdw prst="shdw18" dist="17961" dir="13500000">
                <a:schemeClr val="tx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1849" name="Text Box 9"/>
            <p:cNvSpPr txBox="1">
              <a:spLocks noChangeArrowheads="1"/>
            </p:cNvSpPr>
            <p:nvPr/>
          </p:nvSpPr>
          <p:spPr bwMode="auto">
            <a:xfrm>
              <a:off x="2789" y="2069"/>
              <a:ext cx="1497" cy="865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800"/>
                <a:t>10</a:t>
              </a:r>
              <a:r>
                <a:rPr lang="zh-CN" altLang="en-US" sz="2800"/>
                <a:t>，</a:t>
              </a:r>
              <a:r>
                <a:rPr lang="en-US" altLang="zh-CN" sz="2800"/>
                <a:t>23</a:t>
              </a:r>
              <a:r>
                <a:rPr lang="zh-CN" altLang="en-US" sz="2800"/>
                <a:t>，</a:t>
              </a:r>
              <a:r>
                <a:rPr lang="en-US" altLang="zh-CN" sz="2800"/>
                <a:t>45</a:t>
              </a: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800"/>
                <a:t> 26</a:t>
              </a:r>
              <a:r>
                <a:rPr lang="zh-CN" altLang="en-US" sz="2800"/>
                <a:t>，</a:t>
              </a:r>
              <a:r>
                <a:rPr lang="en-US" altLang="zh-CN" sz="2800"/>
                <a:t>88</a:t>
              </a:r>
              <a:r>
                <a:rPr lang="zh-CN" altLang="en-US" sz="2800"/>
                <a:t>，</a:t>
              </a:r>
              <a:r>
                <a:rPr lang="en-US" altLang="zh-CN" sz="2800"/>
                <a:t>39</a:t>
              </a: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800"/>
                <a:t> 77</a:t>
              </a:r>
              <a:r>
                <a:rPr lang="zh-CN" altLang="en-US" sz="2800"/>
                <a:t>，</a:t>
              </a:r>
              <a:r>
                <a:rPr lang="en-US" altLang="zh-CN" sz="2800"/>
                <a:t>53</a:t>
              </a:r>
              <a:r>
                <a:rPr lang="zh-CN" altLang="en-US" sz="2800"/>
                <a:t>，</a:t>
              </a:r>
              <a:r>
                <a:rPr lang="en-US" altLang="zh-CN" sz="2800"/>
                <a:t>68</a:t>
              </a:r>
            </a:p>
          </p:txBody>
        </p:sp>
      </p:grpSp>
      <p:grpSp>
        <p:nvGrpSpPr>
          <p:cNvPr id="112646" name="Group 10"/>
          <p:cNvGrpSpPr/>
          <p:nvPr/>
        </p:nvGrpSpPr>
        <p:grpSpPr bwMode="auto">
          <a:xfrm>
            <a:off x="4787900" y="1916113"/>
            <a:ext cx="3600450" cy="1770062"/>
            <a:chOff x="839" y="2454"/>
            <a:chExt cx="2268" cy="1115"/>
          </a:xfrm>
        </p:grpSpPr>
        <p:grpSp>
          <p:nvGrpSpPr>
            <p:cNvPr id="112647" name="Group 11"/>
            <p:cNvGrpSpPr/>
            <p:nvPr/>
          </p:nvGrpSpPr>
          <p:grpSpPr bwMode="auto">
            <a:xfrm>
              <a:off x="1202" y="2704"/>
              <a:ext cx="1497" cy="865"/>
              <a:chOff x="2789" y="2069"/>
              <a:chExt cx="1497" cy="865"/>
            </a:xfrm>
          </p:grpSpPr>
          <p:sp>
            <p:nvSpPr>
              <p:cNvPr id="291852" name="AutoShape 12"/>
              <p:cNvSpPr/>
              <p:nvPr/>
            </p:nvSpPr>
            <p:spPr bwMode="auto">
              <a:xfrm>
                <a:off x="2789" y="2114"/>
                <a:ext cx="45" cy="726"/>
              </a:xfrm>
              <a:prstGeom prst="leftBracket">
                <a:avLst>
                  <a:gd name="adj" fmla="val 134444"/>
                </a:avLst>
              </a:prstGeom>
              <a:noFill/>
              <a:ln w="9525">
                <a:solidFill>
                  <a:schemeClr val="tx2"/>
                </a:solidFill>
                <a:round/>
              </a:ln>
              <a:effectLst>
                <a:prstShdw prst="shdw18" dist="17961" dir="13500000">
                  <a:schemeClr val="tx2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1853" name="AutoShape 13"/>
              <p:cNvSpPr/>
              <p:nvPr/>
            </p:nvSpPr>
            <p:spPr bwMode="auto">
              <a:xfrm>
                <a:off x="4104" y="2114"/>
                <a:ext cx="46" cy="726"/>
              </a:xfrm>
              <a:prstGeom prst="rightBracket">
                <a:avLst>
                  <a:gd name="adj" fmla="val 131522"/>
                </a:avLst>
              </a:prstGeom>
              <a:noFill/>
              <a:ln w="9525">
                <a:solidFill>
                  <a:schemeClr val="tx2"/>
                </a:solidFill>
                <a:round/>
              </a:ln>
              <a:effectLst>
                <a:prstShdw prst="shdw18" dist="17961" dir="13500000">
                  <a:schemeClr val="tx2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1854" name="Text Box 14"/>
              <p:cNvSpPr txBox="1">
                <a:spLocks noChangeArrowheads="1"/>
              </p:cNvSpPr>
              <p:nvPr/>
            </p:nvSpPr>
            <p:spPr bwMode="auto">
              <a:xfrm>
                <a:off x="2789" y="2069"/>
                <a:ext cx="1497" cy="865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800"/>
                  <a:t>  0</a:t>
                </a:r>
                <a:r>
                  <a:rPr lang="zh-CN" altLang="en-US" sz="2800"/>
                  <a:t>，</a:t>
                </a:r>
                <a:r>
                  <a:rPr lang="en-US" altLang="zh-CN" sz="2800"/>
                  <a:t>23</a:t>
                </a:r>
                <a:r>
                  <a:rPr lang="zh-CN" altLang="en-US" sz="2800"/>
                  <a:t>，</a:t>
                </a:r>
                <a:r>
                  <a:rPr lang="en-US" altLang="zh-CN" sz="2800"/>
                  <a:t>45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800"/>
                  <a:t> 23</a:t>
                </a:r>
                <a:r>
                  <a:rPr lang="zh-CN" altLang="en-US" sz="2800"/>
                  <a:t>，</a:t>
                </a:r>
                <a:r>
                  <a:rPr lang="en-US" altLang="zh-CN" sz="2800"/>
                  <a:t>0</a:t>
                </a:r>
                <a:r>
                  <a:rPr lang="zh-CN" altLang="en-US" sz="2800"/>
                  <a:t>，</a:t>
                </a:r>
                <a:r>
                  <a:rPr lang="en-US" altLang="zh-CN" sz="2800"/>
                  <a:t>39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800"/>
                  <a:t> 45</a:t>
                </a:r>
                <a:r>
                  <a:rPr lang="zh-CN" altLang="en-US" sz="2800"/>
                  <a:t>，</a:t>
                </a:r>
                <a:r>
                  <a:rPr lang="en-US" altLang="zh-CN" sz="2800"/>
                  <a:t>39</a:t>
                </a:r>
                <a:r>
                  <a:rPr lang="zh-CN" altLang="en-US" sz="2800"/>
                  <a:t>，</a:t>
                </a:r>
                <a:r>
                  <a:rPr lang="en-US" altLang="zh-CN" sz="2800"/>
                  <a:t>0</a:t>
                </a:r>
              </a:p>
            </p:txBody>
          </p:sp>
        </p:grpSp>
        <p:sp>
          <p:nvSpPr>
            <p:cNvPr id="291855" name="Text Box 15"/>
            <p:cNvSpPr txBox="1">
              <a:spLocks noChangeArrowheads="1"/>
            </p:cNvSpPr>
            <p:nvPr/>
          </p:nvSpPr>
          <p:spPr bwMode="auto">
            <a:xfrm>
              <a:off x="1247" y="2454"/>
              <a:ext cx="1860" cy="250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b="1"/>
                <a:t>A</a:t>
              </a:r>
              <a:r>
                <a:rPr lang="zh-CN" altLang="en-US" b="1"/>
                <a:t>村   </a:t>
              </a:r>
              <a:r>
                <a:rPr lang="en-US" altLang="zh-CN" b="1"/>
                <a:t>B</a:t>
              </a:r>
              <a:r>
                <a:rPr lang="zh-CN" altLang="en-US" b="1"/>
                <a:t>村   </a:t>
              </a:r>
              <a:r>
                <a:rPr lang="en-US" altLang="zh-CN" b="1"/>
                <a:t>C</a:t>
              </a:r>
              <a:r>
                <a:rPr lang="zh-CN" altLang="en-US" b="1"/>
                <a:t>村</a:t>
              </a:r>
            </a:p>
          </p:txBody>
        </p:sp>
        <p:sp>
          <p:nvSpPr>
            <p:cNvPr id="291856" name="Text Box 16"/>
            <p:cNvSpPr txBox="1">
              <a:spLocks noChangeArrowheads="1"/>
            </p:cNvSpPr>
            <p:nvPr/>
          </p:nvSpPr>
          <p:spPr bwMode="auto">
            <a:xfrm>
              <a:off x="839" y="2745"/>
              <a:ext cx="408" cy="250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b="1"/>
                <a:t>A</a:t>
              </a:r>
              <a:r>
                <a:rPr lang="zh-CN" altLang="en-US" b="1"/>
                <a:t>村</a:t>
              </a:r>
            </a:p>
          </p:txBody>
        </p:sp>
        <p:sp>
          <p:nvSpPr>
            <p:cNvPr id="291857" name="Text Box 17"/>
            <p:cNvSpPr txBox="1">
              <a:spLocks noChangeArrowheads="1"/>
            </p:cNvSpPr>
            <p:nvPr/>
          </p:nvSpPr>
          <p:spPr bwMode="auto">
            <a:xfrm>
              <a:off x="839" y="3022"/>
              <a:ext cx="408" cy="250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b="1"/>
                <a:t>B</a:t>
              </a:r>
              <a:r>
                <a:rPr lang="zh-CN" altLang="en-US" b="1"/>
                <a:t>村</a:t>
              </a:r>
            </a:p>
          </p:txBody>
        </p:sp>
        <p:sp>
          <p:nvSpPr>
            <p:cNvPr id="291858" name="Text Box 18"/>
            <p:cNvSpPr txBox="1">
              <a:spLocks noChangeArrowheads="1"/>
            </p:cNvSpPr>
            <p:nvPr/>
          </p:nvSpPr>
          <p:spPr bwMode="auto">
            <a:xfrm>
              <a:off x="839" y="3294"/>
              <a:ext cx="408" cy="250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b="1"/>
                <a:t>C</a:t>
              </a:r>
              <a:r>
                <a:rPr lang="zh-CN" altLang="en-US" b="1"/>
                <a:t>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1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6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多维数组的应用（设计数据结构）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A29DBA-6866-4825-ADA6-76CE1BA20B30}" type="slidenum">
              <a:rPr lang="zh-CN" altLang="en-US" sz="1400" smtClean="0"/>
              <a:t>7</a:t>
            </a:fld>
            <a:endParaRPr lang="en-US" altLang="zh-CN" sz="1400"/>
          </a:p>
        </p:txBody>
      </p:sp>
      <p:sp>
        <p:nvSpPr>
          <p:cNvPr id="113667" name="Rectangle 32"/>
          <p:cNvSpPr>
            <a:spLocks noChangeArrowheads="1"/>
          </p:cNvSpPr>
          <p:nvPr/>
        </p:nvSpPr>
        <p:spPr bwMode="auto">
          <a:xfrm>
            <a:off x="395288" y="1474788"/>
            <a:ext cx="814228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System" charset="-122"/>
                <a:ea typeface="System" charset="-122"/>
              </a:rPr>
              <a:t>一、二维数组的定义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b="1" dirty="0">
                <a:latin typeface="System" charset="-122"/>
                <a:ea typeface="System" charset="-122"/>
              </a:rPr>
              <a:t>  </a:t>
            </a:r>
            <a:r>
              <a:rPr kumimoji="0" lang="zh-CN" altLang="en-US" sz="2400" b="1" dirty="0">
                <a:solidFill>
                  <a:schemeClr val="accent2"/>
                </a:solidFill>
                <a:latin typeface="System" charset="-122"/>
                <a:ea typeface="System" charset="-122"/>
              </a:rPr>
              <a:t>类型说明符 数组名[常量表达式1][常量表达式2]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；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  常量表达式1：表示第一维下标的长度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,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运算结果为整型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  常量表达式2：表示第二维下标的长度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,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运算结果为整型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endParaRPr kumimoji="0" lang="zh-CN" altLang="en-US" sz="800" b="1" dirty="0">
              <a:latin typeface="System" charset="-122"/>
              <a:ea typeface="System" charset="-122"/>
            </a:endParaRP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  例如：</a:t>
            </a:r>
            <a:r>
              <a:rPr kumimoji="0" lang="en-US" altLang="zh-CN" sz="2400" b="1" dirty="0">
                <a:solidFill>
                  <a:srgbClr val="000099"/>
                </a:solidFill>
                <a:latin typeface="System" charset="-122"/>
                <a:ea typeface="System" charset="-122"/>
              </a:rPr>
              <a:t>int a[3][4];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 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 定义了一个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3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行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4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列的数组，数组名为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a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。该数组共有3*4个整型元素，用于存储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3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行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4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列的矩阵。或者看作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3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个一维数组的集合。</a:t>
            </a:r>
          </a:p>
        </p:txBody>
      </p:sp>
      <p:sp>
        <p:nvSpPr>
          <p:cNvPr id="113668" name="Rectangle 33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3300"/>
                </a:solidFill>
              </a:rPr>
              <a:t>2.二维数组的定义</a:t>
            </a:r>
            <a:r>
              <a:rPr lang="zh-CN" altLang="en-US" sz="3200" b="1">
                <a:solidFill>
                  <a:srgbClr val="FF3300"/>
                </a:solidFill>
              </a:rPr>
              <a:t>和初始化</a:t>
            </a:r>
          </a:p>
        </p:txBody>
      </p:sp>
      <p:graphicFrame>
        <p:nvGraphicFramePr>
          <p:cNvPr id="29292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899830"/>
              </p:ext>
            </p:extLst>
          </p:nvPr>
        </p:nvGraphicFramePr>
        <p:xfrm>
          <a:off x="2411760" y="4571638"/>
          <a:ext cx="4989512" cy="1371600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691" name="Text Box 83"/>
          <p:cNvSpPr txBox="1">
            <a:spLocks noChangeArrowheads="1"/>
          </p:cNvSpPr>
          <p:nvPr/>
        </p:nvSpPr>
        <p:spPr bwMode="auto">
          <a:xfrm>
            <a:off x="2532063" y="4221163"/>
            <a:ext cx="5135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 第</a:t>
            </a:r>
            <a:r>
              <a:rPr lang="en-US" altLang="zh-CN" sz="2000" b="1"/>
              <a:t>0</a:t>
            </a:r>
            <a:r>
              <a:rPr lang="zh-CN" altLang="en-US" sz="2000" b="1"/>
              <a:t>列           第</a:t>
            </a:r>
            <a:r>
              <a:rPr lang="en-US" altLang="zh-CN" sz="2000" b="1"/>
              <a:t>1</a:t>
            </a:r>
            <a:r>
              <a:rPr lang="zh-CN" altLang="en-US" sz="2000" b="1"/>
              <a:t>列           第</a:t>
            </a:r>
            <a:r>
              <a:rPr lang="en-US" altLang="zh-CN" sz="2000" b="1"/>
              <a:t>2</a:t>
            </a:r>
            <a:r>
              <a:rPr lang="zh-CN" altLang="en-US" sz="2000" b="1"/>
              <a:t>列      第</a:t>
            </a:r>
            <a:r>
              <a:rPr lang="en-US" altLang="zh-CN" sz="2000" b="1"/>
              <a:t>3</a:t>
            </a:r>
            <a:r>
              <a:rPr lang="zh-CN" altLang="en-US" sz="2000" b="1"/>
              <a:t>列</a:t>
            </a:r>
          </a:p>
        </p:txBody>
      </p:sp>
      <p:sp>
        <p:nvSpPr>
          <p:cNvPr id="113692" name="Text Box 84"/>
          <p:cNvSpPr txBox="1">
            <a:spLocks noChangeArrowheads="1"/>
          </p:cNvSpPr>
          <p:nvPr/>
        </p:nvSpPr>
        <p:spPr bwMode="auto">
          <a:xfrm>
            <a:off x="1595438" y="4654550"/>
            <a:ext cx="936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第</a:t>
            </a:r>
            <a:r>
              <a:rPr lang="en-US" altLang="zh-CN" sz="2000" b="1"/>
              <a:t>0</a:t>
            </a:r>
            <a:r>
              <a:rPr lang="zh-CN" altLang="en-US" sz="2000" b="1"/>
              <a:t>行</a:t>
            </a:r>
          </a:p>
        </p:txBody>
      </p:sp>
      <p:sp>
        <p:nvSpPr>
          <p:cNvPr id="113693" name="Text Box 85"/>
          <p:cNvSpPr txBox="1">
            <a:spLocks noChangeArrowheads="1"/>
          </p:cNvSpPr>
          <p:nvPr/>
        </p:nvSpPr>
        <p:spPr bwMode="auto">
          <a:xfrm>
            <a:off x="1595438" y="5151438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第</a:t>
            </a:r>
            <a:r>
              <a:rPr lang="en-US" altLang="zh-CN" sz="2000" b="1"/>
              <a:t>1</a:t>
            </a:r>
            <a:r>
              <a:rPr lang="zh-CN" altLang="en-US" sz="2000" b="1"/>
              <a:t>行</a:t>
            </a:r>
          </a:p>
        </p:txBody>
      </p:sp>
      <p:sp>
        <p:nvSpPr>
          <p:cNvPr id="113694" name="Text Box 86"/>
          <p:cNvSpPr txBox="1">
            <a:spLocks noChangeArrowheads="1"/>
          </p:cNvSpPr>
          <p:nvPr/>
        </p:nvSpPr>
        <p:spPr bwMode="auto">
          <a:xfrm>
            <a:off x="1595438" y="5589588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第</a:t>
            </a:r>
            <a:r>
              <a:rPr lang="en-US" altLang="zh-CN" sz="2000" b="1"/>
              <a:t>2</a:t>
            </a:r>
            <a:r>
              <a:rPr lang="zh-CN" altLang="en-US" sz="2000" b="1"/>
              <a:t>行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217775-52F4-4838-8D6F-2BB4519A2060}" type="slidenum">
              <a:rPr lang="zh-CN" altLang="en-US" sz="1400" smtClean="0"/>
              <a:t>8</a:t>
            </a:fld>
            <a:endParaRPr lang="en-US" altLang="zh-CN" sz="1400"/>
          </a:p>
        </p:txBody>
      </p:sp>
      <p:sp>
        <p:nvSpPr>
          <p:cNvPr id="293892" name="Rectangle 4"/>
          <p:cNvSpPr>
            <a:spLocks noChangeArrowheads="1"/>
          </p:cNvSpPr>
          <p:nvPr/>
        </p:nvSpPr>
        <p:spPr bwMode="auto">
          <a:xfrm>
            <a:off x="395288" y="1330325"/>
            <a:ext cx="842486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buClr>
                <a:schemeClr val="accent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solidFill>
                  <a:srgbClr val="FF0000"/>
                </a:solidFill>
                <a:latin typeface="System" charset="-122"/>
                <a:ea typeface="System" charset="-122"/>
              </a:rPr>
              <a:t>二、二维数组元素的表示方法</a:t>
            </a:r>
          </a:p>
          <a:p>
            <a:pPr marL="342900" indent="-342900">
              <a:buClr>
                <a:schemeClr val="accent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400" b="1">
                <a:latin typeface="System" charset="-122"/>
                <a:ea typeface="System" charset="-122"/>
              </a:rPr>
              <a:t>  二维数组的元素也称为</a:t>
            </a:r>
            <a:r>
              <a:rPr kumimoji="0" lang="zh-CN" altLang="en-US" sz="2400" b="1" i="1">
                <a:solidFill>
                  <a:srgbClr val="003399"/>
                </a:solidFill>
                <a:latin typeface="System" charset="-122"/>
                <a:ea typeface="System" charset="-122"/>
              </a:rPr>
              <a:t>双下标变量</a:t>
            </a:r>
            <a:r>
              <a:rPr kumimoji="0" lang="zh-CN" altLang="en-US" sz="2400" b="1">
                <a:latin typeface="System" charset="-122"/>
                <a:ea typeface="System" charset="-122"/>
              </a:rPr>
              <a:t>，表示形式为：			</a:t>
            </a:r>
            <a:r>
              <a:rPr kumimoji="0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stem" charset="-122"/>
                <a:ea typeface="System" charset="-122"/>
              </a:rPr>
              <a:t>数组名[行下标</a:t>
            </a:r>
            <a:r>
              <a:rPr kumimoji="0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stem" charset="-122"/>
                <a:ea typeface="System" charset="-122"/>
              </a:rPr>
              <a:t>][</a:t>
            </a:r>
            <a:r>
              <a:rPr kumimoji="0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stem" charset="-122"/>
                <a:ea typeface="System" charset="-122"/>
              </a:rPr>
              <a:t>列下标</a:t>
            </a:r>
            <a:r>
              <a:rPr kumimoji="0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stem" charset="-122"/>
                <a:ea typeface="System" charset="-122"/>
              </a:rPr>
              <a:t>]</a:t>
            </a:r>
            <a:r>
              <a:rPr kumimoji="0" lang="en-US" altLang="zh-CN" sz="2400" b="1">
                <a:latin typeface="System" charset="-122"/>
                <a:ea typeface="System" charset="-122"/>
              </a:rPr>
              <a:t>      </a:t>
            </a:r>
          </a:p>
          <a:p>
            <a:pPr marL="342900" indent="-342900">
              <a:buClr>
                <a:schemeClr val="accent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400" b="1">
                <a:latin typeface="System" charset="-122"/>
                <a:ea typeface="System" charset="-122"/>
              </a:rPr>
              <a:t>  下标应为整型常量、整型变量或整型表达式。</a:t>
            </a:r>
          </a:p>
          <a:p>
            <a:pPr marL="342900" indent="-342900">
              <a:buClr>
                <a:schemeClr val="accent2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800" b="1">
                <a:latin typeface="System" charset="-122"/>
                <a:ea typeface="System" charset="-122"/>
              </a:rPr>
              <a:t>  </a:t>
            </a:r>
            <a:r>
              <a:rPr kumimoji="0" lang="zh-CN" altLang="en-US" sz="2400" b="1">
                <a:latin typeface="System" charset="-122"/>
                <a:ea typeface="System" charset="-122"/>
              </a:rPr>
              <a:t>例如：</a:t>
            </a:r>
            <a:r>
              <a:rPr kumimoji="0" lang="en-US" altLang="zh-CN" sz="2400" b="1">
                <a:latin typeface="System" charset="-122"/>
                <a:ea typeface="System" charset="-122"/>
              </a:rPr>
              <a:t>a[2][1] </a:t>
            </a:r>
            <a:r>
              <a:rPr kumimoji="0" lang="zh-CN" altLang="en-US" sz="2400" b="1">
                <a:latin typeface="System" charset="-122"/>
                <a:ea typeface="System" charset="-122"/>
              </a:rPr>
              <a:t>表示</a:t>
            </a:r>
            <a:r>
              <a:rPr kumimoji="0" lang="en-US" altLang="zh-CN" sz="2400" b="1">
                <a:latin typeface="System" charset="-122"/>
                <a:ea typeface="System" charset="-122"/>
              </a:rPr>
              <a:t>a</a:t>
            </a:r>
            <a:r>
              <a:rPr kumimoji="0" lang="zh-CN" altLang="en-US" sz="2400" b="1">
                <a:latin typeface="System" charset="-122"/>
                <a:ea typeface="System" charset="-122"/>
              </a:rPr>
              <a:t>数组第</a:t>
            </a:r>
            <a:r>
              <a:rPr kumimoji="0" lang="en-US" altLang="zh-CN" sz="2400" b="1">
                <a:latin typeface="System" charset="-122"/>
                <a:ea typeface="System" charset="-122"/>
              </a:rPr>
              <a:t>2</a:t>
            </a:r>
            <a:r>
              <a:rPr kumimoji="0" lang="zh-CN" altLang="en-US" sz="2400" b="1">
                <a:latin typeface="System" charset="-122"/>
                <a:ea typeface="System" charset="-122"/>
              </a:rPr>
              <a:t>行第</a:t>
            </a:r>
            <a:r>
              <a:rPr kumimoji="0" lang="en-US" altLang="zh-CN" sz="2400" b="1">
                <a:latin typeface="System" charset="-122"/>
                <a:ea typeface="System" charset="-122"/>
              </a:rPr>
              <a:t>1</a:t>
            </a:r>
            <a:r>
              <a:rPr kumimoji="0" lang="zh-CN" altLang="en-US" sz="2400" b="1">
                <a:latin typeface="System" charset="-122"/>
                <a:ea typeface="System" charset="-122"/>
              </a:rPr>
              <a:t>列的元素。</a:t>
            </a:r>
          </a:p>
        </p:txBody>
      </p:sp>
      <p:sp>
        <p:nvSpPr>
          <p:cNvPr id="114692" name="Rectangle 5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3300"/>
                </a:solidFill>
                <a:sym typeface="+mn-ea"/>
              </a:rPr>
              <a:t>2.二维数组的定义</a:t>
            </a:r>
            <a:r>
              <a:rPr lang="zh-CN" altLang="en-US" sz="3200" b="1">
                <a:solidFill>
                  <a:srgbClr val="FF3300"/>
                </a:solidFill>
                <a:sym typeface="+mn-ea"/>
              </a:rPr>
              <a:t>和初始化</a:t>
            </a:r>
          </a:p>
        </p:txBody>
      </p:sp>
      <p:graphicFrame>
        <p:nvGraphicFramePr>
          <p:cNvPr id="293980" name="Group 92"/>
          <p:cNvGraphicFramePr>
            <a:graphicFrameLocks noGrp="1"/>
          </p:cNvGraphicFramePr>
          <p:nvPr>
            <p:ph/>
          </p:nvPr>
        </p:nvGraphicFramePr>
        <p:xfrm>
          <a:off x="2198688" y="4078288"/>
          <a:ext cx="4989512" cy="1371600"/>
        </p:xfrm>
        <a:graphic>
          <a:graphicData uri="http://schemas.openxmlformats.org/drawingml/2006/table">
            <a:tbl>
              <a:tblPr/>
              <a:tblGrid>
                <a:gridCol w="12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a[0][0]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a[0][1]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a[0][2]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a[0][3]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a[1][0]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a[1][1]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a[1][2]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a[1][3]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a[2][0]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a[2][1]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a[2][2]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a[2][3]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4715" name="Text Box 72"/>
          <p:cNvSpPr txBox="1">
            <a:spLocks noChangeArrowheads="1"/>
          </p:cNvSpPr>
          <p:nvPr/>
        </p:nvSpPr>
        <p:spPr bwMode="auto">
          <a:xfrm>
            <a:off x="2268538" y="3716338"/>
            <a:ext cx="52562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 第</a:t>
            </a:r>
            <a:r>
              <a:rPr lang="en-US" altLang="zh-CN" sz="2000" b="1"/>
              <a:t>0</a:t>
            </a:r>
            <a:r>
              <a:rPr lang="zh-CN" altLang="en-US" sz="2000" b="1"/>
              <a:t>列           第</a:t>
            </a:r>
            <a:r>
              <a:rPr lang="en-US" altLang="zh-CN" sz="2000" b="1"/>
              <a:t>1</a:t>
            </a:r>
            <a:r>
              <a:rPr lang="zh-CN" altLang="en-US" sz="2000" b="1"/>
              <a:t>列           第</a:t>
            </a:r>
            <a:r>
              <a:rPr lang="en-US" altLang="zh-CN" sz="2000" b="1"/>
              <a:t>2</a:t>
            </a:r>
            <a:r>
              <a:rPr lang="zh-CN" altLang="en-US" sz="2000" b="1"/>
              <a:t>列       第</a:t>
            </a:r>
            <a:r>
              <a:rPr lang="en-US" altLang="zh-CN" sz="2000" b="1"/>
              <a:t>3</a:t>
            </a:r>
            <a:r>
              <a:rPr lang="zh-CN" altLang="en-US" sz="2000" b="1"/>
              <a:t>列</a:t>
            </a:r>
          </a:p>
        </p:txBody>
      </p:sp>
      <p:sp>
        <p:nvSpPr>
          <p:cNvPr id="114716" name="Text Box 73"/>
          <p:cNvSpPr txBox="1">
            <a:spLocks noChangeArrowheads="1"/>
          </p:cNvSpPr>
          <p:nvPr/>
        </p:nvSpPr>
        <p:spPr bwMode="auto">
          <a:xfrm>
            <a:off x="1331913" y="4149725"/>
            <a:ext cx="936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第</a:t>
            </a:r>
            <a:r>
              <a:rPr lang="en-US" altLang="zh-CN" sz="2000" b="1"/>
              <a:t>0</a:t>
            </a:r>
            <a:r>
              <a:rPr lang="zh-CN" altLang="en-US" sz="2000" b="1"/>
              <a:t>行</a:t>
            </a:r>
          </a:p>
        </p:txBody>
      </p:sp>
      <p:sp>
        <p:nvSpPr>
          <p:cNvPr id="114717" name="Text Box 74"/>
          <p:cNvSpPr txBox="1">
            <a:spLocks noChangeArrowheads="1"/>
          </p:cNvSpPr>
          <p:nvPr/>
        </p:nvSpPr>
        <p:spPr bwMode="auto">
          <a:xfrm>
            <a:off x="1331913" y="4646613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第</a:t>
            </a:r>
            <a:r>
              <a:rPr lang="en-US" altLang="zh-CN" sz="2000" b="1"/>
              <a:t>1</a:t>
            </a:r>
            <a:r>
              <a:rPr lang="zh-CN" altLang="en-US" sz="2000" b="1"/>
              <a:t>行</a:t>
            </a:r>
          </a:p>
        </p:txBody>
      </p:sp>
      <p:sp>
        <p:nvSpPr>
          <p:cNvPr id="114718" name="Text Box 75"/>
          <p:cNvSpPr txBox="1">
            <a:spLocks noChangeArrowheads="1"/>
          </p:cNvSpPr>
          <p:nvPr/>
        </p:nvSpPr>
        <p:spPr bwMode="auto">
          <a:xfrm>
            <a:off x="1331913" y="5084763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第</a:t>
            </a:r>
            <a:r>
              <a:rPr lang="en-US" altLang="zh-CN" sz="2000" b="1"/>
              <a:t>2</a:t>
            </a:r>
            <a:r>
              <a:rPr lang="zh-CN" altLang="en-US" sz="2000" b="1"/>
              <a:t>行</a:t>
            </a:r>
          </a:p>
        </p:txBody>
      </p:sp>
      <p:sp>
        <p:nvSpPr>
          <p:cNvPr id="114719" name="Text Box 76"/>
          <p:cNvSpPr txBox="1">
            <a:spLocks noChangeArrowheads="1"/>
          </p:cNvSpPr>
          <p:nvPr/>
        </p:nvSpPr>
        <p:spPr bwMode="auto">
          <a:xfrm>
            <a:off x="4716463" y="5589588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chemeClr val="accent2"/>
                </a:solidFill>
              </a:rPr>
              <a:t>列下标</a:t>
            </a:r>
          </a:p>
        </p:txBody>
      </p:sp>
      <p:sp>
        <p:nvSpPr>
          <p:cNvPr id="114720" name="Text Box 77"/>
          <p:cNvSpPr txBox="1">
            <a:spLocks noChangeArrowheads="1"/>
          </p:cNvSpPr>
          <p:nvPr/>
        </p:nvSpPr>
        <p:spPr bwMode="auto">
          <a:xfrm>
            <a:off x="4716463" y="5949950"/>
            <a:ext cx="1008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chemeClr val="accent2"/>
                </a:solidFill>
              </a:rPr>
              <a:t>行下标</a:t>
            </a:r>
          </a:p>
        </p:txBody>
      </p:sp>
      <p:sp>
        <p:nvSpPr>
          <p:cNvPr id="114721" name="Line 79"/>
          <p:cNvSpPr>
            <a:spLocks noChangeShapeType="1"/>
          </p:cNvSpPr>
          <p:nvPr/>
        </p:nvSpPr>
        <p:spPr bwMode="auto">
          <a:xfrm>
            <a:off x="4211638" y="5734050"/>
            <a:ext cx="5762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2" name="Line 80"/>
          <p:cNvSpPr>
            <a:spLocks noChangeShapeType="1"/>
          </p:cNvSpPr>
          <p:nvPr/>
        </p:nvSpPr>
        <p:spPr bwMode="auto">
          <a:xfrm flipV="1">
            <a:off x="4211638" y="5445125"/>
            <a:ext cx="0" cy="2889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3" name="Line 81"/>
          <p:cNvSpPr>
            <a:spLocks noChangeShapeType="1"/>
          </p:cNvSpPr>
          <p:nvPr/>
        </p:nvSpPr>
        <p:spPr bwMode="auto">
          <a:xfrm>
            <a:off x="3852863" y="6092825"/>
            <a:ext cx="10080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4" name="Line 82"/>
          <p:cNvSpPr>
            <a:spLocks noChangeShapeType="1"/>
          </p:cNvSpPr>
          <p:nvPr/>
        </p:nvSpPr>
        <p:spPr bwMode="auto">
          <a:xfrm flipV="1">
            <a:off x="3852863" y="5445125"/>
            <a:ext cx="0" cy="6477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5" name="Text Box 83"/>
          <p:cNvSpPr txBox="1">
            <a:spLocks noChangeArrowheads="1"/>
          </p:cNvSpPr>
          <p:nvPr/>
        </p:nvSpPr>
        <p:spPr bwMode="auto">
          <a:xfrm>
            <a:off x="2268538" y="5589588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chemeClr val="accent2"/>
                </a:solidFill>
              </a:rPr>
              <a:t>数组名</a:t>
            </a:r>
          </a:p>
        </p:txBody>
      </p:sp>
      <p:sp>
        <p:nvSpPr>
          <p:cNvPr id="114726" name="Line 84"/>
          <p:cNvSpPr>
            <a:spLocks noChangeShapeType="1"/>
          </p:cNvSpPr>
          <p:nvPr/>
        </p:nvSpPr>
        <p:spPr bwMode="auto">
          <a:xfrm>
            <a:off x="3132138" y="5734050"/>
            <a:ext cx="431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7" name="Line 85"/>
          <p:cNvSpPr>
            <a:spLocks noChangeShapeType="1"/>
          </p:cNvSpPr>
          <p:nvPr/>
        </p:nvSpPr>
        <p:spPr bwMode="auto">
          <a:xfrm flipV="1">
            <a:off x="3563938" y="5445125"/>
            <a:ext cx="0" cy="2889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BDD99A-8D98-44A8-B6A6-08500A1BC570}" type="slidenum">
              <a:rPr lang="zh-CN" altLang="en-US" sz="1400" smtClean="0"/>
              <a:t>9</a:t>
            </a:fld>
            <a:endParaRPr lang="en-US" altLang="zh-CN" sz="1400"/>
          </a:p>
        </p:txBody>
      </p:sp>
      <p:sp>
        <p:nvSpPr>
          <p:cNvPr id="118787" name="Rectangle 4"/>
          <p:cNvSpPr>
            <a:spLocks noChangeArrowheads="1"/>
          </p:cNvSpPr>
          <p:nvPr/>
        </p:nvSpPr>
        <p:spPr bwMode="auto">
          <a:xfrm>
            <a:off x="684213" y="1268413"/>
            <a:ext cx="7991475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System" charset="-122"/>
                <a:ea typeface="System" charset="-122"/>
              </a:rPr>
              <a:t>三、二维数组的初始化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在定义时对二维数组进行初始化有两种方式：</a:t>
            </a:r>
            <a:r>
              <a:rPr kumimoji="0" lang="zh-CN" altLang="en-US" sz="2400" b="1" dirty="0">
                <a:solidFill>
                  <a:srgbClr val="000099"/>
                </a:solidFill>
                <a:latin typeface="System" charset="-122"/>
                <a:ea typeface="System" charset="-122"/>
              </a:rPr>
              <a:t>按行分段赋值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和</a:t>
            </a:r>
            <a:r>
              <a:rPr kumimoji="0" lang="zh-CN" altLang="en-US" sz="2400" b="1" dirty="0">
                <a:solidFill>
                  <a:srgbClr val="000099"/>
                </a:solidFill>
                <a:latin typeface="System" charset="-122"/>
                <a:ea typeface="System" charset="-122"/>
              </a:rPr>
              <a:t>按行连续赋值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。    </a:t>
            </a:r>
          </a:p>
          <a:p>
            <a:pPr marL="0" indent="0" eaLnBrk="1" hangingPunct="1">
              <a:buClr>
                <a:schemeClr val="accent2"/>
              </a:buClr>
              <a:buSzPct val="75000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例如对数组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a[5][3]：    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en-US" altLang="zh-CN" sz="2400" b="1" dirty="0">
                <a:latin typeface="System" charset="-122"/>
                <a:ea typeface="System" charset="-122"/>
              </a:rPr>
              <a:t>1.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按行</a:t>
            </a:r>
            <a:r>
              <a:rPr kumimoji="0" lang="zh-CN" altLang="en-US" sz="2400" b="1" dirty="0">
                <a:solidFill>
                  <a:schemeClr val="accent2"/>
                </a:solidFill>
                <a:latin typeface="System" charset="-122"/>
                <a:ea typeface="System" charset="-122"/>
              </a:rPr>
              <a:t>分段赋值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可写为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 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 int a[5][3]={ {80,75,92},{61,65,71},{59,63,70}, {85,87,90},{76,77,85} };    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en-US" altLang="zh-CN" sz="2400" b="1" dirty="0">
                <a:latin typeface="System" charset="-122"/>
                <a:ea typeface="System" charset="-122"/>
              </a:rPr>
              <a:t>2.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按行</a:t>
            </a:r>
            <a:r>
              <a:rPr kumimoji="0" lang="zh-CN" altLang="en-US" sz="2400" b="1" dirty="0">
                <a:solidFill>
                  <a:schemeClr val="accent2"/>
                </a:solidFill>
                <a:latin typeface="System" charset="-122"/>
                <a:ea typeface="System" charset="-122"/>
              </a:rPr>
              <a:t>连续赋值</a:t>
            </a:r>
            <a:r>
              <a:rPr kumimoji="0" lang="zh-CN" altLang="en-US" sz="2400" b="1" dirty="0">
                <a:latin typeface="System" charset="-122"/>
                <a:ea typeface="System" charset="-122"/>
              </a:rPr>
              <a:t>可写为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  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int a[5][3]={ 80,75,92,</a:t>
            </a:r>
            <a:r>
              <a:rPr kumimoji="0" lang="en-US" altLang="zh-CN" sz="2400" b="1" dirty="0">
                <a:solidFill>
                  <a:srgbClr val="000099"/>
                </a:solidFill>
                <a:latin typeface="System" charset="-122"/>
                <a:ea typeface="System" charset="-122"/>
              </a:rPr>
              <a:t>61,65,71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,59,63,70,</a:t>
            </a:r>
            <a:r>
              <a:rPr kumimoji="0" lang="en-US" altLang="zh-CN" sz="2400" b="1" dirty="0">
                <a:solidFill>
                  <a:srgbClr val="000099"/>
                </a:solidFill>
                <a:latin typeface="System" charset="-122"/>
                <a:ea typeface="System" charset="-122"/>
              </a:rPr>
              <a:t>85,87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,</a:t>
            </a:r>
          </a:p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en-US" altLang="zh-CN" sz="2400" b="1" dirty="0">
                <a:latin typeface="System" charset="-122"/>
                <a:ea typeface="System" charset="-122"/>
              </a:rPr>
              <a:t>			 </a:t>
            </a:r>
            <a:r>
              <a:rPr kumimoji="0" lang="en-US" altLang="zh-CN" sz="2400" b="1" dirty="0">
                <a:solidFill>
                  <a:srgbClr val="000099"/>
                </a:solidFill>
                <a:latin typeface="System" charset="-122"/>
                <a:ea typeface="System" charset="-122"/>
              </a:rPr>
              <a:t>90</a:t>
            </a:r>
            <a:r>
              <a:rPr kumimoji="0" lang="en-US" altLang="zh-CN" sz="2400" b="1" dirty="0">
                <a:latin typeface="System" charset="-122"/>
                <a:ea typeface="System" charset="-122"/>
              </a:rPr>
              <a:t>,76,77,85 };   </a:t>
            </a:r>
          </a:p>
          <a:p>
            <a:pPr marL="0" indent="0" eaLnBrk="1" hangingPunct="1">
              <a:buClr>
                <a:schemeClr val="accent2"/>
              </a:buClr>
              <a:buSzPct val="75000"/>
              <a:buNone/>
            </a:pPr>
            <a:r>
              <a:rPr kumimoji="0" lang="zh-CN" altLang="en-US" sz="2400" b="1" dirty="0">
                <a:latin typeface="System" charset="-122"/>
                <a:ea typeface="System" charset="-122"/>
              </a:rPr>
              <a:t>这两种赋初值的结果是完全相同的。</a:t>
            </a:r>
            <a:endParaRPr kumimoji="0" lang="zh-CN" altLang="en-US" sz="2400" dirty="0"/>
          </a:p>
        </p:txBody>
      </p:sp>
      <p:sp>
        <p:nvSpPr>
          <p:cNvPr id="118788" name="Rectangle 5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3300"/>
                </a:solidFill>
                <a:sym typeface="+mn-ea"/>
              </a:rPr>
              <a:t>2.二维数组的定义</a:t>
            </a:r>
            <a:r>
              <a:rPr lang="zh-CN" altLang="en-US" sz="3200" b="1">
                <a:solidFill>
                  <a:srgbClr val="FF3300"/>
                </a:solidFill>
                <a:sym typeface="+mn-ea"/>
              </a:rPr>
              <a:t>和初始化</a:t>
            </a:r>
            <a:endParaRPr lang="en-US" altLang="zh-CN" sz="3200" b="1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10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多维数组的应用（设计数据结构）</a:t>
            </a: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9D76EE-227F-4526-88B6-1E48CD41867A}" type="slidenum">
              <a:rPr lang="zh-CN" altLang="en-US" sz="1400" smtClean="0"/>
              <a:t>11</a:t>
            </a:fld>
            <a:endParaRPr lang="en-US" altLang="zh-CN" sz="1400"/>
          </a:p>
        </p:txBody>
      </p:sp>
      <p:sp>
        <p:nvSpPr>
          <p:cNvPr id="115715" name="Rectangle 4"/>
          <p:cNvSpPr>
            <a:spLocks noChangeArrowheads="1"/>
          </p:cNvSpPr>
          <p:nvPr/>
        </p:nvSpPr>
        <p:spPr bwMode="auto">
          <a:xfrm>
            <a:off x="468313" y="1371600"/>
            <a:ext cx="8351837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u"/>
            </a:pPr>
            <a:endParaRPr kumimoji="0"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zh-CN" altLang="en-US" b="1" dirty="0">
                <a:latin typeface="+mn-ea"/>
                <a:ea typeface="+mn-ea"/>
              </a:rPr>
              <a:t>实际的存储器是连续编址的，也就是说存储器单元是按一维线性排列的。 如何在一维存储器中存放二维数组，可有两种方式：一种是</a:t>
            </a:r>
            <a:r>
              <a:rPr kumimoji="0" lang="zh-CN" altLang="en-US" b="1" dirty="0">
                <a:solidFill>
                  <a:srgbClr val="003399"/>
                </a:solidFill>
                <a:latin typeface="+mn-ea"/>
                <a:ea typeface="+mn-ea"/>
              </a:rPr>
              <a:t>按行排列</a:t>
            </a:r>
            <a:r>
              <a:rPr kumimoji="0" lang="zh-CN" altLang="en-US" b="1" dirty="0">
                <a:latin typeface="+mn-ea"/>
                <a:ea typeface="+mn-ea"/>
              </a:rPr>
              <a:t>， 即放完一行之后顺次放入第二行。另一种是</a:t>
            </a:r>
            <a:r>
              <a:rPr kumimoji="0" lang="zh-CN" altLang="en-US" b="1" dirty="0">
                <a:solidFill>
                  <a:srgbClr val="003399"/>
                </a:solidFill>
                <a:latin typeface="+mn-ea"/>
                <a:ea typeface="+mn-ea"/>
              </a:rPr>
              <a:t>按列排列</a:t>
            </a:r>
            <a:r>
              <a:rPr kumimoji="0" lang="zh-CN" altLang="en-US" b="1" dirty="0">
                <a:latin typeface="+mn-ea"/>
                <a:ea typeface="+mn-ea"/>
              </a:rPr>
              <a:t>， 即放完一列之后再顺次放入第二列。</a:t>
            </a:r>
            <a:endParaRPr kumimoji="0" lang="en-US" altLang="zh-CN" b="1" dirty="0">
              <a:latin typeface="+mn-ea"/>
              <a:ea typeface="+mn-ea"/>
            </a:endParaRPr>
          </a:p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zh-CN" altLang="en-US" b="1" dirty="0">
                <a:latin typeface="+mn-ea"/>
                <a:ea typeface="+mn-ea"/>
              </a:rPr>
              <a:t>在Ｃ语言中，二维数组是</a:t>
            </a: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按行排列</a:t>
            </a:r>
            <a:r>
              <a:rPr kumimoji="0" lang="zh-CN" altLang="en-US" b="1" dirty="0">
                <a:latin typeface="+mn-ea"/>
                <a:ea typeface="+mn-ea"/>
              </a:rPr>
              <a:t>的。按行顺次存放，先存放</a:t>
            </a:r>
            <a:r>
              <a:rPr kumimoji="0" lang="en-US" altLang="zh-CN" b="1" dirty="0">
                <a:latin typeface="+mn-ea"/>
                <a:ea typeface="+mn-ea"/>
              </a:rPr>
              <a:t>a[0]</a:t>
            </a:r>
            <a:r>
              <a:rPr kumimoji="0" lang="zh-CN" altLang="en-US" b="1" dirty="0">
                <a:latin typeface="+mn-ea"/>
                <a:ea typeface="+mn-ea"/>
              </a:rPr>
              <a:t>行，再存放</a:t>
            </a:r>
            <a:r>
              <a:rPr kumimoji="0" lang="en-US" altLang="zh-CN" b="1" dirty="0">
                <a:latin typeface="+mn-ea"/>
                <a:ea typeface="+mn-ea"/>
              </a:rPr>
              <a:t>a[1]</a:t>
            </a:r>
            <a:r>
              <a:rPr kumimoji="0" lang="zh-CN" altLang="en-US" b="1" dirty="0">
                <a:latin typeface="+mn-ea"/>
                <a:ea typeface="+mn-ea"/>
              </a:rPr>
              <a:t>行，最后存放</a:t>
            </a:r>
            <a:r>
              <a:rPr kumimoji="0" lang="en-US" altLang="zh-CN" b="1" dirty="0">
                <a:latin typeface="+mn-ea"/>
                <a:ea typeface="+mn-ea"/>
              </a:rPr>
              <a:t>a[2]</a:t>
            </a:r>
            <a:r>
              <a:rPr kumimoji="0" lang="zh-CN" altLang="en-US" b="1" dirty="0">
                <a:latin typeface="+mn-ea"/>
                <a:ea typeface="+mn-ea"/>
              </a:rPr>
              <a:t>行。每行中有四个元素也是依次存放。</a:t>
            </a:r>
          </a:p>
        </p:txBody>
      </p:sp>
      <p:sp>
        <p:nvSpPr>
          <p:cNvPr id="115716" name="Rectangle 5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</a:rPr>
              <a:t>3.二维数组在内存中的存放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C597227-E243-487B-9FF3-AF3E34168D88}" type="slidenum">
              <a:rPr lang="zh-CN" altLang="en-US" sz="1400" smtClean="0"/>
              <a:t>12</a:t>
            </a:fld>
            <a:endParaRPr lang="en-US" altLang="zh-CN" sz="1400"/>
          </a:p>
        </p:txBody>
      </p:sp>
      <p:sp>
        <p:nvSpPr>
          <p:cNvPr id="116739" name="Text Box 4"/>
          <p:cNvSpPr txBox="1">
            <a:spLocks noChangeArrowheads="1"/>
          </p:cNvSpPr>
          <p:nvPr/>
        </p:nvSpPr>
        <p:spPr bwMode="auto">
          <a:xfrm>
            <a:off x="757238" y="1303338"/>
            <a:ext cx="719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a[0]</a:t>
            </a:r>
            <a:endParaRPr lang="zh-CN" altLang="en-US" sz="2400" b="1"/>
          </a:p>
        </p:txBody>
      </p:sp>
      <p:sp>
        <p:nvSpPr>
          <p:cNvPr id="116740" name="Text Box 6"/>
          <p:cNvSpPr txBox="1">
            <a:spLocks noChangeArrowheads="1"/>
          </p:cNvSpPr>
          <p:nvPr/>
        </p:nvSpPr>
        <p:spPr bwMode="auto">
          <a:xfrm>
            <a:off x="755650" y="2852738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a[1]</a:t>
            </a:r>
            <a:endParaRPr lang="zh-CN" altLang="en-US" sz="2400" b="1"/>
          </a:p>
        </p:txBody>
      </p:sp>
      <p:sp>
        <p:nvSpPr>
          <p:cNvPr id="116741" name="Text Box 8"/>
          <p:cNvSpPr txBox="1">
            <a:spLocks noChangeArrowheads="1"/>
          </p:cNvSpPr>
          <p:nvPr/>
        </p:nvSpPr>
        <p:spPr bwMode="auto">
          <a:xfrm>
            <a:off x="755650" y="4437063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a[2]</a:t>
            </a:r>
            <a:endParaRPr lang="zh-CN" altLang="en-US" sz="2400" b="1"/>
          </a:p>
        </p:txBody>
      </p:sp>
      <p:sp>
        <p:nvSpPr>
          <p:cNvPr id="116742" name="Text Box 10"/>
          <p:cNvSpPr txBox="1">
            <a:spLocks noChangeArrowheads="1"/>
          </p:cNvSpPr>
          <p:nvPr/>
        </p:nvSpPr>
        <p:spPr bwMode="auto">
          <a:xfrm>
            <a:off x="4716463" y="4868863"/>
            <a:ext cx="29527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 i="1">
                <a:latin typeface="隶书" pitchFamily="49" charset="-122"/>
                <a:ea typeface="隶书" pitchFamily="49" charset="-122"/>
              </a:rPr>
              <a:t>语言中二维数组是按行排列的</a:t>
            </a:r>
          </a:p>
        </p:txBody>
      </p:sp>
      <p:pic>
        <p:nvPicPr>
          <p:cNvPr id="11674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8" y="1268413"/>
            <a:ext cx="2503487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4" name="Rectangle 12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</a:rPr>
              <a:t>3.二维数组在内存中的存放</a:t>
            </a:r>
          </a:p>
        </p:txBody>
      </p:sp>
      <p:sp>
        <p:nvSpPr>
          <p:cNvPr id="295949" name="Text Box 13"/>
          <p:cNvSpPr txBox="1">
            <a:spLocks noChangeArrowheads="1"/>
          </p:cNvSpPr>
          <p:nvPr/>
        </p:nvSpPr>
        <p:spPr bwMode="auto">
          <a:xfrm>
            <a:off x="4500563" y="1268413"/>
            <a:ext cx="4248150" cy="326517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int a[3][4] ;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第</a:t>
            </a:r>
            <a:r>
              <a:rPr lang="en-US" altLang="zh-CN" sz="2400" b="1"/>
              <a:t>1</a:t>
            </a:r>
            <a:r>
              <a:rPr lang="zh-CN" altLang="en-US" sz="2400" b="1"/>
              <a:t>行第</a:t>
            </a:r>
            <a:r>
              <a:rPr lang="en-US" altLang="zh-CN" sz="2400" b="1"/>
              <a:t>0</a:t>
            </a:r>
            <a:r>
              <a:rPr lang="zh-CN" altLang="en-US" sz="2400" b="1"/>
              <a:t>列元素的地址表示：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zh-CN" sz="2400" b="1"/>
              <a:t>printf("%p\n", </a:t>
            </a:r>
            <a:r>
              <a:rPr lang="pt-BR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&amp;a[1][0]</a:t>
            </a:r>
            <a:r>
              <a:rPr lang="pt-BR" altLang="zh-CN" sz="2400" b="1"/>
              <a:t>);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zh-CN" sz="2400" b="1"/>
              <a:t>printf("%p\n", </a:t>
            </a:r>
            <a:r>
              <a:rPr lang="pt-BR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a[1]</a:t>
            </a:r>
            <a:r>
              <a:rPr lang="pt-BR" altLang="zh-CN" sz="2400" b="1"/>
              <a:t>);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pt-BR" sz="2400" b="1"/>
              <a:t>以上两种方式是等价的！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zh-CN" altLang="pt-BR" sz="2400" b="1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pt-BR" sz="2400" b="1"/>
              <a:t>二维数组可以看成是一维数组组成的数组，</a:t>
            </a:r>
            <a:r>
              <a:rPr lang="pt-BR" altLang="zh-CN" sz="2400" b="1"/>
              <a:t>a[1]</a:t>
            </a:r>
            <a:r>
              <a:rPr lang="zh-CN" altLang="pt-BR" sz="2400" b="1"/>
              <a:t>代表的是一维数组的数组名。</a:t>
            </a:r>
            <a:endParaRPr lang="zh-CN" altLang="en-US" sz="2400" b="1"/>
          </a:p>
        </p:txBody>
      </p:sp>
      <p:sp>
        <p:nvSpPr>
          <p:cNvPr id="116746" name="Rectangle 14"/>
          <p:cNvSpPr>
            <a:spLocks noChangeArrowheads="1"/>
          </p:cNvSpPr>
          <p:nvPr/>
        </p:nvSpPr>
        <p:spPr bwMode="auto">
          <a:xfrm>
            <a:off x="2857500" y="1268413"/>
            <a:ext cx="1225550" cy="1584325"/>
          </a:xfrm>
          <a:prstGeom prst="rect">
            <a:avLst/>
          </a:prstGeom>
          <a:solidFill>
            <a:srgbClr val="CCFFFF">
              <a:alpha val="65097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16747" name="Rectangle 15"/>
          <p:cNvSpPr>
            <a:spLocks noChangeArrowheads="1"/>
          </p:cNvSpPr>
          <p:nvPr/>
        </p:nvSpPr>
        <p:spPr bwMode="auto">
          <a:xfrm>
            <a:off x="2873375" y="2867025"/>
            <a:ext cx="1225550" cy="1584325"/>
          </a:xfrm>
          <a:prstGeom prst="rect">
            <a:avLst/>
          </a:prstGeom>
          <a:solidFill>
            <a:srgbClr val="00FF00">
              <a:alpha val="65097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29166DD-9503-42BA-AFA6-CF8646C0B931}" type="slidenum">
              <a:rPr lang="zh-CN" altLang="en-US" sz="1400" smtClean="0"/>
              <a:t>13</a:t>
            </a:fld>
            <a:endParaRPr lang="en-US" altLang="zh-CN" sz="1400"/>
          </a:p>
        </p:txBody>
      </p:sp>
      <p:sp>
        <p:nvSpPr>
          <p:cNvPr id="11776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3.二维数组在内存中的存放</a:t>
            </a:r>
          </a:p>
        </p:txBody>
      </p:sp>
      <p:sp>
        <p:nvSpPr>
          <p:cNvPr id="11776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3850" y="1319213"/>
            <a:ext cx="8458200" cy="232568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/>
              <a:t>A[i]</a:t>
            </a:r>
            <a:r>
              <a:rPr lang="zh-CN" altLang="en-US" sz="2400" b="1"/>
              <a:t>的内存地址：</a:t>
            </a:r>
            <a:r>
              <a:rPr lang="en-US" altLang="zh-CN" sz="2400" b="1"/>
              <a:t>A+i*M</a:t>
            </a:r>
            <a:r>
              <a:rPr lang="zh-CN" altLang="en-US" sz="2400" b="1"/>
              <a:t>（</a:t>
            </a:r>
            <a:r>
              <a:rPr lang="en-US" altLang="zh-CN" sz="2400" b="1"/>
              <a:t>M</a:t>
            </a:r>
            <a:r>
              <a:rPr lang="zh-CN" altLang="en-US" sz="2400" b="1"/>
              <a:t>是一个数组元素的字节数）</a:t>
            </a:r>
          </a:p>
          <a:p>
            <a:pPr eaLnBrk="1" hangingPunct="1">
              <a:buFontTx/>
              <a:buNone/>
            </a:pPr>
            <a:endParaRPr lang="en-US" altLang="zh-CN" sz="2400" b="1"/>
          </a:p>
        </p:txBody>
      </p:sp>
      <p:pic>
        <p:nvPicPr>
          <p:cNvPr id="11776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773238"/>
            <a:ext cx="8928100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6" name="Text Box 7"/>
          <p:cNvSpPr txBox="1">
            <a:spLocks noChangeArrowheads="1"/>
          </p:cNvSpPr>
          <p:nvPr/>
        </p:nvSpPr>
        <p:spPr bwMode="auto">
          <a:xfrm>
            <a:off x="2771800" y="1846263"/>
            <a:ext cx="865187" cy="339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/>
              <a:t>A[1]</a:t>
            </a:r>
          </a:p>
        </p:txBody>
      </p:sp>
      <p:sp>
        <p:nvSpPr>
          <p:cNvPr id="296968" name="Text Box 8"/>
          <p:cNvSpPr txBox="1">
            <a:spLocks noChangeArrowheads="1"/>
          </p:cNvSpPr>
          <p:nvPr/>
        </p:nvSpPr>
        <p:spPr bwMode="auto">
          <a:xfrm>
            <a:off x="395288" y="3860800"/>
            <a:ext cx="8137525" cy="197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][j]</a:t>
            </a:r>
            <a:r>
              <a:rPr lang="zh-CN" altLang="en-US" sz="2400" b="1" dirty="0"/>
              <a:t>的内存地址：</a:t>
            </a:r>
            <a:r>
              <a:rPr lang="en-US" altLang="zh-CN" sz="2400" b="1" dirty="0"/>
              <a:t>A+(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*</a:t>
            </a:r>
            <a:r>
              <a:rPr lang="zh-CN" altLang="en-US" sz="2400" b="1" dirty="0"/>
              <a:t>数组列数＋</a:t>
            </a:r>
            <a:r>
              <a:rPr lang="en-US" altLang="zh-CN" sz="2400" b="1" dirty="0"/>
              <a:t>j)*M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指针访问</a:t>
            </a:r>
            <a:r>
              <a:rPr lang="en-US" altLang="zh-CN" sz="2400" b="1" dirty="0"/>
              <a:t>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][j]</a:t>
            </a:r>
            <a:r>
              <a:rPr lang="zh-CN" altLang="en-US" sz="2400" b="1" dirty="0"/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*(a+(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 err="1">
                <a:solidFill>
                  <a:srgbClr val="FF0000"/>
                </a:solidFill>
              </a:rPr>
              <a:t>cols+j</a:t>
            </a:r>
            <a:r>
              <a:rPr lang="en-US" altLang="zh-CN" sz="2400" b="1" dirty="0">
                <a:solidFill>
                  <a:srgbClr val="FF0000"/>
                </a:solidFill>
              </a:rPr>
              <a:t>));</a:t>
            </a:r>
            <a:r>
              <a:rPr lang="en-US" altLang="zh-CN" sz="2400" b="1" dirty="0"/>
              <a:t>//</a:t>
            </a:r>
            <a:r>
              <a:rPr lang="zh-CN" altLang="en-US" sz="2400" b="1" dirty="0"/>
              <a:t>不需要加</a:t>
            </a:r>
            <a:r>
              <a:rPr lang="en-US" altLang="zh-CN" sz="2400" b="1" dirty="0"/>
              <a:t>*M</a:t>
            </a:r>
            <a:endParaRPr lang="zh-CN" altLang="en-US" sz="2400" b="1" dirty="0"/>
          </a:p>
        </p:txBody>
      </p:sp>
      <p:sp>
        <p:nvSpPr>
          <p:cNvPr id="296969" name="Text Box 9"/>
          <p:cNvSpPr txBox="1">
            <a:spLocks noChangeArrowheads="1"/>
          </p:cNvSpPr>
          <p:nvPr/>
        </p:nvSpPr>
        <p:spPr bwMode="auto">
          <a:xfrm>
            <a:off x="323850" y="4365625"/>
            <a:ext cx="8135938" cy="75882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3399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因此，要访问一个二维数组元素</a:t>
            </a:r>
            <a:r>
              <a:rPr lang="en-US" altLang="zh-CN" sz="2400" b="1"/>
              <a:t>,</a:t>
            </a:r>
            <a:r>
              <a:rPr lang="zh-CN" altLang="en-US" sz="2400" b="1"/>
              <a:t>除了要知道数组</a:t>
            </a:r>
            <a:r>
              <a:rPr lang="zh-CN" altLang="en-US" sz="2400" b="1">
                <a:solidFill>
                  <a:srgbClr val="000099"/>
                </a:solidFill>
              </a:rPr>
              <a:t>首地址</a:t>
            </a:r>
            <a:r>
              <a:rPr lang="zh-CN" altLang="en-US" sz="2400" b="1"/>
              <a:t>、</a:t>
            </a:r>
            <a:r>
              <a:rPr lang="zh-CN" altLang="en-US" sz="2400" b="1">
                <a:solidFill>
                  <a:srgbClr val="000099"/>
                </a:solidFill>
              </a:rPr>
              <a:t>行下标</a:t>
            </a:r>
            <a:r>
              <a:rPr lang="zh-CN" altLang="en-US" sz="2400" b="1"/>
              <a:t>、</a:t>
            </a:r>
            <a:r>
              <a:rPr lang="zh-CN" altLang="en-US" sz="2400" b="1">
                <a:solidFill>
                  <a:srgbClr val="000099"/>
                </a:solidFill>
              </a:rPr>
              <a:t>列下标</a:t>
            </a:r>
            <a:r>
              <a:rPr lang="zh-CN" altLang="en-US" sz="2400" b="1"/>
              <a:t>，还需要知道数组的</a:t>
            </a:r>
            <a:r>
              <a:rPr lang="zh-CN" altLang="en-US" sz="2400" b="1">
                <a:solidFill>
                  <a:srgbClr val="000099"/>
                </a:solidFill>
              </a:rPr>
              <a:t>列数</a:t>
            </a:r>
            <a:r>
              <a:rPr lang="zh-CN" altLang="en-US" sz="2400" b="1"/>
              <a:t>。</a:t>
            </a:r>
          </a:p>
        </p:txBody>
      </p:sp>
      <p:sp>
        <p:nvSpPr>
          <p:cNvPr id="117769" name="Text Box 10"/>
          <p:cNvSpPr txBox="1">
            <a:spLocks noChangeArrowheads="1"/>
          </p:cNvSpPr>
          <p:nvPr/>
        </p:nvSpPr>
        <p:spPr bwMode="auto">
          <a:xfrm>
            <a:off x="323850" y="3068638"/>
            <a:ext cx="8135938" cy="4302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3399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因此，要访问一个一维数组元素</a:t>
            </a:r>
            <a:r>
              <a:rPr lang="en-US" altLang="zh-CN" sz="2400" b="1"/>
              <a:t>,</a:t>
            </a:r>
            <a:r>
              <a:rPr lang="zh-CN" altLang="en-US" sz="2400" b="1"/>
              <a:t> 要知道数组</a:t>
            </a:r>
            <a:r>
              <a:rPr lang="zh-CN" altLang="en-US" sz="2400" b="1">
                <a:solidFill>
                  <a:srgbClr val="000099"/>
                </a:solidFill>
              </a:rPr>
              <a:t>首地址</a:t>
            </a:r>
            <a:r>
              <a:rPr lang="zh-CN" altLang="en-US" sz="2400" b="1"/>
              <a:t>、</a:t>
            </a:r>
            <a:r>
              <a:rPr lang="zh-CN" altLang="en-US" sz="2400" b="1">
                <a:solidFill>
                  <a:srgbClr val="000099"/>
                </a:solidFill>
              </a:rPr>
              <a:t>下标</a:t>
            </a:r>
            <a:r>
              <a:rPr lang="zh-CN" altLang="en-US" sz="2400" b="1"/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8" grpId="0" bldLvl="0" animBg="1"/>
      <p:bldP spid="29696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14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数组的应用（设计数据结构）</a:t>
            </a: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指针与多维数组</a:t>
            </a: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气象数据统计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68760"/>
            <a:ext cx="8458200" cy="461168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MONTHS 12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YEARS   5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int main(void)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const float rain</a:t>
            </a:r>
            <a:r>
              <a:rPr lang="en-US" altLang="zh-CN" sz="2000" dirty="0">
                <a:latin typeface="Consolas" panose="020B0609020204030204" pitchFamily="49" charset="0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</a:rPr>
              <a:t>[YEARS][MONTHS] =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4.3,4.3,4.3,3.0,2.0,1.2,0.2,0.2,0.4,2.4,3.5,6.6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latin typeface="Consolas" panose="020B0609020204030204" pitchFamily="49" charset="0"/>
              </a:rPr>
              <a:t>8.5,8.2,1.2,1.6,2.4,0.0,5.2,0.9,0.3,0.9,1.4,7.3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9.1,8.5,6.7,4.3,2.1,0.8,0.2,0.2,1.1,2.3,6.1,8.4},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latin typeface="Consolas" panose="020B0609020204030204" pitchFamily="49" charset="0"/>
              </a:rPr>
              <a:t>7.2,9.9,8.4,3.3,1.2,0.8,0.4,0.0,0.6,1.7,4.3,6.2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{7.6,5.6,3.8,2.8,3.8,0.2,0.0,0.0,0.0,1.3,2.6,5.2}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};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15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394960" y="1471295"/>
            <a:ext cx="2849245" cy="37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altLang="zh-CN" dirty="0"/>
              <a:t>C Primer Plus 252</a:t>
            </a:r>
            <a:r>
              <a:rPr lang="zh-CN" altLang="en-US" dirty="0"/>
              <a:t>页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319213"/>
            <a:ext cx="91440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sym typeface="+mn-ea"/>
              </a:rPr>
              <a:t>    </a:t>
            </a:r>
            <a:r>
              <a:rPr lang="zh-CN" altLang="en-US" sz="2000" dirty="0">
                <a:latin typeface="Consolas" panose="020B0609020204030204" pitchFamily="49" charset="0"/>
                <a:sym typeface="+mn-ea"/>
              </a:rPr>
              <a:t>int year, month;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sym typeface="+mn-ea"/>
              </a:rPr>
              <a:t>    float subtot, total;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printf(" YEAR    RAINFALL  (inches)\n");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for (year = 0, total = 0; year &lt; YEARS; year++)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{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// 对于每一年，各月的降水量总和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for (month = 0, subtot = 0; month &lt; MONTHS; month++)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           subtot += rain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[year]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[month];</a:t>
            </a:r>
            <a:endParaRPr lang="en-US" altLang="zh-CN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	 </a:t>
            </a:r>
            <a:r>
              <a:rPr lang="zh-CN" altLang="en-US" sz="2000" dirty="0">
                <a:latin typeface="Consolas" panose="020B0609020204030204" pitchFamily="49" charset="0"/>
              </a:rPr>
              <a:t>printf("%5d %15.1f\n", 2000 + year, subtot);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total += subtot; // 所有年度总降水量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16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319213"/>
            <a:ext cx="7918648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for (month = 0; month &lt; MONTHS; month++)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{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// 对于每个月，各年该月的总降水量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for (year = 0, subtot =0; year &lt; YEARS; year++)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subtot += rain[year][month];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sym typeface="+mn-ea"/>
              </a:rPr>
              <a:t>	</a:t>
            </a:r>
            <a:r>
              <a:rPr lang="zh-CN" altLang="en-US" sz="2000" dirty="0">
                <a:latin typeface="Consolas" panose="020B0609020204030204" pitchFamily="49" charset="0"/>
              </a:rPr>
              <a:t>printf("%4.1f ", subtot/YEARS);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printf("\n");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17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18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多维数组的应用（设计数据结构）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92F51F-93E3-4A76-A683-1A04BC7E3F95}" type="slidenum">
              <a:rPr lang="zh-CN" altLang="en-US" sz="1400" smtClean="0"/>
              <a:t>19</a:t>
            </a:fld>
            <a:endParaRPr lang="en-US" altLang="zh-CN" sz="1400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5.二维数组名作函数实参</a:t>
            </a:r>
          </a:p>
        </p:txBody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7847012" cy="50625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/>
              <a:t>问题：</a:t>
            </a:r>
            <a:r>
              <a:rPr lang="zh-CN" altLang="en-US" sz="2400" b="1" dirty="0">
                <a:sym typeface="+mn-ea"/>
              </a:rPr>
              <a:t>定义一个函数</a:t>
            </a:r>
            <a:r>
              <a:rPr lang="en-US" altLang="zh-CN" sz="2400" b="1" dirty="0" err="1">
                <a:sym typeface="+mn-ea"/>
              </a:rPr>
              <a:t>printMatrix</a:t>
            </a:r>
            <a:r>
              <a:rPr lang="zh-CN" altLang="en-US" sz="2400" b="1" dirty="0">
                <a:sym typeface="+mn-ea"/>
              </a:rPr>
              <a:t>，用于输出二维数组。</a:t>
            </a:r>
            <a:r>
              <a:rPr lang="en-US" altLang="zh-CN" sz="2400" b="1" dirty="0"/>
              <a:t> </a:t>
            </a:r>
          </a:p>
          <a:p>
            <a:pPr eaLnBrk="1" hangingPunct="1">
              <a:buFontTx/>
              <a:buNone/>
            </a:pPr>
            <a:r>
              <a:rPr lang="en-US" altLang="zh-CN" sz="2400" b="1" dirty="0" err="1">
                <a:sym typeface="+mn-ea"/>
              </a:rPr>
              <a:t>printMatrix</a:t>
            </a:r>
            <a:r>
              <a:rPr lang="zh-CN" altLang="en-US" sz="2400" b="1" dirty="0"/>
              <a:t>参数设计考虑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二维整型数组元素</a:t>
            </a:r>
            <a:r>
              <a:rPr lang="en-US" altLang="zh-CN" sz="2400" b="1" dirty="0"/>
              <a:t>matrix[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][j]</a:t>
            </a:r>
            <a:r>
              <a:rPr lang="zh-CN" altLang="en-US" sz="2400" b="1" dirty="0"/>
              <a:t>的内存地址</a:t>
            </a:r>
            <a:r>
              <a:rPr lang="en-US" altLang="zh-CN" sz="2400" b="1" dirty="0"/>
              <a:t>: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</a:t>
            </a:r>
            <a:r>
              <a:rPr lang="en-US" altLang="zh-CN" sz="2400" b="1" dirty="0">
                <a:solidFill>
                  <a:schemeClr val="accent2"/>
                </a:solidFill>
              </a:rPr>
              <a:t>matrix+(</a:t>
            </a:r>
            <a:r>
              <a:rPr lang="en-US" altLang="zh-CN" sz="2400" b="1" dirty="0" err="1">
                <a:solidFill>
                  <a:schemeClr val="accent2"/>
                </a:solidFill>
              </a:rPr>
              <a:t>i</a:t>
            </a:r>
            <a:r>
              <a:rPr lang="en-US" altLang="zh-CN" sz="2400" b="1" dirty="0">
                <a:solidFill>
                  <a:schemeClr val="accent2"/>
                </a:solidFill>
              </a:rPr>
              <a:t>*</a:t>
            </a:r>
            <a:r>
              <a:rPr lang="zh-CN" altLang="en-US" sz="2400" b="1" dirty="0">
                <a:solidFill>
                  <a:schemeClr val="accent2"/>
                </a:solidFill>
              </a:rPr>
              <a:t>列数＋</a:t>
            </a:r>
            <a:r>
              <a:rPr lang="en-US" altLang="zh-CN" sz="2400" b="1" dirty="0">
                <a:solidFill>
                  <a:schemeClr val="accent2"/>
                </a:solidFill>
              </a:rPr>
              <a:t>j)*</a:t>
            </a:r>
            <a:r>
              <a:rPr lang="en-US" altLang="zh-CN" sz="2400" b="1" dirty="0" err="1">
                <a:solidFill>
                  <a:schemeClr val="accent2"/>
                </a:solidFill>
              </a:rPr>
              <a:t>sizeof</a:t>
            </a:r>
            <a:r>
              <a:rPr lang="en-US" altLang="zh-CN" sz="2400" b="1" dirty="0">
                <a:solidFill>
                  <a:schemeClr val="accent2"/>
                </a:solidFill>
              </a:rPr>
              <a:t>(int)</a:t>
            </a:r>
            <a:r>
              <a:rPr lang="zh-CN" altLang="en-US" sz="2400" b="1" dirty="0">
                <a:solidFill>
                  <a:schemeClr val="accent2"/>
                </a:solidFill>
              </a:rPr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编译器为了确定</a:t>
            </a:r>
            <a:r>
              <a:rPr lang="en-US" altLang="zh-CN" sz="2400" b="1" dirty="0"/>
              <a:t>matrix[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][j]</a:t>
            </a:r>
            <a:r>
              <a:rPr lang="zh-CN" altLang="en-US" sz="2400" b="1" dirty="0"/>
              <a:t>在内存的位置，必须知道二维数组的列数。</a:t>
            </a:r>
            <a:r>
              <a:rPr lang="zh-CN" altLang="en-US" sz="2400" b="1" dirty="0">
                <a:solidFill>
                  <a:srgbClr val="000099"/>
                </a:solidFill>
              </a:rPr>
              <a:t>方法：二维数组名做形参，第</a:t>
            </a:r>
            <a:r>
              <a:rPr lang="en-US" altLang="zh-CN" sz="2400" b="1" dirty="0">
                <a:solidFill>
                  <a:srgbClr val="000099"/>
                </a:solidFill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</a:rPr>
              <a:t>个下标必须给出</a:t>
            </a:r>
            <a:r>
              <a:rPr lang="en-US" altLang="zh-CN" sz="2400" b="1" dirty="0">
                <a:solidFill>
                  <a:srgbClr val="000099"/>
                </a:solidFill>
              </a:rPr>
              <a:t>,</a:t>
            </a:r>
            <a:r>
              <a:rPr lang="zh-CN" altLang="en-US" sz="2400" b="1" dirty="0">
                <a:solidFill>
                  <a:srgbClr val="000099"/>
                </a:solidFill>
              </a:rPr>
              <a:t>如</a:t>
            </a:r>
            <a:r>
              <a:rPr lang="en-US" altLang="zh-CN" sz="2400" b="1" dirty="0">
                <a:solidFill>
                  <a:srgbClr val="000099"/>
                </a:solidFill>
              </a:rPr>
              <a:t>int </a:t>
            </a:r>
            <a:r>
              <a:rPr lang="en-US" altLang="zh-CN" sz="2400" b="1" dirty="0">
                <a:solidFill>
                  <a:srgbClr val="FF0000"/>
                </a:solidFill>
              </a:rPr>
              <a:t>matrix[][10]</a:t>
            </a:r>
            <a:r>
              <a:rPr lang="zh-CN" altLang="en-US" sz="2400" b="1" dirty="0">
                <a:solidFill>
                  <a:srgbClr val="000099"/>
                </a:solidFill>
              </a:rPr>
              <a:t>。</a:t>
            </a:r>
            <a:endParaRPr lang="en-US" altLang="zh-CN" sz="2400" b="1" dirty="0">
              <a:solidFill>
                <a:srgbClr val="000099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要访问的元素范围：</a:t>
            </a:r>
            <a:r>
              <a:rPr lang="zh-CN" altLang="en-US" sz="2400" b="1" dirty="0">
                <a:solidFill>
                  <a:srgbClr val="000099"/>
                </a:solidFill>
              </a:rPr>
              <a:t>行范围和列范围作为参数传入</a:t>
            </a:r>
            <a:r>
              <a:rPr lang="zh-CN" altLang="en-US" sz="2400" b="1" dirty="0"/>
              <a:t>。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因此，函数要访问二维数组，至少需要设计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个参数：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返回值类型 </a:t>
            </a:r>
            <a:r>
              <a:rPr lang="zh-CN" altLang="en-US" sz="2400" b="1" dirty="0">
                <a:sym typeface="+mn-ea"/>
              </a:rPr>
              <a:t>函数名</a:t>
            </a:r>
            <a:r>
              <a:rPr lang="en-US" altLang="zh-CN" sz="2400" b="1" dirty="0">
                <a:sym typeface="+mn-ea"/>
              </a:rPr>
              <a:t>(int matrix[][10],int </a:t>
            </a:r>
            <a:r>
              <a:rPr lang="en-US" altLang="zh-CN" sz="2400" b="1" dirty="0" err="1">
                <a:sym typeface="+mn-ea"/>
              </a:rPr>
              <a:t>rows,int</a:t>
            </a:r>
            <a:r>
              <a:rPr lang="en-US" altLang="zh-CN" sz="2400" b="1" dirty="0">
                <a:sym typeface="+mn-ea"/>
              </a:rPr>
              <a:t> cols,...)</a:t>
            </a:r>
            <a:endParaRPr lang="zh-CN" altLang="en-US" sz="2400" b="1" dirty="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zh-CN" altLang="en-US" sz="2400" b="1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977D7F-28B6-427F-8437-ABB52EADBBC5}" type="slidenum">
              <a:rPr lang="zh-CN" altLang="en-US" sz="1400" smtClean="0"/>
              <a:t>20</a:t>
            </a:fld>
            <a:endParaRPr lang="en-US" altLang="zh-CN" sz="140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打印整数</a:t>
            </a:r>
            <a:r>
              <a:rPr lang="en-US" altLang="zh-CN" b="1" dirty="0" err="1"/>
              <a:t>二维数组</a:t>
            </a:r>
            <a:r>
              <a:rPr lang="zh-CN" altLang="en-US" b="1" dirty="0"/>
              <a:t>子</a:t>
            </a:r>
            <a:r>
              <a:rPr lang="en-US" altLang="zh-CN" b="1" dirty="0" err="1"/>
              <a:t>函数</a:t>
            </a:r>
            <a:endParaRPr lang="en-US" altLang="zh-CN" b="1" dirty="0"/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19213"/>
            <a:ext cx="7847012" cy="48466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printMatrix</a:t>
            </a:r>
            <a:r>
              <a:rPr lang="en-US" altLang="zh-CN" sz="2400" dirty="0">
                <a:latin typeface="Consolas" panose="020B0609020204030204" pitchFamily="49" charset="0"/>
              </a:rPr>
              <a:t>(int matrix[][COLS],int </a:t>
            </a:r>
            <a:r>
              <a:rPr lang="en-US" altLang="zh-CN" sz="2400" dirty="0" err="1">
                <a:latin typeface="Consolas" panose="020B0609020204030204" pitchFamily="49" charset="0"/>
              </a:rPr>
              <a:t>rows,int</a:t>
            </a:r>
            <a:r>
              <a:rPr lang="en-US" altLang="zh-CN" sz="2400" dirty="0">
                <a:latin typeface="Consolas" panose="020B0609020204030204" pitchFamily="49" charset="0"/>
              </a:rPr>
              <a:t> cols)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	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	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&lt;rows;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	for(j=0; j&lt;cols; </a:t>
            </a:r>
            <a:r>
              <a:rPr lang="en-US" altLang="zh-CN" sz="2400" dirty="0" err="1">
                <a:latin typeface="Consolas" panose="020B0609020204030204" pitchFamily="49" charset="0"/>
              </a:rPr>
              <a:t>j++</a:t>
            </a:r>
            <a:r>
              <a:rPr lang="en-US" altLang="zh-CN" sz="2400" dirty="0">
                <a:latin typeface="Consolas" panose="020B0609020204030204" pitchFamily="49" charset="0"/>
              </a:rPr>
              <a:t>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d",matrix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][j]);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	</a:t>
            </a:r>
            <a:r>
              <a:rPr lang="en-US" altLang="zh-CN" sz="2400" dirty="0" err="1">
                <a:latin typeface="Consolas" panose="020B0609020204030204" pitchFamily="49" charset="0"/>
              </a:rPr>
              <a:t>putchar</a:t>
            </a:r>
            <a:r>
              <a:rPr lang="en-US" altLang="zh-CN" sz="2400" dirty="0">
                <a:latin typeface="Consolas" panose="020B0609020204030204" pitchFamily="49" charset="0"/>
              </a:rPr>
              <a:t>(j==cols-1?'\n':' ');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93FB626E-7109-6BFF-41F2-9EDF33F70748}"/>
              </a:ext>
            </a:extLst>
          </p:cNvPr>
          <p:cNvSpPr/>
          <p:nvPr/>
        </p:nvSpPr>
        <p:spPr bwMode="auto">
          <a:xfrm>
            <a:off x="4479255" y="1772816"/>
            <a:ext cx="4572000" cy="647700"/>
          </a:xfrm>
          <a:prstGeom prst="borderCallout2">
            <a:avLst>
              <a:gd name="adj1" fmla="val 17648"/>
              <a:gd name="adj2" fmla="val -1667"/>
              <a:gd name="adj3" fmla="val 17648"/>
              <a:gd name="adj4" fmla="val -2954"/>
              <a:gd name="adj5" fmla="val -17894"/>
              <a:gd name="adj6" fmla="val -4306"/>
            </a:avLst>
          </a:prstGeom>
          <a:solidFill>
            <a:srgbClr val="CCFFFF"/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b="1" dirty="0"/>
              <a:t>二维数组做形参，第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个下标必须给出，使编译器能确定元素内存地址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977D7F-28B6-427F-8437-ABB52EADBBC5}" type="slidenum">
              <a:rPr lang="zh-CN" altLang="en-US" sz="1400" smtClean="0"/>
              <a:t>21</a:t>
            </a:fld>
            <a:endParaRPr lang="en-US" altLang="zh-CN" sz="140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打印小数</a:t>
            </a:r>
            <a:r>
              <a:rPr lang="en-US" altLang="zh-CN" b="1" dirty="0" err="1"/>
              <a:t>二维数组</a:t>
            </a:r>
            <a:r>
              <a:rPr lang="zh-CN" altLang="en-US" b="1" dirty="0"/>
              <a:t>子</a:t>
            </a:r>
            <a:r>
              <a:rPr lang="en-US" altLang="zh-CN" b="1" dirty="0" err="1"/>
              <a:t>函数</a:t>
            </a:r>
            <a:endParaRPr lang="en-US" altLang="zh-CN" b="1" dirty="0"/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19213"/>
            <a:ext cx="7847012" cy="48466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printMatrix2</a:t>
            </a:r>
            <a:r>
              <a:rPr lang="en-US" altLang="zh-CN" sz="2400" dirty="0">
                <a:latin typeface="Consolas" panose="020B0609020204030204" pitchFamily="49" charset="0"/>
              </a:rPr>
              <a:t>(float matrix[][COLS],int </a:t>
            </a:r>
            <a:r>
              <a:rPr lang="en-US" altLang="zh-CN" sz="2400" dirty="0" err="1">
                <a:latin typeface="Consolas" panose="020B0609020204030204" pitchFamily="49" charset="0"/>
              </a:rPr>
              <a:t>rows,int</a:t>
            </a:r>
            <a:r>
              <a:rPr lang="en-US" altLang="zh-CN" sz="2400" dirty="0">
                <a:latin typeface="Consolas" panose="020B0609020204030204" pitchFamily="49" charset="0"/>
              </a:rPr>
              <a:t> cols)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&lt;rows;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for(j=0; j&lt;cols; </a:t>
            </a:r>
            <a:r>
              <a:rPr lang="en-US" altLang="zh-CN" sz="2400" dirty="0" err="1">
                <a:latin typeface="Consolas" panose="020B0609020204030204" pitchFamily="49" charset="0"/>
              </a:rPr>
              <a:t>j++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"</a:t>
            </a:r>
            <a:r>
              <a:rPr lang="en-US" altLang="zh-CN" sz="2400" dirty="0">
                <a:latin typeface="Consolas" panose="020B0609020204030204" pitchFamily="49" charset="0"/>
              </a:rPr>
              <a:t>%.</a:t>
            </a:r>
            <a:r>
              <a:rPr lang="en-US" altLang="zh-CN" sz="2400" dirty="0" err="1">
                <a:latin typeface="Consolas" panose="020B0609020204030204" pitchFamily="49" charset="0"/>
              </a:rPr>
              <a:t>2f</a:t>
            </a:r>
            <a:r>
              <a:rPr lang="en-US" altLang="zh-CN" sz="2400" dirty="0">
                <a:latin typeface="Consolas" panose="020B0609020204030204" pitchFamily="49" charset="0"/>
              </a:rPr>
              <a:t>\</a:t>
            </a:r>
            <a:r>
              <a:rPr lang="en-US" altLang="zh-CN" sz="2400" dirty="0" err="1">
                <a:latin typeface="Consolas" panose="020B0609020204030204" pitchFamily="49" charset="0"/>
              </a:rPr>
              <a:t>t</a:t>
            </a:r>
            <a:r>
              <a:rPr lang="en-US" altLang="zh-CN" sz="2400" dirty="0" err="1">
                <a:latin typeface="Consolas" panose="020B0609020204030204" pitchFamily="49" charset="0"/>
                <a:sym typeface="+mn-ea"/>
              </a:rPr>
              <a:t>"</a:t>
            </a:r>
            <a:r>
              <a:rPr lang="en-US" altLang="zh-CN" sz="2400" dirty="0" err="1">
                <a:latin typeface="Consolas" panose="020B0609020204030204" pitchFamily="49" charset="0"/>
              </a:rPr>
              <a:t>,matrix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][j]);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"</a:t>
            </a:r>
            <a:r>
              <a:rPr lang="en-US" altLang="zh-CN" sz="2400" dirty="0">
                <a:latin typeface="Consolas" panose="020B0609020204030204" pitchFamily="49" charset="0"/>
              </a:rPr>
              <a:t>\n");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054110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测试主程序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68760"/>
            <a:ext cx="8458200" cy="518442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 12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 5 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printMatrix2</a:t>
            </a:r>
            <a:r>
              <a:rPr lang="en-US" altLang="zh-CN" sz="2000" dirty="0">
                <a:latin typeface="Consolas" panose="020B0609020204030204" pitchFamily="49" charset="0"/>
              </a:rPr>
              <a:t>(float matrix[][COLS],int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rows,int</a:t>
            </a:r>
            <a:r>
              <a:rPr lang="en-US" altLang="zh-CN" sz="2000" dirty="0">
                <a:latin typeface="Consolas" panose="020B0609020204030204" pitchFamily="49" charset="0"/>
              </a:rPr>
              <a:t> cols);</a:t>
            </a:r>
            <a:r>
              <a:rPr lang="zh-CN" altLang="en-US" sz="2000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const float rain</a:t>
            </a:r>
            <a:r>
              <a:rPr lang="en-US" altLang="zh-CN" sz="2000" dirty="0">
                <a:latin typeface="Consolas" panose="020B0609020204030204" pitchFamily="49" charset="0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][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] =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4.3,4.3,4.3,3.0,2.0,1.2,0.2,0.2,0.4,2.4,3.5,6.6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latin typeface="Consolas" panose="020B0609020204030204" pitchFamily="49" charset="0"/>
              </a:rPr>
              <a:t>8.5,8.2,1.2,1.6,2.4,0.0,5.2,0.9,0.3,0.9,1.4,7.3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9.1,8.5,6.7,4.3,2.1,0.8,0.2,0.2,1.1,2.3,6.1,8.4},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2000" dirty="0">
                <a:latin typeface="Consolas" panose="020B0609020204030204" pitchFamily="49" charset="0"/>
              </a:rPr>
              <a:t>7.2,9.9,8.4,3.3,1.2,0.8,0.4,0.0,0.6,1.7,4.3,6.2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{7.6,5.6,3.8,2.8,3.8,0.2,0.0,0.0,0.0,1.3,2.6,5.2}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printMatrix2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rains,ROWS,COLS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559300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FEDCDB-9437-4821-8E42-D10DD3704BE4}" type="slidenum">
              <a:rPr lang="zh-CN" altLang="en-US" sz="1400" smtClean="0"/>
              <a:t>23</a:t>
            </a:fld>
            <a:endParaRPr lang="en-US" altLang="zh-CN" sz="1400"/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/>
              <a:t>5.二维数组名作函数实参</a:t>
            </a:r>
            <a:endParaRPr lang="en-US" altLang="zh-CN" b="1" dirty="0"/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200" b="1" dirty="0"/>
              <a:t>函数调用：</a:t>
            </a:r>
            <a:r>
              <a:rPr lang="en-US" altLang="zh-CN" sz="3200" b="1" dirty="0" err="1"/>
              <a:t>printMatrix</a:t>
            </a:r>
            <a:r>
              <a:rPr lang="en-US" altLang="zh-CN" sz="3200" b="1" dirty="0"/>
              <a:t>(</a:t>
            </a:r>
            <a:r>
              <a:rPr lang="en-US" altLang="zh-CN" sz="3200" b="1" dirty="0" err="1"/>
              <a:t>matrix,10,10</a:t>
            </a:r>
            <a:r>
              <a:rPr lang="en-US" altLang="zh-CN" sz="3200" b="1" dirty="0"/>
              <a:t>);</a:t>
            </a:r>
            <a:endParaRPr lang="zh-CN" altLang="en-US" sz="3200" b="1" dirty="0"/>
          </a:p>
          <a:p>
            <a:pPr eaLnBrk="1" hangingPunct="1"/>
            <a:endParaRPr lang="zh-CN" altLang="en-US" dirty="0"/>
          </a:p>
        </p:txBody>
      </p:sp>
      <p:sp>
        <p:nvSpPr>
          <p:cNvPr id="124933" name="AutoShape 4"/>
          <p:cNvSpPr/>
          <p:nvPr/>
        </p:nvSpPr>
        <p:spPr bwMode="auto">
          <a:xfrm>
            <a:off x="819150" y="2276475"/>
            <a:ext cx="3671888" cy="1223963"/>
          </a:xfrm>
          <a:prstGeom prst="borderCallout2">
            <a:avLst>
              <a:gd name="adj1" fmla="val 9338"/>
              <a:gd name="adj2" fmla="val 102074"/>
              <a:gd name="adj3" fmla="val 9338"/>
              <a:gd name="adj4" fmla="val 112537"/>
              <a:gd name="adj5" fmla="val -42671"/>
              <a:gd name="adj6" fmla="val 123259"/>
            </a:avLst>
          </a:prstGeom>
          <a:solidFill>
            <a:srgbClr val="CCFFFF"/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/>
              <a:t>只需给出二维数组名，传递的是数组第一个元素的地址</a:t>
            </a:r>
          </a:p>
        </p:txBody>
      </p:sp>
      <p:sp>
        <p:nvSpPr>
          <p:cNvPr id="331781" name="Text Box 5"/>
          <p:cNvSpPr txBox="1">
            <a:spLocks noChangeArrowheads="1"/>
          </p:cNvSpPr>
          <p:nvPr/>
        </p:nvSpPr>
        <p:spPr bwMode="auto">
          <a:xfrm>
            <a:off x="755650" y="3933825"/>
            <a:ext cx="7345363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/>
              <a:t>多维数组做函数形参时，需要给出除了第</a:t>
            </a:r>
            <a:r>
              <a:rPr lang="en-US" altLang="zh-CN" b="1"/>
              <a:t>1</a:t>
            </a:r>
            <a:r>
              <a:rPr lang="zh-CN" altLang="en-US" b="1"/>
              <a:t>个下标之外的其他所有的下标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813341-501B-40C9-9DBE-7B704D8AB765}" type="slidenum">
              <a:rPr lang="zh-CN" altLang="en-US" sz="1400" smtClean="0"/>
              <a:t>24</a:t>
            </a:fld>
            <a:endParaRPr lang="en-US" altLang="zh-CN" sz="1400"/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5.二维数组名作函数实参</a:t>
            </a:r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7702550" cy="4611687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思考：如果要输出的可能只是二维数组的一部分元素，函数原型怎么设计？下图中蓝色底色部分能否构成一个二维数组？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void </a:t>
            </a:r>
            <a:r>
              <a:rPr lang="en-US" altLang="zh-CN" sz="2400" b="1" dirty="0" err="1"/>
              <a:t>printMatrix</a:t>
            </a:r>
            <a:r>
              <a:rPr lang="en-US" altLang="zh-CN" sz="2400" b="1" dirty="0"/>
              <a:t>(int matrix[][COLS],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       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fromRow</a:t>
            </a:r>
            <a:r>
              <a:rPr lang="en-US" altLang="zh-CN" sz="2400" b="1" dirty="0"/>
              <a:t>,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toRow</a:t>
            </a:r>
            <a:r>
              <a:rPr lang="en-US" altLang="zh-CN" sz="2400" b="1" dirty="0"/>
              <a:t>,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       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fromCol,int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toCol</a:t>
            </a:r>
            <a:r>
              <a:rPr lang="en-US" altLang="zh-CN" sz="2400" b="1" dirty="0"/>
              <a:t>)</a:t>
            </a:r>
          </a:p>
          <a:p>
            <a:pPr eaLnBrk="1" hangingPunct="1"/>
            <a:endParaRPr lang="zh-CN" altLang="en-US" sz="2400" b="1" dirty="0"/>
          </a:p>
          <a:p>
            <a:pPr eaLnBrk="1" hangingPunct="1"/>
            <a:endParaRPr lang="zh-CN" altLang="en-US" sz="2400" b="1" dirty="0"/>
          </a:p>
        </p:txBody>
      </p:sp>
      <p:graphicFrame>
        <p:nvGraphicFramePr>
          <p:cNvPr id="376931" name="Group 99"/>
          <p:cNvGraphicFramePr>
            <a:graphicFrameLocks noGrp="1"/>
          </p:cNvGraphicFramePr>
          <p:nvPr>
            <p:ph sz="half" idx="2"/>
          </p:nvPr>
        </p:nvGraphicFramePr>
        <p:xfrm>
          <a:off x="4140200" y="4508500"/>
          <a:ext cx="3240087" cy="1947863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965" name="Text Box 96"/>
          <p:cNvSpPr txBox="1">
            <a:spLocks noChangeArrowheads="1"/>
          </p:cNvSpPr>
          <p:nvPr/>
        </p:nvSpPr>
        <p:spPr bwMode="auto">
          <a:xfrm>
            <a:off x="827088" y="3803650"/>
            <a:ext cx="770572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函数调用：</a:t>
            </a:r>
            <a:r>
              <a:rPr lang="en-US" altLang="zh-CN" sz="2400" b="1"/>
              <a:t>printArray(a,1,2,1,3)</a:t>
            </a:r>
            <a:r>
              <a:rPr lang="zh-CN" altLang="en-US" sz="2400" b="1"/>
              <a:t>用于输出二维数组</a:t>
            </a:r>
            <a:r>
              <a:rPr lang="en-US" altLang="zh-CN" sz="2400" b="1"/>
              <a:t>a</a:t>
            </a:r>
            <a:r>
              <a:rPr lang="zh-CN" altLang="en-US" sz="2400" b="1"/>
              <a:t>的下述绿色底色的行和列</a:t>
            </a:r>
          </a:p>
        </p:txBody>
      </p:sp>
      <p:sp>
        <p:nvSpPr>
          <p:cNvPr id="3" name="禁止符 2">
            <a:extLst>
              <a:ext uri="{FF2B5EF4-FFF2-40B4-BE49-F238E27FC236}">
                <a16:creationId xmlns:a16="http://schemas.microsoft.com/office/drawing/2014/main" id="{E29FE60F-3BF0-4F15-A91C-6E33ADCA4C4D}"/>
              </a:ext>
            </a:extLst>
          </p:cNvPr>
          <p:cNvSpPr/>
          <p:nvPr/>
        </p:nvSpPr>
        <p:spPr bwMode="auto">
          <a:xfrm>
            <a:off x="5292080" y="4874418"/>
            <a:ext cx="1256928" cy="1319213"/>
          </a:xfrm>
          <a:prstGeom prst="noSmoking">
            <a:avLst>
              <a:gd name="adj" fmla="val 10017"/>
            </a:avLst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4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4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6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25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数组的应用（设计数据结构）</a:t>
            </a: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指针与多维数组</a:t>
            </a: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D0C860-94DD-4A96-A37C-D1036866B3DB}" type="slidenum">
              <a:rPr lang="zh-CN" altLang="en-US" sz="1400" smtClean="0"/>
              <a:t>26</a:t>
            </a:fld>
            <a:endParaRPr lang="en-US" altLang="zh-CN" sz="1400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sym typeface="+mn-ea"/>
              </a:rPr>
              <a:t>矩阵的整体处理：求最大</a:t>
            </a:r>
          </a:p>
        </p:txBody>
      </p:sp>
      <p:sp>
        <p:nvSpPr>
          <p:cNvPr id="1280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268760"/>
            <a:ext cx="791845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latin typeface="Consolas" panose="020B0609020204030204" pitchFamily="49" charset="0"/>
              </a:rPr>
              <a:t>求矩阵所有元素中的最大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maxOfMAtrix</a:t>
            </a:r>
            <a:r>
              <a:rPr lang="en-US" altLang="zh-CN" sz="2400" dirty="0">
                <a:latin typeface="Consolas" panose="020B0609020204030204" pitchFamily="49" charset="0"/>
              </a:rPr>
              <a:t> (int matrix[][COLS],int </a:t>
            </a:r>
            <a:r>
              <a:rPr lang="en-US" altLang="zh-CN" sz="2400" dirty="0" err="1">
                <a:latin typeface="Consolas" panose="020B0609020204030204" pitchFamily="49" charset="0"/>
              </a:rPr>
              <a:t>rows,int</a:t>
            </a:r>
            <a:r>
              <a:rPr lang="en-US" altLang="zh-CN" sz="2400" dirty="0">
                <a:latin typeface="Consolas" panose="020B0609020204030204" pitchFamily="49" charset="0"/>
              </a:rPr>
              <a:t> cols)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i,j,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=matrix[0][0];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&lt; rows;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for(j=0; j &lt; cols; </a:t>
            </a:r>
            <a:r>
              <a:rPr lang="en-US" altLang="zh-CN" sz="2400" dirty="0" err="1">
                <a:latin typeface="Consolas" panose="020B0609020204030204" pitchFamily="49" charset="0"/>
              </a:rPr>
              <a:t>j++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if(matrix[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][j] &gt; max)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max=matrix[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][j];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return max;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42C343-0114-4410-AB3A-785B5A31C611}" type="slidenum">
              <a:rPr lang="zh-CN" altLang="en-US" sz="1400" smtClean="0"/>
              <a:t>27</a:t>
            </a:fld>
            <a:endParaRPr lang="en-US" altLang="zh-CN" sz="1400"/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sym typeface="+mn-ea"/>
              </a:rPr>
              <a:t>矩阵的行处理：求行平均</a:t>
            </a:r>
          </a:p>
        </p:txBody>
      </p:sp>
      <p:sp>
        <p:nvSpPr>
          <p:cNvPr id="1300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96975"/>
            <a:ext cx="8458200" cy="46116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float </a:t>
            </a:r>
            <a:r>
              <a:rPr lang="en-US" altLang="zh-CN" sz="2400" dirty="0" err="1">
                <a:latin typeface="Consolas" panose="020B0609020204030204" pitchFamily="49" charset="0"/>
              </a:rPr>
              <a:t>averageOfRow</a:t>
            </a:r>
            <a:r>
              <a:rPr lang="en-US" altLang="zh-CN" sz="2400" dirty="0">
                <a:latin typeface="Consolas" panose="020B0609020204030204" pitchFamily="49" charset="0"/>
              </a:rPr>
              <a:t>(int </a:t>
            </a:r>
            <a:r>
              <a:rPr lang="en-US" altLang="zh-CN" sz="2400" dirty="0" err="1">
                <a:latin typeface="Consolas" panose="020B0609020204030204" pitchFamily="49" charset="0"/>
              </a:rPr>
              <a:t>theRow</a:t>
            </a:r>
            <a:r>
              <a:rPr lang="en-US" altLang="zh-CN" sz="2400" dirty="0">
                <a:latin typeface="Consolas" panose="020B0609020204030204" pitchFamily="49" charset="0"/>
              </a:rPr>
              <a:t>[],int cols)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i,total</a:t>
            </a:r>
            <a:r>
              <a:rPr lang="en-US" altLang="zh-CN" sz="2400" dirty="0">
                <a:latin typeface="Consolas" panose="020B0609020204030204" pitchFamily="49" charset="0"/>
              </a:rPr>
              <a:t>=0;</a:t>
            </a:r>
          </a:p>
          <a:p>
            <a:pPr eaLnBrk="1" hangingPunct="1">
              <a:buFontTx/>
              <a:buNone/>
            </a:pPr>
            <a:r>
              <a:rPr lang="en-US" altLang="zh-CN" sz="80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&lt; cols;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total += </a:t>
            </a:r>
            <a:r>
              <a:rPr lang="en-US" altLang="zh-CN" sz="2400" dirty="0" err="1">
                <a:latin typeface="Consolas" panose="020B0609020204030204" pitchFamily="49" charset="0"/>
              </a:rPr>
              <a:t>theRow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buFontTx/>
              <a:buNone/>
            </a:pPr>
            <a:r>
              <a:rPr lang="en-US" altLang="zh-CN" sz="800" dirty="0">
                <a:latin typeface="Consolas" panose="020B0609020204030204" pitchFamily="49" charset="0"/>
              </a:rPr>
              <a:t>   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return (float)total/cols;   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zh-CN" altLang="en-US" sz="8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函数调用：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("%.</a:t>
            </a:r>
            <a:r>
              <a:rPr lang="en-US" altLang="zh-CN" sz="2400" dirty="0" err="1">
                <a:latin typeface="Consolas" panose="020B0609020204030204" pitchFamily="49" charset="0"/>
              </a:rPr>
              <a:t>2f</a:t>
            </a:r>
            <a:r>
              <a:rPr lang="en-US" altLang="zh-CN" sz="2400" dirty="0">
                <a:latin typeface="Consolas" panose="020B0609020204030204" pitchFamily="49" charset="0"/>
              </a:rPr>
              <a:t>\n",</a:t>
            </a:r>
            <a:r>
              <a:rPr lang="en-US" altLang="zh-CN" sz="2400" dirty="0" err="1">
                <a:latin typeface="Consolas" panose="020B0609020204030204" pitchFamily="49" charset="0"/>
              </a:rPr>
              <a:t>averageOfRow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chemeClr val="accent2"/>
                </a:solidFill>
                <a:latin typeface="Consolas" panose="020B0609020204030204" pitchFamily="49" charset="0"/>
              </a:rPr>
              <a:t>matrix[</a:t>
            </a:r>
            <a:r>
              <a:rPr lang="en-US" altLang="zh-CN"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dirty="0">
                <a:latin typeface="Consolas" panose="020B0609020204030204" pitchFamily="49" charset="0"/>
              </a:rPr>
              <a:t>,COLS));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333856" name="Group 3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9661129"/>
              </p:ext>
            </p:extLst>
          </p:nvPr>
        </p:nvGraphicFramePr>
        <p:xfrm>
          <a:off x="5651500" y="2060848"/>
          <a:ext cx="3187704" cy="1371600"/>
        </p:xfrm>
        <a:graphic>
          <a:graphicData uri="http://schemas.openxmlformats.org/drawingml/2006/table">
            <a:tbl>
              <a:tblPr/>
              <a:tblGrid>
                <a:gridCol w="796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8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8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测试主程序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68760"/>
            <a:ext cx="8458200" cy="518442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 12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 5 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float </a:t>
            </a:r>
            <a:r>
              <a:rPr lang="en-US" altLang="zh-CN" sz="2000" dirty="0" err="1">
                <a:latin typeface="Consolas" panose="020B0609020204030204" pitchFamily="49" charset="0"/>
              </a:rPr>
              <a:t>maxOfMAtrix2</a:t>
            </a:r>
            <a:r>
              <a:rPr lang="en-US" altLang="zh-CN" sz="2000" dirty="0">
                <a:latin typeface="Consolas" panose="020B0609020204030204" pitchFamily="49" charset="0"/>
              </a:rPr>
              <a:t>(float matrix[][COLS],</a:t>
            </a:r>
            <a:r>
              <a:rPr lang="en-US" altLang="zh-CN" sz="2000" dirty="0" err="1">
                <a:latin typeface="Consolas" panose="020B0609020204030204" pitchFamily="49" charset="0"/>
              </a:rPr>
              <a:t>int,int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float </a:t>
            </a:r>
            <a:r>
              <a:rPr lang="en-US" altLang="zh-CN" sz="2000" dirty="0" err="1">
                <a:latin typeface="Consolas" panose="020B0609020204030204" pitchFamily="49" charset="0"/>
              </a:rPr>
              <a:t>averageOfRow2</a:t>
            </a:r>
            <a:r>
              <a:rPr lang="en-US" altLang="zh-CN" sz="2000" dirty="0">
                <a:latin typeface="Consolas" panose="020B0609020204030204" pitchFamily="49" charset="0"/>
              </a:rPr>
              <a:t>(float </a:t>
            </a:r>
            <a:r>
              <a:rPr lang="en-US" altLang="zh-CN" sz="2000" dirty="0" err="1">
                <a:latin typeface="Consolas" panose="020B0609020204030204" pitchFamily="49" charset="0"/>
              </a:rPr>
              <a:t>theRow</a:t>
            </a:r>
            <a:r>
              <a:rPr lang="en-US" altLang="zh-CN" sz="2000" dirty="0">
                <a:latin typeface="Consolas" panose="020B0609020204030204" pitchFamily="49" charset="0"/>
              </a:rPr>
              <a:t>[],int cols);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const float rain</a:t>
            </a:r>
            <a:r>
              <a:rPr lang="en-US" altLang="zh-CN" sz="2000" dirty="0">
                <a:latin typeface="Consolas" panose="020B0609020204030204" pitchFamily="49" charset="0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][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]={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r>
              <a:rPr lang="zh-CN" altLang="en-US" sz="2000" dirty="0">
                <a:latin typeface="Consolas" panose="020B0609020204030204" pitchFamily="49" charset="0"/>
              </a:rPr>
              <a:t>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("max=%.</a:t>
            </a:r>
            <a:r>
              <a:rPr lang="en-US" altLang="zh-CN" sz="2000" dirty="0" err="1">
                <a:latin typeface="Consolas" panose="020B0609020204030204" pitchFamily="49" charset="0"/>
              </a:rPr>
              <a:t>1f</a:t>
            </a:r>
            <a:r>
              <a:rPr lang="en-US" altLang="zh-CN" sz="2000" dirty="0"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</a:rPr>
              <a:t>maxOfMAtrix2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rain,ROWS,COLS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0;i</a:t>
            </a:r>
            <a:r>
              <a:rPr lang="en-US" altLang="zh-CN" sz="2000" dirty="0">
                <a:latin typeface="Consolas" panose="020B0609020204030204" pitchFamily="49" charset="0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</a:rPr>
              <a:t>ROWS;i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 </a:t>
            </a:r>
            <a:r>
              <a:rPr lang="en-US" altLang="zh-CN" sz="2000" dirty="0" err="1">
                <a:latin typeface="Consolas" panose="020B0609020204030204" pitchFamily="49" charset="0"/>
              </a:rPr>
              <a:t>year,aver</a:t>
            </a:r>
            <a:r>
              <a:rPr lang="en-US" altLang="zh-CN" sz="2000" dirty="0">
                <a:latin typeface="Consolas" panose="020B0609020204030204" pitchFamily="49" charset="0"/>
              </a:rPr>
              <a:t>=%.</a:t>
            </a:r>
            <a:r>
              <a:rPr lang="en-US" altLang="zh-CN" sz="2000" dirty="0" err="1">
                <a:latin typeface="Consolas" panose="020B0609020204030204" pitchFamily="49" charset="0"/>
              </a:rPr>
              <a:t>1f</a:t>
            </a:r>
            <a:r>
              <a:rPr lang="en-US" altLang="zh-CN" sz="2000" dirty="0"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</a:rPr>
              <a:t>i+1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averageOfRow2</a:t>
            </a:r>
            <a:r>
              <a:rPr lang="en-US" altLang="zh-CN" sz="2000" dirty="0">
                <a:latin typeface="Consolas" panose="020B0609020204030204" pitchFamily="49" charset="0"/>
              </a:rPr>
              <a:t>(rains[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],COLS));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268269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7C27AE-182B-4BF7-9017-8CAFBEDA3EEA}" type="slidenum">
              <a:rPr lang="zh-CN" altLang="en-US" sz="1400" smtClean="0"/>
              <a:t>29</a:t>
            </a:fld>
            <a:endParaRPr lang="en-US" altLang="zh-CN" sz="1400"/>
          </a:p>
        </p:txBody>
      </p:sp>
      <p:sp>
        <p:nvSpPr>
          <p:cNvPr id="13107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sym typeface="+mn-ea"/>
              </a:rPr>
              <a:t>矩阵的列处理：求列平均</a:t>
            </a:r>
          </a:p>
        </p:txBody>
      </p:sp>
      <p:sp>
        <p:nvSpPr>
          <p:cNvPr id="3000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89512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float </a:t>
            </a:r>
            <a:r>
              <a:rPr lang="en-US" altLang="zh-CN" sz="2400" dirty="0" err="1">
                <a:latin typeface="Consolas" panose="020B0609020204030204" pitchFamily="49" charset="0"/>
              </a:rPr>
              <a:t>averageOfCol</a:t>
            </a:r>
            <a:r>
              <a:rPr lang="en-US" altLang="zh-CN" sz="2400" dirty="0">
                <a:latin typeface="Consolas" panose="020B0609020204030204" pitchFamily="49" charset="0"/>
              </a:rPr>
              <a:t>(int matrix[][COLS],int </a:t>
            </a:r>
            <a:r>
              <a:rPr lang="en-US" altLang="zh-CN" sz="2400" dirty="0" err="1">
                <a:latin typeface="Consolas" panose="020B0609020204030204" pitchFamily="49" charset="0"/>
              </a:rPr>
              <a:t>rows,int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theCol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i,total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0,total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&lt; rows;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total += matrix[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][</a:t>
            </a:r>
            <a:r>
              <a:rPr lang="en-US" altLang="zh-CN" sz="2400" dirty="0" err="1">
                <a:latin typeface="Consolas" panose="020B0609020204030204" pitchFamily="49" charset="0"/>
              </a:rPr>
              <a:t>theCol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return (float)total/rows;    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0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0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0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0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0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0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0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测试主程序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68760"/>
            <a:ext cx="8458200" cy="518442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 12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 5 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float </a:t>
            </a:r>
            <a:r>
              <a:rPr lang="en-US" altLang="zh-CN" sz="2000" dirty="0" err="1">
                <a:latin typeface="Consolas" panose="020B0609020204030204" pitchFamily="49" charset="0"/>
              </a:rPr>
              <a:t>averageOfCol2</a:t>
            </a:r>
            <a:r>
              <a:rPr lang="en-US" altLang="zh-CN" sz="2000" dirty="0">
                <a:latin typeface="Consolas" panose="020B0609020204030204" pitchFamily="49" charset="0"/>
              </a:rPr>
              <a:t>(float matrix[][COLS],int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rows,int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theCol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const float rain</a:t>
            </a:r>
            <a:r>
              <a:rPr lang="en-US" altLang="zh-CN" sz="2000" dirty="0">
                <a:latin typeface="Consolas" panose="020B0609020204030204" pitchFamily="49" charset="0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][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]={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r>
              <a:rPr lang="zh-CN" altLang="en-US" sz="2000" dirty="0">
                <a:latin typeface="Consolas" panose="020B0609020204030204" pitchFamily="49" charset="0"/>
              </a:rPr>
              <a:t>};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0;i</a:t>
            </a:r>
            <a:r>
              <a:rPr lang="en-US" altLang="zh-CN" sz="2000" dirty="0">
                <a:latin typeface="Consolas" panose="020B0609020204030204" pitchFamily="49" charset="0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</a:rPr>
              <a:t>COLS;i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 </a:t>
            </a:r>
            <a:r>
              <a:rPr lang="en-US" altLang="zh-CN" sz="2000" dirty="0" err="1">
                <a:latin typeface="Consolas" panose="020B0609020204030204" pitchFamily="49" charset="0"/>
              </a:rPr>
              <a:t>month,aver</a:t>
            </a:r>
            <a:r>
              <a:rPr lang="en-US" altLang="zh-CN" sz="2000" dirty="0">
                <a:latin typeface="Consolas" panose="020B0609020204030204" pitchFamily="49" charset="0"/>
              </a:rPr>
              <a:t>=%.</a:t>
            </a:r>
            <a:r>
              <a:rPr lang="en-US" altLang="zh-CN" sz="2000" dirty="0" err="1">
                <a:latin typeface="Consolas" panose="020B0609020204030204" pitchFamily="49" charset="0"/>
              </a:rPr>
              <a:t>1f</a:t>
            </a:r>
            <a:r>
              <a:rPr lang="en-US" altLang="zh-CN" sz="2000" dirty="0"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</a:rPr>
              <a:t>i+1,averageOfCol2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rains,ROWS,i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48842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3809D3-C930-4092-9CF6-0845B0E5CF88}" type="slidenum">
              <a:rPr lang="zh-CN" altLang="en-US" sz="1400" smtClean="0"/>
              <a:t>31</a:t>
            </a:fld>
            <a:endParaRPr lang="en-US" altLang="zh-CN" sz="1400"/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dirty="0"/>
              <a:t>例</a:t>
            </a:r>
            <a:r>
              <a:rPr lang="en-US" altLang="zh-CN" dirty="0"/>
              <a:t>2.</a:t>
            </a:r>
            <a:r>
              <a:rPr lang="zh-CN" altLang="en-US" dirty="0"/>
              <a:t>矩阵相乘</a:t>
            </a:r>
          </a:p>
        </p:txBody>
      </p:sp>
      <p:sp>
        <p:nvSpPr>
          <p:cNvPr id="132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7773988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2</a:t>
            </a:r>
            <a:r>
              <a:rPr lang="zh-CN" altLang="en-US" sz="2400" b="1"/>
              <a:t>：有</a:t>
            </a:r>
            <a:r>
              <a:rPr lang="en-US" altLang="zh-CN" sz="2400" b="1"/>
              <a:t>M1</a:t>
            </a:r>
            <a:r>
              <a:rPr lang="zh-CN" altLang="en-US" sz="2400" b="1"/>
              <a:t>行和</a:t>
            </a:r>
            <a:r>
              <a:rPr lang="en-US" altLang="zh-CN" sz="2400" b="1"/>
              <a:t>N1</a:t>
            </a:r>
            <a:r>
              <a:rPr lang="zh-CN" altLang="en-US" sz="2400" b="1"/>
              <a:t>列的矩阵</a:t>
            </a:r>
            <a:r>
              <a:rPr lang="en-US" altLang="zh-CN" sz="2400" b="1"/>
              <a:t>A</a:t>
            </a:r>
            <a:r>
              <a:rPr lang="zh-CN" altLang="en-US" sz="2400" b="1"/>
              <a:t>，以及有</a:t>
            </a:r>
            <a:r>
              <a:rPr lang="en-US" altLang="zh-CN" sz="2400" b="1"/>
              <a:t>M2</a:t>
            </a:r>
            <a:r>
              <a:rPr lang="zh-CN" altLang="en-US" sz="2400" b="1"/>
              <a:t>行和</a:t>
            </a:r>
            <a:r>
              <a:rPr lang="en-US" altLang="zh-CN" sz="2400" b="1"/>
              <a:t>N2</a:t>
            </a:r>
            <a:r>
              <a:rPr lang="zh-CN" altLang="en-US" sz="2400" b="1"/>
              <a:t>列的矩阵</a:t>
            </a:r>
            <a:r>
              <a:rPr lang="en-US" altLang="zh-CN" sz="2400" b="1"/>
              <a:t>B</a:t>
            </a:r>
            <a:r>
              <a:rPr lang="zh-CN" altLang="en-US" sz="2400" b="1"/>
              <a:t>。要求计算并输出这两个矩阵的相乘结果 。</a:t>
            </a:r>
          </a:p>
        </p:txBody>
      </p:sp>
      <p:sp>
        <p:nvSpPr>
          <p:cNvPr id="132101" name="Rectangle 4"/>
          <p:cNvSpPr>
            <a:spLocks noChangeArrowheads="1"/>
          </p:cNvSpPr>
          <p:nvPr/>
        </p:nvSpPr>
        <p:spPr bwMode="auto">
          <a:xfrm>
            <a:off x="1116013" y="2276475"/>
            <a:ext cx="1223962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/>
              <a:t>1 1 1 1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2 2 2 2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3 3 3 3</a:t>
            </a:r>
            <a:endParaRPr lang="zh-CN" altLang="en-US" sz="2400" b="1"/>
          </a:p>
        </p:txBody>
      </p:sp>
      <p:sp>
        <p:nvSpPr>
          <p:cNvPr id="132102" name="Rectangle 5"/>
          <p:cNvSpPr>
            <a:spLocks noChangeArrowheads="1"/>
          </p:cNvSpPr>
          <p:nvPr/>
        </p:nvSpPr>
        <p:spPr bwMode="auto">
          <a:xfrm>
            <a:off x="3059113" y="2205038"/>
            <a:ext cx="45720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/>
              <a:t>4 3 2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3 4 1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2 1 2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1 0 1</a:t>
            </a:r>
            <a:endParaRPr lang="zh-CN" altLang="en-US" sz="2400" b="1"/>
          </a:p>
        </p:txBody>
      </p:sp>
      <p:sp>
        <p:nvSpPr>
          <p:cNvPr id="132103" name="AutoShape 6"/>
          <p:cNvSpPr/>
          <p:nvPr/>
        </p:nvSpPr>
        <p:spPr bwMode="auto">
          <a:xfrm>
            <a:off x="1042988" y="2420938"/>
            <a:ext cx="73025" cy="936625"/>
          </a:xfrm>
          <a:prstGeom prst="leftBracket">
            <a:avLst>
              <a:gd name="adj" fmla="val 106884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2104" name="AutoShape 7"/>
          <p:cNvSpPr/>
          <p:nvPr/>
        </p:nvSpPr>
        <p:spPr bwMode="auto">
          <a:xfrm>
            <a:off x="2195513" y="2420938"/>
            <a:ext cx="73025" cy="936625"/>
          </a:xfrm>
          <a:prstGeom prst="rightBracket">
            <a:avLst>
              <a:gd name="adj" fmla="val 106884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2105" name="AutoShape 8"/>
          <p:cNvSpPr/>
          <p:nvPr/>
        </p:nvSpPr>
        <p:spPr bwMode="auto">
          <a:xfrm>
            <a:off x="2914650" y="2349500"/>
            <a:ext cx="73025" cy="1223963"/>
          </a:xfrm>
          <a:prstGeom prst="leftBracket">
            <a:avLst>
              <a:gd name="adj" fmla="val 139674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2106" name="AutoShape 9"/>
          <p:cNvSpPr/>
          <p:nvPr/>
        </p:nvSpPr>
        <p:spPr bwMode="auto">
          <a:xfrm>
            <a:off x="3851275" y="2276475"/>
            <a:ext cx="73025" cy="1296988"/>
          </a:xfrm>
          <a:prstGeom prst="rightBracket">
            <a:avLst>
              <a:gd name="adj" fmla="val 14800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2107" name="Line 10"/>
          <p:cNvSpPr>
            <a:spLocks noChangeShapeType="1"/>
          </p:cNvSpPr>
          <p:nvPr/>
        </p:nvSpPr>
        <p:spPr bwMode="auto">
          <a:xfrm>
            <a:off x="2411413" y="2636838"/>
            <a:ext cx="28892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08" name="Line 11"/>
          <p:cNvSpPr>
            <a:spLocks noChangeShapeType="1"/>
          </p:cNvSpPr>
          <p:nvPr/>
        </p:nvSpPr>
        <p:spPr bwMode="auto">
          <a:xfrm flipH="1">
            <a:off x="2411413" y="2636838"/>
            <a:ext cx="28892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09" name="Line 12"/>
          <p:cNvSpPr>
            <a:spLocks noChangeShapeType="1"/>
          </p:cNvSpPr>
          <p:nvPr/>
        </p:nvSpPr>
        <p:spPr bwMode="auto">
          <a:xfrm>
            <a:off x="4067175" y="27098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10" name="Line 13"/>
          <p:cNvSpPr>
            <a:spLocks noChangeShapeType="1"/>
          </p:cNvSpPr>
          <p:nvPr/>
        </p:nvSpPr>
        <p:spPr bwMode="auto">
          <a:xfrm>
            <a:off x="4067175" y="29257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11" name="Rectangle 14"/>
          <p:cNvSpPr>
            <a:spLocks noChangeArrowheads="1"/>
          </p:cNvSpPr>
          <p:nvPr/>
        </p:nvSpPr>
        <p:spPr bwMode="auto">
          <a:xfrm>
            <a:off x="4859338" y="2276475"/>
            <a:ext cx="2646362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/>
              <a:t>10   8      6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20   16   12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30   24   18</a:t>
            </a:r>
            <a:endParaRPr lang="zh-CN" altLang="en-US" sz="2400" b="1"/>
          </a:p>
        </p:txBody>
      </p:sp>
      <p:sp>
        <p:nvSpPr>
          <p:cNvPr id="132112" name="AutoShape 15"/>
          <p:cNvSpPr/>
          <p:nvPr/>
        </p:nvSpPr>
        <p:spPr bwMode="auto">
          <a:xfrm>
            <a:off x="4716463" y="2420938"/>
            <a:ext cx="73025" cy="936625"/>
          </a:xfrm>
          <a:prstGeom prst="leftBracket">
            <a:avLst>
              <a:gd name="adj" fmla="val 106884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2113" name="AutoShape 16"/>
          <p:cNvSpPr/>
          <p:nvPr/>
        </p:nvSpPr>
        <p:spPr bwMode="auto">
          <a:xfrm>
            <a:off x="6370638" y="2420938"/>
            <a:ext cx="73025" cy="936625"/>
          </a:xfrm>
          <a:prstGeom prst="rightBracket">
            <a:avLst>
              <a:gd name="adj" fmla="val 106884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2114" name="Text Box 17"/>
          <p:cNvSpPr txBox="1">
            <a:spLocks noChangeArrowheads="1"/>
          </p:cNvSpPr>
          <p:nvPr/>
        </p:nvSpPr>
        <p:spPr bwMode="auto">
          <a:xfrm>
            <a:off x="468313" y="3860800"/>
            <a:ext cx="8135937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分析： </a:t>
            </a:r>
            <a:r>
              <a:rPr lang="en-US" altLang="zh-CN" sz="2400" b="1"/>
              <a:t>1.</a:t>
            </a:r>
            <a:r>
              <a:rPr lang="zh-CN" altLang="en-US" sz="2400" b="1"/>
              <a:t>矩阵</a:t>
            </a:r>
            <a:r>
              <a:rPr lang="en-US" altLang="zh-CN" sz="2400" b="1"/>
              <a:t>A</a:t>
            </a:r>
            <a:r>
              <a:rPr lang="zh-CN" altLang="en-US" sz="2400" b="1"/>
              <a:t>要和矩阵</a:t>
            </a:r>
            <a:r>
              <a:rPr lang="en-US" altLang="zh-CN" sz="2400" b="1"/>
              <a:t>B</a:t>
            </a:r>
            <a:r>
              <a:rPr lang="zh-CN" altLang="en-US" sz="2400" b="1"/>
              <a:t>相乘，要求矩阵</a:t>
            </a:r>
            <a:r>
              <a:rPr lang="en-US" altLang="zh-CN" sz="2400" b="1"/>
              <a:t>A</a:t>
            </a:r>
            <a:r>
              <a:rPr lang="zh-CN" altLang="en-US" sz="2400" b="1"/>
              <a:t>的列数要等于    	   矩阵</a:t>
            </a:r>
            <a:r>
              <a:rPr lang="en-US" altLang="zh-CN" sz="2400" b="1"/>
              <a:t>B</a:t>
            </a:r>
            <a:r>
              <a:rPr lang="zh-CN" altLang="en-US" sz="2400" b="1"/>
              <a:t>的行数。相乘结果是一个</a:t>
            </a:r>
            <a:r>
              <a:rPr lang="en-US" altLang="zh-CN" sz="2400" b="1"/>
              <a:t>M1</a:t>
            </a:r>
            <a:r>
              <a:rPr lang="zh-CN" altLang="en-US" sz="2400" b="1"/>
              <a:t>行</a:t>
            </a:r>
            <a:r>
              <a:rPr lang="en-US" altLang="zh-CN" sz="2400" b="1"/>
              <a:t>N2</a:t>
            </a:r>
            <a:r>
              <a:rPr lang="zh-CN" altLang="en-US" sz="2400" b="1"/>
              <a:t>列的矩阵。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           2.</a:t>
            </a:r>
            <a:r>
              <a:rPr lang="zh-CN" altLang="en-US" sz="2400" b="1"/>
              <a:t>假设结果矩阵名为</a:t>
            </a:r>
            <a:r>
              <a:rPr lang="en-US" altLang="zh-CN" sz="2400" b="1"/>
              <a:t>result</a:t>
            </a:r>
            <a:r>
              <a:rPr lang="zh-CN" altLang="en-US" sz="2400" b="1"/>
              <a:t>，则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              result[row][col]=</a:t>
            </a:r>
            <a:endParaRPr lang="zh-CN" altLang="en-US" sz="2400" b="1"/>
          </a:p>
        </p:txBody>
      </p:sp>
      <p:graphicFrame>
        <p:nvGraphicFramePr>
          <p:cNvPr id="132115" name="Object 2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924300" y="5084763"/>
          <a:ext cx="410527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22500" imgH="431800" progId="Equation.3">
                  <p:embed/>
                </p:oleObj>
              </mc:Choice>
              <mc:Fallback>
                <p:oleObj name="公式" r:id="rId2" imgW="2222500" imgH="431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084763"/>
                        <a:ext cx="410527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42A78C-C6BB-447C-AA1E-05E8695325CD}" type="slidenum">
              <a:rPr lang="zh-CN" altLang="en-US" sz="1400" smtClean="0"/>
              <a:t>32</a:t>
            </a:fld>
            <a:endParaRPr lang="en-US" altLang="zh-CN" sz="1400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矩阵输入子函数</a:t>
            </a: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18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inputMatrix1</a:t>
            </a:r>
            <a:r>
              <a:rPr lang="en-US" altLang="zh-CN" sz="2000" dirty="0">
                <a:latin typeface="Consolas" panose="020B0609020204030204" pitchFamily="49" charset="0"/>
              </a:rPr>
              <a:t>(int matrix[][</a:t>
            </a:r>
            <a:r>
              <a:rPr lang="en-US" altLang="zh-CN" sz="2000" dirty="0" err="1">
                <a:latin typeface="Consolas" panose="020B0609020204030204" pitchFamily="49" charset="0"/>
              </a:rPr>
              <a:t>COL1</a:t>
            </a:r>
            <a:r>
              <a:rPr lang="en-US" altLang="zh-CN" sz="2000" dirty="0">
                <a:latin typeface="Consolas" panose="020B0609020204030204" pitchFamily="49" charset="0"/>
              </a:rPr>
              <a:t>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rows,int</a:t>
            </a:r>
            <a:r>
              <a:rPr lang="en-US" altLang="zh-CN" sz="2000" dirty="0">
                <a:latin typeface="Consolas" panose="020B0609020204030204" pitchFamily="49" charset="0"/>
              </a:rPr>
              <a:t> cols)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i,j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 rows;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for(j = 0; j &lt; cols; </a:t>
            </a:r>
            <a:r>
              <a:rPr lang="en-US" altLang="zh-CN" sz="2000" dirty="0" err="1">
                <a:latin typeface="Consolas" panose="020B0609020204030204" pitchFamily="49" charset="0"/>
              </a:rPr>
              <a:t>j++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d",&amp;matrix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inputMatrix2</a:t>
            </a:r>
            <a:r>
              <a:rPr lang="en-US" altLang="zh-CN" sz="2000" dirty="0">
                <a:latin typeface="Consolas" panose="020B0609020204030204" pitchFamily="49" charset="0"/>
              </a:rPr>
              <a:t>(int matrix[][</a:t>
            </a:r>
            <a:r>
              <a:rPr lang="en-US" altLang="zh-CN" sz="2000" dirty="0" err="1">
                <a:latin typeface="Consolas" panose="020B0609020204030204" pitchFamily="49" charset="0"/>
              </a:rPr>
              <a:t>COL2</a:t>
            </a:r>
            <a:r>
              <a:rPr lang="en-US" altLang="zh-CN" sz="2000" dirty="0">
                <a:latin typeface="Consolas" panose="020B0609020204030204" pitchFamily="49" charset="0"/>
              </a:rPr>
              <a:t>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rows,int</a:t>
            </a:r>
            <a:r>
              <a:rPr lang="en-US" altLang="zh-CN" sz="2000" dirty="0">
                <a:latin typeface="Consolas" panose="020B0609020204030204" pitchFamily="49" charset="0"/>
              </a:rPr>
              <a:t> cols)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i,j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 rows;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for(j = 0; j &lt; cols; </a:t>
            </a:r>
            <a:r>
              <a:rPr lang="en-US" altLang="zh-CN" sz="2000" dirty="0" err="1">
                <a:latin typeface="Consolas" panose="020B0609020204030204" pitchFamily="49" charset="0"/>
              </a:rPr>
              <a:t>j++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d",&amp;matrix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CDDFCD-ED2A-44DF-8207-9E8A6FEEED94}" type="slidenum">
              <a:rPr lang="zh-CN" altLang="en-US" sz="1400" smtClean="0"/>
              <a:t>33</a:t>
            </a:fld>
            <a:endParaRPr lang="en-US" altLang="zh-CN" sz="1400"/>
          </a:p>
        </p:txBody>
      </p:sp>
      <p:sp>
        <p:nvSpPr>
          <p:cNvPr id="135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矩阵乘法子函数</a:t>
            </a:r>
          </a:p>
        </p:txBody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234458"/>
            <a:ext cx="8062913" cy="50625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matrixMultiply</a:t>
            </a:r>
            <a:r>
              <a:rPr lang="en-US" altLang="zh-CN" sz="2000" dirty="0">
                <a:latin typeface="Consolas" panose="020B0609020204030204" pitchFamily="49" charset="0"/>
              </a:rPr>
              <a:t>(int </a:t>
            </a:r>
            <a:r>
              <a:rPr lang="en-US" altLang="zh-CN" sz="2000" dirty="0" err="1">
                <a:latin typeface="Consolas" panose="020B0609020204030204" pitchFamily="49" charset="0"/>
              </a:rPr>
              <a:t>matrix1</a:t>
            </a:r>
            <a:r>
              <a:rPr lang="en-US" altLang="zh-CN" sz="2000" dirty="0">
                <a:latin typeface="Consolas" panose="020B0609020204030204" pitchFamily="49" charset="0"/>
              </a:rPr>
              <a:t>[][</a:t>
            </a:r>
            <a:r>
              <a:rPr lang="en-US" altLang="zh-CN" sz="2000" dirty="0" err="1">
                <a:latin typeface="Consolas" panose="020B0609020204030204" pitchFamily="49" charset="0"/>
              </a:rPr>
              <a:t>COL1</a:t>
            </a:r>
            <a:r>
              <a:rPr lang="en-US" altLang="zh-CN" sz="2000" dirty="0">
                <a:latin typeface="Consolas" panose="020B0609020204030204" pitchFamily="49" charset="0"/>
              </a:rPr>
              <a:t>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rows1,int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cols1,int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matrix2</a:t>
            </a:r>
            <a:r>
              <a:rPr lang="en-US" altLang="zh-CN" sz="2000" dirty="0">
                <a:latin typeface="Consolas" panose="020B0609020204030204" pitchFamily="49" charset="0"/>
              </a:rPr>
              <a:t>[][</a:t>
            </a:r>
            <a:r>
              <a:rPr lang="en-US" altLang="zh-CN" sz="2000" dirty="0" err="1">
                <a:latin typeface="Consolas" panose="020B0609020204030204" pitchFamily="49" charset="0"/>
              </a:rPr>
              <a:t>COL2</a:t>
            </a:r>
            <a:r>
              <a:rPr lang="en-US" altLang="zh-CN" sz="2000" dirty="0">
                <a:latin typeface="Consolas" panose="020B0609020204030204" pitchFamily="49" charset="0"/>
              </a:rPr>
              <a:t>],int </a:t>
            </a:r>
            <a:r>
              <a:rPr lang="en-US" altLang="zh-CN" sz="2000" dirty="0" err="1">
                <a:latin typeface="Consolas" panose="020B0609020204030204" pitchFamily="49" charset="0"/>
              </a:rPr>
              <a:t>cols2</a:t>
            </a:r>
            <a:r>
              <a:rPr lang="en-US" altLang="zh-CN" sz="2000" dirty="0">
                <a:latin typeface="Consolas" panose="020B0609020204030204" pitchFamily="49" charset="0"/>
              </a:rPr>
              <a:t>,                                int result[][</a:t>
            </a:r>
            <a:r>
              <a:rPr lang="en-US" altLang="zh-CN" sz="2000" dirty="0" err="1">
                <a:latin typeface="Consolas" panose="020B0609020204030204" pitchFamily="49" charset="0"/>
              </a:rPr>
              <a:t>COL2</a:t>
            </a:r>
            <a:r>
              <a:rPr lang="en-US" altLang="zh-CN" sz="2000" dirty="0">
                <a:latin typeface="Consolas" panose="020B0609020204030204" pitchFamily="49" charset="0"/>
              </a:rPr>
              <a:t>])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i,j,k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>
                <a:latin typeface="Consolas" panose="020B0609020204030204" pitchFamily="49" charset="0"/>
              </a:rPr>
              <a:t>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 </a:t>
            </a:r>
            <a:r>
              <a:rPr lang="en-US" altLang="zh-CN" sz="2000" dirty="0" err="1">
                <a:latin typeface="Consolas" panose="020B0609020204030204" pitchFamily="49" charset="0"/>
              </a:rPr>
              <a:t>rows1</a:t>
            </a:r>
            <a:r>
              <a:rPr lang="en-US" altLang="zh-CN" sz="2000" dirty="0">
                <a:latin typeface="Consolas" panose="020B0609020204030204" pitchFamily="49" charset="0"/>
              </a:rPr>
              <a:t>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>
                <a:latin typeface="Consolas" panose="020B0609020204030204" pitchFamily="49" charset="0"/>
              </a:rPr>
              <a:t>for(j = 0; j &lt;</a:t>
            </a:r>
            <a:r>
              <a:rPr lang="en-US" altLang="zh-CN" sz="2000" dirty="0" err="1">
                <a:latin typeface="Consolas" panose="020B0609020204030204" pitchFamily="49" charset="0"/>
              </a:rPr>
              <a:t>cols2</a:t>
            </a:r>
            <a:r>
              <a:rPr lang="en-US" altLang="zh-CN" sz="2000" dirty="0">
                <a:latin typeface="Consolas" panose="020B0609020204030204" pitchFamily="49" charset="0"/>
              </a:rPr>
              <a:t>; </a:t>
            </a:r>
            <a:r>
              <a:rPr lang="en-US" altLang="zh-CN" sz="2000" dirty="0" err="1">
                <a:latin typeface="Consolas" panose="020B0609020204030204" pitchFamily="49" charset="0"/>
              </a:rPr>
              <a:t>j++</a:t>
            </a:r>
            <a:r>
              <a:rPr lang="en-US" altLang="zh-CN" sz="2000" dirty="0">
                <a:latin typeface="Consolas" panose="020B0609020204030204" pitchFamily="49" charset="0"/>
              </a:rPr>
              <a:t>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    result[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 =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for(k = 0; k &lt; </a:t>
            </a:r>
            <a:r>
              <a:rPr lang="en-US" altLang="zh-CN" sz="2000" dirty="0" err="1">
                <a:latin typeface="Consolas" panose="020B0609020204030204" pitchFamily="49" charset="0"/>
              </a:rPr>
              <a:t>cols1</a:t>
            </a:r>
            <a:r>
              <a:rPr lang="en-US" altLang="zh-CN" sz="2000" dirty="0">
                <a:latin typeface="Consolas" panose="020B0609020204030204" pitchFamily="49" charset="0"/>
              </a:rPr>
              <a:t>; k++)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result[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 += </a:t>
            </a:r>
            <a:r>
              <a:rPr lang="en-US" altLang="zh-CN" sz="2000" dirty="0" err="1">
                <a:latin typeface="Consolas" panose="020B0609020204030204" pitchFamily="49" charset="0"/>
              </a:rPr>
              <a:t>matrix1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][k] * </a:t>
            </a:r>
            <a:r>
              <a:rPr lang="en-US" altLang="zh-CN" sz="2000" dirty="0" err="1">
                <a:latin typeface="Consolas" panose="020B0609020204030204" pitchFamily="49" charset="0"/>
              </a:rPr>
              <a:t>matrix2</a:t>
            </a:r>
            <a:r>
              <a:rPr lang="en-US" altLang="zh-CN" sz="2000" dirty="0">
                <a:latin typeface="Consolas" panose="020B0609020204030204" pitchFamily="49" charset="0"/>
              </a:rPr>
              <a:t>[k][j];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E2F323-EDA4-4402-8DDB-E6A61842E590}" type="slidenum">
              <a:rPr lang="zh-CN" altLang="en-US" sz="1400" smtClean="0"/>
              <a:t>34</a:t>
            </a:fld>
            <a:endParaRPr lang="en-US" altLang="zh-CN" sz="1400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矩阵相乘</a:t>
            </a:r>
            <a:r>
              <a:rPr lang="en-US" altLang="zh-CN" dirty="0"/>
              <a:t>:</a:t>
            </a:r>
            <a:r>
              <a:rPr lang="zh-CN" altLang="en-US" dirty="0"/>
              <a:t>测试主程序</a:t>
            </a:r>
          </a:p>
        </p:txBody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97149"/>
            <a:ext cx="8496498" cy="505584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zh-CN" sz="1800" dirty="0">
                <a:latin typeface="Consolas" panose="020B0609020204030204" pitchFamily="49" charset="0"/>
              </a:rPr>
              <a:t>#include &lt;stdio.h&gt;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zh-CN" sz="1800" dirty="0">
                <a:latin typeface="Consolas" panose="020B0609020204030204" pitchFamily="49" charset="0"/>
              </a:rPr>
              <a:t>#define ROW1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zh-CN" sz="1800" dirty="0">
                <a:latin typeface="Consolas" panose="020B0609020204030204" pitchFamily="49" charset="0"/>
              </a:rPr>
              <a:t>#define COL1 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zh-CN" sz="1800" dirty="0">
                <a:latin typeface="Consolas" panose="020B0609020204030204" pitchFamily="49" charset="0"/>
              </a:rPr>
              <a:t>#define ROW2 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zh-CN" sz="1800" dirty="0">
                <a:latin typeface="Consolas" panose="020B0609020204030204" pitchFamily="49" charset="0"/>
              </a:rPr>
              <a:t>#define COL2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</a:t>
            </a:r>
            <a:r>
              <a:rPr lang="en-US" altLang="zh-CN" sz="1800" dirty="0" err="1">
                <a:latin typeface="Consolas" panose="020B0609020204030204" pitchFamily="49" charset="0"/>
              </a:rPr>
              <a:t>matrixMultiply</a:t>
            </a:r>
            <a:r>
              <a:rPr lang="en-US" altLang="zh-CN" sz="1800" dirty="0">
                <a:latin typeface="Consolas" panose="020B0609020204030204" pitchFamily="49" charset="0"/>
              </a:rPr>
              <a:t>(int </a:t>
            </a:r>
            <a:r>
              <a:rPr lang="en-US" altLang="zh-CN" sz="1800" dirty="0" err="1">
                <a:latin typeface="Consolas" panose="020B0609020204030204" pitchFamily="49" charset="0"/>
              </a:rPr>
              <a:t>matrix1</a:t>
            </a:r>
            <a:r>
              <a:rPr lang="en-US" altLang="zh-CN" sz="1800" dirty="0">
                <a:latin typeface="Consolas" panose="020B0609020204030204" pitchFamily="49" charset="0"/>
              </a:rPr>
              <a:t>[][</a:t>
            </a:r>
            <a:r>
              <a:rPr lang="en-US" altLang="zh-CN" sz="1800" dirty="0" err="1">
                <a:latin typeface="Consolas" panose="020B0609020204030204" pitchFamily="49" charset="0"/>
              </a:rPr>
              <a:t>COL1</a:t>
            </a:r>
            <a:r>
              <a:rPr lang="en-US" altLang="zh-CN" sz="1800" dirty="0">
                <a:latin typeface="Consolas" panose="020B0609020204030204" pitchFamily="49" charset="0"/>
              </a:rPr>
              <a:t>],</a:t>
            </a:r>
            <a:r>
              <a:rPr lang="en-US" altLang="zh-CN" sz="1800" dirty="0" err="1">
                <a:latin typeface="Consolas" panose="020B0609020204030204" pitchFamily="49" charset="0"/>
              </a:rPr>
              <a:t>int,int,int</a:t>
            </a:r>
            <a:r>
              <a:rPr lang="en-US" altLang="zh-CN" sz="1800" dirty="0"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</a:rPr>
              <a:t>matrix2</a:t>
            </a:r>
            <a:r>
              <a:rPr lang="en-US" altLang="zh-CN" sz="1800" dirty="0">
                <a:latin typeface="Consolas" panose="020B0609020204030204" pitchFamily="49" charset="0"/>
              </a:rPr>
              <a:t>[][</a:t>
            </a:r>
            <a:r>
              <a:rPr lang="en-US" altLang="zh-CN" sz="1800" dirty="0" err="1">
                <a:latin typeface="Consolas" panose="020B0609020204030204" pitchFamily="49" charset="0"/>
              </a:rPr>
              <a:t>COL2</a:t>
            </a:r>
            <a:r>
              <a:rPr lang="en-US" altLang="zh-CN" sz="1800" dirty="0">
                <a:latin typeface="Consolas" panose="020B0609020204030204" pitchFamily="49" charset="0"/>
              </a:rPr>
              <a:t>],</a:t>
            </a:r>
            <a:r>
              <a:rPr lang="en-US" altLang="zh-CN" sz="1800" dirty="0" err="1">
                <a:latin typeface="Consolas" panose="020B0609020204030204" pitchFamily="49" charset="0"/>
              </a:rPr>
              <a:t>int,int</a:t>
            </a:r>
            <a:r>
              <a:rPr lang="en-US" altLang="zh-CN" sz="1800" dirty="0">
                <a:latin typeface="Consolas" panose="020B0609020204030204" pitchFamily="49" charset="0"/>
              </a:rPr>
              <a:t> result[][</a:t>
            </a:r>
            <a:r>
              <a:rPr lang="en-US" altLang="zh-CN" sz="1800" dirty="0" err="1">
                <a:latin typeface="Consolas" panose="020B0609020204030204" pitchFamily="49" charset="0"/>
              </a:rPr>
              <a:t>COL2</a:t>
            </a:r>
            <a:r>
              <a:rPr lang="en-US" altLang="zh-CN" sz="18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</a:t>
            </a:r>
            <a:r>
              <a:rPr lang="en-US" altLang="zh-CN" sz="1800" dirty="0" err="1">
                <a:latin typeface="Consolas" panose="020B0609020204030204" pitchFamily="49" charset="0"/>
              </a:rPr>
              <a:t>inputMatrix1</a:t>
            </a:r>
            <a:r>
              <a:rPr lang="en-US" altLang="zh-CN" sz="1800" dirty="0">
                <a:latin typeface="Consolas" panose="020B0609020204030204" pitchFamily="49" charset="0"/>
              </a:rPr>
              <a:t>(int matrix[][</a:t>
            </a:r>
            <a:r>
              <a:rPr lang="en-US" altLang="zh-CN" sz="1800" dirty="0" err="1">
                <a:latin typeface="Consolas" panose="020B0609020204030204" pitchFamily="49" charset="0"/>
              </a:rPr>
              <a:t>COL1</a:t>
            </a:r>
            <a:r>
              <a:rPr lang="en-US" altLang="zh-CN" sz="1800" dirty="0">
                <a:latin typeface="Consolas" panose="020B0609020204030204" pitchFamily="49" charset="0"/>
              </a:rPr>
              <a:t>],</a:t>
            </a:r>
            <a:r>
              <a:rPr lang="en-US" altLang="zh-CN" sz="1800" dirty="0" err="1">
                <a:latin typeface="Consolas" panose="020B0609020204030204" pitchFamily="49" charset="0"/>
              </a:rPr>
              <a:t>int,int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</a:t>
            </a:r>
            <a:r>
              <a:rPr lang="en-US" altLang="zh-CN" sz="1800" dirty="0" err="1">
                <a:latin typeface="Consolas" panose="020B0609020204030204" pitchFamily="49" charset="0"/>
              </a:rPr>
              <a:t>inputMatrix2</a:t>
            </a:r>
            <a:r>
              <a:rPr lang="en-US" altLang="zh-CN" sz="1800" dirty="0">
                <a:latin typeface="Consolas" panose="020B0609020204030204" pitchFamily="49" charset="0"/>
              </a:rPr>
              <a:t>(int matrix[][</a:t>
            </a:r>
            <a:r>
              <a:rPr lang="en-US" altLang="zh-CN" sz="1800" dirty="0" err="1">
                <a:latin typeface="Consolas" panose="020B0609020204030204" pitchFamily="49" charset="0"/>
              </a:rPr>
              <a:t>COL2</a:t>
            </a:r>
            <a:r>
              <a:rPr lang="en-US" altLang="zh-CN" sz="1800" dirty="0">
                <a:latin typeface="Consolas" panose="020B0609020204030204" pitchFamily="49" charset="0"/>
              </a:rPr>
              <a:t>],</a:t>
            </a:r>
            <a:r>
              <a:rPr lang="en-US" altLang="zh-CN" sz="1800" dirty="0" err="1">
                <a:latin typeface="Consolas" panose="020B0609020204030204" pitchFamily="49" charset="0"/>
              </a:rPr>
              <a:t>int,int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altLang="zh-CN" sz="1800" dirty="0">
                <a:latin typeface="Consolas" panose="020B0609020204030204" pitchFamily="49" charset="0"/>
              </a:rPr>
              <a:t>void printMatrix3(int matrix[][COL2],int,int);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main(void){</a:t>
            </a:r>
            <a:endParaRPr lang="zh-CN" altLang="en-US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latin typeface="Consolas" panose="020B0609020204030204" pitchFamily="49" charset="0"/>
              </a:rPr>
              <a:t>matrix1</a:t>
            </a:r>
            <a:r>
              <a:rPr lang="en-US" altLang="zh-CN" sz="1800" dirty="0">
                <a:latin typeface="Consolas" panose="020B0609020204030204" pitchFamily="49" charset="0"/>
              </a:rPr>
              <a:t>[</a:t>
            </a:r>
            <a:r>
              <a:rPr lang="en-US" altLang="zh-CN" sz="1800" dirty="0" err="1">
                <a:latin typeface="Consolas" panose="020B0609020204030204" pitchFamily="49" charset="0"/>
              </a:rPr>
              <a:t>ROW1</a:t>
            </a:r>
            <a:r>
              <a:rPr lang="en-US" altLang="zh-CN" sz="1800" dirty="0">
                <a:latin typeface="Consolas" panose="020B0609020204030204" pitchFamily="49" charset="0"/>
              </a:rPr>
              <a:t>][</a:t>
            </a:r>
            <a:r>
              <a:rPr lang="en-US" altLang="zh-CN" sz="1800" dirty="0" err="1">
                <a:latin typeface="Consolas" panose="020B0609020204030204" pitchFamily="49" charset="0"/>
              </a:rPr>
              <a:t>COL1</a:t>
            </a:r>
            <a:r>
              <a:rPr lang="en-US" altLang="zh-CN" sz="1800" dirty="0">
                <a:latin typeface="Consolas" panose="020B0609020204030204" pitchFamily="49" charset="0"/>
              </a:rPr>
              <a:t>], </a:t>
            </a:r>
            <a:r>
              <a:rPr lang="en-US" altLang="zh-CN" sz="1800" dirty="0" err="1">
                <a:latin typeface="Consolas" panose="020B0609020204030204" pitchFamily="49" charset="0"/>
              </a:rPr>
              <a:t>matrix2</a:t>
            </a:r>
            <a:r>
              <a:rPr lang="en-US" altLang="zh-CN" sz="1800" dirty="0">
                <a:latin typeface="Consolas" panose="020B0609020204030204" pitchFamily="49" charset="0"/>
              </a:rPr>
              <a:t>[</a:t>
            </a:r>
            <a:r>
              <a:rPr lang="en-US" altLang="zh-CN" sz="1800" dirty="0" err="1">
                <a:latin typeface="Consolas" panose="020B0609020204030204" pitchFamily="49" charset="0"/>
              </a:rPr>
              <a:t>ROW2</a:t>
            </a:r>
            <a:r>
              <a:rPr lang="en-US" altLang="zh-CN" sz="1800" dirty="0">
                <a:latin typeface="Consolas" panose="020B0609020204030204" pitchFamily="49" charset="0"/>
              </a:rPr>
              <a:t>][</a:t>
            </a:r>
            <a:r>
              <a:rPr lang="en-US" altLang="zh-CN" sz="1800" dirty="0" err="1">
                <a:latin typeface="Consolas" panose="020B0609020204030204" pitchFamily="49" charset="0"/>
              </a:rPr>
              <a:t>COL2</a:t>
            </a:r>
            <a:r>
              <a:rPr lang="en-US" altLang="zh-CN" sz="1800" dirty="0">
                <a:latin typeface="Consolas" panose="020B0609020204030204" pitchFamily="49" charset="0"/>
              </a:rPr>
              <a:t>],result[</a:t>
            </a:r>
            <a:r>
              <a:rPr lang="en-US" altLang="zh-CN" sz="1800" dirty="0" err="1">
                <a:latin typeface="Consolas" panose="020B0609020204030204" pitchFamily="49" charset="0"/>
              </a:rPr>
              <a:t>ROW1</a:t>
            </a:r>
            <a:r>
              <a:rPr lang="en-US" altLang="zh-CN" sz="1800" dirty="0">
                <a:latin typeface="Consolas" panose="020B0609020204030204" pitchFamily="49" charset="0"/>
              </a:rPr>
              <a:t>][</a:t>
            </a:r>
            <a:r>
              <a:rPr lang="en-US" altLang="zh-CN" sz="1800" dirty="0" err="1">
                <a:latin typeface="Consolas" panose="020B0609020204030204" pitchFamily="49" charset="0"/>
              </a:rPr>
              <a:t>COL2</a:t>
            </a:r>
            <a:r>
              <a:rPr lang="en-US" altLang="zh-CN" sz="1800" dirty="0">
                <a:latin typeface="Consolas" panose="020B0609020204030204" pitchFamily="49" charset="0"/>
              </a:rPr>
              <a:t>];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("Input matrix 1(%d rows %d cols):\n",</a:t>
            </a:r>
            <a:r>
              <a:rPr lang="en-US" altLang="zh-CN" sz="1800" dirty="0" err="1">
                <a:latin typeface="Consolas" panose="020B0609020204030204" pitchFamily="49" charset="0"/>
              </a:rPr>
              <a:t>ROW1,COL1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inputMatrix1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matrix1,ROW1,COL1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("Input matrix 2(%d rows %d cols):\n",</a:t>
            </a:r>
            <a:r>
              <a:rPr lang="en-US" altLang="zh-CN" sz="1800" dirty="0" err="1">
                <a:latin typeface="Consolas" panose="020B0609020204030204" pitchFamily="49" charset="0"/>
              </a:rPr>
              <a:t>ROW2,COL2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inputMatrix2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matrix2,ROW2,COL2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matrixMultiply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matrix1,ROW1,COL1,matrix2,COL2,result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  <a:endParaRPr lang="zh-CN" altLang="en-US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</a:t>
            </a:r>
            <a:r>
              <a:rPr lang="en-US" altLang="zh-CN" sz="1800" dirty="0" err="1">
                <a:latin typeface="Consolas" panose="020B0609020204030204" pitchFamily="49" charset="0"/>
              </a:rPr>
              <a:t>matrix1</a:t>
            </a:r>
            <a:r>
              <a:rPr lang="en-US" altLang="zh-CN" sz="1800" dirty="0">
                <a:latin typeface="Consolas" panose="020B0609020204030204" pitchFamily="49" charset="0"/>
              </a:rPr>
              <a:t>*</a:t>
            </a:r>
            <a:r>
              <a:rPr lang="en-US" altLang="zh-CN" sz="1800" dirty="0" err="1">
                <a:latin typeface="Consolas" panose="020B0609020204030204" pitchFamily="49" charset="0"/>
              </a:rPr>
              <a:t>matrix2</a:t>
            </a:r>
            <a:r>
              <a:rPr lang="en-US" altLang="zh-CN" sz="1800" dirty="0">
                <a:latin typeface="Consolas" panose="020B0609020204030204" pitchFamily="49" charset="0"/>
              </a:rPr>
              <a:t>=\n");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printMatrix3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result,ROW1,COL2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08C46E-A3B4-4DFC-B8CA-36A512FC7579}" type="slidenum">
              <a:rPr lang="zh-CN" altLang="en-US" sz="1400" smtClean="0"/>
              <a:t>35</a:t>
            </a:fld>
            <a:endParaRPr lang="en-US" altLang="zh-CN" sz="1400"/>
          </a:p>
        </p:txBody>
      </p:sp>
      <p:sp>
        <p:nvSpPr>
          <p:cNvPr id="145411" name="Rectangle 4"/>
          <p:cNvSpPr>
            <a:spLocks noChangeArrowheads="1"/>
          </p:cNvSpPr>
          <p:nvPr/>
        </p:nvSpPr>
        <p:spPr bwMode="auto">
          <a:xfrm>
            <a:off x="323850" y="1447800"/>
            <a:ext cx="82867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kumimoji="0" lang="zh-CN" altLang="en-US" b="1" dirty="0"/>
              <a:t>	例</a:t>
            </a:r>
            <a:r>
              <a:rPr kumimoji="0" lang="en-US" altLang="zh-CN" b="1" dirty="0"/>
              <a:t>3</a:t>
            </a:r>
            <a:r>
              <a:rPr kumimoji="0" lang="zh-CN" altLang="en-US" b="1" dirty="0"/>
              <a:t>：找矩阵[</a:t>
            </a:r>
            <a:r>
              <a:rPr kumimoji="0" lang="en-US" altLang="zh-CN" b="1" dirty="0"/>
              <a:t>M*N]</a:t>
            </a:r>
            <a:r>
              <a:rPr kumimoji="0" lang="zh-CN" altLang="en-US" b="1" dirty="0"/>
              <a:t>中的鞍点。即查找矩阵中的元素，该元素为所在行的最大值，并且也是所在列中的最小值。</a:t>
            </a:r>
          </a:p>
        </p:txBody>
      </p:sp>
      <p:sp>
        <p:nvSpPr>
          <p:cNvPr id="145412" name="Rectangle 5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3200" b="1" dirty="0">
                <a:sym typeface="+mn-ea"/>
              </a:rPr>
              <a:t>例</a:t>
            </a:r>
            <a:r>
              <a:rPr kumimoji="0" lang="en-US" altLang="zh-CN" sz="3200" b="1" dirty="0">
                <a:sym typeface="+mn-ea"/>
              </a:rPr>
              <a:t>3</a:t>
            </a:r>
            <a:r>
              <a:rPr kumimoji="0" lang="zh-CN" altLang="en-US" sz="3200" b="1" dirty="0">
                <a:sym typeface="+mn-ea"/>
              </a:rPr>
              <a:t>：找矩阵鞍点</a:t>
            </a:r>
            <a:endParaRPr sz="3200"/>
          </a:p>
        </p:txBody>
      </p:sp>
      <p:sp>
        <p:nvSpPr>
          <p:cNvPr id="145413" name="Text Box 6"/>
          <p:cNvSpPr txBox="1">
            <a:spLocks noChangeArrowheads="1"/>
          </p:cNvSpPr>
          <p:nvPr/>
        </p:nvSpPr>
        <p:spPr bwMode="auto">
          <a:xfrm>
            <a:off x="1476375" y="2636838"/>
            <a:ext cx="4535488" cy="333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4" eaLnBrk="1" hangingPunct="1">
              <a:buFontTx/>
              <a:buNone/>
            </a:pPr>
            <a:r>
              <a:rPr lang="en-US" altLang="zh-CN" b="1"/>
              <a:t>                    {34,56,23,15,66}</a:t>
            </a:r>
          </a:p>
          <a:p>
            <a:pPr eaLnBrk="1" hangingPunct="1">
              <a:buFontTx/>
              <a:buNone/>
            </a:pPr>
            <a:r>
              <a:rPr lang="en-US" altLang="zh-CN" b="1"/>
              <a:t>                    {16,</a:t>
            </a:r>
            <a:r>
              <a:rPr lang="en-US" altLang="zh-CN" b="1">
                <a:solidFill>
                  <a:srgbClr val="FF0000"/>
                </a:solidFill>
              </a:rPr>
              <a:t>54</a:t>
            </a:r>
            <a:r>
              <a:rPr lang="en-US" altLang="zh-CN" b="1"/>
              <a:t>,24,45,36}</a:t>
            </a:r>
          </a:p>
          <a:p>
            <a:pPr eaLnBrk="1" hangingPunct="1">
              <a:buFontTx/>
              <a:buNone/>
            </a:pPr>
            <a:r>
              <a:rPr lang="en-US" altLang="zh-CN" b="1"/>
              <a:t>                    {75,83,35,67,28}</a:t>
            </a:r>
          </a:p>
          <a:p>
            <a:pPr eaLnBrk="1" hangingPunct="1">
              <a:buFontTx/>
              <a:buNone/>
            </a:pPr>
            <a:r>
              <a:rPr lang="en-US" altLang="zh-CN" b="1"/>
              <a:t>                    {92,59,32,35,18}</a:t>
            </a:r>
          </a:p>
          <a:p>
            <a:pPr eaLnBrk="1" hangingPunct="1">
              <a:buFontTx/>
              <a:buNone/>
            </a:pPr>
            <a:r>
              <a:rPr lang="en-US" altLang="zh-CN" b="1"/>
              <a:t>                    {44,55,33,88,77}</a:t>
            </a:r>
            <a:endParaRPr lang="zh-CN" altLang="en-US" b="1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/>
          </a:p>
        </p:txBody>
      </p:sp>
      <p:sp>
        <p:nvSpPr>
          <p:cNvPr id="145414" name="AutoShape 7"/>
          <p:cNvSpPr>
            <a:spLocks noChangeArrowheads="1"/>
          </p:cNvSpPr>
          <p:nvPr/>
        </p:nvSpPr>
        <p:spPr bwMode="auto">
          <a:xfrm>
            <a:off x="1692275" y="3716338"/>
            <a:ext cx="1008063" cy="576262"/>
          </a:xfrm>
          <a:prstGeom prst="wedgeRoundRectCallout">
            <a:avLst>
              <a:gd name="adj1" fmla="val 190944"/>
              <a:gd name="adj2" fmla="val -96005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400" b="1"/>
              <a:t>鞍点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8E6955-3FD0-4DA7-8DD8-3E644D59DFED}" type="slidenum">
              <a:rPr lang="zh-CN" altLang="en-US" sz="1400" smtClean="0"/>
              <a:t>36</a:t>
            </a:fld>
            <a:endParaRPr lang="en-US" altLang="zh-CN" sz="1400"/>
          </a:p>
        </p:txBody>
      </p:sp>
      <p:sp>
        <p:nvSpPr>
          <p:cNvPr id="146435" name="Rectangle 4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3200" b="1" dirty="0">
                <a:sym typeface="+mn-ea"/>
              </a:rPr>
              <a:t>例</a:t>
            </a:r>
            <a:r>
              <a:rPr kumimoji="0" lang="en-US" altLang="zh-CN" sz="3200" b="1" dirty="0">
                <a:sym typeface="+mn-ea"/>
              </a:rPr>
              <a:t>3</a:t>
            </a:r>
            <a:r>
              <a:rPr kumimoji="0" lang="zh-CN" altLang="en-US" sz="3200" b="1" dirty="0">
                <a:sym typeface="+mn-ea"/>
              </a:rPr>
              <a:t>：找矩阵鞍点</a:t>
            </a:r>
          </a:p>
        </p:txBody>
      </p:sp>
      <p:graphicFrame>
        <p:nvGraphicFramePr>
          <p:cNvPr id="146436" name="Object 5"/>
          <p:cNvGraphicFramePr>
            <a:graphicFrameLocks noChangeAspect="1"/>
          </p:cNvGraphicFramePr>
          <p:nvPr/>
        </p:nvGraphicFramePr>
        <p:xfrm>
          <a:off x="1476375" y="1196975"/>
          <a:ext cx="6480175" cy="438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94630" imgH="3589655" progId="Visio.Drawing.11">
                  <p:embed/>
                </p:oleObj>
              </mc:Choice>
              <mc:Fallback>
                <p:oleObj name="Visio" r:id="rId2" imgW="5294630" imgH="358965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196975"/>
                        <a:ext cx="6480175" cy="438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7" name="Text Box 6"/>
          <p:cNvSpPr txBox="1">
            <a:spLocks noChangeArrowheads="1"/>
          </p:cNvSpPr>
          <p:nvPr/>
        </p:nvSpPr>
        <p:spPr bwMode="auto">
          <a:xfrm>
            <a:off x="395288" y="5734050"/>
            <a:ext cx="8137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/>
              <a:t>设计要点：设计函数</a:t>
            </a:r>
            <a:r>
              <a:rPr lang="en-US" altLang="zh-CN" sz="2000"/>
              <a:t>findRowMax,</a:t>
            </a:r>
            <a:r>
              <a:rPr lang="zh-CN" altLang="en-US" sz="2000"/>
              <a:t>返回某行最大元素所在的列号；设计函数</a:t>
            </a:r>
            <a:r>
              <a:rPr lang="en-US" altLang="zh-CN" sz="2000"/>
              <a:t>findColMin</a:t>
            </a:r>
            <a:r>
              <a:rPr lang="zh-CN" altLang="en-US" sz="2000"/>
              <a:t>，返回某列最小元素所在行号；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585FE9-4727-4170-AD7B-D0B17D695E3E}" type="slidenum">
              <a:rPr lang="zh-CN" altLang="en-US" sz="1400" smtClean="0"/>
              <a:t>37</a:t>
            </a:fld>
            <a:endParaRPr lang="en-US" altLang="zh-CN" sz="1400"/>
          </a:p>
        </p:txBody>
      </p:sp>
      <p:sp>
        <p:nvSpPr>
          <p:cNvPr id="148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ym typeface="+mn-ea"/>
              </a:rPr>
              <a:t>找行最大值位置的子程序</a:t>
            </a:r>
          </a:p>
        </p:txBody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/* </a:t>
            </a:r>
            <a:r>
              <a:rPr lang="zh-CN" altLang="en-US" sz="2400" b="1" dirty="0"/>
              <a:t>函数功能：找数组中的最大值元素，并返回其下标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   参数说明：数组名，数组中已存放元素的个数*</a:t>
            </a:r>
            <a:r>
              <a:rPr lang="en-US" altLang="zh-CN" sz="2400" b="1" dirty="0"/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调用语句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findRowMax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(matrix[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],cols);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findRowMax</a:t>
            </a:r>
            <a:r>
              <a:rPr lang="en-US" altLang="zh-CN" sz="2400" dirty="0">
                <a:latin typeface="Consolas" panose="020B0609020204030204" pitchFamily="49" charset="0"/>
              </a:rPr>
              <a:t>(int </a:t>
            </a:r>
            <a:r>
              <a:rPr lang="en-US" altLang="zh-CN" sz="2400" dirty="0" err="1">
                <a:latin typeface="Consolas" panose="020B0609020204030204" pitchFamily="49" charset="0"/>
              </a:rPr>
              <a:t>theRow</a:t>
            </a:r>
            <a:r>
              <a:rPr lang="en-US" altLang="zh-CN" sz="2400" dirty="0">
                <a:latin typeface="Consolas" panose="020B0609020204030204" pitchFamily="49" charset="0"/>
              </a:rPr>
              <a:t>[], int cols)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j, </a:t>
            </a:r>
            <a:r>
              <a:rPr lang="en-US" altLang="zh-CN" sz="2400" dirty="0" err="1">
                <a:latin typeface="Consolas" panose="020B0609020204030204" pitchFamily="49" charset="0"/>
              </a:rPr>
              <a:t>maxLoc</a:t>
            </a:r>
            <a:r>
              <a:rPr lang="en-US" altLang="zh-CN" sz="2400" dirty="0">
                <a:latin typeface="Consolas" panose="020B0609020204030204" pitchFamily="49" charset="0"/>
              </a:rPr>
              <a:t>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for (j=1; j&lt; cols; </a:t>
            </a:r>
            <a:r>
              <a:rPr lang="en-US" altLang="zh-CN" sz="2400" dirty="0" err="1">
                <a:latin typeface="Consolas" panose="020B0609020204030204" pitchFamily="49" charset="0"/>
              </a:rPr>
              <a:t>j++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if (</a:t>
            </a:r>
            <a:r>
              <a:rPr lang="en-US" altLang="zh-CN" sz="2400" dirty="0" err="1">
                <a:latin typeface="Consolas" panose="020B0609020204030204" pitchFamily="49" charset="0"/>
              </a:rPr>
              <a:t>theRow</a:t>
            </a:r>
            <a:r>
              <a:rPr lang="en-US" altLang="zh-CN" sz="2400" dirty="0">
                <a:latin typeface="Consolas" panose="020B0609020204030204" pitchFamily="49" charset="0"/>
              </a:rPr>
              <a:t>[j] &gt; </a:t>
            </a:r>
            <a:r>
              <a:rPr lang="en-US" altLang="zh-CN" sz="2400" dirty="0" err="1">
                <a:latin typeface="Consolas" panose="020B0609020204030204" pitchFamily="49" charset="0"/>
              </a:rPr>
              <a:t>theRow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maxLoc</a:t>
            </a:r>
            <a:r>
              <a:rPr lang="en-US" altLang="zh-CN" sz="2400" dirty="0">
                <a:latin typeface="Consolas" panose="020B0609020204030204" pitchFamily="49" charset="0"/>
              </a:rPr>
              <a:t>])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  </a:t>
            </a:r>
            <a:r>
              <a:rPr lang="en-US" altLang="zh-CN" sz="2400" dirty="0" err="1">
                <a:latin typeface="Consolas" panose="020B0609020204030204" pitchFamily="49" charset="0"/>
              </a:rPr>
              <a:t>maxLoc</a:t>
            </a:r>
            <a:r>
              <a:rPr lang="en-US" altLang="zh-CN" sz="2400" dirty="0">
                <a:latin typeface="Consolas" panose="020B0609020204030204" pitchFamily="49" charset="0"/>
              </a:rPr>
              <a:t> = j;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return </a:t>
            </a:r>
            <a:r>
              <a:rPr lang="en-US" altLang="zh-CN" sz="2400" dirty="0" err="1">
                <a:latin typeface="Consolas" panose="020B0609020204030204" pitchFamily="49" charset="0"/>
              </a:rPr>
              <a:t>maxLoc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D9AE41-3F73-4FCC-9AB7-A29DEA067B7C}" type="slidenum">
              <a:rPr lang="zh-CN" altLang="en-US" sz="1400" smtClean="0"/>
              <a:t>38</a:t>
            </a:fld>
            <a:endParaRPr lang="en-US" altLang="zh-CN" sz="1400"/>
          </a:p>
        </p:txBody>
      </p:sp>
      <p:sp>
        <p:nvSpPr>
          <p:cNvPr id="149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ym typeface="+mn-ea"/>
              </a:rPr>
              <a:t>找列最小值位置的子程序</a:t>
            </a:r>
          </a:p>
        </p:txBody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19213"/>
            <a:ext cx="8856538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 dirty="0"/>
              <a:t>/* </a:t>
            </a:r>
            <a:r>
              <a:rPr lang="zh-CN" altLang="en-US" sz="2200" b="1" dirty="0"/>
              <a:t>函数功能：求</a:t>
            </a:r>
            <a:r>
              <a:rPr lang="en-US" altLang="zh-CN" sz="2200" b="1" dirty="0"/>
              <a:t>col</a:t>
            </a:r>
            <a:r>
              <a:rPr lang="zh-CN" altLang="en-US" sz="2200" b="1" dirty="0"/>
              <a:t>列最小值所在下标并返回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200" b="1" dirty="0"/>
              <a:t>  参数说明：数组名，数组行数，要查找的列*</a:t>
            </a:r>
            <a:r>
              <a:rPr lang="en-US" altLang="zh-CN" sz="2200" b="1" dirty="0"/>
              <a:t>/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200" dirty="0">
                <a:solidFill>
                  <a:srgbClr val="0070C0"/>
                </a:solidFill>
                <a:latin typeface="Consolas" panose="020B0609020204030204" pitchFamily="49" charset="0"/>
                <a:sym typeface="+mn-ea"/>
              </a:rPr>
              <a:t>调用语句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sym typeface="+mn-ea"/>
              </a:rPr>
              <a:t>: </a:t>
            </a:r>
            <a:r>
              <a:rPr lang="en-US" altLang="zh-CN" sz="2200" dirty="0" err="1">
                <a:solidFill>
                  <a:srgbClr val="0070C0"/>
                </a:solidFill>
                <a:latin typeface="Consolas" panose="020B0609020204030204" pitchFamily="49" charset="0"/>
                <a:sym typeface="+mn-ea"/>
              </a:rPr>
              <a:t>findColMin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sym typeface="+mn-ea"/>
              </a:rPr>
              <a:t>(</a:t>
            </a:r>
            <a:r>
              <a:rPr lang="en-US" altLang="zh-CN" sz="2200" dirty="0" err="1">
                <a:solidFill>
                  <a:srgbClr val="0070C0"/>
                </a:solidFill>
                <a:latin typeface="Consolas" panose="020B0609020204030204" pitchFamily="49" charset="0"/>
                <a:sym typeface="+mn-ea"/>
              </a:rPr>
              <a:t>matrix,rows,i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sym typeface="+mn-ea"/>
              </a:rPr>
              <a:t>);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int </a:t>
            </a:r>
            <a:r>
              <a:rPr lang="en-US" altLang="zh-CN" sz="2200" dirty="0" err="1">
                <a:latin typeface="Consolas" panose="020B0609020204030204" pitchFamily="49" charset="0"/>
              </a:rPr>
              <a:t>findColMin</a:t>
            </a:r>
            <a:r>
              <a:rPr lang="en-US" altLang="zh-CN" sz="2200" dirty="0">
                <a:latin typeface="Consolas" panose="020B0609020204030204" pitchFamily="49" charset="0"/>
              </a:rPr>
              <a:t>(int matrix[][COLS], int </a:t>
            </a:r>
            <a:r>
              <a:rPr lang="en-US" altLang="zh-CN" sz="2200" dirty="0" err="1">
                <a:latin typeface="Consolas" panose="020B0609020204030204" pitchFamily="49" charset="0"/>
              </a:rPr>
              <a:t>rows,int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</a:rPr>
              <a:t>theCol</a:t>
            </a:r>
            <a:r>
              <a:rPr lang="en-US" altLang="zh-CN" sz="22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int </a:t>
            </a:r>
            <a:r>
              <a:rPr lang="en-US" altLang="zh-CN" sz="2200" dirty="0" err="1">
                <a:latin typeface="Consolas" panose="020B0609020204030204" pitchFamily="49" charset="0"/>
              </a:rPr>
              <a:t>i,minRow</a:t>
            </a:r>
            <a:r>
              <a:rPr lang="en-US" altLang="zh-CN" sz="2200" dirty="0">
                <a:latin typeface="Consolas" panose="020B0609020204030204" pitchFamily="49" charset="0"/>
              </a:rPr>
              <a:t>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for (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=1;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 &lt; rows;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if (matrix[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][</a:t>
            </a:r>
            <a:r>
              <a:rPr lang="en-US" altLang="zh-CN" sz="2200" dirty="0" err="1">
                <a:latin typeface="Consolas" panose="020B0609020204030204" pitchFamily="49" charset="0"/>
              </a:rPr>
              <a:t>theCol</a:t>
            </a:r>
            <a:r>
              <a:rPr lang="en-US" altLang="zh-CN" sz="2200" dirty="0">
                <a:latin typeface="Consolas" panose="020B0609020204030204" pitchFamily="49" charset="0"/>
              </a:rPr>
              <a:t>] &lt; matrix[</a:t>
            </a:r>
            <a:r>
              <a:rPr lang="en-US" altLang="zh-CN" sz="2200" dirty="0" err="1">
                <a:latin typeface="Consolas" panose="020B0609020204030204" pitchFamily="49" charset="0"/>
              </a:rPr>
              <a:t>minRow</a:t>
            </a:r>
            <a:r>
              <a:rPr lang="en-US" altLang="zh-CN" sz="2200" dirty="0">
                <a:latin typeface="Consolas" panose="020B0609020204030204" pitchFamily="49" charset="0"/>
              </a:rPr>
              <a:t>][</a:t>
            </a:r>
            <a:r>
              <a:rPr lang="en-US" altLang="zh-CN" sz="2200" dirty="0" err="1">
                <a:latin typeface="Consolas" panose="020B0609020204030204" pitchFamily="49" charset="0"/>
              </a:rPr>
              <a:t>theCol</a:t>
            </a:r>
            <a:r>
              <a:rPr lang="en-US" altLang="zh-CN" sz="2200" dirty="0">
                <a:latin typeface="Consolas" panose="020B0609020204030204" pitchFamily="49" charset="0"/>
              </a:rPr>
              <a:t>])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		</a:t>
            </a:r>
            <a:r>
              <a:rPr lang="en-US" altLang="zh-CN" sz="2200" dirty="0" err="1">
                <a:latin typeface="Consolas" panose="020B0609020204030204" pitchFamily="49" charset="0"/>
              </a:rPr>
              <a:t>minRow</a:t>
            </a:r>
            <a:r>
              <a:rPr lang="en-US" altLang="zh-CN" sz="2200" dirty="0">
                <a:latin typeface="Consolas" panose="020B0609020204030204" pitchFamily="49" charset="0"/>
              </a:rPr>
              <a:t> =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return </a:t>
            </a:r>
            <a:r>
              <a:rPr lang="en-US" altLang="zh-CN" sz="2200" dirty="0" err="1">
                <a:latin typeface="Consolas" panose="020B0609020204030204" pitchFamily="49" charset="0"/>
              </a:rPr>
              <a:t>minRow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 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42A78C-C6BB-447C-AA1E-05E8695325CD}" type="slidenum">
              <a:rPr lang="zh-CN" altLang="en-US" sz="1400" smtClean="0"/>
              <a:t>39</a:t>
            </a:fld>
            <a:endParaRPr lang="en-US" altLang="zh-CN" sz="1400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矩阵输入子函数</a:t>
            </a: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18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inputMatrix</a:t>
            </a:r>
            <a:r>
              <a:rPr lang="en-US" altLang="zh-CN" sz="2400" dirty="0">
                <a:latin typeface="Consolas" panose="020B0609020204030204" pitchFamily="49" charset="0"/>
              </a:rPr>
              <a:t>(int matrix[][COLS],int </a:t>
            </a:r>
            <a:r>
              <a:rPr lang="en-US" altLang="zh-CN" sz="2400" dirty="0" err="1">
                <a:latin typeface="Consolas" panose="020B0609020204030204" pitchFamily="49" charset="0"/>
              </a:rPr>
              <a:t>rows,int</a:t>
            </a:r>
            <a:r>
              <a:rPr lang="en-US" altLang="zh-CN" sz="2400" dirty="0">
                <a:latin typeface="Consolas" panose="020B0609020204030204" pitchFamily="49" charset="0"/>
              </a:rPr>
              <a:t> cols)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i,j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= 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&lt; rows;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for(j = 0; j &lt; cols; </a:t>
            </a:r>
            <a:r>
              <a:rPr lang="en-US" altLang="zh-CN" sz="2400" dirty="0" err="1">
                <a:latin typeface="Consolas" panose="020B0609020204030204" pitchFamily="49" charset="0"/>
              </a:rPr>
              <a:t>j++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d",&amp;matrix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][j]);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44232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2575FD-15D5-4056-BB22-EE3F492AADDA}" type="slidenum">
              <a:rPr lang="zh-CN" altLang="en-US" sz="1400" smtClean="0"/>
              <a:t>40</a:t>
            </a:fld>
            <a:endParaRPr lang="en-US" altLang="zh-CN" sz="1400"/>
          </a:p>
        </p:txBody>
      </p:sp>
      <p:sp>
        <p:nvSpPr>
          <p:cNvPr id="150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ym typeface="+mn-ea"/>
              </a:rPr>
              <a:t>找矩阵鞍点的主程序</a:t>
            </a:r>
            <a:r>
              <a:rPr kumimoji="0" lang="en-US" altLang="zh-CN" b="1" dirty="0">
                <a:sym typeface="+mn-ea"/>
              </a:rPr>
              <a:t>(1)</a:t>
            </a:r>
            <a:endParaRPr kumimoji="0" lang="zh-CN" altLang="en-US" b="1" dirty="0">
              <a:sym typeface="+mn-ea"/>
            </a:endParaRPr>
          </a:p>
        </p:txBody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196975"/>
            <a:ext cx="8280400" cy="52562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ROWS 100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COLS 100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inputMatrix</a:t>
            </a:r>
            <a:r>
              <a:rPr lang="en-US" altLang="zh-CN" sz="2000" dirty="0">
                <a:latin typeface="Consolas" panose="020B0609020204030204" pitchFamily="49" charset="0"/>
              </a:rPr>
              <a:t>(int matrix[][COLS],int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rows,int</a:t>
            </a:r>
            <a:r>
              <a:rPr lang="en-US" altLang="zh-CN" sz="2000" dirty="0">
                <a:latin typeface="Consolas" panose="020B0609020204030204" pitchFamily="49" charset="0"/>
              </a:rPr>
              <a:t> cols);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findRowMax</a:t>
            </a:r>
            <a:r>
              <a:rPr lang="en-US" altLang="zh-CN" sz="2000" dirty="0">
                <a:latin typeface="Consolas" panose="020B0609020204030204" pitchFamily="49" charset="0"/>
              </a:rPr>
              <a:t>(int </a:t>
            </a:r>
            <a:r>
              <a:rPr lang="en-US" altLang="zh-CN" sz="2000" dirty="0" err="1">
                <a:latin typeface="Consolas" panose="020B0609020204030204" pitchFamily="49" charset="0"/>
              </a:rPr>
              <a:t>theRow</a:t>
            </a:r>
            <a:r>
              <a:rPr lang="en-US" altLang="zh-CN" sz="2000" dirty="0">
                <a:latin typeface="Consolas" panose="020B0609020204030204" pitchFamily="49" charset="0"/>
              </a:rPr>
              <a:t>[], int rows);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findColMin</a:t>
            </a:r>
            <a:r>
              <a:rPr lang="en-US" altLang="zh-CN" sz="2000" dirty="0">
                <a:latin typeface="Consolas" panose="020B0609020204030204" pitchFamily="49" charset="0"/>
              </a:rPr>
              <a:t>(int matrix[][COLS],</a:t>
            </a:r>
            <a:r>
              <a:rPr lang="en-US" altLang="zh-CN" sz="2000" dirty="0" err="1">
                <a:latin typeface="Consolas" panose="020B0609020204030204" pitchFamily="49" charset="0"/>
              </a:rPr>
              <a:t>int,int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matrix[ROWS][COLS];//</a:t>
            </a:r>
            <a:r>
              <a:rPr lang="zh-CN" altLang="en-US" sz="2000" dirty="0">
                <a:latin typeface="Consolas" panose="020B0609020204030204" pitchFamily="49" charset="0"/>
              </a:rPr>
              <a:t>将矩阵开到最大</a:t>
            </a:r>
            <a:endParaRPr lang="zh-CN" altLang="en-US" sz="2000" dirty="0">
              <a:solidFill>
                <a:srgbClr val="003399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latin typeface="Consolas" panose="020B0609020204030204" pitchFamily="49" charset="0"/>
              </a:rPr>
              <a:t>int found;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i,j,minRow,maxCol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	  int </a:t>
            </a:r>
            <a:r>
              <a:rPr lang="en-US" altLang="zh-CN" sz="2000" dirty="0" err="1">
                <a:latin typeface="Consolas" panose="020B0609020204030204" pitchFamily="49" charset="0"/>
              </a:rPr>
              <a:t>n,m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d%d</a:t>
            </a:r>
            <a:r>
              <a:rPr lang="en-US" altLang="zh-CN" sz="2000" dirty="0">
                <a:latin typeface="Consolas" panose="020B0609020204030204" pitchFamily="49" charset="0"/>
              </a:rPr>
              <a:t>",&amp;</a:t>
            </a:r>
            <a:r>
              <a:rPr lang="en-US" altLang="zh-CN" sz="2000" dirty="0" err="1">
                <a:latin typeface="Consolas" panose="020B0609020204030204" pitchFamily="49" charset="0"/>
              </a:rPr>
              <a:t>n,&amp;m</a:t>
            </a:r>
            <a:r>
              <a:rPr lang="en-US" altLang="zh-CN" sz="2000" dirty="0">
                <a:latin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inputMatrix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matrix,n,m</a:t>
            </a:r>
            <a:r>
              <a:rPr lang="en-US" altLang="zh-CN" sz="2000" dirty="0">
                <a:latin typeface="Consolas" panose="020B0609020204030204" pitchFamily="49" charset="0"/>
              </a:rPr>
              <a:t>);//</a:t>
            </a:r>
            <a:r>
              <a:rPr lang="zh-CN" altLang="en-US" sz="2000" dirty="0">
                <a:latin typeface="Consolas" panose="020B0609020204030204" pitchFamily="49" charset="0"/>
              </a:rPr>
              <a:t>根据需要设定行、列边界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64A1F0-1822-4F7A-990C-4651F44ADBDE}" type="slidenum">
              <a:rPr lang="zh-CN" altLang="en-US" sz="1400" smtClean="0"/>
              <a:t>41</a:t>
            </a:fld>
            <a:endParaRPr lang="en-US" altLang="zh-CN" sz="1400"/>
          </a:p>
        </p:txBody>
      </p:sp>
      <p:sp>
        <p:nvSpPr>
          <p:cNvPr id="151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ym typeface="+mn-ea"/>
              </a:rPr>
              <a:t>找矩阵鞍点的主程序</a:t>
            </a:r>
            <a:r>
              <a:rPr kumimoji="0" lang="en-US" altLang="zh-CN" b="1" dirty="0">
                <a:sym typeface="+mn-ea"/>
              </a:rPr>
              <a:t>(2)</a:t>
            </a:r>
            <a:endParaRPr kumimoji="0" lang="zh-CN" altLang="en-US" b="1" dirty="0">
              <a:sym typeface="+mn-ea"/>
            </a:endParaRPr>
          </a:p>
        </p:txBody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47775"/>
            <a:ext cx="8371656" cy="52054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/* 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查找鞍点*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0,found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 n;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</a:rPr>
              <a:t>maxCol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findRowMax</a:t>
            </a:r>
            <a:r>
              <a:rPr lang="en-US" altLang="zh-CN" sz="2000" dirty="0">
                <a:latin typeface="Consolas" panose="020B0609020204030204" pitchFamily="49" charset="0"/>
              </a:rPr>
              <a:t>(matrix[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],m);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</a:rPr>
              <a:t>minRow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findColMin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matrix,n,maxCol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if (</a:t>
            </a:r>
            <a:r>
              <a:rPr lang="en-US" altLang="zh-CN" sz="2000" dirty="0" err="1">
                <a:latin typeface="Consolas" panose="020B0609020204030204" pitchFamily="49" charset="0"/>
              </a:rPr>
              <a:t>minRow</a:t>
            </a:r>
            <a:r>
              <a:rPr lang="en-US" altLang="zh-CN" sz="2000" dirty="0">
                <a:latin typeface="Consolas" panose="020B0609020204030204" pitchFamily="49" charset="0"/>
              </a:rPr>
              <a:t>==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){ //find saddle point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("The saddle point is (%</a:t>
            </a:r>
            <a:r>
              <a:rPr lang="en-US" altLang="zh-CN" sz="2000" dirty="0" err="1">
                <a:latin typeface="Consolas" panose="020B0609020204030204" pitchFamily="49" charset="0"/>
              </a:rPr>
              <a:t>d,%d</a:t>
            </a:r>
            <a:r>
              <a:rPr lang="en-US" altLang="zh-CN" sz="2000" dirty="0">
                <a:latin typeface="Consolas" panose="020B0609020204030204" pitchFamily="49" charset="0"/>
              </a:rPr>
              <a:t>)=%d.\n",</a:t>
            </a:r>
            <a:r>
              <a:rPr lang="en-US" altLang="zh-CN" sz="2000" dirty="0" err="1">
                <a:latin typeface="Consolas" panose="020B0609020204030204" pitchFamily="49" charset="0"/>
              </a:rPr>
              <a:t>i,maxCol,matrix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</a:t>
            </a:r>
            <a:r>
              <a:rPr lang="en-US" altLang="zh-CN" sz="2000" dirty="0" err="1">
                <a:latin typeface="Consolas" panose="020B0609020204030204" pitchFamily="49" charset="0"/>
              </a:rPr>
              <a:t>maxCol</a:t>
            </a:r>
            <a:r>
              <a:rPr lang="en-US" altLang="zh-CN" sz="20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found=1;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if (found==0)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("There is no saddle point in the matrix.\n");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76074-AF9C-431F-830B-1B815CD23092}" type="slidenum">
              <a:rPr lang="zh-CN" altLang="en-US" sz="1400" smtClean="0"/>
              <a:t>42</a:t>
            </a:fld>
            <a:endParaRPr lang="en-US" altLang="zh-CN" sz="1400"/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逻辑表达（抽象）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二维数组的定义和初始化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二维数组在内存中的存放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二维数组的逐元素访问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二维数组名做函数实参</a:t>
            </a:r>
          </a:p>
          <a:p>
            <a:pPr marL="857250" lvl="1" indent="-457200" eaLnBrk="1" hangingPunct="1">
              <a:lnSpc>
                <a:spcPct val="80000"/>
              </a:lnSpc>
              <a:buAutoNum type="arabicPeriod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二维数组的用于矩阵计算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多维数组的应用（设计数据结构）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80000"/>
              </a:lnSpc>
              <a:buAutoNum type="arabicPeriod"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/>
          </a:p>
        </p:txBody>
      </p:sp>
      <p:sp>
        <p:nvSpPr>
          <p:cNvPr id="111620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11621" name="Picture 9" descr="页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65966402-2A14-417B-97F4-37175F6B510A}" type="slidenum">
              <a:rPr lang="zh-CN" altLang="en-US" sz="1400"/>
              <a:t>43</a:t>
            </a:fld>
            <a:endParaRPr lang="en-US" altLang="zh-CN" sz="140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dirty="0"/>
              <a:t>  </a:t>
            </a:r>
            <a:r>
              <a:rPr lang="zh-CN" altLang="en-US" b="1" dirty="0">
                <a:solidFill>
                  <a:schemeClr val="accent2"/>
                </a:solidFill>
              </a:rPr>
              <a:t>问题描述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</a:rPr>
              <a:t>       每一付牌共有</a:t>
            </a:r>
            <a:r>
              <a:rPr lang="en-US" altLang="zh-CN" b="1" dirty="0">
                <a:solidFill>
                  <a:schemeClr val="accent2"/>
                </a:solidFill>
              </a:rPr>
              <a:t>52</a:t>
            </a:r>
            <a:r>
              <a:rPr lang="zh-CN" altLang="en-US" b="1" dirty="0">
                <a:solidFill>
                  <a:schemeClr val="accent2"/>
                </a:solidFill>
              </a:rPr>
              <a:t>张（不考虑大小王），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	   </a:t>
            </a:r>
            <a:r>
              <a:rPr lang="zh-CN" altLang="en-US" b="1" dirty="0">
                <a:solidFill>
                  <a:schemeClr val="accent2"/>
                </a:solidFill>
              </a:rPr>
              <a:t>有</a:t>
            </a:r>
            <a:r>
              <a:rPr lang="en-US" altLang="zh-CN" b="1" dirty="0">
                <a:solidFill>
                  <a:schemeClr val="accent2"/>
                </a:solidFill>
              </a:rPr>
              <a:t>13</a:t>
            </a:r>
            <a:r>
              <a:rPr lang="zh-CN" altLang="en-US" b="1" dirty="0">
                <a:solidFill>
                  <a:schemeClr val="accent2"/>
                </a:solidFill>
              </a:rPr>
              <a:t>种面值，每</a:t>
            </a:r>
            <a:r>
              <a:rPr lang="en-US" altLang="zh-CN" b="1" dirty="0">
                <a:solidFill>
                  <a:schemeClr val="accent2"/>
                </a:solidFill>
              </a:rPr>
              <a:t>1</a:t>
            </a:r>
            <a:r>
              <a:rPr lang="zh-CN" altLang="en-US" b="1" dirty="0">
                <a:solidFill>
                  <a:schemeClr val="accent2"/>
                </a:solidFill>
              </a:rPr>
              <a:t>种面值 有</a:t>
            </a:r>
            <a:r>
              <a:rPr lang="en-US" altLang="zh-CN" b="1" dirty="0">
                <a:solidFill>
                  <a:schemeClr val="accent2"/>
                </a:solidFill>
              </a:rPr>
              <a:t>4</a:t>
            </a:r>
            <a:r>
              <a:rPr lang="zh-CN" altLang="en-US" b="1" dirty="0">
                <a:solidFill>
                  <a:schemeClr val="accent2"/>
                </a:solidFill>
              </a:rPr>
              <a:t>种花色。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/>
                </a:solidFill>
              </a:rPr>
              <a:t>思考：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zh-CN" altLang="en-US" b="1" dirty="0">
                <a:solidFill>
                  <a:schemeClr val="accent2"/>
                </a:solidFill>
              </a:rPr>
              <a:t>计算机如何表示？（抽象）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zh-CN" altLang="en-US" b="1" dirty="0">
                <a:solidFill>
                  <a:schemeClr val="accent2"/>
                </a:solidFill>
              </a:rPr>
              <a:t>如何存储？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zh-CN" altLang="en-US" b="1" dirty="0">
                <a:solidFill>
                  <a:schemeClr val="accent2"/>
                </a:solidFill>
              </a:rPr>
              <a:t>如何模拟洗牌与发牌？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        </a:t>
            </a:r>
            <a:endParaRPr lang="en-US" altLang="zh-CN" b="1" dirty="0"/>
          </a:p>
        </p:txBody>
      </p:sp>
      <p:sp>
        <p:nvSpPr>
          <p:cNvPr id="110596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1" dirty="0"/>
              <a:t>  </a:t>
            </a:r>
            <a:r>
              <a:rPr lang="zh-CN" altLang="en-US" b="1" dirty="0"/>
              <a:t>实例研究一：（模拟发牌和洗牌）</a:t>
            </a:r>
          </a:p>
        </p:txBody>
      </p:sp>
      <p:pic>
        <p:nvPicPr>
          <p:cNvPr id="11059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895" y="2852936"/>
            <a:ext cx="4500563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80962D-C91D-414C-ACB8-BD9F65AC4ADD}" type="slidenum">
              <a:rPr lang="zh-CN" altLang="en-US" sz="1400" smtClean="0"/>
              <a:t>44</a:t>
            </a:fld>
            <a:endParaRPr lang="en-US" altLang="zh-CN" sz="1400"/>
          </a:p>
        </p:txBody>
      </p:sp>
      <p:sp>
        <p:nvSpPr>
          <p:cNvPr id="13824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2800" b="1" dirty="0"/>
              <a:t>实例研究一：（模拟发牌和洗牌）</a:t>
            </a:r>
            <a:endParaRPr lang="zh-CN" altLang="en-US" sz="2800" dirty="0">
              <a:sym typeface="+mn-ea"/>
            </a:endParaRPr>
          </a:p>
        </p:txBody>
      </p:sp>
      <p:sp>
        <p:nvSpPr>
          <p:cNvPr id="13824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246982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扑克牌的逻辑表达：采用矩阵进行抽象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 行与花色对应：分别代表红心、方 块、草花、黑心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 列代表牌的面值：第0~9列代表</a:t>
            </a:r>
            <a:r>
              <a:rPr lang="en-US" altLang="zh-CN" sz="2400" b="1" dirty="0"/>
              <a:t>A~10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                 </a:t>
            </a:r>
            <a:r>
              <a:rPr lang="zh-CN" altLang="en-US" sz="2400" b="1" dirty="0"/>
              <a:t>第10~12列代表</a:t>
            </a:r>
            <a:r>
              <a:rPr lang="en-US" altLang="zh-CN" sz="2400" b="1" dirty="0"/>
              <a:t>J、K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Q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数组元素的值表示该张牌在整副牌中的序号（洗牌）。</a:t>
            </a:r>
          </a:p>
          <a:p>
            <a:pPr eaLnBrk="1" hangingPunct="1">
              <a:buFontTx/>
              <a:buNone/>
            </a:pPr>
            <a:endParaRPr lang="zh-CN" altLang="en-US" sz="2400" dirty="0"/>
          </a:p>
        </p:txBody>
      </p:sp>
      <p:pic>
        <p:nvPicPr>
          <p:cNvPr id="13824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005263"/>
            <a:ext cx="7632700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6" name="Line 7"/>
          <p:cNvSpPr>
            <a:spLocks noChangeShapeType="1"/>
          </p:cNvSpPr>
          <p:nvPr/>
        </p:nvSpPr>
        <p:spPr bwMode="auto">
          <a:xfrm flipH="1">
            <a:off x="7667625" y="5013325"/>
            <a:ext cx="287338" cy="5048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1176" name="Text Box 8"/>
          <p:cNvSpPr txBox="1">
            <a:spLocks noChangeArrowheads="1"/>
          </p:cNvSpPr>
          <p:nvPr/>
        </p:nvSpPr>
        <p:spPr bwMode="auto">
          <a:xfrm>
            <a:off x="7885113" y="4654550"/>
            <a:ext cx="935037" cy="100647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b="1"/>
              <a:t>第</a:t>
            </a:r>
            <a:r>
              <a:rPr lang="en-US" altLang="zh-CN" b="1"/>
              <a:t>1</a:t>
            </a:r>
            <a:r>
              <a:rPr lang="zh-CN" altLang="en-US" b="1"/>
              <a:t>张牌是草花</a:t>
            </a:r>
            <a:r>
              <a:rPr lang="en-US" altLang="zh-CN" b="1"/>
              <a:t>K</a:t>
            </a:r>
          </a:p>
        </p:txBody>
      </p:sp>
      <p:sp>
        <p:nvSpPr>
          <p:cNvPr id="391177" name="Text Box 9"/>
          <p:cNvSpPr txBox="1">
            <a:spLocks noChangeArrowheads="1"/>
          </p:cNvSpPr>
          <p:nvPr/>
        </p:nvSpPr>
        <p:spPr bwMode="auto">
          <a:xfrm>
            <a:off x="7451725" y="5229225"/>
            <a:ext cx="431800" cy="3667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1800" b="1"/>
              <a:t>1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CDF402-E3CB-4F2A-9789-494A04A66C19}" type="slidenum">
              <a:rPr lang="zh-CN" altLang="en-US" sz="1400" smtClean="0"/>
              <a:t>45</a:t>
            </a:fld>
            <a:endParaRPr lang="en-US" altLang="zh-CN" sz="1400"/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实例研究一：（模拟发牌和洗牌）</a:t>
            </a:r>
            <a:endParaRPr lang="zh-CN" altLang="en-US" dirty="0"/>
          </a:p>
        </p:txBody>
      </p:sp>
      <p:sp>
        <p:nvSpPr>
          <p:cNvPr id="137222" name="Text Box 10"/>
          <p:cNvSpPr txBox="1">
            <a:spLocks noChangeArrowheads="1"/>
          </p:cNvSpPr>
          <p:nvPr/>
        </p:nvSpPr>
        <p:spPr bwMode="auto">
          <a:xfrm>
            <a:off x="395536" y="1412776"/>
            <a:ext cx="8280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扑克牌的存储：</a:t>
            </a:r>
            <a:r>
              <a:rPr lang="zh-CN" altLang="en-US" sz="2400" b="1" dirty="0"/>
              <a:t>每张牌有</a:t>
            </a:r>
            <a:r>
              <a:rPr lang="zh-CN" altLang="en-US" sz="2400" b="1" dirty="0">
                <a:solidFill>
                  <a:schemeClr val="accent2"/>
                </a:solidFill>
              </a:rPr>
              <a:t>花色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chemeClr val="accent2"/>
                </a:solidFill>
              </a:rPr>
              <a:t>面值</a:t>
            </a:r>
            <a:r>
              <a:rPr lang="zh-CN" altLang="en-US" sz="2400" b="1" dirty="0"/>
              <a:t>以及在一副牌中的</a:t>
            </a:r>
            <a:r>
              <a:rPr lang="zh-CN" altLang="en-US" sz="2400" b="1" dirty="0">
                <a:solidFill>
                  <a:schemeClr val="accent2"/>
                </a:solidFill>
              </a:rPr>
              <a:t>序号</a:t>
            </a:r>
            <a:r>
              <a:rPr lang="zh-CN" altLang="en-US" sz="2400" b="1" dirty="0"/>
              <a:t>这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个信息，考虑到二维数组每个元素有</a:t>
            </a:r>
            <a:r>
              <a:rPr lang="zh-CN" altLang="en-US" sz="2400" b="1" dirty="0">
                <a:solidFill>
                  <a:srgbClr val="FF0000"/>
                </a:solidFill>
              </a:rPr>
              <a:t>行下标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列下标</a:t>
            </a:r>
            <a:r>
              <a:rPr lang="zh-CN" altLang="en-US" sz="2400" b="1" dirty="0"/>
              <a:t>以及</a:t>
            </a:r>
            <a:r>
              <a:rPr lang="zh-CN" altLang="en-US" sz="2400" b="1" dirty="0">
                <a:solidFill>
                  <a:srgbClr val="FF0000"/>
                </a:solidFill>
              </a:rPr>
              <a:t>元素值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个信息，因此可以使用4</a:t>
            </a:r>
            <a:r>
              <a:rPr lang="zh-CN" altLang="en-US" sz="2400" b="1" dirty="0">
                <a:sym typeface="Symbol" panose="05050102010706020507" pitchFamily="18" charset="2"/>
              </a:rPr>
              <a:t></a:t>
            </a:r>
            <a:r>
              <a:rPr lang="zh-CN" altLang="en-US" sz="2400" b="1" dirty="0"/>
              <a:t>13的数组</a:t>
            </a:r>
            <a:r>
              <a:rPr lang="en-US" altLang="zh-CN" sz="2400" b="1" dirty="0"/>
              <a:t>deck</a:t>
            </a:r>
            <a:r>
              <a:rPr lang="zh-CN" altLang="en-US" sz="2400" b="1" dirty="0"/>
              <a:t>来存储一副牌，每个数组元素存储一张牌，牌的花色、面值分别由行下标和列下标确定，数组元素值就是牌的序号。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86" y="3789040"/>
            <a:ext cx="7632700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383148-42F3-43E2-8182-644604C2D992}" type="slidenum">
              <a:rPr lang="zh-CN" altLang="en-US" sz="1400" smtClean="0"/>
              <a:t>46</a:t>
            </a:fld>
            <a:endParaRPr lang="en-US" altLang="zh-CN" sz="1400"/>
          </a:p>
        </p:txBody>
      </p:sp>
      <p:sp>
        <p:nvSpPr>
          <p:cNvPr id="13926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2800" b="1" dirty="0"/>
              <a:t>实例研究一：（模拟发牌和洗牌）</a:t>
            </a:r>
          </a:p>
        </p:txBody>
      </p:sp>
      <p:sp>
        <p:nvSpPr>
          <p:cNvPr id="13926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8062913" cy="461168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洗牌的过程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就是将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～</a:t>
            </a:r>
            <a:r>
              <a:rPr lang="en-US" altLang="zh-CN" sz="2400" b="1" dirty="0"/>
              <a:t>52</a:t>
            </a:r>
            <a:r>
              <a:rPr lang="zh-CN" altLang="en-US" sz="2400" b="1" dirty="0"/>
              <a:t>个整数分配到</a:t>
            </a:r>
            <a:r>
              <a:rPr lang="en-US" altLang="zh-CN" sz="2400" b="1" dirty="0"/>
              <a:t>deck</a:t>
            </a:r>
            <a:r>
              <a:rPr lang="zh-CN" altLang="en-US" sz="2400" b="1" dirty="0"/>
              <a:t>数组的</a:t>
            </a:r>
            <a:r>
              <a:rPr lang="en-US" altLang="zh-CN" sz="2400" b="1" dirty="0"/>
              <a:t>52</a:t>
            </a:r>
            <a:r>
              <a:rPr lang="zh-CN" altLang="en-US" sz="2400" b="1" dirty="0"/>
              <a:t>个元素中。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发第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张牌：随机地从0~3中选择一行</a:t>
            </a:r>
            <a:r>
              <a:rPr lang="en-US" altLang="zh-CN" sz="2400" b="1" dirty="0"/>
              <a:t>(row)，</a:t>
            </a:r>
            <a:r>
              <a:rPr lang="zh-CN" altLang="en-US" sz="2400" b="1" dirty="0"/>
              <a:t>从0~12中选择一列</a:t>
            </a:r>
            <a:r>
              <a:rPr lang="en-US" altLang="zh-CN" sz="2400" b="1" dirty="0"/>
              <a:t>(column)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  </a:t>
            </a:r>
            <a:r>
              <a:rPr lang="zh-CN" altLang="en-US" sz="2400" b="1" dirty="0"/>
              <a:t>把数值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插入到</a:t>
            </a:r>
            <a:r>
              <a:rPr lang="en-US" altLang="zh-CN" sz="2400" b="1" dirty="0"/>
              <a:t>deck[row][column]</a:t>
            </a:r>
            <a:r>
              <a:rPr lang="zh-CN" altLang="en-US" sz="2400" b="1" dirty="0"/>
              <a:t>中。</a:t>
            </a:r>
          </a:p>
        </p:txBody>
      </p:sp>
      <p:sp>
        <p:nvSpPr>
          <p:cNvPr id="392198" name="Text Box 6"/>
          <p:cNvSpPr txBox="1">
            <a:spLocks noChangeArrowheads="1"/>
          </p:cNvSpPr>
          <p:nvPr/>
        </p:nvSpPr>
        <p:spPr bwMode="auto">
          <a:xfrm>
            <a:off x="3563938" y="5229225"/>
            <a:ext cx="2087562" cy="82232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表示洗出的第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/>
              <a:t>张牌是</a:t>
            </a:r>
            <a:r>
              <a:rPr lang="zh-CN" altLang="en-US" sz="2400" b="1">
                <a:solidFill>
                  <a:schemeClr val="accent2"/>
                </a:solidFill>
              </a:rPr>
              <a:t>草花</a:t>
            </a:r>
            <a:r>
              <a:rPr lang="en-US" altLang="zh-CN" sz="2400" b="1">
                <a:solidFill>
                  <a:schemeClr val="accent2"/>
                </a:solidFill>
              </a:rPr>
              <a:t>5</a:t>
            </a:r>
          </a:p>
        </p:txBody>
      </p:sp>
      <p:pic>
        <p:nvPicPr>
          <p:cNvPr id="13927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109913"/>
            <a:ext cx="7178675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71" name="Line 8"/>
          <p:cNvSpPr>
            <a:spLocks noChangeShapeType="1"/>
          </p:cNvSpPr>
          <p:nvPr/>
        </p:nvSpPr>
        <p:spPr bwMode="auto">
          <a:xfrm flipH="1">
            <a:off x="4067175" y="4622800"/>
            <a:ext cx="433388" cy="6064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1" name="Text Box 9"/>
          <p:cNvSpPr txBox="1">
            <a:spLocks noChangeArrowheads="1"/>
          </p:cNvSpPr>
          <p:nvPr/>
        </p:nvSpPr>
        <p:spPr bwMode="auto">
          <a:xfrm>
            <a:off x="6516688" y="5300663"/>
            <a:ext cx="2303462" cy="82232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表示洗出的第</a:t>
            </a: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zh-CN" altLang="en-US" sz="2400" b="1"/>
              <a:t>张牌是</a:t>
            </a:r>
            <a:r>
              <a:rPr lang="zh-CN" altLang="en-US" sz="2400" b="1">
                <a:solidFill>
                  <a:schemeClr val="accent2"/>
                </a:solidFill>
              </a:rPr>
              <a:t>黑心</a:t>
            </a:r>
            <a:r>
              <a:rPr lang="en-US" altLang="zh-CN" sz="2400" b="1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39273" name="Line 10"/>
          <p:cNvSpPr>
            <a:spLocks noChangeShapeType="1"/>
          </p:cNvSpPr>
          <p:nvPr/>
        </p:nvSpPr>
        <p:spPr bwMode="auto">
          <a:xfrm flipV="1">
            <a:off x="6948488" y="4910138"/>
            <a:ext cx="0" cy="4635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E0D0B5-272C-487E-AD20-582A256CD292}" type="slidenum">
              <a:rPr lang="zh-CN" altLang="en-US" sz="1400" smtClean="0"/>
              <a:t>47</a:t>
            </a:fld>
            <a:endParaRPr lang="en-US" altLang="zh-CN" sz="1400"/>
          </a:p>
        </p:txBody>
      </p:sp>
      <p:sp>
        <p:nvSpPr>
          <p:cNvPr id="14029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2800" b="1" dirty="0"/>
              <a:t>实例研究一：（模拟发牌和洗牌）</a:t>
            </a:r>
          </a:p>
        </p:txBody>
      </p:sp>
      <p:sp>
        <p:nvSpPr>
          <p:cNvPr id="14029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847013" cy="461168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发牌的过程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  就是从</a:t>
            </a:r>
            <a:r>
              <a:rPr lang="en-US" altLang="zh-CN" sz="2400" b="1" dirty="0"/>
              <a:t>deck</a:t>
            </a:r>
            <a:r>
              <a:rPr lang="zh-CN" altLang="en-US" sz="2400" b="1" dirty="0"/>
              <a:t>数组中依次找到值为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…</a:t>
            </a:r>
            <a:r>
              <a:rPr lang="en-US" altLang="zh-CN" sz="2400" b="1" dirty="0"/>
              <a:t>52</a:t>
            </a:r>
            <a:r>
              <a:rPr lang="zh-CN" altLang="en-US" sz="2400" b="1" dirty="0"/>
              <a:t>的元素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打印出该元素对应的花色和面值。</a:t>
            </a:r>
          </a:p>
          <a:p>
            <a:pPr eaLnBrk="1" hangingPunct="1">
              <a:buFontTx/>
              <a:buNone/>
            </a:pPr>
            <a:endParaRPr lang="zh-CN" altLang="en-US" sz="2400" b="1" dirty="0"/>
          </a:p>
        </p:txBody>
      </p:sp>
      <p:sp>
        <p:nvSpPr>
          <p:cNvPr id="393222" name="Text Box 6"/>
          <p:cNvSpPr txBox="1">
            <a:spLocks noChangeArrowheads="1"/>
          </p:cNvSpPr>
          <p:nvPr/>
        </p:nvSpPr>
        <p:spPr bwMode="auto">
          <a:xfrm>
            <a:off x="1116013" y="4767263"/>
            <a:ext cx="7488237" cy="82232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发牌结果：发出的第</a:t>
            </a:r>
            <a:r>
              <a:rPr lang="en-US" altLang="zh-CN" sz="2400" b="1"/>
              <a:t>1</a:t>
            </a:r>
            <a:r>
              <a:rPr lang="zh-CN" altLang="en-US" sz="2400" b="1"/>
              <a:t>张牌是草花</a:t>
            </a:r>
            <a:r>
              <a:rPr lang="en-US" altLang="zh-CN" sz="2400" b="1"/>
              <a:t>5</a:t>
            </a:r>
            <a:r>
              <a:rPr lang="zh-CN" altLang="en-US" sz="2400" b="1"/>
              <a:t>，第二张牌是草花</a:t>
            </a:r>
            <a:r>
              <a:rPr lang="en-US" altLang="zh-CN" sz="2400" b="1"/>
              <a:t>7</a:t>
            </a:r>
            <a:r>
              <a:rPr lang="zh-CN" altLang="en-US" sz="2400" b="1"/>
              <a:t>，第</a:t>
            </a:r>
            <a:r>
              <a:rPr lang="en-US" altLang="zh-CN" sz="2400" b="1"/>
              <a:t>3</a:t>
            </a:r>
            <a:r>
              <a:rPr lang="zh-CN" altLang="en-US" sz="2400" b="1"/>
              <a:t>张牌是方块</a:t>
            </a:r>
            <a:r>
              <a:rPr lang="en-US" altLang="zh-CN" sz="2400" b="1"/>
              <a:t>10……</a:t>
            </a:r>
          </a:p>
        </p:txBody>
      </p:sp>
      <p:pic>
        <p:nvPicPr>
          <p:cNvPr id="14029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36838"/>
            <a:ext cx="7178675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4A81FD-E69B-4A5B-9E68-5E4AF49DA13C}" type="slidenum">
              <a:rPr lang="zh-CN" altLang="en-US" sz="1400" smtClean="0"/>
              <a:t>48</a:t>
            </a:fld>
            <a:endParaRPr lang="en-US" altLang="zh-CN" sz="1400"/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实例研究一：（模拟发牌和洗牌）</a:t>
            </a:r>
          </a:p>
        </p:txBody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time.h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shuffle (int [][13]);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deal(const int [][13]);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outputCard</a:t>
            </a:r>
            <a:r>
              <a:rPr lang="en-US" altLang="zh-CN" sz="2000" dirty="0">
                <a:latin typeface="Consolas" panose="020B0609020204030204" pitchFamily="49" charset="0"/>
              </a:rPr>
              <a:t>(int </a:t>
            </a:r>
            <a:r>
              <a:rPr lang="en-US" altLang="zh-CN" sz="2000" dirty="0" err="1">
                <a:latin typeface="Consolas" panose="020B0609020204030204" pitchFamily="49" charset="0"/>
              </a:rPr>
              <a:t>i,int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row,int</a:t>
            </a:r>
            <a:r>
              <a:rPr lang="en-US" altLang="zh-CN" sz="2000" dirty="0">
                <a:latin typeface="Consolas" panose="020B0609020204030204" pitchFamily="49" charset="0"/>
              </a:rPr>
              <a:t> col);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deck[4][13]={0}; //</a:t>
            </a:r>
            <a:r>
              <a:rPr lang="zh-CN" altLang="en-US" sz="2000" dirty="0">
                <a:latin typeface="Consolas" panose="020B0609020204030204" pitchFamily="49" charset="0"/>
              </a:rPr>
              <a:t>保存一副牌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srand</a:t>
            </a:r>
            <a:r>
              <a:rPr lang="en-US" altLang="zh-CN" sz="2000" dirty="0">
                <a:latin typeface="Consolas" panose="020B0609020204030204" pitchFamily="49" charset="0"/>
              </a:rPr>
              <a:t> ((unsigned)time(NULL));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shuffle(deck);//</a:t>
            </a:r>
            <a:r>
              <a:rPr lang="zh-CN" altLang="en-US" sz="2000" dirty="0">
                <a:latin typeface="Consolas" panose="020B0609020204030204" pitchFamily="49" charset="0"/>
              </a:rPr>
              <a:t>洗牌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latin typeface="Consolas" panose="020B0609020204030204" pitchFamily="49" charset="0"/>
              </a:rPr>
              <a:t>deal(deck);//</a:t>
            </a:r>
            <a:r>
              <a:rPr lang="zh-CN" altLang="en-US" sz="2000" dirty="0">
                <a:latin typeface="Consolas" panose="020B0609020204030204" pitchFamily="49" charset="0"/>
              </a:rPr>
              <a:t>发牌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85D047-D829-43B2-A1D1-0CE8BD5302AC}" type="slidenum">
              <a:rPr lang="zh-CN" altLang="en-US" sz="1400" smtClean="0"/>
              <a:t>49</a:t>
            </a:fld>
            <a:endParaRPr lang="en-US" altLang="zh-CN" sz="1400"/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实例研究一：（模拟发牌和洗牌）</a:t>
            </a:r>
          </a:p>
        </p:txBody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8062664" cy="4611687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shuffle(int </a:t>
            </a:r>
            <a:r>
              <a:rPr lang="en-US" altLang="zh-CN" sz="2000" dirty="0" err="1">
                <a:latin typeface="Consolas" panose="020B0609020204030204" pitchFamily="49" charset="0"/>
              </a:rPr>
              <a:t>wdeck</a:t>
            </a:r>
            <a:r>
              <a:rPr lang="en-US" altLang="zh-CN" sz="2000" dirty="0">
                <a:latin typeface="Consolas" panose="020B0609020204030204" pitchFamily="49" charset="0"/>
              </a:rPr>
              <a:t>[][13]) /*</a:t>
            </a:r>
            <a:r>
              <a:rPr lang="zh-CN" altLang="en-US" sz="2000" dirty="0">
                <a:latin typeface="Consolas" panose="020B0609020204030204" pitchFamily="49" charset="0"/>
              </a:rPr>
              <a:t>洗牌*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int </a:t>
            </a:r>
            <a:r>
              <a:rPr lang="en-US" altLang="zh-CN" sz="2000" dirty="0" err="1">
                <a:latin typeface="Consolas" panose="020B0609020204030204" pitchFamily="49" charset="0"/>
              </a:rPr>
              <a:t>card,i,j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for(card = 1; card &lt;= 52; card++){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生成第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card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张牌的花色和面值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rand()%4;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j = rand()%13;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while(</a:t>
            </a:r>
            <a:r>
              <a:rPr lang="en-US" altLang="zh-CN" sz="2000" dirty="0" err="1">
                <a:latin typeface="Consolas" panose="020B0609020204030204" pitchFamily="49" charset="0"/>
              </a:rPr>
              <a:t>wdeck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 != 0){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	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rand()%4;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       j = rand()%13;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}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            //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确定第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card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张牌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wdeck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 = card;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}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FC6540-558D-440B-9280-C1450F651E40}" type="slidenum">
              <a:rPr lang="zh-CN" altLang="en-US" sz="1400" smtClean="0"/>
              <a:t>50</a:t>
            </a:fld>
            <a:endParaRPr lang="en-US" altLang="zh-CN" sz="1400"/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实例研究一：（模拟发牌和洗牌）</a:t>
            </a:r>
          </a:p>
        </p:txBody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19213"/>
            <a:ext cx="8640638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deal (const int </a:t>
            </a:r>
            <a:r>
              <a:rPr lang="en-US" altLang="zh-CN" sz="2000" dirty="0" err="1">
                <a:latin typeface="Consolas" panose="020B0609020204030204" pitchFamily="49" charset="0"/>
              </a:rPr>
              <a:t>wdeck</a:t>
            </a:r>
            <a:r>
              <a:rPr lang="en-US" altLang="zh-CN" sz="2000" dirty="0">
                <a:latin typeface="Consolas" panose="020B0609020204030204" pitchFamily="49" charset="0"/>
              </a:rPr>
              <a:t>[][13]) //</a:t>
            </a:r>
            <a:r>
              <a:rPr lang="zh-CN" altLang="en-US" sz="2000" dirty="0">
                <a:latin typeface="Consolas" panose="020B0609020204030204" pitchFamily="49" charset="0"/>
              </a:rPr>
              <a:t>发牌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int </a:t>
            </a:r>
            <a:r>
              <a:rPr lang="en-US" altLang="zh-CN" sz="2000" dirty="0" err="1">
                <a:latin typeface="Consolas" panose="020B0609020204030204" pitchFamily="49" charset="0"/>
              </a:rPr>
              <a:t>card,i,j,found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for (card = </a:t>
            </a:r>
            <a:r>
              <a:rPr lang="en-US" altLang="zh-CN" sz="2000" dirty="0" err="1">
                <a:latin typeface="Consolas" panose="020B0609020204030204" pitchFamily="49" charset="0"/>
              </a:rPr>
              <a:t>1;card</a:t>
            </a:r>
            <a:r>
              <a:rPr lang="en-US" altLang="zh-CN" sz="2000" dirty="0">
                <a:latin typeface="Consolas" panose="020B0609020204030204" pitchFamily="49" charset="0"/>
              </a:rPr>
              <a:t> &lt;= </a:t>
            </a:r>
            <a:r>
              <a:rPr lang="en-US" altLang="zh-CN" sz="2000" dirty="0" err="1">
                <a:latin typeface="Consolas" panose="020B0609020204030204" pitchFamily="49" charset="0"/>
              </a:rPr>
              <a:t>52;card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遍历二维数组，查找值为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card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的元素，输出对应的花色和面值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</a:t>
            </a:r>
            <a:r>
              <a:rPr lang="en-US" altLang="zh-CN" sz="2000" dirty="0">
                <a:latin typeface="Consolas" panose="020B0609020204030204" pitchFamily="49" charset="0"/>
              </a:rPr>
              <a:t>found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for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 4 &amp;&amp; !found;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for (j=0; j &lt; 13 &amp;&amp; !found; </a:t>
            </a:r>
            <a:r>
              <a:rPr lang="en-US" altLang="zh-CN" sz="2000" dirty="0" err="1">
                <a:latin typeface="Consolas" panose="020B0609020204030204" pitchFamily="49" charset="0"/>
              </a:rPr>
              <a:t>j++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 if (</a:t>
            </a:r>
            <a:r>
              <a:rPr lang="en-US" altLang="zh-CN" sz="2000" dirty="0" err="1">
                <a:latin typeface="Consolas" panose="020B0609020204030204" pitchFamily="49" charset="0"/>
              </a:rPr>
              <a:t>wdeck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][j]==card){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sym typeface="+mn-ea"/>
              </a:rPr>
              <a:t>				</a:t>
            </a:r>
            <a:r>
              <a:rPr lang="en-US" altLang="zh-CN" sz="2000" dirty="0">
                <a:latin typeface="Consolas" panose="020B0609020204030204" pitchFamily="49" charset="0"/>
              </a:rPr>
              <a:t>found =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outputCard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card,i,j</a:t>
            </a:r>
            <a:r>
              <a:rPr lang="en-US" altLang="zh-CN" sz="2000" dirty="0">
                <a:latin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				//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输出第</a:t>
            </a:r>
            <a:r>
              <a:rPr lang="en-US" altLang="zh-CN" sz="2000" dirty="0">
                <a:solidFill>
                  <a:srgbClr val="003399"/>
                </a:solidFill>
                <a:latin typeface="Consolas" panose="020B0609020204030204" pitchFamily="49" charset="0"/>
              </a:rPr>
              <a:t>card</a:t>
            </a:r>
            <a:r>
              <a:rPr lang="zh-CN" altLang="en-US" sz="2000" dirty="0">
                <a:solidFill>
                  <a:srgbClr val="003399"/>
                </a:solidFill>
                <a:latin typeface="Consolas" panose="020B0609020204030204" pitchFamily="49" charset="0"/>
              </a:rPr>
              <a:t>张牌的花色面值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9ECF02-4E54-487B-A7C3-B63B5FC845FE}" type="slidenum">
              <a:rPr lang="zh-CN" altLang="en-US" sz="1400" smtClean="0"/>
              <a:t>51</a:t>
            </a:fld>
            <a:endParaRPr lang="en-US" altLang="zh-CN" sz="1400"/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实例研究一：（模拟发牌和洗牌）</a:t>
            </a:r>
          </a:p>
        </p:txBody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5538"/>
            <a:ext cx="4716016" cy="54943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</a:t>
            </a:r>
            <a:r>
              <a:rPr lang="en-US" altLang="zh-CN" sz="1800" dirty="0" err="1">
                <a:latin typeface="Consolas" panose="020B0609020204030204" pitchFamily="49" charset="0"/>
              </a:rPr>
              <a:t>outputCard</a:t>
            </a:r>
            <a:r>
              <a:rPr lang="en-US" altLang="zh-CN" sz="1800" dirty="0">
                <a:latin typeface="Consolas" panose="020B0609020204030204" pitchFamily="49" charset="0"/>
              </a:rPr>
              <a:t>(int </a:t>
            </a:r>
            <a:r>
              <a:rPr lang="en-US" altLang="zh-CN" sz="1800" dirty="0" err="1">
                <a:latin typeface="Consolas" panose="020B0609020204030204" pitchFamily="49" charset="0"/>
              </a:rPr>
              <a:t>no,int</a:t>
            </a:r>
            <a:r>
              <a:rPr lang="en-US" altLang="zh-CN" sz="1800" dirty="0"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</a:rPr>
              <a:t>row,int</a:t>
            </a:r>
            <a:r>
              <a:rPr lang="en-US" altLang="zh-CN" sz="1800" dirty="0">
                <a:latin typeface="Consolas" panose="020B0609020204030204" pitchFamily="49" charset="0"/>
              </a:rPr>
              <a:t> col)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("No %d </a:t>
            </a:r>
            <a:r>
              <a:rPr lang="en-US" altLang="zh-CN" sz="1800" dirty="0" err="1">
                <a:latin typeface="Consolas" panose="020B0609020204030204" pitchFamily="49" charset="0"/>
              </a:rPr>
              <a:t>card:",no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switch (col){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0: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("Acer");break;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1: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("Deuce");break;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2: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("Three");break;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3: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("Four");break;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4: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("Five");break;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</a:t>
            </a:r>
            <a:r>
              <a:rPr lang="en-US" altLang="zh-CN" sz="1800" dirty="0" err="1">
                <a:latin typeface="Consolas" panose="020B0609020204030204" pitchFamily="49" charset="0"/>
              </a:rPr>
              <a:t>5:printf</a:t>
            </a:r>
            <a:r>
              <a:rPr lang="en-US" altLang="zh-CN" sz="1800" dirty="0">
                <a:latin typeface="Consolas" panose="020B0609020204030204" pitchFamily="49" charset="0"/>
              </a:rPr>
              <a:t>("Six");break;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6: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("Seven");break;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7:printf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("Eight");break;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8: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("Nine");break;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9: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("Ten");break;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10: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("Jack");break;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11: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("Queen");break;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12: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("King");break;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default: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("invalid col!");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1298C2-5C9C-4EA9-9E84-129871365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556791"/>
            <a:ext cx="4036564" cy="38884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 of 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switch (row){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0:printf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("Hearts");break;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1:printf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("diamonds");break;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2:printf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("Clubs");break;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case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3:printf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("Spades");break;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  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default:printf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("invalid row!");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   </a:t>
            </a:r>
            <a:r>
              <a:rPr lang="en-US" altLang="zh-CN" sz="1800" kern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kern="0" dirty="0">
                <a:latin typeface="Consolas" panose="020B0609020204030204" pitchFamily="49" charset="0"/>
              </a:rPr>
              <a:t>("\n");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kern="0" dirty="0">
                <a:latin typeface="Consolas" panose="020B0609020204030204" pitchFamily="49" charset="0"/>
              </a:rPr>
              <a:t>}</a:t>
            </a:r>
            <a:endParaRPr lang="zh-CN" altLang="en-US" sz="1800" kern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实例研究二：海龟作图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319213"/>
            <a:ext cx="7772400" cy="52061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问题描述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     </a:t>
            </a:r>
            <a:r>
              <a:rPr lang="zh-CN" altLang="en-US" sz="2400" b="1" dirty="0"/>
              <a:t>设想有一只机械海龟，他在程序控制下在屋里四处爬行。海龟拿了一只笔，这支笔或者朝上，或者朝下。当笔朝下时，海龟用笔画下自己的移动轨迹；当比朝上时，海龟在移动过程中什么也不画。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海龟会读取一系列操作命令（程序）。按照程序的要求完成各种动作。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   假定海龟总是从地板上（</a:t>
            </a:r>
            <a:r>
              <a:rPr lang="en-US" altLang="zh-CN" sz="2400" b="1" dirty="0"/>
              <a:t>0,0</a:t>
            </a:r>
            <a:r>
              <a:rPr lang="zh-CN" altLang="en-US" sz="2400" b="1" dirty="0"/>
              <a:t>）出发，并且开始时笔是朝上的。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52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灯片编号占位符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DEF2E0-B1F0-4651-9EF8-27967894202D}" type="slidenum">
              <a:rPr lang="zh-CN" altLang="en-US" sz="1400" smtClean="0"/>
              <a:t>53</a:t>
            </a:fld>
            <a:endParaRPr lang="en-US" altLang="zh-CN" sz="1400"/>
          </a:p>
        </p:txBody>
      </p:sp>
      <p:sp>
        <p:nvSpPr>
          <p:cNvPr id="15257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</a:p>
        </p:txBody>
      </p:sp>
      <p:sp>
        <p:nvSpPr>
          <p:cNvPr id="152580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6046788" cy="461168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b="1" dirty="0"/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graphicFrame>
        <p:nvGraphicFramePr>
          <p:cNvPr id="305246" name="Group 94"/>
          <p:cNvGraphicFramePr>
            <a:graphicFrameLocks noGrp="1"/>
          </p:cNvGraphicFramePr>
          <p:nvPr>
            <p:ph sz="quarter" idx="2"/>
          </p:nvPr>
        </p:nvGraphicFramePr>
        <p:xfrm>
          <a:off x="899478" y="2060258"/>
          <a:ext cx="3810000" cy="4022912"/>
        </p:xfrm>
        <a:graphic>
          <a:graphicData uri="http://schemas.openxmlformats.org/drawingml/2006/table">
            <a:tbl>
              <a:tblPr/>
              <a:tblGrid>
                <a:gridCol w="114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命令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笔朝上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笔朝下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右转弯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左转弯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向前走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或其他格数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打印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50×50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的数组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数据结束（标记）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2610" name="Line 45"/>
          <p:cNvSpPr>
            <a:spLocks noChangeShapeType="1"/>
          </p:cNvSpPr>
          <p:nvPr/>
        </p:nvSpPr>
        <p:spPr bwMode="auto">
          <a:xfrm>
            <a:off x="5292725" y="3284538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11" name="Line 46"/>
          <p:cNvSpPr>
            <a:spLocks noChangeShapeType="1"/>
          </p:cNvSpPr>
          <p:nvPr/>
        </p:nvSpPr>
        <p:spPr bwMode="auto">
          <a:xfrm>
            <a:off x="5292725" y="48688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12" name="Line 47"/>
          <p:cNvSpPr>
            <a:spLocks noChangeShapeType="1"/>
          </p:cNvSpPr>
          <p:nvPr/>
        </p:nvSpPr>
        <p:spPr bwMode="auto">
          <a:xfrm>
            <a:off x="5292725" y="3787775"/>
            <a:ext cx="13668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13" name="Line 48"/>
          <p:cNvSpPr>
            <a:spLocks noChangeShapeType="1"/>
          </p:cNvSpPr>
          <p:nvPr/>
        </p:nvSpPr>
        <p:spPr bwMode="auto">
          <a:xfrm>
            <a:off x="6659563" y="3787775"/>
            <a:ext cx="0" cy="10810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14" name="Line 49"/>
          <p:cNvSpPr>
            <a:spLocks noChangeShapeType="1"/>
          </p:cNvSpPr>
          <p:nvPr/>
        </p:nvSpPr>
        <p:spPr bwMode="auto">
          <a:xfrm>
            <a:off x="5292725" y="4868863"/>
            <a:ext cx="13668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15" name="Line 50"/>
          <p:cNvSpPr>
            <a:spLocks noChangeShapeType="1"/>
          </p:cNvSpPr>
          <p:nvPr/>
        </p:nvSpPr>
        <p:spPr bwMode="auto">
          <a:xfrm>
            <a:off x="5292725" y="3787775"/>
            <a:ext cx="0" cy="1152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5281" name="Group 129"/>
          <p:cNvGraphicFramePr>
            <a:graphicFrameLocks noGrp="1"/>
          </p:cNvGraphicFramePr>
          <p:nvPr>
            <p:ph sz="quarter" idx="3"/>
          </p:nvPr>
        </p:nvGraphicFramePr>
        <p:xfrm>
          <a:off x="7235825" y="1268413"/>
          <a:ext cx="1368425" cy="5029200"/>
        </p:xfrm>
        <a:graphic>
          <a:graphicData uri="http://schemas.openxmlformats.org/drawingml/2006/table">
            <a:tbl>
              <a:tblPr/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2654" name="Text Box 127"/>
          <p:cNvSpPr txBox="1">
            <a:spLocks noChangeArrowheads="1"/>
          </p:cNvSpPr>
          <p:nvPr/>
        </p:nvSpPr>
        <p:spPr bwMode="auto">
          <a:xfrm>
            <a:off x="5003800" y="1916113"/>
            <a:ext cx="187325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初始状态：笔朝上，海龟在原点</a:t>
            </a:r>
          </a:p>
        </p:txBody>
      </p:sp>
      <p:sp>
        <p:nvSpPr>
          <p:cNvPr id="152655" name="Oval 128"/>
          <p:cNvSpPr>
            <a:spLocks noChangeArrowheads="1"/>
          </p:cNvSpPr>
          <p:nvPr/>
        </p:nvSpPr>
        <p:spPr bwMode="auto">
          <a:xfrm>
            <a:off x="5219700" y="4797425"/>
            <a:ext cx="144463" cy="142875"/>
          </a:xfrm>
          <a:prstGeom prst="ellipse">
            <a:avLst/>
          </a:prstGeom>
          <a:solidFill>
            <a:srgbClr val="99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52656" name="Text Box 131"/>
          <p:cNvSpPr txBox="1">
            <a:spLocks noChangeArrowheads="1"/>
          </p:cNvSpPr>
          <p:nvPr/>
        </p:nvSpPr>
        <p:spPr bwMode="auto">
          <a:xfrm>
            <a:off x="5003800" y="5084763"/>
            <a:ext cx="1944688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根据右侧</a:t>
            </a:r>
            <a:r>
              <a:rPr lang="zh-CN" altLang="en-US" sz="2000" b="1">
                <a:latin typeface="宋体" panose="02010600030101010101" pitchFamily="2" charset="-122"/>
              </a:rPr>
              <a:t>"</a:t>
            </a:r>
            <a:r>
              <a:rPr lang="zh-CN" altLang="en-US" sz="2000" b="1"/>
              <a:t>程序</a:t>
            </a:r>
            <a:r>
              <a:rPr lang="zh-CN" altLang="en-US" sz="2000" b="1">
                <a:latin typeface="宋体" panose="02010600030101010101" pitchFamily="2" charset="-122"/>
              </a:rPr>
              <a:t>"</a:t>
            </a:r>
            <a:r>
              <a:rPr lang="zh-CN" altLang="en-US" sz="2000" b="1"/>
              <a:t>绘制的</a:t>
            </a:r>
            <a:r>
              <a:rPr lang="en-US" altLang="zh-CN" sz="2000" b="1"/>
              <a:t>12*12</a:t>
            </a:r>
            <a:r>
              <a:rPr lang="zh-CN" altLang="en-US" sz="2000" b="1"/>
              <a:t>矩形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5345" y="1495049"/>
            <a:ext cx="4176464" cy="4247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2400" b="1" dirty="0">
                <a:solidFill>
                  <a:schemeClr val="bg1"/>
                </a:solidFill>
              </a:rPr>
              <a:t>海龟接收到的命令（指令集）</a:t>
            </a:r>
          </a:p>
        </p:txBody>
      </p:sp>
      <p:sp>
        <p:nvSpPr>
          <p:cNvPr id="17" name="文本框 1"/>
          <p:cNvSpPr txBox="1"/>
          <p:nvPr/>
        </p:nvSpPr>
        <p:spPr>
          <a:xfrm>
            <a:off x="4751958" y="1278439"/>
            <a:ext cx="2448372" cy="4247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2400" b="1" dirty="0">
                <a:solidFill>
                  <a:schemeClr val="bg1"/>
                </a:solidFill>
              </a:rPr>
              <a:t>操作</a:t>
            </a:r>
            <a:r>
              <a:rPr lang="en-US" altLang="zh-CN" sz="2400" b="1" dirty="0">
                <a:solidFill>
                  <a:schemeClr val="bg1"/>
                </a:solidFill>
              </a:rPr>
              <a:t>(</a:t>
            </a:r>
            <a:r>
              <a:rPr lang="zh-CN" altLang="en-US" sz="2400" b="1" dirty="0">
                <a:solidFill>
                  <a:schemeClr val="bg1"/>
                </a:solidFill>
              </a:rPr>
              <a:t>指令</a:t>
            </a:r>
            <a:r>
              <a:rPr lang="en-US" altLang="zh-CN" sz="2400" b="1" dirty="0">
                <a:solidFill>
                  <a:schemeClr val="bg1"/>
                </a:solidFill>
              </a:rPr>
              <a:t>)</a:t>
            </a:r>
            <a:r>
              <a:rPr lang="zh-CN" altLang="en-US" sz="2400" b="1" dirty="0">
                <a:solidFill>
                  <a:schemeClr val="bg1"/>
                </a:solidFill>
              </a:rPr>
              <a:t>序列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95536" y="1319213"/>
            <a:ext cx="8424936" cy="4611687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计算模型（状态机）。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状态、输入（激励）、状态转移。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海龟的状态，依赖于下面三个因素：</a:t>
            </a:r>
          </a:p>
          <a:p>
            <a:pPr marL="857250" lvl="2" indent="0" eaLnBrk="1" hangingPunct="1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笔的朝向（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write=0/1,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分别表示笔朝上和朝下）</a:t>
            </a:r>
          </a:p>
          <a:p>
            <a:pPr marL="857250" lvl="2" indent="0" eaLnBrk="1" hangingPunct="1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海龟当前位置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col)</a:t>
            </a:r>
          </a:p>
          <a:p>
            <a:pPr marL="857250" lvl="2" indent="0" eaLnBrk="1" hangingPunct="1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海龟的朝向（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=EAST/SOUTH/WEST/NORTH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输入：接收的命令（指令）序列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D265FB-3B64-48F5-8911-E58D77906461}" type="slidenum">
              <a:rPr lang="zh-CN" altLang="en-US" smtClean="0"/>
              <a:t>54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5A3DBA-CB5A-4BCE-9A8A-8CF5A34EDA9D}" type="slidenum">
              <a:rPr lang="zh-CN" altLang="en-US" sz="1400" smtClean="0"/>
              <a:t>55</a:t>
            </a:fld>
            <a:endParaRPr lang="en-US" altLang="zh-CN" sz="1400"/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5206131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设计：（数据结构设计）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/>
              <a:t>设计一个</a:t>
            </a:r>
            <a:r>
              <a:rPr lang="en-US" altLang="zh-CN" b="1" dirty="0"/>
              <a:t>50*50</a:t>
            </a:r>
            <a:r>
              <a:rPr lang="zh-CN" altLang="en-US" b="1" dirty="0"/>
              <a:t>的数组</a:t>
            </a:r>
            <a:r>
              <a:rPr lang="en-US" altLang="zh-CN" b="1" dirty="0"/>
              <a:t>floor</a:t>
            </a:r>
            <a:r>
              <a:rPr lang="zh-CN" altLang="en-US" b="1" dirty="0"/>
              <a:t>，用于记录海龟绘制的图形，数组元素初始化为</a:t>
            </a:r>
            <a:r>
              <a:rPr lang="en-US" altLang="zh-CN" b="1" dirty="0"/>
              <a:t>0</a:t>
            </a:r>
            <a:r>
              <a:rPr lang="zh-CN" altLang="en-US" b="1" dirty="0"/>
              <a:t>。</a:t>
            </a:r>
            <a:r>
              <a:rPr lang="zh-CN" altLang="en-US" b="1" dirty="0">
                <a:sym typeface="+mn-ea"/>
              </a:rPr>
              <a:t>在海龟爬行过程中，如果笔朝下，就把数组</a:t>
            </a:r>
            <a:r>
              <a:rPr lang="en-US" altLang="zh-CN" b="1" dirty="0">
                <a:sym typeface="+mn-ea"/>
              </a:rPr>
              <a:t>floor</a:t>
            </a:r>
            <a:r>
              <a:rPr lang="zh-CN" altLang="en-US" b="1" dirty="0">
                <a:sym typeface="+mn-ea"/>
              </a:rPr>
              <a:t>中对应于海龟所处位置的元素置为</a:t>
            </a:r>
            <a:r>
              <a:rPr lang="en-US" altLang="zh-CN" b="1" dirty="0">
                <a:sym typeface="+mn-ea"/>
              </a:rPr>
              <a:t>1</a:t>
            </a:r>
            <a:r>
              <a:rPr lang="zh-CN" altLang="zh-CN" b="1" dirty="0">
                <a:sym typeface="+mn-ea"/>
              </a:rPr>
              <a:t>。</a:t>
            </a:r>
            <a:endParaRPr lang="en-US" altLang="zh-CN" b="1" dirty="0"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b="1" dirty="0"/>
              <a:t>		</a:t>
            </a:r>
            <a:r>
              <a:rPr lang="en-US" altLang="zh-CN" b="1" dirty="0" err="1"/>
              <a:t>int</a:t>
            </a:r>
            <a:r>
              <a:rPr lang="en-US" altLang="zh-CN" b="1" dirty="0"/>
              <a:t> floor[50][50]={0};</a:t>
            </a:r>
            <a:r>
              <a:rPr lang="zh-CN" altLang="en-US" b="1" dirty="0"/>
              <a:t>当在第</a:t>
            </a:r>
            <a:r>
              <a:rPr lang="en-US" altLang="zh-CN" b="1" dirty="0" err="1"/>
              <a:t>i</a:t>
            </a:r>
            <a:r>
              <a:rPr lang="zh-CN" altLang="en-US" b="1" dirty="0"/>
              <a:t>行第</a:t>
            </a:r>
            <a:r>
              <a:rPr lang="en-US" altLang="zh-CN" b="1" dirty="0"/>
              <a:t>j</a:t>
            </a:r>
            <a:r>
              <a:rPr lang="zh-CN" altLang="en-US" b="1" dirty="0"/>
              <a:t>列绘制了图，则</a:t>
            </a:r>
            <a:r>
              <a:rPr lang="en-US" altLang="zh-CN" b="1" dirty="0"/>
              <a:t>floor[</a:t>
            </a:r>
            <a:r>
              <a:rPr lang="en-US" altLang="zh-CN" b="1" dirty="0" err="1"/>
              <a:t>i</a:t>
            </a:r>
            <a:r>
              <a:rPr lang="en-US" altLang="zh-CN" b="1" dirty="0"/>
              <a:t>][j]</a:t>
            </a:r>
            <a:r>
              <a:rPr lang="zh-CN" altLang="en-US" b="1" dirty="0"/>
              <a:t>置为</a:t>
            </a:r>
            <a:r>
              <a:rPr lang="en-US" altLang="zh-CN" b="1" dirty="0"/>
              <a:t>1</a:t>
            </a:r>
          </a:p>
          <a:p>
            <a:pPr eaLnBrk="1" hangingPunct="1">
              <a:buNone/>
            </a:pPr>
            <a:endParaRPr lang="en-US" altLang="zh-CN" b="1" dirty="0">
              <a:sym typeface="+mn-ea"/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/>
              <a:t>设计一个存放操作命令的数组：</a:t>
            </a:r>
          </a:p>
          <a:p>
            <a:pPr eaLnBrk="1" hangingPunct="1">
              <a:buFontTx/>
              <a:buNone/>
            </a:pPr>
            <a:r>
              <a:rPr lang="en-US" altLang="zh-CN" b="1" dirty="0"/>
              <a:t>		</a:t>
            </a:r>
            <a:r>
              <a:rPr lang="en-US" altLang="zh-CN" b="1" dirty="0" err="1"/>
              <a:t>int</a:t>
            </a:r>
            <a:r>
              <a:rPr lang="en-US" altLang="zh-CN" b="1" dirty="0"/>
              <a:t> commands[100]</a:t>
            </a:r>
            <a:r>
              <a:rPr lang="zh-CN" altLang="en-US" b="1" dirty="0"/>
              <a:t>；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算法设计）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buFontTx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计算过程：在初始状态下，接收命令，状态转移，直至接收到结束命令。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buFontTx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在海龟爬行过程中，如果笔朝下，就把数组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中对应于海龟所处位置的元素置为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。当给出命令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（打印命令）后，数组中元素为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的位置全部用星号显示，元素为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的位置全部用空格显示。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buFontTx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 smtClean="0"/>
              <a:t>56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932558-8DE8-4BB8-91E3-FD2D99064FB7}" type="slidenum">
              <a:rPr lang="zh-CN" altLang="en-US" sz="1400" smtClean="0"/>
              <a:t>57</a:t>
            </a:fld>
            <a:endParaRPr lang="en-US" altLang="zh-CN" sz="1400"/>
          </a:p>
        </p:txBody>
      </p:sp>
      <p:sp>
        <p:nvSpPr>
          <p:cNvPr id="154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127473"/>
            <a:ext cx="8207375" cy="539787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COMMANDSIZE 100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PICSIZE  50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EAST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SOUTH 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WEST 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NORTH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printGraph</a:t>
            </a:r>
            <a:r>
              <a:rPr lang="en-US" altLang="zh-CN" sz="2000" dirty="0">
                <a:latin typeface="Consolas" panose="020B0609020204030204" pitchFamily="49" charset="0"/>
              </a:rPr>
              <a:t>(int matrix[][</a:t>
            </a:r>
            <a:r>
              <a:rPr lang="en-US" altLang="zh-CN" sz="2000" dirty="0" err="1">
                <a:latin typeface="Consolas" panose="020B0609020204030204" pitchFamily="49" charset="0"/>
              </a:rPr>
              <a:t>PICSIZE</a:t>
            </a:r>
            <a:r>
              <a:rPr lang="en-US" altLang="zh-CN" sz="2000" dirty="0">
                <a:latin typeface="Consolas" panose="020B0609020204030204" pitchFamily="49" charset="0"/>
              </a:rPr>
              <a:t>],</a:t>
            </a:r>
            <a:r>
              <a:rPr lang="en-US" altLang="zh-CN" sz="2000" dirty="0" err="1">
                <a:latin typeface="Consolas" panose="020B0609020204030204" pitchFamily="49" charset="0"/>
              </a:rPr>
              <a:t>int,int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draw(int commands[],</a:t>
            </a:r>
            <a:r>
              <a:rPr lang="en-US" altLang="zh-CN" sz="2000" dirty="0" err="1">
                <a:latin typeface="Consolas" panose="020B0609020204030204" pitchFamily="49" charset="0"/>
              </a:rPr>
              <a:t>int,int</a:t>
            </a:r>
            <a:r>
              <a:rPr lang="en-US" altLang="zh-CN" sz="2000" dirty="0">
                <a:latin typeface="Consolas" panose="020B0609020204030204" pitchFamily="49" charset="0"/>
              </a:rPr>
              <a:t> floor[][</a:t>
            </a:r>
            <a:r>
              <a:rPr lang="en-US" altLang="zh-CN" sz="2000" dirty="0" err="1">
                <a:latin typeface="Consolas" panose="020B0609020204030204" pitchFamily="49" charset="0"/>
              </a:rPr>
              <a:t>PICSIZE</a:t>
            </a:r>
            <a:r>
              <a:rPr lang="en-US" altLang="zh-CN" sz="2000" dirty="0">
                <a:latin typeface="Consolas" panose="020B0609020204030204" pitchFamily="49" charset="0"/>
              </a:rPr>
              <a:t>],</a:t>
            </a:r>
            <a:r>
              <a:rPr lang="en-US" altLang="zh-CN" sz="2000" dirty="0" err="1">
                <a:latin typeface="Consolas" panose="020B0609020204030204" pitchFamily="49" charset="0"/>
              </a:rPr>
              <a:t>int,int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getCommand</a:t>
            </a:r>
            <a:r>
              <a:rPr lang="en-US" altLang="zh-CN" sz="2000" dirty="0">
                <a:latin typeface="Consolas" panose="020B0609020204030204" pitchFamily="49" charset="0"/>
              </a:rPr>
              <a:t>(int commands[],int);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main(void)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   int commands[</a:t>
            </a:r>
            <a:r>
              <a:rPr lang="en-US" altLang="zh-CN" sz="2000" dirty="0" err="1">
                <a:latin typeface="Consolas" panose="020B0609020204030204" pitchFamily="49" charset="0"/>
              </a:rPr>
              <a:t>COMMANDSIZE</a:t>
            </a:r>
            <a:r>
              <a:rPr lang="en-US" altLang="zh-CN" sz="2000" dirty="0">
                <a:latin typeface="Consolas" panose="020B0609020204030204" pitchFamily="49" charset="0"/>
              </a:rPr>
              <a:t>];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存储命令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floor[PICSIZE][PICSIZE]={0};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存储图片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getCommand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commands,COMMANDSIZE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获取命令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draw(commands, COMMANDSIZE ,floor, PICSIZE, PICSIZE);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作图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83B276-ADE4-4568-808E-740BED7A5003}" type="slidenum">
              <a:rPr lang="zh-CN" altLang="en-US" sz="1400" smtClean="0"/>
              <a:t>58</a:t>
            </a:fld>
            <a:endParaRPr lang="en-US" altLang="zh-CN" sz="1400"/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获取命令</a:t>
            </a: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810" y="1319530"/>
            <a:ext cx="8905875" cy="4918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latin typeface="Consolas" panose="020B0609020204030204" pitchFamily="49" charset="0"/>
              </a:rPr>
              <a:t>简化的命令输入函数，不考虑命令过多导致数组越界问题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getCommand</a:t>
            </a:r>
            <a:r>
              <a:rPr lang="en-US" altLang="zh-CN" sz="2400" dirty="0">
                <a:latin typeface="Consolas" panose="020B0609020204030204" pitchFamily="49" charset="0"/>
              </a:rPr>
              <a:t>(int commands[],int size)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 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=0;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("input the commands\n");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d",&amp;commands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while(commands[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]!=9 ){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if (commands[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]==5){  //</a:t>
            </a:r>
            <a:r>
              <a:rPr lang="zh-CN" altLang="en-US" sz="2400" dirty="0">
                <a:latin typeface="Consolas" panose="020B0609020204030204" pitchFamily="49" charset="0"/>
              </a:rPr>
              <a:t>继续读取前进的格数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("input steps:");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("%d", &amp;commands[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]);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("%d", &amp;commands[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C85C98-08A6-4FFE-9E4C-179C118C62C5}" type="slidenum">
              <a:rPr lang="zh-CN" altLang="en-US" sz="1400" smtClean="0"/>
              <a:t>59</a:t>
            </a:fld>
            <a:endParaRPr lang="en-US" altLang="zh-CN" sz="1400"/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156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8027988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	void draw(int commands[],  int size,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   int floor[][</a:t>
            </a:r>
            <a:r>
              <a:rPr lang="en-US" altLang="zh-CN" sz="2400" dirty="0" err="1">
                <a:latin typeface="Consolas" panose="020B0609020204030204" pitchFamily="49" charset="0"/>
              </a:rPr>
              <a:t>PICSIZE</a:t>
            </a:r>
            <a:r>
              <a:rPr lang="en-US" altLang="zh-CN" sz="2400" b="1" dirty="0"/>
              <a:t>],  int rows,  int cols)</a:t>
            </a:r>
            <a:r>
              <a:rPr lang="zh-CN" altLang="en-US" sz="2400" b="1" dirty="0"/>
              <a:t>；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海龟是否作图，以及作图的轨迹依赖于下面三个因素：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		</a:t>
            </a:r>
            <a:r>
              <a:rPr lang="en-US" altLang="zh-CN" sz="2400" b="1" dirty="0"/>
              <a:t>1.</a:t>
            </a:r>
            <a:r>
              <a:rPr lang="zh-CN" altLang="en-US" sz="2400" b="1" dirty="0"/>
              <a:t>笔的朝向（</a:t>
            </a:r>
            <a:r>
              <a:rPr lang="en-US" altLang="zh-CN" sz="2400" b="1" dirty="0"/>
              <a:t>write=0/1,</a:t>
            </a:r>
            <a:r>
              <a:rPr lang="zh-CN" altLang="en-US" sz="2400" b="1" dirty="0"/>
              <a:t>分别表示笔朝上和朝下）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		</a:t>
            </a:r>
            <a:r>
              <a:rPr lang="en-US" altLang="zh-CN" sz="2400" b="1" dirty="0"/>
              <a:t>2.</a:t>
            </a:r>
            <a:r>
              <a:rPr lang="zh-CN" altLang="en-US" sz="2400" b="1" dirty="0"/>
              <a:t>海龟当前位置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坐标</a:t>
            </a:r>
            <a:r>
              <a:rPr lang="en-US" altLang="zh-CN" sz="2400" b="1" dirty="0"/>
              <a:t>row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col)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		</a:t>
            </a:r>
            <a:r>
              <a:rPr lang="en-US" altLang="zh-CN" sz="2400" b="1" dirty="0"/>
              <a:t>3.</a:t>
            </a:r>
            <a:r>
              <a:rPr lang="zh-CN" altLang="en-US" sz="2400" b="1" dirty="0"/>
              <a:t>海龟的朝向（</a:t>
            </a:r>
            <a:r>
              <a:rPr lang="en-US" altLang="zh-CN" sz="2400" b="1" dirty="0" err="1"/>
              <a:t>dir</a:t>
            </a:r>
            <a:r>
              <a:rPr lang="en-US" altLang="zh-CN" sz="2400" b="1" dirty="0"/>
              <a:t>=EAST/SOUTH/WEST/NORTH</a:t>
            </a:r>
            <a:r>
              <a:rPr lang="zh-CN" altLang="en-US" sz="2400" b="1" dirty="0"/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</a:t>
            </a:r>
          </a:p>
          <a:p>
            <a:pPr eaLnBrk="1" hangingPunct="1">
              <a:buFontTx/>
              <a:buNone/>
            </a:pPr>
            <a:endParaRPr lang="zh-CN" altLang="en-US" sz="2400" b="1" dirty="0"/>
          </a:p>
        </p:txBody>
      </p:sp>
      <p:sp>
        <p:nvSpPr>
          <p:cNvPr id="156677" name="Text Box 7"/>
          <p:cNvSpPr txBox="1">
            <a:spLocks noChangeArrowheads="1"/>
          </p:cNvSpPr>
          <p:nvPr/>
        </p:nvSpPr>
        <p:spPr bwMode="auto">
          <a:xfrm>
            <a:off x="5148263" y="3933825"/>
            <a:ext cx="3600450" cy="2482215"/>
          </a:xfrm>
          <a:prstGeom prst="rect">
            <a:avLst/>
          </a:prstGeom>
          <a:solidFill>
            <a:srgbClr val="66FF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命令</a:t>
            </a:r>
            <a:r>
              <a:rPr lang="en-US" altLang="zh-CN" sz="2000" b="1"/>
              <a:t>1</a:t>
            </a:r>
            <a:r>
              <a:rPr lang="zh-CN" altLang="en-US" sz="2000" b="1"/>
              <a:t>、</a:t>
            </a:r>
            <a:r>
              <a:rPr lang="en-US" altLang="zh-CN" sz="2000" b="1"/>
              <a:t>2</a:t>
            </a:r>
            <a:r>
              <a:rPr lang="zh-CN" altLang="en-US" sz="2000" b="1"/>
              <a:t>：改变笔的朝向</a:t>
            </a:r>
            <a:r>
              <a:rPr lang="en-US" altLang="zh-CN" sz="2000" b="1"/>
              <a:t>write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命令</a:t>
            </a:r>
            <a:r>
              <a:rPr lang="en-US" altLang="zh-CN" sz="2000" b="1"/>
              <a:t>3</a:t>
            </a:r>
            <a:r>
              <a:rPr lang="zh-CN" altLang="en-US" sz="2000" b="1"/>
              <a:t>、</a:t>
            </a:r>
            <a:r>
              <a:rPr lang="en-US" altLang="zh-CN" sz="2000" b="1"/>
              <a:t>4</a:t>
            </a:r>
            <a:r>
              <a:rPr lang="zh-CN" altLang="en-US" sz="2000" b="1"/>
              <a:t>：改变海龟朝向</a:t>
            </a:r>
            <a:r>
              <a:rPr lang="en-US" altLang="zh-CN" sz="2000" b="1"/>
              <a:t>dir</a:t>
            </a:r>
            <a:r>
              <a:rPr lang="zh-CN" altLang="en-US" sz="2000" b="1"/>
              <a:t>（依赖于当前海龟朝向）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命令</a:t>
            </a:r>
            <a:r>
              <a:rPr lang="en-US" altLang="zh-CN" sz="2000" b="1"/>
              <a:t>5</a:t>
            </a:r>
            <a:r>
              <a:rPr lang="zh-CN" altLang="en-US" sz="2000" b="1"/>
              <a:t>：作图</a:t>
            </a:r>
            <a:r>
              <a:rPr lang="en-US" altLang="zh-CN" sz="2000" b="1"/>
              <a:t>(</a:t>
            </a:r>
            <a:r>
              <a:rPr lang="zh-CN" altLang="en-US" sz="2000" b="1"/>
              <a:t>依赖于海龟的朝向和当前坐标</a:t>
            </a:r>
            <a:r>
              <a:rPr lang="en-US" altLang="zh-CN" sz="2000" b="1"/>
              <a:t>)</a:t>
            </a:r>
            <a:r>
              <a:rPr lang="zh-CN" altLang="en-US" sz="2000" b="1"/>
              <a:t>，改变海龟位坐标</a:t>
            </a:r>
            <a:r>
              <a:rPr lang="en-US" altLang="zh-CN" sz="2000" b="1"/>
              <a:t>(row,col)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命令</a:t>
            </a:r>
            <a:r>
              <a:rPr lang="en-US" altLang="zh-CN" sz="2000" b="1"/>
              <a:t>6</a:t>
            </a:r>
            <a:r>
              <a:rPr lang="zh-CN" altLang="en-US" sz="2000" b="1"/>
              <a:t>：打印</a:t>
            </a:r>
            <a:r>
              <a:rPr lang="en-US" altLang="zh-CN" sz="2000" b="1"/>
              <a:t>floor</a:t>
            </a:r>
          </a:p>
        </p:txBody>
      </p:sp>
      <p:graphicFrame>
        <p:nvGraphicFramePr>
          <p:cNvPr id="156678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755650" y="3933825"/>
          <a:ext cx="3810000" cy="25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15820" imgH="1398270" progId="Visio.Drawing.11">
                  <p:embed/>
                </p:oleObj>
              </mc:Choice>
              <mc:Fallback>
                <p:oleObj name="Visio" r:id="rId2" imgW="2115820" imgH="13982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933825"/>
                        <a:ext cx="3810000" cy="250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44A036-BAF1-40DD-988E-C93FB9334DBE}" type="slidenum">
              <a:rPr lang="zh-CN" altLang="en-US" sz="1400" smtClean="0"/>
              <a:t>60</a:t>
            </a:fld>
            <a:endParaRPr lang="en-US" altLang="zh-CN" sz="1400"/>
          </a:p>
        </p:txBody>
      </p:sp>
      <p:sp>
        <p:nvSpPr>
          <p:cNvPr id="1576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157700" name="Freeform 8"/>
          <p:cNvSpPr/>
          <p:nvPr/>
        </p:nvSpPr>
        <p:spPr bwMode="auto">
          <a:xfrm>
            <a:off x="2700338" y="1196975"/>
            <a:ext cx="1008062" cy="287338"/>
          </a:xfrm>
          <a:custGeom>
            <a:avLst/>
            <a:gdLst>
              <a:gd name="T0" fmla="*/ 0 w 703"/>
              <a:gd name="T1" fmla="*/ 2147483647 h 280"/>
              <a:gd name="T2" fmla="*/ 2147483647 w 703"/>
              <a:gd name="T3" fmla="*/ 2147483647 h 280"/>
              <a:gd name="T4" fmla="*/ 2147483647 w 703"/>
              <a:gd name="T5" fmla="*/ 2147483647 h 280"/>
              <a:gd name="T6" fmla="*/ 2147483647 w 703"/>
              <a:gd name="T7" fmla="*/ 2147483647 h 2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03" h="280">
                <a:moveTo>
                  <a:pt x="0" y="8"/>
                </a:moveTo>
                <a:cubicBezTo>
                  <a:pt x="83" y="4"/>
                  <a:pt x="166" y="0"/>
                  <a:pt x="272" y="8"/>
                </a:cubicBezTo>
                <a:cubicBezTo>
                  <a:pt x="378" y="16"/>
                  <a:pt x="567" y="9"/>
                  <a:pt x="635" y="54"/>
                </a:cubicBezTo>
                <a:cubicBezTo>
                  <a:pt x="703" y="99"/>
                  <a:pt x="691" y="189"/>
                  <a:pt x="680" y="28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7701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179388" y="20638"/>
          <a:ext cx="26638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115820" imgH="1398270" progId="Visio.Drawing.11">
                  <p:embed/>
                </p:oleObj>
              </mc:Choice>
              <mc:Fallback>
                <p:oleObj name="Visio" r:id="rId3" imgW="2115820" imgH="1398270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0638"/>
                        <a:ext cx="26638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2" name="Rectangle 11"/>
          <p:cNvSpPr>
            <a:spLocks noChangeArrowheads="1"/>
          </p:cNvSpPr>
          <p:nvPr/>
        </p:nvSpPr>
        <p:spPr bwMode="auto">
          <a:xfrm>
            <a:off x="2051050" y="1557338"/>
            <a:ext cx="6913563" cy="4737735"/>
          </a:xfrm>
          <a:prstGeom prst="rect">
            <a:avLst/>
          </a:prstGeom>
          <a:solidFill>
            <a:srgbClr val="66FFFF"/>
          </a:solidFill>
          <a:ln w="9525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000" b="1"/>
              <a:t> </a:t>
            </a:r>
            <a:r>
              <a:rPr lang="en-US" altLang="zh-CN" sz="2000" b="1"/>
              <a:t>switch (commands[i]){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case 1:write=0;break;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case 2:write=1;break;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case 3://</a:t>
            </a:r>
            <a:r>
              <a:rPr lang="zh-CN" altLang="en-US" sz="2000" b="1"/>
              <a:t>右转</a:t>
            </a:r>
          </a:p>
          <a:p>
            <a:pPr eaLnBrk="1" hangingPunct="1">
              <a:buFontTx/>
              <a:buNone/>
            </a:pPr>
            <a:r>
              <a:rPr lang="zh-CN" altLang="en-US" sz="2000" b="1"/>
              <a:t>           </a:t>
            </a:r>
            <a:r>
              <a:rPr lang="en-US" altLang="zh-CN" sz="2000" b="1"/>
              <a:t>//</a:t>
            </a:r>
            <a:r>
              <a:rPr lang="zh-CN" altLang="en-US" sz="2000" b="1"/>
              <a:t>修改海龟朝向（北变东，东变南，南变西，西变北） 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case 4://</a:t>
            </a:r>
            <a:r>
              <a:rPr lang="zh-CN" altLang="en-US" sz="2000" b="1"/>
              <a:t>左转</a:t>
            </a:r>
          </a:p>
          <a:p>
            <a:pPr eaLnBrk="1" hangingPunct="1">
              <a:buFontTx/>
              <a:buNone/>
            </a:pPr>
            <a:r>
              <a:rPr lang="zh-CN" altLang="en-US" sz="2000" b="1"/>
              <a:t>          </a:t>
            </a:r>
            <a:r>
              <a:rPr lang="en-US" altLang="zh-CN" sz="2000" b="1"/>
              <a:t>//</a:t>
            </a:r>
            <a:r>
              <a:rPr lang="zh-CN" altLang="en-US" sz="2000" b="1"/>
              <a:t>修改海龟朝向（北变西，西变南，南变东，东变北） 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case 5://</a:t>
            </a:r>
            <a:r>
              <a:rPr lang="zh-CN" altLang="en-US" sz="2000" b="1"/>
              <a:t>画图      </a:t>
            </a:r>
          </a:p>
          <a:p>
            <a:pPr eaLnBrk="1" hangingPunct="1">
              <a:buFontTx/>
              <a:buNone/>
            </a:pPr>
            <a:r>
              <a:rPr lang="zh-CN" altLang="en-US" sz="2000" b="1"/>
              <a:t>         </a:t>
            </a:r>
            <a:r>
              <a:rPr lang="en-US" altLang="zh-CN" sz="2000" b="1"/>
              <a:t>if (write==1) //</a:t>
            </a:r>
            <a:r>
              <a:rPr lang="zh-CN" altLang="en-US" sz="2000" b="1"/>
              <a:t>如果笔朝下，则画图</a:t>
            </a:r>
          </a:p>
          <a:p>
            <a:pPr eaLnBrk="1" hangingPunct="1">
              <a:buFontTx/>
              <a:buNone/>
            </a:pPr>
            <a:r>
              <a:rPr lang="zh-CN" altLang="en-US" sz="2000" b="1"/>
              <a:t>            </a:t>
            </a:r>
            <a:r>
              <a:rPr lang="en-US" altLang="zh-CN" sz="2000" b="1"/>
              <a:t>//</a:t>
            </a:r>
            <a:r>
              <a:rPr lang="zh-CN" altLang="en-US" sz="2000" b="1"/>
              <a:t>画图 ，更新海龟坐标</a:t>
            </a:r>
            <a:r>
              <a:rPr lang="en-US" altLang="zh-CN" sz="2000" b="1"/>
              <a:t>(</a:t>
            </a:r>
            <a:r>
              <a:rPr lang="zh-CN" altLang="en-US" sz="2000" b="1"/>
              <a:t>四个朝向分别处理） </a:t>
            </a:r>
            <a:endParaRPr lang="en-US" altLang="zh-CN" sz="2000" b="1"/>
          </a:p>
          <a:p>
            <a:pPr eaLnBrk="1" hangingPunct="1">
              <a:buFontTx/>
              <a:buNone/>
            </a:pPr>
            <a:r>
              <a:rPr lang="en-US" altLang="zh-CN" sz="2000" b="1"/>
              <a:t>         else  //</a:t>
            </a:r>
            <a:r>
              <a:rPr lang="zh-CN" altLang="en-US" sz="2000" b="1"/>
              <a:t>如果笔朝上</a:t>
            </a:r>
            <a:r>
              <a:rPr lang="en-US" altLang="zh-CN" sz="2000" b="1"/>
              <a:t>,</a:t>
            </a:r>
            <a:r>
              <a:rPr lang="zh-CN" altLang="en-US" sz="2000" b="1"/>
              <a:t>则只是简单修改海龟的坐标 </a:t>
            </a:r>
          </a:p>
          <a:p>
            <a:pPr eaLnBrk="1" hangingPunct="1">
              <a:buFontTx/>
              <a:buNone/>
            </a:pPr>
            <a:r>
              <a:rPr lang="zh-CN" altLang="en-US" sz="2000" b="1"/>
              <a:t>               </a:t>
            </a:r>
            <a:r>
              <a:rPr lang="en-US" altLang="zh-CN" sz="2000" b="1"/>
              <a:t>//</a:t>
            </a:r>
            <a:r>
              <a:rPr lang="zh-CN" altLang="en-US" sz="2000" b="1"/>
              <a:t>更新海龟坐标（四个朝向分别处理） 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 case 6:printArray(floor,50,50);break;    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}</a:t>
            </a:r>
            <a:endParaRPr lang="zh-CN" altLang="en-US" sz="2000" b="1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4625" y="1125855"/>
            <a:ext cx="8861425" cy="46113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void draw(int commands</a:t>
            </a:r>
            <a:r>
              <a:rPr lang="en-US" altLang="zh-CN" sz="2400" dirty="0">
                <a:latin typeface="Consolas" panose="020B0609020204030204" pitchFamily="49" charset="0"/>
              </a:rPr>
              <a:t>[]</a:t>
            </a:r>
            <a:r>
              <a:rPr lang="zh-CN" altLang="en-US" sz="2400" dirty="0">
                <a:latin typeface="Consolas" panose="020B0609020204030204" pitchFamily="49" charset="0"/>
              </a:rPr>
              <a:t>,int size,int </a:t>
            </a:r>
            <a:r>
              <a:rPr lang="en-US" altLang="zh-CN" sz="2400" dirty="0">
                <a:latin typeface="Consolas" panose="020B0609020204030204" pitchFamily="49" charset="0"/>
              </a:rPr>
              <a:t>floor[] [</a:t>
            </a:r>
            <a:r>
              <a:rPr lang="en-US" altLang="zh-CN" sz="2400" dirty="0" err="1">
                <a:latin typeface="Consolas" panose="020B0609020204030204" pitchFamily="49" charset="0"/>
              </a:rPr>
              <a:t>PICSIZE</a:t>
            </a:r>
            <a:r>
              <a:rPr lang="en-US" altLang="zh-CN" sz="2400" dirty="0">
                <a:latin typeface="Consolas" panose="020B0609020204030204" pitchFamily="49" charset="0"/>
              </a:rPr>
              <a:t>]</a:t>
            </a:r>
            <a:r>
              <a:rPr lang="zh-CN" altLang="en-US" sz="2400" dirty="0">
                <a:latin typeface="Consolas" panose="020B0609020204030204" pitchFamily="49" charset="0"/>
              </a:rPr>
              <a:t>,int rows,int cols)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{ int i,j;//循环控制变量 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int row=rows-1,col=0;//海龟初始位置在坐标原点 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int dir=NORTH;//海龟初始方向是向北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int write=0; //0</a:t>
            </a: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记录笔</a:t>
            </a:r>
            <a:r>
              <a:rPr lang="zh-CN" altLang="en-US" sz="2400" dirty="0">
                <a:latin typeface="Consolas" panose="020B0609020204030204" pitchFamily="49" charset="0"/>
              </a:rPr>
              <a:t>朝上；1：朝下。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for (i=0; i&lt;size &amp;&amp; commands[i]!=9; i++)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  switch (commands[i]){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     case 1: write=0; break;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     case 2: write=1; break;</a:t>
            </a:r>
          </a:p>
          <a:p>
            <a:pPr marL="0" indent="0"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61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840" y="1233805"/>
            <a:ext cx="8919210" cy="46113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case 3://右转，改变海龟朝向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if (dir&gt;=0 &amp;&amp; dir&lt;4) dir=(dir+1)%4;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else printf(" error dir\n");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/*</a:t>
            </a: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switch (dir){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   case EAST:   dir=SOUTH; break;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   case SOUTH:  dir=WEST;  break;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   case WEST:   dir=NORTH; break;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   case NORTH:  dir=EAST;  break;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   default: printf(" error dir\n");break;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}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*/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            break;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62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" y="1412776"/>
            <a:ext cx="8694420" cy="45181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case 4://左转，改变海龟朝向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if (dir&gt;=0 &amp;&amp; dir&lt;4) dir=(dir+3)%4;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zh-CN" altLang="en-US" sz="2000" dirty="0">
                <a:latin typeface="Consolas" panose="020B0609020204030204" pitchFamily="49" charset="0"/>
              </a:rPr>
              <a:t>//dir=(dir-1)&gt;=0?dir-1:3; 但不能是(dir-1)%4;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else printf(" error dir\n");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</a:t>
            </a:r>
            <a:r>
              <a:rPr lang="en-US" altLang="zh-CN" sz="2000" dirty="0">
                <a:latin typeface="Consolas" panose="020B0609020204030204" pitchFamily="49" charset="0"/>
              </a:rPr>
              <a:t>/*</a:t>
            </a:r>
            <a:r>
              <a:rPr lang="zh-CN" altLang="en-US" sz="2000" dirty="0">
                <a:latin typeface="Consolas" panose="020B0609020204030204" pitchFamily="49" charset="0"/>
              </a:rPr>
              <a:t>switch (dir){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case EAST:   dir=NORTH; 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case SOUTH:  dir=EAST;  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case WEST:   dir=SOUTH; 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case NORTH:  dir=WEST;  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default: printf("error dir\n");break;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}</a:t>
            </a:r>
            <a:r>
              <a:rPr lang="en-US" altLang="zh-CN" sz="2000" dirty="0"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break;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63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30" y="1125220"/>
            <a:ext cx="9065895" cy="48056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case 5://画图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i++;  //用于读取前进的步数   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if (write==1){ //如果笔朝下，则画图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for(j=1; j&lt;=commands[i]; j++){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switch (dir){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       case EAST:  col++;break;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       case SOUTH: row++;break;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       case WEST:  col--;break;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       case NORTH: row--;break;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       default:printf("</a:t>
            </a:r>
            <a:r>
              <a:rPr lang="en-US" altLang="zh-CN" sz="2000" dirty="0">
                <a:latin typeface="Consolas" panose="020B0609020204030204" pitchFamily="49" charset="0"/>
              </a:rPr>
              <a:t>error </a:t>
            </a:r>
            <a:r>
              <a:rPr lang="zh-CN" altLang="en-US" sz="2000" dirty="0">
                <a:latin typeface="Consolas" panose="020B0609020204030204" pitchFamily="49" charset="0"/>
              </a:rPr>
              <a:t>dir </a:t>
            </a:r>
            <a:r>
              <a:rPr lang="en-US" altLang="zh-CN" sz="2000" dirty="0">
                <a:latin typeface="Consolas" panose="020B0609020204030204" pitchFamily="49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</a:rPr>
              <a:t> case 5\n");}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2000" dirty="0">
                <a:latin typeface="Consolas" panose="020B0609020204030204" pitchFamily="49" charset="0"/>
              </a:rPr>
              <a:t>floor[</a:t>
            </a:r>
            <a:r>
              <a:rPr lang="zh-CN" altLang="en-US" sz="2000" dirty="0">
                <a:latin typeface="Consolas" panose="020B0609020204030204" pitchFamily="49" charset="0"/>
              </a:rPr>
              <a:t>row</a:t>
            </a:r>
            <a:r>
              <a:rPr lang="en-US" altLang="zh-CN" sz="2000" dirty="0">
                <a:latin typeface="Consolas" panose="020B0609020204030204" pitchFamily="49" charset="0"/>
              </a:rPr>
              <a:t>][</a:t>
            </a:r>
            <a:r>
              <a:rPr lang="zh-CN" altLang="en-US" sz="2000" dirty="0">
                <a:latin typeface="Consolas" panose="020B0609020204030204" pitchFamily="49" charset="0"/>
              </a:rPr>
              <a:t>col</a:t>
            </a:r>
            <a:r>
              <a:rPr lang="en-US" altLang="zh-CN" sz="2000" dirty="0">
                <a:latin typeface="Consolas" panose="020B0609020204030204" pitchFamily="49" charset="0"/>
              </a:rPr>
              <a:t>]</a:t>
            </a:r>
            <a:r>
              <a:rPr lang="zh-CN" altLang="en-US" sz="2000" dirty="0">
                <a:latin typeface="Consolas" panose="020B0609020204030204" pitchFamily="49" charset="0"/>
              </a:rPr>
              <a:t>=1;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}//end for(j)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64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" y="1125855"/>
            <a:ext cx="8990965" cy="46113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else{//如果笔朝上,则只是简单修改海龟的坐标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switch (dir){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case EAST: col+=commands[i]; break;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case SOUTH:row+=commands[i]; break;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case WEST: col-=commands[i]; break;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case NORTH:row-=commands[i]; break;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   default:printf("invalid direction in second part of case 5\n");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   }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}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 break;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case 6:print</a:t>
            </a:r>
            <a:r>
              <a:rPr lang="en-US" altLang="zh-CN" sz="2000" dirty="0">
                <a:latin typeface="Consolas" panose="020B0609020204030204" pitchFamily="49" charset="0"/>
              </a:rPr>
              <a:t>Graph</a:t>
            </a:r>
            <a:r>
              <a:rPr lang="zh-CN" altLang="en-US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latin typeface="Consolas" panose="020B0609020204030204" pitchFamily="49" charset="0"/>
              </a:rPr>
              <a:t>floor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latin typeface="Consolas" panose="020B0609020204030204" pitchFamily="49" charset="0"/>
              </a:rPr>
              <a:t>rows</a:t>
            </a:r>
            <a:r>
              <a:rPr lang="zh-CN" altLang="en-US" sz="2000" dirty="0"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latin typeface="Consolas" panose="020B0609020204030204" pitchFamily="49" charset="0"/>
              </a:rPr>
              <a:t>cols</a:t>
            </a:r>
            <a:r>
              <a:rPr lang="zh-CN" altLang="en-US" sz="2000" dirty="0">
                <a:latin typeface="Consolas" panose="020B0609020204030204" pitchFamily="49" charset="0"/>
              </a:rPr>
              <a:t>);break;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}//case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FCF81A-63DF-425F-8382-179C6EBDE7B5}" type="slidenum">
              <a:rPr lang="zh-CN" altLang="en-US"/>
              <a:t>65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ED14EB-D896-4B49-8B1F-00545D741C1C}" type="slidenum">
              <a:rPr lang="zh-CN" altLang="en-US" sz="1400" smtClean="0"/>
              <a:t>66</a:t>
            </a:fld>
            <a:endParaRPr lang="en-US" altLang="zh-CN" sz="1400"/>
          </a:p>
        </p:txBody>
      </p:sp>
      <p:sp>
        <p:nvSpPr>
          <p:cNvPr id="158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实例研究二：海龟作图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打印图形</a:t>
            </a:r>
          </a:p>
        </p:txBody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4475" y="1234440"/>
            <a:ext cx="8792210" cy="469646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printGraph</a:t>
            </a:r>
            <a:r>
              <a:rPr lang="en-US" altLang="zh-CN" sz="2000" dirty="0">
                <a:latin typeface="Consolas" panose="020B0609020204030204" pitchFamily="49" charset="0"/>
              </a:rPr>
              <a:t>(int matrix[][</a:t>
            </a:r>
            <a:r>
              <a:rPr lang="en-US" altLang="zh-CN" sz="2000" dirty="0" err="1">
                <a:latin typeface="Consolas" panose="020B0609020204030204" pitchFamily="49" charset="0"/>
              </a:rPr>
              <a:t>PICSIZE</a:t>
            </a:r>
            <a:r>
              <a:rPr lang="en-US" altLang="zh-CN" sz="2000" dirty="0">
                <a:latin typeface="Consolas" panose="020B0609020204030204" pitchFamily="49" charset="0"/>
              </a:rPr>
              <a:t>],int </a:t>
            </a:r>
            <a:r>
              <a:rPr lang="en-US" altLang="zh-CN" sz="2000" dirty="0" err="1">
                <a:latin typeface="Consolas" panose="020B0609020204030204" pitchFamily="49" charset="0"/>
              </a:rPr>
              <a:t>rows,int</a:t>
            </a:r>
            <a:r>
              <a:rPr lang="en-US" altLang="zh-CN" sz="2000" dirty="0">
                <a:latin typeface="Consolas" panose="020B0609020204030204" pitchFamily="49" charset="0"/>
              </a:rPr>
              <a:t> cols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i,j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("the graph is:\n");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 rows;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for(j=0; j &lt; cols; </a:t>
            </a:r>
            <a:r>
              <a:rPr lang="en-US" altLang="zh-CN" sz="2000" dirty="0" err="1">
                <a:latin typeface="Consolas" panose="020B0609020204030204" pitchFamily="49" charset="0"/>
              </a:rPr>
              <a:t>j++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if(matrix[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][j]!=0)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('*');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 ');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('\n');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}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4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67</a:t>
            </a:fld>
            <a:endParaRPr lang="zh-CN" altLang="en-US" sz="1400" b="1" dirty="0"/>
          </a:p>
        </p:txBody>
      </p:sp>
      <p:graphicFrame>
        <p:nvGraphicFramePr>
          <p:cNvPr id="7373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348038" y="2640013"/>
          <a:ext cx="2376487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">
                  <p:embed/>
                </p:oleObj>
              </mc:Choice>
              <mc:Fallback>
                <p:oleObj r:id="rId2" imgW="1132205" imgH="1054100" progId="">
                  <p:embed/>
                  <p:pic>
                    <p:nvPicPr>
                      <p:cNvPr id="73731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8038" y="2640013"/>
                        <a:ext cx="2376487" cy="2212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547</TotalTime>
  <Words>7954</Words>
  <Application>Microsoft Office PowerPoint</Application>
  <PresentationFormat>全屏显示(4:3)</PresentationFormat>
  <Paragraphs>942</Paragraphs>
  <Slides>67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79" baseType="lpstr">
      <vt:lpstr>Monotype Sorts</vt:lpstr>
      <vt:lpstr>System</vt:lpstr>
      <vt:lpstr>隶书</vt:lpstr>
      <vt:lpstr>宋体</vt:lpstr>
      <vt:lpstr>微软雅黑</vt:lpstr>
      <vt:lpstr>Arial</vt:lpstr>
      <vt:lpstr>Consolas</vt:lpstr>
      <vt:lpstr>Times New Roman</vt:lpstr>
      <vt:lpstr>Wingdings</vt:lpstr>
      <vt:lpstr>经分互动规范介绍</vt:lpstr>
      <vt:lpstr>公式</vt:lpstr>
      <vt:lpstr>Visio</vt:lpstr>
      <vt:lpstr>PowerPoint 演示文稿</vt:lpstr>
      <vt:lpstr>提纲</vt:lpstr>
      <vt:lpstr>1.二维数组的表达对象</vt:lpstr>
      <vt:lpstr>1.二维数组的表达对象</vt:lpstr>
      <vt:lpstr>1.二维数组的表达对象</vt:lpstr>
      <vt:lpstr>提纲</vt:lpstr>
      <vt:lpstr>PowerPoint 演示文稿</vt:lpstr>
      <vt:lpstr>PowerPoint 演示文稿</vt:lpstr>
      <vt:lpstr>PowerPoint 演示文稿</vt:lpstr>
      <vt:lpstr>提纲</vt:lpstr>
      <vt:lpstr>PowerPoint 演示文稿</vt:lpstr>
      <vt:lpstr>PowerPoint 演示文稿</vt:lpstr>
      <vt:lpstr>3.二维数组在内存中的存放</vt:lpstr>
      <vt:lpstr>提纲</vt:lpstr>
      <vt:lpstr>气象数据统计</vt:lpstr>
      <vt:lpstr>PowerPoint 演示文稿</vt:lpstr>
      <vt:lpstr>PowerPoint 演示文稿</vt:lpstr>
      <vt:lpstr>提纲</vt:lpstr>
      <vt:lpstr>5.二维数组名作函数实参</vt:lpstr>
      <vt:lpstr>打印整数二维数组子函数</vt:lpstr>
      <vt:lpstr>打印小数二维数组子函数</vt:lpstr>
      <vt:lpstr>测试主程序</vt:lpstr>
      <vt:lpstr>5.二维数组名作函数实参</vt:lpstr>
      <vt:lpstr>5.二维数组名作函数实参</vt:lpstr>
      <vt:lpstr>提纲</vt:lpstr>
      <vt:lpstr>矩阵的整体处理：求最大</vt:lpstr>
      <vt:lpstr>矩阵的行处理：求行平均</vt:lpstr>
      <vt:lpstr>测试主程序</vt:lpstr>
      <vt:lpstr>矩阵的列处理：求列平均</vt:lpstr>
      <vt:lpstr>测试主程序</vt:lpstr>
      <vt:lpstr>例2.矩阵相乘</vt:lpstr>
      <vt:lpstr>矩阵输入子函数</vt:lpstr>
      <vt:lpstr>矩阵乘法子函数</vt:lpstr>
      <vt:lpstr>矩阵相乘:测试主程序</vt:lpstr>
      <vt:lpstr>PowerPoint 演示文稿</vt:lpstr>
      <vt:lpstr>PowerPoint 演示文稿</vt:lpstr>
      <vt:lpstr>找行最大值位置的子程序</vt:lpstr>
      <vt:lpstr>找列最小值位置的子程序</vt:lpstr>
      <vt:lpstr>矩阵输入子函数</vt:lpstr>
      <vt:lpstr>找矩阵鞍点的主程序(1)</vt:lpstr>
      <vt:lpstr>找矩阵鞍点的主程序(2)</vt:lpstr>
      <vt:lpstr>提纲</vt:lpstr>
      <vt:lpstr>  实例研究一：（模拟发牌和洗牌）</vt:lpstr>
      <vt:lpstr>实例研究一：（模拟发牌和洗牌）</vt:lpstr>
      <vt:lpstr>实例研究一：（模拟发牌和洗牌）</vt:lpstr>
      <vt:lpstr>实例研究一：（模拟发牌和洗牌）</vt:lpstr>
      <vt:lpstr>实例研究一：（模拟发牌和洗牌）</vt:lpstr>
      <vt:lpstr>实例研究一：（模拟发牌和洗牌）</vt:lpstr>
      <vt:lpstr>实例研究一：（模拟发牌和洗牌）</vt:lpstr>
      <vt:lpstr>实例研究一：（模拟发牌和洗牌）</vt:lpstr>
      <vt:lpstr>实例研究一：（模拟发牌和洗牌）</vt:lpstr>
      <vt:lpstr>实例研究二：海龟作图</vt:lpstr>
      <vt:lpstr>实例研究二：海龟作图</vt:lpstr>
      <vt:lpstr>实例研究二：海龟作图</vt:lpstr>
      <vt:lpstr>实例研究二：海龟作图</vt:lpstr>
      <vt:lpstr>PowerPoint 演示文稿</vt:lpstr>
      <vt:lpstr>实例研究二：海龟作图</vt:lpstr>
      <vt:lpstr>实例研究二：海龟作图-获取命令</vt:lpstr>
      <vt:lpstr>实例研究二：海龟作图-作图</vt:lpstr>
      <vt:lpstr>实例研究二：海龟作图-作图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实例研究二：海龟作图-打印图形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creator>cyzhou</dc:creator>
  <cp:lastModifiedBy>zhang yanmei</cp:lastModifiedBy>
  <cp:revision>1907</cp:revision>
  <dcterms:created xsi:type="dcterms:W3CDTF">2002-12-06T01:10:00Z</dcterms:created>
  <dcterms:modified xsi:type="dcterms:W3CDTF">2022-12-07T09:07:35Z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2052-10.1.0.7023</vt:lpwstr>
  </property>
</Properties>
</file>