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handoutMasterIdLst>
    <p:handoutMasterId r:id="rId64"/>
  </p:handoutMasterIdLst>
  <p:sldIdLst>
    <p:sldId id="256" r:id="rId2"/>
    <p:sldId id="257" r:id="rId3"/>
    <p:sldId id="258" r:id="rId4"/>
    <p:sldId id="286" r:id="rId5"/>
    <p:sldId id="1990" r:id="rId6"/>
    <p:sldId id="1991" r:id="rId7"/>
    <p:sldId id="1966" r:id="rId8"/>
    <p:sldId id="296" r:id="rId9"/>
    <p:sldId id="433" r:id="rId10"/>
    <p:sldId id="417" r:id="rId11"/>
    <p:sldId id="1967" r:id="rId12"/>
    <p:sldId id="268" r:id="rId13"/>
    <p:sldId id="336" r:id="rId14"/>
    <p:sldId id="337" r:id="rId15"/>
    <p:sldId id="434" r:id="rId16"/>
    <p:sldId id="269" r:id="rId17"/>
    <p:sldId id="672" r:id="rId18"/>
    <p:sldId id="350" r:id="rId19"/>
    <p:sldId id="347" r:id="rId20"/>
    <p:sldId id="348" r:id="rId21"/>
    <p:sldId id="353" r:id="rId22"/>
    <p:sldId id="767" r:id="rId23"/>
    <p:sldId id="263" r:id="rId24"/>
    <p:sldId id="1627" r:id="rId25"/>
    <p:sldId id="1631" r:id="rId26"/>
    <p:sldId id="1628" r:id="rId27"/>
    <p:sldId id="351" r:id="rId28"/>
    <p:sldId id="1023" r:id="rId29"/>
    <p:sldId id="1024" r:id="rId30"/>
    <p:sldId id="1025" r:id="rId31"/>
    <p:sldId id="1026" r:id="rId32"/>
    <p:sldId id="1027" r:id="rId33"/>
    <p:sldId id="1983" r:id="rId34"/>
    <p:sldId id="1028" r:id="rId35"/>
    <p:sldId id="1029" r:id="rId36"/>
    <p:sldId id="1035" r:id="rId37"/>
    <p:sldId id="1316" r:id="rId38"/>
    <p:sldId id="1986" r:id="rId39"/>
    <p:sldId id="1762" r:id="rId40"/>
    <p:sldId id="769" r:id="rId41"/>
    <p:sldId id="1763" r:id="rId42"/>
    <p:sldId id="1987" r:id="rId43"/>
    <p:sldId id="1036" r:id="rId44"/>
    <p:sldId id="1037" r:id="rId45"/>
    <p:sldId id="1038" r:id="rId46"/>
    <p:sldId id="1039" r:id="rId47"/>
    <p:sldId id="1764" r:id="rId48"/>
    <p:sldId id="1765" r:id="rId49"/>
    <p:sldId id="1984" r:id="rId50"/>
    <p:sldId id="1766" r:id="rId51"/>
    <p:sldId id="1767" r:id="rId52"/>
    <p:sldId id="1985" r:id="rId53"/>
    <p:sldId id="1141" r:id="rId54"/>
    <p:sldId id="1317" r:id="rId55"/>
    <p:sldId id="1988" r:id="rId56"/>
    <p:sldId id="1126" r:id="rId57"/>
    <p:sldId id="1128" r:id="rId58"/>
    <p:sldId id="1129" r:id="rId59"/>
    <p:sldId id="1140" r:id="rId60"/>
    <p:sldId id="1989" r:id="rId61"/>
    <p:sldId id="355" r:id="rId62"/>
  </p:sldIdLst>
  <p:sldSz cx="9144000" cy="6858000" type="screen4x3"/>
  <p:notesSz cx="6858000" cy="9144000"/>
  <p:defaultTextStyle>
    <a:defPPr>
      <a:defRPr lang="en-US"/>
    </a:defPPr>
    <a:lvl1pPr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83F6B4C7-8CC0-427F-BF86-ACC9BDA8EE70}">
          <p14:sldIdLst>
            <p14:sldId id="256"/>
            <p14:sldId id="257"/>
          </p14:sldIdLst>
        </p14:section>
        <p14:section name="线性表的特点" id="{54E03170-247E-48F2-874B-1FAC1306DDD4}">
          <p14:sldIdLst>
            <p14:sldId id="258"/>
            <p14:sldId id="286"/>
            <p14:sldId id="1990"/>
            <p14:sldId id="1991"/>
            <p14:sldId id="1966"/>
            <p14:sldId id="296"/>
            <p14:sldId id="433"/>
            <p14:sldId id="417"/>
            <p14:sldId id="1967"/>
            <p14:sldId id="268"/>
            <p14:sldId id="336"/>
            <p14:sldId id="337"/>
          </p14:sldIdLst>
        </p14:section>
        <p14:section name="数组的操作" id="{92B17611-480D-419F-AA42-9F7E098133E9}">
          <p14:sldIdLst>
            <p14:sldId id="434"/>
            <p14:sldId id="269"/>
            <p14:sldId id="672"/>
            <p14:sldId id="350"/>
            <p14:sldId id="347"/>
            <p14:sldId id="348"/>
            <p14:sldId id="353"/>
            <p14:sldId id="767"/>
            <p14:sldId id="263"/>
            <p14:sldId id="1627"/>
            <p14:sldId id="1631"/>
            <p14:sldId id="1628"/>
            <p14:sldId id="351"/>
          </p14:sldIdLst>
        </p14:section>
        <p14:section name="数组名传参原理" id="{4CF4BF25-3F59-4FAD-87BB-1BC9039AF954}">
          <p14:sldIdLst>
            <p14:sldId id="1023"/>
            <p14:sldId id="1024"/>
            <p14:sldId id="1025"/>
            <p14:sldId id="1026"/>
            <p14:sldId id="1027"/>
            <p14:sldId id="1983"/>
            <p14:sldId id="1028"/>
            <p14:sldId id="1029"/>
          </p14:sldIdLst>
        </p14:section>
        <p14:section name="数组创建与输出" id="{DD694B50-5341-42FC-9856-E63FE85FC9CA}">
          <p14:sldIdLst>
            <p14:sldId id="1035"/>
            <p14:sldId id="1316"/>
            <p14:sldId id="1986"/>
            <p14:sldId id="1762"/>
            <p14:sldId id="769"/>
            <p14:sldId id="1763"/>
            <p14:sldId id="1987"/>
          </p14:sldIdLst>
        </p14:section>
        <p14:section name="数组名形参的灵活处理" id="{A324E08F-C97B-499D-BFED-268AD25B13DE}">
          <p14:sldIdLst>
            <p14:sldId id="1036"/>
            <p14:sldId id="1037"/>
            <p14:sldId id="1038"/>
            <p14:sldId id="1039"/>
          </p14:sldIdLst>
        </p14:section>
        <p14:section name="数组查找" id="{9FF6531E-DED2-4B09-BDFC-607848314A00}">
          <p14:sldIdLst>
            <p14:sldId id="1764"/>
            <p14:sldId id="1765"/>
            <p14:sldId id="1984"/>
          </p14:sldIdLst>
        </p14:section>
        <p14:section name="数组删除元素" id="{55EDF368-04C2-47F4-BAA2-A59CD671C74D}">
          <p14:sldIdLst>
            <p14:sldId id="1766"/>
            <p14:sldId id="1767"/>
            <p14:sldId id="1985"/>
            <p14:sldId id="1141"/>
            <p14:sldId id="1317"/>
            <p14:sldId id="1988"/>
          </p14:sldIdLst>
        </p14:section>
        <p14:section name="数组插入元素" id="{7937E2BA-6324-4DF3-9833-1C99B2A2E313}">
          <p14:sldIdLst>
            <p14:sldId id="1126"/>
            <p14:sldId id="1128"/>
            <p14:sldId id="1129"/>
            <p14:sldId id="1140"/>
            <p14:sldId id="1989"/>
          </p14:sldIdLst>
        </p14:section>
        <p14:section name="end" id="{6DAA84A9-0A57-44E3-9B77-DBD891AC14FB}">
          <p14:sldIdLst>
            <p14:sldId id="355"/>
          </p14:sldIdLst>
        </p14:section>
      </p14:sectionLst>
    </p:ext>
    <p:ext uri="{EFAFB233-063F-42B5-8137-9DF3F51BA10A}">
      <p15:sldGuideLst xmlns:p15="http://schemas.microsoft.com/office/powerpoint/2012/main">
        <p15:guide id="1" orient="horz" pos="2283">
          <p15:clr>
            <a:srgbClr val="A4A3A4"/>
          </p15:clr>
        </p15:guide>
        <p15:guide id="2" pos="2973">
          <p15:clr>
            <a:srgbClr val="A4A3A4"/>
          </p15:clr>
        </p15:guide>
      </p15:sldGuideLst>
    </p:ext>
    <p:ext uri="{2D200454-40CA-4A62-9FC3-DE9A4176ACB9}">
      <p15:notesGuideLst xmlns:p15="http://schemas.microsoft.com/office/powerpoint/2012/main">
        <p15:guide id="1" orient="horz" pos="2882">
          <p15:clr>
            <a:srgbClr val="A4A3A4"/>
          </p15:clr>
        </p15:guide>
        <p15:guide id="2" pos="22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CCFFFF"/>
    <a:srgbClr val="003399"/>
    <a:srgbClr val="FFFF66"/>
    <a:srgbClr val="FF66CC"/>
    <a:srgbClr val="990099"/>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04" autoAdjust="0"/>
    <p:restoredTop sz="93826" autoAdjust="0"/>
  </p:normalViewPr>
  <p:slideViewPr>
    <p:cSldViewPr>
      <p:cViewPr varScale="1">
        <p:scale>
          <a:sx n="67" d="100"/>
          <a:sy n="67" d="100"/>
        </p:scale>
        <p:origin x="920" y="52"/>
      </p:cViewPr>
      <p:guideLst>
        <p:guide orient="horz" pos="2283"/>
        <p:guide pos="297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598"/>
    </p:cViewPr>
  </p:sorterViewPr>
  <p:notesViewPr>
    <p:cSldViewPr>
      <p:cViewPr varScale="1">
        <p:scale>
          <a:sx n="62" d="100"/>
          <a:sy n="62" d="100"/>
        </p:scale>
        <p:origin x="-2436" y="-90"/>
      </p:cViewPr>
      <p:guideLst>
        <p:guide orient="horz" pos="2882"/>
        <p:guide pos="223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FontTx/>
              <a:buNone/>
              <a:defRPr sz="1200"/>
            </a:lvl1pPr>
          </a:lstStyle>
          <a:p>
            <a:pPr>
              <a:defRPr/>
            </a:pPr>
            <a:endParaRPr lang="zh-CN" altLang="en-US"/>
          </a:p>
        </p:txBody>
      </p:sp>
      <p:sp>
        <p:nvSpPr>
          <p:cNvPr id="13005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FontTx/>
              <a:buNone/>
              <a:defRPr sz="1200"/>
            </a:lvl1pPr>
          </a:lstStyle>
          <a:p>
            <a:pPr>
              <a:defRPr/>
            </a:pPr>
            <a:endParaRPr lang="en-US" altLang="zh-CN"/>
          </a:p>
        </p:txBody>
      </p:sp>
      <p:sp>
        <p:nvSpPr>
          <p:cNvPr id="13005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FontTx/>
              <a:buNone/>
              <a:defRPr sz="1200"/>
            </a:lvl1pPr>
          </a:lstStyle>
          <a:p>
            <a:pPr>
              <a:defRPr/>
            </a:pPr>
            <a:endParaRPr lang="en-US" altLang="zh-CN"/>
          </a:p>
        </p:txBody>
      </p:sp>
      <p:sp>
        <p:nvSpPr>
          <p:cNvPr id="13005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FontTx/>
              <a:buNone/>
              <a:defRPr sz="1200"/>
            </a:lvl1pPr>
          </a:lstStyle>
          <a:p>
            <a:pPr>
              <a:defRPr/>
            </a:pPr>
            <a:fld id="{3A1D5920-E781-45E2-AC47-9045A780A24A}"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FontTx/>
              <a:buNone/>
              <a:defRPr sz="1200"/>
            </a:lvl1pPr>
          </a:lstStyle>
          <a:p>
            <a:pPr>
              <a:defRPr/>
            </a:pPr>
            <a:endParaRPr lang="zh-CN" altLang="en-US"/>
          </a:p>
        </p:txBody>
      </p:sp>
      <p:sp>
        <p:nvSpPr>
          <p:cNvPr id="849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FontTx/>
              <a:buNone/>
              <a:defRPr sz="1200"/>
            </a:lvl1pPr>
          </a:lstStyle>
          <a:p>
            <a:pPr>
              <a:defRPr/>
            </a:pPr>
            <a:endParaRPr lang="en-US" altLang="zh-CN"/>
          </a:p>
        </p:txBody>
      </p:sp>
      <p:sp>
        <p:nvSpPr>
          <p:cNvPr id="168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FontTx/>
              <a:buNone/>
              <a:defRPr sz="1200"/>
            </a:lvl1pPr>
          </a:lstStyle>
          <a:p>
            <a:pPr>
              <a:defRPr/>
            </a:pPr>
            <a:endParaRPr lang="en-US" altLang="zh-CN"/>
          </a:p>
        </p:txBody>
      </p:sp>
      <p:sp>
        <p:nvSpPr>
          <p:cNvPr id="849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FontTx/>
              <a:buNone/>
              <a:defRPr sz="1200"/>
            </a:lvl1pPr>
          </a:lstStyle>
          <a:p>
            <a:pPr>
              <a:defRPr/>
            </a:pPr>
            <a:fld id="{445D2F3F-009E-4C69-B954-65C8D576346B}"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6706353-0EDA-4BC7-80C2-5A7BFEFF0BDC}" type="slidenum">
              <a:rPr lang="zh-CN" altLang="en-US" smtClean="0"/>
              <a:t>1</a:t>
            </a:fld>
            <a:endParaRPr lang="en-US" altLang="zh-CN"/>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7B21FA4B-8B66-47ED-B86E-D8CC2E354B8F}" type="slidenum">
              <a:rPr lang="zh-CN" altLang="en-US" smtClean="0"/>
              <a:t>32</a:t>
            </a:fld>
            <a:endParaRPr lang="en-US" altLang="zh-CN"/>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TextEdit="1"/>
          </p:cNvSpPr>
          <p:nvPr>
            <p:ph type="sldImg"/>
          </p:nvPr>
        </p:nvSpPr>
        <p:spPr/>
      </p:sp>
      <p:sp>
        <p:nvSpPr>
          <p:cNvPr id="172035" name="备注占位符 2"/>
          <p:cNvSpPr>
            <a:spLocks noGrp="1"/>
          </p:cNvSpPr>
          <p:nvPr>
            <p:ph type="body" idx="1"/>
          </p:nvPr>
        </p:nvSpPr>
        <p:spPr>
          <a:noFill/>
        </p:spPr>
        <p:txBody>
          <a:bodyPr/>
          <a:lstStyle/>
          <a:p>
            <a:r>
              <a:rPr lang="zh-CN" altLang="en-US"/>
              <a:t>说明：</a:t>
            </a:r>
            <a:endParaRPr lang="en-US" altLang="zh-CN"/>
          </a:p>
          <a:p>
            <a:r>
              <a:rPr lang="en-US" altLang="zh-CN"/>
              <a:t>b[j]</a:t>
            </a:r>
            <a:r>
              <a:rPr lang="zh-CN" altLang="en-US"/>
              <a:t>的内存地址是：</a:t>
            </a:r>
            <a:r>
              <a:rPr lang="en-US" altLang="zh-CN"/>
              <a:t>b+j*sizeof(int)</a:t>
            </a:r>
          </a:p>
          <a:p>
            <a:r>
              <a:rPr lang="en-US" altLang="zh-CN"/>
              <a:t>a[j]</a:t>
            </a:r>
            <a:r>
              <a:rPr lang="zh-CN" altLang="en-US"/>
              <a:t>的内存地址是：</a:t>
            </a:r>
            <a:r>
              <a:rPr lang="en-US" altLang="zh-CN"/>
              <a:t>a+j*sizeof(int)</a:t>
            </a:r>
          </a:p>
          <a:p>
            <a:r>
              <a:rPr lang="zh-CN" altLang="en-US"/>
              <a:t>而</a:t>
            </a:r>
            <a:r>
              <a:rPr lang="en-US" altLang="zh-CN"/>
              <a:t>a</a:t>
            </a:r>
            <a:r>
              <a:rPr lang="zh-CN" altLang="en-US"/>
              <a:t>和</a:t>
            </a:r>
            <a:r>
              <a:rPr lang="en-US" altLang="zh-CN"/>
              <a:t>b</a:t>
            </a:r>
            <a:r>
              <a:rPr lang="zh-CN" altLang="en-US"/>
              <a:t>的值相等，所以</a:t>
            </a:r>
            <a:r>
              <a:rPr lang="en-US" altLang="zh-CN"/>
              <a:t>a[j]</a:t>
            </a:r>
            <a:r>
              <a:rPr lang="zh-CN" altLang="en-US"/>
              <a:t>和</a:t>
            </a:r>
            <a:r>
              <a:rPr lang="en-US" altLang="zh-CN"/>
              <a:t>b[j] </a:t>
            </a:r>
            <a:r>
              <a:rPr lang="zh-CN" altLang="en-US"/>
              <a:t>是同一个元素</a:t>
            </a:r>
            <a:endParaRPr lang="en-US" altLang="zh-CN"/>
          </a:p>
          <a:p>
            <a:endParaRPr lang="en-US" altLang="zh-CN"/>
          </a:p>
          <a:p>
            <a:r>
              <a:rPr lang="en-US" altLang="zh-CN" b="1"/>
              <a:t>void modifyArray(int b[],int size)</a:t>
            </a:r>
            <a:r>
              <a:rPr lang="zh-CN" altLang="en-US" b="1"/>
              <a:t>中实际是：</a:t>
            </a:r>
            <a:endParaRPr lang="en-US" altLang="zh-CN" b="1"/>
          </a:p>
          <a:p>
            <a:r>
              <a:rPr lang="en-US" altLang="zh-CN" b="1"/>
              <a:t>void modifyArray(int * b,int size)</a:t>
            </a:r>
          </a:p>
          <a:p>
            <a:endParaRPr lang="en-US" altLang="zh-CN" b="1"/>
          </a:p>
          <a:p>
            <a:endParaRPr lang="zh-CN" altLang="en-US"/>
          </a:p>
        </p:txBody>
      </p:sp>
      <p:sp>
        <p:nvSpPr>
          <p:cNvPr id="17203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2FC32154-F6DE-4ACB-B89E-83000B096A3C}" type="slidenum">
              <a:rPr lang="zh-CN" altLang="en-US" smtClean="0"/>
              <a:t>34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958089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36BB25A1-2CF9-4D4D-83EC-9704DB9EB444}" type="slidenum">
              <a:rPr lang="zh-CN" altLang="en-US" smtClean="0"/>
              <a:t>56</a:t>
            </a:fld>
            <a:endParaRPr lang="en-US" altLang="zh-CN"/>
          </a:p>
        </p:txBody>
      </p:sp>
      <p:sp>
        <p:nvSpPr>
          <p:cNvPr id="173059" name="Rectangle 2"/>
          <p:cNvSpPr>
            <a:spLocks noGrp="1" noRot="1" noChangeAspect="1" noChangeArrowheads="1" noTextEdit="1"/>
          </p:cNvSpPr>
          <p:nvPr>
            <p:ph type="sldImg"/>
          </p:nvPr>
        </p:nvSpPr>
        <p:spPr/>
      </p:sp>
      <p:sp>
        <p:nvSpPr>
          <p:cNvPr id="17306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631A8A38-6ADE-4C8B-97C9-96D3453B50EB}" type="slidenum">
              <a:rPr lang="zh-CN" altLang="en-US" smtClean="0"/>
              <a:t>57</a:t>
            </a:fld>
            <a:endParaRPr lang="en-US" altLang="zh-CN"/>
          </a:p>
        </p:txBody>
      </p:sp>
      <p:sp>
        <p:nvSpPr>
          <p:cNvPr id="174083" name="Rectangle 2"/>
          <p:cNvSpPr>
            <a:spLocks noGrp="1" noRot="1" noChangeAspect="1" noChangeArrowheads="1" noTextEdit="1"/>
          </p:cNvSpPr>
          <p:nvPr>
            <p:ph type="sldImg"/>
          </p:nvPr>
        </p:nvSpPr>
        <p:spPr/>
      </p:sp>
      <p:sp>
        <p:nvSpPr>
          <p:cNvPr id="174084" name="Rectangle 3"/>
          <p:cNvSpPr>
            <a:spLocks noGrp="1" noChangeArrowheads="1"/>
          </p:cNvSpPr>
          <p:nvPr>
            <p:ph type="body" idx="1"/>
          </p:nvPr>
        </p:nvSpPr>
        <p:spPr>
          <a:noFill/>
        </p:spPr>
        <p:txBody>
          <a:bodyPr/>
          <a:lstStyle/>
          <a:p>
            <a:pPr eaLnBrk="1" hangingPunct="1"/>
            <a:r>
              <a:rPr lang="zh-CN" altLang="en-US"/>
              <a:t>关键要明白为什么本函数设计这么多的返回值，处理这门多的异常情况</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0A0CD573-0D49-40E5-93E7-DC3FCED26C56}" type="slidenum">
              <a:rPr lang="zh-CN" altLang="en-US"/>
              <a:t>‹#›</a:t>
            </a:fld>
            <a:endParaRPr lang="en-US" altLang="zh-CN"/>
          </a:p>
        </p:txBody>
      </p:sp>
    </p:spTree>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CFCF81A-63DF-425F-8382-179C6EBDE7B5}" type="slidenum">
              <a:rPr lang="zh-CN" altLang="en-US"/>
              <a:t>‹#›</a:t>
            </a:fld>
            <a:endParaRPr lang="en-US" altLang="zh-CN"/>
          </a:p>
        </p:txBody>
      </p:sp>
    </p:spTree>
  </p:cSld>
  <p:clrMapOvr>
    <a:masterClrMapping/>
  </p:clrMapOvr>
  <p:transition/>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B9C5B4C6-FA0B-43F5-9B36-C09E90DCCB56}" type="slidenum">
              <a:rPr lang="zh-CN" altLang="en-US"/>
              <a:t>‹#›</a:t>
            </a:fld>
            <a:endParaRPr lang="en-US" altLang="zh-CN"/>
          </a:p>
        </p:txBody>
      </p:sp>
    </p:spTree>
  </p:cSld>
  <p:clrMapOvr>
    <a:masterClrMapping/>
  </p:clrMapOvr>
  <p:transition/>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42B816D3-0A73-4BB0-AF78-3AE6E035861B}" type="slidenum">
              <a:rPr lang="zh-CN" altLang="en-US"/>
              <a:t>‹#›</a:t>
            </a:fld>
            <a:endParaRPr lang="en-US" altLang="zh-CN"/>
          </a:p>
        </p:txBody>
      </p:sp>
    </p:spTree>
  </p:cSld>
  <p:clrMapOvr>
    <a:masterClrMapping/>
  </p:clrMapOvr>
  <p:transition/>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C22DCD31-C104-402E-B1B7-C115A793F457}" type="slidenum">
              <a:rPr lang="zh-CN" altLang="en-US"/>
              <a:t>‹#›</a:t>
            </a:fld>
            <a:endParaRPr lang="en-US" altLang="zh-CN"/>
          </a:p>
        </p:txBody>
      </p:sp>
    </p:spTree>
  </p:cSld>
  <p:clrMapOvr>
    <a:masterClrMapping/>
  </p:clrMapOvr>
  <p:transition/>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DAE71CB8-5422-4627-929F-D04EDEDC5496}" type="slidenum">
              <a:rPr lang="zh-CN" altLang="en-US"/>
              <a:t>‹#›</a:t>
            </a:fld>
            <a:endParaRPr lang="en-US" altLang="zh-CN"/>
          </a:p>
        </p:txBody>
      </p:sp>
    </p:spTree>
  </p:cSld>
  <p:clrMapOvr>
    <a:masterClrMapping/>
  </p:clrMapOvr>
  <p:transition/>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A65ED743-0921-459D-BB2C-FAFFDF8127E6}" type="slidenum">
              <a:rPr lang="zh-CN" altLang="en-US"/>
              <a:t>‹#›</a:t>
            </a:fld>
            <a:endParaRPr lang="en-US" altLang="zh-CN"/>
          </a:p>
        </p:txBody>
      </p:sp>
    </p:spTree>
  </p:cSld>
  <p:clrMapOvr>
    <a:masterClrMapping/>
  </p:clrMapOvr>
  <p:transition/>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5">
            <a:extLst>
              <a:ext uri="{FF2B5EF4-FFF2-40B4-BE49-F238E27FC236}">
                <a16:creationId xmlns:a16="http://schemas.microsoft.com/office/drawing/2014/main" id="{F01E8075-3E95-461A-9269-6EB667B8777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79389297-0C95-4E21-85EC-E30AC74C6CFE}"/>
              </a:ext>
            </a:extLst>
          </p:cNvPr>
          <p:cNvSpPr>
            <a:spLocks noGrp="1" noChangeArrowheads="1"/>
          </p:cNvSpPr>
          <p:nvPr>
            <p:ph type="sldNum" sz="quarter" idx="11"/>
          </p:nvPr>
        </p:nvSpPr>
        <p:spPr>
          <a:ln/>
        </p:spPr>
        <p:txBody>
          <a:bodyPr/>
          <a:lstStyle>
            <a:lvl1pPr>
              <a:defRPr/>
            </a:lvl1pPr>
          </a:lstStyle>
          <a:p>
            <a:fld id="{0AA25320-930C-4943-9235-0A13518629EE}" type="slidenum">
              <a:rPr lang="zh-CN" altLang="en-US"/>
              <a:pPr/>
              <a:t>‹#›</a:t>
            </a:fld>
            <a:endParaRPr lang="zh-CN" altLang="en-US"/>
          </a:p>
        </p:txBody>
      </p:sp>
    </p:spTree>
    <p:extLst>
      <p:ext uri="{BB962C8B-B14F-4D97-AF65-F5344CB8AC3E}">
        <p14:creationId xmlns:p14="http://schemas.microsoft.com/office/powerpoint/2010/main" val="289253095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7637" name="Rectangle 5"/>
          <p:cNvSpPr>
            <a:spLocks noGrp="1" noChangeArrowheads="1"/>
          </p:cNvSpPr>
          <p:nvPr>
            <p:ph type="ftr" sz="quarter" idx="3"/>
          </p:nvPr>
        </p:nvSpPr>
        <p:spPr bwMode="auto">
          <a:xfrm>
            <a:off x="3124200" y="60833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a:spcBef>
                <a:spcPct val="50000"/>
              </a:spcBef>
              <a:buFontTx/>
              <a:buNone/>
              <a:defRPr sz="1400"/>
            </a:lvl1pPr>
          </a:lstStyle>
          <a:p>
            <a:pPr>
              <a:defRPr/>
            </a:pPr>
            <a:endParaRPr lang="en-US" altLang="zh-CN"/>
          </a:p>
        </p:txBody>
      </p:sp>
      <p:sp>
        <p:nvSpPr>
          <p:cNvPr id="197638" name="Rectangle 6"/>
          <p:cNvSpPr>
            <a:spLocks noGrp="1" noChangeArrowheads="1"/>
          </p:cNvSpPr>
          <p:nvPr>
            <p:ph type="sldNum" sz="quarter" idx="4"/>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a:spcBef>
                <a:spcPct val="50000"/>
              </a:spcBef>
              <a:buFontTx/>
              <a:buNone/>
              <a:defRPr sz="1400" b="1"/>
            </a:lvl1pPr>
          </a:lstStyle>
          <a:p>
            <a:pPr>
              <a:defRPr/>
            </a:pPr>
            <a:fld id="{528C3BB1-4401-40CC-883B-BDFB3B36ED38}" type="slidenum">
              <a:rPr lang="zh-CN" altLang="en-US"/>
              <a:t>‹#›</a:t>
            </a:fld>
            <a:endParaRPr lang="en-US" altLang="zh-CN"/>
          </a:p>
        </p:txBody>
      </p:sp>
      <p:grpSp>
        <p:nvGrpSpPr>
          <p:cNvPr id="1030" name="Group 7"/>
          <p:cNvGrpSpPr/>
          <p:nvPr/>
        </p:nvGrpSpPr>
        <p:grpSpPr bwMode="auto">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a:t>                  </a:t>
              </a:r>
            </a:p>
          </p:txBody>
        </p:sp>
        <p:sp>
          <p:nvSpPr>
            <p:cNvPr id="1035" name="Line 9"/>
            <p:cNvSpPr>
              <a:spLocks noChangeShapeType="1"/>
            </p:cNvSpPr>
            <p:nvPr/>
          </p:nvSpPr>
          <p:spPr bwMode="auto">
            <a:xfrm>
              <a:off x="4464" y="4032"/>
              <a:ext cx="288"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6" name="Line 10"/>
            <p:cNvSpPr>
              <a:spLocks noChangeShapeType="1"/>
            </p:cNvSpPr>
            <p:nvPr/>
          </p:nvSpPr>
          <p:spPr bwMode="auto">
            <a:xfrm>
              <a:off x="4176"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7" name="Line 11"/>
            <p:cNvSpPr>
              <a:spLocks noChangeShapeType="1"/>
            </p:cNvSpPr>
            <p:nvPr/>
          </p:nvSpPr>
          <p:spPr bwMode="auto">
            <a:xfrm>
              <a:off x="4704"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8" name="Line 12"/>
            <p:cNvSpPr>
              <a:spLocks noChangeShapeType="1"/>
            </p:cNvSpPr>
            <p:nvPr/>
          </p:nvSpPr>
          <p:spPr bwMode="auto">
            <a:xfrm>
              <a:off x="5376" y="4032"/>
              <a:ext cx="384"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9" name="Line 13"/>
            <p:cNvSpPr>
              <a:spLocks noChangeShapeType="1"/>
            </p:cNvSpPr>
            <p:nvPr/>
          </p:nvSpPr>
          <p:spPr bwMode="auto">
            <a:xfrm>
              <a:off x="5184" y="4032"/>
              <a:ext cx="384"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40" name="Line 14"/>
            <p:cNvSpPr>
              <a:spLocks noChangeShapeType="1"/>
            </p:cNvSpPr>
            <p:nvPr/>
          </p:nvSpPr>
          <p:spPr bwMode="auto">
            <a:xfrm>
              <a:off x="5568" y="4032"/>
              <a:ext cx="192" cy="144"/>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41" name="Line 15"/>
            <p:cNvSpPr>
              <a:spLocks noChangeShapeType="1"/>
            </p:cNvSpPr>
            <p:nvPr/>
          </p:nvSpPr>
          <p:spPr bwMode="auto">
            <a:xfrm>
              <a:off x="4992"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031" name="Line 16"/>
          <p:cNvSpPr>
            <a:spLocks noChangeShapeType="1"/>
          </p:cNvSpPr>
          <p:nvPr/>
        </p:nvSpPr>
        <p:spPr bwMode="auto">
          <a:xfrm>
            <a:off x="468313" y="1176338"/>
            <a:ext cx="8458200" cy="0"/>
          </a:xfrm>
          <a:prstGeom prst="line">
            <a:avLst/>
          </a:prstGeom>
          <a:noFill/>
          <a:ln w="57150">
            <a:solidFill>
              <a:srgbClr val="33CC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32" name="Text Box 17"/>
          <p:cNvSpPr txBox="1">
            <a:spLocks noChangeArrowheads="1"/>
          </p:cNvSpPr>
          <p:nvPr/>
        </p:nvSpPr>
        <p:spPr bwMode="auto">
          <a:xfrm>
            <a:off x="457200" y="2514600"/>
            <a:ext cx="8305800" cy="350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p:txBody>
      </p:sp>
      <p:pic>
        <p:nvPicPr>
          <p:cNvPr id="1033" name="Picture 18" descr="bup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ransition/>
  <p:hf sldNum="0" hdr="0" ftr="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1" name="Group 4"/>
          <p:cNvGrpSpPr/>
          <p:nvPr/>
        </p:nvGrpSpPr>
        <p:grpSpPr bwMode="auto">
          <a:xfrm>
            <a:off x="1619250" y="1917700"/>
            <a:ext cx="5903913" cy="863600"/>
            <a:chOff x="1488" y="1152"/>
            <a:chExt cx="2736" cy="624"/>
          </a:xfrm>
        </p:grpSpPr>
        <p:sp>
          <p:nvSpPr>
            <p:cNvPr id="2053" name="Rectangle 5"/>
            <p:cNvSpPr>
              <a:spLocks noChangeArrowheads="1"/>
            </p:cNvSpPr>
            <p:nvPr/>
          </p:nvSpPr>
          <p:spPr bwMode="auto">
            <a:xfrm>
              <a:off x="1488" y="1152"/>
              <a:ext cx="2736" cy="624"/>
            </a:xfrm>
            <a:prstGeom prst="rect">
              <a:avLst/>
            </a:prstGeom>
            <a:gradFill rotWithShape="0">
              <a:gsLst>
                <a:gs pos="0">
                  <a:srgbClr val="3E040E"/>
                </a:gs>
                <a:gs pos="50000">
                  <a:srgbClr val="CF0E30"/>
                </a:gs>
                <a:gs pos="100000">
                  <a:srgbClr val="3E040E"/>
                </a:gs>
              </a:gsLst>
              <a:lin ang="2700000" scaled="1"/>
            </a:gradFill>
            <a:ln w="28575">
              <a:solidFill>
                <a:srgbClr val="F6829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054" name="Text Box 6"/>
            <p:cNvSpPr txBox="1">
              <a:spLocks noChangeArrowheads="1"/>
            </p:cNvSpPr>
            <p:nvPr/>
          </p:nvSpPr>
          <p:spPr bwMode="auto">
            <a:xfrm>
              <a:off x="1536" y="1200"/>
              <a:ext cx="2612" cy="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3600" b="1">
                  <a:solidFill>
                    <a:schemeClr val="bg1"/>
                  </a:solidFill>
                </a:rPr>
                <a:t>第六章  数组</a:t>
              </a:r>
            </a:p>
          </p:txBody>
        </p:sp>
      </p:grpSp>
      <p:pic>
        <p:nvPicPr>
          <p:cNvPr id="2052" name="Picture 7" descr="地球"/>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1363" y="49403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15365" y="3980815"/>
            <a:ext cx="7084695" cy="830997"/>
          </a:xfrm>
          <a:prstGeom prst="rect">
            <a:avLst/>
          </a:prstGeom>
          <a:noFill/>
        </p:spPr>
        <p:txBody>
          <a:bodyPr wrap="square" rtlCol="0">
            <a:spAutoFit/>
          </a:bodyPr>
          <a:lstStyle/>
          <a:p>
            <a:pPr indent="0">
              <a:buNone/>
            </a:pPr>
            <a:r>
              <a:rPr lang="zh-CN" altLang="en-US" sz="2400" b="1" dirty="0"/>
              <a:t>内容取自：《</a:t>
            </a:r>
            <a:r>
              <a:rPr lang="en-US" altLang="zh-CN" sz="2400" b="1" dirty="0"/>
              <a:t>C Primer Plus</a:t>
            </a:r>
            <a:r>
              <a:rPr lang="zh-CN" altLang="en-US" sz="2400" b="1" dirty="0"/>
              <a:t>中文版</a:t>
            </a:r>
            <a:r>
              <a:rPr lang="en-US" altLang="zh-CN" sz="2400" b="1" dirty="0"/>
              <a:t>》</a:t>
            </a:r>
            <a:endParaRPr lang="zh-CN" altLang="en-US" sz="2400" b="1" dirty="0"/>
          </a:p>
          <a:p>
            <a:r>
              <a:rPr lang="en-US" altLang="zh-CN" sz="2400" b="1" dirty="0"/>
              <a:t>10</a:t>
            </a:r>
            <a:r>
              <a:rPr lang="zh-CN" altLang="en-US" sz="2400" b="1" dirty="0"/>
              <a:t>章</a:t>
            </a:r>
            <a:r>
              <a:rPr lang="en-US" altLang="zh-CN" sz="2400" b="1" dirty="0"/>
              <a:t> </a:t>
            </a:r>
            <a:r>
              <a:rPr lang="zh-CN" altLang="en-US" sz="2400" b="1" dirty="0"/>
              <a:t>数组与指针</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body" idx="1"/>
          </p:nvPr>
        </p:nvSpPr>
        <p:spPr>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buFontTx/>
              <a:buNone/>
            </a:pPr>
            <a:r>
              <a:rPr lang="zh-CN" altLang="en-US" b="1"/>
              <a:t>6.1  总结与回顾（数据类型与程序设计）</a:t>
            </a:r>
          </a:p>
          <a:p>
            <a:pPr eaLnBrk="1" hangingPunct="1">
              <a:buFontTx/>
              <a:buNone/>
            </a:pPr>
            <a:r>
              <a:rPr lang="zh-CN" altLang="en-US" b="1"/>
              <a:t>6.</a:t>
            </a:r>
            <a:r>
              <a:rPr lang="en-US" altLang="zh-CN" b="1"/>
              <a:t>2  </a:t>
            </a:r>
            <a:r>
              <a:rPr lang="zh-CN" altLang="en-US" b="1"/>
              <a:t>数组作为一种数据结构</a:t>
            </a:r>
          </a:p>
          <a:p>
            <a:pPr eaLnBrk="1" hangingPunct="1">
              <a:buFontTx/>
              <a:buNone/>
            </a:pPr>
            <a:r>
              <a:rPr lang="en-US" altLang="zh-CN" b="1"/>
              <a:t>6.3  </a:t>
            </a:r>
            <a:r>
              <a:rPr lang="zh-CN" altLang="en-US" b="1"/>
              <a:t>数组的声明、操作和使用</a:t>
            </a:r>
          </a:p>
          <a:p>
            <a:pPr eaLnBrk="1" hangingPunct="1">
              <a:buFontTx/>
              <a:buNone/>
            </a:pPr>
            <a:r>
              <a:rPr lang="en-US" altLang="zh-CN" b="1"/>
              <a:t>6.4  </a:t>
            </a:r>
            <a:r>
              <a:rPr lang="zh-CN" altLang="en-US" b="1"/>
              <a:t>数组作为函数参数的处理</a:t>
            </a:r>
          </a:p>
          <a:p>
            <a:pPr eaLnBrk="1" hangingPunct="1">
              <a:buFontTx/>
              <a:buNone/>
            </a:pPr>
            <a:r>
              <a:rPr lang="zh-CN" altLang="en-US" b="1"/>
              <a:t>6.</a:t>
            </a:r>
            <a:r>
              <a:rPr lang="en-US" altLang="zh-CN" b="1"/>
              <a:t>5  </a:t>
            </a:r>
            <a:r>
              <a:rPr lang="zh-CN" altLang="en-US" b="1"/>
              <a:t>数组的应用（排序、查找和应用）</a:t>
            </a:r>
          </a:p>
          <a:p>
            <a:pPr lvl="1" eaLnBrk="1" hangingPunct="1"/>
            <a:r>
              <a:rPr lang="zh-CN" altLang="en-US" b="1"/>
              <a:t>折半查找</a:t>
            </a:r>
          </a:p>
          <a:p>
            <a:pPr lvl="1" eaLnBrk="1" hangingPunct="1"/>
            <a:r>
              <a:rPr lang="zh-CN" altLang="en-US" b="1"/>
              <a:t>交换排序</a:t>
            </a:r>
            <a:r>
              <a:rPr lang="en-US" altLang="zh-CN" b="1"/>
              <a:t>: </a:t>
            </a:r>
            <a:r>
              <a:rPr lang="zh-CN" altLang="en-US" b="1"/>
              <a:t>冒泡排序、快速排序</a:t>
            </a:r>
          </a:p>
          <a:p>
            <a:pPr lvl="1" eaLnBrk="1" hangingPunct="1"/>
            <a:r>
              <a:rPr lang="zh-CN" altLang="en-US" b="1"/>
              <a:t>选择排序</a:t>
            </a:r>
          </a:p>
          <a:p>
            <a:pPr lvl="1" eaLnBrk="1" hangingPunct="1"/>
            <a:r>
              <a:rPr lang="zh-CN" altLang="en-US" b="1"/>
              <a:t>插入排序</a:t>
            </a:r>
          </a:p>
          <a:p>
            <a:pPr lvl="1" eaLnBrk="1" hangingPunct="1"/>
            <a:r>
              <a:rPr lang="zh-CN" altLang="en-US" b="1"/>
              <a:t>循环数组：约瑟夫环</a:t>
            </a:r>
          </a:p>
          <a:p>
            <a:pPr eaLnBrk="1" hangingPunct="1">
              <a:buFontTx/>
              <a:buNone/>
            </a:pPr>
            <a:endParaRPr lang="en-US" altLang="zh-CN" b="1"/>
          </a:p>
          <a:p>
            <a:pPr eaLnBrk="1" hangingPunct="1">
              <a:buFontTx/>
              <a:buNone/>
            </a:pPr>
            <a:endParaRPr lang="zh-CN" altLang="en-US" b="1"/>
          </a:p>
          <a:p>
            <a:pPr eaLnBrk="1" hangingPunct="1">
              <a:buFontTx/>
              <a:buNone/>
            </a:pPr>
            <a:endParaRPr lang="zh-CN" altLang="en-US" b="1"/>
          </a:p>
          <a:p>
            <a:pPr eaLnBrk="1" hangingPunct="1">
              <a:buFontTx/>
              <a:buNone/>
            </a:pPr>
            <a:endParaRPr lang="zh-CN" altLang="en-US" b="1"/>
          </a:p>
        </p:txBody>
      </p:sp>
      <p:sp>
        <p:nvSpPr>
          <p:cNvPr id="3076" name="Rectangle 7"/>
          <p:cNvSpPr>
            <a:spLocks noGrp="1" noChangeArrowheads="1"/>
          </p:cNvSpPr>
          <p:nvPr>
            <p:ph type="title"/>
          </p:nvPr>
        </p:nvSpPr>
        <p:spPr>
          <a:noFill/>
        </p:spPr>
        <p:txBody>
          <a:bodyPr/>
          <a:lstStyle/>
          <a:p>
            <a:pPr eaLnBrk="1" hangingPunct="1"/>
            <a:r>
              <a:rPr lang="zh-CN" altLang="en-US" b="1"/>
              <a:t>提纲</a:t>
            </a:r>
          </a:p>
        </p:txBody>
      </p:sp>
      <p:pic>
        <p:nvPicPr>
          <p:cNvPr id="3077" name="Picture 8" descr="页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838200" y="1371600"/>
            <a:ext cx="7772400" cy="4953000"/>
          </a:xfrm>
        </p:spPr>
        <p:txBody>
          <a:bodyPr/>
          <a:lstStyle/>
          <a:p>
            <a:pPr marL="533400" indent="-533400" algn="just" eaLnBrk="1" hangingPunct="1">
              <a:buFontTx/>
              <a:buNone/>
            </a:pPr>
            <a:r>
              <a:rPr lang="zh-CN" altLang="en-US" b="1" dirty="0"/>
              <a:t>1．高级语言的基本能力</a:t>
            </a:r>
          </a:p>
          <a:p>
            <a:pPr marL="990600" lvl="1" indent="-533400" algn="just" eaLnBrk="1" hangingPunct="1">
              <a:buFontTx/>
              <a:buNone/>
            </a:pPr>
            <a:r>
              <a:rPr lang="zh-CN" altLang="en-US" b="1" dirty="0"/>
              <a:t>－ 简单数据类型（整型/实型/字符型）</a:t>
            </a:r>
          </a:p>
          <a:p>
            <a:pPr marL="990600" lvl="1" indent="-533400" algn="just" eaLnBrk="1" hangingPunct="1">
              <a:buFontTx/>
              <a:buNone/>
            </a:pPr>
            <a:r>
              <a:rPr lang="zh-CN" altLang="en-US" b="1" dirty="0"/>
              <a:t>－ 程序控制结构（顺序/分支/循环、子程序调用）</a:t>
            </a:r>
          </a:p>
          <a:p>
            <a:pPr marL="533400" indent="-533400" algn="just" eaLnBrk="1" hangingPunct="1">
              <a:buFontTx/>
              <a:buNone/>
            </a:pPr>
            <a:r>
              <a:rPr lang="zh-CN" altLang="en-US" b="1" dirty="0"/>
              <a:t>2．算法与算法设计的基本方法</a:t>
            </a:r>
          </a:p>
          <a:p>
            <a:pPr marL="533400" indent="-533400" algn="just" eaLnBrk="1" hangingPunct="1">
              <a:buFontTx/>
              <a:buNone/>
            </a:pPr>
            <a:r>
              <a:rPr lang="zh-CN" altLang="en-US" b="1" dirty="0"/>
              <a:t>	－ 算法是求解问题的基本思路和步骤。</a:t>
            </a:r>
          </a:p>
          <a:p>
            <a:pPr marL="990600" lvl="1" indent="-533400" algn="just" eaLnBrk="1" hangingPunct="1">
              <a:buFont typeface="Monotype Sorts" charset="2"/>
              <a:buNone/>
            </a:pPr>
            <a:r>
              <a:rPr lang="zh-CN" altLang="en-US" b="1" dirty="0"/>
              <a:t> － 采用良好结构化的算法设计方法。</a:t>
            </a:r>
          </a:p>
          <a:p>
            <a:pPr marL="0" indent="0" algn="just" eaLnBrk="1" hangingPunct="1">
              <a:buNone/>
            </a:pPr>
            <a:r>
              <a:rPr lang="zh-CN" altLang="en-US" b="1" dirty="0"/>
              <a:t>但是，我们也遇到一些问题。</a:t>
            </a:r>
          </a:p>
        </p:txBody>
      </p:sp>
      <p:sp>
        <p:nvSpPr>
          <p:cNvPr id="4100" name="Rectangle 8"/>
          <p:cNvSpPr>
            <a:spLocks noGrp="1" noChangeArrowheads="1"/>
          </p:cNvSpPr>
          <p:nvPr>
            <p:ph type="title"/>
          </p:nvPr>
        </p:nvSpPr>
        <p:spPr>
          <a:noFill/>
        </p:spPr>
        <p:txBody>
          <a:bodyPr/>
          <a:lstStyle/>
          <a:p>
            <a:pPr eaLnBrk="1" hangingPunct="1"/>
            <a:r>
              <a:rPr lang="en-US" altLang="zh-CN" b="1"/>
              <a:t>6.1 </a:t>
            </a:r>
            <a:r>
              <a:rPr lang="zh-CN" altLang="en-US" b="1"/>
              <a:t>总结与回顾</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34"/>
          <p:cNvSpPr>
            <a:spLocks noGrp="1" noChangeArrowheads="1"/>
          </p:cNvSpPr>
          <p:nvPr>
            <p:ph type="body" idx="1"/>
          </p:nvPr>
        </p:nvSpPr>
        <p:spPr>
          <a:xfrm>
            <a:off x="685800" y="1319213"/>
            <a:ext cx="7772400" cy="4989512"/>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609600" indent="-609600" eaLnBrk="1" hangingPunct="1">
              <a:buFontTx/>
              <a:buNone/>
            </a:pPr>
            <a:r>
              <a:rPr lang="en-US" altLang="zh-CN" b="1" dirty="0"/>
              <a:t>3</a:t>
            </a:r>
            <a:r>
              <a:rPr lang="zh-CN" altLang="en-US" b="1" dirty="0"/>
              <a:t>．求解问题的局限：</a:t>
            </a:r>
          </a:p>
          <a:p>
            <a:pPr marL="1066800" lvl="1" indent="-609600" eaLnBrk="1" hangingPunct="1"/>
            <a:r>
              <a:rPr lang="zh-CN" altLang="en-US" b="1" dirty="0"/>
              <a:t>数据抽象的局限</a:t>
            </a:r>
          </a:p>
          <a:p>
            <a:pPr marL="1524000" lvl="2" indent="-609600" eaLnBrk="1" hangingPunct="1"/>
            <a:r>
              <a:rPr lang="zh-CN" altLang="en-US" b="1" dirty="0"/>
              <a:t>很多客观世界的事物很难抽象到简单的数据类型上。比如：数列或级数的抽象。</a:t>
            </a:r>
            <a:endParaRPr lang="en-US" altLang="zh-CN" b="1" dirty="0"/>
          </a:p>
          <a:p>
            <a:pPr marL="1123950" lvl="1" indent="-609600" eaLnBrk="1" hangingPunct="1"/>
            <a:r>
              <a:rPr lang="zh-CN" altLang="en-US" b="1" dirty="0"/>
              <a:t>存储能力的局限（狗熊掰棒子）</a:t>
            </a:r>
          </a:p>
          <a:p>
            <a:pPr marL="1066800" lvl="1" indent="-609600" eaLnBrk="1" hangingPunct="1"/>
            <a:r>
              <a:rPr lang="zh-CN" altLang="en-US" b="1" dirty="0"/>
              <a:t>处理能力的局限</a:t>
            </a:r>
          </a:p>
          <a:p>
            <a:pPr marL="1524000" lvl="2" indent="-609600" eaLnBrk="1" hangingPunct="1"/>
            <a:r>
              <a:rPr lang="zh-CN" altLang="en-US" b="1" dirty="0"/>
              <a:t>比如对任意数列的排序和查找问题，依照目前的能力尚不能够进行处理。</a:t>
            </a:r>
          </a:p>
          <a:p>
            <a:pPr marL="609600" indent="-609600" eaLnBrk="1" hangingPunct="1"/>
            <a:r>
              <a:rPr lang="zh-CN" altLang="en-US" b="1" dirty="0"/>
              <a:t>解决上述问题的基本思路：</a:t>
            </a:r>
          </a:p>
          <a:p>
            <a:pPr marL="1066800" lvl="1" indent="-609600" eaLnBrk="1" hangingPunct="1">
              <a:buFontTx/>
              <a:buNone/>
            </a:pPr>
            <a:r>
              <a:rPr lang="zh-CN" altLang="en-US" b="1" dirty="0"/>
              <a:t>　增强数据的表达、存储和处理能力。</a:t>
            </a:r>
          </a:p>
        </p:txBody>
      </p:sp>
      <p:sp>
        <p:nvSpPr>
          <p:cNvPr id="6148" name="Rectangle 10"/>
          <p:cNvSpPr>
            <a:spLocks noGrp="1" noChangeArrowheads="1"/>
          </p:cNvSpPr>
          <p:nvPr>
            <p:ph type="title"/>
          </p:nvPr>
        </p:nvSpPr>
        <p:spPr>
          <a:noFill/>
        </p:spPr>
        <p:txBody>
          <a:bodyPr/>
          <a:lstStyle/>
          <a:p>
            <a:pPr eaLnBrk="1" hangingPunct="1"/>
            <a:r>
              <a:rPr lang="en-US" altLang="zh-CN" b="1"/>
              <a:t>6.1 </a:t>
            </a:r>
            <a:r>
              <a:rPr lang="zh-CN" altLang="en-US" b="1"/>
              <a:t>总结与回顾</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34"/>
          <p:cNvSpPr>
            <a:spLocks noGrp="1" noChangeArrowheads="1"/>
          </p:cNvSpPr>
          <p:nvPr>
            <p:ph type="body" idx="1"/>
          </p:nvPr>
        </p:nvSpPr>
        <p:spPr>
          <a:xfrm>
            <a:off x="685800" y="1319213"/>
            <a:ext cx="7772400" cy="4989512"/>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609600" indent="-609600" eaLnBrk="1" hangingPunct="1">
              <a:buFont typeface="+mj-lt"/>
              <a:buAutoNum type="arabicPeriod"/>
            </a:pPr>
            <a:r>
              <a:rPr lang="zh-CN" altLang="en-US" b="1" dirty="0"/>
              <a:t>如何表示不同类型的数据集合？</a:t>
            </a:r>
            <a:endParaRPr lang="en-US" altLang="zh-CN" b="1" dirty="0"/>
          </a:p>
          <a:p>
            <a:pPr marL="914400" lvl="1" indent="-514350" eaLnBrk="1" hangingPunct="1">
              <a:buFont typeface="+mj-ea"/>
              <a:buAutoNum type="circleNumDbPlain"/>
            </a:pPr>
            <a:r>
              <a:rPr lang="zh-CN" altLang="en-US" b="1" dirty="0"/>
              <a:t>单一类型的元素聚集；</a:t>
            </a:r>
            <a:endParaRPr lang="en-US" altLang="zh-CN" b="1" dirty="0"/>
          </a:p>
          <a:p>
            <a:pPr marL="857250" lvl="1" indent="-457200" eaLnBrk="1" hangingPunct="1">
              <a:buFont typeface="Wingdings" panose="05000000000000000000" pitchFamily="2" charset="2"/>
              <a:buChar char="ü"/>
            </a:pPr>
            <a:r>
              <a:rPr lang="en-US" altLang="zh-CN" b="1" dirty="0"/>
              <a:t>	</a:t>
            </a:r>
            <a:r>
              <a:rPr lang="zh-CN" altLang="en-US" b="1" dirty="0"/>
              <a:t>支持集合的定义、更新、判断从属关系、集合的交并运算。</a:t>
            </a:r>
            <a:endParaRPr lang="en-US" altLang="zh-CN" b="1" dirty="0"/>
          </a:p>
          <a:p>
            <a:pPr lvl="1"/>
            <a:r>
              <a:rPr lang="zh-CN" altLang="en-US" sz="2000" dirty="0">
                <a:latin typeface="+mn-ea"/>
              </a:rPr>
              <a:t>集合 是 对象 无序地聚集</a:t>
            </a:r>
            <a:r>
              <a:rPr lang="en-US" altLang="zh-CN" sz="2000" dirty="0">
                <a:latin typeface="+mn-ea"/>
              </a:rPr>
              <a:t>.</a:t>
            </a:r>
            <a:r>
              <a:rPr lang="zh-CN" altLang="en-US" sz="2000" dirty="0">
                <a:latin typeface="+mn-ea"/>
              </a:rPr>
              <a:t>例：这个班上的学生，这个教室的座椅等。</a:t>
            </a:r>
            <a:endParaRPr lang="en-US" altLang="zh-CN" sz="2000" dirty="0">
              <a:latin typeface="+mn-ea"/>
            </a:endParaRPr>
          </a:p>
          <a:p>
            <a:pPr lvl="1"/>
            <a:r>
              <a:rPr lang="zh-CN" altLang="en-US" sz="2000" dirty="0">
                <a:latin typeface="+mn-ea"/>
              </a:rPr>
              <a:t>一个集合内包含的对象 叫做 元素</a:t>
            </a:r>
            <a:r>
              <a:rPr lang="en-US" altLang="zh-CN" sz="2000" dirty="0">
                <a:latin typeface="+mn-ea"/>
              </a:rPr>
              <a:t>, </a:t>
            </a:r>
            <a:r>
              <a:rPr lang="zh-CN" altLang="en-US" sz="2000" dirty="0">
                <a:latin typeface="+mn-ea"/>
              </a:rPr>
              <a:t>或 成员</a:t>
            </a:r>
            <a:r>
              <a:rPr lang="en-US" altLang="zh-CN" sz="2000" dirty="0">
                <a:latin typeface="+mn-ea"/>
              </a:rPr>
              <a:t>. </a:t>
            </a:r>
          </a:p>
          <a:p>
            <a:pPr lvl="1"/>
            <a:r>
              <a:rPr lang="zh-CN" altLang="en-US" sz="2000" dirty="0">
                <a:latin typeface="+mn-ea"/>
              </a:rPr>
              <a:t>写法</a:t>
            </a:r>
            <a:r>
              <a:rPr lang="en-US" altLang="zh-CN" sz="2000" dirty="0">
                <a:latin typeface="+mn-ea"/>
              </a:rPr>
              <a:t> </a:t>
            </a:r>
            <a:r>
              <a:rPr lang="en-US" altLang="zh-CN" sz="2000" i="1" dirty="0">
                <a:latin typeface="+mn-ea"/>
              </a:rPr>
              <a:t>a</a:t>
            </a:r>
            <a:r>
              <a:rPr lang="en-US" altLang="zh-CN" sz="2000" dirty="0">
                <a:latin typeface="+mn-ea"/>
              </a:rPr>
              <a:t> ∈ </a:t>
            </a:r>
            <a:r>
              <a:rPr lang="en-US" altLang="zh-CN" sz="2000" i="1" dirty="0">
                <a:latin typeface="+mn-ea"/>
              </a:rPr>
              <a:t>A</a:t>
            </a:r>
            <a:r>
              <a:rPr lang="en-US" altLang="zh-CN" sz="2000" dirty="0">
                <a:latin typeface="+mn-ea"/>
              </a:rPr>
              <a:t>  </a:t>
            </a:r>
            <a:r>
              <a:rPr lang="zh-CN" altLang="en-US" sz="2000" dirty="0">
                <a:latin typeface="+mn-ea"/>
              </a:rPr>
              <a:t>的含义是</a:t>
            </a:r>
            <a:r>
              <a:rPr lang="en-US" altLang="zh-CN" sz="2000" dirty="0">
                <a:latin typeface="+mn-ea"/>
              </a:rPr>
              <a:t> </a:t>
            </a:r>
            <a:r>
              <a:rPr lang="en-US" altLang="zh-CN" sz="2000" i="1" dirty="0">
                <a:latin typeface="+mn-ea"/>
              </a:rPr>
              <a:t>a</a:t>
            </a:r>
            <a:r>
              <a:rPr lang="en-US" altLang="zh-CN" sz="2000" dirty="0">
                <a:latin typeface="+mn-ea"/>
              </a:rPr>
              <a:t> </a:t>
            </a:r>
            <a:r>
              <a:rPr lang="zh-CN" altLang="en-US" sz="2000" dirty="0">
                <a:latin typeface="+mn-ea"/>
              </a:rPr>
              <a:t>是集合</a:t>
            </a:r>
            <a:r>
              <a:rPr lang="en-US" altLang="zh-CN" sz="2000" dirty="0">
                <a:latin typeface="+mn-ea"/>
              </a:rPr>
              <a:t> </a:t>
            </a:r>
            <a:r>
              <a:rPr lang="en-US" altLang="zh-CN" sz="2000" i="1" dirty="0">
                <a:latin typeface="+mn-ea"/>
              </a:rPr>
              <a:t>A</a:t>
            </a:r>
            <a:r>
              <a:rPr lang="zh-CN" altLang="en-US" sz="2000" dirty="0">
                <a:latin typeface="+mn-ea"/>
              </a:rPr>
              <a:t>的元素</a:t>
            </a:r>
            <a:r>
              <a:rPr lang="en-US" altLang="zh-CN" sz="2000" dirty="0">
                <a:latin typeface="+mn-ea"/>
              </a:rPr>
              <a:t>.</a:t>
            </a:r>
          </a:p>
          <a:p>
            <a:pPr lvl="1"/>
            <a:r>
              <a:rPr lang="zh-CN" altLang="en-US" sz="2000" dirty="0">
                <a:latin typeface="+mn-ea"/>
              </a:rPr>
              <a:t>如果</a:t>
            </a:r>
            <a:r>
              <a:rPr lang="en-US" altLang="zh-CN" sz="2000" dirty="0">
                <a:latin typeface="+mn-ea"/>
              </a:rPr>
              <a:t> </a:t>
            </a:r>
            <a:r>
              <a:rPr lang="en-US" altLang="zh-CN" sz="2000" i="1" dirty="0">
                <a:latin typeface="+mn-ea"/>
              </a:rPr>
              <a:t>a</a:t>
            </a:r>
            <a:r>
              <a:rPr lang="en-US" altLang="zh-CN" sz="2000" dirty="0">
                <a:latin typeface="+mn-ea"/>
              </a:rPr>
              <a:t> </a:t>
            </a:r>
            <a:r>
              <a:rPr lang="zh-CN" altLang="en-US" sz="2000" dirty="0">
                <a:latin typeface="+mn-ea"/>
              </a:rPr>
              <a:t>不是集合</a:t>
            </a:r>
            <a:r>
              <a:rPr lang="en-US" altLang="zh-CN" sz="2000" i="1" dirty="0">
                <a:latin typeface="+mn-ea"/>
              </a:rPr>
              <a:t>A</a:t>
            </a:r>
            <a:r>
              <a:rPr lang="zh-CN" altLang="en-US" sz="2000" dirty="0">
                <a:latin typeface="+mn-ea"/>
              </a:rPr>
              <a:t>的成员</a:t>
            </a:r>
            <a:r>
              <a:rPr lang="en-US" altLang="zh-CN" sz="2000" dirty="0">
                <a:latin typeface="+mn-ea"/>
              </a:rPr>
              <a:t>, </a:t>
            </a:r>
            <a:r>
              <a:rPr lang="zh-CN" altLang="en-US" sz="2000" dirty="0">
                <a:latin typeface="+mn-ea"/>
              </a:rPr>
              <a:t>写作</a:t>
            </a:r>
            <a:r>
              <a:rPr lang="en-US" altLang="zh-CN" sz="2000" dirty="0">
                <a:latin typeface="+mn-ea"/>
              </a:rPr>
              <a:t> </a:t>
            </a:r>
            <a:r>
              <a:rPr lang="en-US" altLang="zh-CN" sz="2000" i="1" dirty="0">
                <a:latin typeface="+mn-ea"/>
              </a:rPr>
              <a:t>a</a:t>
            </a:r>
            <a:r>
              <a:rPr lang="en-US" altLang="zh-CN" sz="2000" dirty="0">
                <a:latin typeface="+mn-ea"/>
              </a:rPr>
              <a:t> ∉ </a:t>
            </a:r>
            <a:r>
              <a:rPr lang="en-US" altLang="zh-CN" sz="2000" i="1" dirty="0">
                <a:latin typeface="+mn-ea"/>
              </a:rPr>
              <a:t>A</a:t>
            </a:r>
            <a:r>
              <a:rPr lang="en-US" altLang="zh-CN" sz="2000" dirty="0">
                <a:latin typeface="+mn-ea"/>
              </a:rPr>
              <a:t> .</a:t>
            </a:r>
          </a:p>
          <a:p>
            <a:pPr lvl="1"/>
            <a:r>
              <a:rPr lang="zh-CN" altLang="en-US" sz="2000" dirty="0">
                <a:latin typeface="+mn-ea"/>
              </a:rPr>
              <a:t>描述集合</a:t>
            </a:r>
            <a:r>
              <a:rPr lang="en-US" altLang="zh-CN" sz="2000" dirty="0">
                <a:latin typeface="+mn-ea"/>
              </a:rPr>
              <a:t>: </a:t>
            </a:r>
            <a:r>
              <a:rPr lang="zh-CN" altLang="en-US" sz="2000" dirty="0">
                <a:latin typeface="+mn-ea"/>
              </a:rPr>
              <a:t>花名册法</a:t>
            </a:r>
            <a:r>
              <a:rPr lang="en-US" altLang="zh-CN" sz="2000" dirty="0">
                <a:latin typeface="+mn-ea"/>
              </a:rPr>
              <a:t>.</a:t>
            </a:r>
            <a:r>
              <a:rPr lang="zh-CN" altLang="en-US" sz="2000" dirty="0">
                <a:latin typeface="+mn-ea"/>
              </a:rPr>
              <a:t>例：</a:t>
            </a:r>
            <a:r>
              <a:rPr lang="en-US" altLang="zh-CN" sz="2000" i="1" dirty="0">
                <a:latin typeface="Cambria Math" panose="02040503050406030204" pitchFamily="18" charset="0"/>
                <a:ea typeface="Cambria Math" panose="02040503050406030204" pitchFamily="18" charset="0"/>
              </a:rPr>
              <a:t>S</a:t>
            </a:r>
            <a:r>
              <a:rPr lang="en-US" altLang="zh-CN" sz="2000" dirty="0">
                <a:latin typeface="Cambria Math" panose="02040503050406030204" pitchFamily="18" charset="0"/>
                <a:ea typeface="Cambria Math" panose="02040503050406030204" pitchFamily="18" charset="0"/>
              </a:rPr>
              <a:t> = {1,2,3,……..,99}.</a:t>
            </a:r>
          </a:p>
          <a:p>
            <a:pPr marL="914400" lvl="2" indent="0">
              <a:buNone/>
            </a:pPr>
            <a:r>
              <a:rPr lang="zh-CN" altLang="en-US" sz="2000" dirty="0">
                <a:latin typeface="+mn-ea"/>
              </a:rPr>
              <a:t>集合构造器，例：</a:t>
            </a:r>
            <a:r>
              <a:rPr lang="en-US" altLang="zh-CN" sz="2000" i="1" dirty="0">
                <a:latin typeface="Cambria Math" panose="02040503050406030204" pitchFamily="18" charset="0"/>
                <a:ea typeface="Cambria Math" panose="02040503050406030204" pitchFamily="18" charset="0"/>
              </a:rPr>
              <a:t>S</a:t>
            </a:r>
            <a:r>
              <a:rPr lang="en-US" altLang="zh-CN" sz="2000" dirty="0">
                <a:latin typeface="Cambria Math" panose="02040503050406030204" pitchFamily="18" charset="0"/>
                <a:ea typeface="Cambria Math" panose="02040503050406030204" pitchFamily="18" charset="0"/>
              </a:rPr>
              <a:t> = {</a:t>
            </a:r>
            <a:r>
              <a:rPr lang="en-US" altLang="zh-CN" sz="2000" i="1" dirty="0">
                <a:ea typeface="Cambria Math" panose="02040503050406030204" pitchFamily="18" charset="0"/>
              </a:rPr>
              <a:t>x</a:t>
            </a:r>
            <a:r>
              <a:rPr lang="en-US" altLang="zh-CN" sz="2000" i="1" dirty="0">
                <a:latin typeface="Cambria Math" panose="02040503050406030204" pitchFamily="18" charset="0"/>
                <a:ea typeface="Cambria Math" panose="02040503050406030204" pitchFamily="18" charset="0"/>
              </a:rPr>
              <a:t> </a:t>
            </a:r>
            <a:r>
              <a:rPr lang="en-US" altLang="zh-CN" sz="2000" dirty="0">
                <a:latin typeface="Cambria Math" panose="02040503050406030204" pitchFamily="18" charset="0"/>
                <a:ea typeface="Cambria Math" panose="02040503050406030204" pitchFamily="18" charset="0"/>
              </a:rPr>
              <a:t>| </a:t>
            </a:r>
            <a:r>
              <a:rPr lang="en-US" altLang="zh-CN" sz="2000" i="1" dirty="0">
                <a:ea typeface="Cambria Math" panose="02040503050406030204" pitchFamily="18" charset="0"/>
              </a:rPr>
              <a:t>x</a:t>
            </a:r>
            <a:r>
              <a:rPr lang="en-US" altLang="zh-CN" sz="2000" dirty="0">
                <a:latin typeface="Cambria Math" panose="02040503050406030204" pitchFamily="18" charset="0"/>
                <a:ea typeface="Cambria Math" panose="02040503050406030204" pitchFamily="18" charset="0"/>
              </a:rPr>
              <a:t> </a:t>
            </a:r>
            <a:r>
              <a:rPr lang="zh-CN" altLang="en-US" sz="2000" dirty="0">
                <a:latin typeface="Cambria Math" panose="02040503050406030204" pitchFamily="18" charset="0"/>
                <a:ea typeface="Cambria Math" panose="02040503050406030204" pitchFamily="18" charset="0"/>
              </a:rPr>
              <a:t>是</a:t>
            </a:r>
            <a:r>
              <a:rPr lang="en-US" altLang="zh-CN" sz="2000" dirty="0">
                <a:latin typeface="Cambria Math" panose="02040503050406030204" pitchFamily="18" charset="0"/>
                <a:ea typeface="Cambria Math" panose="02040503050406030204" pitchFamily="18" charset="0"/>
              </a:rPr>
              <a:t>100</a:t>
            </a:r>
            <a:r>
              <a:rPr lang="zh-CN" altLang="en-US" sz="2000" dirty="0">
                <a:latin typeface="Cambria Math" panose="02040503050406030204" pitchFamily="18" charset="0"/>
                <a:ea typeface="Cambria Math" panose="02040503050406030204" pitchFamily="18" charset="0"/>
              </a:rPr>
              <a:t>以内的正整数</a:t>
            </a:r>
            <a:r>
              <a:rPr lang="en-US" altLang="zh-CN" sz="2000" dirty="0">
                <a:latin typeface="Cambria Math" panose="02040503050406030204" pitchFamily="18" charset="0"/>
                <a:ea typeface="Cambria Math" panose="02040503050406030204" pitchFamily="18" charset="0"/>
              </a:rPr>
              <a:t>}.</a:t>
            </a:r>
          </a:p>
          <a:p>
            <a:pPr marL="914400" lvl="2" indent="0">
              <a:buNone/>
            </a:pPr>
            <a:r>
              <a:rPr lang="zh-CN" altLang="en-US" sz="2000" dirty="0">
                <a:latin typeface="+mn-ea"/>
              </a:rPr>
              <a:t>区间表示法，例：</a:t>
            </a:r>
            <a:r>
              <a:rPr lang="en-US" altLang="zh-CN" sz="2000" dirty="0">
                <a:latin typeface="Cambria Math" panose="02040503050406030204" pitchFamily="18" charset="0"/>
                <a:ea typeface="Cambria Math" panose="02040503050406030204" pitchFamily="18" charset="0"/>
              </a:rPr>
              <a:t> [1,99].</a:t>
            </a:r>
            <a:endParaRPr lang="en-US" altLang="zh-CN" sz="2000" dirty="0">
              <a:latin typeface="+mn-ea"/>
            </a:endParaRPr>
          </a:p>
          <a:p>
            <a:pPr marL="914400" lvl="1" indent="-514350" eaLnBrk="1" hangingPunct="1">
              <a:buFont typeface="+mj-ea"/>
              <a:buAutoNum type="circleNumDbPlain" startAt="2"/>
            </a:pPr>
            <a:r>
              <a:rPr lang="zh-CN" altLang="en-US" b="1" dirty="0">
                <a:cs typeface="+mn-cs"/>
              </a:rPr>
              <a:t>不同类型的元素聚集；</a:t>
            </a:r>
            <a:endParaRPr lang="en-US" altLang="zh-CN" b="1" dirty="0">
              <a:cs typeface="+mn-cs"/>
            </a:endParaRPr>
          </a:p>
          <a:p>
            <a:pPr marL="0" indent="0" eaLnBrk="1" hangingPunct="1">
              <a:buNone/>
            </a:pPr>
            <a:endParaRPr lang="en-US" altLang="zh-CN" b="1" dirty="0"/>
          </a:p>
        </p:txBody>
      </p:sp>
      <p:sp>
        <p:nvSpPr>
          <p:cNvPr id="6148" name="Rectangle 10"/>
          <p:cNvSpPr>
            <a:spLocks noGrp="1" noChangeArrowheads="1"/>
          </p:cNvSpPr>
          <p:nvPr>
            <p:ph type="title"/>
          </p:nvPr>
        </p:nvSpPr>
        <p:spPr>
          <a:noFill/>
        </p:spPr>
        <p:txBody>
          <a:bodyPr/>
          <a:lstStyle/>
          <a:p>
            <a:pPr eaLnBrk="1" hangingPunct="1"/>
            <a:r>
              <a:rPr lang="zh-CN" altLang="en-US" b="1" dirty="0"/>
              <a:t>数据的扩展表示</a:t>
            </a:r>
            <a:r>
              <a:rPr lang="en-US" altLang="zh-CN" b="1" dirty="0"/>
              <a:t>(1)</a:t>
            </a:r>
            <a:endParaRPr lang="zh-CN" altLang="en-US" b="1" dirty="0"/>
          </a:p>
        </p:txBody>
      </p:sp>
    </p:spTree>
    <p:extLst>
      <p:ext uri="{BB962C8B-B14F-4D97-AF65-F5344CB8AC3E}">
        <p14:creationId xmlns:p14="http://schemas.microsoft.com/office/powerpoint/2010/main" val="13036626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34"/>
          <p:cNvSpPr>
            <a:spLocks noGrp="1" noChangeArrowheads="1"/>
          </p:cNvSpPr>
          <p:nvPr>
            <p:ph type="body" idx="1"/>
          </p:nvPr>
        </p:nvSpPr>
        <p:spPr>
          <a:xfrm>
            <a:off x="685800" y="1319213"/>
            <a:ext cx="7772400" cy="4989512"/>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indent="-514350" eaLnBrk="1" hangingPunct="1">
              <a:buFont typeface="+mj-lt"/>
              <a:buAutoNum type="arabicPeriod" startAt="2"/>
            </a:pPr>
            <a:r>
              <a:rPr lang="zh-CN" altLang="en-US" b="1" dirty="0"/>
              <a:t>如何表示不同类型的数据序列？</a:t>
            </a:r>
            <a:endParaRPr lang="en-US" altLang="zh-CN" b="1" dirty="0"/>
          </a:p>
          <a:p>
            <a:pPr marL="914400" lvl="1" indent="-514350" eaLnBrk="1" hangingPunct="1">
              <a:buFont typeface="+mj-ea"/>
              <a:buAutoNum type="circleNumDbPlain"/>
            </a:pPr>
            <a:r>
              <a:rPr lang="zh-CN" altLang="en-US" b="1" dirty="0"/>
              <a:t>单一类型的元素序列；</a:t>
            </a:r>
            <a:endParaRPr lang="en-US" altLang="zh-CN" b="1" dirty="0"/>
          </a:p>
          <a:p>
            <a:pPr marL="857250" lvl="1" indent="-457200" eaLnBrk="1" hangingPunct="1">
              <a:buFont typeface="Wingdings" panose="05000000000000000000" pitchFamily="2" charset="2"/>
              <a:buChar char="ü"/>
            </a:pPr>
            <a:r>
              <a:rPr lang="en-US" altLang="zh-CN" b="1" dirty="0"/>
              <a:t>	</a:t>
            </a:r>
            <a:r>
              <a:rPr lang="zh-CN" altLang="en-US" b="1" dirty="0"/>
              <a:t>支持序列的定义、更新、判断从属关系和次序关系、序列的交并运算。</a:t>
            </a:r>
            <a:endParaRPr lang="en-US" altLang="zh-CN" b="1" dirty="0"/>
          </a:p>
          <a:p>
            <a:pPr>
              <a:buNone/>
            </a:pPr>
            <a:r>
              <a:rPr lang="en-US" altLang="zh-CN" sz="2000" dirty="0">
                <a:latin typeface="+mn-ea"/>
              </a:rPr>
              <a:t>	</a:t>
            </a:r>
            <a:r>
              <a:rPr lang="zh-CN" altLang="en-US" sz="2000" dirty="0">
                <a:latin typeface="+mn-ea"/>
              </a:rPr>
              <a:t>序列是对象的有序列表</a:t>
            </a:r>
            <a:r>
              <a:rPr lang="en-US" altLang="zh-CN" sz="2000" dirty="0">
                <a:latin typeface="+mn-ea"/>
              </a:rPr>
              <a:t>.</a:t>
            </a:r>
            <a:r>
              <a:rPr lang="zh-CN" altLang="en-US" sz="2000" dirty="0">
                <a:latin typeface="+mn-ea"/>
              </a:rPr>
              <a:t>例：数列、字符串。</a:t>
            </a:r>
            <a:endParaRPr lang="en-US" altLang="zh-CN" sz="2000" dirty="0">
              <a:latin typeface="+mn-ea"/>
            </a:endParaRPr>
          </a:p>
          <a:p>
            <a:pPr>
              <a:buNone/>
            </a:pPr>
            <a:r>
              <a:rPr lang="en-US" altLang="zh-CN" sz="2000" dirty="0">
                <a:latin typeface="+mn-ea"/>
              </a:rPr>
              <a:t>	</a:t>
            </a:r>
            <a:r>
              <a:rPr lang="zh-CN" altLang="en-US" sz="2000" dirty="0"/>
              <a:t>序列的数学定义是从整数子集到</a:t>
            </a:r>
            <a:r>
              <a:rPr lang="en-US" altLang="zh-CN" sz="2000" dirty="0"/>
              <a:t> </a:t>
            </a:r>
            <a:r>
              <a:rPr lang="en-US" altLang="zh-CN" sz="2000" i="1" dirty="0"/>
              <a:t>S </a:t>
            </a:r>
            <a:r>
              <a:rPr lang="zh-CN" altLang="en-US" sz="2000" dirty="0"/>
              <a:t>集合的函数映射</a:t>
            </a:r>
            <a:r>
              <a:rPr lang="en-US" altLang="zh-CN" sz="2000" dirty="0"/>
              <a:t> ,</a:t>
            </a:r>
            <a:r>
              <a:rPr lang="zh-CN" altLang="en-US" sz="2000" dirty="0"/>
              <a:t> 其中的整数子集通常是</a:t>
            </a:r>
            <a:r>
              <a:rPr lang="en-US" altLang="zh-CN" sz="2000" dirty="0"/>
              <a:t>{</a:t>
            </a:r>
            <a:r>
              <a:rPr lang="en-US" altLang="zh-CN" sz="2000" dirty="0">
                <a:latin typeface="Cambria Math" panose="02040503050406030204" pitchFamily="18" charset="0"/>
                <a:ea typeface="Cambria Math" panose="02040503050406030204" pitchFamily="18" charset="0"/>
              </a:rPr>
              <a:t>0, 1, 2, 3, 4, </a:t>
            </a:r>
            <a:r>
              <a:rPr lang="en-US" altLang="zh-CN" sz="2000" dirty="0"/>
              <a:t>…..} </a:t>
            </a:r>
            <a:r>
              <a:rPr lang="zh-CN" altLang="en-US" sz="2000" dirty="0"/>
              <a:t>或 </a:t>
            </a:r>
            <a:r>
              <a:rPr lang="en-US" altLang="zh-CN" sz="2000" dirty="0"/>
              <a:t>{</a:t>
            </a:r>
            <a:r>
              <a:rPr lang="en-US" altLang="zh-CN" sz="2000" dirty="0">
                <a:latin typeface="Cambria Math" panose="02040503050406030204" pitchFamily="18" charset="0"/>
                <a:ea typeface="Cambria Math" panose="02040503050406030204" pitchFamily="18" charset="0"/>
              </a:rPr>
              <a:t>1, 2, 3, 4, </a:t>
            </a:r>
            <a:r>
              <a:rPr lang="en-US" altLang="zh-CN" sz="2000" dirty="0"/>
              <a:t>….}.</a:t>
            </a:r>
          </a:p>
          <a:p>
            <a:pPr marL="400050" lvl="1" indent="0">
              <a:buNone/>
            </a:pPr>
            <a:r>
              <a:rPr lang="zh-CN" altLang="en-US" sz="2000" dirty="0"/>
              <a:t>可以把</a:t>
            </a:r>
            <a:r>
              <a:rPr lang="en-US" altLang="zh-CN" sz="2000" dirty="0"/>
              <a:t> </a:t>
            </a:r>
            <a:r>
              <a:rPr lang="en-US" altLang="zh-CN" sz="2000" i="1" dirty="0">
                <a:ea typeface="Cambria Math" panose="02040503050406030204" pitchFamily="18" charset="0"/>
              </a:rPr>
              <a:t>a</a:t>
            </a:r>
            <a:r>
              <a:rPr lang="en-US" altLang="zh-CN" sz="2000" i="1" baseline="-25000" dirty="0">
                <a:latin typeface="Cambria Math" panose="02040503050406030204" pitchFamily="18" charset="0"/>
                <a:ea typeface="Cambria Math" panose="02040503050406030204" pitchFamily="18" charset="0"/>
              </a:rPr>
              <a:t>n</a:t>
            </a:r>
            <a:r>
              <a:rPr lang="en-US" altLang="zh-CN" sz="2000" dirty="0"/>
              <a:t> </a:t>
            </a:r>
            <a:r>
              <a:rPr lang="zh-CN" altLang="en-US" sz="2000" dirty="0"/>
              <a:t>看作</a:t>
            </a:r>
            <a:r>
              <a:rPr lang="en-US" altLang="zh-CN" sz="2000" dirty="0"/>
              <a:t> </a:t>
            </a:r>
            <a:r>
              <a:rPr lang="en-US" altLang="zh-CN" sz="2000" i="1" dirty="0"/>
              <a:t>f(n)</a:t>
            </a:r>
            <a:r>
              <a:rPr lang="en-US" altLang="zh-CN" sz="2000" dirty="0"/>
              <a:t> </a:t>
            </a:r>
            <a:r>
              <a:rPr lang="zh-CN" altLang="en-US" sz="2000" dirty="0"/>
              <a:t>的等价符号</a:t>
            </a:r>
            <a:r>
              <a:rPr lang="en-US" altLang="zh-CN" sz="2000" dirty="0"/>
              <a:t>,  </a:t>
            </a:r>
            <a:r>
              <a:rPr lang="en-US" altLang="zh-CN" sz="2000" i="1" dirty="0"/>
              <a:t>f</a:t>
            </a:r>
            <a:r>
              <a:rPr lang="en-US" altLang="zh-CN" sz="2000" dirty="0"/>
              <a:t> </a:t>
            </a:r>
            <a:r>
              <a:rPr lang="zh-CN" altLang="en-US" sz="2000" dirty="0"/>
              <a:t>是从 </a:t>
            </a:r>
            <a:r>
              <a:rPr lang="en-US" altLang="zh-CN" sz="2000" dirty="0"/>
              <a:t>{</a:t>
            </a:r>
            <a:r>
              <a:rPr lang="en-US" altLang="zh-CN" sz="2000" dirty="0">
                <a:latin typeface="Cambria Math" panose="02040503050406030204" pitchFamily="18" charset="0"/>
                <a:ea typeface="Cambria Math" panose="02040503050406030204" pitchFamily="18" charset="0"/>
              </a:rPr>
              <a:t>0,1,2</a:t>
            </a:r>
            <a:r>
              <a:rPr lang="en-US" altLang="zh-CN" sz="2000" dirty="0"/>
              <a:t>,…..} </a:t>
            </a:r>
            <a:r>
              <a:rPr lang="zh-CN" altLang="en-US" sz="2000" dirty="0"/>
              <a:t>到 </a:t>
            </a:r>
            <a:r>
              <a:rPr lang="en-US" altLang="zh-CN" sz="2000" i="1" dirty="0"/>
              <a:t>S</a:t>
            </a:r>
            <a:r>
              <a:rPr lang="zh-CN" altLang="en-US" sz="2000" dirty="0"/>
              <a:t>的函数</a:t>
            </a:r>
            <a:r>
              <a:rPr lang="en-US" altLang="zh-CN" sz="2000" dirty="0"/>
              <a:t>. </a:t>
            </a:r>
            <a:r>
              <a:rPr lang="zh-CN" altLang="en-US" sz="2000" dirty="0"/>
              <a:t>我们称</a:t>
            </a:r>
            <a:r>
              <a:rPr lang="en-US" altLang="zh-CN" sz="2000" dirty="0"/>
              <a:t> </a:t>
            </a:r>
            <a:r>
              <a:rPr lang="en-US" altLang="zh-CN" sz="2000" i="1" dirty="0">
                <a:ea typeface="Cambria Math" panose="02040503050406030204" pitchFamily="18" charset="0"/>
              </a:rPr>
              <a:t>a</a:t>
            </a:r>
            <a:r>
              <a:rPr lang="en-US" altLang="zh-CN" sz="2000" i="1" baseline="-25000" dirty="0">
                <a:ea typeface="Cambria Math" panose="02040503050406030204" pitchFamily="18" charset="0"/>
              </a:rPr>
              <a:t>n</a:t>
            </a:r>
            <a:r>
              <a:rPr lang="en-US" altLang="zh-CN" sz="2000" dirty="0"/>
              <a:t>  </a:t>
            </a:r>
            <a:r>
              <a:rPr lang="zh-CN" altLang="en-US" sz="2000" dirty="0"/>
              <a:t>为序列项</a:t>
            </a:r>
            <a:r>
              <a:rPr lang="en-US" altLang="zh-CN" sz="2000" dirty="0"/>
              <a:t>.</a:t>
            </a:r>
          </a:p>
          <a:p>
            <a:pPr marL="457200" lvl="1" indent="0">
              <a:buNone/>
            </a:pPr>
            <a:r>
              <a:rPr lang="zh-CN" altLang="en-US" sz="2000" dirty="0">
                <a:latin typeface="+mn-ea"/>
              </a:rPr>
              <a:t>序列描述了</a:t>
            </a:r>
            <a:r>
              <a:rPr lang="en-US" altLang="zh-CN" sz="2000" i="1" dirty="0"/>
              <a:t>S </a:t>
            </a:r>
            <a:r>
              <a:rPr lang="zh-CN" altLang="en-US" sz="2000" dirty="0"/>
              <a:t>集合中元素之间的完全次序关系，任何两个元素都有次序关系，这种全序关系用图形表示就是线性。</a:t>
            </a:r>
            <a:endParaRPr lang="en-US" altLang="zh-CN" b="1" dirty="0"/>
          </a:p>
          <a:p>
            <a:pPr marL="914400" lvl="1" indent="-514350" eaLnBrk="1" hangingPunct="1">
              <a:buFont typeface="+mj-ea"/>
              <a:buAutoNum type="circleNumDbPlain" startAt="2"/>
            </a:pPr>
            <a:r>
              <a:rPr lang="zh-CN" altLang="en-US" b="1" dirty="0">
                <a:cs typeface="+mn-cs"/>
              </a:rPr>
              <a:t>不同类型的元素序列；</a:t>
            </a:r>
            <a:endParaRPr lang="en-US" altLang="zh-CN" b="1" dirty="0">
              <a:cs typeface="+mn-cs"/>
            </a:endParaRPr>
          </a:p>
          <a:p>
            <a:pPr marL="0" indent="0" eaLnBrk="1" hangingPunct="1">
              <a:buNone/>
            </a:pPr>
            <a:endParaRPr lang="en-US" altLang="zh-CN" b="1" dirty="0"/>
          </a:p>
        </p:txBody>
      </p:sp>
      <p:sp>
        <p:nvSpPr>
          <p:cNvPr id="6148" name="Rectangle 10"/>
          <p:cNvSpPr>
            <a:spLocks noGrp="1" noChangeArrowheads="1"/>
          </p:cNvSpPr>
          <p:nvPr>
            <p:ph type="title"/>
          </p:nvPr>
        </p:nvSpPr>
        <p:spPr>
          <a:noFill/>
        </p:spPr>
        <p:txBody>
          <a:bodyPr/>
          <a:lstStyle/>
          <a:p>
            <a:pPr eaLnBrk="1" hangingPunct="1"/>
            <a:r>
              <a:rPr lang="zh-CN" altLang="en-US" b="1" dirty="0"/>
              <a:t>数据的扩展表示</a:t>
            </a:r>
            <a:r>
              <a:rPr lang="en-US" altLang="zh-CN" b="1" dirty="0"/>
              <a:t>(2)</a:t>
            </a:r>
            <a:endParaRPr lang="zh-CN" altLang="en-US" b="1" dirty="0"/>
          </a:p>
        </p:txBody>
      </p:sp>
    </p:spTree>
    <p:extLst>
      <p:ext uri="{BB962C8B-B14F-4D97-AF65-F5344CB8AC3E}">
        <p14:creationId xmlns:p14="http://schemas.microsoft.com/office/powerpoint/2010/main" val="161571966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a:extLst>
              <a:ext uri="{FF2B5EF4-FFF2-40B4-BE49-F238E27FC236}">
                <a16:creationId xmlns:a16="http://schemas.microsoft.com/office/drawing/2014/main" id="{7AB69E89-6FCB-47D5-847E-46A122000E22}"/>
              </a:ext>
            </a:extLst>
          </p:cNvPr>
          <p:cNvSpPr txBox="1">
            <a:spLocks noChangeArrowheads="1"/>
          </p:cNvSpPr>
          <p:nvPr/>
        </p:nvSpPr>
        <p:spPr bwMode="auto">
          <a:xfrm>
            <a:off x="5096236" y="460345"/>
            <a:ext cx="3868376"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600" dirty="0">
                <a:solidFill>
                  <a:srgbClr val="FF0000"/>
                </a:solidFill>
                <a:latin typeface="楷体" panose="02010609060101010101" pitchFamily="49" charset="-122"/>
                <a:ea typeface="楷体" panose="02010609060101010101" pitchFamily="49" charset="-122"/>
              </a:rPr>
              <a:t>线性表的逻辑结构</a:t>
            </a:r>
          </a:p>
        </p:txBody>
      </p:sp>
      <p:sp>
        <p:nvSpPr>
          <p:cNvPr id="3075" name="Rectangle 3" descr="Rectangle: Click to edit Master text styles&#10;Second level&#10;Third level&#10;Fourth level&#10;Fifth level">
            <a:extLst>
              <a:ext uri="{FF2B5EF4-FFF2-40B4-BE49-F238E27FC236}">
                <a16:creationId xmlns:a16="http://schemas.microsoft.com/office/drawing/2014/main" id="{3FD0B6E6-ABA3-44C7-9414-26B6AB35F53A}"/>
              </a:ext>
            </a:extLst>
          </p:cNvPr>
          <p:cNvSpPr txBox="1">
            <a:spLocks noChangeArrowheads="1"/>
          </p:cNvSpPr>
          <p:nvPr/>
        </p:nvSpPr>
        <p:spPr bwMode="auto">
          <a:xfrm>
            <a:off x="467544" y="1556792"/>
            <a:ext cx="7772400" cy="316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eaLnBrk="1" hangingPunct="1">
              <a:buFontTx/>
              <a:buNone/>
              <a:defRPr sz="2400" b="1">
                <a:latin typeface="+mn-lt"/>
                <a:ea typeface="+mn-ea"/>
              </a:defRPr>
            </a:lvl1pPr>
            <a:lvl2pPr marL="742950" indent="-285750" eaLnBrk="0" hangingPunct="0">
              <a:buChar char="–"/>
              <a:defRPr sz="2800">
                <a:latin typeface="+mn-lt"/>
                <a:ea typeface="+mn-ea"/>
              </a:defRPr>
            </a:lvl2pPr>
            <a:lvl3pPr marL="1143000" indent="-228600" eaLnBrk="0" hangingPunct="0">
              <a:buSzPct val="65000"/>
              <a:buFont typeface="Wingdings" panose="05000000000000000000" pitchFamily="2" charset="2"/>
              <a:buChar char="n"/>
              <a:defRPr sz="2800">
                <a:latin typeface="+mn-lt"/>
                <a:ea typeface="+mn-ea"/>
              </a:defRPr>
            </a:lvl3pPr>
            <a:lvl4pPr marL="1600200" indent="-228600" eaLnBrk="0" hangingPunct="0">
              <a:buChar char="–"/>
              <a:defRPr sz="2800">
                <a:latin typeface="+mn-lt"/>
                <a:ea typeface="+mn-ea"/>
              </a:defRPr>
            </a:lvl4pPr>
            <a:lvl5pPr marL="2057400" indent="-228600" eaLnBrk="0" hangingPunct="0">
              <a:buChar char="»"/>
              <a:defRPr sz="2800">
                <a:latin typeface="+mn-lt"/>
                <a:ea typeface="+mn-ea"/>
              </a:defRPr>
            </a:lvl5pPr>
            <a:lvl6pPr marL="2514600" indent="-228600" fontAlgn="base">
              <a:spcBef>
                <a:spcPct val="20000"/>
              </a:spcBef>
              <a:spcAft>
                <a:spcPct val="0"/>
              </a:spcAft>
              <a:buChar char="»"/>
              <a:defRPr sz="2800">
                <a:latin typeface="+mn-lt"/>
                <a:ea typeface="+mn-ea"/>
              </a:defRPr>
            </a:lvl6pPr>
            <a:lvl7pPr marL="2971800" indent="-228600" fontAlgn="base">
              <a:spcBef>
                <a:spcPct val="20000"/>
              </a:spcBef>
              <a:spcAft>
                <a:spcPct val="0"/>
              </a:spcAft>
              <a:buChar char="»"/>
              <a:defRPr sz="2800">
                <a:latin typeface="+mn-lt"/>
                <a:ea typeface="+mn-ea"/>
              </a:defRPr>
            </a:lvl7pPr>
            <a:lvl8pPr marL="3429000" indent="-228600" fontAlgn="base">
              <a:spcBef>
                <a:spcPct val="20000"/>
              </a:spcBef>
              <a:spcAft>
                <a:spcPct val="0"/>
              </a:spcAft>
              <a:buChar char="»"/>
              <a:defRPr sz="2800">
                <a:latin typeface="+mn-lt"/>
                <a:ea typeface="+mn-ea"/>
              </a:defRPr>
            </a:lvl8pPr>
            <a:lvl9pPr marL="3886200" indent="-228600" fontAlgn="base">
              <a:spcBef>
                <a:spcPct val="20000"/>
              </a:spcBef>
              <a:spcAft>
                <a:spcPct val="0"/>
              </a:spcAft>
              <a:buChar char="»"/>
              <a:defRPr sz="2800">
                <a:latin typeface="+mn-lt"/>
                <a:ea typeface="+mn-ea"/>
              </a:defRPr>
            </a:lvl9pPr>
          </a:lstStyle>
          <a:p>
            <a:pPr>
              <a:lnSpc>
                <a:spcPct val="150000"/>
              </a:lnSpc>
              <a:buFont typeface="Arial" panose="020B0604020202020204" pitchFamily="34" charset="0"/>
              <a:buChar char="•"/>
            </a:pPr>
            <a:r>
              <a:rPr lang="zh-CN" altLang="en-US" dirty="0"/>
              <a:t>集合</a:t>
            </a:r>
            <a:r>
              <a:rPr lang="en-US" altLang="zh-CN" dirty="0"/>
              <a:t>S</a:t>
            </a:r>
            <a:r>
              <a:rPr lang="zh-CN" altLang="en-US" dirty="0"/>
              <a:t>上数据关系</a:t>
            </a:r>
            <a:r>
              <a:rPr lang="en-US" altLang="zh-CN" dirty="0"/>
              <a:t>R</a:t>
            </a:r>
            <a:r>
              <a:rPr lang="zh-CN" altLang="en-US" dirty="0"/>
              <a:t>，保证任意两个元素之间，要么</a:t>
            </a:r>
            <a:r>
              <a:rPr lang="en-US" altLang="zh-CN" noProof="1"/>
              <a:t> a ≼ b</a:t>
            </a:r>
            <a:r>
              <a:rPr lang="zh-CN" altLang="en-US" noProof="1"/>
              <a:t>（</a:t>
            </a:r>
            <a:r>
              <a:rPr lang="en-US" altLang="zh-CN" noProof="1"/>
              <a:t>a</a:t>
            </a:r>
            <a:r>
              <a:rPr lang="zh-CN" altLang="en-US" noProof="1"/>
              <a:t>是</a:t>
            </a:r>
            <a:r>
              <a:rPr lang="en-US" altLang="zh-CN" noProof="1"/>
              <a:t>b</a:t>
            </a:r>
            <a:r>
              <a:rPr lang="zh-CN" altLang="en-US" noProof="1"/>
              <a:t>的前驱，或</a:t>
            </a:r>
            <a:r>
              <a:rPr lang="en-US" altLang="zh-CN" noProof="1"/>
              <a:t>b</a:t>
            </a:r>
            <a:r>
              <a:rPr lang="zh-CN" altLang="en-US" noProof="1"/>
              <a:t>是</a:t>
            </a:r>
            <a:r>
              <a:rPr lang="en-US" altLang="zh-CN" noProof="1"/>
              <a:t>a</a:t>
            </a:r>
            <a:r>
              <a:rPr lang="zh-CN" altLang="en-US" noProof="1"/>
              <a:t>的后继）</a:t>
            </a:r>
            <a:r>
              <a:rPr lang="en-US" altLang="zh-CN" noProof="1"/>
              <a:t> </a:t>
            </a:r>
            <a:r>
              <a:rPr lang="zh-CN" altLang="en-US" noProof="1"/>
              <a:t>要么</a:t>
            </a:r>
            <a:r>
              <a:rPr lang="en-US" altLang="zh-CN" noProof="1"/>
              <a:t> b ≼ a</a:t>
            </a:r>
            <a:r>
              <a:rPr lang="zh-CN" altLang="en-US" noProof="1"/>
              <a:t>，但不会同时</a:t>
            </a:r>
            <a:r>
              <a:rPr lang="en-US" altLang="zh-CN" noProof="1"/>
              <a:t>. </a:t>
            </a:r>
          </a:p>
          <a:p>
            <a:pPr>
              <a:lnSpc>
                <a:spcPct val="150000"/>
              </a:lnSpc>
              <a:buFont typeface="Arial" panose="020B0604020202020204" pitchFamily="34" charset="0"/>
              <a:buChar char="•"/>
            </a:pPr>
            <a:r>
              <a:rPr lang="zh-CN" altLang="en-US" dirty="0"/>
              <a:t>数学上，任意两元素都可确定前后次序，可以推出任一元素在整个集合中一定有唯一位置。所有元素都按次序排列，形成一条链，线性结构。</a:t>
            </a:r>
          </a:p>
        </p:txBody>
      </p:sp>
      <p:grpSp>
        <p:nvGrpSpPr>
          <p:cNvPr id="6" name="Group 22">
            <a:extLst>
              <a:ext uri="{FF2B5EF4-FFF2-40B4-BE49-F238E27FC236}">
                <a16:creationId xmlns:a16="http://schemas.microsoft.com/office/drawing/2014/main" id="{C9CF76BB-BB17-4522-B4C7-8ADDF64A4066}"/>
              </a:ext>
            </a:extLst>
          </p:cNvPr>
          <p:cNvGrpSpPr>
            <a:grpSpLocks/>
          </p:cNvGrpSpPr>
          <p:nvPr/>
        </p:nvGrpSpPr>
        <p:grpSpPr bwMode="auto">
          <a:xfrm>
            <a:off x="1475656" y="4986995"/>
            <a:ext cx="5306913" cy="628426"/>
            <a:chOff x="1292" y="2568"/>
            <a:chExt cx="3193" cy="227"/>
          </a:xfrm>
          <a:solidFill>
            <a:srgbClr val="FFFF00"/>
          </a:solidFill>
        </p:grpSpPr>
        <p:sp>
          <p:nvSpPr>
            <p:cNvPr id="7" name="Oval 5">
              <a:extLst>
                <a:ext uri="{FF2B5EF4-FFF2-40B4-BE49-F238E27FC236}">
                  <a16:creationId xmlns:a16="http://schemas.microsoft.com/office/drawing/2014/main" id="{6548AB86-4B5A-4F70-9AD6-7A24C975C053}"/>
                </a:ext>
              </a:extLst>
            </p:cNvPr>
            <p:cNvSpPr>
              <a:spLocks noChangeArrowheads="1"/>
            </p:cNvSpPr>
            <p:nvPr/>
          </p:nvSpPr>
          <p:spPr bwMode="auto">
            <a:xfrm>
              <a:off x="1292" y="2568"/>
              <a:ext cx="244" cy="227"/>
            </a:xfrm>
            <a:prstGeom prst="ellipse">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algn="ctr">
                <a:spcBef>
                  <a:spcPct val="50000"/>
                </a:spcBef>
                <a:defRPr/>
              </a:pPr>
              <a:r>
                <a:rPr lang="en-US" altLang="zh-CN" b="0" dirty="0"/>
                <a:t>a</a:t>
              </a:r>
              <a:r>
                <a:rPr lang="en-US" altLang="zh-CN" b="0" baseline="-25000" dirty="0"/>
                <a:t>1</a:t>
              </a:r>
            </a:p>
          </p:txBody>
        </p:sp>
        <p:sp>
          <p:nvSpPr>
            <p:cNvPr id="8" name="Line 9">
              <a:extLst>
                <a:ext uri="{FF2B5EF4-FFF2-40B4-BE49-F238E27FC236}">
                  <a16:creationId xmlns:a16="http://schemas.microsoft.com/office/drawing/2014/main" id="{3A74D5C2-0CF2-4786-83F9-7CDF75A329B5}"/>
                </a:ext>
              </a:extLst>
            </p:cNvPr>
            <p:cNvSpPr>
              <a:spLocks noChangeShapeType="1"/>
            </p:cNvSpPr>
            <p:nvPr/>
          </p:nvSpPr>
          <p:spPr bwMode="auto">
            <a:xfrm>
              <a:off x="1536" y="2682"/>
              <a:ext cx="489" cy="0"/>
            </a:xfrm>
            <a:prstGeom prst="lin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ct val="50000"/>
                </a:spcBef>
                <a:defRPr/>
              </a:pPr>
              <a:endParaRPr lang="zh-CN" altLang="en-US"/>
            </a:p>
          </p:txBody>
        </p:sp>
        <p:sp>
          <p:nvSpPr>
            <p:cNvPr id="9" name="Line 10">
              <a:extLst>
                <a:ext uri="{FF2B5EF4-FFF2-40B4-BE49-F238E27FC236}">
                  <a16:creationId xmlns:a16="http://schemas.microsoft.com/office/drawing/2014/main" id="{213FB3EF-5E59-4D1A-B55E-2E066B8C842F}"/>
                </a:ext>
              </a:extLst>
            </p:cNvPr>
            <p:cNvSpPr>
              <a:spLocks noChangeShapeType="1"/>
            </p:cNvSpPr>
            <p:nvPr/>
          </p:nvSpPr>
          <p:spPr bwMode="auto">
            <a:xfrm>
              <a:off x="2182" y="2686"/>
              <a:ext cx="489" cy="0"/>
            </a:xfrm>
            <a:prstGeom prst="lin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ct val="50000"/>
                </a:spcBef>
                <a:defRPr/>
              </a:pPr>
              <a:endParaRPr lang="zh-CN" altLang="en-US"/>
            </a:p>
          </p:txBody>
        </p:sp>
        <p:sp>
          <p:nvSpPr>
            <p:cNvPr id="10" name="Line 11">
              <a:extLst>
                <a:ext uri="{FF2B5EF4-FFF2-40B4-BE49-F238E27FC236}">
                  <a16:creationId xmlns:a16="http://schemas.microsoft.com/office/drawing/2014/main" id="{20C71805-19BB-44CD-BD96-364FDF96343D}"/>
                </a:ext>
              </a:extLst>
            </p:cNvPr>
            <p:cNvSpPr>
              <a:spLocks noChangeShapeType="1"/>
            </p:cNvSpPr>
            <p:nvPr/>
          </p:nvSpPr>
          <p:spPr bwMode="auto">
            <a:xfrm>
              <a:off x="2862" y="2686"/>
              <a:ext cx="489" cy="0"/>
            </a:xfrm>
            <a:prstGeom prst="lin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ct val="50000"/>
                </a:spcBef>
                <a:defRPr/>
              </a:pPr>
              <a:endParaRPr lang="zh-CN" altLang="en-US"/>
            </a:p>
          </p:txBody>
        </p:sp>
        <p:sp>
          <p:nvSpPr>
            <p:cNvPr id="11" name="Line 13">
              <a:extLst>
                <a:ext uri="{FF2B5EF4-FFF2-40B4-BE49-F238E27FC236}">
                  <a16:creationId xmlns:a16="http://schemas.microsoft.com/office/drawing/2014/main" id="{7F96ED5D-DFF9-4959-8736-BDC49C3BC6E6}"/>
                </a:ext>
              </a:extLst>
            </p:cNvPr>
            <p:cNvSpPr>
              <a:spLocks noChangeShapeType="1"/>
            </p:cNvSpPr>
            <p:nvPr/>
          </p:nvSpPr>
          <p:spPr bwMode="auto">
            <a:xfrm flipV="1">
              <a:off x="3515" y="2682"/>
              <a:ext cx="709" cy="0"/>
            </a:xfrm>
            <a:prstGeom prst="line">
              <a:avLst/>
            </a:prstGeom>
            <a:grp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ct val="50000"/>
                </a:spcBef>
                <a:defRPr/>
              </a:pPr>
              <a:endParaRPr lang="zh-CN" altLang="en-US"/>
            </a:p>
          </p:txBody>
        </p:sp>
        <p:sp>
          <p:nvSpPr>
            <p:cNvPr id="12" name="Oval 17">
              <a:extLst>
                <a:ext uri="{FF2B5EF4-FFF2-40B4-BE49-F238E27FC236}">
                  <a16:creationId xmlns:a16="http://schemas.microsoft.com/office/drawing/2014/main" id="{F6A0FD44-878E-41DC-9282-9032FB00390C}"/>
                </a:ext>
              </a:extLst>
            </p:cNvPr>
            <p:cNvSpPr>
              <a:spLocks noChangeArrowheads="1"/>
            </p:cNvSpPr>
            <p:nvPr/>
          </p:nvSpPr>
          <p:spPr bwMode="auto">
            <a:xfrm>
              <a:off x="1927" y="2568"/>
              <a:ext cx="244" cy="227"/>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algn="ctr">
                <a:spcBef>
                  <a:spcPct val="50000"/>
                </a:spcBef>
                <a:defRPr/>
              </a:pPr>
              <a:r>
                <a:rPr lang="en-US" altLang="zh-CN" b="0" dirty="0"/>
                <a:t>a</a:t>
              </a:r>
              <a:r>
                <a:rPr lang="en-US" altLang="zh-CN" b="0" baseline="-25000" dirty="0"/>
                <a:t>2</a:t>
              </a:r>
            </a:p>
          </p:txBody>
        </p:sp>
        <p:sp>
          <p:nvSpPr>
            <p:cNvPr id="13" name="Oval 18">
              <a:extLst>
                <a:ext uri="{FF2B5EF4-FFF2-40B4-BE49-F238E27FC236}">
                  <a16:creationId xmlns:a16="http://schemas.microsoft.com/office/drawing/2014/main" id="{0108898C-D9E3-460B-A656-C60DCF7AFC2F}"/>
                </a:ext>
              </a:extLst>
            </p:cNvPr>
            <p:cNvSpPr>
              <a:spLocks noChangeArrowheads="1"/>
            </p:cNvSpPr>
            <p:nvPr/>
          </p:nvSpPr>
          <p:spPr bwMode="auto">
            <a:xfrm>
              <a:off x="2608" y="2568"/>
              <a:ext cx="244" cy="227"/>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algn="ctr">
                <a:spcBef>
                  <a:spcPct val="50000"/>
                </a:spcBef>
                <a:defRPr/>
              </a:pPr>
              <a:r>
                <a:rPr lang="en-US" altLang="zh-CN" b="0" dirty="0"/>
                <a:t>a</a:t>
              </a:r>
              <a:r>
                <a:rPr lang="en-US" altLang="zh-CN" b="0" baseline="-25000" dirty="0"/>
                <a:t>3</a:t>
              </a:r>
            </a:p>
          </p:txBody>
        </p:sp>
        <p:sp>
          <p:nvSpPr>
            <p:cNvPr id="14" name="Oval 19">
              <a:extLst>
                <a:ext uri="{FF2B5EF4-FFF2-40B4-BE49-F238E27FC236}">
                  <a16:creationId xmlns:a16="http://schemas.microsoft.com/office/drawing/2014/main" id="{728AE413-9EEB-4C14-8DF9-D9D40F5BA890}"/>
                </a:ext>
              </a:extLst>
            </p:cNvPr>
            <p:cNvSpPr>
              <a:spLocks noChangeArrowheads="1"/>
            </p:cNvSpPr>
            <p:nvPr/>
          </p:nvSpPr>
          <p:spPr bwMode="auto">
            <a:xfrm>
              <a:off x="3243" y="2568"/>
              <a:ext cx="244" cy="227"/>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algn="ctr">
                <a:spcBef>
                  <a:spcPct val="50000"/>
                </a:spcBef>
                <a:defRPr/>
              </a:pPr>
              <a:r>
                <a:rPr lang="en-US" altLang="zh-CN" b="0" dirty="0"/>
                <a:t>a</a:t>
              </a:r>
              <a:r>
                <a:rPr lang="en-US" altLang="zh-CN" b="0" baseline="-25000" dirty="0"/>
                <a:t>4</a:t>
              </a:r>
            </a:p>
          </p:txBody>
        </p:sp>
        <p:sp>
          <p:nvSpPr>
            <p:cNvPr id="15" name="Oval 20">
              <a:extLst>
                <a:ext uri="{FF2B5EF4-FFF2-40B4-BE49-F238E27FC236}">
                  <a16:creationId xmlns:a16="http://schemas.microsoft.com/office/drawing/2014/main" id="{9C09D2C7-FA6F-4CA6-9B4C-54433AAB31BA}"/>
                </a:ext>
              </a:extLst>
            </p:cNvPr>
            <p:cNvSpPr>
              <a:spLocks noChangeArrowheads="1"/>
            </p:cNvSpPr>
            <p:nvPr/>
          </p:nvSpPr>
          <p:spPr bwMode="auto">
            <a:xfrm>
              <a:off x="4241" y="2568"/>
              <a:ext cx="244" cy="227"/>
            </a:xfrm>
            <a:prstGeom prst="ellipse">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algn="ctr">
                <a:spcBef>
                  <a:spcPct val="50000"/>
                </a:spcBef>
                <a:defRPr/>
              </a:pPr>
              <a:r>
                <a:rPr lang="en-US" altLang="zh-CN" b="0" dirty="0"/>
                <a:t>a</a:t>
              </a:r>
              <a:r>
                <a:rPr lang="en-US" altLang="zh-CN" b="0" baseline="-25000" dirty="0"/>
                <a:t>n</a:t>
              </a:r>
            </a:p>
          </p:txBody>
        </p:sp>
      </p:grpSp>
    </p:spTree>
    <p:extLst>
      <p:ext uri="{BB962C8B-B14F-4D97-AF65-F5344CB8AC3E}">
        <p14:creationId xmlns:p14="http://schemas.microsoft.com/office/powerpoint/2010/main" val="14308093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027"/>
          <p:cNvSpPr>
            <a:spLocks noGrp="1" noChangeArrowheads="1"/>
          </p:cNvSpPr>
          <p:nvPr>
            <p:ph type="body" idx="1"/>
          </p:nvPr>
        </p:nvSpPr>
        <p:spPr>
          <a:xfrm>
            <a:off x="685800" y="1319213"/>
            <a:ext cx="7989888" cy="4611687"/>
          </a:xfrm>
        </p:spPr>
        <p:txBody>
          <a:bodyPr/>
          <a:lstStyle/>
          <a:p>
            <a:pPr eaLnBrk="1" hangingPunct="1"/>
            <a:r>
              <a:rPr lang="zh-CN" altLang="en-US" b="1" dirty="0"/>
              <a:t>数据结构的三要素：</a:t>
            </a:r>
          </a:p>
          <a:p>
            <a:pPr marL="1066800" lvl="1" indent="-609600" eaLnBrk="1" hangingPunct="1"/>
            <a:r>
              <a:rPr lang="zh-CN" altLang="en-US" b="1" dirty="0"/>
              <a:t>数据模型：数据类型、数据个数、数据之间的关系。</a:t>
            </a:r>
            <a:endParaRPr lang="en-US" altLang="zh-CN" b="1" dirty="0"/>
          </a:p>
          <a:p>
            <a:pPr marL="1524000" lvl="2" indent="-609600" eaLnBrk="1" hangingPunct="1"/>
            <a:r>
              <a:rPr lang="zh-CN" altLang="en-US" b="1" dirty="0"/>
              <a:t>整数、小数、字符编码</a:t>
            </a:r>
            <a:r>
              <a:rPr lang="en-US" altLang="zh-CN" b="1" dirty="0"/>
              <a:t>; </a:t>
            </a:r>
          </a:p>
          <a:p>
            <a:pPr marL="1524000" lvl="2" indent="-609600" eaLnBrk="1" hangingPunct="1"/>
            <a:r>
              <a:rPr lang="zh-CN" altLang="en-US" b="1" dirty="0"/>
              <a:t>线性表、树、图。</a:t>
            </a:r>
          </a:p>
          <a:p>
            <a:pPr marL="1066800" lvl="1" indent="-609600" eaLnBrk="1" hangingPunct="1"/>
            <a:r>
              <a:rPr lang="zh-CN" altLang="en-US" b="1" dirty="0"/>
              <a:t>数据的存储方式</a:t>
            </a:r>
          </a:p>
          <a:p>
            <a:pPr marL="1524000" lvl="2" indent="-609600" eaLnBrk="1" hangingPunct="1"/>
            <a:r>
              <a:rPr lang="zh-CN" altLang="en-US" b="1" dirty="0"/>
              <a:t>连续存储，随机存储；</a:t>
            </a:r>
          </a:p>
          <a:p>
            <a:pPr marL="1066800" lvl="1" indent="-609600" eaLnBrk="1" hangingPunct="1"/>
            <a:r>
              <a:rPr lang="zh-CN" altLang="en-US" b="1" dirty="0"/>
              <a:t>数据的操作算法</a:t>
            </a:r>
          </a:p>
          <a:p>
            <a:pPr marL="1524000" lvl="2" indent="-609600" eaLnBrk="1" hangingPunct="1"/>
            <a:r>
              <a:rPr lang="zh-CN" altLang="en-US" b="1" dirty="0"/>
              <a:t>查找、增加、修改、删除</a:t>
            </a:r>
            <a:r>
              <a:rPr lang="en-US" altLang="zh-CN" b="1" dirty="0"/>
              <a:t>...</a:t>
            </a:r>
          </a:p>
        </p:txBody>
      </p:sp>
      <p:sp>
        <p:nvSpPr>
          <p:cNvPr id="5124" name="Rectangle 11"/>
          <p:cNvSpPr>
            <a:spLocks noGrp="1" noChangeArrowheads="1"/>
          </p:cNvSpPr>
          <p:nvPr>
            <p:ph type="title"/>
          </p:nvPr>
        </p:nvSpPr>
        <p:spPr>
          <a:noFill/>
        </p:spPr>
        <p:txBody>
          <a:bodyPr/>
          <a:lstStyle/>
          <a:p>
            <a:pPr eaLnBrk="1" hangingPunct="1"/>
            <a:r>
              <a:rPr lang="zh-CN" altLang="en-US" b="1" dirty="0"/>
              <a:t>数据结构</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Grp="1" noChangeArrowheads="1"/>
          </p:cNvSpPr>
          <p:nvPr>
            <p:ph type="body" idx="1"/>
          </p:nvPr>
        </p:nvSpPr>
        <p:spPr>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buFontTx/>
              <a:buNone/>
            </a:pPr>
            <a:r>
              <a:rPr lang="zh-CN" altLang="en-US" b="1"/>
              <a:t>6.1  总结与回顾（数据类型与程序设计）</a:t>
            </a:r>
          </a:p>
          <a:p>
            <a:pPr eaLnBrk="1" hangingPunct="1">
              <a:buFontTx/>
              <a:buNone/>
            </a:pPr>
            <a:r>
              <a:rPr lang="zh-CN" altLang="en-US" b="1">
                <a:solidFill>
                  <a:srgbClr val="FF0000"/>
                </a:solidFill>
              </a:rPr>
              <a:t>6.</a:t>
            </a:r>
            <a:r>
              <a:rPr lang="en-US" altLang="zh-CN" b="1">
                <a:solidFill>
                  <a:srgbClr val="FF0000"/>
                </a:solidFill>
              </a:rPr>
              <a:t>2  </a:t>
            </a:r>
            <a:r>
              <a:rPr lang="zh-CN" altLang="en-US" b="1">
                <a:solidFill>
                  <a:srgbClr val="FF0000"/>
                </a:solidFill>
              </a:rPr>
              <a:t>数组作为一种数据结构</a:t>
            </a:r>
          </a:p>
          <a:p>
            <a:pPr eaLnBrk="1" hangingPunct="1">
              <a:buFontTx/>
              <a:buNone/>
            </a:pPr>
            <a:r>
              <a:rPr lang="en-US" altLang="zh-CN" b="1"/>
              <a:t>6.3  </a:t>
            </a:r>
            <a:r>
              <a:rPr lang="zh-CN" altLang="en-US" b="1"/>
              <a:t>数组的声明、操作和使用</a:t>
            </a:r>
          </a:p>
          <a:p>
            <a:pPr eaLnBrk="1" hangingPunct="1">
              <a:buFontTx/>
              <a:buNone/>
            </a:pPr>
            <a:r>
              <a:rPr lang="en-US" altLang="zh-CN" b="1"/>
              <a:t>6.4  </a:t>
            </a:r>
            <a:r>
              <a:rPr lang="zh-CN" altLang="en-US" b="1"/>
              <a:t>数组作为函数参数的处理</a:t>
            </a:r>
          </a:p>
          <a:p>
            <a:pPr eaLnBrk="1" hangingPunct="1">
              <a:buFontTx/>
              <a:buNone/>
            </a:pPr>
            <a:r>
              <a:rPr lang="zh-CN" altLang="en-US" b="1"/>
              <a:t>6.</a:t>
            </a:r>
            <a:r>
              <a:rPr lang="en-US" altLang="zh-CN" b="1"/>
              <a:t>5  </a:t>
            </a:r>
            <a:r>
              <a:rPr lang="zh-CN" altLang="en-US" b="1"/>
              <a:t>数组的应用（排序、查找和应用）</a:t>
            </a:r>
          </a:p>
          <a:p>
            <a:pPr eaLnBrk="1" hangingPunct="1">
              <a:buFontTx/>
              <a:buNone/>
            </a:pPr>
            <a:endParaRPr lang="en-US" altLang="zh-CN" b="1"/>
          </a:p>
          <a:p>
            <a:pPr eaLnBrk="1" hangingPunct="1">
              <a:buFontTx/>
              <a:buNone/>
            </a:pPr>
            <a:endParaRPr lang="zh-CN" altLang="en-US" b="1"/>
          </a:p>
          <a:p>
            <a:pPr eaLnBrk="1" hangingPunct="1">
              <a:buFontTx/>
              <a:buNone/>
            </a:pPr>
            <a:endParaRPr lang="zh-CN" altLang="en-US" b="1"/>
          </a:p>
          <a:p>
            <a:pPr eaLnBrk="1" hangingPunct="1">
              <a:buFontTx/>
              <a:buNone/>
            </a:pPr>
            <a:endParaRPr lang="zh-CN" altLang="en-US" b="1"/>
          </a:p>
        </p:txBody>
      </p:sp>
      <p:sp>
        <p:nvSpPr>
          <p:cNvPr id="7172" name="Rectangle 5"/>
          <p:cNvSpPr>
            <a:spLocks noGrp="1" noChangeArrowheads="1"/>
          </p:cNvSpPr>
          <p:nvPr>
            <p:ph type="title"/>
          </p:nvPr>
        </p:nvSpPr>
        <p:spPr>
          <a:noFill/>
        </p:spPr>
        <p:txBody>
          <a:bodyPr/>
          <a:lstStyle/>
          <a:p>
            <a:pPr eaLnBrk="1" hangingPunct="1"/>
            <a:r>
              <a:rPr lang="zh-CN" altLang="en-US" b="1"/>
              <a:t>提纲</a:t>
            </a:r>
          </a:p>
        </p:txBody>
      </p:sp>
      <p:pic>
        <p:nvPicPr>
          <p:cNvPr id="7173" name="Picture 6" descr="页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a:noFill/>
        </p:spPr>
        <p:txBody>
          <a:bodyPr/>
          <a:lstStyle/>
          <a:p>
            <a:pPr eaLnBrk="1" hangingPunct="1"/>
            <a:r>
              <a:rPr lang="zh-CN" altLang="en-US" b="1" dirty="0"/>
              <a:t>6.</a:t>
            </a:r>
            <a:r>
              <a:rPr lang="en-US" altLang="zh-CN" b="1" dirty="0"/>
              <a:t>2  </a:t>
            </a:r>
            <a:r>
              <a:rPr lang="zh-CN" altLang="en-US" b="1" dirty="0"/>
              <a:t>数组是连续存储的线性表</a:t>
            </a:r>
          </a:p>
        </p:txBody>
      </p:sp>
      <p:sp>
        <p:nvSpPr>
          <p:cNvPr id="289797" name="Rectangle 5"/>
          <p:cNvSpPr>
            <a:spLocks noGrp="1" noChangeArrowheads="1"/>
          </p:cNvSpPr>
          <p:nvPr>
            <p:ph type="body" idx="1"/>
          </p:nvPr>
        </p:nvSpPr>
        <p:spPr>
          <a:xfrm>
            <a:off x="685800" y="1319213"/>
            <a:ext cx="7772400" cy="5205412"/>
          </a:xfrm>
          <a:noFill/>
        </p:spPr>
        <p:txBody>
          <a:bodyPr/>
          <a:lstStyle/>
          <a:p>
            <a:pPr eaLnBrk="1" hangingPunct="1">
              <a:lnSpc>
                <a:spcPct val="90000"/>
              </a:lnSpc>
              <a:buFontTx/>
              <a:buNone/>
            </a:pPr>
            <a:r>
              <a:rPr lang="en-US" altLang="zh-CN" sz="2400" b="1" dirty="0"/>
              <a:t>1. </a:t>
            </a:r>
            <a:r>
              <a:rPr lang="zh-CN" altLang="en-US" sz="2400" b="1" dirty="0"/>
              <a:t>线性表</a:t>
            </a:r>
          </a:p>
          <a:p>
            <a:pPr eaLnBrk="1" hangingPunct="1">
              <a:lnSpc>
                <a:spcPct val="90000"/>
              </a:lnSpc>
              <a:buFont typeface="Wingdings" panose="05000000000000000000" pitchFamily="2" charset="2"/>
              <a:buChar char="Ø"/>
            </a:pPr>
            <a:r>
              <a:rPr lang="zh-CN" altLang="en-US" sz="2400" b="1" dirty="0"/>
              <a:t>现实世界经常存在这样的数据：某课程一个班级中按学号排列的各个学生考试成绩、一年中各月份的平均温度</a:t>
            </a:r>
            <a:r>
              <a:rPr lang="zh-CN" altLang="en-US" sz="2400" b="1" dirty="0">
                <a:latin typeface="宋体" panose="02010600030101010101" pitchFamily="2" charset="-122"/>
              </a:rPr>
              <a:t>……</a:t>
            </a:r>
            <a:r>
              <a:rPr lang="zh-CN" altLang="en-US" sz="2400" b="1" dirty="0"/>
              <a:t>其特点是这有限个数据元素的类型相同，且具有先后顺序关系；</a:t>
            </a:r>
          </a:p>
          <a:p>
            <a:pPr eaLnBrk="1" hangingPunct="1">
              <a:lnSpc>
                <a:spcPct val="90000"/>
              </a:lnSpc>
              <a:buFont typeface="Wingdings" panose="05000000000000000000" pitchFamily="2" charset="2"/>
              <a:buChar char="Ø"/>
            </a:pPr>
            <a:r>
              <a:rPr lang="zh-CN" altLang="en-US" sz="2400" b="1" dirty="0"/>
              <a:t>上述特征的数据可以抽象为</a:t>
            </a:r>
            <a:r>
              <a:rPr lang="zh-CN" altLang="en-US" sz="2400" b="1" dirty="0">
                <a:solidFill>
                  <a:srgbClr val="FF0000"/>
                </a:solidFill>
                <a:latin typeface="微软雅黑" panose="020B0503020204020204" pitchFamily="34" charset="-122"/>
                <a:ea typeface="微软雅黑" panose="020B0503020204020204" pitchFamily="34" charset="-122"/>
              </a:rPr>
              <a:t>线性表</a:t>
            </a:r>
            <a:r>
              <a:rPr lang="zh-CN" altLang="en-US" sz="2400" b="1" dirty="0"/>
              <a:t>。</a:t>
            </a:r>
          </a:p>
          <a:p>
            <a:pPr eaLnBrk="1" hangingPunct="1">
              <a:lnSpc>
                <a:spcPct val="9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线性表</a:t>
            </a:r>
            <a:r>
              <a:rPr lang="zh-CN" altLang="en-US" sz="2400" b="1" dirty="0"/>
              <a:t>是具有相同数据类型的</a:t>
            </a:r>
            <a:r>
              <a:rPr lang="en-US" altLang="zh-CN" sz="2400" b="1" dirty="0"/>
              <a:t>n(n&gt;=0)</a:t>
            </a:r>
            <a:r>
              <a:rPr lang="zh-CN" altLang="en-US" sz="2400" b="1" dirty="0"/>
              <a:t>个数据元素的有限序列，通常记为：（</a:t>
            </a:r>
            <a:r>
              <a:rPr lang="en-US" altLang="zh-CN" sz="2400" b="1" dirty="0"/>
              <a:t>a</a:t>
            </a:r>
            <a:r>
              <a:rPr lang="en-US" altLang="zh-CN" sz="2400" b="1" baseline="-25000" dirty="0"/>
              <a:t>1</a:t>
            </a:r>
            <a:r>
              <a:rPr lang="zh-CN" altLang="en-US" sz="2400" b="1" dirty="0"/>
              <a:t>，</a:t>
            </a:r>
            <a:r>
              <a:rPr lang="en-US" altLang="zh-CN" sz="2400" b="1" dirty="0"/>
              <a:t>a</a:t>
            </a:r>
            <a:r>
              <a:rPr lang="en-US" altLang="zh-CN" sz="2400" b="1" baseline="-25000" dirty="0"/>
              <a:t>2</a:t>
            </a:r>
            <a:r>
              <a:rPr lang="zh-CN" altLang="en-US" sz="2400" b="1" dirty="0"/>
              <a:t>，</a:t>
            </a:r>
            <a:r>
              <a:rPr lang="en-US" altLang="zh-CN" sz="2400" b="1" dirty="0">
                <a:latin typeface="宋体" panose="02010600030101010101" pitchFamily="2" charset="-122"/>
              </a:rPr>
              <a:t>…</a:t>
            </a:r>
            <a:r>
              <a:rPr lang="en-US" altLang="zh-CN" sz="2400" b="1" dirty="0"/>
              <a:t> a</a:t>
            </a:r>
            <a:r>
              <a:rPr lang="en-US" altLang="zh-CN" sz="2400" b="1" baseline="-25000" dirty="0"/>
              <a:t>i-1</a:t>
            </a:r>
            <a:r>
              <a:rPr lang="zh-CN" altLang="en-US" sz="2400" b="1" dirty="0"/>
              <a:t>，</a:t>
            </a:r>
            <a:r>
              <a:rPr lang="en-US" altLang="zh-CN" sz="2400" b="1" dirty="0" err="1"/>
              <a:t>a</a:t>
            </a:r>
            <a:r>
              <a:rPr lang="en-US" altLang="zh-CN" sz="2400" b="1" baseline="-25000" dirty="0" err="1"/>
              <a:t>i</a:t>
            </a:r>
            <a:r>
              <a:rPr lang="zh-CN" altLang="en-US" sz="2400" b="1" dirty="0"/>
              <a:t>，</a:t>
            </a:r>
            <a:r>
              <a:rPr lang="en-US" altLang="zh-CN" sz="2400" b="1" dirty="0"/>
              <a:t>a</a:t>
            </a:r>
            <a:r>
              <a:rPr lang="en-US" altLang="zh-CN" sz="2400" b="1" baseline="-25000" dirty="0"/>
              <a:t>i+1</a:t>
            </a:r>
            <a:r>
              <a:rPr lang="zh-CN" altLang="en-US" sz="2400" b="1" dirty="0"/>
              <a:t>，</a:t>
            </a:r>
            <a:r>
              <a:rPr lang="en-US" altLang="zh-CN" sz="2400" b="1" dirty="0">
                <a:latin typeface="宋体" panose="02010600030101010101" pitchFamily="2" charset="-122"/>
              </a:rPr>
              <a:t>…</a:t>
            </a:r>
            <a:r>
              <a:rPr lang="en-US" altLang="zh-CN" sz="2400" b="1" dirty="0"/>
              <a:t> a</a:t>
            </a:r>
            <a:r>
              <a:rPr lang="en-US" altLang="zh-CN" sz="2400" b="1" baseline="-25000" dirty="0"/>
              <a:t>n</a:t>
            </a:r>
            <a:r>
              <a:rPr lang="zh-CN" altLang="en-US" sz="2400" b="1" dirty="0"/>
              <a:t>）</a:t>
            </a:r>
          </a:p>
          <a:p>
            <a:pPr eaLnBrk="1" hangingPunct="1">
              <a:lnSpc>
                <a:spcPct val="90000"/>
              </a:lnSpc>
              <a:buFontTx/>
              <a:buNone/>
            </a:pPr>
            <a:r>
              <a:rPr lang="zh-CN" altLang="en-US" sz="2400" b="1" dirty="0"/>
              <a:t>    其中</a:t>
            </a:r>
            <a:r>
              <a:rPr lang="en-US" altLang="zh-CN" sz="2400" b="1" dirty="0"/>
              <a:t>n</a:t>
            </a:r>
            <a:r>
              <a:rPr lang="zh-CN" altLang="en-US" sz="2400" b="1" dirty="0"/>
              <a:t>为表长，</a:t>
            </a:r>
            <a:r>
              <a:rPr lang="en-US" altLang="zh-CN" sz="2400" b="1" dirty="0"/>
              <a:t>n</a:t>
            </a:r>
            <a:r>
              <a:rPr lang="zh-CN" altLang="en-US" sz="2400" b="1" dirty="0"/>
              <a:t>＝</a:t>
            </a:r>
            <a:r>
              <a:rPr lang="en-US" altLang="zh-CN" sz="2400" b="1" dirty="0"/>
              <a:t>0</a:t>
            </a:r>
            <a:r>
              <a:rPr lang="zh-CN" altLang="en-US" sz="2400" b="1" dirty="0"/>
              <a:t>时称为空表。</a:t>
            </a:r>
            <a:r>
              <a:rPr lang="zh-CN" altLang="en-US" sz="2400" dirty="0"/>
              <a:t> </a:t>
            </a:r>
          </a:p>
          <a:p>
            <a:pPr eaLnBrk="1" hangingPunct="1">
              <a:lnSpc>
                <a:spcPct val="90000"/>
              </a:lnSpc>
              <a:buFontTx/>
              <a:buNone/>
            </a:pPr>
            <a:r>
              <a:rPr lang="zh-CN" altLang="en-US" sz="2400" b="1" dirty="0"/>
              <a:t>    线性表数据元素之间为线性关系，即任意两个元素之间都可比较大小。</a:t>
            </a:r>
          </a:p>
          <a:p>
            <a:pPr eaLnBrk="1" hangingPunct="1">
              <a:lnSpc>
                <a:spcPct val="9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线性表有两种存储结构：连续（顺序表）、随机（链表）。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9797">
                                            <p:txEl>
                                              <p:pRg st="3" end="3"/>
                                            </p:txEl>
                                          </p:spTgt>
                                        </p:tgtEl>
                                        <p:attrNameLst>
                                          <p:attrName>style.visibility</p:attrName>
                                        </p:attrNameLst>
                                      </p:cBhvr>
                                      <p:to>
                                        <p:strVal val="visible"/>
                                      </p:to>
                                    </p:set>
                                    <p:animEffect transition="in" filter="dissolve">
                                      <p:cBhvr>
                                        <p:cTn id="7" dur="500"/>
                                        <p:tgtEl>
                                          <p:spTgt spid="289797">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89797">
                                            <p:txEl>
                                              <p:pRg st="4" end="4"/>
                                            </p:txEl>
                                          </p:spTgt>
                                        </p:tgtEl>
                                        <p:attrNameLst>
                                          <p:attrName>style.visibility</p:attrName>
                                        </p:attrNameLst>
                                      </p:cBhvr>
                                      <p:to>
                                        <p:strVal val="visible"/>
                                      </p:to>
                                    </p:set>
                                    <p:animEffect transition="in" filter="dissolve">
                                      <p:cBhvr>
                                        <p:cTn id="10" dur="500"/>
                                        <p:tgtEl>
                                          <p:spTgt spid="289797">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89797">
                                            <p:txEl>
                                              <p:pRg st="5" end="5"/>
                                            </p:txEl>
                                          </p:spTgt>
                                        </p:tgtEl>
                                        <p:attrNameLst>
                                          <p:attrName>style.visibility</p:attrName>
                                        </p:attrNameLst>
                                      </p:cBhvr>
                                      <p:to>
                                        <p:strVal val="visible"/>
                                      </p:to>
                                    </p:set>
                                    <p:animEffect transition="in" filter="dissolve">
                                      <p:cBhvr>
                                        <p:cTn id="13" dur="500"/>
                                        <p:tgtEl>
                                          <p:spTgt spid="289797">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89797">
                                            <p:txEl>
                                              <p:pRg st="6" end="6"/>
                                            </p:txEl>
                                          </p:spTgt>
                                        </p:tgtEl>
                                        <p:attrNameLst>
                                          <p:attrName>style.visibility</p:attrName>
                                        </p:attrNameLst>
                                      </p:cBhvr>
                                      <p:to>
                                        <p:strVal val="visible"/>
                                      </p:to>
                                    </p:set>
                                    <p:animEffect transition="in" filter="dissolve">
                                      <p:cBhvr>
                                        <p:cTn id="18" dur="500"/>
                                        <p:tgtEl>
                                          <p:spTgt spid="28979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ChangeArrowheads="1"/>
          </p:cNvSpPr>
          <p:nvPr/>
        </p:nvSpPr>
        <p:spPr bwMode="auto">
          <a:xfrm>
            <a:off x="611188" y="1341438"/>
            <a:ext cx="77724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lang="zh-CN" altLang="en-US" b="1" dirty="0"/>
              <a:t>线性表处理可抽象出一些基本操作，如：</a:t>
            </a:r>
          </a:p>
          <a:p>
            <a:pPr lvl="1" eaLnBrk="1" hangingPunct="1">
              <a:buFont typeface="Wingdings" panose="05000000000000000000" pitchFamily="2" charset="2"/>
              <a:buChar char="Ø"/>
            </a:pPr>
            <a:r>
              <a:rPr lang="zh-CN" altLang="en-US" b="1" dirty="0"/>
              <a:t>创建与更新：增加/删除表中的元素</a:t>
            </a:r>
            <a:endParaRPr lang="en-US" altLang="zh-CN" b="1" dirty="0"/>
          </a:p>
          <a:p>
            <a:pPr lvl="1" eaLnBrk="1" hangingPunct="1">
              <a:buFont typeface="Wingdings" panose="05000000000000000000" pitchFamily="2" charset="2"/>
              <a:buChar char="Ø"/>
            </a:pPr>
            <a:r>
              <a:rPr lang="zh-CN" altLang="en-US" b="1" dirty="0"/>
              <a:t>检索：查找表中的某个元素</a:t>
            </a:r>
          </a:p>
          <a:p>
            <a:pPr lvl="1" eaLnBrk="1" hangingPunct="1">
              <a:buFont typeface="Wingdings" panose="05000000000000000000" pitchFamily="2" charset="2"/>
              <a:buChar char="Ø"/>
            </a:pPr>
            <a:r>
              <a:rPr lang="zh-CN" altLang="en-US" b="1" dirty="0">
                <a:solidFill>
                  <a:srgbClr val="FF0000"/>
                </a:solidFill>
              </a:rPr>
              <a:t>排序</a:t>
            </a:r>
          </a:p>
          <a:p>
            <a:pPr eaLnBrk="1" hangingPunct="1">
              <a:buFont typeface="Wingdings" panose="05000000000000000000" pitchFamily="2" charset="2"/>
              <a:buChar char="Ø"/>
            </a:pPr>
            <a:r>
              <a:rPr lang="zh-CN" altLang="en-US" b="1" dirty="0"/>
              <a:t>一般地，线性表的程序设计采用结构化子程序设计</a:t>
            </a:r>
            <a:r>
              <a:rPr lang="en-US" altLang="zh-CN" b="1" dirty="0"/>
              <a:t>（C</a:t>
            </a:r>
            <a:r>
              <a:rPr lang="zh-CN" altLang="en-US" b="1" dirty="0"/>
              <a:t>语言的子函数），通过定义和调用子程序，完成线性表的各种应用。</a:t>
            </a:r>
          </a:p>
        </p:txBody>
      </p:sp>
      <p:sp>
        <p:nvSpPr>
          <p:cNvPr id="72708" name="Rectangle 4"/>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b="1" dirty="0">
                <a:solidFill>
                  <a:srgbClr val="FF3300"/>
                </a:solidFill>
              </a:rPr>
              <a:t>线性表的基本操作</a:t>
            </a:r>
          </a:p>
        </p:txBody>
      </p:sp>
    </p:spTree>
    <p:extLst>
      <p:ext uri="{BB962C8B-B14F-4D97-AF65-F5344CB8AC3E}">
        <p14:creationId xmlns:p14="http://schemas.microsoft.com/office/powerpoint/2010/main" val="15189532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5"/>
          <p:cNvSpPr>
            <a:spLocks noGrp="1" noChangeArrowheads="1"/>
          </p:cNvSpPr>
          <p:nvPr>
            <p:ph type="body" idx="1"/>
          </p:nvPr>
        </p:nvSpPr>
        <p:spPr>
          <a:xfrm>
            <a:off x="323528" y="1447800"/>
            <a:ext cx="8287072" cy="4953000"/>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r>
              <a:rPr lang="zh-CN" altLang="en-US" b="1" dirty="0"/>
              <a:t>数组必须一次性整体定义，预先确定数据类型和元素最大个数，因为要占用一组</a:t>
            </a:r>
            <a:r>
              <a:rPr lang="zh-CN" altLang="en-US" b="1" dirty="0">
                <a:solidFill>
                  <a:srgbClr val="FF0000"/>
                </a:solidFill>
                <a:latin typeface="微软雅黑" panose="020B0503020204020204" pitchFamily="34" charset="-122"/>
                <a:ea typeface="微软雅黑" panose="020B0503020204020204" pitchFamily="34" charset="-122"/>
              </a:rPr>
              <a:t>连续</a:t>
            </a:r>
            <a:r>
              <a:rPr lang="zh-CN" altLang="en-US" b="1" dirty="0"/>
              <a:t>的存储单元。</a:t>
            </a:r>
          </a:p>
          <a:p>
            <a:pPr marL="609600" indent="-609600" eaLnBrk="1" hangingPunct="1">
              <a:buFontTx/>
              <a:buNone/>
            </a:pPr>
            <a:r>
              <a:rPr lang="en-US" altLang="zh-CN" b="1" dirty="0"/>
              <a:t>	</a:t>
            </a:r>
            <a:r>
              <a:rPr lang="zh-CN" altLang="en-US" b="1" dirty="0"/>
              <a:t>定义</a:t>
            </a:r>
            <a:r>
              <a:rPr lang="en-US" altLang="zh-CN" b="1" dirty="0"/>
              <a:t> </a:t>
            </a:r>
            <a:r>
              <a:rPr lang="zh-CN" altLang="en-US" b="1" i="1" dirty="0">
                <a:sym typeface="+mn-ea"/>
              </a:rPr>
              <a:t>元素类型名  数组名[</a:t>
            </a:r>
            <a:r>
              <a:rPr lang="zh-CN" altLang="en-US" b="1" i="1" dirty="0">
                <a:solidFill>
                  <a:srgbClr val="FF0000"/>
                </a:solidFill>
                <a:sym typeface="+mn-ea"/>
              </a:rPr>
              <a:t>整型常量</a:t>
            </a:r>
            <a:r>
              <a:rPr lang="zh-CN" altLang="en-US" b="1" i="1" dirty="0">
                <a:sym typeface="+mn-ea"/>
              </a:rPr>
              <a:t>表达式]</a:t>
            </a:r>
            <a:r>
              <a:rPr lang="en-US" altLang="zh-CN" b="1" i="1" dirty="0">
                <a:sym typeface="+mn-ea"/>
              </a:rPr>
              <a:t>;</a:t>
            </a:r>
            <a:endParaRPr lang="zh-CN" altLang="en-US" b="1" i="1" dirty="0"/>
          </a:p>
          <a:p>
            <a:pPr marL="1066800" lvl="1" indent="-609600" eaLnBrk="1" hangingPunct="1"/>
            <a:r>
              <a:rPr lang="zh-CN" altLang="en-US" b="1" dirty="0">
                <a:solidFill>
                  <a:srgbClr val="FF0000"/>
                </a:solidFill>
                <a:latin typeface="微软雅黑" panose="020B0503020204020204" pitchFamily="34" charset="-122"/>
                <a:ea typeface="微软雅黑" panose="020B0503020204020204" pitchFamily="34" charset="-122"/>
              </a:rPr>
              <a:t>连续存储</a:t>
            </a:r>
            <a:r>
              <a:rPr lang="zh-CN" altLang="en-US" b="1" dirty="0"/>
              <a:t>：数组元素的存储单元</a:t>
            </a:r>
            <a:r>
              <a:rPr lang="zh-CN" altLang="en-US" b="1" u="sng" dirty="0">
                <a:solidFill>
                  <a:srgbClr val="003399"/>
                </a:solidFill>
              </a:rPr>
              <a:t>位置相邻</a:t>
            </a:r>
            <a:r>
              <a:rPr lang="zh-CN" altLang="en-US" b="1" dirty="0"/>
              <a:t>（一个接一个），元素具有</a:t>
            </a:r>
            <a:endParaRPr lang="en-US" altLang="zh-CN" b="1" dirty="0"/>
          </a:p>
          <a:p>
            <a:pPr marL="857250" lvl="2" indent="0" eaLnBrk="1" hangingPunct="1">
              <a:buNone/>
            </a:pPr>
            <a:r>
              <a:rPr lang="zh-CN" altLang="en-US" b="1" u="sng" dirty="0">
                <a:solidFill>
                  <a:srgbClr val="003399"/>
                </a:solidFill>
              </a:rPr>
              <a:t>相同数据类型</a:t>
            </a:r>
            <a:r>
              <a:rPr lang="zh-CN" altLang="en-US" b="1" dirty="0"/>
              <a:t>。</a:t>
            </a:r>
            <a:endParaRPr lang="en-US" altLang="zh-CN" b="1" dirty="0"/>
          </a:p>
          <a:p>
            <a:pPr marL="857250" lvl="2" indent="0" eaLnBrk="1" hangingPunct="1">
              <a:buNone/>
            </a:pPr>
            <a:r>
              <a:rPr lang="zh-CN" altLang="en-US" b="1" dirty="0"/>
              <a:t>存储位置的前后表示数据</a:t>
            </a:r>
            <a:endParaRPr lang="en-US" altLang="zh-CN" b="1" dirty="0"/>
          </a:p>
          <a:p>
            <a:pPr marL="857250" lvl="2" indent="0" eaLnBrk="1" hangingPunct="1">
              <a:buNone/>
            </a:pPr>
            <a:r>
              <a:rPr lang="zh-CN" altLang="en-US" b="1" dirty="0"/>
              <a:t>元素间的次序关系。</a:t>
            </a:r>
          </a:p>
        </p:txBody>
      </p:sp>
      <p:sp>
        <p:nvSpPr>
          <p:cNvPr id="10244" name="Rectangle 10"/>
          <p:cNvSpPr>
            <a:spLocks noGrp="1" noChangeArrowheads="1"/>
          </p:cNvSpPr>
          <p:nvPr>
            <p:ph type="title"/>
          </p:nvPr>
        </p:nvSpPr>
        <p:spPr>
          <a:noFill/>
        </p:spPr>
        <p:txBody>
          <a:bodyPr/>
          <a:lstStyle/>
          <a:p>
            <a:pPr eaLnBrk="1" hangingPunct="1"/>
            <a:r>
              <a:rPr lang="zh-CN" altLang="en-US" b="1" dirty="0"/>
              <a:t>数组的定义</a:t>
            </a:r>
          </a:p>
        </p:txBody>
      </p:sp>
      <p:grpSp>
        <p:nvGrpSpPr>
          <p:cNvPr id="10245" name="Group 14"/>
          <p:cNvGrpSpPr/>
          <p:nvPr/>
        </p:nvGrpSpPr>
        <p:grpSpPr bwMode="auto">
          <a:xfrm>
            <a:off x="6012160" y="3495675"/>
            <a:ext cx="2447925" cy="2447925"/>
            <a:chOff x="3016" y="2141"/>
            <a:chExt cx="1542" cy="1542"/>
          </a:xfrm>
        </p:grpSpPr>
        <p:pic>
          <p:nvPicPr>
            <p:cNvPr id="1024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 y="2141"/>
              <a:ext cx="1542" cy="1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6" name="Line 12"/>
            <p:cNvSpPr>
              <a:spLocks noChangeShapeType="1"/>
            </p:cNvSpPr>
            <p:nvPr/>
          </p:nvSpPr>
          <p:spPr bwMode="auto">
            <a:xfrm flipV="1">
              <a:off x="3106" y="3411"/>
              <a:ext cx="0" cy="272"/>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grpSp>
      <p:sp>
        <p:nvSpPr>
          <p:cNvPr id="98317" name="Text Box 13"/>
          <p:cNvSpPr txBox="1">
            <a:spLocks noChangeArrowheads="1"/>
          </p:cNvSpPr>
          <p:nvPr/>
        </p:nvSpPr>
        <p:spPr bwMode="auto">
          <a:xfrm>
            <a:off x="6012160" y="5943600"/>
            <a:ext cx="2598439" cy="424732"/>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buFontTx/>
              <a:buNone/>
              <a:defRPr/>
            </a:pPr>
            <a:r>
              <a:rPr lang="zh-CN" altLang="en-US" sz="2400" b="1" dirty="0"/>
              <a:t>变量名：数组名</a:t>
            </a:r>
            <a:r>
              <a:rPr lang="en-US" altLang="zh-CN" sz="2400" b="1" dirty="0"/>
              <a:t>c</a:t>
            </a:r>
            <a:endParaRPr lang="zh-CN" altLang="en-US" sz="2400" b="1"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468313" y="1319213"/>
            <a:ext cx="8675687" cy="2139950"/>
          </a:xfrm>
        </p:spPr>
        <p:txBody>
          <a:bodyPr/>
          <a:lstStyle/>
          <a:p>
            <a:pPr eaLnBrk="1" hangingPunct="1"/>
            <a:r>
              <a:rPr lang="zh-CN" altLang="en-US" b="1" u="sng" dirty="0"/>
              <a:t>数组必须逐个元素访问</a:t>
            </a:r>
            <a:r>
              <a:rPr lang="zh-CN" altLang="en-US" b="1" dirty="0"/>
              <a:t>（操作）</a:t>
            </a:r>
          </a:p>
          <a:p>
            <a:pPr lvl="1" eaLnBrk="1" hangingPunct="1"/>
            <a:r>
              <a:rPr lang="zh-CN" altLang="en-US" dirty="0">
                <a:latin typeface="微软雅黑" panose="020B0503020204020204" pitchFamily="34" charset="-122"/>
                <a:ea typeface="微软雅黑" panose="020B0503020204020204" pitchFamily="34" charset="-122"/>
              </a:rPr>
              <a:t>语法：</a:t>
            </a:r>
            <a:r>
              <a:rPr lang="zh-CN" altLang="en-US" dirty="0">
                <a:solidFill>
                  <a:srgbClr val="FF0000"/>
                </a:solidFill>
                <a:latin typeface="微软雅黑" panose="020B0503020204020204" pitchFamily="34" charset="-122"/>
                <a:ea typeface="微软雅黑" panose="020B0503020204020204" pitchFamily="34" charset="-122"/>
              </a:rPr>
              <a:t>数组名</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元素序号</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t>。其中元素序号又称下标。</a:t>
            </a:r>
          </a:p>
          <a:p>
            <a:pPr lvl="1" eaLnBrk="1" hangingPunct="1"/>
            <a:r>
              <a:rPr lang="zh-CN" altLang="en-US" b="1" dirty="0"/>
              <a:t>注意：第一个元素的序号为0，因此</a:t>
            </a:r>
            <a:r>
              <a:rPr lang="en-US" altLang="zh-CN" b="1" dirty="0"/>
              <a:t>c[0]</a:t>
            </a:r>
            <a:r>
              <a:rPr lang="zh-CN" altLang="en-US" b="1" dirty="0"/>
              <a:t>引用数组</a:t>
            </a:r>
            <a:r>
              <a:rPr lang="en-US" altLang="zh-CN" b="1" dirty="0"/>
              <a:t>c</a:t>
            </a:r>
            <a:r>
              <a:rPr lang="zh-CN" altLang="en-US" b="1" dirty="0"/>
              <a:t>的第一个元素。</a:t>
            </a:r>
            <a:r>
              <a:rPr lang="en-US" altLang="zh-CN" b="1" dirty="0"/>
              <a:t>c[i-1]</a:t>
            </a:r>
            <a:r>
              <a:rPr lang="zh-CN" altLang="en-US" b="1" dirty="0"/>
              <a:t>引用第</a:t>
            </a:r>
            <a:r>
              <a:rPr lang="en-US" altLang="zh-CN" b="1" dirty="0" err="1"/>
              <a:t>i</a:t>
            </a:r>
            <a:r>
              <a:rPr lang="zh-CN" altLang="en-US" b="1" dirty="0"/>
              <a:t>个元素。</a:t>
            </a:r>
          </a:p>
          <a:p>
            <a:pPr eaLnBrk="1" hangingPunct="1">
              <a:buFontTx/>
              <a:buNone/>
            </a:pPr>
            <a:endParaRPr lang="zh-CN" altLang="en-US" b="1" dirty="0"/>
          </a:p>
        </p:txBody>
      </p:sp>
      <p:sp>
        <p:nvSpPr>
          <p:cNvPr id="11268" name="Rectangle 11"/>
          <p:cNvSpPr>
            <a:spLocks noGrp="1" noChangeArrowheads="1"/>
          </p:cNvSpPr>
          <p:nvPr>
            <p:ph type="title"/>
          </p:nvPr>
        </p:nvSpPr>
        <p:spPr>
          <a:noFill/>
        </p:spPr>
        <p:txBody>
          <a:bodyPr/>
          <a:lstStyle/>
          <a:p>
            <a:pPr eaLnBrk="1" hangingPunct="1"/>
            <a:r>
              <a:rPr lang="zh-CN" altLang="en-US" b="1" dirty="0"/>
              <a:t>数组的访问</a:t>
            </a:r>
          </a:p>
        </p:txBody>
      </p:sp>
      <p:grpSp>
        <p:nvGrpSpPr>
          <p:cNvPr id="11269" name="Group 16"/>
          <p:cNvGrpSpPr/>
          <p:nvPr/>
        </p:nvGrpSpPr>
        <p:grpSpPr bwMode="auto">
          <a:xfrm>
            <a:off x="3851275" y="3213100"/>
            <a:ext cx="2879725" cy="3435350"/>
            <a:chOff x="2336" y="1781"/>
            <a:chExt cx="1814" cy="2164"/>
          </a:xfrm>
        </p:grpSpPr>
        <p:pic>
          <p:nvPicPr>
            <p:cNvPr id="1127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 y="2189"/>
              <a:ext cx="1542" cy="1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72" name="Line 12"/>
            <p:cNvSpPr>
              <a:spLocks noChangeShapeType="1"/>
            </p:cNvSpPr>
            <p:nvPr/>
          </p:nvSpPr>
          <p:spPr bwMode="auto">
            <a:xfrm flipH="1" flipV="1">
              <a:off x="2698" y="3459"/>
              <a:ext cx="1" cy="198"/>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sp>
          <p:nvSpPr>
            <p:cNvPr id="194573" name="Text Box 13"/>
            <p:cNvSpPr txBox="1">
              <a:spLocks noChangeArrowheads="1"/>
            </p:cNvSpPr>
            <p:nvPr/>
          </p:nvSpPr>
          <p:spPr bwMode="auto">
            <a:xfrm>
              <a:off x="2336" y="3657"/>
              <a:ext cx="817" cy="288"/>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a:solidFill>
                    <a:schemeClr val="accent2"/>
                  </a:solidFill>
                </a:rPr>
                <a:t>数组名</a:t>
              </a:r>
            </a:p>
          </p:txBody>
        </p:sp>
        <p:sp>
          <p:nvSpPr>
            <p:cNvPr id="194574" name="Line 14"/>
            <p:cNvSpPr>
              <a:spLocks noChangeShapeType="1"/>
            </p:cNvSpPr>
            <p:nvPr/>
          </p:nvSpPr>
          <p:spPr bwMode="auto">
            <a:xfrm>
              <a:off x="2971" y="2007"/>
              <a:ext cx="0" cy="182"/>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sp>
          <p:nvSpPr>
            <p:cNvPr id="194575" name="Text Box 15"/>
            <p:cNvSpPr txBox="1">
              <a:spLocks noChangeArrowheads="1"/>
            </p:cNvSpPr>
            <p:nvPr/>
          </p:nvSpPr>
          <p:spPr bwMode="auto">
            <a:xfrm>
              <a:off x="2653" y="1781"/>
              <a:ext cx="953" cy="288"/>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a:solidFill>
                    <a:schemeClr val="accent2"/>
                  </a:solidFill>
                </a:rPr>
                <a:t>元素下标</a:t>
              </a: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685800" y="1319213"/>
            <a:ext cx="6550025" cy="4611687"/>
          </a:xfrm>
        </p:spPr>
        <p:txBody>
          <a:bodyPr/>
          <a:lstStyle/>
          <a:p>
            <a:pPr eaLnBrk="1" hangingPunct="1">
              <a:buFontTx/>
              <a:buNone/>
            </a:pPr>
            <a:r>
              <a:rPr lang="zh-CN" altLang="en-US" b="1" dirty="0"/>
              <a:t>数组元素操作，按下标读取或赋值。</a:t>
            </a:r>
          </a:p>
          <a:p>
            <a:pPr lvl="1" eaLnBrk="1" hangingPunct="1"/>
            <a:r>
              <a:rPr lang="zh-CN" altLang="en-US" b="1" dirty="0"/>
              <a:t>在赋值语句</a:t>
            </a:r>
            <a:r>
              <a:rPr lang="zh-CN" altLang="en-US" b="1" dirty="0">
                <a:solidFill>
                  <a:schemeClr val="accent2"/>
                </a:solidFill>
              </a:rPr>
              <a:t>右边</a:t>
            </a:r>
            <a:r>
              <a:rPr lang="zh-CN" altLang="en-US" b="1" dirty="0"/>
              <a:t>时，该操作从数组元素中读取数据；</a:t>
            </a:r>
          </a:p>
          <a:p>
            <a:pPr lvl="1" eaLnBrk="1" hangingPunct="1">
              <a:buFontTx/>
              <a:buNone/>
            </a:pPr>
            <a:r>
              <a:rPr lang="zh-CN" altLang="en-US" b="1" dirty="0"/>
              <a:t>    例：</a:t>
            </a:r>
            <a:r>
              <a:rPr lang="en-US" altLang="zh-CN" b="1" dirty="0"/>
              <a:t>x=c[1]</a:t>
            </a:r>
            <a:r>
              <a:rPr lang="zh-CN" altLang="en-US" b="1" dirty="0"/>
              <a:t>；</a:t>
            </a:r>
            <a:r>
              <a:rPr lang="en-US" altLang="zh-CN" b="1" dirty="0"/>
              <a:t>//</a:t>
            </a:r>
            <a:r>
              <a:rPr lang="zh-CN" altLang="en-US" b="1" dirty="0"/>
              <a:t>读取下标为</a:t>
            </a:r>
            <a:r>
              <a:rPr lang="en-US" altLang="zh-CN" b="1" dirty="0"/>
              <a:t>1</a:t>
            </a:r>
            <a:r>
              <a:rPr lang="zh-CN" altLang="en-US" b="1" dirty="0"/>
              <a:t>的数组元素的值，赋给变量</a:t>
            </a:r>
            <a:r>
              <a:rPr lang="en-US" altLang="zh-CN" b="1" dirty="0"/>
              <a:t>x</a:t>
            </a:r>
            <a:r>
              <a:rPr lang="zh-CN" altLang="en-US" b="1" dirty="0"/>
              <a:t>；</a:t>
            </a:r>
          </a:p>
          <a:p>
            <a:pPr lvl="1" eaLnBrk="1" hangingPunct="1"/>
            <a:r>
              <a:rPr lang="zh-CN" altLang="en-US" b="1" dirty="0"/>
              <a:t>在赋值语句</a:t>
            </a:r>
            <a:r>
              <a:rPr lang="zh-CN" altLang="en-US" b="1" dirty="0">
                <a:solidFill>
                  <a:srgbClr val="000099"/>
                </a:solidFill>
              </a:rPr>
              <a:t>左边</a:t>
            </a:r>
            <a:r>
              <a:rPr lang="zh-CN" altLang="en-US" b="1" dirty="0"/>
              <a:t>时，对数组元素进行赋值。</a:t>
            </a:r>
          </a:p>
          <a:p>
            <a:pPr lvl="1" eaLnBrk="1" hangingPunct="1">
              <a:buFontTx/>
              <a:buNone/>
            </a:pPr>
            <a:r>
              <a:rPr lang="zh-CN" altLang="en-US" b="1" dirty="0"/>
              <a:t>		例：</a:t>
            </a:r>
            <a:r>
              <a:rPr lang="en-US" altLang="zh-CN" b="1" dirty="0"/>
              <a:t>c[2]=x*3+5;//</a:t>
            </a:r>
            <a:r>
              <a:rPr lang="zh-CN" altLang="en-US" b="1" dirty="0"/>
              <a:t>将赋值表达式右</a:t>
            </a:r>
            <a:endParaRPr lang="en-US" altLang="zh-CN" b="1" dirty="0"/>
          </a:p>
          <a:p>
            <a:pPr lvl="2" eaLnBrk="1" hangingPunct="1">
              <a:buNone/>
            </a:pPr>
            <a:r>
              <a:rPr lang="zh-CN" altLang="en-US" b="1" dirty="0"/>
              <a:t>边的值赋给下标为</a:t>
            </a:r>
            <a:r>
              <a:rPr lang="en-US" altLang="zh-CN" b="1" dirty="0"/>
              <a:t>2</a:t>
            </a:r>
            <a:r>
              <a:rPr lang="zh-CN" altLang="en-US" b="1" dirty="0"/>
              <a:t>的数组元素。</a:t>
            </a:r>
          </a:p>
          <a:p>
            <a:pPr eaLnBrk="1" hangingPunct="1">
              <a:buFontTx/>
              <a:buNone/>
            </a:pPr>
            <a:endParaRPr lang="zh-CN" altLang="en-US" sz="2400" b="1" dirty="0"/>
          </a:p>
        </p:txBody>
      </p:sp>
      <p:pic>
        <p:nvPicPr>
          <p:cNvPr id="12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1484313"/>
            <a:ext cx="201612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8"/>
          <p:cNvSpPr>
            <a:spLocks noGrp="1" noChangeArrowheads="1"/>
          </p:cNvSpPr>
          <p:nvPr>
            <p:ph type="title"/>
          </p:nvPr>
        </p:nvSpPr>
        <p:spPr>
          <a:noFill/>
        </p:spPr>
        <p:txBody>
          <a:bodyPr/>
          <a:lstStyle/>
          <a:p>
            <a:pPr eaLnBrk="1" hangingPunct="1"/>
            <a:r>
              <a:rPr lang="zh-CN" altLang="en-US" b="1" dirty="0"/>
              <a:t>数组元素操作：读取和赋值</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type="body" idx="1"/>
          </p:nvPr>
        </p:nvSpPr>
        <p:spPr>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buFontTx/>
              <a:buNone/>
            </a:pPr>
            <a:r>
              <a:rPr lang="zh-CN" altLang="en-US" sz="2400" b="1" dirty="0"/>
              <a:t>6.1  总结与回顾（数据类型与程序设计）</a:t>
            </a:r>
          </a:p>
          <a:p>
            <a:pPr eaLnBrk="1" hangingPunct="1">
              <a:buFontTx/>
              <a:buNone/>
            </a:pPr>
            <a:r>
              <a:rPr lang="zh-CN" altLang="en-US" sz="2400" b="1" dirty="0"/>
              <a:t>6.</a:t>
            </a:r>
            <a:r>
              <a:rPr lang="en-US" altLang="zh-CN" sz="2400" b="1" dirty="0"/>
              <a:t>2  </a:t>
            </a:r>
            <a:r>
              <a:rPr lang="zh-CN" altLang="en-US" sz="2400" b="1" dirty="0"/>
              <a:t>数组作为顺序表的数据结构</a:t>
            </a:r>
          </a:p>
          <a:p>
            <a:pPr eaLnBrk="1" hangingPunct="1">
              <a:buFontTx/>
              <a:buNone/>
            </a:pPr>
            <a:r>
              <a:rPr lang="en-US" altLang="zh-CN" sz="2400" b="1" dirty="0">
                <a:solidFill>
                  <a:srgbClr val="FF0000"/>
                </a:solidFill>
              </a:rPr>
              <a:t>6.3  </a:t>
            </a:r>
            <a:r>
              <a:rPr lang="zh-CN" altLang="en-US" sz="2400" b="1" dirty="0">
                <a:solidFill>
                  <a:srgbClr val="FF0000"/>
                </a:solidFill>
              </a:rPr>
              <a:t>数组的声明、操作和使用</a:t>
            </a:r>
          </a:p>
          <a:p>
            <a:pPr eaLnBrk="1" hangingPunct="1">
              <a:buFontTx/>
              <a:buNone/>
            </a:pPr>
            <a:r>
              <a:rPr lang="zh-CN" altLang="en-US" sz="2400" b="1" dirty="0">
                <a:solidFill>
                  <a:srgbClr val="FF0000"/>
                </a:solidFill>
              </a:rPr>
              <a:t>	   </a:t>
            </a:r>
            <a:r>
              <a:rPr lang="en-US" altLang="zh-CN" sz="2400" b="1" dirty="0">
                <a:solidFill>
                  <a:srgbClr val="FF0000"/>
                </a:solidFill>
              </a:rPr>
              <a:t>6.3.1 </a:t>
            </a:r>
            <a:r>
              <a:rPr lang="zh-CN" altLang="en-US" sz="2400" b="1" dirty="0">
                <a:solidFill>
                  <a:srgbClr val="FF0000"/>
                </a:solidFill>
              </a:rPr>
              <a:t>数组的声明</a:t>
            </a:r>
          </a:p>
          <a:p>
            <a:pPr eaLnBrk="1" hangingPunct="1">
              <a:buFontTx/>
              <a:buNone/>
            </a:pPr>
            <a:r>
              <a:rPr lang="zh-CN" altLang="en-US" sz="2400" b="1" dirty="0">
                <a:solidFill>
                  <a:srgbClr val="FF0000"/>
                </a:solidFill>
              </a:rPr>
              <a:t>       </a:t>
            </a:r>
            <a:r>
              <a:rPr lang="en-US" altLang="zh-CN" sz="2400" b="1" dirty="0">
                <a:solidFill>
                  <a:srgbClr val="FF0000"/>
                </a:solidFill>
              </a:rPr>
              <a:t>6.3.2 </a:t>
            </a:r>
            <a:r>
              <a:rPr lang="zh-CN" altLang="en-US" sz="2400" b="1" dirty="0">
                <a:solidFill>
                  <a:srgbClr val="FF0000"/>
                </a:solidFill>
              </a:rPr>
              <a:t>数组的初始化</a:t>
            </a:r>
          </a:p>
          <a:p>
            <a:pPr eaLnBrk="1" hangingPunct="1">
              <a:buFontTx/>
              <a:buNone/>
            </a:pPr>
            <a:r>
              <a:rPr lang="zh-CN" altLang="en-US" sz="2400" b="1" dirty="0">
                <a:solidFill>
                  <a:srgbClr val="FF0000"/>
                </a:solidFill>
              </a:rPr>
              <a:t>       </a:t>
            </a:r>
            <a:r>
              <a:rPr lang="en-US" altLang="zh-CN" sz="2400" b="1" dirty="0">
                <a:solidFill>
                  <a:srgbClr val="FF0000"/>
                </a:solidFill>
              </a:rPr>
              <a:t>6.3.3 </a:t>
            </a:r>
            <a:r>
              <a:rPr lang="zh-CN" altLang="en-US" sz="2400" b="1" dirty="0">
                <a:solidFill>
                  <a:srgbClr val="FF0000"/>
                </a:solidFill>
              </a:rPr>
              <a:t>数组逐元素操作</a:t>
            </a:r>
          </a:p>
          <a:p>
            <a:pPr eaLnBrk="1" hangingPunct="1">
              <a:buFontTx/>
              <a:buNone/>
            </a:pPr>
            <a:r>
              <a:rPr lang="en-US" altLang="zh-CN" sz="2400" b="1" dirty="0"/>
              <a:t>6.4  </a:t>
            </a:r>
            <a:r>
              <a:rPr lang="zh-CN" altLang="en-US" sz="2400" b="1" dirty="0"/>
              <a:t>数组作为函数参数的处理</a:t>
            </a:r>
          </a:p>
          <a:p>
            <a:pPr eaLnBrk="1" hangingPunct="1">
              <a:buFontTx/>
              <a:buNone/>
            </a:pPr>
            <a:r>
              <a:rPr lang="zh-CN" altLang="en-US" sz="2400" b="1" dirty="0"/>
              <a:t>6.</a:t>
            </a:r>
            <a:r>
              <a:rPr lang="en-US" altLang="zh-CN" sz="2400" b="1" dirty="0"/>
              <a:t>5  </a:t>
            </a:r>
            <a:r>
              <a:rPr lang="zh-CN" altLang="en-US" sz="2400" b="1" dirty="0"/>
              <a:t>数组的应用（排序、查找和应用）</a:t>
            </a:r>
          </a:p>
          <a:p>
            <a:pPr eaLnBrk="1" hangingPunct="1">
              <a:buFontTx/>
              <a:buNone/>
            </a:pPr>
            <a:endParaRPr lang="en-US" altLang="zh-CN" sz="2400" b="1" dirty="0"/>
          </a:p>
          <a:p>
            <a:pPr eaLnBrk="1" hangingPunct="1">
              <a:buFontTx/>
              <a:buNone/>
            </a:pPr>
            <a:endParaRPr lang="zh-CN" altLang="en-US" sz="2400" b="1" dirty="0"/>
          </a:p>
          <a:p>
            <a:pPr eaLnBrk="1" hangingPunct="1">
              <a:buFontTx/>
              <a:buNone/>
            </a:pPr>
            <a:endParaRPr lang="zh-CN" altLang="en-US" sz="2400" b="1" dirty="0"/>
          </a:p>
          <a:p>
            <a:pPr eaLnBrk="1" hangingPunct="1">
              <a:buFontTx/>
              <a:buNone/>
            </a:pPr>
            <a:endParaRPr lang="zh-CN" altLang="en-US" sz="2400" b="1" dirty="0"/>
          </a:p>
        </p:txBody>
      </p:sp>
      <p:sp>
        <p:nvSpPr>
          <p:cNvPr id="13316" name="Rectangle 5"/>
          <p:cNvSpPr>
            <a:spLocks noGrp="1" noChangeArrowheads="1"/>
          </p:cNvSpPr>
          <p:nvPr>
            <p:ph type="title"/>
          </p:nvPr>
        </p:nvSpPr>
        <p:spPr>
          <a:noFill/>
        </p:spPr>
        <p:txBody>
          <a:bodyPr/>
          <a:lstStyle/>
          <a:p>
            <a:pPr eaLnBrk="1" hangingPunct="1"/>
            <a:r>
              <a:rPr lang="zh-CN" altLang="en-US" b="1"/>
              <a:t>提纲</a:t>
            </a:r>
          </a:p>
        </p:txBody>
      </p:sp>
      <p:pic>
        <p:nvPicPr>
          <p:cNvPr id="13317" name="Picture 6" descr="页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355976" y="2924944"/>
            <a:ext cx="4464496" cy="662554"/>
          </a:xfrm>
          <a:prstGeom prst="rect">
            <a:avLst/>
          </a:prstGeom>
          <a:solidFill>
            <a:schemeClr val="accent3">
              <a:lumMod val="85000"/>
            </a:schemeClr>
          </a:solidFill>
        </p:spPr>
        <p:txBody>
          <a:bodyPr wrap="square" rtlCol="0">
            <a:spAutoFit/>
          </a:bodyPr>
          <a:lstStyle/>
          <a:p>
            <a:pPr>
              <a:lnSpc>
                <a:spcPct val="150000"/>
              </a:lnSpc>
              <a:buNone/>
            </a:pPr>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语言中如何使用数组呢？</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5"/>
          <p:cNvSpPr>
            <a:spLocks noGrp="1" noChangeArrowheads="1"/>
          </p:cNvSpPr>
          <p:nvPr>
            <p:ph type="body" idx="1"/>
          </p:nvPr>
        </p:nvSpPr>
        <p:spPr>
          <a:xfrm>
            <a:off x="179388" y="1341438"/>
            <a:ext cx="8964612" cy="1727200"/>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buFontTx/>
              <a:buNone/>
            </a:pPr>
            <a:r>
              <a:rPr lang="zh-CN" altLang="en-US" b="1" dirty="0"/>
              <a:t>一、数组的声明： （</a:t>
            </a:r>
            <a:r>
              <a:rPr lang="en-US" altLang="zh-CN" b="1" dirty="0">
                <a:solidFill>
                  <a:srgbClr val="FF0000"/>
                </a:solidFill>
              </a:rPr>
              <a:t>C99</a:t>
            </a:r>
            <a:r>
              <a:rPr lang="zh-CN" altLang="en-US" b="1" dirty="0">
                <a:solidFill>
                  <a:srgbClr val="FF0000"/>
                </a:solidFill>
              </a:rPr>
              <a:t>标准之前</a:t>
            </a:r>
            <a:r>
              <a:rPr lang="zh-CN" altLang="en-US" b="1" dirty="0"/>
              <a:t>）</a:t>
            </a:r>
          </a:p>
          <a:p>
            <a:pPr lvl="1" eaLnBrk="1" hangingPunct="1">
              <a:buFontTx/>
              <a:buNone/>
            </a:pPr>
            <a:r>
              <a:rPr lang="zh-CN" altLang="en-US" b="1" dirty="0"/>
              <a:t>语法格式：</a:t>
            </a:r>
            <a:r>
              <a:rPr lang="zh-CN" altLang="en-US" b="1" dirty="0">
                <a:solidFill>
                  <a:schemeClr val="accent2"/>
                </a:solidFill>
              </a:rPr>
              <a:t>元素类型名  数组名[整型</a:t>
            </a:r>
            <a:r>
              <a:rPr lang="zh-CN" altLang="en-US" b="1" dirty="0">
                <a:solidFill>
                  <a:srgbClr val="FF0000"/>
                </a:solidFill>
              </a:rPr>
              <a:t>常量</a:t>
            </a:r>
            <a:r>
              <a:rPr lang="zh-CN" altLang="en-US" b="1" dirty="0">
                <a:solidFill>
                  <a:schemeClr val="accent2"/>
                </a:solidFill>
              </a:rPr>
              <a:t>表达式]；</a:t>
            </a:r>
          </a:p>
          <a:p>
            <a:pPr eaLnBrk="1" hangingPunct="1">
              <a:spcBef>
                <a:spcPct val="0"/>
              </a:spcBef>
              <a:buFontTx/>
              <a:buNone/>
            </a:pPr>
            <a:r>
              <a:rPr lang="zh-CN" altLang="en-US" b="1" dirty="0">
                <a:solidFill>
                  <a:schemeClr val="accent2"/>
                </a:solidFill>
              </a:rPr>
              <a:t>     </a:t>
            </a:r>
            <a:r>
              <a:rPr lang="zh-CN" altLang="en-US" sz="2400" b="1" dirty="0">
                <a:solidFill>
                  <a:schemeClr val="accent2"/>
                </a:solidFill>
              </a:rPr>
              <a:t>元素类型名</a:t>
            </a:r>
            <a:r>
              <a:rPr lang="zh-CN" altLang="en-US" sz="2400" b="1" dirty="0"/>
              <a:t> 可以是整型、字符型、浮点型、结构和指针。</a:t>
            </a:r>
          </a:p>
          <a:p>
            <a:pPr eaLnBrk="1" hangingPunct="1">
              <a:spcBef>
                <a:spcPct val="0"/>
              </a:spcBef>
              <a:buFontTx/>
              <a:buNone/>
            </a:pPr>
            <a:r>
              <a:rPr lang="zh-CN" altLang="en-US" sz="2400" b="1" dirty="0"/>
              <a:t>      </a:t>
            </a:r>
            <a:r>
              <a:rPr lang="zh-CN" altLang="en-US" sz="2400" b="1" dirty="0">
                <a:solidFill>
                  <a:srgbClr val="003399"/>
                </a:solidFill>
              </a:rPr>
              <a:t>常量表达式</a:t>
            </a:r>
            <a:r>
              <a:rPr lang="zh-CN" altLang="en-US" sz="2400" b="1" dirty="0"/>
              <a:t>说明数组元素的个数，运算结果必须为整型。</a:t>
            </a:r>
            <a:endParaRPr lang="en-US" altLang="zh-CN" sz="2400" b="1" dirty="0"/>
          </a:p>
          <a:p>
            <a:pPr lvl="1" eaLnBrk="1" hangingPunct="1">
              <a:buFontTx/>
              <a:buNone/>
            </a:pPr>
            <a:r>
              <a:rPr lang="en-US" altLang="zh-CN" dirty="0"/>
              <a:t>	</a:t>
            </a:r>
            <a:endParaRPr lang="en-US" altLang="zh-CN" sz="900" dirty="0"/>
          </a:p>
          <a:p>
            <a:pPr lvl="1" eaLnBrk="1" hangingPunct="1">
              <a:buFontTx/>
              <a:buNone/>
            </a:pPr>
            <a:r>
              <a:rPr lang="en-US" altLang="zh-CN" dirty="0"/>
              <a:t>		       </a:t>
            </a:r>
            <a:endParaRPr lang="zh-CN" altLang="en-US" dirty="0"/>
          </a:p>
        </p:txBody>
      </p:sp>
      <p:sp>
        <p:nvSpPr>
          <p:cNvPr id="14340" name="Rectangle 5"/>
          <p:cNvSpPr>
            <a:spLocks noGrp="1" noChangeArrowheads="1"/>
          </p:cNvSpPr>
          <p:nvPr>
            <p:ph type="title"/>
          </p:nvPr>
        </p:nvSpPr>
        <p:spPr>
          <a:noFill/>
        </p:spPr>
        <p:txBody>
          <a:bodyPr/>
          <a:lstStyle/>
          <a:p>
            <a:pPr eaLnBrk="1" hangingPunct="1"/>
            <a:r>
              <a:rPr lang="en-US" altLang="zh-CN" b="1"/>
              <a:t>6.3.1</a:t>
            </a:r>
            <a:r>
              <a:rPr lang="zh-CN" altLang="en-US" b="1"/>
              <a:t> </a:t>
            </a:r>
            <a:r>
              <a:rPr lang="zh-CN" altLang="en-US" b="1" u="sng"/>
              <a:t>数组的声明</a:t>
            </a:r>
          </a:p>
        </p:txBody>
      </p:sp>
      <p:sp>
        <p:nvSpPr>
          <p:cNvPr id="14341" name="Rectangle 44"/>
          <p:cNvSpPr>
            <a:spLocks noChangeArrowheads="1"/>
          </p:cNvSpPr>
          <p:nvPr/>
        </p:nvSpPr>
        <p:spPr bwMode="auto">
          <a:xfrm>
            <a:off x="8172450" y="3470275"/>
            <a:ext cx="11160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2000H</a:t>
            </a:r>
            <a:endParaRPr lang="zh-CN" altLang="en-US" sz="1600" b="1"/>
          </a:p>
        </p:txBody>
      </p:sp>
      <p:grpSp>
        <p:nvGrpSpPr>
          <p:cNvPr id="133200" name="Group 80"/>
          <p:cNvGrpSpPr/>
          <p:nvPr/>
        </p:nvGrpSpPr>
        <p:grpSpPr bwMode="auto">
          <a:xfrm>
            <a:off x="5722938" y="3103563"/>
            <a:ext cx="3065462" cy="2938462"/>
            <a:chOff x="3605" y="1521"/>
            <a:chExt cx="1931" cy="1851"/>
          </a:xfrm>
        </p:grpSpPr>
        <p:sp>
          <p:nvSpPr>
            <p:cNvPr id="14346" name="Rectangle 47"/>
            <p:cNvSpPr>
              <a:spLocks noChangeArrowheads="1"/>
            </p:cNvSpPr>
            <p:nvPr/>
          </p:nvSpPr>
          <p:spPr bwMode="auto">
            <a:xfrm>
              <a:off x="4105" y="1755"/>
              <a:ext cx="996" cy="39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347" name="Rectangle 50"/>
            <p:cNvSpPr>
              <a:spLocks noChangeArrowheads="1"/>
            </p:cNvSpPr>
            <p:nvPr/>
          </p:nvSpPr>
          <p:spPr bwMode="auto">
            <a:xfrm>
              <a:off x="5148" y="3022"/>
              <a:ext cx="3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200CH</a:t>
              </a:r>
              <a:endParaRPr lang="en-US" altLang="zh-CN" sz="1600" b="1"/>
            </a:p>
          </p:txBody>
        </p:sp>
        <p:sp>
          <p:nvSpPr>
            <p:cNvPr id="14348" name="Rectangle 53"/>
            <p:cNvSpPr>
              <a:spLocks noChangeArrowheads="1"/>
            </p:cNvSpPr>
            <p:nvPr/>
          </p:nvSpPr>
          <p:spPr bwMode="auto">
            <a:xfrm>
              <a:off x="5152" y="2569"/>
              <a:ext cx="35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2008H</a:t>
              </a:r>
              <a:endParaRPr lang="en-US" altLang="zh-CN" sz="1600" b="1"/>
            </a:p>
          </p:txBody>
        </p:sp>
        <p:sp>
          <p:nvSpPr>
            <p:cNvPr id="14349" name="Rectangle 54"/>
            <p:cNvSpPr>
              <a:spLocks noChangeArrowheads="1"/>
            </p:cNvSpPr>
            <p:nvPr/>
          </p:nvSpPr>
          <p:spPr bwMode="auto">
            <a:xfrm>
              <a:off x="5148" y="2115"/>
              <a:ext cx="35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2004H</a:t>
              </a:r>
              <a:endParaRPr lang="en-US" altLang="zh-CN" sz="1600" b="1"/>
            </a:p>
          </p:txBody>
        </p:sp>
        <p:sp>
          <p:nvSpPr>
            <p:cNvPr id="14350" name="Rectangle 55"/>
            <p:cNvSpPr>
              <a:spLocks noChangeArrowheads="1"/>
            </p:cNvSpPr>
            <p:nvPr/>
          </p:nvSpPr>
          <p:spPr bwMode="auto">
            <a:xfrm>
              <a:off x="3605" y="1769"/>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score[0]</a:t>
              </a:r>
              <a:endParaRPr lang="en-US" altLang="zh-CN" sz="1600" b="1"/>
            </a:p>
          </p:txBody>
        </p:sp>
        <p:sp>
          <p:nvSpPr>
            <p:cNvPr id="14351" name="Rectangle 57"/>
            <p:cNvSpPr>
              <a:spLocks noChangeArrowheads="1"/>
            </p:cNvSpPr>
            <p:nvPr/>
          </p:nvSpPr>
          <p:spPr bwMode="auto">
            <a:xfrm>
              <a:off x="4105" y="1755"/>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352" name="Text Box 60"/>
            <p:cNvSpPr txBox="1">
              <a:spLocks noChangeArrowheads="1"/>
            </p:cNvSpPr>
            <p:nvPr/>
          </p:nvSpPr>
          <p:spPr bwMode="auto">
            <a:xfrm>
              <a:off x="4150" y="1521"/>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000099"/>
                  </a:solidFill>
                </a:rPr>
                <a:t>存储空间</a:t>
              </a:r>
            </a:p>
          </p:txBody>
        </p:sp>
        <p:sp>
          <p:nvSpPr>
            <p:cNvPr id="14353" name="Rectangle 62"/>
            <p:cNvSpPr>
              <a:spLocks noChangeArrowheads="1"/>
            </p:cNvSpPr>
            <p:nvPr/>
          </p:nvSpPr>
          <p:spPr bwMode="auto">
            <a:xfrm>
              <a:off x="4104" y="215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354" name="Rectangle 66"/>
            <p:cNvSpPr>
              <a:spLocks noChangeArrowheads="1"/>
            </p:cNvSpPr>
            <p:nvPr/>
          </p:nvSpPr>
          <p:spPr bwMode="auto">
            <a:xfrm>
              <a:off x="4104" y="2566"/>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355" name="Rectangle 70"/>
            <p:cNvSpPr>
              <a:spLocks noChangeArrowheads="1"/>
            </p:cNvSpPr>
            <p:nvPr/>
          </p:nvSpPr>
          <p:spPr bwMode="auto">
            <a:xfrm>
              <a:off x="4104" y="2974"/>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356" name="Rectangle 75"/>
            <p:cNvSpPr>
              <a:spLocks noChangeArrowheads="1"/>
            </p:cNvSpPr>
            <p:nvPr/>
          </p:nvSpPr>
          <p:spPr bwMode="auto">
            <a:xfrm>
              <a:off x="3605" y="2160"/>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score[1]</a:t>
              </a:r>
              <a:endParaRPr lang="en-US" altLang="zh-CN" sz="1600" b="1"/>
            </a:p>
          </p:txBody>
        </p:sp>
        <p:sp>
          <p:nvSpPr>
            <p:cNvPr id="14357" name="Rectangle 76"/>
            <p:cNvSpPr>
              <a:spLocks noChangeArrowheads="1"/>
            </p:cNvSpPr>
            <p:nvPr/>
          </p:nvSpPr>
          <p:spPr bwMode="auto">
            <a:xfrm>
              <a:off x="3615" y="2569"/>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score[2]</a:t>
              </a:r>
              <a:endParaRPr lang="en-US" altLang="zh-CN" sz="1600" b="1"/>
            </a:p>
          </p:txBody>
        </p:sp>
        <p:sp>
          <p:nvSpPr>
            <p:cNvPr id="14358" name="Rectangle 77"/>
            <p:cNvSpPr>
              <a:spLocks noChangeArrowheads="1"/>
            </p:cNvSpPr>
            <p:nvPr/>
          </p:nvSpPr>
          <p:spPr bwMode="auto">
            <a:xfrm>
              <a:off x="3605" y="3021"/>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score[3]</a:t>
              </a:r>
              <a:endParaRPr lang="en-US" altLang="zh-CN" sz="1600" b="1"/>
            </a:p>
          </p:txBody>
        </p:sp>
      </p:grpSp>
      <p:sp>
        <p:nvSpPr>
          <p:cNvPr id="133198" name="Text Box 78"/>
          <p:cNvSpPr txBox="1">
            <a:spLocks noChangeArrowheads="1"/>
          </p:cNvSpPr>
          <p:nvPr/>
        </p:nvSpPr>
        <p:spPr bwMode="auto">
          <a:xfrm>
            <a:off x="611188" y="3402013"/>
            <a:ext cx="2087562" cy="2419124"/>
          </a:xfrm>
          <a:prstGeom prst="rect">
            <a:avLst/>
          </a:prstGeom>
          <a:solidFill>
            <a:schemeClr val="folHlink"/>
          </a:solidFill>
          <a:ln>
            <a:noFill/>
          </a:ln>
          <a:effectLst>
            <a:prstShdw prst="shdw18" dist="17961" dir="13500000">
              <a:schemeClr val="folHlink">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0"/>
              </a:spcBef>
              <a:buFontTx/>
              <a:buNone/>
              <a:defRPr/>
            </a:pPr>
            <a:r>
              <a:rPr lang="zh-CN" altLang="en-US" sz="2400" b="1" dirty="0"/>
              <a:t>例如：</a:t>
            </a:r>
          </a:p>
          <a:p>
            <a:pPr>
              <a:spcBef>
                <a:spcPct val="0"/>
              </a:spcBef>
              <a:buFontTx/>
              <a:buNone/>
              <a:defRPr/>
            </a:pPr>
            <a:r>
              <a:rPr lang="en-US" altLang="zh-CN" sz="2400" b="1" dirty="0"/>
              <a:t>int main()</a:t>
            </a:r>
          </a:p>
          <a:p>
            <a:pPr>
              <a:spcBef>
                <a:spcPct val="0"/>
              </a:spcBef>
              <a:buFontTx/>
              <a:buNone/>
              <a:defRPr/>
            </a:pPr>
            <a:r>
              <a:rPr lang="en-US" altLang="zh-CN" sz="2400" b="1" dirty="0"/>
              <a:t>{</a:t>
            </a:r>
          </a:p>
          <a:p>
            <a:pPr>
              <a:spcBef>
                <a:spcPct val="0"/>
              </a:spcBef>
              <a:buFontTx/>
              <a:buNone/>
              <a:defRPr/>
            </a:pPr>
            <a:r>
              <a:rPr lang="en-US" altLang="zh-CN" sz="2400" b="1" dirty="0"/>
              <a:t>    int score[4];  </a:t>
            </a:r>
          </a:p>
          <a:p>
            <a:pPr>
              <a:spcBef>
                <a:spcPct val="0"/>
              </a:spcBef>
              <a:buFontTx/>
              <a:buNone/>
              <a:defRPr/>
            </a:pPr>
            <a:r>
              <a:rPr lang="zh-CN" altLang="en-US" sz="2400" b="1" dirty="0"/>
              <a:t>    </a:t>
            </a:r>
            <a:r>
              <a:rPr lang="en-US" altLang="zh-CN" sz="2400" b="1" dirty="0"/>
              <a:t>……</a:t>
            </a:r>
          </a:p>
          <a:p>
            <a:pPr>
              <a:spcBef>
                <a:spcPct val="0"/>
              </a:spcBef>
              <a:buFontTx/>
              <a:buNone/>
              <a:defRPr/>
            </a:pPr>
            <a:r>
              <a:rPr lang="en-US" altLang="zh-CN" sz="2400" b="1" dirty="0"/>
              <a:t>}</a:t>
            </a:r>
          </a:p>
          <a:p>
            <a:pPr>
              <a:spcBef>
                <a:spcPct val="0"/>
              </a:spcBef>
              <a:buFontTx/>
              <a:buNone/>
              <a:defRPr/>
            </a:pPr>
            <a:r>
              <a:rPr lang="zh-CN" altLang="en-US" sz="2400" b="1" dirty="0"/>
              <a:t>  </a:t>
            </a:r>
          </a:p>
        </p:txBody>
      </p:sp>
      <p:sp>
        <p:nvSpPr>
          <p:cNvPr id="133199" name="Text Box 79"/>
          <p:cNvSpPr txBox="1">
            <a:spLocks noChangeArrowheads="1"/>
          </p:cNvSpPr>
          <p:nvPr/>
        </p:nvSpPr>
        <p:spPr bwMode="auto">
          <a:xfrm>
            <a:off x="2916238" y="3444875"/>
            <a:ext cx="2663825" cy="2419124"/>
          </a:xfrm>
          <a:prstGeom prst="rect">
            <a:avLst/>
          </a:prstGeom>
          <a:solidFill>
            <a:schemeClr val="folHlink"/>
          </a:solidFill>
          <a:ln>
            <a:noFill/>
          </a:ln>
          <a:effectLst>
            <a:prstShdw prst="shdw18" dist="17961" dir="13500000">
              <a:schemeClr val="folHlink">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0"/>
              </a:spcBef>
              <a:buFontTx/>
              <a:buNone/>
              <a:defRPr/>
            </a:pPr>
            <a:r>
              <a:rPr lang="zh-CN" altLang="en-US" sz="2400" b="1" dirty="0"/>
              <a:t>或者</a:t>
            </a:r>
          </a:p>
          <a:p>
            <a:pPr>
              <a:spcBef>
                <a:spcPct val="0"/>
              </a:spcBef>
              <a:buFontTx/>
              <a:buNone/>
              <a:defRPr/>
            </a:pPr>
            <a:r>
              <a:rPr lang="en-US" altLang="zh-CN" sz="2400" b="1" dirty="0"/>
              <a:t>#define SIZE 4</a:t>
            </a:r>
          </a:p>
          <a:p>
            <a:pPr>
              <a:spcBef>
                <a:spcPct val="0"/>
              </a:spcBef>
              <a:buFontTx/>
              <a:buNone/>
              <a:defRPr/>
            </a:pPr>
            <a:r>
              <a:rPr lang="en-US" altLang="zh-CN" sz="2400" b="1" dirty="0"/>
              <a:t>int main()</a:t>
            </a:r>
          </a:p>
          <a:p>
            <a:pPr>
              <a:spcBef>
                <a:spcPct val="0"/>
              </a:spcBef>
              <a:buFontTx/>
              <a:buNone/>
              <a:defRPr/>
            </a:pPr>
            <a:r>
              <a:rPr lang="en-US" altLang="zh-CN" sz="2400" b="1" dirty="0"/>
              <a:t>{ </a:t>
            </a:r>
          </a:p>
          <a:p>
            <a:pPr>
              <a:spcBef>
                <a:spcPct val="0"/>
              </a:spcBef>
              <a:buFontTx/>
              <a:buNone/>
              <a:defRPr/>
            </a:pPr>
            <a:r>
              <a:rPr lang="en-US" altLang="zh-CN" sz="2400" b="1" dirty="0"/>
              <a:t>     int score[SIZE]; </a:t>
            </a:r>
          </a:p>
          <a:p>
            <a:pPr>
              <a:spcBef>
                <a:spcPct val="0"/>
              </a:spcBef>
              <a:buFontTx/>
              <a:buNone/>
              <a:defRPr/>
            </a:pPr>
            <a:r>
              <a:rPr lang="en-US" altLang="zh-CN" sz="2400" b="1" dirty="0"/>
              <a:t>     …… </a:t>
            </a:r>
          </a:p>
          <a:p>
            <a:pPr>
              <a:spcBef>
                <a:spcPct val="0"/>
              </a:spcBef>
              <a:buFontTx/>
              <a:buNone/>
              <a:defRPr/>
            </a:pPr>
            <a:r>
              <a:rPr lang="en-US" altLang="zh-CN" sz="2400" b="1" dirty="0"/>
              <a:t> }</a:t>
            </a:r>
            <a:endParaRPr lang="zh-CN" altLang="en-U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3200"/>
                                        </p:tgtEl>
                                        <p:attrNameLst>
                                          <p:attrName>style.visibility</p:attrName>
                                        </p:attrNameLst>
                                      </p:cBhvr>
                                      <p:to>
                                        <p:strVal val="visible"/>
                                      </p:to>
                                    </p:set>
                                    <p:animEffect transition="in" filter="dissolve">
                                      <p:cBhvr>
                                        <p:cTn id="7" dur="500"/>
                                        <p:tgtEl>
                                          <p:spTgt spid="133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ym typeface="+mn-ea"/>
              </a:rPr>
              <a:t>6.3.1</a:t>
            </a:r>
            <a:r>
              <a:rPr lang="zh-CN" altLang="en-US" b="1">
                <a:sym typeface="+mn-ea"/>
              </a:rPr>
              <a:t> </a:t>
            </a:r>
            <a:r>
              <a:rPr lang="zh-CN" altLang="en-US" b="1" u="sng">
                <a:sym typeface="+mn-ea"/>
              </a:rPr>
              <a:t>数组的声明</a:t>
            </a:r>
            <a:endParaRPr lang="zh-CN" altLang="en-US"/>
          </a:p>
        </p:txBody>
      </p:sp>
      <p:sp>
        <p:nvSpPr>
          <p:cNvPr id="3" name="内容占位符 2"/>
          <p:cNvSpPr>
            <a:spLocks noGrp="1"/>
          </p:cNvSpPr>
          <p:nvPr>
            <p:ph idx="1"/>
          </p:nvPr>
        </p:nvSpPr>
        <p:spPr/>
        <p:txBody>
          <a:bodyPr/>
          <a:lstStyle/>
          <a:p>
            <a:pPr marL="0" indent="0">
              <a:buNone/>
            </a:pPr>
            <a:r>
              <a:rPr lang="zh-CN" altLang="en-US" b="1" dirty="0">
                <a:sym typeface="+mn-ea"/>
              </a:rPr>
              <a:t>变量长度定义数组的声明：</a:t>
            </a:r>
            <a:r>
              <a:rPr lang="zh-CN" altLang="en-US" b="1" dirty="0">
                <a:solidFill>
                  <a:srgbClr val="FF0000"/>
                </a:solidFill>
                <a:sym typeface="+mn-ea"/>
              </a:rPr>
              <a:t>（</a:t>
            </a:r>
            <a:r>
              <a:rPr lang="en-US" altLang="zh-CN" dirty="0" err="1">
                <a:solidFill>
                  <a:srgbClr val="FF0000"/>
                </a:solidFill>
                <a:sym typeface="+mn-ea"/>
              </a:rPr>
              <a:t>C99</a:t>
            </a:r>
            <a:r>
              <a:rPr lang="zh-CN" altLang="en-US" dirty="0">
                <a:solidFill>
                  <a:srgbClr val="FF0000"/>
                </a:solidFill>
                <a:sym typeface="+mn-ea"/>
              </a:rPr>
              <a:t>标准）</a:t>
            </a:r>
          </a:p>
          <a:p>
            <a:pPr marL="0" indent="0">
              <a:buNone/>
            </a:pPr>
            <a:r>
              <a:rPr lang="zh-CN" altLang="en-US" dirty="0"/>
              <a:t>   允许声明变长数组</a:t>
            </a:r>
          </a:p>
          <a:p>
            <a:pPr marL="0" indent="0">
              <a:buNone/>
            </a:pPr>
            <a:r>
              <a:rPr lang="zh-CN" altLang="en-US" b="1" dirty="0">
                <a:solidFill>
                  <a:schemeClr val="accent2"/>
                </a:solidFill>
                <a:sym typeface="+mn-ea"/>
              </a:rPr>
              <a:t>   元素类型名  数组名[整型表达式]；</a:t>
            </a:r>
          </a:p>
          <a:p>
            <a:pPr marL="457200" lvl="1" indent="0">
              <a:buNone/>
            </a:pPr>
            <a:r>
              <a:rPr lang="zh-CN" altLang="en-US" dirty="0"/>
              <a:t>	int n;</a:t>
            </a:r>
          </a:p>
          <a:p>
            <a:pPr marL="457200" lvl="1" indent="0">
              <a:buNone/>
            </a:pPr>
            <a:r>
              <a:rPr lang="zh-CN" altLang="en-US" dirty="0"/>
              <a:t>	scanf("%d",&amp;n);</a:t>
            </a:r>
          </a:p>
          <a:p>
            <a:pPr marL="457200" lvl="1" indent="0">
              <a:buNone/>
            </a:pPr>
            <a:r>
              <a:rPr lang="zh-CN" altLang="en-US" dirty="0"/>
              <a:t>	int score[n];</a:t>
            </a:r>
            <a:r>
              <a:rPr lang="en-US" altLang="zh-CN" dirty="0"/>
              <a:t>//</a:t>
            </a:r>
            <a:r>
              <a:rPr lang="zh-CN" altLang="en-US" dirty="0">
                <a:solidFill>
                  <a:srgbClr val="FF0000"/>
                </a:solidFill>
              </a:rPr>
              <a:t>数组长度为变量</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6" name="Text Box 4"/>
          <p:cNvSpPr txBox="1">
            <a:spLocks noChangeArrowheads="1"/>
          </p:cNvSpPr>
          <p:nvPr/>
        </p:nvSpPr>
        <p:spPr bwMode="auto">
          <a:xfrm>
            <a:off x="250825" y="1196975"/>
            <a:ext cx="5761038" cy="2973122"/>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57200" indent="-457200">
              <a:spcBef>
                <a:spcPct val="0"/>
              </a:spcBef>
              <a:defRPr sz="2400">
                <a:solidFill>
                  <a:schemeClr val="tx1"/>
                </a:solidFill>
                <a:latin typeface="Times New Roman" panose="02020603050405020304" pitchFamily="18" charset="0"/>
              </a:defRPr>
            </a:lvl1pPr>
            <a:lvl2pPr marL="914400" indent="-457200">
              <a:spcBef>
                <a:spcPct val="0"/>
              </a:spcBef>
              <a:defRPr sz="2400">
                <a:solidFill>
                  <a:schemeClr val="tx1"/>
                </a:solidFill>
                <a:latin typeface="Times New Roman" panose="02020603050405020304" pitchFamily="18" charset="0"/>
              </a:defRPr>
            </a:lvl2pPr>
            <a:lvl3pPr marL="1371600" indent="-457200">
              <a:spcBef>
                <a:spcPct val="0"/>
              </a:spcBef>
              <a:defRPr sz="2400">
                <a:solidFill>
                  <a:schemeClr val="tx1"/>
                </a:solidFill>
                <a:latin typeface="Times New Roman" panose="02020603050405020304" pitchFamily="18" charset="0"/>
              </a:defRPr>
            </a:lvl3pPr>
            <a:lvl4pPr marL="1828800" indent="-457200">
              <a:spcBef>
                <a:spcPct val="0"/>
              </a:spcBef>
              <a:defRPr sz="2400">
                <a:solidFill>
                  <a:schemeClr val="tx1"/>
                </a:solidFill>
                <a:latin typeface="Times New Roman" panose="02020603050405020304" pitchFamily="18" charset="0"/>
              </a:defRPr>
            </a:lvl4pPr>
            <a:lvl5pPr marL="2286000" indent="-457200">
              <a:spcBef>
                <a:spcPct val="0"/>
              </a:spcBef>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buFontTx/>
              <a:buAutoNum type="arabicPeriod"/>
              <a:defRPr/>
            </a:pPr>
            <a:r>
              <a:rPr lang="zh-CN" altLang="en-US" b="1" dirty="0"/>
              <a:t>数组中各元素的类型相同；</a:t>
            </a:r>
          </a:p>
          <a:p>
            <a:pPr marL="0" indent="0">
              <a:buNone/>
              <a:defRPr/>
            </a:pPr>
            <a:r>
              <a:rPr lang="en-US" altLang="zh-CN" b="1" dirty="0"/>
              <a:t>2.  C</a:t>
            </a:r>
            <a:r>
              <a:rPr lang="zh-CN" altLang="en-US" b="1" dirty="0"/>
              <a:t>语言中数组下标</a:t>
            </a:r>
            <a:r>
              <a:rPr lang="zh-CN" altLang="en-US" b="1" dirty="0">
                <a:solidFill>
                  <a:schemeClr val="accent2"/>
                </a:solidFill>
              </a:rPr>
              <a:t>从</a:t>
            </a:r>
            <a:r>
              <a:rPr lang="en-US" altLang="zh-CN" b="1" dirty="0">
                <a:solidFill>
                  <a:schemeClr val="accent2"/>
                </a:solidFill>
              </a:rPr>
              <a:t>0</a:t>
            </a:r>
            <a:r>
              <a:rPr lang="zh-CN" altLang="en-US" b="1" dirty="0">
                <a:solidFill>
                  <a:schemeClr val="accent2"/>
                </a:solidFill>
              </a:rPr>
              <a:t>开始</a:t>
            </a:r>
            <a:r>
              <a:rPr lang="zh-CN" altLang="en-US" b="1" dirty="0"/>
              <a:t>，</a:t>
            </a:r>
            <a:r>
              <a:rPr lang="en-US" altLang="zh-CN" b="1" dirty="0"/>
              <a:t>score[0]</a:t>
            </a:r>
            <a:r>
              <a:rPr lang="zh-CN" altLang="en-US" b="1" dirty="0"/>
              <a:t>表示第</a:t>
            </a:r>
            <a:r>
              <a:rPr lang="en-US" altLang="zh-CN" b="1" dirty="0"/>
              <a:t>1</a:t>
            </a:r>
            <a:r>
              <a:rPr lang="zh-CN" altLang="en-US" b="1" dirty="0"/>
              <a:t>个数组元素，</a:t>
            </a:r>
            <a:r>
              <a:rPr lang="en-US" altLang="zh-CN" b="1" dirty="0"/>
              <a:t>score[</a:t>
            </a:r>
            <a:r>
              <a:rPr lang="en-US" altLang="zh-CN" b="1" dirty="0" err="1"/>
              <a:t>i</a:t>
            </a:r>
            <a:r>
              <a:rPr lang="en-US" altLang="zh-CN" b="1" dirty="0"/>
              <a:t>]</a:t>
            </a:r>
            <a:r>
              <a:rPr lang="zh-CN" altLang="en-US" b="1" dirty="0"/>
              <a:t>表示第</a:t>
            </a:r>
            <a:r>
              <a:rPr lang="en-US" altLang="zh-CN" b="1" dirty="0" err="1"/>
              <a:t>i+1</a:t>
            </a:r>
            <a:r>
              <a:rPr lang="zh-CN" altLang="en-US" b="1" dirty="0"/>
              <a:t>个数组元素</a:t>
            </a:r>
            <a:r>
              <a:rPr lang="en-US" altLang="zh-CN" b="1" dirty="0"/>
              <a:t>(</a:t>
            </a:r>
            <a:r>
              <a:rPr lang="en-US" altLang="zh-CN" b="1" dirty="0" err="1"/>
              <a:t>i</a:t>
            </a:r>
            <a:r>
              <a:rPr lang="zh-CN" altLang="en-US" b="1" dirty="0"/>
              <a:t>是变量</a:t>
            </a:r>
            <a:r>
              <a:rPr lang="en-US" altLang="zh-CN" b="1" dirty="0"/>
              <a:t>)</a:t>
            </a:r>
            <a:r>
              <a:rPr lang="zh-CN" altLang="en-US" b="1" dirty="0"/>
              <a:t>。</a:t>
            </a:r>
          </a:p>
          <a:p>
            <a:pPr>
              <a:spcBef>
                <a:spcPct val="20000"/>
              </a:spcBef>
              <a:buFontTx/>
              <a:buNone/>
              <a:defRPr/>
            </a:pPr>
            <a:r>
              <a:rPr lang="en-US" altLang="zh-CN" b="1" dirty="0"/>
              <a:t>3. </a:t>
            </a:r>
            <a:r>
              <a:rPr lang="zh-CN" altLang="en-US" b="1" dirty="0"/>
              <a:t>允许在同一个类型说明中，说明多个数组和多个变量。例如：</a:t>
            </a:r>
          </a:p>
          <a:p>
            <a:pPr>
              <a:spcBef>
                <a:spcPct val="20000"/>
              </a:spcBef>
              <a:buFontTx/>
              <a:buNone/>
              <a:defRPr/>
            </a:pPr>
            <a:r>
              <a:rPr lang="en-US" altLang="zh-CN" b="1" dirty="0"/>
              <a:t>       </a:t>
            </a:r>
            <a:r>
              <a:rPr lang="en-US" altLang="zh-CN" b="1" dirty="0" err="1">
                <a:solidFill>
                  <a:schemeClr val="accent2"/>
                </a:solidFill>
              </a:rPr>
              <a:t>int</a:t>
            </a:r>
            <a:r>
              <a:rPr lang="en-US" altLang="zh-CN" b="1" dirty="0">
                <a:solidFill>
                  <a:schemeClr val="accent2"/>
                </a:solidFill>
              </a:rPr>
              <a:t> </a:t>
            </a:r>
            <a:r>
              <a:rPr lang="en-US" altLang="zh-CN" b="1" dirty="0" err="1">
                <a:solidFill>
                  <a:schemeClr val="accent2"/>
                </a:solidFill>
              </a:rPr>
              <a:t>num</a:t>
            </a:r>
            <a:r>
              <a:rPr lang="en-US" altLang="zh-CN" b="1" dirty="0">
                <a:solidFill>
                  <a:schemeClr val="accent2"/>
                </a:solidFill>
              </a:rPr>
              <a:t>, students[150],  score[4];</a:t>
            </a:r>
          </a:p>
          <a:p>
            <a:pPr>
              <a:spcBef>
                <a:spcPct val="20000"/>
              </a:spcBef>
              <a:buFontTx/>
              <a:buNone/>
              <a:defRPr/>
            </a:pPr>
            <a:r>
              <a:rPr lang="zh-CN" altLang="en-US" b="1" dirty="0"/>
              <a:t>      但注意数组名不能和其他变量名相同。</a:t>
            </a:r>
          </a:p>
        </p:txBody>
      </p:sp>
      <p:sp>
        <p:nvSpPr>
          <p:cNvPr id="15364" name="Rectangle 40"/>
          <p:cNvSpPr>
            <a:spLocks noGrp="1" noChangeArrowheads="1"/>
          </p:cNvSpPr>
          <p:nvPr>
            <p:ph type="title"/>
          </p:nvPr>
        </p:nvSpPr>
        <p:spPr>
          <a:noFill/>
        </p:spPr>
        <p:txBody>
          <a:bodyPr/>
          <a:lstStyle/>
          <a:p>
            <a:pPr eaLnBrk="1" hangingPunct="1"/>
            <a:r>
              <a:rPr lang="en-US" altLang="zh-CN" b="1"/>
              <a:t>6.3.1</a:t>
            </a:r>
            <a:r>
              <a:rPr lang="zh-CN" altLang="en-US" b="1"/>
              <a:t> </a:t>
            </a:r>
            <a:r>
              <a:rPr lang="zh-CN" altLang="en-US" b="1" u="sng"/>
              <a:t>数组的声明</a:t>
            </a:r>
            <a:endParaRPr lang="zh-CN" altLang="en-US" b="1"/>
          </a:p>
        </p:txBody>
      </p:sp>
      <p:sp>
        <p:nvSpPr>
          <p:cNvPr id="15365" name="Rectangle 44"/>
          <p:cNvSpPr>
            <a:spLocks noChangeArrowheads="1"/>
          </p:cNvSpPr>
          <p:nvPr/>
        </p:nvSpPr>
        <p:spPr bwMode="auto">
          <a:xfrm>
            <a:off x="8496300" y="1577975"/>
            <a:ext cx="11160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2000H</a:t>
            </a:r>
            <a:endParaRPr lang="zh-CN" altLang="en-US" sz="1600" b="1"/>
          </a:p>
        </p:txBody>
      </p:sp>
      <p:grpSp>
        <p:nvGrpSpPr>
          <p:cNvPr id="38" name="Group 80"/>
          <p:cNvGrpSpPr/>
          <p:nvPr/>
        </p:nvGrpSpPr>
        <p:grpSpPr bwMode="auto">
          <a:xfrm>
            <a:off x="6046788" y="1211263"/>
            <a:ext cx="3065462" cy="2938462"/>
            <a:chOff x="3605" y="1521"/>
            <a:chExt cx="1931" cy="1851"/>
          </a:xfrm>
        </p:grpSpPr>
        <p:sp>
          <p:nvSpPr>
            <p:cNvPr id="15367" name="Rectangle 47"/>
            <p:cNvSpPr>
              <a:spLocks noChangeArrowheads="1"/>
            </p:cNvSpPr>
            <p:nvPr/>
          </p:nvSpPr>
          <p:spPr bwMode="auto">
            <a:xfrm>
              <a:off x="4105" y="1755"/>
              <a:ext cx="996" cy="39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5368" name="Rectangle 50"/>
            <p:cNvSpPr>
              <a:spLocks noChangeArrowheads="1"/>
            </p:cNvSpPr>
            <p:nvPr/>
          </p:nvSpPr>
          <p:spPr bwMode="auto">
            <a:xfrm>
              <a:off x="5148" y="3022"/>
              <a:ext cx="38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200CH</a:t>
              </a:r>
              <a:endParaRPr lang="en-US" altLang="zh-CN" sz="1600" b="1"/>
            </a:p>
          </p:txBody>
        </p:sp>
        <p:sp>
          <p:nvSpPr>
            <p:cNvPr id="15369" name="Rectangle 53"/>
            <p:cNvSpPr>
              <a:spLocks noChangeArrowheads="1"/>
            </p:cNvSpPr>
            <p:nvPr/>
          </p:nvSpPr>
          <p:spPr bwMode="auto">
            <a:xfrm>
              <a:off x="5152" y="2569"/>
              <a:ext cx="35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2008H</a:t>
              </a:r>
              <a:endParaRPr lang="en-US" altLang="zh-CN" sz="1600" b="1"/>
            </a:p>
          </p:txBody>
        </p:sp>
        <p:sp>
          <p:nvSpPr>
            <p:cNvPr id="15370" name="Rectangle 54"/>
            <p:cNvSpPr>
              <a:spLocks noChangeArrowheads="1"/>
            </p:cNvSpPr>
            <p:nvPr/>
          </p:nvSpPr>
          <p:spPr bwMode="auto">
            <a:xfrm>
              <a:off x="5148" y="2115"/>
              <a:ext cx="35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2004H</a:t>
              </a:r>
              <a:endParaRPr lang="en-US" altLang="zh-CN" sz="1600" b="1"/>
            </a:p>
          </p:txBody>
        </p:sp>
        <p:sp>
          <p:nvSpPr>
            <p:cNvPr id="15371" name="Rectangle 55"/>
            <p:cNvSpPr>
              <a:spLocks noChangeArrowheads="1"/>
            </p:cNvSpPr>
            <p:nvPr/>
          </p:nvSpPr>
          <p:spPr bwMode="auto">
            <a:xfrm>
              <a:off x="3605" y="1769"/>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score[0]</a:t>
              </a:r>
              <a:endParaRPr lang="en-US" altLang="zh-CN" sz="1600" b="1"/>
            </a:p>
          </p:txBody>
        </p:sp>
        <p:sp>
          <p:nvSpPr>
            <p:cNvPr id="15372" name="Rectangle 57"/>
            <p:cNvSpPr>
              <a:spLocks noChangeArrowheads="1"/>
            </p:cNvSpPr>
            <p:nvPr/>
          </p:nvSpPr>
          <p:spPr bwMode="auto">
            <a:xfrm>
              <a:off x="4105" y="1755"/>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5373" name="Text Box 60"/>
            <p:cNvSpPr txBox="1">
              <a:spLocks noChangeArrowheads="1"/>
            </p:cNvSpPr>
            <p:nvPr/>
          </p:nvSpPr>
          <p:spPr bwMode="auto">
            <a:xfrm>
              <a:off x="4150" y="1521"/>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000099"/>
                  </a:solidFill>
                </a:rPr>
                <a:t>存储空间</a:t>
              </a:r>
            </a:p>
          </p:txBody>
        </p:sp>
        <p:sp>
          <p:nvSpPr>
            <p:cNvPr id="15374" name="Rectangle 62"/>
            <p:cNvSpPr>
              <a:spLocks noChangeArrowheads="1"/>
            </p:cNvSpPr>
            <p:nvPr/>
          </p:nvSpPr>
          <p:spPr bwMode="auto">
            <a:xfrm>
              <a:off x="4104" y="215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5375" name="Rectangle 66"/>
            <p:cNvSpPr>
              <a:spLocks noChangeArrowheads="1"/>
            </p:cNvSpPr>
            <p:nvPr/>
          </p:nvSpPr>
          <p:spPr bwMode="auto">
            <a:xfrm>
              <a:off x="4104" y="2566"/>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5376" name="Rectangle 70"/>
            <p:cNvSpPr>
              <a:spLocks noChangeArrowheads="1"/>
            </p:cNvSpPr>
            <p:nvPr/>
          </p:nvSpPr>
          <p:spPr bwMode="auto">
            <a:xfrm>
              <a:off x="4104" y="2974"/>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5377" name="Rectangle 75"/>
            <p:cNvSpPr>
              <a:spLocks noChangeArrowheads="1"/>
            </p:cNvSpPr>
            <p:nvPr/>
          </p:nvSpPr>
          <p:spPr bwMode="auto">
            <a:xfrm>
              <a:off x="3605" y="2160"/>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score[1]</a:t>
              </a:r>
              <a:endParaRPr lang="en-US" altLang="zh-CN" sz="1600" b="1"/>
            </a:p>
          </p:txBody>
        </p:sp>
        <p:sp>
          <p:nvSpPr>
            <p:cNvPr id="15378" name="Rectangle 76"/>
            <p:cNvSpPr>
              <a:spLocks noChangeArrowheads="1"/>
            </p:cNvSpPr>
            <p:nvPr/>
          </p:nvSpPr>
          <p:spPr bwMode="auto">
            <a:xfrm>
              <a:off x="3615" y="2569"/>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score[2]</a:t>
              </a:r>
              <a:endParaRPr lang="en-US" altLang="zh-CN" sz="1600" b="1"/>
            </a:p>
          </p:txBody>
        </p:sp>
        <p:sp>
          <p:nvSpPr>
            <p:cNvPr id="15379" name="Rectangle 77"/>
            <p:cNvSpPr>
              <a:spLocks noChangeArrowheads="1"/>
            </p:cNvSpPr>
            <p:nvPr/>
          </p:nvSpPr>
          <p:spPr bwMode="auto">
            <a:xfrm>
              <a:off x="3605" y="3021"/>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score[3]</a:t>
              </a:r>
              <a:endParaRPr lang="en-US" altLang="zh-CN" sz="1600" b="1"/>
            </a:p>
          </p:txBody>
        </p:sp>
      </p:grpSp>
      <p:sp>
        <p:nvSpPr>
          <p:cNvPr id="2" name="TextBox 1"/>
          <p:cNvSpPr txBox="1"/>
          <p:nvPr/>
        </p:nvSpPr>
        <p:spPr>
          <a:xfrm>
            <a:off x="688813" y="4509120"/>
            <a:ext cx="5323050" cy="1938992"/>
          </a:xfrm>
          <a:prstGeom prst="rect">
            <a:avLst/>
          </a:prstGeom>
          <a:solidFill>
            <a:schemeClr val="accent3">
              <a:lumMod val="85000"/>
            </a:schemeClr>
          </a:solid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数组元素的引用：</a:t>
            </a:r>
          </a:p>
          <a:p>
            <a:pPr>
              <a:buNone/>
            </a:pPr>
            <a:r>
              <a:rPr lang="zh-CN" altLang="en-US" b="1" dirty="0">
                <a:latin typeface="微软雅黑" panose="020B0503020204020204" pitchFamily="34" charset="-122"/>
                <a:ea typeface="微软雅黑" panose="020B0503020204020204" pitchFamily="34" charset="-122"/>
              </a:rPr>
              <a:t>     数组名</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下标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，如</a:t>
            </a:r>
            <a:r>
              <a:rPr lang="en-US" altLang="zh-CN" b="1" dirty="0">
                <a:latin typeface="微软雅黑" panose="020B0503020204020204" pitchFamily="34" charset="-122"/>
                <a:ea typeface="微软雅黑" panose="020B0503020204020204" pitchFamily="34" charset="-122"/>
              </a:rPr>
              <a:t>score[0];</a:t>
            </a:r>
          </a:p>
          <a:p>
            <a:r>
              <a:rPr lang="zh-CN" altLang="en-US" b="1" dirty="0">
                <a:latin typeface="微软雅黑" panose="020B0503020204020204" pitchFamily="34" charset="-122"/>
                <a:ea typeface="微软雅黑" panose="020B0503020204020204" pitchFamily="34" charset="-122"/>
              </a:rPr>
              <a:t>下标必须是整数或者整数表达式。注意：表达式中的操作数可以是常量、变量、函数调用或表达式。</a:t>
            </a:r>
          </a:p>
          <a:p>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zh-CN" b="1"/>
              <a:t>6.3.2</a:t>
            </a:r>
            <a:r>
              <a:rPr lang="zh-CN" altLang="en-US" b="1"/>
              <a:t> </a:t>
            </a:r>
            <a:r>
              <a:rPr lang="zh-CN" altLang="en-US" b="1" u="sng"/>
              <a:t>数组的初始化</a:t>
            </a:r>
            <a:endParaRPr lang="en-US" altLang="zh-CN" b="1" u="sng"/>
          </a:p>
        </p:txBody>
      </p:sp>
      <p:sp>
        <p:nvSpPr>
          <p:cNvPr id="16388" name="Rectangle 3"/>
          <p:cNvSpPr>
            <a:spLocks noGrp="1" noChangeArrowheads="1"/>
          </p:cNvSpPr>
          <p:nvPr>
            <p:ph type="body" idx="1"/>
          </p:nvPr>
        </p:nvSpPr>
        <p:spPr>
          <a:xfrm>
            <a:off x="-107950" y="1409700"/>
            <a:ext cx="8893175" cy="4611688"/>
          </a:xfrm>
        </p:spPr>
        <p:txBody>
          <a:bodyPr/>
          <a:lstStyle/>
          <a:p>
            <a:pPr lvl="1" eaLnBrk="1" hangingPunct="1">
              <a:buFontTx/>
              <a:buNone/>
            </a:pPr>
            <a:r>
              <a:rPr lang="zh-CN" altLang="en-US" b="1"/>
              <a:t>二</a:t>
            </a:r>
            <a:r>
              <a:rPr lang="en-US" altLang="zh-CN" b="1"/>
              <a:t>. </a:t>
            </a:r>
            <a:r>
              <a:rPr lang="zh-CN" altLang="en-US" b="1"/>
              <a:t>数组的初始化</a:t>
            </a:r>
            <a:endParaRPr lang="en-US" altLang="zh-CN" b="1"/>
          </a:p>
          <a:p>
            <a:pPr lvl="1" eaLnBrk="1" hangingPunct="1">
              <a:buFontTx/>
              <a:buNone/>
            </a:pPr>
            <a:r>
              <a:rPr lang="en-US" altLang="zh-CN" b="1"/>
              <a:t> C</a:t>
            </a:r>
            <a:r>
              <a:rPr lang="zh-CN" altLang="en-US" b="1"/>
              <a:t>语言中可利用声明语句对数组元素的值进行初始化</a:t>
            </a:r>
            <a:r>
              <a:rPr lang="zh-CN" altLang="en-US"/>
              <a:t>:</a:t>
            </a:r>
          </a:p>
          <a:p>
            <a:pPr eaLnBrk="1" hangingPunct="1">
              <a:buFontTx/>
              <a:buNone/>
            </a:pPr>
            <a:r>
              <a:rPr lang="zh-CN" altLang="en-US" b="1">
                <a:latin typeface="System" charset="-122"/>
                <a:ea typeface="System" charset="-122"/>
              </a:rPr>
              <a:t>	  </a:t>
            </a:r>
            <a:r>
              <a:rPr lang="zh-CN" altLang="en-US" sz="2600" b="1">
                <a:solidFill>
                  <a:schemeClr val="accent2"/>
                </a:solidFill>
                <a:latin typeface="System" charset="-122"/>
                <a:ea typeface="System" charset="-122"/>
              </a:rPr>
              <a:t>元素类型名 数组名[整型表达式]={值，值</a:t>
            </a:r>
            <a:r>
              <a:rPr lang="zh-CN" altLang="en-US" sz="2600" b="1">
                <a:solidFill>
                  <a:schemeClr val="accent2"/>
                </a:solidFill>
                <a:latin typeface="宋体" panose="02010600030101010101" pitchFamily="2" charset="-122"/>
                <a:ea typeface="System" charset="-122"/>
              </a:rPr>
              <a:t>……</a:t>
            </a:r>
            <a:r>
              <a:rPr lang="zh-CN" altLang="en-US" sz="2600" b="1">
                <a:solidFill>
                  <a:schemeClr val="accent2"/>
                </a:solidFill>
                <a:latin typeface="System" charset="-122"/>
                <a:ea typeface="System" charset="-122"/>
              </a:rPr>
              <a:t>值}；</a:t>
            </a:r>
            <a:endParaRPr lang="zh-CN" altLang="en-US" sz="2600">
              <a:solidFill>
                <a:schemeClr val="accent2"/>
              </a:solidFill>
            </a:endParaRPr>
          </a:p>
          <a:p>
            <a:pPr lvl="1" eaLnBrk="1" hangingPunct="1">
              <a:buFontTx/>
              <a:buNone/>
            </a:pPr>
            <a:r>
              <a:rPr lang="zh-CN" altLang="en-US" b="1"/>
              <a:t>例如：</a:t>
            </a:r>
          </a:p>
          <a:p>
            <a:pPr lvl="1" eaLnBrk="1" hangingPunct="1">
              <a:buFontTx/>
              <a:buNone/>
            </a:pPr>
            <a:r>
              <a:rPr lang="en-US" altLang="zh-CN" b="1"/>
              <a:t>    int score[4]={65, 78, 54, 91};</a:t>
            </a:r>
          </a:p>
          <a:p>
            <a:pPr lvl="1" eaLnBrk="1" hangingPunct="1">
              <a:buFontTx/>
              <a:buNone/>
            </a:pPr>
            <a:endParaRPr lang="en-US" altLang="zh-CN" b="1"/>
          </a:p>
          <a:p>
            <a:pPr lvl="1" eaLnBrk="1" hangingPunct="1">
              <a:buFontTx/>
              <a:buNone/>
            </a:pPr>
            <a:r>
              <a:rPr lang="zh-CN" altLang="en-US" b="1">
                <a:latin typeface="System" charset="-122"/>
                <a:ea typeface="System" charset="-122"/>
              </a:rPr>
              <a:t> </a:t>
            </a:r>
            <a:endParaRPr lang="zh-CN" altLang="en-US"/>
          </a:p>
        </p:txBody>
      </p:sp>
      <p:sp>
        <p:nvSpPr>
          <p:cNvPr id="208900" name="Text Box 4"/>
          <p:cNvSpPr txBox="1">
            <a:spLocks noChangeArrowheads="1"/>
          </p:cNvSpPr>
          <p:nvPr/>
        </p:nvSpPr>
        <p:spPr bwMode="auto">
          <a:xfrm>
            <a:off x="0" y="4005263"/>
            <a:ext cx="4716463" cy="201453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1">
              <a:buFontTx/>
              <a:buNone/>
              <a:defRPr/>
            </a:pPr>
            <a:r>
              <a:rPr lang="zh-CN" altLang="en-US" sz="2800" b="1"/>
              <a:t>数组初始化是在编译阶段进行的。这样将减少运行时间，提高效率。</a:t>
            </a:r>
            <a:endParaRPr lang="en-US" altLang="zh-CN" sz="2800"/>
          </a:p>
          <a:p>
            <a:pPr>
              <a:spcBef>
                <a:spcPct val="50000"/>
              </a:spcBef>
              <a:buFontTx/>
              <a:buNone/>
              <a:defRPr/>
            </a:pPr>
            <a:endParaRPr lang="zh-CN" altLang="en-US" sz="2800" b="1"/>
          </a:p>
        </p:txBody>
      </p:sp>
      <p:grpSp>
        <p:nvGrpSpPr>
          <p:cNvPr id="16390" name="Group 46"/>
          <p:cNvGrpSpPr/>
          <p:nvPr/>
        </p:nvGrpSpPr>
        <p:grpSpPr bwMode="auto">
          <a:xfrm>
            <a:off x="5219700" y="2781300"/>
            <a:ext cx="3673475" cy="3148013"/>
            <a:chOff x="3288" y="1752"/>
            <a:chExt cx="2314" cy="1983"/>
          </a:xfrm>
        </p:grpSpPr>
        <p:sp>
          <p:nvSpPr>
            <p:cNvPr id="16391" name="Rectangle 6"/>
            <p:cNvSpPr>
              <a:spLocks noChangeArrowheads="1"/>
            </p:cNvSpPr>
            <p:nvPr/>
          </p:nvSpPr>
          <p:spPr bwMode="auto">
            <a:xfrm>
              <a:off x="4899" y="2140"/>
              <a:ext cx="70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2000H</a:t>
              </a:r>
              <a:endParaRPr lang="zh-CN" altLang="en-US" sz="1600" b="1"/>
            </a:p>
          </p:txBody>
        </p:sp>
        <p:sp>
          <p:nvSpPr>
            <p:cNvPr id="16392" name="Rectangle 11"/>
            <p:cNvSpPr>
              <a:spLocks noChangeArrowheads="1"/>
            </p:cNvSpPr>
            <p:nvPr/>
          </p:nvSpPr>
          <p:spPr bwMode="auto">
            <a:xfrm>
              <a:off x="4887" y="2969"/>
              <a:ext cx="7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2004H</a:t>
              </a:r>
              <a:endParaRPr lang="en-US" altLang="zh-CN" sz="1600" b="1"/>
            </a:p>
          </p:txBody>
        </p:sp>
        <p:grpSp>
          <p:nvGrpSpPr>
            <p:cNvPr id="16393" name="Group 45"/>
            <p:cNvGrpSpPr/>
            <p:nvPr/>
          </p:nvGrpSpPr>
          <p:grpSpPr bwMode="auto">
            <a:xfrm>
              <a:off x="3288" y="1752"/>
              <a:ext cx="1955" cy="1983"/>
              <a:chOff x="3288" y="1752"/>
              <a:chExt cx="1955" cy="1983"/>
            </a:xfrm>
          </p:grpSpPr>
          <p:sp>
            <p:nvSpPr>
              <p:cNvPr id="16394" name="Rectangle 9"/>
              <p:cNvSpPr>
                <a:spLocks noChangeArrowheads="1"/>
              </p:cNvSpPr>
              <p:nvPr/>
            </p:nvSpPr>
            <p:spPr bwMode="auto">
              <a:xfrm>
                <a:off x="3788" y="2118"/>
                <a:ext cx="996" cy="39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6395" name="Rectangle 10"/>
              <p:cNvSpPr>
                <a:spLocks noChangeArrowheads="1"/>
              </p:cNvSpPr>
              <p:nvPr/>
            </p:nvSpPr>
            <p:spPr bwMode="auto">
              <a:xfrm>
                <a:off x="4887" y="2550"/>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2002H</a:t>
                </a:r>
                <a:endParaRPr lang="en-US" altLang="zh-CN" sz="1600" b="1"/>
              </a:p>
            </p:txBody>
          </p:sp>
          <p:sp>
            <p:nvSpPr>
              <p:cNvPr id="16396" name="Rectangle 12"/>
              <p:cNvSpPr>
                <a:spLocks noChangeArrowheads="1"/>
              </p:cNvSpPr>
              <p:nvPr/>
            </p:nvSpPr>
            <p:spPr bwMode="auto">
              <a:xfrm>
                <a:off x="4887" y="3157"/>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2005H</a:t>
                </a:r>
                <a:endParaRPr lang="en-US" altLang="zh-CN" sz="1600" b="1"/>
              </a:p>
            </p:txBody>
          </p:sp>
          <p:sp>
            <p:nvSpPr>
              <p:cNvPr id="16397" name="Rectangle 13"/>
              <p:cNvSpPr>
                <a:spLocks noChangeArrowheads="1"/>
              </p:cNvSpPr>
              <p:nvPr/>
            </p:nvSpPr>
            <p:spPr bwMode="auto">
              <a:xfrm>
                <a:off x="4887" y="3548"/>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2007H</a:t>
                </a:r>
                <a:endParaRPr lang="en-US" altLang="zh-CN" sz="1600" b="1"/>
              </a:p>
            </p:txBody>
          </p:sp>
          <p:sp>
            <p:nvSpPr>
              <p:cNvPr id="16398" name="Rectangle 14"/>
              <p:cNvSpPr>
                <a:spLocks noChangeArrowheads="1"/>
              </p:cNvSpPr>
              <p:nvPr/>
            </p:nvSpPr>
            <p:spPr bwMode="auto">
              <a:xfrm>
                <a:off x="4887" y="3352"/>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2006H</a:t>
                </a:r>
                <a:endParaRPr lang="en-US" altLang="zh-CN" sz="1600" b="1"/>
              </a:p>
            </p:txBody>
          </p:sp>
          <p:sp>
            <p:nvSpPr>
              <p:cNvPr id="16399" name="Rectangle 15"/>
              <p:cNvSpPr>
                <a:spLocks noChangeArrowheads="1"/>
              </p:cNvSpPr>
              <p:nvPr/>
            </p:nvSpPr>
            <p:spPr bwMode="auto">
              <a:xfrm>
                <a:off x="4887" y="2750"/>
                <a:ext cx="35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2003H</a:t>
                </a:r>
                <a:endParaRPr lang="en-US" altLang="zh-CN" sz="1600" b="1"/>
              </a:p>
            </p:txBody>
          </p:sp>
          <p:sp>
            <p:nvSpPr>
              <p:cNvPr id="16400" name="Rectangle 16"/>
              <p:cNvSpPr>
                <a:spLocks noChangeArrowheads="1"/>
              </p:cNvSpPr>
              <p:nvPr/>
            </p:nvSpPr>
            <p:spPr bwMode="auto">
              <a:xfrm>
                <a:off x="4887" y="2341"/>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2001H</a:t>
                </a:r>
                <a:endParaRPr lang="en-US" altLang="zh-CN" sz="1600" b="1"/>
              </a:p>
            </p:txBody>
          </p:sp>
          <p:sp>
            <p:nvSpPr>
              <p:cNvPr id="16401" name="Rectangle 17"/>
              <p:cNvSpPr>
                <a:spLocks noChangeArrowheads="1"/>
              </p:cNvSpPr>
              <p:nvPr/>
            </p:nvSpPr>
            <p:spPr bwMode="auto">
              <a:xfrm>
                <a:off x="3288" y="21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score[0]</a:t>
                </a:r>
                <a:endParaRPr lang="en-US" altLang="zh-CN" sz="1600" b="1"/>
              </a:p>
            </p:txBody>
          </p:sp>
          <p:grpSp>
            <p:nvGrpSpPr>
              <p:cNvPr id="16402" name="Group 18"/>
              <p:cNvGrpSpPr/>
              <p:nvPr/>
            </p:nvGrpSpPr>
            <p:grpSpPr bwMode="auto">
              <a:xfrm>
                <a:off x="3788" y="2118"/>
                <a:ext cx="996" cy="398"/>
                <a:chOff x="2019" y="1848"/>
                <a:chExt cx="996" cy="398"/>
              </a:xfrm>
            </p:grpSpPr>
            <p:sp>
              <p:nvSpPr>
                <p:cNvPr id="16423" name="Rectangle 19"/>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6424" name="Line 20"/>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25" name="Line 21"/>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6403" name="Text Box 22"/>
              <p:cNvSpPr txBox="1">
                <a:spLocks noChangeArrowheads="1"/>
              </p:cNvSpPr>
              <p:nvPr/>
            </p:nvSpPr>
            <p:spPr bwMode="auto">
              <a:xfrm>
                <a:off x="3833" y="1752"/>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000099"/>
                    </a:solidFill>
                  </a:rPr>
                  <a:t>存储空间</a:t>
                </a:r>
              </a:p>
            </p:txBody>
          </p:sp>
          <p:grpSp>
            <p:nvGrpSpPr>
              <p:cNvPr id="16404" name="Group 23"/>
              <p:cNvGrpSpPr/>
              <p:nvPr/>
            </p:nvGrpSpPr>
            <p:grpSpPr bwMode="auto">
              <a:xfrm>
                <a:off x="3787" y="2521"/>
                <a:ext cx="996" cy="398"/>
                <a:chOff x="2019" y="1848"/>
                <a:chExt cx="996" cy="398"/>
              </a:xfrm>
            </p:grpSpPr>
            <p:sp>
              <p:nvSpPr>
                <p:cNvPr id="16420" name="Rectangle 24"/>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6421" name="Line 25"/>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22" name="Line 26"/>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6405" name="Group 27"/>
              <p:cNvGrpSpPr/>
              <p:nvPr/>
            </p:nvGrpSpPr>
            <p:grpSpPr bwMode="auto">
              <a:xfrm>
                <a:off x="3787" y="2929"/>
                <a:ext cx="996" cy="398"/>
                <a:chOff x="2019" y="1848"/>
                <a:chExt cx="996" cy="398"/>
              </a:xfrm>
            </p:grpSpPr>
            <p:sp>
              <p:nvSpPr>
                <p:cNvPr id="16417" name="Rectangle 28"/>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6418" name="Line 29"/>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19" name="Line 30"/>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6406" name="Group 31"/>
              <p:cNvGrpSpPr/>
              <p:nvPr/>
            </p:nvGrpSpPr>
            <p:grpSpPr bwMode="auto">
              <a:xfrm>
                <a:off x="3787" y="3337"/>
                <a:ext cx="996" cy="398"/>
                <a:chOff x="2019" y="1848"/>
                <a:chExt cx="996" cy="398"/>
              </a:xfrm>
            </p:grpSpPr>
            <p:sp>
              <p:nvSpPr>
                <p:cNvPr id="16414" name="Rectangle 32"/>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6415" name="Line 33"/>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16" name="Line 34"/>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6407" name="Rectangle 37"/>
              <p:cNvSpPr>
                <a:spLocks noChangeArrowheads="1"/>
              </p:cNvSpPr>
              <p:nvPr/>
            </p:nvSpPr>
            <p:spPr bwMode="auto">
              <a:xfrm>
                <a:off x="3288" y="2523"/>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score[1]</a:t>
                </a:r>
                <a:endParaRPr lang="en-US" altLang="zh-CN" sz="1600" b="1"/>
              </a:p>
            </p:txBody>
          </p:sp>
          <p:sp>
            <p:nvSpPr>
              <p:cNvPr id="16408" name="Rectangle 38"/>
              <p:cNvSpPr>
                <a:spLocks noChangeArrowheads="1"/>
              </p:cNvSpPr>
              <p:nvPr/>
            </p:nvSpPr>
            <p:spPr bwMode="auto">
              <a:xfrm>
                <a:off x="3298" y="29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score[2]</a:t>
                </a:r>
                <a:endParaRPr lang="en-US" altLang="zh-CN" sz="1600" b="1"/>
              </a:p>
            </p:txBody>
          </p:sp>
          <p:sp>
            <p:nvSpPr>
              <p:cNvPr id="16409" name="Rectangle 39"/>
              <p:cNvSpPr>
                <a:spLocks noChangeArrowheads="1"/>
              </p:cNvSpPr>
              <p:nvPr/>
            </p:nvSpPr>
            <p:spPr bwMode="auto">
              <a:xfrm>
                <a:off x="3288" y="3384"/>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score[3]</a:t>
                </a:r>
                <a:endParaRPr lang="en-US" altLang="zh-CN" sz="1600" b="1"/>
              </a:p>
            </p:txBody>
          </p:sp>
          <p:sp>
            <p:nvSpPr>
              <p:cNvPr id="208936" name="Text Box 40"/>
              <p:cNvSpPr txBox="1">
                <a:spLocks noChangeArrowheads="1"/>
              </p:cNvSpPr>
              <p:nvPr/>
            </p:nvSpPr>
            <p:spPr bwMode="auto">
              <a:xfrm>
                <a:off x="4105" y="2160"/>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65</a:t>
                </a:r>
              </a:p>
            </p:txBody>
          </p:sp>
          <p:sp>
            <p:nvSpPr>
              <p:cNvPr id="208937" name="Text Box 41"/>
              <p:cNvSpPr txBox="1">
                <a:spLocks noChangeArrowheads="1"/>
              </p:cNvSpPr>
              <p:nvPr/>
            </p:nvSpPr>
            <p:spPr bwMode="auto">
              <a:xfrm>
                <a:off x="4105" y="2569"/>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78</a:t>
                </a:r>
              </a:p>
            </p:txBody>
          </p:sp>
          <p:sp>
            <p:nvSpPr>
              <p:cNvPr id="208938" name="Text Box 42"/>
              <p:cNvSpPr txBox="1">
                <a:spLocks noChangeArrowheads="1"/>
              </p:cNvSpPr>
              <p:nvPr/>
            </p:nvSpPr>
            <p:spPr bwMode="auto">
              <a:xfrm>
                <a:off x="4105" y="2931"/>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54</a:t>
                </a:r>
              </a:p>
            </p:txBody>
          </p:sp>
          <p:sp>
            <p:nvSpPr>
              <p:cNvPr id="208939" name="Text Box 43"/>
              <p:cNvSpPr txBox="1">
                <a:spLocks noChangeArrowheads="1"/>
              </p:cNvSpPr>
              <p:nvPr/>
            </p:nvSpPr>
            <p:spPr bwMode="auto">
              <a:xfrm>
                <a:off x="4105" y="3385"/>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91</a:t>
                </a:r>
              </a:p>
            </p:txBody>
          </p:sp>
        </p:gr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zh-CN" b="1"/>
              <a:t>6.3.2</a:t>
            </a:r>
            <a:r>
              <a:rPr lang="zh-CN" altLang="en-US" b="1"/>
              <a:t> </a:t>
            </a:r>
            <a:r>
              <a:rPr lang="zh-CN" altLang="en-US" b="1" u="sng"/>
              <a:t>数组的初始化</a:t>
            </a:r>
          </a:p>
        </p:txBody>
      </p:sp>
      <p:sp>
        <p:nvSpPr>
          <p:cNvPr id="209923" name="Rectangle 3"/>
          <p:cNvSpPr>
            <a:spLocks noGrp="1" noChangeArrowheads="1"/>
          </p:cNvSpPr>
          <p:nvPr>
            <p:ph type="body" idx="1"/>
          </p:nvPr>
        </p:nvSpPr>
        <p:spPr/>
        <p:txBody>
          <a:bodyPr/>
          <a:lstStyle/>
          <a:p>
            <a:pPr eaLnBrk="1" hangingPunct="1">
              <a:buFontTx/>
              <a:buNone/>
              <a:defRPr/>
            </a:pPr>
            <a:r>
              <a:rPr lang="en-US" altLang="zh-CN" sz="3000" b="1" dirty="0">
                <a:solidFill>
                  <a:srgbClr val="003399"/>
                </a:solidFill>
                <a:effectLst>
                  <a:outerShdw blurRad="38100" dist="38100" dir="2700000" algn="tl">
                    <a:srgbClr val="C0C0C0"/>
                  </a:outerShdw>
                </a:effectLst>
              </a:rPr>
              <a:t>1. </a:t>
            </a:r>
            <a:r>
              <a:rPr lang="zh-CN" altLang="en-US" sz="3000" b="1" dirty="0">
                <a:solidFill>
                  <a:srgbClr val="003399"/>
                </a:solidFill>
                <a:effectLst>
                  <a:outerShdw blurRad="38100" dist="38100" dir="2700000" algn="tl">
                    <a:srgbClr val="C0C0C0"/>
                  </a:outerShdw>
                </a:effectLst>
              </a:rPr>
              <a:t>若在定义一个</a:t>
            </a:r>
            <a:r>
              <a:rPr lang="zh-CN" altLang="en-US" sz="3000" b="1" dirty="0">
                <a:effectLst>
                  <a:outerShdw blurRad="38100" dist="38100" dir="2700000" algn="tl">
                    <a:srgbClr val="C0C0C0"/>
                  </a:outerShdw>
                </a:effectLst>
              </a:rPr>
              <a:t>数组</a:t>
            </a:r>
            <a:r>
              <a:rPr lang="zh-CN" altLang="en-US" sz="3000" b="1" dirty="0">
                <a:solidFill>
                  <a:srgbClr val="003399"/>
                </a:solidFill>
                <a:effectLst>
                  <a:outerShdw blurRad="38100" dist="38100" dir="2700000" algn="tl">
                    <a:srgbClr val="C0C0C0"/>
                  </a:outerShdw>
                </a:effectLst>
              </a:rPr>
              <a:t>的同时赋初值，如果初始化值的个数小于数组元素的个数，剩余的元素被自动初始化为0。</a:t>
            </a:r>
          </a:p>
          <a:p>
            <a:pPr eaLnBrk="1" hangingPunct="1">
              <a:buFontTx/>
              <a:buNone/>
              <a:defRPr/>
            </a:pPr>
            <a:r>
              <a:rPr lang="en-US" altLang="zh-CN" sz="3000" b="1" dirty="0"/>
              <a:t>      </a:t>
            </a:r>
            <a:r>
              <a:rPr lang="zh-CN" altLang="en-US" sz="3000" b="1" dirty="0"/>
              <a:t>例如：</a:t>
            </a:r>
            <a:r>
              <a:rPr lang="en-US" altLang="zh-CN" sz="3000" b="1" dirty="0"/>
              <a:t>int score[4]={80};</a:t>
            </a:r>
          </a:p>
          <a:p>
            <a:pPr eaLnBrk="1" hangingPunct="1">
              <a:buFontTx/>
              <a:buNone/>
              <a:defRPr/>
            </a:pPr>
            <a:r>
              <a:rPr lang="en-US" altLang="zh-CN" sz="800" b="1" i="1" dirty="0"/>
              <a:t>     </a:t>
            </a:r>
          </a:p>
        </p:txBody>
      </p:sp>
      <p:grpSp>
        <p:nvGrpSpPr>
          <p:cNvPr id="17413" name="Group 77"/>
          <p:cNvGrpSpPr/>
          <p:nvPr/>
        </p:nvGrpSpPr>
        <p:grpSpPr bwMode="auto">
          <a:xfrm>
            <a:off x="5219700" y="2781300"/>
            <a:ext cx="3673475" cy="3148013"/>
            <a:chOff x="3288" y="1752"/>
            <a:chExt cx="2314" cy="1983"/>
          </a:xfrm>
        </p:grpSpPr>
        <p:sp>
          <p:nvSpPr>
            <p:cNvPr id="17415" name="Rectangle 78"/>
            <p:cNvSpPr>
              <a:spLocks noChangeArrowheads="1"/>
            </p:cNvSpPr>
            <p:nvPr/>
          </p:nvSpPr>
          <p:spPr bwMode="auto">
            <a:xfrm>
              <a:off x="4899" y="2140"/>
              <a:ext cx="70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2000H</a:t>
              </a:r>
              <a:endParaRPr lang="zh-CN" altLang="en-US" sz="1600" b="1"/>
            </a:p>
          </p:txBody>
        </p:sp>
        <p:sp>
          <p:nvSpPr>
            <p:cNvPr id="17416" name="Rectangle 79"/>
            <p:cNvSpPr>
              <a:spLocks noChangeArrowheads="1"/>
            </p:cNvSpPr>
            <p:nvPr/>
          </p:nvSpPr>
          <p:spPr bwMode="auto">
            <a:xfrm>
              <a:off x="4887" y="2969"/>
              <a:ext cx="7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2004H</a:t>
              </a:r>
              <a:endParaRPr lang="en-US" altLang="zh-CN" sz="1600" b="1"/>
            </a:p>
          </p:txBody>
        </p:sp>
        <p:grpSp>
          <p:nvGrpSpPr>
            <p:cNvPr id="17417" name="Group 80"/>
            <p:cNvGrpSpPr/>
            <p:nvPr/>
          </p:nvGrpSpPr>
          <p:grpSpPr bwMode="auto">
            <a:xfrm>
              <a:off x="3288" y="1752"/>
              <a:ext cx="1955" cy="1983"/>
              <a:chOff x="3288" y="1752"/>
              <a:chExt cx="1955" cy="1983"/>
            </a:xfrm>
          </p:grpSpPr>
          <p:sp>
            <p:nvSpPr>
              <p:cNvPr id="17418" name="Rectangle 81"/>
              <p:cNvSpPr>
                <a:spLocks noChangeArrowheads="1"/>
              </p:cNvSpPr>
              <p:nvPr/>
            </p:nvSpPr>
            <p:spPr bwMode="auto">
              <a:xfrm>
                <a:off x="3788" y="2118"/>
                <a:ext cx="996" cy="39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7419" name="Rectangle 82"/>
              <p:cNvSpPr>
                <a:spLocks noChangeArrowheads="1"/>
              </p:cNvSpPr>
              <p:nvPr/>
            </p:nvSpPr>
            <p:spPr bwMode="auto">
              <a:xfrm>
                <a:off x="4887" y="2550"/>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2002H</a:t>
                </a:r>
                <a:endParaRPr lang="en-US" altLang="zh-CN" sz="1600" b="1"/>
              </a:p>
            </p:txBody>
          </p:sp>
          <p:sp>
            <p:nvSpPr>
              <p:cNvPr id="17420" name="Rectangle 83"/>
              <p:cNvSpPr>
                <a:spLocks noChangeArrowheads="1"/>
              </p:cNvSpPr>
              <p:nvPr/>
            </p:nvSpPr>
            <p:spPr bwMode="auto">
              <a:xfrm>
                <a:off x="4887" y="3157"/>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2005H</a:t>
                </a:r>
                <a:endParaRPr lang="en-US" altLang="zh-CN" sz="1600" b="1"/>
              </a:p>
            </p:txBody>
          </p:sp>
          <p:sp>
            <p:nvSpPr>
              <p:cNvPr id="17421" name="Rectangle 84"/>
              <p:cNvSpPr>
                <a:spLocks noChangeArrowheads="1"/>
              </p:cNvSpPr>
              <p:nvPr/>
            </p:nvSpPr>
            <p:spPr bwMode="auto">
              <a:xfrm>
                <a:off x="4887" y="3548"/>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2007H</a:t>
                </a:r>
                <a:endParaRPr lang="en-US" altLang="zh-CN" sz="1600" b="1"/>
              </a:p>
            </p:txBody>
          </p:sp>
          <p:sp>
            <p:nvSpPr>
              <p:cNvPr id="17422" name="Rectangle 85"/>
              <p:cNvSpPr>
                <a:spLocks noChangeArrowheads="1"/>
              </p:cNvSpPr>
              <p:nvPr/>
            </p:nvSpPr>
            <p:spPr bwMode="auto">
              <a:xfrm>
                <a:off x="4887" y="3352"/>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2006H</a:t>
                </a:r>
                <a:endParaRPr lang="en-US" altLang="zh-CN" sz="1600" b="1"/>
              </a:p>
            </p:txBody>
          </p:sp>
          <p:sp>
            <p:nvSpPr>
              <p:cNvPr id="17423" name="Rectangle 86"/>
              <p:cNvSpPr>
                <a:spLocks noChangeArrowheads="1"/>
              </p:cNvSpPr>
              <p:nvPr/>
            </p:nvSpPr>
            <p:spPr bwMode="auto">
              <a:xfrm>
                <a:off x="4887" y="2750"/>
                <a:ext cx="35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2003H</a:t>
                </a:r>
                <a:endParaRPr lang="en-US" altLang="zh-CN" sz="1600" b="1"/>
              </a:p>
            </p:txBody>
          </p:sp>
          <p:sp>
            <p:nvSpPr>
              <p:cNvPr id="17424" name="Rectangle 87"/>
              <p:cNvSpPr>
                <a:spLocks noChangeArrowheads="1"/>
              </p:cNvSpPr>
              <p:nvPr/>
            </p:nvSpPr>
            <p:spPr bwMode="auto">
              <a:xfrm>
                <a:off x="4887" y="2341"/>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2001H</a:t>
                </a:r>
                <a:endParaRPr lang="en-US" altLang="zh-CN" sz="1600" b="1"/>
              </a:p>
            </p:txBody>
          </p:sp>
          <p:sp>
            <p:nvSpPr>
              <p:cNvPr id="17425" name="Rectangle 88"/>
              <p:cNvSpPr>
                <a:spLocks noChangeArrowheads="1"/>
              </p:cNvSpPr>
              <p:nvPr/>
            </p:nvSpPr>
            <p:spPr bwMode="auto">
              <a:xfrm>
                <a:off x="3288" y="21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score[0]</a:t>
                </a:r>
                <a:endParaRPr lang="en-US" altLang="zh-CN" sz="1600" b="1"/>
              </a:p>
            </p:txBody>
          </p:sp>
          <p:grpSp>
            <p:nvGrpSpPr>
              <p:cNvPr id="17426" name="Group 89"/>
              <p:cNvGrpSpPr/>
              <p:nvPr/>
            </p:nvGrpSpPr>
            <p:grpSpPr bwMode="auto">
              <a:xfrm>
                <a:off x="3788" y="2118"/>
                <a:ext cx="996" cy="398"/>
                <a:chOff x="2019" y="1848"/>
                <a:chExt cx="996" cy="398"/>
              </a:xfrm>
            </p:grpSpPr>
            <p:sp>
              <p:nvSpPr>
                <p:cNvPr id="17447" name="Rectangle 90"/>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7448" name="Line 91"/>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9" name="Line 92"/>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27" name="Text Box 93"/>
              <p:cNvSpPr txBox="1">
                <a:spLocks noChangeArrowheads="1"/>
              </p:cNvSpPr>
              <p:nvPr/>
            </p:nvSpPr>
            <p:spPr bwMode="auto">
              <a:xfrm>
                <a:off x="3833" y="1752"/>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000099"/>
                    </a:solidFill>
                  </a:rPr>
                  <a:t>存储空间</a:t>
                </a:r>
              </a:p>
            </p:txBody>
          </p:sp>
          <p:grpSp>
            <p:nvGrpSpPr>
              <p:cNvPr id="17428" name="Group 94"/>
              <p:cNvGrpSpPr/>
              <p:nvPr/>
            </p:nvGrpSpPr>
            <p:grpSpPr bwMode="auto">
              <a:xfrm>
                <a:off x="3787" y="2521"/>
                <a:ext cx="996" cy="398"/>
                <a:chOff x="2019" y="1848"/>
                <a:chExt cx="996" cy="398"/>
              </a:xfrm>
            </p:grpSpPr>
            <p:sp>
              <p:nvSpPr>
                <p:cNvPr id="17444" name="Rectangle 95"/>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7445" name="Line 96"/>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6" name="Line 97"/>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7429" name="Group 98"/>
              <p:cNvGrpSpPr/>
              <p:nvPr/>
            </p:nvGrpSpPr>
            <p:grpSpPr bwMode="auto">
              <a:xfrm>
                <a:off x="3787" y="2929"/>
                <a:ext cx="996" cy="398"/>
                <a:chOff x="2019" y="1848"/>
                <a:chExt cx="996" cy="398"/>
              </a:xfrm>
            </p:grpSpPr>
            <p:sp>
              <p:nvSpPr>
                <p:cNvPr id="17441" name="Rectangle 99"/>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7442" name="Line 100"/>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3" name="Line 101"/>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7430" name="Group 102"/>
              <p:cNvGrpSpPr/>
              <p:nvPr/>
            </p:nvGrpSpPr>
            <p:grpSpPr bwMode="auto">
              <a:xfrm>
                <a:off x="3787" y="3337"/>
                <a:ext cx="996" cy="398"/>
                <a:chOff x="2019" y="1848"/>
                <a:chExt cx="996" cy="398"/>
              </a:xfrm>
            </p:grpSpPr>
            <p:sp>
              <p:nvSpPr>
                <p:cNvPr id="17438" name="Rectangle 103"/>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7439" name="Line 104"/>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0" name="Line 105"/>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31" name="Rectangle 106"/>
              <p:cNvSpPr>
                <a:spLocks noChangeArrowheads="1"/>
              </p:cNvSpPr>
              <p:nvPr/>
            </p:nvSpPr>
            <p:spPr bwMode="auto">
              <a:xfrm>
                <a:off x="3288" y="2523"/>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score[1]</a:t>
                </a:r>
                <a:endParaRPr lang="en-US" altLang="zh-CN" sz="1600" b="1"/>
              </a:p>
            </p:txBody>
          </p:sp>
          <p:sp>
            <p:nvSpPr>
              <p:cNvPr id="17432" name="Rectangle 107"/>
              <p:cNvSpPr>
                <a:spLocks noChangeArrowheads="1"/>
              </p:cNvSpPr>
              <p:nvPr/>
            </p:nvSpPr>
            <p:spPr bwMode="auto">
              <a:xfrm>
                <a:off x="3298" y="29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score[2]</a:t>
                </a:r>
                <a:endParaRPr lang="en-US" altLang="zh-CN" sz="1600" b="1"/>
              </a:p>
            </p:txBody>
          </p:sp>
          <p:sp>
            <p:nvSpPr>
              <p:cNvPr id="17433" name="Rectangle 108"/>
              <p:cNvSpPr>
                <a:spLocks noChangeArrowheads="1"/>
              </p:cNvSpPr>
              <p:nvPr/>
            </p:nvSpPr>
            <p:spPr bwMode="auto">
              <a:xfrm>
                <a:off x="3288" y="3384"/>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score[3]</a:t>
                </a:r>
                <a:endParaRPr lang="en-US" altLang="zh-CN" sz="1600" b="1"/>
              </a:p>
            </p:txBody>
          </p:sp>
          <p:sp>
            <p:nvSpPr>
              <p:cNvPr id="210029" name="Text Box 109"/>
              <p:cNvSpPr txBox="1">
                <a:spLocks noChangeArrowheads="1"/>
              </p:cNvSpPr>
              <p:nvPr/>
            </p:nvSpPr>
            <p:spPr bwMode="auto">
              <a:xfrm>
                <a:off x="4105" y="2160"/>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80</a:t>
                </a:r>
              </a:p>
            </p:txBody>
          </p:sp>
          <p:sp>
            <p:nvSpPr>
              <p:cNvPr id="210030" name="Text Box 110"/>
              <p:cNvSpPr txBox="1">
                <a:spLocks noChangeArrowheads="1"/>
              </p:cNvSpPr>
              <p:nvPr/>
            </p:nvSpPr>
            <p:spPr bwMode="auto">
              <a:xfrm>
                <a:off x="4105" y="2569"/>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0</a:t>
                </a:r>
              </a:p>
            </p:txBody>
          </p:sp>
          <p:sp>
            <p:nvSpPr>
              <p:cNvPr id="210031" name="Text Box 111"/>
              <p:cNvSpPr txBox="1">
                <a:spLocks noChangeArrowheads="1"/>
              </p:cNvSpPr>
              <p:nvPr/>
            </p:nvSpPr>
            <p:spPr bwMode="auto">
              <a:xfrm>
                <a:off x="4105" y="2931"/>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0</a:t>
                </a:r>
              </a:p>
            </p:txBody>
          </p:sp>
          <p:sp>
            <p:nvSpPr>
              <p:cNvPr id="210032" name="Text Box 112"/>
              <p:cNvSpPr txBox="1">
                <a:spLocks noChangeArrowheads="1"/>
              </p:cNvSpPr>
              <p:nvPr/>
            </p:nvSpPr>
            <p:spPr bwMode="auto">
              <a:xfrm>
                <a:off x="4105" y="3385"/>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0</a:t>
                </a:r>
              </a:p>
            </p:txBody>
          </p:sp>
        </p:grpSp>
      </p:grpSp>
      <p:sp>
        <p:nvSpPr>
          <p:cNvPr id="210033" name="Text Box 113"/>
          <p:cNvSpPr txBox="1">
            <a:spLocks noChangeArrowheads="1"/>
          </p:cNvSpPr>
          <p:nvPr/>
        </p:nvSpPr>
        <p:spPr bwMode="auto">
          <a:xfrm>
            <a:off x="757238" y="3644900"/>
            <a:ext cx="4319587" cy="2227263"/>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None/>
              <a:defRPr/>
            </a:pPr>
            <a:r>
              <a:rPr lang="zh-CN" altLang="en-US" sz="2800" b="1" i="1"/>
              <a:t>注意</a:t>
            </a:r>
            <a:r>
              <a:rPr lang="zh-CN" altLang="en-US" sz="2800" b="1"/>
              <a:t>：整型数组各元素不会自动初始化为0，至少要把第一个数组元素初始化为</a:t>
            </a:r>
            <a:r>
              <a:rPr lang="en-US" altLang="zh-CN" sz="2800" b="1"/>
              <a:t>0</a:t>
            </a:r>
            <a:r>
              <a:rPr lang="zh-CN" altLang="en-US" sz="2800" b="1"/>
              <a:t>，才能使剩下的元素自动初始化为0。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0033"/>
                                        </p:tgtEl>
                                        <p:attrNameLst>
                                          <p:attrName>style.visibility</p:attrName>
                                        </p:attrNameLst>
                                      </p:cBhvr>
                                      <p:to>
                                        <p:strVal val="visible"/>
                                      </p:to>
                                    </p:set>
                                    <p:animEffect transition="in" filter="dissolve">
                                      <p:cBhvr>
                                        <p:cTn id="7" dur="500"/>
                                        <p:tgtEl>
                                          <p:spTgt spid="210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0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zh-CN" b="1"/>
              <a:t>6.3.2</a:t>
            </a:r>
            <a:r>
              <a:rPr lang="zh-CN" altLang="en-US" b="1"/>
              <a:t> </a:t>
            </a:r>
            <a:r>
              <a:rPr lang="zh-CN" altLang="en-US" b="1" u="sng"/>
              <a:t>数组的初始化</a:t>
            </a:r>
          </a:p>
        </p:txBody>
      </p:sp>
      <p:sp>
        <p:nvSpPr>
          <p:cNvPr id="19460" name="Rectangle 3"/>
          <p:cNvSpPr>
            <a:spLocks noGrp="1" noChangeArrowheads="1"/>
          </p:cNvSpPr>
          <p:nvPr>
            <p:ph type="body" idx="1"/>
          </p:nvPr>
        </p:nvSpPr>
        <p:spPr>
          <a:xfrm>
            <a:off x="685800" y="1319213"/>
            <a:ext cx="8134350" cy="4611687"/>
          </a:xfrm>
        </p:spPr>
        <p:txBody>
          <a:bodyPr/>
          <a:lstStyle/>
          <a:p>
            <a:pPr eaLnBrk="1" hangingPunct="1">
              <a:buFontTx/>
              <a:buNone/>
            </a:pPr>
            <a:r>
              <a:rPr lang="en-US" altLang="zh-CN" b="1" dirty="0"/>
              <a:t>2. </a:t>
            </a:r>
            <a:r>
              <a:rPr lang="zh-CN" altLang="en-US" b="1" dirty="0"/>
              <a:t>如果初始化元素个数大于数组长度，则编译会报错，例如：</a:t>
            </a:r>
          </a:p>
          <a:p>
            <a:pPr eaLnBrk="1" hangingPunct="1">
              <a:buFontTx/>
              <a:buNone/>
            </a:pPr>
            <a:r>
              <a:rPr lang="en-US" altLang="zh-CN" b="1" dirty="0"/>
              <a:t>    int score[4]={65, 78, 54, 91,60};</a:t>
            </a:r>
          </a:p>
          <a:p>
            <a:pPr eaLnBrk="1" hangingPunct="1">
              <a:buFontTx/>
              <a:buNone/>
            </a:pPr>
            <a:endParaRPr lang="zh-CN" altLang="en-US" b="1" dirty="0"/>
          </a:p>
          <a:p>
            <a:pPr eaLnBrk="1" hangingPunct="1">
              <a:buFontTx/>
              <a:buNone/>
            </a:pPr>
            <a:r>
              <a:rPr lang="en-US" altLang="zh-CN" b="1" dirty="0"/>
              <a:t>3. </a:t>
            </a:r>
            <a:r>
              <a:rPr lang="zh-CN" altLang="en-US" b="1" dirty="0"/>
              <a:t>如果在声明带有初始化值列表的数组时省略数组的大小，那么数组元素的个数就是初始化值列表中的元素个数。</a:t>
            </a:r>
          </a:p>
          <a:p>
            <a:pPr eaLnBrk="1" hangingPunct="1">
              <a:buFontTx/>
              <a:buNone/>
            </a:pPr>
            <a:r>
              <a:rPr lang="en-US" altLang="zh-CN" b="1" dirty="0"/>
              <a:t>    int score[]={65, 78, 54, 91,60};//score</a:t>
            </a:r>
            <a:r>
              <a:rPr lang="zh-CN" altLang="en-US" b="1" dirty="0"/>
              <a:t>有</a:t>
            </a:r>
            <a:r>
              <a:rPr lang="en-US" altLang="zh-CN" b="1" dirty="0"/>
              <a:t>5</a:t>
            </a:r>
            <a:r>
              <a:rPr lang="zh-CN" altLang="en-US" b="1" dirty="0"/>
              <a:t>个元素</a:t>
            </a:r>
            <a:endParaRPr lang="en-US" altLang="zh-CN" b="1" dirty="0"/>
          </a:p>
          <a:p>
            <a:pPr eaLnBrk="1" hangingPunct="1">
              <a:buFontTx/>
              <a:buNone/>
            </a:pPr>
            <a:r>
              <a:rPr lang="en-US" altLang="zh-CN" b="1" dirty="0"/>
              <a:t>   </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b="1" dirty="0"/>
              <a:t>4. </a:t>
            </a:r>
            <a:r>
              <a:rPr lang="en-US" altLang="zh-CN" b="1" dirty="0" err="1"/>
              <a:t>C99</a:t>
            </a:r>
            <a:r>
              <a:rPr lang="zh-CN" altLang="zh-CN" b="1" dirty="0"/>
              <a:t>新特性：</a:t>
            </a:r>
            <a:r>
              <a:rPr lang="zh-CN" altLang="en-US" b="1" dirty="0"/>
              <a:t>在初始化列表中使用带有方括号的元素下标可以初始化某个特定的元素</a:t>
            </a:r>
            <a:r>
              <a:rPr lang="en-US" altLang="zh-CN" b="1" dirty="0"/>
              <a:t>.</a:t>
            </a:r>
            <a:endParaRPr lang="zh-CN" altLang="en-US" b="1" dirty="0"/>
          </a:p>
          <a:p>
            <a:pPr marL="0" indent="0">
              <a:buNone/>
            </a:pPr>
            <a:r>
              <a:rPr lang="en-US" altLang="zh-CN" sz="2400" b="1" dirty="0">
                <a:sym typeface="+mn-ea"/>
              </a:rPr>
              <a:t>   int score[]=</a:t>
            </a:r>
            <a:r>
              <a:rPr lang="en-US" altLang="zh-CN" sz="2400" b="1" dirty="0"/>
              <a:t>{</a:t>
            </a:r>
            <a:r>
              <a:rPr lang="en-US" altLang="zh-CN" sz="2400" b="1" dirty="0">
                <a:solidFill>
                  <a:srgbClr val="FF0000"/>
                </a:solidFill>
              </a:rPr>
              <a:t>[4]=60</a:t>
            </a:r>
            <a:r>
              <a:rPr lang="en-US" altLang="zh-CN" sz="2400" b="1" dirty="0"/>
              <a:t>};</a:t>
            </a:r>
            <a:r>
              <a:rPr lang="en-US" altLang="zh-CN" sz="2400" b="1" dirty="0">
                <a:solidFill>
                  <a:srgbClr val="003399"/>
                </a:solidFill>
              </a:rPr>
              <a:t>//</a:t>
            </a:r>
            <a:r>
              <a:rPr lang="zh-CN" altLang="zh-CN" sz="2400" b="1" dirty="0">
                <a:solidFill>
                  <a:srgbClr val="003399"/>
                </a:solidFill>
              </a:rPr>
              <a:t>把</a:t>
            </a:r>
            <a:r>
              <a:rPr lang="en-US" altLang="zh-CN" sz="2400" b="1" dirty="0">
                <a:solidFill>
                  <a:srgbClr val="003399"/>
                </a:solidFill>
              </a:rPr>
              <a:t>score[4]</a:t>
            </a:r>
            <a:r>
              <a:rPr lang="zh-CN" altLang="en-US" sz="2400" b="1" dirty="0">
                <a:solidFill>
                  <a:srgbClr val="003399"/>
                </a:solidFill>
              </a:rPr>
              <a:t>初始化为</a:t>
            </a:r>
            <a:r>
              <a:rPr lang="en-US" altLang="zh-CN" sz="2400" b="1" dirty="0">
                <a:solidFill>
                  <a:srgbClr val="003399"/>
                </a:solidFill>
              </a:rPr>
              <a:t>60</a:t>
            </a:r>
          </a:p>
          <a:p>
            <a:pPr marL="0" indent="0">
              <a:buNone/>
            </a:pPr>
            <a:r>
              <a:rPr lang="en-US" altLang="zh-CN" sz="2400" b="1" dirty="0">
                <a:sym typeface="+mn-ea"/>
              </a:rPr>
              <a:t>   int days[MONTHS]={31,28,</a:t>
            </a:r>
            <a:r>
              <a:rPr lang="en-US" altLang="zh-CN" sz="2400" b="1" dirty="0">
                <a:solidFill>
                  <a:srgbClr val="FF0000"/>
                </a:solidFill>
                <a:sym typeface="+mn-ea"/>
              </a:rPr>
              <a:t>[4]=31</a:t>
            </a:r>
            <a:r>
              <a:rPr lang="en-US" altLang="zh-CN" sz="2400" b="1" dirty="0">
                <a:sym typeface="+mn-ea"/>
              </a:rPr>
              <a:t>,30,31,</a:t>
            </a:r>
            <a:r>
              <a:rPr lang="en-US" altLang="zh-CN" sz="2400" b="1" dirty="0">
                <a:solidFill>
                  <a:srgbClr val="FF0000"/>
                </a:solidFill>
                <a:sym typeface="+mn-ea"/>
              </a:rPr>
              <a:t>[1]=29</a:t>
            </a:r>
            <a:r>
              <a:rPr lang="en-US" altLang="zh-CN" sz="2400" b="1" dirty="0">
                <a:sym typeface="+mn-ea"/>
              </a:rPr>
              <a:t>};,</a:t>
            </a:r>
            <a:r>
              <a:rPr lang="en-US" altLang="zh-CN" sz="2400" b="1" dirty="0" err="1">
                <a:sym typeface="+mn-ea"/>
              </a:rPr>
              <a:t>0m</a:t>
            </a:r>
            <a:endParaRPr lang="en-US" altLang="zh-CN" sz="2400" b="1" dirty="0">
              <a:sym typeface="+mn-ea"/>
            </a:endParaRPr>
          </a:p>
          <a:p>
            <a:pPr marL="0" indent="0">
              <a:buNone/>
            </a:pPr>
            <a:r>
              <a:rPr lang="en-US" altLang="zh-CN" sz="2400" b="1" dirty="0">
                <a:sym typeface="+mn-ea"/>
              </a:rPr>
              <a:t>  </a:t>
            </a:r>
            <a:r>
              <a:rPr lang="en-US" altLang="zh-CN" sz="2400" b="1" dirty="0">
                <a:solidFill>
                  <a:srgbClr val="003399"/>
                </a:solidFill>
                <a:sym typeface="+mn-ea"/>
              </a:rPr>
              <a:t>//days</a:t>
            </a:r>
            <a:r>
              <a:rPr lang="zh-CN" altLang="zh-CN" sz="2400" b="1" dirty="0">
                <a:solidFill>
                  <a:srgbClr val="003399"/>
                </a:solidFill>
                <a:sym typeface="+mn-ea"/>
              </a:rPr>
              <a:t>元素依次为：</a:t>
            </a:r>
            <a:r>
              <a:rPr lang="en-US" altLang="zh-CN" sz="2400" b="1" dirty="0">
                <a:solidFill>
                  <a:srgbClr val="003399"/>
                </a:solidFill>
                <a:sym typeface="+mn-ea"/>
              </a:rPr>
              <a:t>31,29,0,0,31,30,31,0,0,0,0,0</a:t>
            </a:r>
          </a:p>
          <a:p>
            <a:pPr marL="0" indent="0">
              <a:buNone/>
            </a:pPr>
            <a:endParaRPr lang="en-US" altLang="zh-CN" sz="2400" b="1" dirty="0">
              <a:solidFill>
                <a:srgbClr val="003399"/>
              </a:solidFill>
              <a:sym typeface="+mn-ea"/>
            </a:endParaRPr>
          </a:p>
          <a:p>
            <a:r>
              <a:rPr lang="zh-CN" altLang="en-US" sz="2400" b="1" dirty="0"/>
              <a:t>数组元素和普通的基本类型变量一样，对基本类型变量的所有操作</a:t>
            </a:r>
            <a:r>
              <a:rPr lang="en-US" altLang="zh-CN" sz="2400" b="1" dirty="0"/>
              <a:t>(</a:t>
            </a:r>
            <a:r>
              <a:rPr lang="zh-CN" altLang="en-US" sz="2400" b="1" dirty="0"/>
              <a:t>读、赋值、取地址等</a:t>
            </a:r>
            <a:r>
              <a:rPr lang="en-US" altLang="zh-CN" sz="2400" b="1" dirty="0"/>
              <a:t>)</a:t>
            </a:r>
            <a:r>
              <a:rPr lang="zh-CN" altLang="en-US" sz="2400" b="1" dirty="0"/>
              <a:t>同样适用于数组元素，基本变量能出现的地方数组元素也可以出现。</a:t>
            </a:r>
            <a:endParaRPr lang="en-US" altLang="zh-CN" sz="2400" b="1" dirty="0">
              <a:solidFill>
                <a:srgbClr val="003399"/>
              </a:solidFill>
              <a:sym typeface="+mn-ea"/>
            </a:endParaRPr>
          </a:p>
          <a:p>
            <a:endParaRPr lang="en-US" altLang="zh-CN" sz="2400" b="1" dirty="0">
              <a:solidFill>
                <a:srgbClr val="003399"/>
              </a:solidFill>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611188" y="1268413"/>
            <a:ext cx="7772400" cy="5029200"/>
          </a:xfrm>
        </p:spPr>
        <p:txBody>
          <a:bodyPr/>
          <a:lstStyle/>
          <a:p>
            <a:pPr eaLnBrk="1" hangingPunct="1">
              <a:lnSpc>
                <a:spcPct val="90000"/>
              </a:lnSpc>
              <a:buFontTx/>
              <a:buNone/>
              <a:defRPr/>
            </a:pPr>
            <a:r>
              <a:rPr lang="zh-CN" altLang="en-US" b="1" dirty="0"/>
              <a:t>三、数组的逐元素操作：</a:t>
            </a:r>
          </a:p>
          <a:p>
            <a:pPr lvl="1" eaLnBrk="1" hangingPunct="1">
              <a:lnSpc>
                <a:spcPct val="90000"/>
              </a:lnSpc>
              <a:buFontTx/>
              <a:buNone/>
              <a:defRPr/>
            </a:pPr>
            <a:r>
              <a:rPr lang="zh-CN" altLang="en-US" b="1" dirty="0">
                <a:solidFill>
                  <a:srgbClr val="003399"/>
                </a:solidFill>
                <a:effectLst>
                  <a:outerShdw blurRad="38100" dist="38100" dir="2700000" algn="tl">
                    <a:srgbClr val="C0C0C0"/>
                  </a:outerShdw>
                </a:effectLst>
              </a:rPr>
              <a:t>一般情况下</a:t>
            </a:r>
            <a:r>
              <a:rPr lang="en-US" altLang="zh-CN" b="1" dirty="0">
                <a:solidFill>
                  <a:srgbClr val="003399"/>
                </a:solidFill>
                <a:effectLst>
                  <a:outerShdw blurRad="38100" dist="38100" dir="2700000" algn="tl">
                    <a:srgbClr val="C0C0C0"/>
                  </a:outerShdw>
                </a:effectLst>
              </a:rPr>
              <a:t>(</a:t>
            </a:r>
            <a:r>
              <a:rPr lang="zh-CN" altLang="en-US" b="1" dirty="0">
                <a:solidFill>
                  <a:srgbClr val="003399"/>
                </a:solidFill>
                <a:effectLst>
                  <a:outerShdw blurRad="38100" dist="38100" dir="2700000" algn="tl">
                    <a:srgbClr val="C0C0C0"/>
                  </a:outerShdw>
                </a:effectLst>
              </a:rPr>
              <a:t>字符数组例外</a:t>
            </a:r>
            <a:r>
              <a:rPr lang="en-US" altLang="zh-CN" b="1" dirty="0">
                <a:solidFill>
                  <a:srgbClr val="003399"/>
                </a:solidFill>
                <a:effectLst>
                  <a:outerShdw blurRad="38100" dist="38100" dir="2700000" algn="tl">
                    <a:srgbClr val="C0C0C0"/>
                  </a:outerShdw>
                </a:effectLst>
              </a:rPr>
              <a:t>)</a:t>
            </a:r>
            <a:r>
              <a:rPr lang="zh-CN" altLang="en-US" b="1" dirty="0">
                <a:solidFill>
                  <a:srgbClr val="003399"/>
                </a:solidFill>
                <a:effectLst>
                  <a:outerShdw blurRad="38100" dist="38100" dir="2700000" algn="tl">
                    <a:srgbClr val="C0C0C0"/>
                  </a:outerShdw>
                </a:effectLst>
              </a:rPr>
              <a:t>，无法对数组进行整体操作，例如整体赋值或者输出。要采用循环控制结构对数组的元素逐个进行操作和处理。</a:t>
            </a:r>
            <a:endParaRPr lang="en-US" altLang="zh-CN" b="1" dirty="0">
              <a:solidFill>
                <a:srgbClr val="003399"/>
              </a:solidFill>
              <a:effectLst>
                <a:outerShdw blurRad="38100" dist="38100" dir="2700000" algn="tl">
                  <a:srgbClr val="C0C0C0"/>
                </a:outerShdw>
              </a:effectLst>
            </a:endParaRPr>
          </a:p>
          <a:p>
            <a:pPr eaLnBrk="1" hangingPunct="1">
              <a:lnSpc>
                <a:spcPct val="90000"/>
              </a:lnSpc>
            </a:pPr>
            <a:r>
              <a:rPr lang="en-US" altLang="zh-CN" b="1" dirty="0">
                <a:sym typeface="+mn-ea"/>
              </a:rPr>
              <a:t>C</a:t>
            </a:r>
            <a:r>
              <a:rPr lang="zh-CN" altLang="en-US" b="1" dirty="0">
                <a:sym typeface="+mn-ea"/>
              </a:rPr>
              <a:t>语言规定数组元素不能整体引用，每次只能引用数组的一个元素。例如，不能用赋值运算对数组进行整体赋值。因为在</a:t>
            </a:r>
            <a:r>
              <a:rPr lang="en-US" altLang="zh-CN" b="1" dirty="0">
                <a:sym typeface="+mn-ea"/>
              </a:rPr>
              <a:t>C</a:t>
            </a:r>
            <a:r>
              <a:rPr lang="zh-CN" altLang="en-US" b="1" dirty="0">
                <a:sym typeface="+mn-ea"/>
              </a:rPr>
              <a:t>语言中，</a:t>
            </a:r>
            <a:r>
              <a:rPr lang="zh-CN" altLang="en-US" b="1" dirty="0">
                <a:solidFill>
                  <a:srgbClr val="003399"/>
                </a:solidFill>
                <a:sym typeface="+mn-ea"/>
              </a:rPr>
              <a:t>数组名具有特殊含义，它代表数组的首地址</a:t>
            </a:r>
            <a:r>
              <a:rPr lang="zh-CN" altLang="en-US" b="1" dirty="0">
                <a:sym typeface="+mn-ea"/>
              </a:rPr>
              <a:t>。</a:t>
            </a:r>
            <a:endParaRPr lang="zh-CN" altLang="en-US" b="1" dirty="0"/>
          </a:p>
          <a:p>
            <a:pPr eaLnBrk="1" hangingPunct="1">
              <a:lnSpc>
                <a:spcPct val="90000"/>
              </a:lnSpc>
              <a:buFontTx/>
              <a:buNone/>
            </a:pPr>
            <a:r>
              <a:rPr lang="zh-CN" altLang="en-US" b="1" dirty="0">
                <a:sym typeface="+mn-ea"/>
              </a:rPr>
              <a:t>     </a:t>
            </a:r>
            <a:r>
              <a:rPr lang="en-US" altLang="zh-CN" b="1" dirty="0" err="1">
                <a:sym typeface="+mn-ea"/>
              </a:rPr>
              <a:t>int</a:t>
            </a:r>
            <a:r>
              <a:rPr lang="en-US" altLang="zh-CN" b="1" dirty="0">
                <a:sym typeface="+mn-ea"/>
              </a:rPr>
              <a:t> a[5];</a:t>
            </a:r>
            <a:endParaRPr lang="en-US" altLang="zh-CN" b="1" dirty="0"/>
          </a:p>
          <a:p>
            <a:pPr eaLnBrk="1" hangingPunct="1">
              <a:lnSpc>
                <a:spcPct val="90000"/>
              </a:lnSpc>
              <a:buFontTx/>
              <a:buNone/>
            </a:pPr>
            <a:r>
              <a:rPr lang="en-US" altLang="zh-CN" b="1" dirty="0">
                <a:sym typeface="+mn-ea"/>
              </a:rPr>
              <a:t>     a = {1,2,3,4,5};//</a:t>
            </a:r>
            <a:r>
              <a:rPr lang="zh-CN" altLang="en-US" b="1" dirty="0">
                <a:sym typeface="+mn-ea"/>
              </a:rPr>
              <a:t>错误</a:t>
            </a:r>
            <a:endParaRPr lang="zh-CN" altLang="en-US" b="1" i="1" dirty="0"/>
          </a:p>
        </p:txBody>
      </p:sp>
      <p:sp>
        <p:nvSpPr>
          <p:cNvPr id="22532" name="Rectangle 8"/>
          <p:cNvSpPr>
            <a:spLocks noGrp="1" noChangeArrowheads="1"/>
          </p:cNvSpPr>
          <p:nvPr>
            <p:ph type="title"/>
          </p:nvPr>
        </p:nvSpPr>
        <p:spPr>
          <a:noFill/>
        </p:spPr>
        <p:txBody>
          <a:bodyPr/>
          <a:lstStyle/>
          <a:p>
            <a:pPr eaLnBrk="1" hangingPunct="1"/>
            <a:r>
              <a:rPr lang="en-US" altLang="zh-CN" b="1"/>
              <a:t>6.3.3</a:t>
            </a:r>
            <a:r>
              <a:rPr lang="zh-CN" altLang="en-US" b="1"/>
              <a:t> </a:t>
            </a:r>
            <a:r>
              <a:rPr lang="zh-CN" altLang="en-US" b="1" u="sng"/>
              <a:t>数组的逐元素操作</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ltLang="zh-CN" b="1"/>
              <a:t>6.3.3</a:t>
            </a:r>
            <a:r>
              <a:rPr lang="zh-CN" altLang="en-US" b="1"/>
              <a:t> </a:t>
            </a:r>
            <a:r>
              <a:rPr lang="zh-CN" altLang="en-US" b="1" u="sng"/>
              <a:t>数组的逐元素操作</a:t>
            </a:r>
          </a:p>
        </p:txBody>
      </p:sp>
      <p:sp>
        <p:nvSpPr>
          <p:cNvPr id="27652" name="Text Box 4"/>
          <p:cNvSpPr>
            <a:spLocks noGrp="1" noChangeArrowheads="1"/>
          </p:cNvSpPr>
          <p:nvPr>
            <p:ph type="body" idx="1"/>
          </p:nvPr>
        </p:nvSpPr>
        <p:spPr>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FontTx/>
              <a:buNone/>
            </a:pPr>
            <a:r>
              <a:rPr lang="zh-CN" altLang="en-US" sz="2600" b="1" dirty="0"/>
              <a:t>练习</a:t>
            </a:r>
            <a:r>
              <a:rPr lang="en-US" altLang="zh-CN" sz="2600" b="1" dirty="0"/>
              <a:t>1.  40</a:t>
            </a:r>
            <a:r>
              <a:rPr lang="zh-CN" altLang="en-US" sz="2600" b="1" dirty="0"/>
              <a:t>位学生为餐厅打分，分数分为</a:t>
            </a:r>
            <a:r>
              <a:rPr lang="en-US" altLang="zh-CN" sz="2600" b="1" dirty="0"/>
              <a:t>1~10</a:t>
            </a:r>
            <a:r>
              <a:rPr lang="zh-CN" altLang="en-US" sz="2600" b="1" dirty="0"/>
              <a:t>的</a:t>
            </a:r>
            <a:r>
              <a:rPr lang="en-US" altLang="zh-CN" sz="2600" b="1" dirty="0"/>
              <a:t>10</a:t>
            </a:r>
            <a:r>
              <a:rPr lang="zh-CN" altLang="en-US" sz="2600" b="1" dirty="0"/>
              <a:t>个等级，要求统计出各个分值的打分人数；</a:t>
            </a:r>
          </a:p>
          <a:p>
            <a:pPr eaLnBrk="1" hangingPunct="1">
              <a:lnSpc>
                <a:spcPct val="90000"/>
              </a:lnSpc>
              <a:spcBef>
                <a:spcPct val="50000"/>
              </a:spcBef>
            </a:pPr>
            <a:r>
              <a:rPr lang="zh-CN" altLang="en-US" sz="2600" b="1" dirty="0"/>
              <a:t>分析：</a:t>
            </a:r>
          </a:p>
          <a:p>
            <a:pPr lvl="1" eaLnBrk="1" hangingPunct="1">
              <a:lnSpc>
                <a:spcPct val="90000"/>
              </a:lnSpc>
              <a:spcBef>
                <a:spcPct val="50000"/>
              </a:spcBef>
            </a:pPr>
            <a:r>
              <a:rPr lang="zh-CN" altLang="en-US" sz="2600" b="1" dirty="0"/>
              <a:t>可以循环读取</a:t>
            </a:r>
            <a:r>
              <a:rPr lang="en-US" altLang="zh-CN" sz="2600" b="1" dirty="0"/>
              <a:t>40</a:t>
            </a:r>
            <a:r>
              <a:rPr lang="zh-CN" altLang="en-US" sz="2600" b="1" dirty="0"/>
              <a:t>个学生的打分分值，同时进行统计，所以不需要用数组存放这</a:t>
            </a:r>
            <a:r>
              <a:rPr lang="en-US" altLang="zh-CN" sz="2600" b="1" dirty="0"/>
              <a:t>40</a:t>
            </a:r>
            <a:r>
              <a:rPr lang="zh-CN" altLang="en-US" sz="2600" b="1" dirty="0"/>
              <a:t>个分值；</a:t>
            </a:r>
          </a:p>
          <a:p>
            <a:pPr lvl="1" eaLnBrk="1" hangingPunct="1">
              <a:lnSpc>
                <a:spcPct val="90000"/>
              </a:lnSpc>
              <a:spcBef>
                <a:spcPct val="50000"/>
              </a:spcBef>
            </a:pPr>
            <a:r>
              <a:rPr lang="zh-CN" altLang="en-US" sz="2600" b="1" dirty="0"/>
              <a:t>但各个分值的打分人数需要不同的累计，最后统一输出。故必须一个</a:t>
            </a:r>
            <a:r>
              <a:rPr lang="en-US" altLang="zh-CN" sz="2600" b="1" dirty="0"/>
              <a:t>(a</a:t>
            </a:r>
            <a:r>
              <a:rPr lang="en-US" altLang="zh-CN" sz="2600" b="1" baseline="-25000" dirty="0"/>
              <a:t>1</a:t>
            </a:r>
            <a:r>
              <a:rPr lang="en-US" altLang="zh-CN" sz="2600" b="1" dirty="0"/>
              <a:t>,a</a:t>
            </a:r>
            <a:r>
              <a:rPr lang="en-US" altLang="zh-CN" sz="2600" b="1" baseline="-25000" dirty="0"/>
              <a:t>2</a:t>
            </a:r>
            <a:r>
              <a:rPr lang="en-US" altLang="zh-CN" sz="2600" b="1" dirty="0"/>
              <a:t>,</a:t>
            </a:r>
            <a:r>
              <a:rPr lang="en-US" altLang="zh-CN" sz="2600" b="1" dirty="0">
                <a:latin typeface="宋体" panose="02010600030101010101" pitchFamily="2" charset="-122"/>
              </a:rPr>
              <a:t>…</a:t>
            </a:r>
            <a:r>
              <a:rPr lang="en-US" altLang="zh-CN" sz="2600" b="1" dirty="0"/>
              <a:t>,a</a:t>
            </a:r>
            <a:r>
              <a:rPr lang="en-US" altLang="zh-CN" sz="2600" b="1" baseline="-25000" dirty="0"/>
              <a:t>10</a:t>
            </a:r>
            <a:r>
              <a:rPr lang="en-US" altLang="zh-CN" sz="2600" b="1" dirty="0"/>
              <a:t>)</a:t>
            </a:r>
            <a:r>
              <a:rPr lang="zh-CN" altLang="en-US" sz="2600" b="1" dirty="0"/>
              <a:t>的线性表存放。</a:t>
            </a:r>
            <a:r>
              <a:rPr lang="zh-CN" altLang="en-US" b="1" dirty="0">
                <a:solidFill>
                  <a:srgbClr val="003399"/>
                </a:solidFill>
                <a:sym typeface="+mn-ea"/>
              </a:rPr>
              <a:t>int frequency</a:t>
            </a:r>
            <a:r>
              <a:rPr lang="en-US" altLang="zh-CN" b="1" dirty="0">
                <a:solidFill>
                  <a:srgbClr val="003399"/>
                </a:solidFill>
                <a:sym typeface="+mn-ea"/>
              </a:rPr>
              <a:t>[10]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652">
                                            <p:txEl>
                                              <p:pRg st="2" end="2"/>
                                            </p:txEl>
                                          </p:spTgt>
                                        </p:tgtEl>
                                        <p:attrNameLst>
                                          <p:attrName>style.visibility</p:attrName>
                                        </p:attrNameLst>
                                      </p:cBhvr>
                                      <p:to>
                                        <p:strVal val="visible"/>
                                      </p:to>
                                    </p:set>
                                    <p:animEffect transition="in" filter="barn(inVertical)">
                                      <p:cBhvr>
                                        <p:cTn id="7" dur="500"/>
                                        <p:tgtEl>
                                          <p:spTgt spid="27652">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7652">
                                            <p:txEl>
                                              <p:pRg st="3" end="3"/>
                                            </p:txEl>
                                          </p:spTgt>
                                        </p:tgtEl>
                                        <p:attrNameLst>
                                          <p:attrName>style.visibility</p:attrName>
                                        </p:attrNameLst>
                                      </p:cBhvr>
                                      <p:to>
                                        <p:strVal val="visible"/>
                                      </p:to>
                                    </p:set>
                                    <p:animEffect transition="in" filter="barn(inVertical)">
                                      <p:cBhvr>
                                        <p:cTn id="10" dur="500"/>
                                        <p:tgtEl>
                                          <p:spTgt spid="276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投票统计的算法设计</a:t>
            </a:r>
          </a:p>
        </p:txBody>
      </p:sp>
      <p:grpSp>
        <p:nvGrpSpPr>
          <p:cNvPr id="15" name="组合 14"/>
          <p:cNvGrpSpPr/>
          <p:nvPr/>
        </p:nvGrpSpPr>
        <p:grpSpPr>
          <a:xfrm>
            <a:off x="4805680" y="1583690"/>
            <a:ext cx="3383280" cy="3949065"/>
            <a:chOff x="3500" y="2381"/>
            <a:chExt cx="4789" cy="6219"/>
          </a:xfrm>
        </p:grpSpPr>
        <p:sp>
          <p:nvSpPr>
            <p:cNvPr id="246833" name="Rectangle 6"/>
            <p:cNvSpPr/>
            <p:nvPr/>
          </p:nvSpPr>
          <p:spPr>
            <a:xfrm>
              <a:off x="3526" y="3264"/>
              <a:ext cx="4763" cy="3070"/>
            </a:xfrm>
            <a:prstGeom prst="rect">
              <a:avLst/>
            </a:prstGeom>
            <a:noFill/>
            <a:ln w="9525" cap="flat" cmpd="sng">
              <a:solidFill>
                <a:schemeClr val="tx1"/>
              </a:solidFill>
              <a:prstDash val="solid"/>
              <a:miter/>
              <a:headEnd type="none" w="med" len="med"/>
              <a:tailEnd type="none" w="med" len="med"/>
            </a:ln>
          </p:spPr>
          <p:txBody>
            <a:bodyPr wrap="none" anchor="ctr"/>
            <a:lstStyle/>
            <a:p>
              <a:pPr indent="0">
                <a:buNone/>
              </a:pPr>
              <a:endParaRPr lang="zh-CN" altLang="en-US" sz="2400" b="1">
                <a:latin typeface="Times New Roman" panose="02020603050405020304" pitchFamily="18" charset="0"/>
                <a:ea typeface="宋体" panose="02010600030101010101" pitchFamily="2" charset="-122"/>
              </a:endParaRPr>
            </a:p>
          </p:txBody>
        </p:sp>
        <p:sp>
          <p:nvSpPr>
            <p:cNvPr id="246834" name="Line 7"/>
            <p:cNvSpPr/>
            <p:nvPr/>
          </p:nvSpPr>
          <p:spPr>
            <a:xfrm>
              <a:off x="4094" y="4100"/>
              <a:ext cx="4195" cy="0"/>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246835" name="Line 8"/>
            <p:cNvSpPr/>
            <p:nvPr/>
          </p:nvSpPr>
          <p:spPr>
            <a:xfrm>
              <a:off x="4094" y="4100"/>
              <a:ext cx="0" cy="2234"/>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246836" name="Text Box 9"/>
            <p:cNvSpPr txBox="1"/>
            <p:nvPr/>
          </p:nvSpPr>
          <p:spPr>
            <a:xfrm>
              <a:off x="3866" y="3402"/>
              <a:ext cx="4423" cy="667"/>
            </a:xfrm>
            <a:prstGeom prst="rect">
              <a:avLst/>
            </a:prstGeom>
            <a:noFill/>
            <a:ln w="9525">
              <a:noFill/>
            </a:ln>
          </p:spPr>
          <p:txBody>
            <a:bodyPr anchor="t">
              <a:spAutoFit/>
            </a:bodyPr>
            <a:lstStyle/>
            <a:p>
              <a:pPr marL="0" indent="0" algn="ctr">
                <a:spcBef>
                  <a:spcPct val="50000"/>
                </a:spcBef>
                <a:buNone/>
              </a:pPr>
              <a:r>
                <a:rPr lang="en-US" altLang="zh-CN" sz="2400" b="1">
                  <a:latin typeface="Times New Roman" panose="02020603050405020304" pitchFamily="18" charset="0"/>
                  <a:ea typeface="宋体" panose="02010600030101010101" pitchFamily="2" charset="-122"/>
                </a:rPr>
                <a:t>i=0; </a:t>
              </a:r>
              <a:r>
                <a:rPr lang="zh-CN" altLang="en-US" sz="2400" b="1">
                  <a:latin typeface="Times New Roman" panose="02020603050405020304" pitchFamily="18" charset="0"/>
                  <a:ea typeface="宋体" panose="02010600030101010101" pitchFamily="2" charset="-122"/>
                </a:rPr>
                <a:t>当</a:t>
              </a:r>
              <a:r>
                <a:rPr lang="en-US" altLang="zh-CN" sz="2400" b="1">
                  <a:latin typeface="Times New Roman" panose="02020603050405020304" pitchFamily="18" charset="0"/>
                  <a:ea typeface="宋体" panose="02010600030101010101" pitchFamily="2" charset="-122"/>
                </a:rPr>
                <a:t>i&lt;</a:t>
              </a:r>
              <a:r>
                <a:rPr lang="en-US" altLang="zh-CN" sz="2400" b="1">
                  <a:latin typeface="Times New Roman" panose="02020603050405020304" pitchFamily="18" charset="0"/>
                </a:rPr>
                <a:t>40</a:t>
              </a:r>
              <a:r>
                <a:rPr lang="zh-CN" altLang="en-US" sz="2400" b="1">
                  <a:latin typeface="Times New Roman" panose="02020603050405020304" pitchFamily="18" charset="0"/>
                  <a:ea typeface="宋体" panose="02010600030101010101" pitchFamily="2" charset="-122"/>
                </a:rPr>
                <a:t>时</a:t>
              </a:r>
              <a:endParaRPr lang="en-US" altLang="zh-CN" sz="2400" b="1">
                <a:latin typeface="Times New Roman" panose="02020603050405020304" pitchFamily="18" charset="0"/>
              </a:endParaRPr>
            </a:p>
          </p:txBody>
        </p:sp>
        <p:sp>
          <p:nvSpPr>
            <p:cNvPr id="246837" name="Rectangle 10"/>
            <p:cNvSpPr/>
            <p:nvPr/>
          </p:nvSpPr>
          <p:spPr>
            <a:xfrm>
              <a:off x="4094" y="4100"/>
              <a:ext cx="4195" cy="767"/>
            </a:xfrm>
            <a:prstGeom prst="rect">
              <a:avLst/>
            </a:prstGeom>
            <a:noFill/>
            <a:ln w="9525" cap="flat" cmpd="sng">
              <a:solidFill>
                <a:schemeClr val="tx1"/>
              </a:solidFill>
              <a:prstDash val="solid"/>
              <a:miter/>
              <a:headEnd type="none" w="med" len="med"/>
              <a:tailEnd type="none" w="med" len="med"/>
            </a:ln>
            <a:extLst>
              <a:ext uri="{909E8E84-426E-40DD-AFC4-6F175D3DCCD1}">
                <a14:hiddenFill xmlns:a14="http://schemas.microsoft.com/office/drawing/2010/main">
                  <a:solidFill>
                    <a:srgbClr val="FFFF99"/>
                  </a:solidFill>
                </a14:hiddenFill>
              </a:ext>
            </a:extLst>
          </p:spPr>
          <p:txBody>
            <a:bodyPr wrap="none" anchor="ctr"/>
            <a:lstStyle/>
            <a:p>
              <a:pPr marL="0" indent="0" algn="ctr">
                <a:buNone/>
              </a:pPr>
              <a:r>
                <a:rPr lang="zh-CN" altLang="en-US" sz="2400" b="1">
                  <a:latin typeface="Times New Roman" panose="02020603050405020304" pitchFamily="18" charset="0"/>
                  <a:ea typeface="宋体" panose="02010600030101010101" pitchFamily="2" charset="-122"/>
                </a:rPr>
                <a:t>输入</a:t>
              </a:r>
              <a:r>
                <a:rPr lang="en-US" altLang="zh-CN" sz="2400" b="1">
                  <a:latin typeface="Times New Roman" panose="02020603050405020304" pitchFamily="18" charset="0"/>
                  <a:ea typeface="宋体" panose="02010600030101010101" pitchFamily="2" charset="-122"/>
                </a:rPr>
                <a:t>score</a:t>
              </a:r>
            </a:p>
          </p:txBody>
        </p:sp>
        <p:sp>
          <p:nvSpPr>
            <p:cNvPr id="246839" name="Rectangle 12"/>
            <p:cNvSpPr/>
            <p:nvPr/>
          </p:nvSpPr>
          <p:spPr>
            <a:xfrm>
              <a:off x="4094" y="5619"/>
              <a:ext cx="4195" cy="715"/>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en-US" altLang="zh-CN" sz="2400" b="1">
                  <a:latin typeface="Times New Roman" panose="02020603050405020304" pitchFamily="18" charset="0"/>
                </a:rPr>
                <a:t>i</a:t>
              </a:r>
              <a:r>
                <a:rPr lang="zh-CN" altLang="en-US" sz="24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i+1</a:t>
              </a:r>
              <a:endParaRPr lang="zh-CN" altLang="en-US" sz="2400" b="1">
                <a:latin typeface="Times New Roman" panose="02020603050405020304" pitchFamily="18" charset="0"/>
                <a:ea typeface="宋体" panose="02010600030101010101" pitchFamily="2" charset="-122"/>
              </a:endParaRPr>
            </a:p>
          </p:txBody>
        </p:sp>
        <p:sp>
          <p:nvSpPr>
            <p:cNvPr id="246840" name="Rectangle 59"/>
            <p:cNvSpPr/>
            <p:nvPr/>
          </p:nvSpPr>
          <p:spPr>
            <a:xfrm>
              <a:off x="3526" y="2381"/>
              <a:ext cx="4763" cy="882"/>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zh-CN" altLang="en-US" sz="2400" b="1" dirty="0">
                  <a:latin typeface="Times New Roman" panose="02020603050405020304" pitchFamily="18" charset="0"/>
                  <a:ea typeface="宋体" panose="02010600030101010101" pitchFamily="2" charset="-122"/>
                </a:rPr>
                <a:t>定义数组</a:t>
              </a:r>
              <a:r>
                <a:rPr lang="en-US" altLang="zh-CN" sz="2400" b="1" dirty="0">
                  <a:latin typeface="Times New Roman" panose="02020603050405020304" pitchFamily="18" charset="0"/>
                  <a:ea typeface="宋体" panose="02010600030101010101" pitchFamily="2" charset="-122"/>
                </a:rPr>
                <a:t>a[10]</a:t>
              </a:r>
            </a:p>
          </p:txBody>
        </p:sp>
        <p:sp>
          <p:nvSpPr>
            <p:cNvPr id="7" name="Rectangle 11"/>
            <p:cNvSpPr/>
            <p:nvPr/>
          </p:nvSpPr>
          <p:spPr>
            <a:xfrm>
              <a:off x="4095" y="4867"/>
              <a:ext cx="4194" cy="751"/>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en-US" altLang="zh-CN" sz="2400" b="1">
                  <a:latin typeface="Times New Roman" panose="02020603050405020304" pitchFamily="18" charset="0"/>
                </a:rPr>
                <a:t>a[score-1]++;</a:t>
              </a:r>
            </a:p>
          </p:txBody>
        </p:sp>
        <p:sp>
          <p:nvSpPr>
            <p:cNvPr id="8" name="Rectangle 6"/>
            <p:cNvSpPr/>
            <p:nvPr/>
          </p:nvSpPr>
          <p:spPr>
            <a:xfrm>
              <a:off x="3500" y="6334"/>
              <a:ext cx="4763" cy="2266"/>
            </a:xfrm>
            <a:prstGeom prst="rect">
              <a:avLst/>
            </a:prstGeom>
            <a:noFill/>
            <a:ln w="9525" cap="flat" cmpd="sng">
              <a:solidFill>
                <a:schemeClr val="tx1"/>
              </a:solidFill>
              <a:prstDash val="solid"/>
              <a:miter/>
              <a:headEnd type="none" w="med" len="med"/>
              <a:tailEnd type="none" w="med" len="med"/>
            </a:ln>
          </p:spPr>
          <p:txBody>
            <a:bodyPr wrap="none" anchor="ctr"/>
            <a:lstStyle/>
            <a:p>
              <a:pPr indent="0">
                <a:buNone/>
              </a:pPr>
              <a:endParaRPr lang="zh-CN" altLang="en-US" sz="2400" b="1">
                <a:latin typeface="Times New Roman" panose="02020603050405020304" pitchFamily="18" charset="0"/>
                <a:ea typeface="宋体" panose="02010600030101010101" pitchFamily="2" charset="-122"/>
              </a:endParaRPr>
            </a:p>
          </p:txBody>
        </p:sp>
        <p:sp>
          <p:nvSpPr>
            <p:cNvPr id="9" name="Line 7"/>
            <p:cNvSpPr/>
            <p:nvPr/>
          </p:nvSpPr>
          <p:spPr>
            <a:xfrm>
              <a:off x="4068" y="7125"/>
              <a:ext cx="4195" cy="0"/>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10" name="Line 8"/>
            <p:cNvSpPr/>
            <p:nvPr/>
          </p:nvSpPr>
          <p:spPr>
            <a:xfrm>
              <a:off x="4068" y="7125"/>
              <a:ext cx="1" cy="1473"/>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11" name="Text Box 9"/>
            <p:cNvSpPr txBox="1"/>
            <p:nvPr/>
          </p:nvSpPr>
          <p:spPr>
            <a:xfrm>
              <a:off x="3840" y="6427"/>
              <a:ext cx="4423" cy="667"/>
            </a:xfrm>
            <a:prstGeom prst="rect">
              <a:avLst/>
            </a:prstGeom>
            <a:noFill/>
            <a:ln w="9525">
              <a:noFill/>
            </a:ln>
          </p:spPr>
          <p:txBody>
            <a:bodyPr anchor="t">
              <a:spAutoFit/>
            </a:bodyPr>
            <a:lstStyle/>
            <a:p>
              <a:pPr marL="0" indent="0" algn="ctr">
                <a:spcBef>
                  <a:spcPct val="50000"/>
                </a:spcBef>
                <a:buNone/>
              </a:pPr>
              <a:r>
                <a:rPr lang="en-US" altLang="zh-CN" sz="2400" b="1">
                  <a:latin typeface="Times New Roman" panose="02020603050405020304" pitchFamily="18" charset="0"/>
                  <a:ea typeface="宋体" panose="02010600030101010101" pitchFamily="2" charset="-122"/>
                </a:rPr>
                <a:t>i=0; </a:t>
              </a:r>
              <a:r>
                <a:rPr lang="zh-CN" altLang="en-US" sz="2400" b="1">
                  <a:latin typeface="Times New Roman" panose="02020603050405020304" pitchFamily="18" charset="0"/>
                  <a:ea typeface="宋体" panose="02010600030101010101" pitchFamily="2" charset="-122"/>
                </a:rPr>
                <a:t>当</a:t>
              </a:r>
              <a:r>
                <a:rPr lang="en-US" altLang="zh-CN" sz="2400" b="1">
                  <a:latin typeface="Times New Roman" panose="02020603050405020304" pitchFamily="18" charset="0"/>
                  <a:ea typeface="宋体" panose="02010600030101010101" pitchFamily="2" charset="-122"/>
                </a:rPr>
                <a:t>i&lt;</a:t>
              </a:r>
              <a:r>
                <a:rPr lang="en-US" altLang="zh-CN" sz="2400" b="1">
                  <a:latin typeface="Times New Roman" panose="02020603050405020304" pitchFamily="18" charset="0"/>
                </a:rPr>
                <a:t>10</a:t>
              </a:r>
              <a:r>
                <a:rPr lang="zh-CN" altLang="en-US" sz="2400" b="1">
                  <a:latin typeface="Times New Roman" panose="02020603050405020304" pitchFamily="18" charset="0"/>
                  <a:ea typeface="宋体" panose="02010600030101010101" pitchFamily="2" charset="-122"/>
                </a:rPr>
                <a:t>时</a:t>
              </a:r>
              <a:endParaRPr lang="en-US" altLang="zh-CN" sz="2400" b="1">
                <a:latin typeface="Times New Roman" panose="02020603050405020304" pitchFamily="18" charset="0"/>
              </a:endParaRPr>
            </a:p>
          </p:txBody>
        </p:sp>
        <p:sp>
          <p:nvSpPr>
            <p:cNvPr id="12" name="Rectangle 10"/>
            <p:cNvSpPr/>
            <p:nvPr/>
          </p:nvSpPr>
          <p:spPr>
            <a:xfrm>
              <a:off x="4068" y="7125"/>
              <a:ext cx="4195" cy="767"/>
            </a:xfrm>
            <a:prstGeom prst="rect">
              <a:avLst/>
            </a:prstGeom>
            <a:noFill/>
            <a:ln w="9525" cap="flat" cmpd="sng">
              <a:solidFill>
                <a:schemeClr val="tx1"/>
              </a:solidFill>
              <a:prstDash val="solid"/>
              <a:miter/>
              <a:headEnd type="none" w="med" len="med"/>
              <a:tailEnd type="none" w="med" len="med"/>
            </a:ln>
            <a:extLst>
              <a:ext uri="{909E8E84-426E-40DD-AFC4-6F175D3DCCD1}">
                <a14:hiddenFill xmlns:a14="http://schemas.microsoft.com/office/drawing/2010/main">
                  <a:solidFill>
                    <a:srgbClr val="FFFF99"/>
                  </a:solidFill>
                </a14:hiddenFill>
              </a:ext>
            </a:extLst>
          </p:spPr>
          <p:txBody>
            <a:bodyPr wrap="none" anchor="ctr"/>
            <a:lstStyle/>
            <a:p>
              <a:pPr marL="0" indent="0" algn="ctr">
                <a:buNone/>
              </a:pPr>
              <a:r>
                <a:rPr lang="zh-CN" altLang="en-US" sz="2400" b="1">
                  <a:latin typeface="Times New Roman" panose="02020603050405020304" pitchFamily="18" charset="0"/>
                  <a:ea typeface="宋体" panose="02010600030101010101" pitchFamily="2" charset="-122"/>
                </a:rPr>
                <a:t>输出</a:t>
              </a:r>
              <a:r>
                <a:rPr lang="en-US" altLang="zh-CN" sz="2400" b="1">
                  <a:latin typeface="Times New Roman" panose="02020603050405020304" pitchFamily="18" charset="0"/>
                  <a:ea typeface="宋体" panose="02010600030101010101" pitchFamily="2" charset="-122"/>
                </a:rPr>
                <a:t>i+1</a:t>
              </a:r>
              <a:r>
                <a:rPr lang="zh-CN" altLang="en-US" sz="2400" b="1">
                  <a:latin typeface="Times New Roman" panose="02020603050405020304" pitchFamily="18" charset="0"/>
                  <a:ea typeface="宋体" panose="02010600030101010101" pitchFamily="2" charset="-122"/>
                </a:rPr>
                <a:t>和</a:t>
              </a:r>
              <a:r>
                <a:rPr lang="en-US" altLang="zh-CN" sz="2400" b="1">
                  <a:latin typeface="Times New Roman" panose="02020603050405020304" pitchFamily="18" charset="0"/>
                  <a:ea typeface="宋体" panose="02010600030101010101" pitchFamily="2" charset="-122"/>
                </a:rPr>
                <a:t>a[i]</a:t>
              </a:r>
            </a:p>
          </p:txBody>
        </p:sp>
        <p:sp>
          <p:nvSpPr>
            <p:cNvPr id="13" name="Rectangle 12"/>
            <p:cNvSpPr/>
            <p:nvPr/>
          </p:nvSpPr>
          <p:spPr>
            <a:xfrm>
              <a:off x="4069" y="7884"/>
              <a:ext cx="4195" cy="715"/>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en-US" altLang="zh-CN" sz="2400" b="1">
                  <a:latin typeface="Times New Roman" panose="02020603050405020304" pitchFamily="18" charset="0"/>
                </a:rPr>
                <a:t>i</a:t>
              </a:r>
              <a:r>
                <a:rPr lang="zh-CN" altLang="en-US" sz="24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i+1</a:t>
              </a:r>
              <a:endParaRPr lang="zh-CN" altLang="en-US" sz="2400" b="1">
                <a:latin typeface="Times New Roman" panose="02020603050405020304" pitchFamily="18" charset="0"/>
                <a:ea typeface="宋体" panose="02010600030101010101" pitchFamily="2" charset="-122"/>
              </a:endParaRPr>
            </a:p>
          </p:txBody>
        </p:sp>
      </p:grpSp>
      <p:grpSp>
        <p:nvGrpSpPr>
          <p:cNvPr id="30" name="组合 29"/>
          <p:cNvGrpSpPr/>
          <p:nvPr/>
        </p:nvGrpSpPr>
        <p:grpSpPr>
          <a:xfrm>
            <a:off x="422275" y="1469390"/>
            <a:ext cx="3040380" cy="1619885"/>
            <a:chOff x="665" y="2314"/>
            <a:chExt cx="4788" cy="2551"/>
          </a:xfrm>
        </p:grpSpPr>
        <p:sp>
          <p:nvSpPr>
            <p:cNvPr id="17" name="Rectangle 5"/>
            <p:cNvSpPr/>
            <p:nvPr/>
          </p:nvSpPr>
          <p:spPr>
            <a:xfrm>
              <a:off x="691" y="3151"/>
              <a:ext cx="4763" cy="837"/>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zh-CN" altLang="en-US">
                  <a:sym typeface="+mn-ea"/>
                </a:rPr>
                <a:t>循环读取</a:t>
              </a:r>
              <a:r>
                <a:rPr lang="en-US" altLang="zh-CN">
                  <a:sym typeface="+mn-ea"/>
                </a:rPr>
                <a:t>40</a:t>
              </a:r>
              <a:r>
                <a:rPr lang="zh-CN" altLang="en-US">
                  <a:sym typeface="+mn-ea"/>
                </a:rPr>
                <a:t>个得分并统计</a:t>
              </a:r>
            </a:p>
          </p:txBody>
        </p:sp>
        <p:sp>
          <p:nvSpPr>
            <p:cNvPr id="25" name="Rectangle 59"/>
            <p:cNvSpPr/>
            <p:nvPr/>
          </p:nvSpPr>
          <p:spPr>
            <a:xfrm>
              <a:off x="691" y="2314"/>
              <a:ext cx="4763" cy="837"/>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zh-CN" altLang="en-US">
                  <a:latin typeface="Times New Roman" panose="02020603050405020304" pitchFamily="18" charset="0"/>
                </a:rPr>
                <a:t>用数组保存各档统计票数</a:t>
              </a:r>
            </a:p>
          </p:txBody>
        </p:sp>
        <p:sp>
          <p:nvSpPr>
            <p:cNvPr id="29" name="Rectangle 5"/>
            <p:cNvSpPr/>
            <p:nvPr/>
          </p:nvSpPr>
          <p:spPr>
            <a:xfrm>
              <a:off x="665" y="3989"/>
              <a:ext cx="4763" cy="877"/>
            </a:xfrm>
            <a:prstGeom prst="rect">
              <a:avLst/>
            </a:prstGeom>
            <a:noFill/>
            <a:ln w="9525" cap="flat" cmpd="sng">
              <a:solidFill>
                <a:schemeClr val="tx1"/>
              </a:solidFill>
              <a:prstDash val="solid"/>
              <a:miter/>
              <a:headEnd type="none" w="med" len="med"/>
              <a:tailEnd type="none" w="med" len="med"/>
            </a:ln>
          </p:spPr>
          <p:txBody>
            <a:bodyPr wrap="none" anchor="ctr"/>
            <a:lstStyle/>
            <a:p>
              <a:pPr marL="0" indent="0" algn="ctr">
                <a:buNone/>
              </a:pPr>
              <a:r>
                <a:rPr lang="zh-CN" altLang="en-US">
                  <a:sym typeface="+mn-ea"/>
                </a:rPr>
                <a:t>输出数组中的统计票数</a:t>
              </a:r>
            </a:p>
          </p:txBody>
        </p:sp>
      </p:grpSp>
      <p:sp>
        <p:nvSpPr>
          <p:cNvPr id="472119" name="AutoShape 55"/>
          <p:cNvSpPr/>
          <p:nvPr/>
        </p:nvSpPr>
        <p:spPr>
          <a:xfrm>
            <a:off x="3567430" y="2050098"/>
            <a:ext cx="1152525"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11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1125854"/>
            <a:ext cx="8350250" cy="5111457"/>
          </a:xfrm>
        </p:spPr>
        <p:txBody>
          <a:bodyPr/>
          <a:lstStyle/>
          <a:p>
            <a:pPr marL="0" indent="0">
              <a:buNone/>
            </a:pPr>
            <a:r>
              <a:rPr lang="zh-CN" altLang="en-US" sz="2000" dirty="0">
                <a:latin typeface="Consolas" panose="020B0609020204030204" pitchFamily="49" charset="0"/>
              </a:rPr>
              <a:t>#include &lt;stdio.h&gt;</a:t>
            </a:r>
          </a:p>
          <a:p>
            <a:pPr marL="0" indent="0">
              <a:buNone/>
            </a:pPr>
            <a:r>
              <a:rPr lang="zh-CN" altLang="en-US" sz="2000" dirty="0">
                <a:latin typeface="Consolas" panose="020B0609020204030204" pitchFamily="49" charset="0"/>
              </a:rPr>
              <a:t>#define RESPONSE_SIZE </a:t>
            </a:r>
            <a:r>
              <a:rPr lang="en-US" altLang="zh-CN" sz="2000" dirty="0">
                <a:latin typeface="Consolas" panose="020B0609020204030204" pitchFamily="49" charset="0"/>
              </a:rPr>
              <a:t>40</a:t>
            </a:r>
          </a:p>
          <a:p>
            <a:pPr marL="0" indent="0">
              <a:buNone/>
            </a:pPr>
            <a:r>
              <a:rPr lang="zh-CN" altLang="en-US" sz="2000" dirty="0">
                <a:latin typeface="Consolas" panose="020B0609020204030204" pitchFamily="49" charset="0"/>
              </a:rPr>
              <a:t>#define FREQUENCY_SIZE 1</a:t>
            </a:r>
            <a:r>
              <a:rPr lang="en-US" altLang="zh-CN" sz="2000" dirty="0">
                <a:latin typeface="Consolas" panose="020B0609020204030204" pitchFamily="49" charset="0"/>
              </a:rPr>
              <a:t>0</a:t>
            </a:r>
            <a:r>
              <a:rPr lang="zh-CN" altLang="en-US" sz="2000" dirty="0">
                <a:latin typeface="Consolas" panose="020B0609020204030204" pitchFamily="49" charset="0"/>
              </a:rPr>
              <a:t> </a:t>
            </a:r>
          </a:p>
          <a:p>
            <a:pPr marL="0" indent="0">
              <a:buNone/>
            </a:pPr>
            <a:r>
              <a:rPr lang="zh-CN" altLang="en-US" sz="2000" dirty="0">
                <a:latin typeface="Consolas" panose="020B0609020204030204" pitchFamily="49" charset="0"/>
              </a:rPr>
              <a:t>int main()</a:t>
            </a:r>
          </a:p>
          <a:p>
            <a:pPr marL="0" indent="0">
              <a:buNone/>
            </a:pPr>
            <a:r>
              <a:rPr lang="zh-CN" altLang="en-US" sz="2000" dirty="0">
                <a:latin typeface="Consolas" panose="020B0609020204030204" pitchFamily="49" charset="0"/>
              </a:rPr>
              <a:t>{  int frequency[FREQUENCY_SIZE]={0};</a:t>
            </a:r>
            <a:r>
              <a:rPr lang="en-US" altLang="zh-CN" sz="2000" dirty="0">
                <a:latin typeface="Consolas" panose="020B0609020204030204" pitchFamily="49" charset="0"/>
              </a:rPr>
              <a:t>/*</a:t>
            </a:r>
            <a:r>
              <a:rPr lang="zh-CN" altLang="en-US" sz="2000" dirty="0">
                <a:solidFill>
                  <a:srgbClr val="003399"/>
                </a:solidFill>
                <a:latin typeface="Consolas" panose="020B0609020204030204" pitchFamily="49" charset="0"/>
                <a:sym typeface="+mn-ea"/>
              </a:rPr>
              <a:t>存放1～10分值票数</a:t>
            </a:r>
            <a:r>
              <a:rPr lang="en-US" altLang="zh-CN" sz="2000" dirty="0">
                <a:solidFill>
                  <a:srgbClr val="003399"/>
                </a:solidFill>
                <a:latin typeface="Consolas" panose="020B0609020204030204" pitchFamily="49" charset="0"/>
                <a:sym typeface="+mn-ea"/>
              </a:rPr>
              <a:t>*/</a:t>
            </a:r>
            <a:endParaRPr lang="zh-CN" altLang="en-US" sz="2000" dirty="0">
              <a:solidFill>
                <a:srgbClr val="003399"/>
              </a:solidFill>
              <a:latin typeface="Consolas" panose="020B0609020204030204" pitchFamily="49" charset="0"/>
              <a:sym typeface="+mn-ea"/>
            </a:endParaRPr>
          </a:p>
          <a:p>
            <a:pPr marL="0" indent="0">
              <a:buNone/>
            </a:pPr>
            <a:r>
              <a:rPr lang="zh-CN" altLang="en-US" sz="2000" dirty="0">
                <a:latin typeface="Consolas" panose="020B0609020204030204" pitchFamily="49" charset="0"/>
              </a:rPr>
              <a:t>   int </a:t>
            </a:r>
            <a:r>
              <a:rPr lang="en-US" altLang="zh-CN" sz="2000" dirty="0">
                <a:latin typeface="Consolas" panose="020B0609020204030204" pitchFamily="49" charset="0"/>
              </a:rPr>
              <a:t>i, score</a:t>
            </a:r>
            <a:r>
              <a:rPr lang="zh-CN" altLang="en-US" sz="2000" dirty="0">
                <a:latin typeface="Consolas" panose="020B0609020204030204" pitchFamily="49" charset="0"/>
              </a:rPr>
              <a:t>;</a:t>
            </a:r>
          </a:p>
          <a:p>
            <a:pPr marL="0" indent="0">
              <a:buNone/>
            </a:pPr>
            <a:r>
              <a:rPr lang="zh-CN" altLang="en-US" sz="2000" dirty="0">
                <a:latin typeface="Consolas" panose="020B0609020204030204" pitchFamily="49" charset="0"/>
              </a:rPr>
              <a:t>   for(</a:t>
            </a:r>
            <a:r>
              <a:rPr lang="en-US" altLang="zh-CN" sz="2000" dirty="0">
                <a:latin typeface="Consolas" panose="020B0609020204030204" pitchFamily="49" charset="0"/>
              </a:rPr>
              <a:t>i</a:t>
            </a:r>
            <a:r>
              <a:rPr lang="zh-CN" altLang="en-US" sz="2000" dirty="0">
                <a:latin typeface="Consolas" panose="020B0609020204030204" pitchFamily="49" charset="0"/>
              </a:rPr>
              <a:t>=0; </a:t>
            </a:r>
            <a:r>
              <a:rPr lang="en-US" altLang="zh-CN" sz="2000" dirty="0">
                <a:latin typeface="Consolas" panose="020B0609020204030204" pitchFamily="49" charset="0"/>
              </a:rPr>
              <a:t>i</a:t>
            </a:r>
            <a:r>
              <a:rPr lang="zh-CN" altLang="en-US" sz="2000" dirty="0">
                <a:latin typeface="Consolas" panose="020B0609020204030204" pitchFamily="49" charset="0"/>
              </a:rPr>
              <a:t>&lt;RESPONSE_SIZE; </a:t>
            </a:r>
            <a:r>
              <a:rPr lang="en-US" altLang="zh-CN" sz="2000" dirty="0">
                <a:latin typeface="Consolas" panose="020B0609020204030204" pitchFamily="49" charset="0"/>
              </a:rPr>
              <a:t>i</a:t>
            </a:r>
            <a:r>
              <a:rPr lang="zh-CN" altLang="en-US" sz="2000" dirty="0">
                <a:latin typeface="Consolas" panose="020B0609020204030204" pitchFamily="49" charset="0"/>
              </a:rPr>
              <a:t>++)</a:t>
            </a:r>
          </a:p>
          <a:p>
            <a:pPr marL="0" indent="0">
              <a:buNone/>
            </a:pPr>
            <a:r>
              <a:rPr lang="zh-CN" altLang="en-US" sz="2000" dirty="0">
                <a:latin typeface="Consolas" panose="020B0609020204030204" pitchFamily="49" charset="0"/>
              </a:rPr>
              <a:t>   </a:t>
            </a:r>
            <a:r>
              <a:rPr lang="en-US" altLang="zh-CN" sz="2000" dirty="0">
                <a:latin typeface="Consolas" panose="020B0609020204030204" pitchFamily="49" charset="0"/>
              </a:rPr>
              <a:t>{	scanf</a:t>
            </a:r>
            <a:r>
              <a:rPr lang="zh-CN" altLang="en-US" sz="2000" dirty="0">
                <a:latin typeface="Consolas" panose="020B0609020204030204" pitchFamily="49" charset="0"/>
              </a:rPr>
              <a:t>("%d",&amp;</a:t>
            </a:r>
            <a:r>
              <a:rPr lang="en-US" altLang="zh-CN" sz="2000" dirty="0">
                <a:latin typeface="Consolas" panose="020B0609020204030204" pitchFamily="49" charset="0"/>
              </a:rPr>
              <a:t>score</a:t>
            </a:r>
            <a:r>
              <a:rPr lang="zh-CN" altLang="en-US" sz="2000" dirty="0">
                <a:latin typeface="Consolas" panose="020B0609020204030204" pitchFamily="49" charset="0"/>
              </a:rPr>
              <a:t>);/</a:t>
            </a:r>
            <a:r>
              <a:rPr lang="zh-CN" altLang="en-US" sz="2000" dirty="0">
                <a:solidFill>
                  <a:srgbClr val="003399"/>
                </a:solidFill>
                <a:latin typeface="Consolas" panose="020B0609020204030204" pitchFamily="49" charset="0"/>
              </a:rPr>
              <a:t>/读取一个打分 </a:t>
            </a:r>
            <a:r>
              <a:rPr lang="zh-CN" altLang="en-US" sz="2000" dirty="0">
                <a:latin typeface="Consolas" panose="020B0609020204030204" pitchFamily="49" charset="0"/>
              </a:rPr>
              <a:t> </a:t>
            </a:r>
          </a:p>
          <a:p>
            <a:pPr marL="0" indent="0">
              <a:buNone/>
            </a:pPr>
            <a:r>
              <a:rPr lang="en-US" altLang="zh-CN" sz="2000" dirty="0">
                <a:latin typeface="Consolas" panose="020B0609020204030204" pitchFamily="49" charset="0"/>
                <a:sym typeface="+mn-ea"/>
              </a:rPr>
              <a:t> 	if (score&gt;=1 &amp;&amp; score&lt;=</a:t>
            </a:r>
            <a:r>
              <a:rPr lang="zh-CN" altLang="en-US" sz="2000" dirty="0">
                <a:latin typeface="Consolas" panose="020B0609020204030204" pitchFamily="49" charset="0"/>
                <a:sym typeface="+mn-ea"/>
              </a:rPr>
              <a:t>FREQUENCY_SIZE</a:t>
            </a:r>
            <a:r>
              <a:rPr lang="en-US" altLang="zh-CN" sz="2000" dirty="0">
                <a:latin typeface="Consolas" panose="020B0609020204030204" pitchFamily="49" charset="0"/>
                <a:sym typeface="+mn-ea"/>
              </a:rPr>
              <a:t>)</a:t>
            </a:r>
          </a:p>
          <a:p>
            <a:pPr marL="0" indent="0">
              <a:buNone/>
            </a:pPr>
            <a:r>
              <a:rPr lang="en-US" altLang="zh-CN" sz="2000" dirty="0">
                <a:latin typeface="Consolas" panose="020B0609020204030204" pitchFamily="49" charset="0"/>
                <a:sym typeface="+mn-ea"/>
              </a:rPr>
              <a:t>            frequency[score-1]++;//</a:t>
            </a:r>
            <a:r>
              <a:rPr lang="zh-CN" altLang="en-US" sz="2000" dirty="0">
                <a:latin typeface="Consolas" panose="020B0609020204030204" pitchFamily="49" charset="0"/>
                <a:sym typeface="+mn-ea"/>
              </a:rPr>
              <a:t>统计</a:t>
            </a:r>
            <a:r>
              <a:rPr lang="en-US" altLang="zh-CN" sz="2000" dirty="0">
                <a:latin typeface="Consolas" panose="020B0609020204030204" pitchFamily="49" charset="0"/>
                <a:sym typeface="+mn-ea"/>
              </a:rPr>
              <a:t>,</a:t>
            </a:r>
            <a:r>
              <a:rPr lang="zh-CN" altLang="en-US" sz="2000" dirty="0">
                <a:latin typeface="Consolas" panose="020B0609020204030204" pitchFamily="49" charset="0"/>
                <a:sym typeface="+mn-ea"/>
              </a:rPr>
              <a:t>注意下标从</a:t>
            </a:r>
            <a:r>
              <a:rPr lang="en-US" altLang="zh-CN" sz="2000" dirty="0">
                <a:latin typeface="Consolas" panose="020B0609020204030204" pitchFamily="49" charset="0"/>
                <a:sym typeface="+mn-ea"/>
              </a:rPr>
              <a:t>0</a:t>
            </a:r>
            <a:r>
              <a:rPr lang="zh-CN" altLang="en-US" sz="2000" dirty="0">
                <a:latin typeface="Consolas" panose="020B0609020204030204" pitchFamily="49" charset="0"/>
                <a:sym typeface="+mn-ea"/>
              </a:rPr>
              <a:t>开始</a:t>
            </a:r>
            <a:endParaRPr lang="en-US" altLang="zh-CN" sz="2000" dirty="0">
              <a:latin typeface="Consolas" panose="020B0609020204030204" pitchFamily="49" charset="0"/>
              <a:sym typeface="+mn-ea"/>
            </a:endParaRPr>
          </a:p>
          <a:p>
            <a:pPr marL="0" indent="0">
              <a:buNone/>
            </a:pPr>
            <a:r>
              <a:rPr lang="en-US" altLang="zh-CN" sz="2000" dirty="0">
                <a:latin typeface="Consolas" panose="020B0609020204030204" pitchFamily="49" charset="0"/>
                <a:sym typeface="+mn-ea"/>
              </a:rPr>
              <a:t>   }//end for</a:t>
            </a:r>
            <a:endParaRPr lang="en-US" altLang="zh-CN" sz="2000" dirty="0">
              <a:latin typeface="Consolas" panose="020B0609020204030204" pitchFamily="49" charset="0"/>
            </a:endParaRPr>
          </a:p>
          <a:p>
            <a:pPr marL="0" indent="0">
              <a:buNone/>
            </a:pPr>
            <a:r>
              <a:rPr lang="zh-CN" altLang="en-US" sz="2000" dirty="0">
                <a:latin typeface="Consolas" panose="020B0609020204030204" pitchFamily="49" charset="0"/>
                <a:sym typeface="+mn-ea"/>
              </a:rPr>
              <a:t>   for(</a:t>
            </a:r>
            <a:r>
              <a:rPr lang="en-US" altLang="zh-CN" sz="2000" dirty="0">
                <a:latin typeface="Consolas" panose="020B0609020204030204" pitchFamily="49" charset="0"/>
                <a:sym typeface="+mn-ea"/>
              </a:rPr>
              <a:t>i</a:t>
            </a:r>
            <a:r>
              <a:rPr lang="zh-CN" altLang="en-US" sz="2000" dirty="0">
                <a:latin typeface="Consolas" panose="020B0609020204030204" pitchFamily="49" charset="0"/>
                <a:sym typeface="+mn-ea"/>
              </a:rPr>
              <a:t>=</a:t>
            </a:r>
            <a:r>
              <a:rPr lang="en-US" altLang="zh-CN" sz="2000" dirty="0">
                <a:latin typeface="Consolas" panose="020B0609020204030204" pitchFamily="49" charset="0"/>
                <a:sym typeface="+mn-ea"/>
              </a:rPr>
              <a:t>0</a:t>
            </a:r>
            <a:r>
              <a:rPr lang="zh-CN" altLang="en-US" sz="2000" dirty="0">
                <a:latin typeface="Consolas" panose="020B0609020204030204" pitchFamily="49" charset="0"/>
                <a:sym typeface="+mn-ea"/>
              </a:rPr>
              <a:t>; </a:t>
            </a:r>
            <a:r>
              <a:rPr lang="en-US" altLang="zh-CN" sz="2000" dirty="0">
                <a:latin typeface="Consolas" panose="020B0609020204030204" pitchFamily="49" charset="0"/>
                <a:sym typeface="+mn-ea"/>
              </a:rPr>
              <a:t>i</a:t>
            </a:r>
            <a:r>
              <a:rPr lang="zh-CN" altLang="en-US" sz="2000" dirty="0">
                <a:latin typeface="Consolas" panose="020B0609020204030204" pitchFamily="49" charset="0"/>
                <a:sym typeface="+mn-ea"/>
              </a:rPr>
              <a:t>&lt;FREQUENCY_SIZE; </a:t>
            </a:r>
            <a:r>
              <a:rPr lang="en-US" altLang="zh-CN" sz="2000" dirty="0">
                <a:latin typeface="Consolas" panose="020B0609020204030204" pitchFamily="49" charset="0"/>
                <a:sym typeface="+mn-ea"/>
              </a:rPr>
              <a:t>i</a:t>
            </a:r>
            <a:r>
              <a:rPr lang="zh-CN" altLang="en-US" sz="2000" dirty="0">
                <a:latin typeface="Consolas" panose="020B0609020204030204" pitchFamily="49" charset="0"/>
                <a:sym typeface="+mn-ea"/>
              </a:rPr>
              <a:t>++)</a:t>
            </a:r>
            <a:endParaRPr lang="zh-CN" altLang="en-US" sz="2000" dirty="0">
              <a:latin typeface="Consolas" panose="020B0609020204030204" pitchFamily="49" charset="0"/>
            </a:endParaRPr>
          </a:p>
          <a:p>
            <a:pPr marL="0" indent="0">
              <a:buNone/>
            </a:pPr>
            <a:r>
              <a:rPr lang="zh-CN" altLang="en-US" sz="2000" dirty="0">
                <a:latin typeface="Consolas" panose="020B0609020204030204" pitchFamily="49" charset="0"/>
                <a:sym typeface="+mn-ea"/>
              </a:rPr>
              <a:t>      printf("%d-%d\n", </a:t>
            </a:r>
            <a:r>
              <a:rPr lang="en-US" altLang="zh-CN" sz="2000" dirty="0">
                <a:latin typeface="Consolas" panose="020B0609020204030204" pitchFamily="49" charset="0"/>
                <a:sym typeface="+mn-ea"/>
              </a:rPr>
              <a:t>i+1 </a:t>
            </a:r>
            <a:r>
              <a:rPr lang="zh-CN" altLang="en-US" sz="2000" dirty="0">
                <a:latin typeface="Consolas" panose="020B0609020204030204" pitchFamily="49" charset="0"/>
                <a:sym typeface="+mn-ea"/>
              </a:rPr>
              <a:t>,frequency[</a:t>
            </a:r>
            <a:r>
              <a:rPr lang="en-US" altLang="zh-CN" sz="2000" dirty="0">
                <a:latin typeface="Consolas" panose="020B0609020204030204" pitchFamily="49" charset="0"/>
                <a:sym typeface="+mn-ea"/>
              </a:rPr>
              <a:t>i</a:t>
            </a:r>
            <a:r>
              <a:rPr lang="zh-CN" altLang="en-US" sz="2000" dirty="0">
                <a:latin typeface="Consolas" panose="020B0609020204030204" pitchFamily="49" charset="0"/>
                <a:sym typeface="+mn-ea"/>
              </a:rPr>
              <a:t>]);</a:t>
            </a:r>
            <a:r>
              <a:rPr lang="zh-CN" altLang="en-US" sz="2000" dirty="0">
                <a:solidFill>
                  <a:srgbClr val="003399"/>
                </a:solidFill>
                <a:latin typeface="Consolas" panose="020B0609020204030204" pitchFamily="49" charset="0"/>
                <a:sym typeface="+mn-ea"/>
              </a:rPr>
              <a:t>//输出结果 </a:t>
            </a:r>
            <a:endParaRPr lang="zh-CN" altLang="en-US" sz="2000" dirty="0">
              <a:solidFill>
                <a:srgbClr val="003399"/>
              </a:solidFill>
              <a:latin typeface="Consolas" panose="020B0609020204030204" pitchFamily="49" charset="0"/>
            </a:endParaRPr>
          </a:p>
          <a:p>
            <a:pPr marL="0" indent="0">
              <a:buNone/>
            </a:pPr>
            <a:r>
              <a:rPr lang="zh-CN" altLang="en-US" sz="2000" dirty="0">
                <a:latin typeface="Consolas" panose="020B0609020204030204" pitchFamily="49" charset="0"/>
                <a:sym typeface="+mn-ea"/>
              </a:rPr>
              <a:t>   return 0;</a:t>
            </a:r>
            <a:endParaRPr lang="zh-CN" altLang="en-US" sz="2000" dirty="0">
              <a:latin typeface="Consolas" panose="020B0609020204030204" pitchFamily="49" charset="0"/>
            </a:endParaRPr>
          </a:p>
          <a:p>
            <a:pPr marL="0" indent="0">
              <a:buNone/>
            </a:pPr>
            <a:r>
              <a:rPr lang="zh-CN" altLang="en-US" sz="2000" dirty="0">
                <a:latin typeface="Consolas" panose="020B0609020204030204" pitchFamily="49" charset="0"/>
                <a:sym typeface="+mn-ea"/>
              </a:rPr>
              <a:t>} </a:t>
            </a:r>
            <a:endParaRPr lang="zh-CN" altLang="en-US" sz="2000" dirty="0">
              <a:latin typeface="Consolas" panose="020B0609020204030204" pitchFamily="49" charset="0"/>
            </a:endParaRPr>
          </a:p>
        </p:txBody>
      </p:sp>
      <p:sp>
        <p:nvSpPr>
          <p:cNvPr id="22532" name="Rectangle 8"/>
          <p:cNvSpPr>
            <a:spLocks noGrp="1" noChangeArrowheads="1"/>
          </p:cNvSpPr>
          <p:nvPr>
            <p:ph type="title"/>
          </p:nvPr>
        </p:nvSpPr>
        <p:spPr>
          <a:noFill/>
        </p:spPr>
        <p:txBody>
          <a:bodyPr/>
          <a:lstStyle/>
          <a:p>
            <a:pPr eaLnBrk="1" hangingPunct="1"/>
            <a:r>
              <a:rPr lang="en-US" altLang="zh-CN" b="1"/>
              <a:t>6.3.3</a:t>
            </a:r>
            <a:r>
              <a:rPr lang="zh-CN" altLang="en-US" b="1"/>
              <a:t> </a:t>
            </a:r>
            <a:r>
              <a:rPr lang="zh-CN" altLang="en-US" b="1" u="sng"/>
              <a:t>数组的逐元素操作</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zh-CN" b="1" dirty="0"/>
              <a:t>6.3.3</a:t>
            </a:r>
            <a:r>
              <a:rPr lang="zh-CN" altLang="en-US" b="1" dirty="0"/>
              <a:t> </a:t>
            </a:r>
            <a:r>
              <a:rPr lang="zh-CN" altLang="en-US" b="1" u="sng" dirty="0"/>
              <a:t>数组的逐元素操作</a:t>
            </a:r>
          </a:p>
        </p:txBody>
      </p:sp>
      <p:sp>
        <p:nvSpPr>
          <p:cNvPr id="27652" name="Rectangle 3"/>
          <p:cNvSpPr>
            <a:spLocks noGrp="1" noChangeArrowheads="1"/>
          </p:cNvSpPr>
          <p:nvPr>
            <p:ph type="body" idx="1"/>
          </p:nvPr>
        </p:nvSpPr>
        <p:spPr>
          <a:xfrm>
            <a:off x="179388" y="1196975"/>
            <a:ext cx="8496300" cy="4611688"/>
          </a:xfrm>
        </p:spPr>
        <p:txBody>
          <a:bodyPr/>
          <a:lstStyle/>
          <a:p>
            <a:pPr eaLnBrk="1" hangingPunct="1"/>
            <a:r>
              <a:rPr lang="zh-CN" altLang="en-US" sz="2600" b="1" dirty="0"/>
              <a:t>注意</a:t>
            </a:r>
            <a:r>
              <a:rPr lang="zh-CN" altLang="en-US" sz="2600" b="1" dirty="0">
                <a:solidFill>
                  <a:srgbClr val="FF0000"/>
                </a:solidFill>
              </a:rPr>
              <a:t>越界控制</a:t>
            </a:r>
            <a:r>
              <a:rPr lang="zh-CN" altLang="en-US" sz="2600" b="1" dirty="0"/>
              <a:t>：不要引用超出数组范围的数组元素。出于执行速度的考虑，系统运行时不会自动检测元素下标是否越界，因此编写程序时要格外小心，由编程人员自己确保对元素的正确引用，以免因下标越界对其他存储单元中数据造成破坏。</a:t>
            </a:r>
          </a:p>
          <a:p>
            <a:pPr eaLnBrk="1" hangingPunct="1"/>
            <a:endParaRPr lang="zh-CN" altLang="en-US" sz="2600" b="1" dirty="0"/>
          </a:p>
        </p:txBody>
      </p:sp>
      <p:sp>
        <p:nvSpPr>
          <p:cNvPr id="214053" name="Text Box 37"/>
          <p:cNvSpPr txBox="1">
            <a:spLocks noChangeArrowheads="1"/>
          </p:cNvSpPr>
          <p:nvPr/>
        </p:nvSpPr>
        <p:spPr bwMode="auto">
          <a:xfrm>
            <a:off x="535260" y="3359717"/>
            <a:ext cx="4824413" cy="2397579"/>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0"/>
              </a:spcBef>
              <a:buFontTx/>
              <a:buNone/>
              <a:defRPr/>
            </a:pPr>
            <a:r>
              <a:rPr lang="zh-CN" altLang="en-US" sz="2600" b="1" dirty="0"/>
              <a:t>例：</a:t>
            </a:r>
          </a:p>
          <a:p>
            <a:pPr>
              <a:spcBef>
                <a:spcPct val="0"/>
              </a:spcBef>
              <a:buFontTx/>
              <a:buNone/>
              <a:defRPr/>
            </a:pPr>
            <a:r>
              <a:rPr lang="en-US" altLang="zh-CN" sz="2600" b="1" dirty="0"/>
              <a:t> </a:t>
            </a:r>
            <a:r>
              <a:rPr lang="en-US" altLang="zh-CN" sz="2200" dirty="0">
                <a:latin typeface="Consolas" panose="020B0609020204030204" pitchFamily="49" charset="0"/>
              </a:rPr>
              <a:t>int score[4]={65, 78, 54, 91};</a:t>
            </a:r>
          </a:p>
          <a:p>
            <a:pPr>
              <a:spcBef>
                <a:spcPct val="0"/>
              </a:spcBef>
              <a:buFontTx/>
              <a:buNone/>
              <a:defRPr/>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("%d", score[4]);  </a:t>
            </a:r>
          </a:p>
          <a:p>
            <a:pPr>
              <a:spcBef>
                <a:spcPct val="0"/>
              </a:spcBef>
              <a:buFontTx/>
              <a:buNone/>
              <a:defRPr/>
            </a:pPr>
            <a:r>
              <a:rPr lang="en-US" altLang="zh-CN" sz="2600" b="1" dirty="0">
                <a:solidFill>
                  <a:srgbClr val="FF0000"/>
                </a:solidFill>
              </a:rPr>
              <a:t>/*</a:t>
            </a:r>
            <a:r>
              <a:rPr lang="zh-CN" altLang="en-US" sz="2600" b="1" dirty="0">
                <a:solidFill>
                  <a:srgbClr val="FF0000"/>
                </a:solidFill>
              </a:rPr>
              <a:t>编译不会报错，但是输出结果是未知的*</a:t>
            </a:r>
            <a:r>
              <a:rPr lang="en-US" altLang="zh-CN" sz="2600" b="1" dirty="0">
                <a:solidFill>
                  <a:srgbClr val="FF0000"/>
                </a:solidFill>
              </a:rPr>
              <a:t>/</a:t>
            </a:r>
            <a:endParaRPr lang="zh-CN" altLang="en-US" sz="2600" b="1" dirty="0">
              <a:solidFill>
                <a:srgbClr val="FF0000"/>
              </a:solidFill>
            </a:endParaRPr>
          </a:p>
          <a:p>
            <a:pPr>
              <a:spcBef>
                <a:spcPct val="50000"/>
              </a:spcBef>
              <a:buFontTx/>
              <a:buNone/>
              <a:defRPr/>
            </a:pPr>
            <a:endParaRPr lang="zh-CN" altLang="en-US" sz="2600" b="1" dirty="0">
              <a:solidFill>
                <a:srgbClr val="FF0000"/>
              </a:solidFill>
            </a:endParaRPr>
          </a:p>
        </p:txBody>
      </p:sp>
      <p:grpSp>
        <p:nvGrpSpPr>
          <p:cNvPr id="214098" name="Group 82"/>
          <p:cNvGrpSpPr/>
          <p:nvPr/>
        </p:nvGrpSpPr>
        <p:grpSpPr bwMode="auto">
          <a:xfrm>
            <a:off x="5481638" y="2852738"/>
            <a:ext cx="3662362" cy="3800475"/>
            <a:chOff x="3453" y="1752"/>
            <a:chExt cx="2307" cy="2394"/>
          </a:xfrm>
        </p:grpSpPr>
        <p:sp>
          <p:nvSpPr>
            <p:cNvPr id="27655" name="Rectangle 39"/>
            <p:cNvSpPr>
              <a:spLocks noChangeArrowheads="1"/>
            </p:cNvSpPr>
            <p:nvPr/>
          </p:nvSpPr>
          <p:spPr bwMode="auto">
            <a:xfrm>
              <a:off x="5057" y="2140"/>
              <a:ext cx="70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2000H</a:t>
              </a:r>
              <a:endParaRPr lang="zh-CN" altLang="en-US" sz="1600" b="1"/>
            </a:p>
          </p:txBody>
        </p:sp>
        <p:sp>
          <p:nvSpPr>
            <p:cNvPr id="27656" name="Rectangle 40"/>
            <p:cNvSpPr>
              <a:spLocks noChangeArrowheads="1"/>
            </p:cNvSpPr>
            <p:nvPr/>
          </p:nvSpPr>
          <p:spPr bwMode="auto">
            <a:xfrm>
              <a:off x="5045" y="2969"/>
              <a:ext cx="7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2004H</a:t>
              </a:r>
              <a:endParaRPr lang="en-US" altLang="zh-CN" sz="1600" b="1"/>
            </a:p>
          </p:txBody>
        </p:sp>
        <p:grpSp>
          <p:nvGrpSpPr>
            <p:cNvPr id="27657" name="Group 81"/>
            <p:cNvGrpSpPr/>
            <p:nvPr/>
          </p:nvGrpSpPr>
          <p:grpSpPr bwMode="auto">
            <a:xfrm>
              <a:off x="3453" y="1752"/>
              <a:ext cx="1967" cy="2394"/>
              <a:chOff x="3446" y="1752"/>
              <a:chExt cx="1967" cy="2394"/>
            </a:xfrm>
          </p:grpSpPr>
          <p:sp>
            <p:nvSpPr>
              <p:cNvPr id="27658" name="Rectangle 42"/>
              <p:cNvSpPr>
                <a:spLocks noChangeArrowheads="1"/>
              </p:cNvSpPr>
              <p:nvPr/>
            </p:nvSpPr>
            <p:spPr bwMode="auto">
              <a:xfrm>
                <a:off x="3946" y="2118"/>
                <a:ext cx="996" cy="39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59" name="Rectangle 43"/>
              <p:cNvSpPr>
                <a:spLocks noChangeArrowheads="1"/>
              </p:cNvSpPr>
              <p:nvPr/>
            </p:nvSpPr>
            <p:spPr bwMode="auto">
              <a:xfrm>
                <a:off x="5045" y="2550"/>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2002H</a:t>
                </a:r>
                <a:endParaRPr lang="en-US" altLang="zh-CN" sz="1600" b="1"/>
              </a:p>
            </p:txBody>
          </p:sp>
          <p:sp>
            <p:nvSpPr>
              <p:cNvPr id="27660" name="Rectangle 44"/>
              <p:cNvSpPr>
                <a:spLocks noChangeArrowheads="1"/>
              </p:cNvSpPr>
              <p:nvPr/>
            </p:nvSpPr>
            <p:spPr bwMode="auto">
              <a:xfrm>
                <a:off x="5045" y="3157"/>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2005H</a:t>
                </a:r>
                <a:endParaRPr lang="en-US" altLang="zh-CN" sz="1600" b="1"/>
              </a:p>
            </p:txBody>
          </p:sp>
          <p:sp>
            <p:nvSpPr>
              <p:cNvPr id="27661" name="Rectangle 45"/>
              <p:cNvSpPr>
                <a:spLocks noChangeArrowheads="1"/>
              </p:cNvSpPr>
              <p:nvPr/>
            </p:nvSpPr>
            <p:spPr bwMode="auto">
              <a:xfrm>
                <a:off x="5045" y="3548"/>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2007H</a:t>
                </a:r>
                <a:endParaRPr lang="en-US" altLang="zh-CN" sz="1600" b="1"/>
              </a:p>
            </p:txBody>
          </p:sp>
          <p:sp>
            <p:nvSpPr>
              <p:cNvPr id="27662" name="Rectangle 46"/>
              <p:cNvSpPr>
                <a:spLocks noChangeArrowheads="1"/>
              </p:cNvSpPr>
              <p:nvPr/>
            </p:nvSpPr>
            <p:spPr bwMode="auto">
              <a:xfrm>
                <a:off x="5045" y="3352"/>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2006H</a:t>
                </a:r>
                <a:endParaRPr lang="en-US" altLang="zh-CN" sz="1600" b="1"/>
              </a:p>
            </p:txBody>
          </p:sp>
          <p:sp>
            <p:nvSpPr>
              <p:cNvPr id="27663" name="Rectangle 47"/>
              <p:cNvSpPr>
                <a:spLocks noChangeArrowheads="1"/>
              </p:cNvSpPr>
              <p:nvPr/>
            </p:nvSpPr>
            <p:spPr bwMode="auto">
              <a:xfrm>
                <a:off x="5045" y="2750"/>
                <a:ext cx="35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2003H</a:t>
                </a:r>
                <a:endParaRPr lang="en-US" altLang="zh-CN" sz="1600" b="1"/>
              </a:p>
            </p:txBody>
          </p:sp>
          <p:sp>
            <p:nvSpPr>
              <p:cNvPr id="27664" name="Rectangle 48"/>
              <p:cNvSpPr>
                <a:spLocks noChangeArrowheads="1"/>
              </p:cNvSpPr>
              <p:nvPr/>
            </p:nvSpPr>
            <p:spPr bwMode="auto">
              <a:xfrm>
                <a:off x="5045" y="2341"/>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2001H</a:t>
                </a:r>
                <a:endParaRPr lang="en-US" altLang="zh-CN" sz="1600" b="1"/>
              </a:p>
            </p:txBody>
          </p:sp>
          <p:sp>
            <p:nvSpPr>
              <p:cNvPr id="27665" name="Rectangle 49"/>
              <p:cNvSpPr>
                <a:spLocks noChangeArrowheads="1"/>
              </p:cNvSpPr>
              <p:nvPr/>
            </p:nvSpPr>
            <p:spPr bwMode="auto">
              <a:xfrm>
                <a:off x="3446" y="21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score[0]</a:t>
                </a:r>
                <a:endParaRPr lang="en-US" altLang="zh-CN" sz="1600" b="1"/>
              </a:p>
            </p:txBody>
          </p:sp>
          <p:grpSp>
            <p:nvGrpSpPr>
              <p:cNvPr id="27666" name="Group 50"/>
              <p:cNvGrpSpPr/>
              <p:nvPr/>
            </p:nvGrpSpPr>
            <p:grpSpPr bwMode="auto">
              <a:xfrm>
                <a:off x="3946" y="2118"/>
                <a:ext cx="996" cy="398"/>
                <a:chOff x="2019" y="1848"/>
                <a:chExt cx="996" cy="398"/>
              </a:xfrm>
            </p:grpSpPr>
            <p:sp>
              <p:nvSpPr>
                <p:cNvPr id="27694" name="Rectangle 51"/>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95" name="Line 52"/>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96" name="Line 53"/>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7667" name="Text Box 54"/>
              <p:cNvSpPr txBox="1">
                <a:spLocks noChangeArrowheads="1"/>
              </p:cNvSpPr>
              <p:nvPr/>
            </p:nvSpPr>
            <p:spPr bwMode="auto">
              <a:xfrm>
                <a:off x="3991" y="1752"/>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000099"/>
                    </a:solidFill>
                  </a:rPr>
                  <a:t>存储空间</a:t>
                </a:r>
              </a:p>
            </p:txBody>
          </p:sp>
          <p:grpSp>
            <p:nvGrpSpPr>
              <p:cNvPr id="27668" name="Group 55"/>
              <p:cNvGrpSpPr/>
              <p:nvPr/>
            </p:nvGrpSpPr>
            <p:grpSpPr bwMode="auto">
              <a:xfrm>
                <a:off x="3945" y="2521"/>
                <a:ext cx="996" cy="398"/>
                <a:chOff x="2019" y="1848"/>
                <a:chExt cx="996" cy="398"/>
              </a:xfrm>
            </p:grpSpPr>
            <p:sp>
              <p:nvSpPr>
                <p:cNvPr id="27691" name="Rectangle 56"/>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92" name="Line 57"/>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93" name="Line 58"/>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7669" name="Group 59"/>
              <p:cNvGrpSpPr/>
              <p:nvPr/>
            </p:nvGrpSpPr>
            <p:grpSpPr bwMode="auto">
              <a:xfrm>
                <a:off x="3945" y="2929"/>
                <a:ext cx="996" cy="398"/>
                <a:chOff x="2019" y="1848"/>
                <a:chExt cx="996" cy="398"/>
              </a:xfrm>
            </p:grpSpPr>
            <p:sp>
              <p:nvSpPr>
                <p:cNvPr id="27688" name="Rectangle 60"/>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89" name="Line 61"/>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90" name="Line 62"/>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7670" name="Group 63"/>
              <p:cNvGrpSpPr/>
              <p:nvPr/>
            </p:nvGrpSpPr>
            <p:grpSpPr bwMode="auto">
              <a:xfrm>
                <a:off x="3945" y="3337"/>
                <a:ext cx="996" cy="398"/>
                <a:chOff x="2019" y="1848"/>
                <a:chExt cx="996" cy="398"/>
              </a:xfrm>
            </p:grpSpPr>
            <p:sp>
              <p:nvSpPr>
                <p:cNvPr id="27685" name="Rectangle 64"/>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86" name="Line 65"/>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7" name="Line 66"/>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7671" name="Rectangle 67"/>
              <p:cNvSpPr>
                <a:spLocks noChangeArrowheads="1"/>
              </p:cNvSpPr>
              <p:nvPr/>
            </p:nvSpPr>
            <p:spPr bwMode="auto">
              <a:xfrm>
                <a:off x="3446" y="2523"/>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score[1]</a:t>
                </a:r>
                <a:endParaRPr lang="en-US" altLang="zh-CN" sz="1600" b="1"/>
              </a:p>
            </p:txBody>
          </p:sp>
          <p:sp>
            <p:nvSpPr>
              <p:cNvPr id="27672" name="Rectangle 68"/>
              <p:cNvSpPr>
                <a:spLocks noChangeArrowheads="1"/>
              </p:cNvSpPr>
              <p:nvPr/>
            </p:nvSpPr>
            <p:spPr bwMode="auto">
              <a:xfrm>
                <a:off x="3456" y="2932"/>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score[2]</a:t>
                </a:r>
                <a:endParaRPr lang="en-US" altLang="zh-CN" sz="1600" b="1"/>
              </a:p>
            </p:txBody>
          </p:sp>
          <p:sp>
            <p:nvSpPr>
              <p:cNvPr id="27673" name="Rectangle 69"/>
              <p:cNvSpPr>
                <a:spLocks noChangeArrowheads="1"/>
              </p:cNvSpPr>
              <p:nvPr/>
            </p:nvSpPr>
            <p:spPr bwMode="auto">
              <a:xfrm>
                <a:off x="3446" y="3384"/>
                <a:ext cx="4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score[3]</a:t>
                </a:r>
                <a:endParaRPr lang="en-US" altLang="zh-CN" sz="1600" b="1"/>
              </a:p>
            </p:txBody>
          </p:sp>
          <p:sp>
            <p:nvSpPr>
              <p:cNvPr id="214086" name="Text Box 70"/>
              <p:cNvSpPr txBox="1">
                <a:spLocks noChangeArrowheads="1"/>
              </p:cNvSpPr>
              <p:nvPr/>
            </p:nvSpPr>
            <p:spPr bwMode="auto">
              <a:xfrm>
                <a:off x="4263" y="2160"/>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65</a:t>
                </a:r>
              </a:p>
            </p:txBody>
          </p:sp>
          <p:sp>
            <p:nvSpPr>
              <p:cNvPr id="214087" name="Text Box 71"/>
              <p:cNvSpPr txBox="1">
                <a:spLocks noChangeArrowheads="1"/>
              </p:cNvSpPr>
              <p:nvPr/>
            </p:nvSpPr>
            <p:spPr bwMode="auto">
              <a:xfrm>
                <a:off x="4263" y="2569"/>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78</a:t>
                </a:r>
              </a:p>
            </p:txBody>
          </p:sp>
          <p:sp>
            <p:nvSpPr>
              <p:cNvPr id="214088" name="Text Box 72"/>
              <p:cNvSpPr txBox="1">
                <a:spLocks noChangeArrowheads="1"/>
              </p:cNvSpPr>
              <p:nvPr/>
            </p:nvSpPr>
            <p:spPr bwMode="auto">
              <a:xfrm>
                <a:off x="4263" y="2931"/>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54</a:t>
                </a:r>
              </a:p>
            </p:txBody>
          </p:sp>
          <p:sp>
            <p:nvSpPr>
              <p:cNvPr id="214089" name="Text Box 73"/>
              <p:cNvSpPr txBox="1">
                <a:spLocks noChangeArrowheads="1"/>
              </p:cNvSpPr>
              <p:nvPr/>
            </p:nvSpPr>
            <p:spPr bwMode="auto">
              <a:xfrm>
                <a:off x="4263" y="3385"/>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en-US" altLang="zh-CN" sz="2800" b="1">
                    <a:solidFill>
                      <a:srgbClr val="FF0000"/>
                    </a:solidFill>
                  </a:rPr>
                  <a:t>91</a:t>
                </a:r>
              </a:p>
            </p:txBody>
          </p:sp>
          <p:grpSp>
            <p:nvGrpSpPr>
              <p:cNvPr id="27678" name="Group 74"/>
              <p:cNvGrpSpPr/>
              <p:nvPr/>
            </p:nvGrpSpPr>
            <p:grpSpPr bwMode="auto">
              <a:xfrm>
                <a:off x="3943" y="3748"/>
                <a:ext cx="996" cy="398"/>
                <a:chOff x="2019" y="1848"/>
                <a:chExt cx="996" cy="398"/>
              </a:xfrm>
            </p:grpSpPr>
            <p:sp>
              <p:nvSpPr>
                <p:cNvPr id="27682" name="Rectangle 75"/>
                <p:cNvSpPr>
                  <a:spLocks noChangeArrowheads="1"/>
                </p:cNvSpPr>
                <p:nvPr/>
              </p:nvSpPr>
              <p:spPr bwMode="auto">
                <a:xfrm>
                  <a:off x="2019" y="1848"/>
                  <a:ext cx="996" cy="398"/>
                </a:xfrm>
                <a:prstGeom prst="rect">
                  <a:avLst/>
                </a:prstGeom>
                <a:gradFill rotWithShape="1">
                  <a:gsLst>
                    <a:gs pos="0">
                      <a:srgbClr val="9966FF"/>
                    </a:gs>
                    <a:gs pos="100000">
                      <a:schemeClr val="bg1"/>
                    </a:gs>
                  </a:gsLst>
                  <a:lin ang="5400000" scaled="1"/>
                </a:gradFill>
                <a:ln w="1587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7683" name="Line 76"/>
                <p:cNvSpPr>
                  <a:spLocks noChangeShapeType="1"/>
                </p:cNvSpPr>
                <p:nvPr/>
              </p:nvSpPr>
              <p:spPr bwMode="auto">
                <a:xfrm>
                  <a:off x="2019"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4" name="Line 77"/>
                <p:cNvSpPr>
                  <a:spLocks noChangeShapeType="1"/>
                </p:cNvSpPr>
                <p:nvPr/>
              </p:nvSpPr>
              <p:spPr bwMode="auto">
                <a:xfrm>
                  <a:off x="2844" y="2027"/>
                  <a:ext cx="1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4094" name="Text Box 78"/>
              <p:cNvSpPr txBox="1">
                <a:spLocks noChangeArrowheads="1"/>
              </p:cNvSpPr>
              <p:nvPr/>
            </p:nvSpPr>
            <p:spPr bwMode="auto">
              <a:xfrm>
                <a:off x="4241" y="3793"/>
                <a:ext cx="499" cy="32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800" b="1">
                    <a:solidFill>
                      <a:srgbClr val="FF0000"/>
                    </a:solidFill>
                  </a:rPr>
                  <a:t>？</a:t>
                </a:r>
              </a:p>
            </p:txBody>
          </p:sp>
          <p:sp>
            <p:nvSpPr>
              <p:cNvPr id="27680" name="Rectangle 79"/>
              <p:cNvSpPr>
                <a:spLocks noChangeArrowheads="1"/>
              </p:cNvSpPr>
              <p:nvPr/>
            </p:nvSpPr>
            <p:spPr bwMode="auto">
              <a:xfrm>
                <a:off x="5057" y="3956"/>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2009H</a:t>
                </a:r>
                <a:endParaRPr lang="en-US" altLang="zh-CN" sz="1600" b="1"/>
              </a:p>
            </p:txBody>
          </p:sp>
          <p:sp>
            <p:nvSpPr>
              <p:cNvPr id="27681" name="Rectangle 80"/>
              <p:cNvSpPr>
                <a:spLocks noChangeArrowheads="1"/>
              </p:cNvSpPr>
              <p:nvPr/>
            </p:nvSpPr>
            <p:spPr bwMode="auto">
              <a:xfrm>
                <a:off x="5057" y="3760"/>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a:solidFill>
                      <a:srgbClr val="000000"/>
                    </a:solidFill>
                  </a:rPr>
                  <a:t>2008H</a:t>
                </a:r>
                <a:endParaRPr lang="en-US" altLang="zh-CN" sz="1600" b="1"/>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4053"/>
                                        </p:tgtEl>
                                        <p:attrNameLst>
                                          <p:attrName>style.visibility</p:attrName>
                                        </p:attrNameLst>
                                      </p:cBhvr>
                                      <p:to>
                                        <p:strVal val="visible"/>
                                      </p:to>
                                    </p:set>
                                    <p:animEffect transition="in" filter="dissolve">
                                      <p:cBhvr>
                                        <p:cTn id="7" dur="500"/>
                                        <p:tgtEl>
                                          <p:spTgt spid="2140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4098"/>
                                        </p:tgtEl>
                                        <p:attrNameLst>
                                          <p:attrName>style.visibility</p:attrName>
                                        </p:attrNameLst>
                                      </p:cBhvr>
                                      <p:to>
                                        <p:strVal val="visible"/>
                                      </p:to>
                                    </p:set>
                                    <p:animEffect transition="in" filter="dissolve">
                                      <p:cBhvr>
                                        <p:cTn id="12" dur="500"/>
                                        <p:tgtEl>
                                          <p:spTgt spid="21409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14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5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p:cNvSpPr>
            <a:spLocks noGrp="1" noChangeArrowheads="1"/>
          </p:cNvSpPr>
          <p:nvPr>
            <p:ph type="body" idx="1"/>
          </p:nvPr>
        </p:nvSpPr>
        <p:spPr>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buFontTx/>
              <a:buNone/>
            </a:pPr>
            <a:r>
              <a:rPr lang="zh-CN" altLang="en-US" b="1"/>
              <a:t>6.1  总结与回顾（数据类型与程序设计）</a:t>
            </a:r>
          </a:p>
          <a:p>
            <a:pPr eaLnBrk="1" hangingPunct="1">
              <a:buFontTx/>
              <a:buNone/>
            </a:pPr>
            <a:r>
              <a:rPr lang="zh-CN" altLang="en-US" b="1"/>
              <a:t>6.</a:t>
            </a:r>
            <a:r>
              <a:rPr lang="en-US" altLang="zh-CN" b="1"/>
              <a:t>2  </a:t>
            </a:r>
            <a:r>
              <a:rPr lang="zh-CN" altLang="en-US" b="1"/>
              <a:t>数组作为顺序表的数据结构</a:t>
            </a:r>
          </a:p>
          <a:p>
            <a:pPr eaLnBrk="1" hangingPunct="1">
              <a:buFontTx/>
              <a:buNone/>
            </a:pPr>
            <a:r>
              <a:rPr lang="en-US" altLang="zh-CN" b="1"/>
              <a:t>6.3  </a:t>
            </a:r>
            <a:r>
              <a:rPr lang="zh-CN" altLang="en-US" b="1"/>
              <a:t>数组的声明、操作和使用</a:t>
            </a:r>
          </a:p>
          <a:p>
            <a:pPr eaLnBrk="1" hangingPunct="1">
              <a:buFontTx/>
              <a:buNone/>
            </a:pPr>
            <a:r>
              <a:rPr lang="en-US" altLang="zh-CN" b="1">
                <a:solidFill>
                  <a:srgbClr val="FF0000"/>
                </a:solidFill>
              </a:rPr>
              <a:t>6.4  </a:t>
            </a:r>
            <a:r>
              <a:rPr lang="zh-CN" altLang="en-US" b="1">
                <a:solidFill>
                  <a:srgbClr val="FF0000"/>
                </a:solidFill>
              </a:rPr>
              <a:t>数组作为函数参数的处理</a:t>
            </a:r>
          </a:p>
          <a:p>
            <a:pPr eaLnBrk="1" hangingPunct="1">
              <a:buFontTx/>
              <a:buNone/>
            </a:pPr>
            <a:r>
              <a:rPr lang="zh-CN" altLang="en-US" b="1"/>
              <a:t>6.</a:t>
            </a:r>
            <a:r>
              <a:rPr lang="en-US" altLang="zh-CN" b="1"/>
              <a:t>5  </a:t>
            </a:r>
            <a:r>
              <a:rPr lang="zh-CN" altLang="en-US" b="1"/>
              <a:t>数组的应用（排序、查找和应用）</a:t>
            </a:r>
          </a:p>
          <a:p>
            <a:pPr eaLnBrk="1" hangingPunct="1">
              <a:buFontTx/>
              <a:buNone/>
            </a:pPr>
            <a:endParaRPr lang="en-US" altLang="zh-CN" b="1"/>
          </a:p>
          <a:p>
            <a:pPr eaLnBrk="1" hangingPunct="1">
              <a:buFontTx/>
              <a:buNone/>
            </a:pPr>
            <a:endParaRPr lang="zh-CN" altLang="en-US" b="1"/>
          </a:p>
          <a:p>
            <a:pPr eaLnBrk="1" hangingPunct="1">
              <a:buFontTx/>
              <a:buNone/>
            </a:pPr>
            <a:endParaRPr lang="zh-CN" altLang="en-US" b="1"/>
          </a:p>
          <a:p>
            <a:pPr eaLnBrk="1" hangingPunct="1">
              <a:buFontTx/>
              <a:buNone/>
            </a:pPr>
            <a:endParaRPr lang="zh-CN" altLang="en-US" b="1"/>
          </a:p>
        </p:txBody>
      </p:sp>
      <p:sp>
        <p:nvSpPr>
          <p:cNvPr id="56324" name="Rectangle 5"/>
          <p:cNvSpPr>
            <a:spLocks noGrp="1" noChangeArrowheads="1"/>
          </p:cNvSpPr>
          <p:nvPr>
            <p:ph type="title"/>
          </p:nvPr>
        </p:nvSpPr>
        <p:spPr>
          <a:noFill/>
        </p:spPr>
        <p:txBody>
          <a:bodyPr/>
          <a:lstStyle/>
          <a:p>
            <a:pPr eaLnBrk="1" hangingPunct="1"/>
            <a:r>
              <a:rPr lang="zh-CN" altLang="en-US" b="1"/>
              <a:t>提纲</a:t>
            </a:r>
          </a:p>
        </p:txBody>
      </p:sp>
      <p:pic>
        <p:nvPicPr>
          <p:cNvPr id="56325" name="Picture 6" descr="页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755650" y="1268413"/>
            <a:ext cx="81375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dirty="0">
                <a:latin typeface="System" charset="-122"/>
                <a:ea typeface="System" charset="-122"/>
              </a:rPr>
              <a:t>数组用作函数参数有两种形式，</a:t>
            </a:r>
          </a:p>
          <a:p>
            <a:pPr eaLnBrk="1" hangingPunct="1">
              <a:buFontTx/>
              <a:buNone/>
            </a:pPr>
            <a:r>
              <a:rPr lang="zh-CN" altLang="en-US" dirty="0">
                <a:latin typeface="System" charset="-122"/>
                <a:ea typeface="System" charset="-122"/>
              </a:rPr>
              <a:t>1、将</a:t>
            </a:r>
            <a:r>
              <a:rPr lang="zh-CN" altLang="en-US" i="1" dirty="0">
                <a:solidFill>
                  <a:srgbClr val="003399"/>
                </a:solidFill>
                <a:latin typeface="System" charset="-122"/>
                <a:ea typeface="System" charset="-122"/>
              </a:rPr>
              <a:t>数组元素</a:t>
            </a:r>
            <a:r>
              <a:rPr lang="zh-CN" altLang="en-US" dirty="0">
                <a:latin typeface="System" charset="-122"/>
                <a:ea typeface="System" charset="-122"/>
              </a:rPr>
              <a:t>(下标变量)作为实参传递给函数； </a:t>
            </a:r>
          </a:p>
          <a:p>
            <a:pPr eaLnBrk="1" hangingPunct="1">
              <a:buFontTx/>
              <a:buNone/>
            </a:pPr>
            <a:r>
              <a:rPr lang="zh-CN" altLang="en-US" dirty="0">
                <a:latin typeface="System" charset="-122"/>
                <a:ea typeface="System" charset="-122"/>
              </a:rPr>
              <a:t>2、将</a:t>
            </a:r>
            <a:r>
              <a:rPr lang="zh-CN" altLang="en-US" i="1" dirty="0">
                <a:solidFill>
                  <a:srgbClr val="003399"/>
                </a:solidFill>
                <a:latin typeface="System" charset="-122"/>
                <a:ea typeface="System" charset="-122"/>
              </a:rPr>
              <a:t>数组名</a:t>
            </a:r>
            <a:r>
              <a:rPr lang="zh-CN" altLang="en-US" dirty="0">
                <a:latin typeface="System" charset="-122"/>
                <a:ea typeface="System" charset="-122"/>
              </a:rPr>
              <a:t>作为实参传递给函数，目的是让被调用函数能访问、操作该数组。</a:t>
            </a:r>
          </a:p>
          <a:p>
            <a:pPr eaLnBrk="1" hangingPunct="1">
              <a:buFont typeface="Wingdings" panose="05000000000000000000" pitchFamily="2" charset="2"/>
              <a:buNone/>
            </a:pPr>
            <a:endParaRPr lang="zh-CN" altLang="en-US" sz="1600" b="1" dirty="0"/>
          </a:p>
          <a:p>
            <a:pPr eaLnBrk="1" hangingPunct="1">
              <a:buFont typeface="Wingdings" panose="05000000000000000000" pitchFamily="2" charset="2"/>
              <a:buNone/>
            </a:pPr>
            <a:r>
              <a:rPr lang="zh-CN" altLang="en-US" sz="2400" b="1" dirty="0"/>
              <a:t>数组名实际上是数组的首元素地址</a:t>
            </a:r>
          </a:p>
          <a:p>
            <a:pPr eaLnBrk="1" hangingPunct="1">
              <a:buFont typeface="Wingdings" panose="05000000000000000000" pitchFamily="2" charset="2"/>
              <a:buNone/>
            </a:pPr>
            <a:r>
              <a:rPr lang="en-US" altLang="zh-CN" sz="2400" dirty="0">
                <a:latin typeface="Consolas" panose="020B0609020204030204" pitchFamily="49" charset="0"/>
              </a:rPr>
              <a:t>   int main()</a:t>
            </a:r>
          </a:p>
          <a:p>
            <a:pPr lvl="1" eaLnBrk="1" hangingPunct="1">
              <a:buFontTx/>
              <a:buNone/>
            </a:pPr>
            <a:r>
              <a:rPr lang="en-US" altLang="zh-CN" sz="2400" dirty="0">
                <a:latin typeface="Consolas" panose="020B0609020204030204" pitchFamily="49" charset="0"/>
              </a:rPr>
              <a:t>{</a:t>
            </a:r>
          </a:p>
          <a:p>
            <a:pPr lvl="1" eaLnBrk="1" hangingPunct="1">
              <a:buFontTx/>
              <a:buNone/>
            </a:pPr>
            <a:r>
              <a:rPr lang="en-US" altLang="zh-CN" sz="2400" dirty="0">
                <a:latin typeface="Consolas" panose="020B0609020204030204" pitchFamily="49" charset="0"/>
              </a:rPr>
              <a:t>   int array[5];</a:t>
            </a:r>
          </a:p>
          <a:p>
            <a:pPr lvl="1"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("array = %p &amp;array[0] = %p", </a:t>
            </a:r>
            <a:r>
              <a:rPr lang="en-US" altLang="zh-CN" sz="2400" dirty="0" err="1">
                <a:latin typeface="Consolas" panose="020B0609020204030204" pitchFamily="49" charset="0"/>
              </a:rPr>
              <a:t>array,&amp;array</a:t>
            </a:r>
            <a:r>
              <a:rPr lang="en-US" altLang="zh-CN" sz="2400" dirty="0">
                <a:latin typeface="Consolas" panose="020B0609020204030204" pitchFamily="49" charset="0"/>
              </a:rPr>
              <a:t>[0]);</a:t>
            </a:r>
          </a:p>
          <a:p>
            <a:pPr lvl="1" eaLnBrk="1" hangingPunct="1">
              <a:buFontTx/>
              <a:buNone/>
            </a:pPr>
            <a:r>
              <a:rPr lang="en-US" altLang="zh-CN" sz="2400" dirty="0">
                <a:latin typeface="Consolas" panose="020B0609020204030204" pitchFamily="49" charset="0"/>
              </a:rPr>
              <a:t>   return 0;</a:t>
            </a:r>
          </a:p>
          <a:p>
            <a:pPr lvl="1" eaLnBrk="1" hangingPunct="1">
              <a:buFontTx/>
              <a:buNone/>
            </a:pPr>
            <a:r>
              <a:rPr lang="en-US" altLang="zh-CN" sz="2400" dirty="0">
                <a:latin typeface="Consolas" panose="020B0609020204030204" pitchFamily="49" charset="0"/>
              </a:rPr>
              <a:t>}	</a:t>
            </a:r>
            <a:endParaRPr lang="zh-CN" altLang="en-US" sz="2400" dirty="0">
              <a:latin typeface="Consolas" panose="020B0609020204030204" pitchFamily="49" charset="0"/>
              <a:ea typeface="System" charset="-122"/>
            </a:endParaRPr>
          </a:p>
        </p:txBody>
      </p:sp>
      <p:sp>
        <p:nvSpPr>
          <p:cNvPr id="57348" name="Rectangle 6"/>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a:solidFill>
                  <a:srgbClr val="FF3300"/>
                </a:solidFill>
              </a:rPr>
              <a:t>6.4 </a:t>
            </a:r>
            <a:r>
              <a:rPr lang="zh-CN" altLang="en-US" sz="3200" b="1">
                <a:solidFill>
                  <a:srgbClr val="FF3300"/>
                </a:solidFill>
              </a:rPr>
              <a:t>数组作为函数参数的处理</a:t>
            </a:r>
          </a:p>
        </p:txBody>
      </p:sp>
      <p:sp>
        <p:nvSpPr>
          <p:cNvPr id="57349" name="Text Box 7"/>
          <p:cNvSpPr txBox="1">
            <a:spLocks noChangeArrowheads="1"/>
          </p:cNvSpPr>
          <p:nvPr/>
        </p:nvSpPr>
        <p:spPr bwMode="auto">
          <a:xfrm>
            <a:off x="5219700" y="3860800"/>
            <a:ext cx="2303463" cy="7937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rPr>
              <a:t>array = FFF0</a:t>
            </a:r>
          </a:p>
          <a:p>
            <a:pPr eaLnBrk="1" hangingPunct="1">
              <a:spcBef>
                <a:spcPct val="50000"/>
              </a:spcBef>
              <a:buFontTx/>
              <a:buNone/>
            </a:pPr>
            <a:r>
              <a:rPr lang="en-US" altLang="zh-CN" sz="2000">
                <a:solidFill>
                  <a:schemeClr val="bg1"/>
                </a:solidFill>
              </a:rPr>
              <a:t>&amp;array[0] = FFF0</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n-US" altLang="zh-CN" b="1"/>
              <a:t>6.4 </a:t>
            </a:r>
            <a:r>
              <a:rPr lang="zh-CN" altLang="en-US" b="1"/>
              <a:t>数组作为函数参数的处理</a:t>
            </a:r>
          </a:p>
        </p:txBody>
      </p:sp>
      <p:sp>
        <p:nvSpPr>
          <p:cNvPr id="58372" name="Rectangle 3"/>
          <p:cNvSpPr>
            <a:spLocks noGrp="1" noChangeArrowheads="1"/>
          </p:cNvSpPr>
          <p:nvPr>
            <p:ph type="body" idx="1"/>
          </p:nvPr>
        </p:nvSpPr>
        <p:spPr/>
        <p:txBody>
          <a:bodyPr/>
          <a:lstStyle/>
          <a:p>
            <a:pPr eaLnBrk="1" hangingPunct="1">
              <a:lnSpc>
                <a:spcPct val="90000"/>
              </a:lnSpc>
              <a:buFontTx/>
              <a:buNone/>
            </a:pPr>
            <a:r>
              <a:rPr lang="zh-CN" altLang="en-US" b="1" dirty="0">
                <a:latin typeface="+mn-ea"/>
              </a:rPr>
              <a:t>一、数组元素作函数实参</a:t>
            </a:r>
          </a:p>
          <a:p>
            <a:pPr eaLnBrk="1" hangingPunct="1">
              <a:lnSpc>
                <a:spcPct val="90000"/>
              </a:lnSpc>
              <a:buFontTx/>
              <a:buNone/>
            </a:pPr>
            <a:r>
              <a:rPr lang="zh-CN" altLang="en-US" b="1" dirty="0">
                <a:latin typeface="+mn-ea"/>
              </a:rPr>
              <a:t>    数组元素就是下标变量，它与普通变量并无区别。 因此它作为函数实参使用时与普通变量完全相同，在发生函数调用时，把作为实参的数组元素的</a:t>
            </a:r>
            <a:r>
              <a:rPr lang="zh-CN" altLang="en-US" b="1" dirty="0">
                <a:solidFill>
                  <a:srgbClr val="FF3300"/>
                </a:solidFill>
                <a:latin typeface="+mn-ea"/>
              </a:rPr>
              <a:t>值</a:t>
            </a:r>
            <a:r>
              <a:rPr lang="zh-CN" altLang="en-US" b="1" dirty="0">
                <a:latin typeface="+mn-ea"/>
              </a:rPr>
              <a:t>传送给形参，实现单向的按值传送。</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4"/>
          <p:cNvSpPr txBox="1">
            <a:spLocks noChangeArrowheads="1"/>
          </p:cNvSpPr>
          <p:nvPr/>
        </p:nvSpPr>
        <p:spPr bwMode="auto">
          <a:xfrm>
            <a:off x="1763713" y="3097213"/>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6</a:t>
            </a:r>
          </a:p>
        </p:txBody>
      </p:sp>
      <p:sp>
        <p:nvSpPr>
          <p:cNvPr id="59396" name="Text Box 5"/>
          <p:cNvSpPr txBox="1">
            <a:spLocks noChangeArrowheads="1"/>
          </p:cNvSpPr>
          <p:nvPr/>
        </p:nvSpPr>
        <p:spPr bwMode="auto">
          <a:xfrm>
            <a:off x="1763713" y="3944938"/>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a:t>
            </a:r>
          </a:p>
        </p:txBody>
      </p:sp>
      <p:sp>
        <p:nvSpPr>
          <p:cNvPr id="59397" name="Text Box 6"/>
          <p:cNvSpPr txBox="1">
            <a:spLocks noChangeArrowheads="1"/>
          </p:cNvSpPr>
          <p:nvPr/>
        </p:nvSpPr>
        <p:spPr bwMode="auto">
          <a:xfrm>
            <a:off x="323850" y="3097213"/>
            <a:ext cx="1439863"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主调函数</a:t>
            </a:r>
          </a:p>
        </p:txBody>
      </p:sp>
      <p:sp>
        <p:nvSpPr>
          <p:cNvPr id="59398" name="Text Box 7"/>
          <p:cNvSpPr txBox="1">
            <a:spLocks noChangeArrowheads="1"/>
          </p:cNvSpPr>
          <p:nvPr/>
        </p:nvSpPr>
        <p:spPr bwMode="auto">
          <a:xfrm>
            <a:off x="323850" y="3954463"/>
            <a:ext cx="1439863"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被调函数</a:t>
            </a:r>
          </a:p>
        </p:txBody>
      </p:sp>
      <p:sp>
        <p:nvSpPr>
          <p:cNvPr id="59399" name="Text Box 8"/>
          <p:cNvSpPr txBox="1">
            <a:spLocks noChangeArrowheads="1"/>
          </p:cNvSpPr>
          <p:nvPr/>
        </p:nvSpPr>
        <p:spPr bwMode="auto">
          <a:xfrm>
            <a:off x="1692275" y="2678113"/>
            <a:ext cx="1439863"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a[3]</a:t>
            </a:r>
          </a:p>
        </p:txBody>
      </p:sp>
      <p:sp>
        <p:nvSpPr>
          <p:cNvPr id="59400" name="Text Box 9"/>
          <p:cNvSpPr txBox="1">
            <a:spLocks noChangeArrowheads="1"/>
          </p:cNvSpPr>
          <p:nvPr/>
        </p:nvSpPr>
        <p:spPr bwMode="auto">
          <a:xfrm>
            <a:off x="1906588" y="4405313"/>
            <a:ext cx="115252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e</a:t>
            </a:r>
          </a:p>
        </p:txBody>
      </p:sp>
      <p:sp>
        <p:nvSpPr>
          <p:cNvPr id="59401" name="Text Box 10"/>
          <p:cNvSpPr txBox="1">
            <a:spLocks noChangeArrowheads="1"/>
          </p:cNvSpPr>
          <p:nvPr/>
        </p:nvSpPr>
        <p:spPr bwMode="auto">
          <a:xfrm>
            <a:off x="1690688" y="4968875"/>
            <a:ext cx="12954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调用时</a:t>
            </a:r>
          </a:p>
        </p:txBody>
      </p:sp>
      <p:sp>
        <p:nvSpPr>
          <p:cNvPr id="287755" name="Text Box 11"/>
          <p:cNvSpPr txBox="1">
            <a:spLocks noChangeArrowheads="1"/>
          </p:cNvSpPr>
          <p:nvPr/>
        </p:nvSpPr>
        <p:spPr bwMode="auto">
          <a:xfrm>
            <a:off x="3779838" y="3090863"/>
            <a:ext cx="1368425"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6</a:t>
            </a:r>
          </a:p>
        </p:txBody>
      </p:sp>
      <p:sp>
        <p:nvSpPr>
          <p:cNvPr id="287756" name="Text Box 12"/>
          <p:cNvSpPr txBox="1">
            <a:spLocks noChangeArrowheads="1"/>
          </p:cNvSpPr>
          <p:nvPr/>
        </p:nvSpPr>
        <p:spPr bwMode="auto">
          <a:xfrm>
            <a:off x="3779838" y="3938588"/>
            <a:ext cx="1439862"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12</a:t>
            </a:r>
          </a:p>
        </p:txBody>
      </p:sp>
      <p:sp>
        <p:nvSpPr>
          <p:cNvPr id="287757" name="Text Box 13"/>
          <p:cNvSpPr txBox="1">
            <a:spLocks noChangeArrowheads="1"/>
          </p:cNvSpPr>
          <p:nvPr/>
        </p:nvSpPr>
        <p:spPr bwMode="auto">
          <a:xfrm>
            <a:off x="3924300" y="2671763"/>
            <a:ext cx="15113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a[3]</a:t>
            </a:r>
            <a:endParaRPr lang="zh-CN" altLang="en-US" sz="2400" b="1">
              <a:solidFill>
                <a:schemeClr val="accent2"/>
              </a:solidFill>
            </a:endParaRPr>
          </a:p>
        </p:txBody>
      </p:sp>
      <p:sp>
        <p:nvSpPr>
          <p:cNvPr id="287758" name="Text Box 14"/>
          <p:cNvSpPr txBox="1">
            <a:spLocks noChangeArrowheads="1"/>
          </p:cNvSpPr>
          <p:nvPr/>
        </p:nvSpPr>
        <p:spPr bwMode="auto">
          <a:xfrm>
            <a:off x="3922713" y="4398963"/>
            <a:ext cx="12255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e</a:t>
            </a:r>
          </a:p>
        </p:txBody>
      </p:sp>
      <p:sp>
        <p:nvSpPr>
          <p:cNvPr id="287759" name="Text Box 15"/>
          <p:cNvSpPr txBox="1">
            <a:spLocks noChangeArrowheads="1"/>
          </p:cNvSpPr>
          <p:nvPr/>
        </p:nvSpPr>
        <p:spPr bwMode="auto">
          <a:xfrm>
            <a:off x="3419475" y="4968875"/>
            <a:ext cx="2160588"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执行被调函数</a:t>
            </a:r>
          </a:p>
        </p:txBody>
      </p:sp>
      <p:sp>
        <p:nvSpPr>
          <p:cNvPr id="287760" name="Text Box 16"/>
          <p:cNvSpPr txBox="1">
            <a:spLocks noChangeArrowheads="1"/>
          </p:cNvSpPr>
          <p:nvPr/>
        </p:nvSpPr>
        <p:spPr bwMode="auto">
          <a:xfrm>
            <a:off x="6300788" y="3084513"/>
            <a:ext cx="1439862"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6</a:t>
            </a:r>
          </a:p>
        </p:txBody>
      </p:sp>
      <p:sp>
        <p:nvSpPr>
          <p:cNvPr id="287761" name="Text Box 17"/>
          <p:cNvSpPr txBox="1">
            <a:spLocks noChangeArrowheads="1"/>
          </p:cNvSpPr>
          <p:nvPr/>
        </p:nvSpPr>
        <p:spPr bwMode="auto">
          <a:xfrm>
            <a:off x="6300788" y="3932238"/>
            <a:ext cx="1439862"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    12</a:t>
            </a:r>
          </a:p>
        </p:txBody>
      </p:sp>
      <p:sp>
        <p:nvSpPr>
          <p:cNvPr id="287762" name="Text Box 18"/>
          <p:cNvSpPr txBox="1">
            <a:spLocks noChangeArrowheads="1"/>
          </p:cNvSpPr>
          <p:nvPr/>
        </p:nvSpPr>
        <p:spPr bwMode="auto">
          <a:xfrm>
            <a:off x="6445250" y="2665413"/>
            <a:ext cx="12954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a[3]</a:t>
            </a:r>
            <a:endParaRPr lang="zh-CN" altLang="en-US" sz="2400" b="1">
              <a:solidFill>
                <a:schemeClr val="accent2"/>
              </a:solidFill>
            </a:endParaRPr>
          </a:p>
        </p:txBody>
      </p:sp>
      <p:sp>
        <p:nvSpPr>
          <p:cNvPr id="287763" name="Text Box 19"/>
          <p:cNvSpPr txBox="1">
            <a:spLocks noChangeArrowheads="1"/>
          </p:cNvSpPr>
          <p:nvPr/>
        </p:nvSpPr>
        <p:spPr bwMode="auto">
          <a:xfrm>
            <a:off x="6443663" y="4392613"/>
            <a:ext cx="1296987"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e</a:t>
            </a:r>
          </a:p>
        </p:txBody>
      </p:sp>
      <p:sp>
        <p:nvSpPr>
          <p:cNvPr id="287764" name="Text Box 20"/>
          <p:cNvSpPr txBox="1">
            <a:spLocks noChangeArrowheads="1"/>
          </p:cNvSpPr>
          <p:nvPr/>
        </p:nvSpPr>
        <p:spPr bwMode="auto">
          <a:xfrm>
            <a:off x="5940425" y="4962525"/>
            <a:ext cx="2519363"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从被调函数返回</a:t>
            </a:r>
          </a:p>
        </p:txBody>
      </p:sp>
      <p:sp>
        <p:nvSpPr>
          <p:cNvPr id="59412" name="Line 21"/>
          <p:cNvSpPr>
            <a:spLocks noChangeShapeType="1"/>
          </p:cNvSpPr>
          <p:nvPr/>
        </p:nvSpPr>
        <p:spPr bwMode="auto">
          <a:xfrm>
            <a:off x="250825" y="3673475"/>
            <a:ext cx="8497888" cy="0"/>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413" name="Line 22"/>
          <p:cNvSpPr>
            <a:spLocks noChangeShapeType="1"/>
          </p:cNvSpPr>
          <p:nvPr/>
        </p:nvSpPr>
        <p:spPr bwMode="auto">
          <a:xfrm>
            <a:off x="3203575" y="2636838"/>
            <a:ext cx="0" cy="2952750"/>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414" name="Line 23"/>
          <p:cNvSpPr>
            <a:spLocks noChangeShapeType="1"/>
          </p:cNvSpPr>
          <p:nvPr/>
        </p:nvSpPr>
        <p:spPr bwMode="auto">
          <a:xfrm>
            <a:off x="5867400" y="2636838"/>
            <a:ext cx="0" cy="2952750"/>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7769" name="AutoShape 25"/>
          <p:cNvSpPr>
            <a:spLocks noChangeArrowheads="1"/>
          </p:cNvSpPr>
          <p:nvPr/>
        </p:nvSpPr>
        <p:spPr bwMode="auto">
          <a:xfrm>
            <a:off x="2166938" y="3500438"/>
            <a:ext cx="215900" cy="431800"/>
          </a:xfrm>
          <a:prstGeom prst="downArrow">
            <a:avLst>
              <a:gd name="adj1" fmla="val 50000"/>
              <a:gd name="adj2" fmla="val 50000"/>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87770" name="AutoShape 26"/>
          <p:cNvSpPr>
            <a:spLocks noChangeArrowheads="1"/>
          </p:cNvSpPr>
          <p:nvPr/>
        </p:nvSpPr>
        <p:spPr bwMode="auto">
          <a:xfrm>
            <a:off x="4859338" y="4537075"/>
            <a:ext cx="863600" cy="360363"/>
          </a:xfrm>
          <a:prstGeom prst="wedgeRoundRectCallout">
            <a:avLst>
              <a:gd name="adj1" fmla="val -47977"/>
              <a:gd name="adj2" fmla="val -107708"/>
              <a:gd name="adj3" fmla="val 16667"/>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b="1"/>
              <a:t>修改</a:t>
            </a:r>
          </a:p>
        </p:txBody>
      </p:sp>
      <p:sp>
        <p:nvSpPr>
          <p:cNvPr id="287771" name="AutoShape 27"/>
          <p:cNvSpPr>
            <a:spLocks noChangeArrowheads="1"/>
          </p:cNvSpPr>
          <p:nvPr/>
        </p:nvSpPr>
        <p:spPr bwMode="auto">
          <a:xfrm>
            <a:off x="7956550" y="3241675"/>
            <a:ext cx="1042988" cy="360363"/>
          </a:xfrm>
          <a:prstGeom prst="wedgeRoundRectCallout">
            <a:avLst>
              <a:gd name="adj1" fmla="val -74657"/>
              <a:gd name="adj2" fmla="val -55727"/>
              <a:gd name="adj3" fmla="val 16667"/>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b="1"/>
              <a:t>未变化</a:t>
            </a:r>
          </a:p>
        </p:txBody>
      </p:sp>
      <p:sp>
        <p:nvSpPr>
          <p:cNvPr id="287772" name="Line 28"/>
          <p:cNvSpPr>
            <a:spLocks noChangeShapeType="1"/>
          </p:cNvSpPr>
          <p:nvPr/>
        </p:nvSpPr>
        <p:spPr bwMode="auto">
          <a:xfrm flipH="1">
            <a:off x="6443663" y="3817938"/>
            <a:ext cx="1150937" cy="649287"/>
          </a:xfrm>
          <a:prstGeom prst="line">
            <a:avLst/>
          </a:prstGeom>
          <a:noFill/>
          <a:ln w="28575">
            <a:solidFill>
              <a:srgbClr val="FF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7773" name="Line 29"/>
          <p:cNvSpPr>
            <a:spLocks noChangeShapeType="1"/>
          </p:cNvSpPr>
          <p:nvPr/>
        </p:nvSpPr>
        <p:spPr bwMode="auto">
          <a:xfrm>
            <a:off x="6586538" y="3817938"/>
            <a:ext cx="1154112" cy="719137"/>
          </a:xfrm>
          <a:prstGeom prst="line">
            <a:avLst/>
          </a:prstGeom>
          <a:noFill/>
          <a:ln w="28575">
            <a:solidFill>
              <a:srgbClr val="FF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420" name="Text Box 30"/>
          <p:cNvSpPr txBox="1">
            <a:spLocks noChangeArrowheads="1"/>
          </p:cNvSpPr>
          <p:nvPr/>
        </p:nvSpPr>
        <p:spPr bwMode="auto">
          <a:xfrm>
            <a:off x="755650" y="5805488"/>
            <a:ext cx="72723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b="1"/>
              <a:t>数组元素作函数实参</a:t>
            </a:r>
          </a:p>
        </p:txBody>
      </p:sp>
      <p:sp>
        <p:nvSpPr>
          <p:cNvPr id="287775" name="Text Box 31"/>
          <p:cNvSpPr txBox="1">
            <a:spLocks noChangeArrowheads="1"/>
          </p:cNvSpPr>
          <p:nvPr/>
        </p:nvSpPr>
        <p:spPr bwMode="auto">
          <a:xfrm>
            <a:off x="1979613" y="3973513"/>
            <a:ext cx="792162"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6</a:t>
            </a:r>
            <a:endParaRPr lang="zh-CN" altLang="en-US" sz="2400"/>
          </a:p>
        </p:txBody>
      </p:sp>
      <p:sp>
        <p:nvSpPr>
          <p:cNvPr id="59422" name="Text Box 34"/>
          <p:cNvSpPr txBox="1">
            <a:spLocks noChangeArrowheads="1"/>
          </p:cNvSpPr>
          <p:nvPr/>
        </p:nvSpPr>
        <p:spPr bwMode="auto">
          <a:xfrm>
            <a:off x="395288" y="260350"/>
            <a:ext cx="7848600" cy="2182813"/>
          </a:xfrm>
          <a:prstGeom prst="rect">
            <a:avLst/>
          </a:prstGeom>
          <a:solidFill>
            <a:srgbClr val="CCFFFF"/>
          </a:solidFill>
          <a:ln w="9525" algn="ctr">
            <a:solidFill>
              <a:srgbClr val="339966"/>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fr-FR" altLang="zh-CN" sz="2400" dirty="0">
                <a:latin typeface="Consolas" panose="020B0609020204030204" pitchFamily="49" charset="0"/>
              </a:rPr>
              <a:t>void modifyElement(int e)</a:t>
            </a:r>
          </a:p>
          <a:p>
            <a:pPr eaLnBrk="1" hangingPunct="1">
              <a:buFontTx/>
              <a:buNone/>
            </a:pPr>
            <a:r>
              <a:rPr lang="fr-FR" altLang="zh-CN" sz="2400" dirty="0">
                <a:latin typeface="Consolas" panose="020B0609020204030204" pitchFamily="49" charset="0"/>
              </a:rPr>
              <a:t>{</a:t>
            </a:r>
          </a:p>
          <a:p>
            <a:pPr eaLnBrk="1" hangingPunct="1">
              <a:buFontTx/>
              <a:buNone/>
            </a:pPr>
            <a:r>
              <a:rPr lang="fr-FR" altLang="zh-CN" sz="2400" dirty="0">
                <a:latin typeface="Consolas" panose="020B0609020204030204" pitchFamily="49" charset="0"/>
              </a:rPr>
              <a:t>   printf("%d",e*=2);</a:t>
            </a:r>
          </a:p>
          <a:p>
            <a:pPr eaLnBrk="1" hangingPunct="1">
              <a:buFontTx/>
              <a:buNone/>
            </a:pPr>
            <a:r>
              <a:rPr lang="fr-FR" altLang="zh-CN" sz="2400" dirty="0">
                <a:latin typeface="Consolas" panose="020B0609020204030204" pitchFamily="49" charset="0"/>
              </a:rPr>
              <a:t>}</a:t>
            </a:r>
          </a:p>
          <a:p>
            <a:pPr eaLnBrk="1" hangingPunct="1">
              <a:spcBef>
                <a:spcPct val="50000"/>
              </a:spcBef>
              <a:buFontTx/>
              <a:buNone/>
            </a:pPr>
            <a:r>
              <a:rPr lang="zh-CN" altLang="en-US" sz="2400" dirty="0">
                <a:solidFill>
                  <a:srgbClr val="003399"/>
                </a:solidFill>
                <a:latin typeface="Consolas" panose="020B0609020204030204" pitchFamily="49" charset="0"/>
              </a:rPr>
              <a:t>函数调用</a:t>
            </a:r>
            <a:r>
              <a:rPr lang="zh-CN" altLang="en-US" sz="2400" dirty="0">
                <a:latin typeface="Consolas" panose="020B0609020204030204" pitchFamily="49" charset="0"/>
              </a:rPr>
              <a:t>：</a:t>
            </a:r>
            <a:r>
              <a:rPr lang="en-US" altLang="zh-CN" sz="2400" dirty="0">
                <a:latin typeface="Consolas" panose="020B0609020204030204" pitchFamily="49" charset="0"/>
              </a:rPr>
              <a:t>y= </a:t>
            </a:r>
            <a:r>
              <a:rPr lang="en-US" altLang="zh-CN" sz="2400" dirty="0" err="1">
                <a:latin typeface="Consolas" panose="020B0609020204030204" pitchFamily="49" charset="0"/>
              </a:rPr>
              <a:t>modifyElement</a:t>
            </a:r>
            <a:r>
              <a:rPr lang="en-US" altLang="zh-CN" sz="2400" dirty="0">
                <a:latin typeface="Consolas" panose="020B0609020204030204" pitchFamily="49" charset="0"/>
              </a:rPr>
              <a:t> (a[3])</a:t>
            </a:r>
            <a:r>
              <a:rPr lang="zh-CN" altLang="en-US" sz="2400" dirty="0">
                <a:latin typeface="Consolas" panose="020B0609020204030204" pitchFamily="49"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7769"/>
                                        </p:tgtEl>
                                        <p:attrNameLst>
                                          <p:attrName>style.visibility</p:attrName>
                                        </p:attrNameLst>
                                      </p:cBhvr>
                                      <p:to>
                                        <p:strVal val="visible"/>
                                      </p:to>
                                    </p:set>
                                    <p:animEffect transition="in" filter="dissolve">
                                      <p:cBhvr>
                                        <p:cTn id="7" dur="500"/>
                                        <p:tgtEl>
                                          <p:spTgt spid="28776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7775"/>
                                        </p:tgtEl>
                                        <p:attrNameLst>
                                          <p:attrName>style.visibility</p:attrName>
                                        </p:attrNameLst>
                                      </p:cBhvr>
                                      <p:to>
                                        <p:strVal val="visible"/>
                                      </p:to>
                                    </p:set>
                                    <p:animEffect transition="in" filter="dissolve">
                                      <p:cBhvr>
                                        <p:cTn id="12" dur="500"/>
                                        <p:tgtEl>
                                          <p:spTgt spid="2877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7755"/>
                                        </p:tgtEl>
                                        <p:attrNameLst>
                                          <p:attrName>style.visibility</p:attrName>
                                        </p:attrNameLst>
                                      </p:cBhvr>
                                      <p:to>
                                        <p:strVal val="visible"/>
                                      </p:to>
                                    </p:set>
                                    <p:animEffect transition="in" filter="dissolve">
                                      <p:cBhvr>
                                        <p:cTn id="17" dur="500"/>
                                        <p:tgtEl>
                                          <p:spTgt spid="28775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87756"/>
                                        </p:tgtEl>
                                        <p:attrNameLst>
                                          <p:attrName>style.visibility</p:attrName>
                                        </p:attrNameLst>
                                      </p:cBhvr>
                                      <p:to>
                                        <p:strVal val="visible"/>
                                      </p:to>
                                    </p:set>
                                    <p:animEffect transition="in" filter="dissolve">
                                      <p:cBhvr>
                                        <p:cTn id="20" dur="500"/>
                                        <p:tgtEl>
                                          <p:spTgt spid="28775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87757"/>
                                        </p:tgtEl>
                                        <p:attrNameLst>
                                          <p:attrName>style.visibility</p:attrName>
                                        </p:attrNameLst>
                                      </p:cBhvr>
                                      <p:to>
                                        <p:strVal val="visible"/>
                                      </p:to>
                                    </p:set>
                                    <p:animEffect transition="in" filter="dissolve">
                                      <p:cBhvr>
                                        <p:cTn id="23" dur="500"/>
                                        <p:tgtEl>
                                          <p:spTgt spid="28775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87758"/>
                                        </p:tgtEl>
                                        <p:attrNameLst>
                                          <p:attrName>style.visibility</p:attrName>
                                        </p:attrNameLst>
                                      </p:cBhvr>
                                      <p:to>
                                        <p:strVal val="visible"/>
                                      </p:to>
                                    </p:set>
                                    <p:animEffect transition="in" filter="dissolve">
                                      <p:cBhvr>
                                        <p:cTn id="26" dur="500"/>
                                        <p:tgtEl>
                                          <p:spTgt spid="28775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87770"/>
                                        </p:tgtEl>
                                        <p:attrNameLst>
                                          <p:attrName>style.visibility</p:attrName>
                                        </p:attrNameLst>
                                      </p:cBhvr>
                                      <p:to>
                                        <p:strVal val="visible"/>
                                      </p:to>
                                    </p:set>
                                    <p:animEffect transition="in" filter="dissolve">
                                      <p:cBhvr>
                                        <p:cTn id="29" dur="500"/>
                                        <p:tgtEl>
                                          <p:spTgt spid="28777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87759"/>
                                        </p:tgtEl>
                                        <p:attrNameLst>
                                          <p:attrName>style.visibility</p:attrName>
                                        </p:attrNameLst>
                                      </p:cBhvr>
                                      <p:to>
                                        <p:strVal val="visible"/>
                                      </p:to>
                                    </p:set>
                                    <p:animEffect transition="in" filter="dissolve">
                                      <p:cBhvr>
                                        <p:cTn id="32" dur="500"/>
                                        <p:tgtEl>
                                          <p:spTgt spid="28775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87760"/>
                                        </p:tgtEl>
                                        <p:attrNameLst>
                                          <p:attrName>style.visibility</p:attrName>
                                        </p:attrNameLst>
                                      </p:cBhvr>
                                      <p:to>
                                        <p:strVal val="visible"/>
                                      </p:to>
                                    </p:set>
                                    <p:animEffect transition="in" filter="dissolve">
                                      <p:cBhvr>
                                        <p:cTn id="37" dur="500"/>
                                        <p:tgtEl>
                                          <p:spTgt spid="287760"/>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87761"/>
                                        </p:tgtEl>
                                        <p:attrNameLst>
                                          <p:attrName>style.visibility</p:attrName>
                                        </p:attrNameLst>
                                      </p:cBhvr>
                                      <p:to>
                                        <p:strVal val="visible"/>
                                      </p:to>
                                    </p:set>
                                    <p:animEffect transition="in" filter="dissolve">
                                      <p:cBhvr>
                                        <p:cTn id="40" dur="500"/>
                                        <p:tgtEl>
                                          <p:spTgt spid="28776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87762"/>
                                        </p:tgtEl>
                                        <p:attrNameLst>
                                          <p:attrName>style.visibility</p:attrName>
                                        </p:attrNameLst>
                                      </p:cBhvr>
                                      <p:to>
                                        <p:strVal val="visible"/>
                                      </p:to>
                                    </p:set>
                                    <p:animEffect transition="in" filter="dissolve">
                                      <p:cBhvr>
                                        <p:cTn id="43" dur="500"/>
                                        <p:tgtEl>
                                          <p:spTgt spid="287762"/>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87763"/>
                                        </p:tgtEl>
                                        <p:attrNameLst>
                                          <p:attrName>style.visibility</p:attrName>
                                        </p:attrNameLst>
                                      </p:cBhvr>
                                      <p:to>
                                        <p:strVal val="visible"/>
                                      </p:to>
                                    </p:set>
                                    <p:animEffect transition="in" filter="dissolve">
                                      <p:cBhvr>
                                        <p:cTn id="46" dur="500"/>
                                        <p:tgtEl>
                                          <p:spTgt spid="287763"/>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87771"/>
                                        </p:tgtEl>
                                        <p:attrNameLst>
                                          <p:attrName>style.visibility</p:attrName>
                                        </p:attrNameLst>
                                      </p:cBhvr>
                                      <p:to>
                                        <p:strVal val="visible"/>
                                      </p:to>
                                    </p:set>
                                    <p:animEffect transition="in" filter="dissolve">
                                      <p:cBhvr>
                                        <p:cTn id="49" dur="500"/>
                                        <p:tgtEl>
                                          <p:spTgt spid="28777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87772"/>
                                        </p:tgtEl>
                                        <p:attrNameLst>
                                          <p:attrName>style.visibility</p:attrName>
                                        </p:attrNameLst>
                                      </p:cBhvr>
                                      <p:to>
                                        <p:strVal val="visible"/>
                                      </p:to>
                                    </p:set>
                                    <p:animEffect transition="in" filter="dissolve">
                                      <p:cBhvr>
                                        <p:cTn id="52" dur="500"/>
                                        <p:tgtEl>
                                          <p:spTgt spid="28777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87773"/>
                                        </p:tgtEl>
                                        <p:attrNameLst>
                                          <p:attrName>style.visibility</p:attrName>
                                        </p:attrNameLst>
                                      </p:cBhvr>
                                      <p:to>
                                        <p:strVal val="visible"/>
                                      </p:to>
                                    </p:set>
                                    <p:animEffect transition="in" filter="dissolve">
                                      <p:cBhvr>
                                        <p:cTn id="55" dur="500"/>
                                        <p:tgtEl>
                                          <p:spTgt spid="28777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87764"/>
                                        </p:tgtEl>
                                        <p:attrNameLst>
                                          <p:attrName>style.visibility</p:attrName>
                                        </p:attrNameLst>
                                      </p:cBhvr>
                                      <p:to>
                                        <p:strVal val="visible"/>
                                      </p:to>
                                    </p:set>
                                    <p:animEffect transition="in" filter="dissolve">
                                      <p:cBhvr>
                                        <p:cTn id="58" dur="500"/>
                                        <p:tgtEl>
                                          <p:spTgt spid="28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5" grpId="0" bldLvl="0" animBg="1"/>
      <p:bldP spid="287756" grpId="0" bldLvl="0" animBg="1"/>
      <p:bldP spid="287757" grpId="0" bldLvl="0" animBg="1"/>
      <p:bldP spid="287758" grpId="0" bldLvl="0" animBg="1"/>
      <p:bldP spid="287759" grpId="0" bldLvl="0" animBg="1"/>
      <p:bldP spid="287760" grpId="0" bldLvl="0" animBg="1"/>
      <p:bldP spid="287761" grpId="0" bldLvl="0" animBg="1"/>
      <p:bldP spid="287762" grpId="0" bldLvl="0" animBg="1"/>
      <p:bldP spid="287763" grpId="0" bldLvl="0" animBg="1"/>
      <p:bldP spid="287764" grpId="0" bldLvl="0" animBg="1"/>
      <p:bldP spid="287769" grpId="0" bldLvl="0" animBg="1"/>
      <p:bldP spid="287770" grpId="0" bldLvl="0" animBg="1"/>
      <p:bldP spid="287771" grpId="0" bldLvl="0" animBg="1"/>
      <p:bldP spid="287772" grpId="0" bldLvl="0" animBg="1"/>
      <p:bldP spid="287773" grpId="0" bldLvl="0" animBg="1"/>
      <p:bldP spid="28777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838200" y="1447800"/>
            <a:ext cx="8126413" cy="4572000"/>
          </a:xfrm>
        </p:spPr>
        <p:txBody>
          <a:bodyPr/>
          <a:lstStyle/>
          <a:p>
            <a:pPr eaLnBrk="1" hangingPunct="1">
              <a:buFontTx/>
              <a:buNone/>
            </a:pPr>
            <a:r>
              <a:rPr lang="zh-CN" altLang="en-US" b="1" dirty="0"/>
              <a:t>二、</a:t>
            </a:r>
            <a:r>
              <a:rPr lang="zh-CN" altLang="en-US" b="1" dirty="0">
                <a:latin typeface="System" charset="-122"/>
                <a:ea typeface="System" charset="-122"/>
              </a:rPr>
              <a:t>将</a:t>
            </a:r>
            <a:r>
              <a:rPr lang="zh-CN" altLang="en-US" b="1" i="1" dirty="0">
                <a:solidFill>
                  <a:srgbClr val="003399"/>
                </a:solidFill>
                <a:latin typeface="System" charset="-122"/>
                <a:ea typeface="System" charset="-122"/>
              </a:rPr>
              <a:t>数组名</a:t>
            </a:r>
            <a:r>
              <a:rPr lang="zh-CN" altLang="en-US" b="1" dirty="0">
                <a:latin typeface="System" charset="-122"/>
                <a:ea typeface="System" charset="-122"/>
              </a:rPr>
              <a:t>作为函数的实参</a:t>
            </a:r>
            <a:endParaRPr lang="zh-CN" altLang="en-US" b="1" dirty="0"/>
          </a:p>
          <a:p>
            <a:pPr eaLnBrk="1" hangingPunct="1">
              <a:buFontTx/>
              <a:buNone/>
            </a:pPr>
            <a:r>
              <a:rPr lang="zh-CN" altLang="en-US" sz="2400" b="1" dirty="0"/>
              <a:t>目的：数组名作为函数的实参时，传递的是数组的首地址（第一个元素的地址）。</a:t>
            </a:r>
            <a:r>
              <a:rPr lang="zh-CN" altLang="en-US" sz="2400" b="1" i="1" dirty="0">
                <a:solidFill>
                  <a:schemeClr val="accent2"/>
                </a:solidFill>
              </a:rPr>
              <a:t>使得被调用函数能够访问、操作原数组！</a:t>
            </a:r>
            <a:endParaRPr lang="zh-CN" altLang="en-US" sz="2400" b="1" dirty="0">
              <a:solidFill>
                <a:schemeClr val="accent2"/>
              </a:solidFill>
            </a:endParaRPr>
          </a:p>
          <a:p>
            <a:pPr eaLnBrk="1" hangingPunct="1">
              <a:buFontTx/>
              <a:buNone/>
            </a:pPr>
            <a:r>
              <a:rPr lang="zh-CN" altLang="en-US" sz="2400" b="1" dirty="0"/>
              <a:t>方法：</a:t>
            </a:r>
            <a:r>
              <a:rPr lang="zh-CN" altLang="en-US" sz="2400" b="1" dirty="0">
                <a:latin typeface="System" charset="-122"/>
              </a:rPr>
              <a:t>要求形参和相对应的实参都必须是类型相同的数组，都必须有明确的数组说明，此时</a:t>
            </a:r>
            <a:r>
              <a:rPr lang="zh-CN" altLang="en-US" sz="2400" b="1" dirty="0"/>
              <a:t>被调函数实际操作的是原数组</a:t>
            </a:r>
            <a:r>
              <a:rPr lang="zh-CN" altLang="en-US" sz="2400" b="1" dirty="0">
                <a:latin typeface="System" charset="-122"/>
              </a:rPr>
              <a:t>。</a:t>
            </a:r>
            <a:r>
              <a:rPr lang="zh-CN" altLang="en-US" sz="2400" b="1" dirty="0"/>
              <a:t>同时，通常要将数组的大小传递给函数。</a:t>
            </a:r>
            <a:endParaRPr lang="zh-CN" altLang="en-US" sz="2400" b="1" dirty="0">
              <a:latin typeface="System" charset="-122"/>
            </a:endParaRPr>
          </a:p>
          <a:p>
            <a:pPr eaLnBrk="1" hangingPunct="1">
              <a:buFontTx/>
              <a:buNone/>
            </a:pPr>
            <a:r>
              <a:rPr lang="zh-CN" altLang="en-US" sz="2400" b="1" dirty="0"/>
              <a:t>机理：将数组名作为实参传递给函数，函数就获得了数组的首地址，根据首地址能计算出原数组各个元素的内存地址，从而访问这些数组元素。</a:t>
            </a:r>
          </a:p>
          <a:p>
            <a:pPr eaLnBrk="1" hangingPunct="1">
              <a:buFontTx/>
              <a:buNone/>
            </a:pPr>
            <a:endParaRPr lang="zh-CN" altLang="en-US" sz="2400" b="1" dirty="0"/>
          </a:p>
        </p:txBody>
      </p:sp>
      <p:sp>
        <p:nvSpPr>
          <p:cNvPr id="60420" name="Rectangle 2"/>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a:solidFill>
                  <a:srgbClr val="FF3300"/>
                </a:solidFill>
              </a:rPr>
              <a:t>6.4 </a:t>
            </a:r>
            <a:r>
              <a:rPr lang="zh-CN" altLang="en-US" sz="3200" b="1">
                <a:solidFill>
                  <a:srgbClr val="FF3300"/>
                </a:solidFill>
              </a:rPr>
              <a:t>数组作为函数参数的处理</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2340F-09B2-414C-8BF0-5055249A813B}"/>
              </a:ext>
            </a:extLst>
          </p:cNvPr>
          <p:cNvSpPr>
            <a:spLocks noGrp="1"/>
          </p:cNvSpPr>
          <p:nvPr>
            <p:ph type="title"/>
          </p:nvPr>
        </p:nvSpPr>
        <p:spPr/>
        <p:txBody>
          <a:bodyPr/>
          <a:lstStyle/>
          <a:p>
            <a:r>
              <a:rPr lang="zh-CN" altLang="en-US" dirty="0"/>
              <a:t>数组名形参</a:t>
            </a:r>
            <a:r>
              <a:rPr lang="en-US" altLang="zh-CN" dirty="0"/>
              <a:t>-</a:t>
            </a:r>
            <a:r>
              <a:rPr lang="zh-CN" altLang="en-US" dirty="0"/>
              <a:t>示例</a:t>
            </a:r>
            <a:r>
              <a:rPr lang="en-US" altLang="zh-CN" dirty="0"/>
              <a:t>1</a:t>
            </a:r>
            <a:endParaRPr lang="zh-CN" altLang="en-US" dirty="0"/>
          </a:p>
        </p:txBody>
      </p:sp>
      <p:sp>
        <p:nvSpPr>
          <p:cNvPr id="3" name="内容占位符 2">
            <a:extLst>
              <a:ext uri="{FF2B5EF4-FFF2-40B4-BE49-F238E27FC236}">
                <a16:creationId xmlns:a16="http://schemas.microsoft.com/office/drawing/2014/main" id="{6DDF5051-3D58-4689-889D-04D91519018D}"/>
              </a:ext>
            </a:extLst>
          </p:cNvPr>
          <p:cNvSpPr>
            <a:spLocks noGrp="1"/>
          </p:cNvSpPr>
          <p:nvPr>
            <p:ph idx="1"/>
          </p:nvPr>
        </p:nvSpPr>
        <p:spPr>
          <a:xfrm>
            <a:off x="395536" y="1151856"/>
            <a:ext cx="4320480" cy="4611687"/>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5</a:t>
            </a:r>
          </a:p>
          <a:p>
            <a:pPr marL="0" indent="0">
              <a:buNone/>
            </a:pPr>
            <a:r>
              <a:rPr lang="en-US" altLang="zh-CN" sz="2000" dirty="0">
                <a:latin typeface="Consolas" panose="020B0609020204030204" pitchFamily="49" charset="0"/>
              </a:rPr>
              <a:t>void modify(int b[],int n);</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a[SIZE]={1,2,3,4,5};</a:t>
            </a:r>
          </a:p>
          <a:p>
            <a:pPr marL="0" indent="0">
              <a:buNone/>
            </a:pPr>
            <a:r>
              <a:rPr lang="en-US" altLang="zh-CN" sz="2000" dirty="0">
                <a:latin typeface="Consolas" panose="020B0609020204030204" pitchFamily="49" charset="0"/>
              </a:rPr>
              <a:t>   modify(a, SIZE);</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for (</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0;i</a:t>
            </a:r>
            <a:r>
              <a:rPr lang="en-US" altLang="zh-CN" sz="2000" dirty="0">
                <a:latin typeface="Consolas" panose="020B0609020204030204" pitchFamily="49" charset="0"/>
              </a:rPr>
              <a:t>&lt;</a:t>
            </a:r>
            <a:r>
              <a:rPr lang="en-US" altLang="zh-CN" sz="2000" dirty="0" err="1">
                <a:latin typeface="Consolas" panose="020B0609020204030204" pitchFamily="49" charset="0"/>
              </a:rPr>
              <a:t>SIZE;i</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10d</a:t>
            </a:r>
            <a:r>
              <a:rPr lang="en-US" altLang="zh-CN" sz="2000" dirty="0">
                <a:latin typeface="Consolas" panose="020B0609020204030204" pitchFamily="49" charset="0"/>
              </a:rPr>
              <a:t>",a[</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
        <p:nvSpPr>
          <p:cNvPr id="4" name="内容占位符 2">
            <a:extLst>
              <a:ext uri="{FF2B5EF4-FFF2-40B4-BE49-F238E27FC236}">
                <a16:creationId xmlns:a16="http://schemas.microsoft.com/office/drawing/2014/main" id="{E722FF6B-B543-4276-9DFF-3911581B55ED}"/>
              </a:ext>
            </a:extLst>
          </p:cNvPr>
          <p:cNvSpPr txBox="1">
            <a:spLocks/>
          </p:cNvSpPr>
          <p:nvPr/>
        </p:nvSpPr>
        <p:spPr bwMode="auto">
          <a:xfrm>
            <a:off x="4823520" y="1783856"/>
            <a:ext cx="4320480" cy="397901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marL="0" indent="0">
              <a:lnSpc>
                <a:spcPct val="100000"/>
              </a:lnSpc>
              <a:buFontTx/>
              <a:buNone/>
            </a:pPr>
            <a:r>
              <a:rPr lang="en-US" altLang="zh-CN" sz="2000" kern="0" dirty="0">
                <a:latin typeface="Consolas" panose="020B0609020204030204" pitchFamily="49" charset="0"/>
              </a:rPr>
              <a:t>void modify(int b[],int n)</a:t>
            </a:r>
          </a:p>
          <a:p>
            <a:pPr marL="0" indent="0">
              <a:lnSpc>
                <a:spcPct val="100000"/>
              </a:lnSpc>
              <a:buFontTx/>
              <a:buNone/>
            </a:pPr>
            <a:r>
              <a:rPr lang="en-US" altLang="zh-CN" sz="2000" kern="0" dirty="0">
                <a:latin typeface="Consolas" panose="020B0609020204030204" pitchFamily="49" charset="0"/>
              </a:rPr>
              <a:t>{</a:t>
            </a:r>
          </a:p>
          <a:p>
            <a:pPr marL="0" indent="0">
              <a:lnSpc>
                <a:spcPct val="100000"/>
              </a:lnSpc>
              <a:buFontTx/>
              <a:buNone/>
            </a:pPr>
            <a:r>
              <a:rPr lang="en-US" altLang="zh-CN" sz="2000" kern="0" dirty="0">
                <a:latin typeface="Consolas" panose="020B0609020204030204" pitchFamily="49" charset="0"/>
              </a:rPr>
              <a:t>   int j;</a:t>
            </a:r>
          </a:p>
          <a:p>
            <a:pPr marL="0" indent="0">
              <a:lnSpc>
                <a:spcPct val="100000"/>
              </a:lnSpc>
              <a:buFontTx/>
              <a:buNone/>
            </a:pPr>
            <a:r>
              <a:rPr lang="en-US" altLang="zh-CN" sz="2000" kern="0" dirty="0">
                <a:latin typeface="Consolas" panose="020B0609020204030204" pitchFamily="49" charset="0"/>
              </a:rPr>
              <a:t>   for (j=0; j &lt; n; </a:t>
            </a:r>
            <a:r>
              <a:rPr lang="en-US" altLang="zh-CN" sz="2000" kern="0" dirty="0" err="1">
                <a:latin typeface="Consolas" panose="020B0609020204030204" pitchFamily="49" charset="0"/>
              </a:rPr>
              <a:t>j++</a:t>
            </a:r>
            <a:r>
              <a:rPr lang="en-US" altLang="zh-CN" sz="2000" kern="0" dirty="0">
                <a:latin typeface="Consolas" panose="020B0609020204030204" pitchFamily="49" charset="0"/>
              </a:rPr>
              <a:t>)</a:t>
            </a:r>
          </a:p>
          <a:p>
            <a:pPr marL="0" indent="0">
              <a:lnSpc>
                <a:spcPct val="100000"/>
              </a:lnSpc>
              <a:buFontTx/>
              <a:buNone/>
            </a:pPr>
            <a:r>
              <a:rPr lang="en-US" altLang="zh-CN" sz="2000" kern="0" dirty="0">
                <a:latin typeface="Consolas" panose="020B0609020204030204" pitchFamily="49" charset="0"/>
              </a:rPr>
              <a:t>        b[j]*=2;</a:t>
            </a:r>
          </a:p>
          <a:p>
            <a:pPr marL="0" indent="0">
              <a:lnSpc>
                <a:spcPct val="100000"/>
              </a:lnSpc>
              <a:buFontTx/>
              <a:buNone/>
            </a:pPr>
            <a:r>
              <a:rPr lang="en-US" altLang="zh-CN" sz="2000" kern="0" dirty="0">
                <a:latin typeface="Consolas" panose="020B0609020204030204" pitchFamily="49" charset="0"/>
              </a:rPr>
              <a:t>}</a:t>
            </a:r>
          </a:p>
          <a:p>
            <a:pPr marL="0" indent="0">
              <a:lnSpc>
                <a:spcPct val="100000"/>
              </a:lnSpc>
              <a:buFontTx/>
              <a:buNone/>
            </a:pPr>
            <a:endParaRPr lang="zh-CN" altLang="en-US" sz="2000" kern="0" dirty="0">
              <a:latin typeface="Consolas" panose="020B0609020204030204" pitchFamily="49" charset="0"/>
            </a:endParaRPr>
          </a:p>
        </p:txBody>
      </p:sp>
    </p:spTree>
    <p:extLst>
      <p:ext uri="{BB962C8B-B14F-4D97-AF65-F5344CB8AC3E}">
        <p14:creationId xmlns:p14="http://schemas.microsoft.com/office/powerpoint/2010/main" val="358768372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5"/>
          <p:cNvSpPr txBox="1">
            <a:spLocks noChangeArrowheads="1"/>
          </p:cNvSpPr>
          <p:nvPr/>
        </p:nvSpPr>
        <p:spPr bwMode="auto">
          <a:xfrm>
            <a:off x="1619250" y="3141663"/>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61444" name="Text Box 6"/>
          <p:cNvSpPr txBox="1">
            <a:spLocks noChangeArrowheads="1"/>
          </p:cNvSpPr>
          <p:nvPr/>
        </p:nvSpPr>
        <p:spPr bwMode="auto">
          <a:xfrm>
            <a:off x="1619250" y="4865688"/>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en-US" sz="2400" b="1"/>
          </a:p>
        </p:txBody>
      </p:sp>
      <p:sp>
        <p:nvSpPr>
          <p:cNvPr id="61445" name="Text Box 7"/>
          <p:cNvSpPr txBox="1">
            <a:spLocks noChangeArrowheads="1"/>
          </p:cNvSpPr>
          <p:nvPr/>
        </p:nvSpPr>
        <p:spPr bwMode="auto">
          <a:xfrm>
            <a:off x="34925" y="3141663"/>
            <a:ext cx="1439863" cy="430212"/>
          </a:xfrm>
          <a:prstGeom prst="rect">
            <a:avLst/>
          </a:prstGeom>
          <a:solidFill>
            <a:srgbClr val="CCFFFF"/>
          </a:solidFill>
          <a:ln w="9525" algn="ctr">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主调函数</a:t>
            </a:r>
          </a:p>
        </p:txBody>
      </p:sp>
      <p:sp>
        <p:nvSpPr>
          <p:cNvPr id="61446" name="Text Box 8"/>
          <p:cNvSpPr txBox="1">
            <a:spLocks noChangeArrowheads="1"/>
          </p:cNvSpPr>
          <p:nvPr/>
        </p:nvSpPr>
        <p:spPr bwMode="auto">
          <a:xfrm>
            <a:off x="34925" y="4875213"/>
            <a:ext cx="1439863" cy="430212"/>
          </a:xfrm>
          <a:prstGeom prst="rect">
            <a:avLst/>
          </a:prstGeom>
          <a:solidFill>
            <a:srgbClr val="CCFFFF"/>
          </a:solidFill>
          <a:ln w="9525" algn="ctr">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被调函数</a:t>
            </a:r>
          </a:p>
        </p:txBody>
      </p:sp>
      <p:sp>
        <p:nvSpPr>
          <p:cNvPr id="61447" name="Text Box 9"/>
          <p:cNvSpPr txBox="1">
            <a:spLocks noChangeArrowheads="1"/>
          </p:cNvSpPr>
          <p:nvPr/>
        </p:nvSpPr>
        <p:spPr bwMode="auto">
          <a:xfrm>
            <a:off x="1187450" y="2722563"/>
            <a:ext cx="309562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a:t>
            </a:r>
            <a:r>
              <a:rPr lang="zh-CN" altLang="en-US" sz="2400" b="1">
                <a:solidFill>
                  <a:schemeClr val="accent2"/>
                </a:solidFill>
              </a:rPr>
              <a:t>（数组名）</a:t>
            </a:r>
          </a:p>
        </p:txBody>
      </p:sp>
      <p:sp>
        <p:nvSpPr>
          <p:cNvPr id="61448" name="Text Box 10"/>
          <p:cNvSpPr txBox="1">
            <a:spLocks noChangeArrowheads="1"/>
          </p:cNvSpPr>
          <p:nvPr/>
        </p:nvSpPr>
        <p:spPr bwMode="auto">
          <a:xfrm>
            <a:off x="1762125" y="5326063"/>
            <a:ext cx="115252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b</a:t>
            </a:r>
          </a:p>
        </p:txBody>
      </p:sp>
      <p:sp>
        <p:nvSpPr>
          <p:cNvPr id="61449" name="Text Box 11"/>
          <p:cNvSpPr txBox="1">
            <a:spLocks noChangeArrowheads="1"/>
          </p:cNvSpPr>
          <p:nvPr/>
        </p:nvSpPr>
        <p:spPr bwMode="auto">
          <a:xfrm>
            <a:off x="1546225" y="5740400"/>
            <a:ext cx="12954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调用时</a:t>
            </a:r>
          </a:p>
        </p:txBody>
      </p:sp>
      <p:sp>
        <p:nvSpPr>
          <p:cNvPr id="288782" name="Text Box 14"/>
          <p:cNvSpPr txBox="1">
            <a:spLocks noChangeArrowheads="1"/>
          </p:cNvSpPr>
          <p:nvPr/>
        </p:nvSpPr>
        <p:spPr bwMode="auto">
          <a:xfrm>
            <a:off x="3924300" y="2716213"/>
            <a:ext cx="1223963"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a:t>
            </a:r>
          </a:p>
        </p:txBody>
      </p:sp>
      <p:sp>
        <p:nvSpPr>
          <p:cNvPr id="288783" name="Text Box 15"/>
          <p:cNvSpPr txBox="1">
            <a:spLocks noChangeArrowheads="1"/>
          </p:cNvSpPr>
          <p:nvPr/>
        </p:nvSpPr>
        <p:spPr bwMode="auto">
          <a:xfrm>
            <a:off x="3778250" y="5319713"/>
            <a:ext cx="12255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b</a:t>
            </a:r>
          </a:p>
        </p:txBody>
      </p:sp>
      <p:sp>
        <p:nvSpPr>
          <p:cNvPr id="288784" name="Text Box 16"/>
          <p:cNvSpPr txBox="1">
            <a:spLocks noChangeArrowheads="1"/>
          </p:cNvSpPr>
          <p:nvPr/>
        </p:nvSpPr>
        <p:spPr bwMode="auto">
          <a:xfrm>
            <a:off x="3275013" y="5740400"/>
            <a:ext cx="216058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执行被调函数</a:t>
            </a:r>
          </a:p>
        </p:txBody>
      </p:sp>
      <p:sp>
        <p:nvSpPr>
          <p:cNvPr id="288785" name="Text Box 17"/>
          <p:cNvSpPr txBox="1">
            <a:spLocks noChangeArrowheads="1"/>
          </p:cNvSpPr>
          <p:nvPr/>
        </p:nvSpPr>
        <p:spPr bwMode="auto">
          <a:xfrm>
            <a:off x="6300788" y="3128963"/>
            <a:ext cx="1439862"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288786" name="Text Box 18"/>
          <p:cNvSpPr txBox="1">
            <a:spLocks noChangeArrowheads="1"/>
          </p:cNvSpPr>
          <p:nvPr/>
        </p:nvSpPr>
        <p:spPr bwMode="auto">
          <a:xfrm>
            <a:off x="6156325" y="4852988"/>
            <a:ext cx="1439863"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288787" name="Text Box 19"/>
          <p:cNvSpPr txBox="1">
            <a:spLocks noChangeArrowheads="1"/>
          </p:cNvSpPr>
          <p:nvPr/>
        </p:nvSpPr>
        <p:spPr bwMode="auto">
          <a:xfrm>
            <a:off x="6445250" y="2709863"/>
            <a:ext cx="12954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实参</a:t>
            </a:r>
            <a:r>
              <a:rPr lang="en-US" altLang="zh-CN" sz="2400" b="1">
                <a:solidFill>
                  <a:schemeClr val="accent2"/>
                </a:solidFill>
              </a:rPr>
              <a:t>a</a:t>
            </a:r>
          </a:p>
        </p:txBody>
      </p:sp>
      <p:sp>
        <p:nvSpPr>
          <p:cNvPr id="288788" name="Text Box 20"/>
          <p:cNvSpPr txBox="1">
            <a:spLocks noChangeArrowheads="1"/>
          </p:cNvSpPr>
          <p:nvPr/>
        </p:nvSpPr>
        <p:spPr bwMode="auto">
          <a:xfrm>
            <a:off x="6299200" y="5313363"/>
            <a:ext cx="1296988"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形参</a:t>
            </a:r>
            <a:r>
              <a:rPr lang="en-US" altLang="zh-CN" sz="2400" b="1">
                <a:solidFill>
                  <a:schemeClr val="accent2"/>
                </a:solidFill>
              </a:rPr>
              <a:t>b</a:t>
            </a:r>
          </a:p>
        </p:txBody>
      </p:sp>
      <p:sp>
        <p:nvSpPr>
          <p:cNvPr id="288789" name="Text Box 21"/>
          <p:cNvSpPr txBox="1">
            <a:spLocks noChangeArrowheads="1"/>
          </p:cNvSpPr>
          <p:nvPr/>
        </p:nvSpPr>
        <p:spPr bwMode="auto">
          <a:xfrm>
            <a:off x="5940425" y="5734050"/>
            <a:ext cx="2519363"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从被调函数返回</a:t>
            </a:r>
          </a:p>
        </p:txBody>
      </p:sp>
      <p:sp>
        <p:nvSpPr>
          <p:cNvPr id="61458" name="Line 22"/>
          <p:cNvSpPr>
            <a:spLocks noChangeShapeType="1"/>
          </p:cNvSpPr>
          <p:nvPr/>
        </p:nvSpPr>
        <p:spPr bwMode="auto">
          <a:xfrm>
            <a:off x="250825" y="4581525"/>
            <a:ext cx="8497888" cy="0"/>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59" name="Line 23"/>
          <p:cNvSpPr>
            <a:spLocks noChangeShapeType="1"/>
          </p:cNvSpPr>
          <p:nvPr/>
        </p:nvSpPr>
        <p:spPr bwMode="auto">
          <a:xfrm>
            <a:off x="3203575" y="3097213"/>
            <a:ext cx="0" cy="3355975"/>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60" name="Line 24"/>
          <p:cNvSpPr>
            <a:spLocks noChangeShapeType="1"/>
          </p:cNvSpPr>
          <p:nvPr/>
        </p:nvSpPr>
        <p:spPr bwMode="auto">
          <a:xfrm>
            <a:off x="5867400" y="3097213"/>
            <a:ext cx="0" cy="3500437"/>
          </a:xfrm>
          <a:prstGeom prst="line">
            <a:avLst/>
          </a:prstGeom>
          <a:noFill/>
          <a:ln w="28575">
            <a:solidFill>
              <a:srgbClr val="9900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794" name="AutoShape 26"/>
          <p:cNvSpPr>
            <a:spLocks noChangeArrowheads="1"/>
          </p:cNvSpPr>
          <p:nvPr/>
        </p:nvSpPr>
        <p:spPr bwMode="auto">
          <a:xfrm>
            <a:off x="4859338" y="4797425"/>
            <a:ext cx="863600" cy="360363"/>
          </a:xfrm>
          <a:prstGeom prst="wedgeRoundRectCallout">
            <a:avLst>
              <a:gd name="adj1" fmla="val -100185"/>
              <a:gd name="adj2" fmla="val -195815"/>
              <a:gd name="adj3" fmla="val 16667"/>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b="1"/>
              <a:t>修改</a:t>
            </a:r>
          </a:p>
        </p:txBody>
      </p:sp>
      <p:sp>
        <p:nvSpPr>
          <p:cNvPr id="288795" name="AutoShape 27"/>
          <p:cNvSpPr>
            <a:spLocks noChangeArrowheads="1"/>
          </p:cNvSpPr>
          <p:nvPr/>
        </p:nvSpPr>
        <p:spPr bwMode="auto">
          <a:xfrm>
            <a:off x="7956550" y="3286125"/>
            <a:ext cx="1042988" cy="360363"/>
          </a:xfrm>
          <a:prstGeom prst="wedgeRoundRectCallout">
            <a:avLst>
              <a:gd name="adj1" fmla="val -77398"/>
              <a:gd name="adj2" fmla="val 109472"/>
              <a:gd name="adj3" fmla="val 16667"/>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b="1"/>
              <a:t>已改变</a:t>
            </a:r>
          </a:p>
        </p:txBody>
      </p:sp>
      <p:sp>
        <p:nvSpPr>
          <p:cNvPr id="288796" name="Line 28"/>
          <p:cNvSpPr>
            <a:spLocks noChangeShapeType="1"/>
          </p:cNvSpPr>
          <p:nvPr/>
        </p:nvSpPr>
        <p:spPr bwMode="auto">
          <a:xfrm flipH="1">
            <a:off x="6299200" y="4738688"/>
            <a:ext cx="1150938" cy="649287"/>
          </a:xfrm>
          <a:prstGeom prst="line">
            <a:avLst/>
          </a:prstGeom>
          <a:noFill/>
          <a:ln w="19050">
            <a:solidFill>
              <a:srgbClr val="FF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797" name="Line 29"/>
          <p:cNvSpPr>
            <a:spLocks noChangeShapeType="1"/>
          </p:cNvSpPr>
          <p:nvPr/>
        </p:nvSpPr>
        <p:spPr bwMode="auto">
          <a:xfrm>
            <a:off x="6442075" y="4738688"/>
            <a:ext cx="1154113" cy="719137"/>
          </a:xfrm>
          <a:prstGeom prst="line">
            <a:avLst/>
          </a:prstGeom>
          <a:noFill/>
          <a:ln w="19050">
            <a:solidFill>
              <a:srgbClr val="FF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65" name="Rectangle 31"/>
          <p:cNvSpPr>
            <a:spLocks noChangeArrowheads="1"/>
          </p:cNvSpPr>
          <p:nvPr/>
        </p:nvSpPr>
        <p:spPr bwMode="auto">
          <a:xfrm>
            <a:off x="1619250" y="3862388"/>
            <a:ext cx="1439863" cy="431800"/>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1466" name="Line 33"/>
          <p:cNvSpPr>
            <a:spLocks noChangeShapeType="1"/>
          </p:cNvSpPr>
          <p:nvPr/>
        </p:nvSpPr>
        <p:spPr bwMode="auto">
          <a:xfrm>
            <a:off x="1908175"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67" name="Line 34"/>
          <p:cNvSpPr>
            <a:spLocks noChangeShapeType="1"/>
          </p:cNvSpPr>
          <p:nvPr/>
        </p:nvSpPr>
        <p:spPr bwMode="auto">
          <a:xfrm>
            <a:off x="2771775"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68" name="Text Box 35"/>
          <p:cNvSpPr txBox="1">
            <a:spLocks noChangeArrowheads="1"/>
          </p:cNvSpPr>
          <p:nvPr/>
        </p:nvSpPr>
        <p:spPr bwMode="auto">
          <a:xfrm>
            <a:off x="2122488" y="3862388"/>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latin typeface="宋体" panose="02010600030101010101" pitchFamily="2" charset="-122"/>
              </a:rPr>
              <a:t>…</a:t>
            </a:r>
            <a:endParaRPr lang="en-US" altLang="zh-CN" sz="2000"/>
          </a:p>
        </p:txBody>
      </p:sp>
      <p:sp>
        <p:nvSpPr>
          <p:cNvPr id="61469" name="Line 36"/>
          <p:cNvSpPr>
            <a:spLocks noChangeShapeType="1"/>
          </p:cNvSpPr>
          <p:nvPr/>
        </p:nvSpPr>
        <p:spPr bwMode="auto">
          <a:xfrm>
            <a:off x="1835150" y="3573463"/>
            <a:ext cx="0" cy="28892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05" name="Line 37"/>
          <p:cNvSpPr>
            <a:spLocks noChangeShapeType="1"/>
          </p:cNvSpPr>
          <p:nvPr/>
        </p:nvSpPr>
        <p:spPr bwMode="auto">
          <a:xfrm flipV="1">
            <a:off x="1835150" y="4294188"/>
            <a:ext cx="0" cy="57626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06" name="AutoShape 38"/>
          <p:cNvSpPr>
            <a:spLocks noChangeArrowheads="1"/>
          </p:cNvSpPr>
          <p:nvPr/>
        </p:nvSpPr>
        <p:spPr bwMode="auto">
          <a:xfrm>
            <a:off x="2266950" y="3573463"/>
            <a:ext cx="144463" cy="1296987"/>
          </a:xfrm>
          <a:prstGeom prst="downArrow">
            <a:avLst>
              <a:gd name="adj1" fmla="val 50000"/>
              <a:gd name="adj2" fmla="val 224450"/>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1472" name="Text Box 39"/>
          <p:cNvSpPr txBox="1">
            <a:spLocks noChangeArrowheads="1"/>
          </p:cNvSpPr>
          <p:nvPr/>
        </p:nvSpPr>
        <p:spPr bwMode="auto">
          <a:xfrm>
            <a:off x="611188" y="3789363"/>
            <a:ext cx="1008062"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t>数组</a:t>
            </a:r>
            <a:r>
              <a:rPr lang="en-US" altLang="zh-CN" sz="2400" b="1"/>
              <a:t>a</a:t>
            </a:r>
          </a:p>
        </p:txBody>
      </p:sp>
      <p:sp>
        <p:nvSpPr>
          <p:cNvPr id="61473" name="Line 40"/>
          <p:cNvSpPr>
            <a:spLocks noChangeShapeType="1"/>
          </p:cNvSpPr>
          <p:nvPr/>
        </p:nvSpPr>
        <p:spPr bwMode="auto">
          <a:xfrm>
            <a:off x="2195513"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09" name="Text Box 41"/>
          <p:cNvSpPr txBox="1">
            <a:spLocks noChangeArrowheads="1"/>
          </p:cNvSpPr>
          <p:nvPr/>
        </p:nvSpPr>
        <p:spPr bwMode="auto">
          <a:xfrm>
            <a:off x="3563938" y="3128963"/>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288810" name="Text Box 42"/>
          <p:cNvSpPr txBox="1">
            <a:spLocks noChangeArrowheads="1"/>
          </p:cNvSpPr>
          <p:nvPr/>
        </p:nvSpPr>
        <p:spPr bwMode="auto">
          <a:xfrm>
            <a:off x="3563938" y="4852988"/>
            <a:ext cx="1295400" cy="43021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288812" name="Rectangle 44"/>
          <p:cNvSpPr>
            <a:spLocks noChangeArrowheads="1"/>
          </p:cNvSpPr>
          <p:nvPr/>
        </p:nvSpPr>
        <p:spPr bwMode="auto">
          <a:xfrm>
            <a:off x="3563938" y="3849688"/>
            <a:ext cx="1439862" cy="431800"/>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88813" name="Line 45"/>
          <p:cNvSpPr>
            <a:spLocks noChangeShapeType="1"/>
          </p:cNvSpPr>
          <p:nvPr/>
        </p:nvSpPr>
        <p:spPr bwMode="auto">
          <a:xfrm>
            <a:off x="3852863" y="38496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14" name="Line 46"/>
          <p:cNvSpPr>
            <a:spLocks noChangeShapeType="1"/>
          </p:cNvSpPr>
          <p:nvPr/>
        </p:nvSpPr>
        <p:spPr bwMode="auto">
          <a:xfrm>
            <a:off x="4716463" y="38496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15" name="Text Box 47"/>
          <p:cNvSpPr txBox="1">
            <a:spLocks noChangeArrowheads="1"/>
          </p:cNvSpPr>
          <p:nvPr/>
        </p:nvSpPr>
        <p:spPr bwMode="auto">
          <a:xfrm>
            <a:off x="4067175" y="3849688"/>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latin typeface="宋体" panose="02010600030101010101" pitchFamily="2" charset="-122"/>
              </a:rPr>
              <a:t>…</a:t>
            </a:r>
            <a:endParaRPr lang="en-US" altLang="zh-CN" sz="2000"/>
          </a:p>
        </p:txBody>
      </p:sp>
      <p:sp>
        <p:nvSpPr>
          <p:cNvPr id="288816" name="Line 48"/>
          <p:cNvSpPr>
            <a:spLocks noChangeShapeType="1"/>
          </p:cNvSpPr>
          <p:nvPr/>
        </p:nvSpPr>
        <p:spPr bwMode="auto">
          <a:xfrm>
            <a:off x="3779838" y="3560763"/>
            <a:ext cx="0" cy="28892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17" name="Line 49"/>
          <p:cNvSpPr>
            <a:spLocks noChangeShapeType="1"/>
          </p:cNvSpPr>
          <p:nvPr/>
        </p:nvSpPr>
        <p:spPr bwMode="auto">
          <a:xfrm flipV="1">
            <a:off x="3779838" y="4281488"/>
            <a:ext cx="0" cy="57626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19" name="Line 51"/>
          <p:cNvSpPr>
            <a:spLocks noChangeShapeType="1"/>
          </p:cNvSpPr>
          <p:nvPr/>
        </p:nvSpPr>
        <p:spPr bwMode="auto">
          <a:xfrm>
            <a:off x="4140200" y="38496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20" name="Rectangle 52"/>
          <p:cNvSpPr>
            <a:spLocks noChangeArrowheads="1"/>
          </p:cNvSpPr>
          <p:nvPr/>
        </p:nvSpPr>
        <p:spPr bwMode="auto">
          <a:xfrm>
            <a:off x="6227763" y="3862388"/>
            <a:ext cx="1439862" cy="431800"/>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88821" name="Line 53"/>
          <p:cNvSpPr>
            <a:spLocks noChangeShapeType="1"/>
          </p:cNvSpPr>
          <p:nvPr/>
        </p:nvSpPr>
        <p:spPr bwMode="auto">
          <a:xfrm>
            <a:off x="6516688"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22" name="Line 54"/>
          <p:cNvSpPr>
            <a:spLocks noChangeShapeType="1"/>
          </p:cNvSpPr>
          <p:nvPr/>
        </p:nvSpPr>
        <p:spPr bwMode="auto">
          <a:xfrm>
            <a:off x="7380288"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23" name="Text Box 55"/>
          <p:cNvSpPr txBox="1">
            <a:spLocks noChangeArrowheads="1"/>
          </p:cNvSpPr>
          <p:nvPr/>
        </p:nvSpPr>
        <p:spPr bwMode="auto">
          <a:xfrm>
            <a:off x="6731000" y="3862388"/>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latin typeface="宋体" panose="02010600030101010101" pitchFamily="2" charset="-122"/>
              </a:rPr>
              <a:t>…</a:t>
            </a:r>
            <a:endParaRPr lang="en-US" altLang="zh-CN" sz="2000"/>
          </a:p>
        </p:txBody>
      </p:sp>
      <p:sp>
        <p:nvSpPr>
          <p:cNvPr id="288824" name="Line 56"/>
          <p:cNvSpPr>
            <a:spLocks noChangeShapeType="1"/>
          </p:cNvSpPr>
          <p:nvPr/>
        </p:nvSpPr>
        <p:spPr bwMode="auto">
          <a:xfrm>
            <a:off x="6443663" y="3573463"/>
            <a:ext cx="0" cy="28892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25" name="Line 57"/>
          <p:cNvSpPr>
            <a:spLocks noChangeShapeType="1"/>
          </p:cNvSpPr>
          <p:nvPr/>
        </p:nvSpPr>
        <p:spPr bwMode="auto">
          <a:xfrm>
            <a:off x="6804025" y="3862388"/>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8826" name="Text Box 58"/>
          <p:cNvSpPr txBox="1">
            <a:spLocks noChangeArrowheads="1"/>
          </p:cNvSpPr>
          <p:nvPr/>
        </p:nvSpPr>
        <p:spPr bwMode="auto">
          <a:xfrm>
            <a:off x="1617663" y="4870450"/>
            <a:ext cx="14414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a</a:t>
            </a:r>
            <a:r>
              <a:rPr lang="zh-CN" altLang="en-US" sz="2400" b="1"/>
              <a:t>首地址</a:t>
            </a:r>
          </a:p>
        </p:txBody>
      </p:sp>
      <p:sp>
        <p:nvSpPr>
          <p:cNvPr id="61490" name="Text Box 59"/>
          <p:cNvSpPr txBox="1">
            <a:spLocks noChangeArrowheads="1"/>
          </p:cNvSpPr>
          <p:nvPr/>
        </p:nvSpPr>
        <p:spPr bwMode="auto">
          <a:xfrm>
            <a:off x="1619250" y="3862388"/>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t>1   2</a:t>
            </a:r>
          </a:p>
        </p:txBody>
      </p:sp>
      <p:sp>
        <p:nvSpPr>
          <p:cNvPr id="288828" name="Text Box 60"/>
          <p:cNvSpPr txBox="1">
            <a:spLocks noChangeArrowheads="1"/>
          </p:cNvSpPr>
          <p:nvPr/>
        </p:nvSpPr>
        <p:spPr bwMode="auto">
          <a:xfrm>
            <a:off x="3563938" y="3862388"/>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t>2   4</a:t>
            </a:r>
          </a:p>
        </p:txBody>
      </p:sp>
      <p:sp>
        <p:nvSpPr>
          <p:cNvPr id="288829" name="Text Box 61"/>
          <p:cNvSpPr txBox="1">
            <a:spLocks noChangeArrowheads="1"/>
          </p:cNvSpPr>
          <p:nvPr/>
        </p:nvSpPr>
        <p:spPr bwMode="auto">
          <a:xfrm>
            <a:off x="6156325" y="393382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t>2   4</a:t>
            </a:r>
          </a:p>
        </p:txBody>
      </p:sp>
      <p:sp>
        <p:nvSpPr>
          <p:cNvPr id="61493" name="Text Box 64"/>
          <p:cNvSpPr txBox="1">
            <a:spLocks noChangeArrowheads="1"/>
          </p:cNvSpPr>
          <p:nvPr/>
        </p:nvSpPr>
        <p:spPr bwMode="auto">
          <a:xfrm>
            <a:off x="179388" y="0"/>
            <a:ext cx="4608512" cy="3003899"/>
          </a:xfrm>
          <a:prstGeom prst="rect">
            <a:avLst/>
          </a:prstGeom>
          <a:solidFill>
            <a:srgbClr val="CCFFFF"/>
          </a:solidFill>
          <a:ln w="9525" algn="ctr">
            <a:solidFill>
              <a:srgbClr val="339966"/>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200" dirty="0">
                <a:latin typeface="Consolas" panose="020B0609020204030204" pitchFamily="49" charset="0"/>
              </a:rPr>
              <a:t>void modify(int b[],int n)</a:t>
            </a:r>
          </a:p>
          <a:p>
            <a:pPr eaLnBrk="1" hangingPunct="1">
              <a:buFontTx/>
              <a:buNone/>
            </a:pPr>
            <a:r>
              <a:rPr lang="en-US" altLang="zh-CN" sz="2200" dirty="0">
                <a:latin typeface="Consolas" panose="020B0609020204030204" pitchFamily="49" charset="0"/>
              </a:rPr>
              <a:t>{</a:t>
            </a:r>
          </a:p>
          <a:p>
            <a:pPr eaLnBrk="1" hangingPunct="1">
              <a:buFontTx/>
              <a:buNone/>
            </a:pPr>
            <a:r>
              <a:rPr lang="en-US" altLang="zh-CN" sz="2200" dirty="0">
                <a:latin typeface="Consolas" panose="020B0609020204030204" pitchFamily="49" charset="0"/>
              </a:rPr>
              <a:t>   int j;</a:t>
            </a:r>
          </a:p>
          <a:p>
            <a:pPr eaLnBrk="1" hangingPunct="1">
              <a:buFontTx/>
              <a:buNone/>
            </a:pPr>
            <a:r>
              <a:rPr lang="en-US" altLang="zh-CN" sz="2200" dirty="0">
                <a:latin typeface="Consolas" panose="020B0609020204030204" pitchFamily="49" charset="0"/>
              </a:rPr>
              <a:t>   for (j=</a:t>
            </a:r>
            <a:r>
              <a:rPr lang="en-US" altLang="zh-CN" sz="2200" dirty="0" err="1">
                <a:latin typeface="Consolas" panose="020B0609020204030204" pitchFamily="49" charset="0"/>
              </a:rPr>
              <a:t>0;j</a:t>
            </a:r>
            <a:r>
              <a:rPr lang="en-US" altLang="zh-CN" sz="2200" dirty="0">
                <a:latin typeface="Consolas" panose="020B0609020204030204" pitchFamily="49" charset="0"/>
              </a:rPr>
              <a:t>&lt;</a:t>
            </a:r>
            <a:r>
              <a:rPr lang="en-US" altLang="zh-CN" sz="2200" dirty="0" err="1">
                <a:latin typeface="Consolas" panose="020B0609020204030204" pitchFamily="49" charset="0"/>
              </a:rPr>
              <a:t>n;j</a:t>
            </a:r>
            <a:r>
              <a:rPr lang="en-US" altLang="zh-CN" sz="2200" dirty="0">
                <a:latin typeface="Consolas" panose="020B0609020204030204" pitchFamily="49" charset="0"/>
              </a:rPr>
              <a:t>++)</a:t>
            </a:r>
          </a:p>
          <a:p>
            <a:pPr eaLnBrk="1" hangingPunct="1">
              <a:buFontTx/>
              <a:buNone/>
            </a:pPr>
            <a:r>
              <a:rPr lang="en-US" altLang="zh-CN" sz="2200" dirty="0">
                <a:latin typeface="Consolas" panose="020B0609020204030204" pitchFamily="49" charset="0"/>
              </a:rPr>
              <a:t>        b[j]*=2;</a:t>
            </a:r>
          </a:p>
          <a:p>
            <a:pPr eaLnBrk="1" hangingPunct="1">
              <a:buFontTx/>
              <a:buNone/>
            </a:pPr>
            <a:r>
              <a:rPr lang="en-US" altLang="zh-CN" sz="2200" dirty="0">
                <a:latin typeface="Consolas" panose="020B0609020204030204" pitchFamily="49" charset="0"/>
              </a:rPr>
              <a:t>}</a:t>
            </a:r>
          </a:p>
          <a:p>
            <a:pPr eaLnBrk="1" hangingPunct="1">
              <a:buFontTx/>
              <a:buNone/>
            </a:pPr>
            <a:r>
              <a:rPr lang="zh-CN" altLang="en-US" sz="2200" dirty="0">
                <a:latin typeface="Consolas" panose="020B0609020204030204" pitchFamily="49" charset="0"/>
              </a:rPr>
              <a:t>函数调用：</a:t>
            </a:r>
            <a:endParaRPr lang="en-US" altLang="zh-CN" sz="2200" dirty="0">
              <a:latin typeface="Consolas" panose="020B0609020204030204" pitchFamily="49" charset="0"/>
            </a:endParaRPr>
          </a:p>
          <a:p>
            <a:pPr eaLnBrk="1" hangingPunct="1">
              <a:buFontTx/>
              <a:buNone/>
            </a:pPr>
            <a:r>
              <a:rPr lang="en-US" altLang="zh-CN" sz="2200" dirty="0">
                <a:latin typeface="Consolas" panose="020B0609020204030204" pitchFamily="49" charset="0"/>
              </a:rPr>
              <a:t>modify(a, SIZE)</a:t>
            </a:r>
            <a:r>
              <a:rPr lang="zh-CN" altLang="en-US" sz="2200" dirty="0">
                <a:latin typeface="Consolas" panose="020B0609020204030204" pitchFamily="49" charset="0"/>
              </a:rPr>
              <a:t>；</a:t>
            </a:r>
          </a:p>
        </p:txBody>
      </p:sp>
      <p:sp>
        <p:nvSpPr>
          <p:cNvPr id="61494" name="Text Box 66"/>
          <p:cNvSpPr txBox="1">
            <a:spLocks noChangeArrowheads="1"/>
          </p:cNvSpPr>
          <p:nvPr/>
        </p:nvSpPr>
        <p:spPr bwMode="auto">
          <a:xfrm>
            <a:off x="5003800" y="0"/>
            <a:ext cx="3889375"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b="1"/>
              <a:t>如果函数要接收一个数组进行处理，则形参中必须有一个是同类型的数组，如</a:t>
            </a:r>
            <a:r>
              <a:rPr lang="en-US" altLang="zh-CN" sz="2000" b="1"/>
              <a:t>int b[]</a:t>
            </a:r>
            <a:r>
              <a:rPr lang="zh-CN" altLang="en-US" sz="2000" b="1"/>
              <a:t>，用于接收调用函数中数组的首地址。通常还要设计一个形参用于接收数组的大小，如</a:t>
            </a:r>
            <a:r>
              <a:rPr lang="en-US" altLang="zh-CN" sz="2000" b="1"/>
              <a:t>int size</a:t>
            </a:r>
            <a:r>
              <a:rPr lang="zh-CN" altLang="en-US" sz="2000" b="1"/>
              <a:t>。</a:t>
            </a:r>
          </a:p>
          <a:p>
            <a:pPr eaLnBrk="1" hangingPunct="1">
              <a:buFontTx/>
              <a:buNone/>
            </a:pPr>
            <a:r>
              <a:rPr lang="zh-CN" altLang="en-US" sz="2000" b="1"/>
              <a:t>形参的</a:t>
            </a:r>
            <a:r>
              <a:rPr lang="zh-CN" altLang="en-US" sz="2000" b="1">
                <a:latin typeface="宋体" panose="02010600030101010101" pitchFamily="2" charset="-122"/>
              </a:rPr>
              <a:t>"</a:t>
            </a:r>
            <a:r>
              <a:rPr lang="zh-CN" altLang="en-US" sz="2000" b="1"/>
              <a:t>[ ]</a:t>
            </a:r>
            <a:r>
              <a:rPr lang="zh-CN" altLang="en-US" sz="2000" b="1">
                <a:latin typeface="宋体" panose="02010600030101010101" pitchFamily="2" charset="-122"/>
              </a:rPr>
              <a:t>"</a:t>
            </a:r>
            <a:r>
              <a:rPr lang="zh-CN" altLang="en-US" sz="2000" b="1"/>
              <a:t>中不必包含数组大小；如果包括了，编译器会将其忽略掉。同理：函数原型</a:t>
            </a:r>
          </a:p>
          <a:p>
            <a:pPr eaLnBrk="1" hangingPunct="1">
              <a:spcBef>
                <a:spcPct val="50000"/>
              </a:spcBef>
            </a:pPr>
            <a:endParaRPr lang="zh-CN" altLang="en-US" sz="2000"/>
          </a:p>
        </p:txBody>
      </p:sp>
      <p:sp>
        <p:nvSpPr>
          <p:cNvPr id="61495" name="Line 67"/>
          <p:cNvSpPr>
            <a:spLocks noChangeShapeType="1"/>
          </p:cNvSpPr>
          <p:nvPr/>
        </p:nvSpPr>
        <p:spPr bwMode="auto">
          <a:xfrm>
            <a:off x="3276600" y="333375"/>
            <a:ext cx="1800225" cy="360363"/>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TextBox 1"/>
          <p:cNvSpPr txBox="1"/>
          <p:nvPr/>
        </p:nvSpPr>
        <p:spPr>
          <a:xfrm>
            <a:off x="5059363" y="1262063"/>
            <a:ext cx="3922712" cy="1323975"/>
          </a:xfrm>
          <a:prstGeom prst="rect">
            <a:avLst/>
          </a:prstGeom>
          <a:solidFill>
            <a:schemeClr val="accent1">
              <a:lumMod val="40000"/>
              <a:lumOff val="60000"/>
            </a:schemeClr>
          </a:solidFill>
        </p:spPr>
        <p:txBody>
          <a:bodyPr>
            <a:spAutoFit/>
          </a:bodyPr>
          <a:lstStyle/>
          <a:p>
            <a:pPr>
              <a:defRPr/>
            </a:pPr>
            <a:r>
              <a:rPr lang="en-US" altLang="zh-CN" dirty="0"/>
              <a:t>b[j]</a:t>
            </a:r>
            <a:r>
              <a:rPr lang="zh-CN" altLang="en-US" dirty="0"/>
              <a:t>的内存地址是：</a:t>
            </a:r>
            <a:r>
              <a:rPr lang="en-US" altLang="zh-CN" dirty="0" err="1"/>
              <a:t>b+j</a:t>
            </a:r>
            <a:r>
              <a:rPr lang="en-US" altLang="zh-CN" dirty="0"/>
              <a:t>*</a:t>
            </a:r>
            <a:r>
              <a:rPr lang="en-US" altLang="zh-CN" dirty="0" err="1"/>
              <a:t>sizeof</a:t>
            </a:r>
            <a:r>
              <a:rPr lang="en-US" altLang="zh-CN" dirty="0"/>
              <a:t>(</a:t>
            </a:r>
            <a:r>
              <a:rPr lang="en-US" altLang="zh-CN" dirty="0" err="1"/>
              <a:t>int</a:t>
            </a:r>
            <a:r>
              <a:rPr lang="en-US" altLang="zh-CN" dirty="0"/>
              <a:t>)</a:t>
            </a:r>
          </a:p>
          <a:p>
            <a:pPr>
              <a:defRPr/>
            </a:pPr>
            <a:r>
              <a:rPr lang="en-US" altLang="zh-CN" dirty="0"/>
              <a:t>a[j]</a:t>
            </a:r>
            <a:r>
              <a:rPr lang="zh-CN" altLang="en-US" dirty="0"/>
              <a:t>的内存地址是：</a:t>
            </a:r>
            <a:r>
              <a:rPr lang="en-US" altLang="zh-CN" dirty="0" err="1"/>
              <a:t>a+j</a:t>
            </a:r>
            <a:r>
              <a:rPr lang="en-US" altLang="zh-CN" dirty="0"/>
              <a:t>*</a:t>
            </a:r>
            <a:r>
              <a:rPr lang="en-US" altLang="zh-CN" dirty="0" err="1"/>
              <a:t>sizeof</a:t>
            </a:r>
            <a:r>
              <a:rPr lang="en-US" altLang="zh-CN" dirty="0"/>
              <a:t>(</a:t>
            </a:r>
            <a:r>
              <a:rPr lang="en-US" altLang="zh-CN" dirty="0" err="1"/>
              <a:t>int</a:t>
            </a:r>
            <a:r>
              <a:rPr lang="en-US" altLang="zh-CN" dirty="0"/>
              <a:t>)</a:t>
            </a:r>
          </a:p>
          <a:p>
            <a:pPr>
              <a:defRPr/>
            </a:pPr>
            <a:r>
              <a:rPr lang="zh-CN" altLang="en-US" dirty="0"/>
              <a:t>而</a:t>
            </a:r>
            <a:r>
              <a:rPr lang="en-US" altLang="zh-CN" dirty="0"/>
              <a:t>a</a:t>
            </a:r>
            <a:r>
              <a:rPr lang="zh-CN" altLang="en-US" dirty="0"/>
              <a:t>和</a:t>
            </a:r>
            <a:r>
              <a:rPr lang="en-US" altLang="zh-CN" dirty="0"/>
              <a:t>b</a:t>
            </a:r>
            <a:r>
              <a:rPr lang="zh-CN" altLang="en-US" dirty="0"/>
              <a:t>的值相等，所以</a:t>
            </a:r>
            <a:r>
              <a:rPr lang="en-US" altLang="zh-CN" dirty="0"/>
              <a:t>a[j]</a:t>
            </a:r>
            <a:r>
              <a:rPr lang="zh-CN" altLang="en-US" dirty="0"/>
              <a:t>和</a:t>
            </a:r>
            <a:r>
              <a:rPr lang="en-US" altLang="zh-CN" dirty="0"/>
              <a:t>b[j] </a:t>
            </a:r>
            <a:r>
              <a:rPr lang="zh-CN" altLang="en-US" dirty="0"/>
              <a:t>是同一个元素</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8806"/>
                                        </p:tgtEl>
                                        <p:attrNameLst>
                                          <p:attrName>style.visibility</p:attrName>
                                        </p:attrNameLst>
                                      </p:cBhvr>
                                      <p:to>
                                        <p:strVal val="visible"/>
                                      </p:to>
                                    </p:set>
                                    <p:animEffect transition="in" filter="dissolve">
                                      <p:cBhvr>
                                        <p:cTn id="7" dur="500"/>
                                        <p:tgtEl>
                                          <p:spTgt spid="2888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8826"/>
                                        </p:tgtEl>
                                        <p:attrNameLst>
                                          <p:attrName>style.visibility</p:attrName>
                                        </p:attrNameLst>
                                      </p:cBhvr>
                                      <p:to>
                                        <p:strVal val="visible"/>
                                      </p:to>
                                    </p:set>
                                    <p:animEffect transition="in" filter="dissolve">
                                      <p:cBhvr>
                                        <p:cTn id="12" dur="500"/>
                                        <p:tgtEl>
                                          <p:spTgt spid="2888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8805"/>
                                        </p:tgtEl>
                                        <p:attrNameLst>
                                          <p:attrName>style.visibility</p:attrName>
                                        </p:attrNameLst>
                                      </p:cBhvr>
                                      <p:to>
                                        <p:strVal val="visible"/>
                                      </p:to>
                                    </p:set>
                                    <p:animEffect transition="in" filter="dissolve">
                                      <p:cBhvr>
                                        <p:cTn id="17" dur="500"/>
                                        <p:tgtEl>
                                          <p:spTgt spid="2888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8782"/>
                                        </p:tgtEl>
                                        <p:attrNameLst>
                                          <p:attrName>style.visibility</p:attrName>
                                        </p:attrNameLst>
                                      </p:cBhvr>
                                      <p:to>
                                        <p:strVal val="visible"/>
                                      </p:to>
                                    </p:set>
                                    <p:animEffect transition="in" filter="dissolve">
                                      <p:cBhvr>
                                        <p:cTn id="22" dur="500"/>
                                        <p:tgtEl>
                                          <p:spTgt spid="28878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88783"/>
                                        </p:tgtEl>
                                        <p:attrNameLst>
                                          <p:attrName>style.visibility</p:attrName>
                                        </p:attrNameLst>
                                      </p:cBhvr>
                                      <p:to>
                                        <p:strVal val="visible"/>
                                      </p:to>
                                    </p:set>
                                    <p:animEffect transition="in" filter="dissolve">
                                      <p:cBhvr>
                                        <p:cTn id="25" dur="500"/>
                                        <p:tgtEl>
                                          <p:spTgt spid="28878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88784"/>
                                        </p:tgtEl>
                                        <p:attrNameLst>
                                          <p:attrName>style.visibility</p:attrName>
                                        </p:attrNameLst>
                                      </p:cBhvr>
                                      <p:to>
                                        <p:strVal val="visible"/>
                                      </p:to>
                                    </p:set>
                                    <p:animEffect transition="in" filter="dissolve">
                                      <p:cBhvr>
                                        <p:cTn id="28" dur="500"/>
                                        <p:tgtEl>
                                          <p:spTgt spid="28878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88794"/>
                                        </p:tgtEl>
                                        <p:attrNameLst>
                                          <p:attrName>style.visibility</p:attrName>
                                        </p:attrNameLst>
                                      </p:cBhvr>
                                      <p:to>
                                        <p:strVal val="visible"/>
                                      </p:to>
                                    </p:set>
                                    <p:animEffect transition="in" filter="dissolve">
                                      <p:cBhvr>
                                        <p:cTn id="31" dur="500"/>
                                        <p:tgtEl>
                                          <p:spTgt spid="288794"/>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88809"/>
                                        </p:tgtEl>
                                        <p:attrNameLst>
                                          <p:attrName>style.visibility</p:attrName>
                                        </p:attrNameLst>
                                      </p:cBhvr>
                                      <p:to>
                                        <p:strVal val="visible"/>
                                      </p:to>
                                    </p:set>
                                    <p:animEffect transition="in" filter="dissolve">
                                      <p:cBhvr>
                                        <p:cTn id="34" dur="500"/>
                                        <p:tgtEl>
                                          <p:spTgt spid="288809"/>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88810"/>
                                        </p:tgtEl>
                                        <p:attrNameLst>
                                          <p:attrName>style.visibility</p:attrName>
                                        </p:attrNameLst>
                                      </p:cBhvr>
                                      <p:to>
                                        <p:strVal val="visible"/>
                                      </p:to>
                                    </p:set>
                                    <p:animEffect transition="in" filter="dissolve">
                                      <p:cBhvr>
                                        <p:cTn id="37" dur="500"/>
                                        <p:tgtEl>
                                          <p:spTgt spid="288810"/>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88812"/>
                                        </p:tgtEl>
                                        <p:attrNameLst>
                                          <p:attrName>style.visibility</p:attrName>
                                        </p:attrNameLst>
                                      </p:cBhvr>
                                      <p:to>
                                        <p:strVal val="visible"/>
                                      </p:to>
                                    </p:set>
                                    <p:animEffect transition="in" filter="dissolve">
                                      <p:cBhvr>
                                        <p:cTn id="40" dur="500"/>
                                        <p:tgtEl>
                                          <p:spTgt spid="288812"/>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88813"/>
                                        </p:tgtEl>
                                        <p:attrNameLst>
                                          <p:attrName>style.visibility</p:attrName>
                                        </p:attrNameLst>
                                      </p:cBhvr>
                                      <p:to>
                                        <p:strVal val="visible"/>
                                      </p:to>
                                    </p:set>
                                    <p:animEffect transition="in" filter="dissolve">
                                      <p:cBhvr>
                                        <p:cTn id="43" dur="500"/>
                                        <p:tgtEl>
                                          <p:spTgt spid="288813"/>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88814"/>
                                        </p:tgtEl>
                                        <p:attrNameLst>
                                          <p:attrName>style.visibility</p:attrName>
                                        </p:attrNameLst>
                                      </p:cBhvr>
                                      <p:to>
                                        <p:strVal val="visible"/>
                                      </p:to>
                                    </p:set>
                                    <p:animEffect transition="in" filter="dissolve">
                                      <p:cBhvr>
                                        <p:cTn id="46" dur="500"/>
                                        <p:tgtEl>
                                          <p:spTgt spid="288814"/>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88815"/>
                                        </p:tgtEl>
                                        <p:attrNameLst>
                                          <p:attrName>style.visibility</p:attrName>
                                        </p:attrNameLst>
                                      </p:cBhvr>
                                      <p:to>
                                        <p:strVal val="visible"/>
                                      </p:to>
                                    </p:set>
                                    <p:animEffect transition="in" filter="dissolve">
                                      <p:cBhvr>
                                        <p:cTn id="49" dur="500"/>
                                        <p:tgtEl>
                                          <p:spTgt spid="288815"/>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88816"/>
                                        </p:tgtEl>
                                        <p:attrNameLst>
                                          <p:attrName>style.visibility</p:attrName>
                                        </p:attrNameLst>
                                      </p:cBhvr>
                                      <p:to>
                                        <p:strVal val="visible"/>
                                      </p:to>
                                    </p:set>
                                    <p:animEffect transition="in" filter="dissolve">
                                      <p:cBhvr>
                                        <p:cTn id="52" dur="500"/>
                                        <p:tgtEl>
                                          <p:spTgt spid="288816"/>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88817"/>
                                        </p:tgtEl>
                                        <p:attrNameLst>
                                          <p:attrName>style.visibility</p:attrName>
                                        </p:attrNameLst>
                                      </p:cBhvr>
                                      <p:to>
                                        <p:strVal val="visible"/>
                                      </p:to>
                                    </p:set>
                                    <p:animEffect transition="in" filter="dissolve">
                                      <p:cBhvr>
                                        <p:cTn id="55" dur="500"/>
                                        <p:tgtEl>
                                          <p:spTgt spid="288817"/>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88819"/>
                                        </p:tgtEl>
                                        <p:attrNameLst>
                                          <p:attrName>style.visibility</p:attrName>
                                        </p:attrNameLst>
                                      </p:cBhvr>
                                      <p:to>
                                        <p:strVal val="visible"/>
                                      </p:to>
                                    </p:set>
                                    <p:animEffect transition="in" filter="dissolve">
                                      <p:cBhvr>
                                        <p:cTn id="58" dur="500"/>
                                        <p:tgtEl>
                                          <p:spTgt spid="28881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88828"/>
                                        </p:tgtEl>
                                        <p:attrNameLst>
                                          <p:attrName>style.visibility</p:attrName>
                                        </p:attrNameLst>
                                      </p:cBhvr>
                                      <p:to>
                                        <p:strVal val="visible"/>
                                      </p:to>
                                    </p:set>
                                    <p:animEffect transition="in" filter="dissolve">
                                      <p:cBhvr>
                                        <p:cTn id="61" dur="500"/>
                                        <p:tgtEl>
                                          <p:spTgt spid="288828"/>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88785"/>
                                        </p:tgtEl>
                                        <p:attrNameLst>
                                          <p:attrName>style.visibility</p:attrName>
                                        </p:attrNameLst>
                                      </p:cBhvr>
                                      <p:to>
                                        <p:strVal val="visible"/>
                                      </p:to>
                                    </p:set>
                                    <p:animEffect transition="in" filter="dissolve">
                                      <p:cBhvr>
                                        <p:cTn id="66" dur="500"/>
                                        <p:tgtEl>
                                          <p:spTgt spid="288785"/>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288786"/>
                                        </p:tgtEl>
                                        <p:attrNameLst>
                                          <p:attrName>style.visibility</p:attrName>
                                        </p:attrNameLst>
                                      </p:cBhvr>
                                      <p:to>
                                        <p:strVal val="visible"/>
                                      </p:to>
                                    </p:set>
                                    <p:animEffect transition="in" filter="dissolve">
                                      <p:cBhvr>
                                        <p:cTn id="69" dur="500"/>
                                        <p:tgtEl>
                                          <p:spTgt spid="288786"/>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288787"/>
                                        </p:tgtEl>
                                        <p:attrNameLst>
                                          <p:attrName>style.visibility</p:attrName>
                                        </p:attrNameLst>
                                      </p:cBhvr>
                                      <p:to>
                                        <p:strVal val="visible"/>
                                      </p:to>
                                    </p:set>
                                    <p:animEffect transition="in" filter="dissolve">
                                      <p:cBhvr>
                                        <p:cTn id="72" dur="500"/>
                                        <p:tgtEl>
                                          <p:spTgt spid="288787"/>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288788"/>
                                        </p:tgtEl>
                                        <p:attrNameLst>
                                          <p:attrName>style.visibility</p:attrName>
                                        </p:attrNameLst>
                                      </p:cBhvr>
                                      <p:to>
                                        <p:strVal val="visible"/>
                                      </p:to>
                                    </p:set>
                                    <p:animEffect transition="in" filter="dissolve">
                                      <p:cBhvr>
                                        <p:cTn id="75" dur="500"/>
                                        <p:tgtEl>
                                          <p:spTgt spid="288788"/>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288795"/>
                                        </p:tgtEl>
                                        <p:attrNameLst>
                                          <p:attrName>style.visibility</p:attrName>
                                        </p:attrNameLst>
                                      </p:cBhvr>
                                      <p:to>
                                        <p:strVal val="visible"/>
                                      </p:to>
                                    </p:set>
                                    <p:animEffect transition="in" filter="dissolve">
                                      <p:cBhvr>
                                        <p:cTn id="78" dur="500"/>
                                        <p:tgtEl>
                                          <p:spTgt spid="288795"/>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288796"/>
                                        </p:tgtEl>
                                        <p:attrNameLst>
                                          <p:attrName>style.visibility</p:attrName>
                                        </p:attrNameLst>
                                      </p:cBhvr>
                                      <p:to>
                                        <p:strVal val="visible"/>
                                      </p:to>
                                    </p:set>
                                    <p:animEffect transition="in" filter="dissolve">
                                      <p:cBhvr>
                                        <p:cTn id="81" dur="500"/>
                                        <p:tgtEl>
                                          <p:spTgt spid="288796"/>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288797"/>
                                        </p:tgtEl>
                                        <p:attrNameLst>
                                          <p:attrName>style.visibility</p:attrName>
                                        </p:attrNameLst>
                                      </p:cBhvr>
                                      <p:to>
                                        <p:strVal val="visible"/>
                                      </p:to>
                                    </p:set>
                                    <p:animEffect transition="in" filter="dissolve">
                                      <p:cBhvr>
                                        <p:cTn id="84" dur="500"/>
                                        <p:tgtEl>
                                          <p:spTgt spid="288797"/>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288820"/>
                                        </p:tgtEl>
                                        <p:attrNameLst>
                                          <p:attrName>style.visibility</p:attrName>
                                        </p:attrNameLst>
                                      </p:cBhvr>
                                      <p:to>
                                        <p:strVal val="visible"/>
                                      </p:to>
                                    </p:set>
                                    <p:animEffect transition="in" filter="dissolve">
                                      <p:cBhvr>
                                        <p:cTn id="87" dur="500"/>
                                        <p:tgtEl>
                                          <p:spTgt spid="288820"/>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grpId="0" nodeType="clickEffect">
                                  <p:stCondLst>
                                    <p:cond delay="0"/>
                                  </p:stCondLst>
                                  <p:childTnLst>
                                    <p:set>
                                      <p:cBhvr>
                                        <p:cTn id="91" dur="1" fill="hold">
                                          <p:stCondLst>
                                            <p:cond delay="0"/>
                                          </p:stCondLst>
                                        </p:cTn>
                                        <p:tgtEl>
                                          <p:spTgt spid="2"/>
                                        </p:tgtEl>
                                        <p:attrNameLst>
                                          <p:attrName>style.visibility</p:attrName>
                                        </p:attrNameLst>
                                      </p:cBhvr>
                                      <p:to>
                                        <p:strVal val="visible"/>
                                      </p:to>
                                    </p:set>
                                    <p:animEffect transition="in" filter="barn(inVertical)">
                                      <p:cBhvr>
                                        <p:cTn id="92" dur="500"/>
                                        <p:tgtEl>
                                          <p:spTgt spid="2"/>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288821"/>
                                        </p:tgtEl>
                                        <p:attrNameLst>
                                          <p:attrName>style.visibility</p:attrName>
                                        </p:attrNameLst>
                                      </p:cBhvr>
                                      <p:to>
                                        <p:strVal val="visible"/>
                                      </p:to>
                                    </p:set>
                                    <p:animEffect transition="in" filter="dissolve">
                                      <p:cBhvr>
                                        <p:cTn id="95" dur="500"/>
                                        <p:tgtEl>
                                          <p:spTgt spid="288821"/>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288822"/>
                                        </p:tgtEl>
                                        <p:attrNameLst>
                                          <p:attrName>style.visibility</p:attrName>
                                        </p:attrNameLst>
                                      </p:cBhvr>
                                      <p:to>
                                        <p:strVal val="visible"/>
                                      </p:to>
                                    </p:set>
                                    <p:animEffect transition="in" filter="dissolve">
                                      <p:cBhvr>
                                        <p:cTn id="98" dur="500"/>
                                        <p:tgtEl>
                                          <p:spTgt spid="288822"/>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288823"/>
                                        </p:tgtEl>
                                        <p:attrNameLst>
                                          <p:attrName>style.visibility</p:attrName>
                                        </p:attrNameLst>
                                      </p:cBhvr>
                                      <p:to>
                                        <p:strVal val="visible"/>
                                      </p:to>
                                    </p:set>
                                    <p:animEffect transition="in" filter="dissolve">
                                      <p:cBhvr>
                                        <p:cTn id="101" dur="500"/>
                                        <p:tgtEl>
                                          <p:spTgt spid="288823"/>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288824"/>
                                        </p:tgtEl>
                                        <p:attrNameLst>
                                          <p:attrName>style.visibility</p:attrName>
                                        </p:attrNameLst>
                                      </p:cBhvr>
                                      <p:to>
                                        <p:strVal val="visible"/>
                                      </p:to>
                                    </p:set>
                                    <p:animEffect transition="in" filter="dissolve">
                                      <p:cBhvr>
                                        <p:cTn id="104" dur="500"/>
                                        <p:tgtEl>
                                          <p:spTgt spid="288824"/>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88825"/>
                                        </p:tgtEl>
                                        <p:attrNameLst>
                                          <p:attrName>style.visibility</p:attrName>
                                        </p:attrNameLst>
                                      </p:cBhvr>
                                      <p:to>
                                        <p:strVal val="visible"/>
                                      </p:to>
                                    </p:set>
                                    <p:animEffect transition="in" filter="dissolve">
                                      <p:cBhvr>
                                        <p:cTn id="107" dur="500"/>
                                        <p:tgtEl>
                                          <p:spTgt spid="288825"/>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288829"/>
                                        </p:tgtEl>
                                        <p:attrNameLst>
                                          <p:attrName>style.visibility</p:attrName>
                                        </p:attrNameLst>
                                      </p:cBhvr>
                                      <p:to>
                                        <p:strVal val="visible"/>
                                      </p:to>
                                    </p:set>
                                    <p:animEffect transition="in" filter="dissolve">
                                      <p:cBhvr>
                                        <p:cTn id="110" dur="500"/>
                                        <p:tgtEl>
                                          <p:spTgt spid="288829"/>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288789"/>
                                        </p:tgtEl>
                                        <p:attrNameLst>
                                          <p:attrName>style.visibility</p:attrName>
                                        </p:attrNameLst>
                                      </p:cBhvr>
                                      <p:to>
                                        <p:strVal val="visible"/>
                                      </p:to>
                                    </p:set>
                                    <p:animEffect transition="in" filter="dissolve">
                                      <p:cBhvr>
                                        <p:cTn id="113" dur="500"/>
                                        <p:tgtEl>
                                          <p:spTgt spid="288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82" grpId="0" bldLvl="0" animBg="1"/>
      <p:bldP spid="288783" grpId="0" bldLvl="0" animBg="1"/>
      <p:bldP spid="288784" grpId="0" bldLvl="0" animBg="1"/>
      <p:bldP spid="288785" grpId="0" bldLvl="0" animBg="1"/>
      <p:bldP spid="288786" grpId="0" bldLvl="0" animBg="1"/>
      <p:bldP spid="288787" grpId="0" bldLvl="0" animBg="1"/>
      <p:bldP spid="288788" grpId="0" bldLvl="0" animBg="1"/>
      <p:bldP spid="288789" grpId="0" bldLvl="0" animBg="1"/>
      <p:bldP spid="288794" grpId="0" bldLvl="0" animBg="1"/>
      <p:bldP spid="288795" grpId="0" bldLvl="0" animBg="1"/>
      <p:bldP spid="288796" grpId="0" bldLvl="0" animBg="1"/>
      <p:bldP spid="288797" grpId="0" bldLvl="0" animBg="1"/>
      <p:bldP spid="288805" grpId="0" bldLvl="0" animBg="1"/>
      <p:bldP spid="288806" grpId="0" bldLvl="0" animBg="1"/>
      <p:bldP spid="288809" grpId="0" bldLvl="0" animBg="1"/>
      <p:bldP spid="288810" grpId="0" bldLvl="0" animBg="1"/>
      <p:bldP spid="288812" grpId="0" bldLvl="0" animBg="1"/>
      <p:bldP spid="288813" grpId="0" bldLvl="0" animBg="1"/>
      <p:bldP spid="288814" grpId="0" bldLvl="0" animBg="1"/>
      <p:bldP spid="288815" grpId="0" bldLvl="0" animBg="1"/>
      <p:bldP spid="288816" grpId="0" bldLvl="0" animBg="1"/>
      <p:bldP spid="288817" grpId="0" bldLvl="0" animBg="1"/>
      <p:bldP spid="288819" grpId="0" bldLvl="0" animBg="1"/>
      <p:bldP spid="288820" grpId="0" bldLvl="0" animBg="1"/>
      <p:bldP spid="288821" grpId="0" bldLvl="0" animBg="1"/>
      <p:bldP spid="288822" grpId="0" bldLvl="0" animBg="1"/>
      <p:bldP spid="288823" grpId="0" bldLvl="0" animBg="1"/>
      <p:bldP spid="288824" grpId="0" bldLvl="0" animBg="1"/>
      <p:bldP spid="288825" grpId="0" bldLvl="0" animBg="1"/>
      <p:bldP spid="288826" grpId="0" bldLvl="0" animBg="1"/>
      <p:bldP spid="288828" grpId="0" bldLvl="0" animBg="1"/>
      <p:bldP spid="288829" grpId="0" bldLvl="0" animBg="1"/>
      <p:bldP spid="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319213"/>
            <a:ext cx="7918648" cy="4611687"/>
          </a:xfrm>
        </p:spPr>
        <p:txBody>
          <a:bodyPr/>
          <a:lstStyle/>
          <a:p>
            <a:pPr marL="0" indent="0">
              <a:buNone/>
            </a:pPr>
            <a:r>
              <a:rPr lang="zh-CN" altLang="en-US" sz="2000" dirty="0">
                <a:latin typeface="Consolas" panose="020B0609020204030204" pitchFamily="49" charset="0"/>
              </a:rPr>
              <a:t>#include&lt;stdio.h&gt;</a:t>
            </a:r>
          </a:p>
          <a:p>
            <a:pPr marL="0" indent="0">
              <a:buNone/>
            </a:pPr>
            <a:r>
              <a:rPr lang="zh-CN" altLang="en-US" sz="2000" dirty="0">
                <a:latin typeface="Consolas" panose="020B0609020204030204" pitchFamily="49" charset="0"/>
              </a:rPr>
              <a:t>#define SIZE 5</a:t>
            </a:r>
          </a:p>
          <a:p>
            <a:pPr marL="0" indent="0">
              <a:buNone/>
            </a:pPr>
            <a:r>
              <a:rPr lang="zh-CN" altLang="en-US" sz="2000" dirty="0">
                <a:latin typeface="Consolas" panose="020B0609020204030204" pitchFamily="49" charset="0"/>
              </a:rPr>
              <a:t>void </a:t>
            </a:r>
            <a:r>
              <a:rPr lang="en-US" altLang="zh-CN" sz="2000" dirty="0" err="1">
                <a:latin typeface="Consolas" panose="020B0609020204030204" pitchFamily="49" charset="0"/>
              </a:rPr>
              <a:t>sizeof</a:t>
            </a:r>
            <a:r>
              <a:rPr lang="zh-CN" altLang="en-US" sz="2000" dirty="0">
                <a:latin typeface="Consolas" panose="020B0609020204030204" pitchFamily="49" charset="0"/>
              </a:rPr>
              <a:t>Array</a:t>
            </a:r>
            <a:r>
              <a:rPr lang="en-US" altLang="zh-CN" sz="2000" dirty="0">
                <a:latin typeface="Consolas" panose="020B0609020204030204" pitchFamily="49" charset="0"/>
              </a:rPr>
              <a:t>Para</a:t>
            </a:r>
            <a:r>
              <a:rPr lang="zh-CN" altLang="en-US" sz="2000" dirty="0">
                <a:latin typeface="Consolas" panose="020B0609020204030204" pitchFamily="49" charset="0"/>
              </a:rPr>
              <a:t>(int [],int);</a:t>
            </a:r>
            <a:r>
              <a:rPr lang="zh-CN" altLang="en-US" sz="2000" dirty="0">
                <a:solidFill>
                  <a:srgbClr val="FF0000"/>
                </a:solidFill>
                <a:latin typeface="Consolas" panose="020B0609020204030204" pitchFamily="49" charset="0"/>
              </a:rPr>
              <a:t>/*函数原型中数组名参数，[]中不必包含数组的长度*/</a:t>
            </a:r>
          </a:p>
          <a:p>
            <a:pPr marL="0" indent="0">
              <a:buNone/>
            </a:pPr>
            <a:r>
              <a:rPr lang="en-US" altLang="zh-CN" sz="2000" dirty="0">
                <a:latin typeface="Consolas" panose="020B0609020204030204" pitchFamily="49" charset="0"/>
              </a:rPr>
              <a:t>int </a:t>
            </a:r>
            <a:r>
              <a:rPr lang="zh-CN" altLang="en-US" sz="2000" dirty="0">
                <a:latin typeface="Consolas" panose="020B0609020204030204" pitchFamily="49" charset="0"/>
              </a:rPr>
              <a:t>main(){</a:t>
            </a:r>
          </a:p>
          <a:p>
            <a:pPr marL="0" indent="0">
              <a:buNone/>
            </a:pPr>
            <a:r>
              <a:rPr lang="zh-CN" altLang="en-US" sz="2000" dirty="0">
                <a:latin typeface="Consolas" panose="020B0609020204030204" pitchFamily="49" charset="0"/>
              </a:rPr>
              <a:t>    int a[SIZE]={</a:t>
            </a:r>
            <a:r>
              <a:rPr lang="en-US" altLang="zh-CN" sz="2000" dirty="0">
                <a:latin typeface="Consolas" panose="020B0609020204030204" pitchFamily="49" charset="0"/>
              </a:rPr>
              <a:t>1</a:t>
            </a:r>
            <a:r>
              <a:rPr lang="zh-CN" altLang="en-US" sz="2000" dirty="0">
                <a:latin typeface="Consolas" panose="020B0609020204030204" pitchFamily="49" charset="0"/>
              </a:rPr>
              <a:t>,</a:t>
            </a:r>
            <a:r>
              <a:rPr lang="en-US" altLang="zh-CN" sz="2000" dirty="0">
                <a:latin typeface="Consolas" panose="020B0609020204030204" pitchFamily="49" charset="0"/>
              </a:rPr>
              <a:t>2</a:t>
            </a:r>
            <a:r>
              <a:rPr lang="zh-CN" altLang="en-US" sz="2000" dirty="0">
                <a:latin typeface="Consolas" panose="020B0609020204030204" pitchFamily="49" charset="0"/>
              </a:rPr>
              <a:t>,</a:t>
            </a:r>
            <a:r>
              <a:rPr lang="en-US" altLang="zh-CN" sz="2000" dirty="0">
                <a:latin typeface="Consolas" panose="020B0609020204030204" pitchFamily="49" charset="0"/>
              </a:rPr>
              <a:t>0</a:t>
            </a:r>
            <a:r>
              <a:rPr lang="zh-CN" altLang="en-US" sz="2000" dirty="0">
                <a:latin typeface="Consolas" panose="020B0609020204030204" pitchFamily="49" charset="0"/>
              </a:rPr>
              <a:t>,3,4};</a:t>
            </a:r>
          </a:p>
          <a:p>
            <a:pPr marL="0" indent="0">
              <a:buNone/>
            </a:pPr>
            <a:r>
              <a:rPr lang="zh-CN" altLang="en-US" sz="2000" dirty="0">
                <a:latin typeface="Consolas" panose="020B0609020204030204" pitchFamily="49" charset="0"/>
              </a:rPr>
              <a:t>    int i;  </a:t>
            </a:r>
          </a:p>
          <a:p>
            <a:pPr marL="0" indent="0">
              <a:buNone/>
            </a:pPr>
            <a:r>
              <a:rPr lang="zh-CN" altLang="en-US" sz="2000" dirty="0">
                <a:latin typeface="Consolas" panose="020B0609020204030204" pitchFamily="49" charset="0"/>
              </a:rPr>
              <a:t>    printf("</a:t>
            </a:r>
            <a:r>
              <a:rPr lang="en-US" altLang="zh-CN" sz="2000" dirty="0">
                <a:latin typeface="Consolas" panose="020B0609020204030204" pitchFamily="49" charset="0"/>
              </a:rPr>
              <a:t>array a size is %</a:t>
            </a:r>
            <a:r>
              <a:rPr lang="en-US" altLang="zh-CN" sz="2000" dirty="0" err="1">
                <a:latin typeface="Consolas" panose="020B0609020204030204" pitchFamily="49" charset="0"/>
              </a:rPr>
              <a:t>zu</a:t>
            </a:r>
            <a:r>
              <a:rPr lang="en-US" altLang="zh-CN" sz="2000" dirty="0">
                <a:latin typeface="Consolas" panose="020B0609020204030204" pitchFamily="49" charset="0"/>
              </a:rPr>
              <a:t>\n</a:t>
            </a:r>
            <a:r>
              <a:rPr lang="zh-CN" altLang="en-US" sz="2000" dirty="0">
                <a:latin typeface="Consolas" panose="020B0609020204030204" pitchFamily="49" charset="0"/>
              </a:rPr>
              <a:t>"</a:t>
            </a:r>
            <a:r>
              <a:rPr lang="en-US" altLang="zh-CN" sz="2000" dirty="0">
                <a:latin typeface="Consolas" panose="020B0609020204030204" pitchFamily="49" charset="0"/>
              </a:rPr>
              <a:t>,</a:t>
            </a:r>
            <a:r>
              <a:rPr lang="en-US" altLang="zh-CN" sz="2000" dirty="0" err="1">
                <a:latin typeface="Consolas" panose="020B0609020204030204" pitchFamily="49" charset="0"/>
              </a:rPr>
              <a:t>sizeof</a:t>
            </a:r>
            <a:r>
              <a:rPr lang="en-US" altLang="zh-CN" sz="2000" dirty="0">
                <a:latin typeface="Consolas" panose="020B0609020204030204" pitchFamily="49" charset="0"/>
              </a:rPr>
              <a:t>(a)</a:t>
            </a:r>
            <a:r>
              <a:rPr lang="zh-CN" altLang="en-US"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sizeofArrayPara</a:t>
            </a:r>
            <a:r>
              <a:rPr lang="en-US" altLang="zh-CN" sz="2000" dirty="0">
                <a:latin typeface="Consolas" panose="020B0609020204030204" pitchFamily="49" charset="0"/>
              </a:rPr>
              <a:t>(</a:t>
            </a:r>
            <a:r>
              <a:rPr lang="en-US" altLang="zh-CN" sz="2000" dirty="0" err="1">
                <a:latin typeface="Consolas" panose="020B0609020204030204" pitchFamily="49" charset="0"/>
              </a:rPr>
              <a:t>a,5</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sizeofArrayPara</a:t>
            </a:r>
            <a:r>
              <a:rPr lang="en-US" altLang="zh-CN" sz="2000" dirty="0">
                <a:latin typeface="Consolas" panose="020B0609020204030204" pitchFamily="49" charset="0"/>
              </a:rPr>
              <a:t>(int b[],int size){</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("array b size is %</a:t>
            </a:r>
            <a:r>
              <a:rPr lang="en-US" altLang="zh-CN" sz="2000" dirty="0" err="1">
                <a:latin typeface="Consolas" panose="020B0609020204030204" pitchFamily="49" charset="0"/>
              </a:rPr>
              <a:t>zu</a:t>
            </a:r>
            <a:r>
              <a:rPr lang="en-US" altLang="zh-CN" sz="2000" dirty="0">
                <a:latin typeface="Consolas" panose="020B0609020204030204" pitchFamily="49" charset="0"/>
              </a:rPr>
              <a:t>\n",</a:t>
            </a:r>
            <a:r>
              <a:rPr lang="en-US" altLang="zh-CN" sz="2000" dirty="0" err="1">
                <a:latin typeface="Consolas" panose="020B0609020204030204" pitchFamily="49" charset="0"/>
              </a:rPr>
              <a:t>sizeof</a:t>
            </a:r>
            <a:r>
              <a:rPr lang="en-US" altLang="zh-CN" sz="2000" dirty="0">
                <a:latin typeface="Consolas" panose="020B0609020204030204" pitchFamily="49" charset="0"/>
              </a:rPr>
              <a:t>(b));</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zu</a:t>
            </a:r>
            <a:r>
              <a:rPr lang="en-US" altLang="zh-CN" sz="2000" dirty="0">
                <a:latin typeface="Consolas" panose="020B0609020204030204" pitchFamily="49" charset="0"/>
              </a:rPr>
              <a:t>",size*</a:t>
            </a:r>
            <a:r>
              <a:rPr lang="en-US" altLang="zh-CN" sz="2000" dirty="0" err="1">
                <a:latin typeface="Consolas" panose="020B0609020204030204" pitchFamily="49" charset="0"/>
              </a:rPr>
              <a:t>sizeof</a:t>
            </a:r>
            <a:r>
              <a:rPr lang="en-US" altLang="zh-CN" sz="2000" dirty="0">
                <a:latin typeface="Consolas" panose="020B0609020204030204" pitchFamily="49" charset="0"/>
              </a:rPr>
              <a:t>(int));</a:t>
            </a:r>
          </a:p>
          <a:p>
            <a:pPr marL="0" indent="0">
              <a:buNone/>
            </a:pPr>
            <a:r>
              <a:rPr lang="en-US" altLang="zh-CN" sz="2000" dirty="0">
                <a:latin typeface="Consolas" panose="020B0609020204030204" pitchFamily="49" charset="0"/>
              </a:rPr>
              <a:t>}</a:t>
            </a:r>
          </a:p>
        </p:txBody>
      </p:sp>
      <p:sp>
        <p:nvSpPr>
          <p:cNvPr id="63492" name="Rectangle 6"/>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b="1" dirty="0">
                <a:solidFill>
                  <a:srgbClr val="FF3300"/>
                </a:solidFill>
              </a:rPr>
              <a:t>数组名形参</a:t>
            </a:r>
            <a:r>
              <a:rPr lang="en-US" altLang="zh-CN" sz="3200" b="1" dirty="0">
                <a:solidFill>
                  <a:srgbClr val="FF3300"/>
                </a:solidFill>
              </a:rPr>
              <a:t>-</a:t>
            </a:r>
            <a:r>
              <a:rPr lang="zh-CN" altLang="en-US" sz="3200" b="1" dirty="0">
                <a:solidFill>
                  <a:srgbClr val="FF3300"/>
                </a:solidFill>
              </a:rPr>
              <a:t>子函数不知道数组大小</a:t>
            </a:r>
          </a:p>
        </p:txBody>
      </p:sp>
      <p:graphicFrame>
        <p:nvGraphicFramePr>
          <p:cNvPr id="2" name="对象 1">
            <a:extLst>
              <a:ext uri="{FF2B5EF4-FFF2-40B4-BE49-F238E27FC236}">
                <a16:creationId xmlns:a16="http://schemas.microsoft.com/office/drawing/2014/main" id="{D614CDC4-E0AB-8940-A1B1-5D3C287E6592}"/>
              </a:ext>
            </a:extLst>
          </p:cNvPr>
          <p:cNvGraphicFramePr/>
          <p:nvPr>
            <p:extLst>
              <p:ext uri="{D42A27DB-BD31-4B8C-83A1-F6EECF244321}">
                <p14:modId xmlns:p14="http://schemas.microsoft.com/office/powerpoint/2010/main" val="3391193259"/>
              </p:ext>
            </p:extLst>
          </p:nvPr>
        </p:nvGraphicFramePr>
        <p:xfrm>
          <a:off x="5796136" y="2673196"/>
          <a:ext cx="3075940" cy="904235"/>
        </p:xfrm>
        <a:graphic>
          <a:graphicData uri="http://schemas.openxmlformats.org/presentationml/2006/ole">
            <mc:AlternateContent xmlns:mc="http://schemas.openxmlformats.org/markup-compatibility/2006">
              <mc:Choice xmlns:v="urn:schemas-microsoft-com:vml" Requires="v">
                <p:oleObj r:id="rId2" imgW="1455420" imgH="381000" progId="Paint.Picture">
                  <p:embed/>
                </p:oleObj>
              </mc:Choice>
              <mc:Fallback>
                <p:oleObj r:id="rId2" imgW="1455420" imgH="381000" progId="Paint.Picture">
                  <p:embed/>
                  <p:pic>
                    <p:nvPicPr>
                      <p:cNvPr id="2" name="对象 1"/>
                      <p:cNvPicPr/>
                      <p:nvPr/>
                    </p:nvPicPr>
                    <p:blipFill>
                      <a:blip r:embed="rId3"/>
                      <a:stretch>
                        <a:fillRect/>
                      </a:stretch>
                    </p:blipFill>
                    <p:spPr>
                      <a:xfrm>
                        <a:off x="5796136" y="2673196"/>
                        <a:ext cx="3075940" cy="904235"/>
                      </a:xfrm>
                      <a:prstGeom prst="rect">
                        <a:avLst/>
                      </a:prstGeom>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Grp="1" noChangeArrowheads="1"/>
          </p:cNvSpPr>
          <p:nvPr>
            <p:ph type="body" idx="1"/>
          </p:nvPr>
        </p:nvSpPr>
        <p:spPr/>
        <p:txBody>
          <a:bodyPr/>
          <a:lstStyle/>
          <a:p>
            <a:pPr eaLnBrk="1" hangingPunct="1">
              <a:buFontTx/>
              <a:buNone/>
            </a:pPr>
            <a:r>
              <a:rPr lang="zh-CN" altLang="en-US" b="1" dirty="0"/>
              <a:t>练习：设计一个函数</a:t>
            </a:r>
            <a:r>
              <a:rPr lang="en-US" altLang="zh-CN" b="1" dirty="0" err="1"/>
              <a:t>printArray</a:t>
            </a:r>
            <a:r>
              <a:rPr lang="zh-CN" altLang="en-US" b="1" dirty="0"/>
              <a:t>，用于输出一个整数数组中的元素</a:t>
            </a:r>
            <a:endParaRPr lang="en-US" altLang="zh-CN" b="1" dirty="0"/>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printArray</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const </a:t>
            </a:r>
            <a:r>
              <a:rPr lang="en-US" altLang="zh-CN" sz="2400" dirty="0">
                <a:latin typeface="Consolas" panose="020B0609020204030204" pitchFamily="49" charset="0"/>
              </a:rPr>
              <a:t>int a[], int n)</a:t>
            </a:r>
          </a:p>
          <a:p>
            <a:pPr eaLnBrk="1" hangingPunct="1">
              <a:buFontTx/>
              <a:buNone/>
            </a:pP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int </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for(</a:t>
            </a:r>
            <a:r>
              <a:rPr lang="en-US" altLang="zh-CN" sz="2400" dirty="0" err="1">
                <a:latin typeface="Consolas" panose="020B0609020204030204" pitchFamily="49" charset="0"/>
              </a:rPr>
              <a:t>i</a:t>
            </a:r>
            <a:r>
              <a:rPr lang="en-US" altLang="zh-CN" sz="2400" dirty="0">
                <a:latin typeface="Consolas" panose="020B0609020204030204" pitchFamily="49" charset="0"/>
              </a:rPr>
              <a:t> = </a:t>
            </a:r>
            <a:r>
              <a:rPr lang="en-US" altLang="zh-CN" sz="2400" dirty="0" err="1">
                <a:latin typeface="Consolas" panose="020B0609020204030204" pitchFamily="49" charset="0"/>
              </a:rPr>
              <a:t>0;i</a:t>
            </a:r>
            <a:r>
              <a:rPr lang="en-US" altLang="zh-CN" sz="2400" dirty="0">
                <a:latin typeface="Consolas" panose="020B0609020204030204" pitchFamily="49" charset="0"/>
              </a:rPr>
              <a:t> &lt; </a:t>
            </a:r>
            <a:r>
              <a:rPr lang="en-US" altLang="zh-CN" sz="2400" dirty="0" err="1">
                <a:latin typeface="Consolas" panose="020B0609020204030204" pitchFamily="49" charset="0"/>
              </a:rPr>
              <a:t>n;i</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("%d\t", a[</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eaLnBrk="1" hangingPunct="1">
              <a:buFontTx/>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a:p>
            <a:pPr eaLnBrk="1" hangingPunct="1"/>
            <a:endParaRPr lang="zh-CN" altLang="en-US" b="1" dirty="0"/>
          </a:p>
        </p:txBody>
      </p:sp>
      <p:sp>
        <p:nvSpPr>
          <p:cNvPr id="2" name="文本框 1"/>
          <p:cNvSpPr txBox="1"/>
          <p:nvPr/>
        </p:nvSpPr>
        <p:spPr>
          <a:xfrm>
            <a:off x="5716905" y="2708920"/>
            <a:ext cx="3319145" cy="1202055"/>
          </a:xfrm>
          <a:prstGeom prst="rect">
            <a:avLst/>
          </a:prstGeom>
          <a:solidFill>
            <a:schemeClr val="accent1">
              <a:lumMod val="20000"/>
              <a:lumOff val="80000"/>
            </a:schemeClr>
          </a:solidFill>
        </p:spPr>
        <p:txBody>
          <a:bodyPr wrap="square" rtlCol="0">
            <a:spAutoFit/>
          </a:bodyPr>
          <a:lstStyle/>
          <a:p>
            <a:pPr indent="0">
              <a:buNone/>
            </a:pPr>
            <a:r>
              <a:rPr lang="zh-CN" altLang="en-US" b="1">
                <a:sym typeface="+mn-ea"/>
              </a:rPr>
              <a:t>用</a:t>
            </a:r>
            <a:r>
              <a:rPr lang="en-US" altLang="zh-CN" b="1">
                <a:sym typeface="+mn-ea"/>
              </a:rPr>
              <a:t>const</a:t>
            </a:r>
            <a:r>
              <a:rPr lang="zh-CN" altLang="en-US" b="1">
                <a:sym typeface="+mn-ea"/>
              </a:rPr>
              <a:t>做数组参数的前缀，使得在 </a:t>
            </a:r>
            <a:r>
              <a:rPr lang="en-US" altLang="zh-CN" b="1">
                <a:sym typeface="+mn-ea"/>
              </a:rPr>
              <a:t>outputArray</a:t>
            </a:r>
            <a:r>
              <a:rPr lang="zh-CN" altLang="en-US" b="1">
                <a:sym typeface="+mn-ea"/>
              </a:rPr>
              <a:t>函数中不允许对数组</a:t>
            </a:r>
            <a:r>
              <a:rPr lang="en-US" altLang="zh-CN" b="1">
                <a:sym typeface="+mn-ea"/>
              </a:rPr>
              <a:t>b</a:t>
            </a:r>
            <a:r>
              <a:rPr lang="zh-CN" altLang="en-US" b="1">
                <a:sym typeface="+mn-ea"/>
              </a:rPr>
              <a:t>的元素进行修改。</a:t>
            </a:r>
            <a:endParaRPr lang="zh-CN" altLang="en-US" dirty="0"/>
          </a:p>
        </p:txBody>
      </p:sp>
      <p:sp>
        <p:nvSpPr>
          <p:cNvPr id="64515" name="Rectangle 2"/>
          <p:cNvSpPr>
            <a:spLocks noGrp="1" noChangeArrowheads="1"/>
          </p:cNvSpPr>
          <p:nvPr>
            <p:ph type="title"/>
          </p:nvPr>
        </p:nvSpPr>
        <p:spPr/>
        <p:txBody>
          <a:bodyPr/>
          <a:lstStyle/>
          <a:p>
            <a:pPr eaLnBrk="1" hangingPunct="1"/>
            <a:r>
              <a:rPr lang="zh-CN" altLang="en-US" b="1" dirty="0"/>
              <a:t>数组打印的子函数设计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3523">
                                            <p:txEl>
                                              <p:pRg st="1" end="1"/>
                                            </p:txEl>
                                          </p:spTgt>
                                        </p:tgtEl>
                                        <p:attrNameLst>
                                          <p:attrName>style.visibility</p:attrName>
                                        </p:attrNameLst>
                                      </p:cBhvr>
                                      <p:to>
                                        <p:strVal val="visible"/>
                                      </p:to>
                                    </p:set>
                                    <p:animEffect transition="in" filter="dissolve">
                                      <p:cBhvr>
                                        <p:cTn id="7" dur="500"/>
                                        <p:tgtEl>
                                          <p:spTgt spid="36352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63523">
                                            <p:txEl>
                                              <p:pRg st="2" end="2"/>
                                            </p:txEl>
                                          </p:spTgt>
                                        </p:tgtEl>
                                        <p:attrNameLst>
                                          <p:attrName>style.visibility</p:attrName>
                                        </p:attrNameLst>
                                      </p:cBhvr>
                                      <p:to>
                                        <p:strVal val="visible"/>
                                      </p:to>
                                    </p:set>
                                    <p:animEffect transition="in" filter="dissolve">
                                      <p:cBhvr>
                                        <p:cTn id="10" dur="500"/>
                                        <p:tgtEl>
                                          <p:spTgt spid="363523">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63523">
                                            <p:txEl>
                                              <p:pRg st="3" end="3"/>
                                            </p:txEl>
                                          </p:spTgt>
                                        </p:tgtEl>
                                        <p:attrNameLst>
                                          <p:attrName>style.visibility</p:attrName>
                                        </p:attrNameLst>
                                      </p:cBhvr>
                                      <p:to>
                                        <p:strVal val="visible"/>
                                      </p:to>
                                    </p:set>
                                    <p:animEffect transition="in" filter="dissolve">
                                      <p:cBhvr>
                                        <p:cTn id="13" dur="500"/>
                                        <p:tgtEl>
                                          <p:spTgt spid="363523">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63523">
                                            <p:txEl>
                                              <p:pRg st="4" end="4"/>
                                            </p:txEl>
                                          </p:spTgt>
                                        </p:tgtEl>
                                        <p:attrNameLst>
                                          <p:attrName>style.visibility</p:attrName>
                                        </p:attrNameLst>
                                      </p:cBhvr>
                                      <p:to>
                                        <p:strVal val="visible"/>
                                      </p:to>
                                    </p:set>
                                    <p:animEffect transition="in" filter="dissolve">
                                      <p:cBhvr>
                                        <p:cTn id="16" dur="500"/>
                                        <p:tgtEl>
                                          <p:spTgt spid="363523">
                                            <p:txEl>
                                              <p:pRg st="4" end="4"/>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63523">
                                            <p:txEl>
                                              <p:pRg st="5" end="5"/>
                                            </p:txEl>
                                          </p:spTgt>
                                        </p:tgtEl>
                                        <p:attrNameLst>
                                          <p:attrName>style.visibility</p:attrName>
                                        </p:attrNameLst>
                                      </p:cBhvr>
                                      <p:to>
                                        <p:strVal val="visible"/>
                                      </p:to>
                                    </p:set>
                                    <p:animEffect transition="in" filter="dissolve">
                                      <p:cBhvr>
                                        <p:cTn id="19" dur="500"/>
                                        <p:tgtEl>
                                          <p:spTgt spid="363523">
                                            <p:txEl>
                                              <p:pRg st="5" end="5"/>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63523">
                                            <p:txEl>
                                              <p:pRg st="6" end="6"/>
                                            </p:txEl>
                                          </p:spTgt>
                                        </p:tgtEl>
                                        <p:attrNameLst>
                                          <p:attrName>style.visibility</p:attrName>
                                        </p:attrNameLst>
                                      </p:cBhvr>
                                      <p:to>
                                        <p:strVal val="visible"/>
                                      </p:to>
                                    </p:set>
                                    <p:animEffect transition="in" filter="dissolve">
                                      <p:cBhvr>
                                        <p:cTn id="22" dur="500"/>
                                        <p:tgtEl>
                                          <p:spTgt spid="363523">
                                            <p:txEl>
                                              <p:pRg st="6" end="6"/>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363523">
                                            <p:txEl>
                                              <p:pRg st="7" end="7"/>
                                            </p:txEl>
                                          </p:spTgt>
                                        </p:tgtEl>
                                        <p:attrNameLst>
                                          <p:attrName>style.visibility</p:attrName>
                                        </p:attrNameLst>
                                      </p:cBhvr>
                                      <p:to>
                                        <p:strVal val="visible"/>
                                      </p:to>
                                    </p:set>
                                    <p:animEffect transition="in" filter="dissolve">
                                      <p:cBhvr>
                                        <p:cTn id="25" dur="500"/>
                                        <p:tgtEl>
                                          <p:spTgt spid="3635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Grp="1" noChangeArrowheads="1"/>
          </p:cNvSpPr>
          <p:nvPr>
            <p:ph type="body" idx="1"/>
          </p:nvPr>
        </p:nvSpPr>
        <p:spPr>
          <a:xfrm>
            <a:off x="323528" y="1319213"/>
            <a:ext cx="8568952" cy="4611687"/>
          </a:xfrm>
        </p:spPr>
        <p:txBody>
          <a:bodyPr/>
          <a:lstStyle/>
          <a:p>
            <a:pPr eaLnBrk="1" hangingPunct="1">
              <a:buFontTx/>
              <a:buNone/>
            </a:pPr>
            <a:r>
              <a:rPr lang="zh-CN" altLang="en-US" sz="2000" b="1" dirty="0"/>
              <a:t>练习：设计一个函数</a:t>
            </a:r>
            <a:r>
              <a:rPr lang="en-US" altLang="zh-CN" sz="2000" b="1" dirty="0" err="1"/>
              <a:t>createArray</a:t>
            </a:r>
            <a:r>
              <a:rPr lang="en-US" altLang="zh-CN" sz="2000" b="1" dirty="0"/>
              <a:t>,</a:t>
            </a:r>
            <a:r>
              <a:rPr lang="zh-CN" altLang="en-US" sz="2000" b="1" dirty="0"/>
              <a:t>接收键盘输入的任意个整数</a:t>
            </a:r>
            <a:r>
              <a:rPr lang="en-US" altLang="zh-CN" sz="2000" b="1" dirty="0"/>
              <a:t>,</a:t>
            </a:r>
            <a:r>
              <a:rPr lang="zh-CN" altLang="en-US" sz="2000" b="1" dirty="0"/>
              <a:t>直到</a:t>
            </a:r>
            <a:r>
              <a:rPr lang="en-US" altLang="zh-CN" sz="2000" b="1" dirty="0"/>
              <a:t>-1</a:t>
            </a:r>
            <a:r>
              <a:rPr lang="zh-CN" altLang="en-US" sz="2000" b="1" dirty="0"/>
              <a:t>结束</a:t>
            </a:r>
            <a:r>
              <a:rPr lang="en-US" altLang="zh-CN" sz="2000" b="1" dirty="0"/>
              <a:t>.</a:t>
            </a:r>
          </a:p>
          <a:p>
            <a:pPr eaLnBrk="1" hangingPunct="1">
              <a:buFontTx/>
              <a:buNone/>
            </a:pPr>
            <a:r>
              <a:rPr lang="en-US" altLang="zh-CN" sz="2000" dirty="0">
                <a:latin typeface="Consolas" panose="020B0609020204030204" pitchFamily="49" charset="0"/>
              </a:rPr>
              <a:t>int </a:t>
            </a:r>
            <a:r>
              <a:rPr lang="en-US" altLang="zh-CN" sz="2000" dirty="0" err="1">
                <a:latin typeface="Consolas" panose="020B0609020204030204" pitchFamily="49" charset="0"/>
              </a:rPr>
              <a:t>createArray</a:t>
            </a:r>
            <a:r>
              <a:rPr lang="en-US" altLang="zh-CN" sz="2000" dirty="0">
                <a:latin typeface="Consolas" panose="020B0609020204030204" pitchFamily="49" charset="0"/>
              </a:rPr>
              <a:t>(int a[], int size){</a:t>
            </a:r>
          </a:p>
          <a:p>
            <a:pPr eaLnBrk="1" hangingPunct="1">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i,num,end</a:t>
            </a:r>
            <a:r>
              <a:rPr lang="en-US" altLang="zh-CN" sz="2000" dirty="0">
                <a:latin typeface="Consolas" panose="020B0609020204030204" pitchFamily="49" charset="0"/>
              </a:rPr>
              <a:t>=0;</a:t>
            </a:r>
          </a:p>
          <a:p>
            <a:pPr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("Enter integers to create </a:t>
            </a:r>
            <a:r>
              <a:rPr lang="en-US" altLang="zh-CN" sz="2000" dirty="0" err="1">
                <a:latin typeface="Consolas" panose="020B0609020204030204" pitchFamily="49" charset="0"/>
              </a:rPr>
              <a:t>array,end</a:t>
            </a:r>
            <a:r>
              <a:rPr lang="en-US" altLang="zh-CN" sz="2000" dirty="0">
                <a:latin typeface="Consolas" panose="020B0609020204030204" pitchFamily="49" charset="0"/>
              </a:rPr>
              <a:t> with -1. \n");</a:t>
            </a:r>
          </a:p>
          <a:p>
            <a:pPr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("%d", &amp;num);</a:t>
            </a:r>
          </a:p>
          <a:p>
            <a:pPr eaLnBrk="1" hangingPunct="1">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size &amp;&amp; num!=-1;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buFontTx/>
              <a:buNone/>
            </a:pPr>
            <a:r>
              <a:rPr lang="en-US" altLang="zh-CN" sz="2000" dirty="0">
                <a:latin typeface="Consolas" panose="020B0609020204030204" pitchFamily="49" charset="0"/>
              </a:rPr>
              <a:t>   {</a:t>
            </a:r>
          </a:p>
          <a:p>
            <a:pPr eaLnBrk="1" hangingPunct="1">
              <a:buFontTx/>
              <a:buNone/>
            </a:pPr>
            <a:r>
              <a:rPr lang="en-US" altLang="zh-CN" sz="2000" dirty="0">
                <a:latin typeface="Consolas" panose="020B0609020204030204" pitchFamily="49" charset="0"/>
              </a:rPr>
              <a:t>		a[</a:t>
            </a:r>
            <a:r>
              <a:rPr lang="en-US" altLang="zh-CN" sz="2000" dirty="0" err="1">
                <a:latin typeface="Consolas" panose="020B0609020204030204" pitchFamily="49" charset="0"/>
              </a:rPr>
              <a:t>i</a:t>
            </a:r>
            <a:r>
              <a:rPr lang="en-US" altLang="zh-CN" sz="2000" dirty="0">
                <a:latin typeface="Consolas" panose="020B0609020204030204" pitchFamily="49" charset="0"/>
              </a:rPr>
              <a:t>]=num;</a:t>
            </a:r>
          </a:p>
          <a:p>
            <a:pPr eaLnBrk="1" hangingPunct="1">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("%d", &amp;num);</a:t>
            </a:r>
          </a:p>
          <a:p>
            <a:pPr eaLnBrk="1" hangingPunct="1">
              <a:buFontTx/>
              <a:buNone/>
            </a:pPr>
            <a:r>
              <a:rPr lang="en-US" altLang="zh-CN" sz="2000" dirty="0">
                <a:latin typeface="Consolas" panose="020B0609020204030204" pitchFamily="49" charset="0"/>
              </a:rPr>
              <a:t>	}</a:t>
            </a:r>
          </a:p>
          <a:p>
            <a:pPr marL="0" indent="0" eaLnBrk="1" hangingPunct="1">
              <a:buNone/>
            </a:pPr>
            <a:r>
              <a:rPr lang="en-US" altLang="zh-CN" sz="2000" dirty="0">
                <a:latin typeface="Consolas" panose="020B0609020204030204" pitchFamily="49" charset="0"/>
              </a:rPr>
              <a:t> return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eaLnBrk="1" hangingPunct="1">
              <a:buNone/>
            </a:pPr>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64515" name="Rectangle 2"/>
          <p:cNvSpPr>
            <a:spLocks noGrp="1" noChangeArrowheads="1"/>
          </p:cNvSpPr>
          <p:nvPr>
            <p:ph type="title"/>
          </p:nvPr>
        </p:nvSpPr>
        <p:spPr/>
        <p:txBody>
          <a:bodyPr/>
          <a:lstStyle/>
          <a:p>
            <a:pPr eaLnBrk="1" hangingPunct="1"/>
            <a:r>
              <a:rPr lang="zh-CN" altLang="en-US" b="1" dirty="0"/>
              <a:t>尾插法创建数组子函数设计</a:t>
            </a:r>
            <a:r>
              <a:rPr lang="en-US" altLang="zh-CN" b="1" dirty="0" err="1"/>
              <a:t>v1</a:t>
            </a:r>
            <a:endParaRPr lang="zh-CN" altLang="en-US" b="1"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319213"/>
            <a:ext cx="7918648" cy="4611687"/>
          </a:xfrm>
        </p:spPr>
        <p:txBody>
          <a:bodyPr/>
          <a:lstStyle/>
          <a:p>
            <a:pPr marL="0" indent="0">
              <a:buNone/>
            </a:pPr>
            <a:r>
              <a:rPr lang="zh-CN" altLang="en-US" sz="2000" dirty="0">
                <a:latin typeface="Consolas" panose="020B0609020204030204" pitchFamily="49" charset="0"/>
              </a:rPr>
              <a:t>#include&lt;stdio.h&gt;</a:t>
            </a:r>
          </a:p>
          <a:p>
            <a:pPr marL="0" indent="0">
              <a:buNone/>
            </a:pPr>
            <a:r>
              <a:rPr lang="zh-CN" altLang="en-US" sz="2000" dirty="0">
                <a:latin typeface="Consolas" panose="020B0609020204030204" pitchFamily="49" charset="0"/>
              </a:rPr>
              <a:t>#define SIZE </a:t>
            </a:r>
            <a:r>
              <a:rPr lang="en-US" altLang="zh-CN" sz="2000" dirty="0">
                <a:latin typeface="Consolas" panose="020B0609020204030204" pitchFamily="49" charset="0"/>
              </a:rPr>
              <a:t>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a:solidFill>
                  <a:srgbClr val="FF0000"/>
                </a:solidFill>
                <a:latin typeface="Consolas" panose="020B0609020204030204" pitchFamily="49" charset="0"/>
              </a:rPr>
              <a:t>const </a:t>
            </a:r>
            <a:r>
              <a:rPr lang="en-US" altLang="zh-CN" sz="2000" dirty="0">
                <a:latin typeface="Consolas" panose="020B0609020204030204" pitchFamily="49" charset="0"/>
              </a:rPr>
              <a:t>int a[], 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createArray</a:t>
            </a:r>
            <a:r>
              <a:rPr lang="en-US" altLang="zh-CN" sz="2000" dirty="0">
                <a:latin typeface="Consolas" panose="020B0609020204030204" pitchFamily="49" charset="0"/>
              </a:rPr>
              <a:t>(int a[], int size);</a:t>
            </a:r>
            <a:endParaRPr lang="zh-CN" altLang="en-US" sz="2000" dirty="0">
              <a:latin typeface="Consolas" panose="020B0609020204030204" pitchFamily="49" charset="0"/>
            </a:endParaRPr>
          </a:p>
          <a:p>
            <a:pPr marL="0" indent="0">
              <a:buNone/>
            </a:pPr>
            <a:r>
              <a:rPr lang="en-US" altLang="zh-CN" sz="2000" dirty="0">
                <a:latin typeface="Consolas" panose="020B0609020204030204" pitchFamily="49" charset="0"/>
              </a:rPr>
              <a:t>int </a:t>
            </a:r>
            <a:r>
              <a:rPr lang="zh-CN" altLang="en-US" sz="2000" dirty="0">
                <a:latin typeface="Consolas" panose="020B0609020204030204" pitchFamily="49" charset="0"/>
              </a:rPr>
              <a:t>main(){</a:t>
            </a:r>
          </a:p>
          <a:p>
            <a:pPr marL="0" indent="0">
              <a:buNone/>
            </a:pPr>
            <a:r>
              <a:rPr lang="zh-CN" altLang="en-US" sz="2000" dirty="0">
                <a:latin typeface="Consolas" panose="020B0609020204030204" pitchFamily="49" charset="0"/>
              </a:rPr>
              <a:t>    int a[SIZE]</a:t>
            </a:r>
            <a:r>
              <a:rPr lang="en-US" altLang="zh-CN" sz="2000" dirty="0">
                <a:latin typeface="Consolas" panose="020B0609020204030204" pitchFamily="49" charset="0"/>
              </a:rPr>
              <a:t>={0}</a:t>
            </a:r>
            <a:r>
              <a:rPr lang="zh-CN" altLang="en-US" sz="2000" dirty="0">
                <a:latin typeface="Consolas" panose="020B0609020204030204" pitchFamily="49" charset="0"/>
              </a:rPr>
              <a:t>;</a:t>
            </a:r>
          </a:p>
          <a:p>
            <a:pPr marL="0" indent="0">
              <a:buNone/>
            </a:pPr>
            <a:r>
              <a:rPr lang="zh-CN" altLang="en-US" sz="2000" dirty="0">
                <a:latin typeface="Consolas" panose="020B0609020204030204" pitchFamily="49" charset="0"/>
              </a:rPr>
              <a:t>    int </a:t>
            </a:r>
            <a:r>
              <a:rPr lang="en-US" altLang="zh-CN" sz="2000" dirty="0">
                <a:latin typeface="Consolas" panose="020B0609020204030204" pitchFamily="49" charset="0"/>
              </a:rPr>
              <a:t>n</a:t>
            </a:r>
            <a:r>
              <a:rPr lang="zh-CN" altLang="en-US" sz="2000" dirty="0">
                <a:latin typeface="Consolas" panose="020B0609020204030204" pitchFamily="49" charset="0"/>
              </a:rPr>
              <a:t>;  </a:t>
            </a:r>
          </a:p>
          <a:p>
            <a:pPr marL="0" indent="0">
              <a:buNone/>
            </a:pPr>
            <a:r>
              <a:rPr lang="en-US" altLang="zh-CN" sz="2000" dirty="0">
                <a:latin typeface="Consolas" panose="020B0609020204030204" pitchFamily="49" charset="0"/>
              </a:rPr>
              <a:t>    n=</a:t>
            </a:r>
            <a:r>
              <a:rPr lang="en-US" altLang="zh-CN" sz="2000" dirty="0" err="1">
                <a:latin typeface="Consolas" panose="020B0609020204030204" pitchFamily="49" charset="0"/>
              </a:rPr>
              <a:t>createArray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a,n</a:t>
            </a:r>
            <a:r>
              <a:rPr lang="en-US" altLang="zh-CN" sz="2000" dirty="0">
                <a:latin typeface="Consolas" panose="020B0609020204030204" pitchFamily="49" charset="0"/>
              </a:rPr>
              <a:t>);</a:t>
            </a:r>
          </a:p>
          <a:p>
            <a:pPr marL="0" indent="0">
              <a:buNone/>
            </a:pP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
        <p:nvSpPr>
          <p:cNvPr id="63492" name="Rectangle 6"/>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endParaRPr lang="zh-CN" altLang="en-US" sz="3200" b="1" dirty="0">
              <a:solidFill>
                <a:srgbClr val="FF3300"/>
              </a:solidFill>
            </a:endParaRPr>
          </a:p>
        </p:txBody>
      </p:sp>
    </p:spTree>
    <p:extLst>
      <p:ext uri="{BB962C8B-B14F-4D97-AF65-F5344CB8AC3E}">
        <p14:creationId xmlns:p14="http://schemas.microsoft.com/office/powerpoint/2010/main" val="53510313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尾插法创建数组子函数设计</a:t>
            </a:r>
            <a:r>
              <a:rPr lang="en-US" altLang="zh-CN" b="1" dirty="0" err="1"/>
              <a:t>v2</a:t>
            </a:r>
            <a:endParaRPr lang="zh-CN" altLang="en-US" b="1" dirty="0"/>
          </a:p>
        </p:txBody>
      </p:sp>
      <p:sp>
        <p:nvSpPr>
          <p:cNvPr id="3" name="内容占位符 2"/>
          <p:cNvSpPr>
            <a:spLocks noGrp="1"/>
          </p:cNvSpPr>
          <p:nvPr>
            <p:ph idx="1"/>
          </p:nvPr>
        </p:nvSpPr>
        <p:spPr>
          <a:xfrm>
            <a:off x="467544" y="1340768"/>
            <a:ext cx="8496944" cy="4611687"/>
          </a:xfrm>
        </p:spPr>
        <p:txBody>
          <a:bodyPr/>
          <a:lstStyle/>
          <a:p>
            <a:pPr marL="0" indent="0">
              <a:buNone/>
            </a:pPr>
            <a:r>
              <a:rPr lang="zh-CN" altLang="en-US" b="1" dirty="0"/>
              <a:t>练习：设计一个函数</a:t>
            </a:r>
            <a:r>
              <a:rPr lang="en-US" altLang="zh-CN" b="1" dirty="0" err="1"/>
              <a:t>createArray</a:t>
            </a:r>
            <a:r>
              <a:rPr lang="en-US" altLang="zh-CN" b="1" dirty="0"/>
              <a:t>,</a:t>
            </a:r>
            <a:r>
              <a:rPr lang="zh-CN" altLang="en-US" b="1" dirty="0"/>
              <a:t>接收键盘输入的任意个整数</a:t>
            </a:r>
            <a:r>
              <a:rPr lang="en-US" altLang="zh-CN" b="1" dirty="0"/>
              <a:t>,</a:t>
            </a:r>
            <a:r>
              <a:rPr lang="zh-CN" altLang="en-US" b="1" dirty="0"/>
              <a:t>直到换行符结束</a:t>
            </a:r>
            <a:r>
              <a:rPr lang="en-US" altLang="zh-CN" b="1" dirty="0"/>
              <a:t>.</a:t>
            </a:r>
          </a:p>
          <a:p>
            <a:pPr marL="0" indent="0">
              <a:buNone/>
            </a:pPr>
            <a:r>
              <a:rPr lang="zh-CN" altLang="en-US" sz="2400" dirty="0">
                <a:latin typeface="Consolas" panose="020B0609020204030204" pitchFamily="49" charset="0"/>
                <a:sym typeface="+mn-ea"/>
              </a:rPr>
              <a:t>int </a:t>
            </a:r>
            <a:r>
              <a:rPr lang="en-US" altLang="zh-CN" sz="2400" dirty="0" err="1">
                <a:latin typeface="Consolas" panose="020B0609020204030204" pitchFamily="49" charset="0"/>
                <a:sym typeface="+mn-ea"/>
              </a:rPr>
              <a:t>createArrayTail</a:t>
            </a:r>
            <a:r>
              <a:rPr lang="en-US" altLang="zh-CN" sz="2400" dirty="0">
                <a:latin typeface="Consolas" panose="020B0609020204030204" pitchFamily="49" charset="0"/>
                <a:sym typeface="+mn-ea"/>
              </a:rPr>
              <a:t>(int a[], int size)</a:t>
            </a:r>
            <a:r>
              <a:rPr lang="zh-CN" altLang="en-US" sz="2400" dirty="0">
                <a:latin typeface="Consolas" panose="020B0609020204030204" pitchFamily="49" charset="0"/>
                <a:sym typeface="+mn-ea"/>
              </a:rPr>
              <a:t>{</a:t>
            </a:r>
            <a:endParaRPr lang="en-US" altLang="zh-CN" sz="2400" dirty="0">
              <a:latin typeface="Consolas" panose="020B0609020204030204" pitchFamily="49" charset="0"/>
              <a:sym typeface="+mn-ea"/>
            </a:endParaRPr>
          </a:p>
          <a:p>
            <a:pPr marL="0" indent="0">
              <a:buNone/>
            </a:pPr>
            <a:r>
              <a:rPr lang="zh-CN" altLang="en-US" sz="2400" dirty="0">
                <a:latin typeface="Consolas" panose="020B0609020204030204" pitchFamily="49" charset="0"/>
                <a:sym typeface="+mn-ea"/>
              </a:rPr>
              <a:t>	int </a:t>
            </a:r>
            <a:r>
              <a:rPr lang="en-US" altLang="zh-CN" sz="2400" dirty="0" err="1">
                <a:latin typeface="Consolas" panose="020B0609020204030204" pitchFamily="49" charset="0"/>
                <a:sym typeface="+mn-ea"/>
              </a:rPr>
              <a:t>i,num</a:t>
            </a:r>
            <a:r>
              <a:rPr lang="zh-CN" altLang="en-US" sz="2400" dirty="0">
                <a:latin typeface="Consolas" panose="020B0609020204030204" pitchFamily="49" charset="0"/>
                <a:sym typeface="+mn-ea"/>
              </a:rPr>
              <a:t>;</a:t>
            </a:r>
            <a:r>
              <a:rPr lang="en-US" altLang="zh-CN" sz="2400" dirty="0">
                <a:latin typeface="Consolas" panose="020B0609020204030204" pitchFamily="49" charset="0"/>
                <a:sym typeface="+mn-ea"/>
              </a:rPr>
              <a:t>	</a:t>
            </a:r>
            <a:r>
              <a:rPr lang="zh-CN" altLang="en-US" sz="2400" dirty="0">
                <a:latin typeface="Consolas" panose="020B0609020204030204" pitchFamily="49" charset="0"/>
                <a:sym typeface="+mn-ea"/>
              </a:rPr>
              <a:t>char ch=0;</a:t>
            </a:r>
            <a:endParaRPr lang="zh-CN" altLang="en-US" sz="2400" dirty="0">
              <a:latin typeface="Consolas" panose="020B0609020204030204" pitchFamily="49" charset="0"/>
            </a:endParaRPr>
          </a:p>
          <a:p>
            <a:pPr marL="0" indent="0">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("Enter integers by a line to create array.\n");</a:t>
            </a:r>
          </a:p>
          <a:p>
            <a:pPr marL="0" indent="0">
              <a:buNone/>
            </a:pPr>
            <a:r>
              <a:rPr lang="zh-CN" altLang="en-US" sz="2400" dirty="0">
                <a:latin typeface="Consolas" panose="020B0609020204030204" pitchFamily="49" charset="0"/>
                <a:sym typeface="+mn-ea"/>
              </a:rPr>
              <a:t>	</a:t>
            </a:r>
            <a:r>
              <a:rPr lang="en-US" altLang="zh-CN" sz="2400" dirty="0">
                <a:latin typeface="Consolas" panose="020B0609020204030204" pitchFamily="49" charset="0"/>
                <a:sym typeface="+mn-ea"/>
              </a:rPr>
              <a:t>for</a:t>
            </a:r>
            <a:r>
              <a:rPr lang="zh-CN" altLang="en-US"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=0; </a:t>
            </a:r>
            <a:r>
              <a:rPr lang="en-US" altLang="zh-CN" sz="2400" dirty="0" err="1">
                <a:latin typeface="Consolas" panose="020B0609020204030204" pitchFamily="49" charset="0"/>
                <a:sym typeface="+mn-ea"/>
              </a:rPr>
              <a:t>i</a:t>
            </a:r>
            <a:r>
              <a:rPr lang="zh-CN" altLang="en-US" sz="2400" dirty="0">
                <a:latin typeface="Consolas" panose="020B0609020204030204" pitchFamily="49" charset="0"/>
                <a:sym typeface="+mn-ea"/>
              </a:rPr>
              <a:t>&lt;</a:t>
            </a:r>
            <a:r>
              <a:rPr lang="en-US" altLang="zh-CN" sz="2400" dirty="0">
                <a:latin typeface="Consolas" panose="020B0609020204030204" pitchFamily="49" charset="0"/>
                <a:sym typeface="+mn-ea"/>
              </a:rPr>
              <a:t>size</a:t>
            </a:r>
            <a:r>
              <a:rPr lang="zh-CN" altLang="en-US" sz="2400" dirty="0">
                <a:latin typeface="Consolas" panose="020B0609020204030204" pitchFamily="49" charset="0"/>
                <a:sym typeface="+mn-ea"/>
              </a:rPr>
              <a:t> &amp;&amp; </a:t>
            </a:r>
            <a:r>
              <a:rPr lang="en-US" altLang="zh-CN" sz="2400" dirty="0">
                <a:latin typeface="Consolas" panose="020B0609020204030204" pitchFamily="49" charset="0"/>
                <a:sym typeface="+mn-ea"/>
              </a:rPr>
              <a:t>'\n'</a:t>
            </a:r>
            <a:r>
              <a:rPr lang="zh-CN" altLang="en-US" sz="2400" dirty="0">
                <a:latin typeface="Consolas" panose="020B0609020204030204" pitchFamily="49" charset="0"/>
                <a:sym typeface="+mn-ea"/>
              </a:rPr>
              <a:t>!=ch</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scanf("%d",&amp;n</a:t>
            </a:r>
            <a:r>
              <a:rPr lang="en-US" altLang="zh-CN" sz="2400" dirty="0">
                <a:latin typeface="Consolas" panose="020B0609020204030204" pitchFamily="49" charset="0"/>
                <a:sym typeface="+mn-ea"/>
              </a:rPr>
              <a:t>um</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a:t>
            </a:r>
            <a:r>
              <a:rPr lang="en-US" altLang="zh-CN" sz="2400" dirty="0">
                <a:latin typeface="Consolas" panose="020B0609020204030204" pitchFamily="49" charset="0"/>
                <a:sym typeface="+mn-ea"/>
              </a:rPr>
              <a:t>a</a:t>
            </a:r>
            <a:r>
              <a:rPr lang="zh-CN" altLang="en-US" sz="2400" dirty="0">
                <a:latin typeface="Consolas" panose="020B0609020204030204" pitchFamily="49" charset="0"/>
                <a:sym typeface="+mn-ea"/>
              </a:rPr>
              <a:t>[</a:t>
            </a:r>
            <a:r>
              <a:rPr lang="en-US" altLang="zh-CN" sz="2400" dirty="0" err="1">
                <a:latin typeface="Consolas" panose="020B0609020204030204" pitchFamily="49" charset="0"/>
                <a:sym typeface="+mn-ea"/>
              </a:rPr>
              <a:t>i</a:t>
            </a:r>
            <a:r>
              <a:rPr lang="zh-CN" altLang="en-US" sz="2400" dirty="0">
                <a:latin typeface="Consolas" panose="020B0609020204030204" pitchFamily="49" charset="0"/>
                <a:sym typeface="+mn-ea"/>
              </a:rPr>
              <a:t>]=n</a:t>
            </a:r>
            <a:r>
              <a:rPr lang="en-US" altLang="zh-CN" sz="2400" dirty="0">
                <a:latin typeface="Consolas" panose="020B0609020204030204" pitchFamily="49" charset="0"/>
                <a:sym typeface="+mn-ea"/>
              </a:rPr>
              <a:t>um</a:t>
            </a:r>
            <a:r>
              <a:rPr lang="zh-CN" altLang="en-US" sz="2400" dirty="0">
                <a:latin typeface="Consolas" panose="020B0609020204030204" pitchFamily="49" charset="0"/>
                <a:sym typeface="+mn-ea"/>
              </a:rPr>
              <a:t>;</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ch=getchar();		</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sym typeface="+mn-ea"/>
              </a:rPr>
              <a:t>	}</a:t>
            </a:r>
          </a:p>
          <a:p>
            <a:pPr marL="0" indent="0">
              <a:buNone/>
            </a:pPr>
            <a:r>
              <a:rPr lang="en-US" altLang="zh-CN" sz="2400" dirty="0">
                <a:latin typeface="Consolas" panose="020B0609020204030204" pitchFamily="49" charset="0"/>
                <a:sym typeface="+mn-ea"/>
              </a:rPr>
              <a:t>	return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p>
          <a:p>
            <a:pPr marL="0" indent="0">
              <a:buNone/>
            </a:pPr>
            <a:r>
              <a:rPr lang="en-US" altLang="zh-CN" sz="2400" dirty="0">
                <a:latin typeface="Consolas" panose="020B0609020204030204" pitchFamily="49" charset="0"/>
                <a:sym typeface="+mn-ea"/>
              </a:rPr>
              <a:t>}</a:t>
            </a:r>
            <a:endParaRPr lang="zh-CN" altLang="en-US" sz="2400" dirty="0">
              <a:latin typeface="Consolas" panose="020B0609020204030204" pitchFamily="49" charset="0"/>
            </a:endParaRPr>
          </a:p>
          <a:p>
            <a:endParaRPr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zh-CN" altLang="en-US" b="1" u="sng" dirty="0"/>
              <a:t>数组的倒序存储</a:t>
            </a:r>
          </a:p>
        </p:txBody>
      </p:sp>
      <p:sp>
        <p:nvSpPr>
          <p:cNvPr id="32772" name="Rectangle 3"/>
          <p:cNvSpPr>
            <a:spLocks noGrp="1" noChangeArrowheads="1"/>
          </p:cNvSpPr>
          <p:nvPr>
            <p:ph type="body" idx="1"/>
          </p:nvPr>
        </p:nvSpPr>
        <p:spPr/>
        <p:txBody>
          <a:bodyPr/>
          <a:lstStyle/>
          <a:p>
            <a:pPr marL="0" indent="0" eaLnBrk="1" hangingPunct="1">
              <a:buNone/>
            </a:pPr>
            <a:r>
              <a:rPr lang="zh-CN" altLang="en-US" b="1" dirty="0"/>
              <a:t>练习</a:t>
            </a:r>
            <a:r>
              <a:rPr lang="en-US" altLang="zh-CN" b="1" dirty="0"/>
              <a:t>3.   </a:t>
            </a:r>
            <a:r>
              <a:rPr lang="zh-CN" altLang="en-US" b="1" dirty="0"/>
              <a:t>定义一个能容纳</a:t>
            </a:r>
            <a:r>
              <a:rPr lang="en-US" altLang="zh-CN" b="1" dirty="0"/>
              <a:t>10</a:t>
            </a:r>
            <a:r>
              <a:rPr lang="zh-CN" altLang="en-US" b="1" dirty="0"/>
              <a:t>个元素的整形数组</a:t>
            </a:r>
            <a:r>
              <a:rPr lang="en-US" altLang="zh-CN" b="1" dirty="0"/>
              <a:t>a</a:t>
            </a:r>
            <a:r>
              <a:rPr lang="zh-CN" altLang="en-US" b="1" dirty="0"/>
              <a:t>，从键盘读取多个整数（换行结束）倒序存放到数组中。</a:t>
            </a:r>
            <a:endParaRPr lang="en-US" altLang="zh-CN" b="1" dirty="0"/>
          </a:p>
          <a:p>
            <a:pPr marL="0" indent="0" eaLnBrk="1" hangingPunct="1">
              <a:buNone/>
            </a:pPr>
            <a:r>
              <a:rPr lang="zh-CN" altLang="en-US" b="1" dirty="0"/>
              <a:t>分析：如何倒序？</a:t>
            </a:r>
          </a:p>
          <a:p>
            <a:pPr marL="0" indent="0" eaLnBrk="1" hangingPunct="1">
              <a:buNone/>
            </a:pPr>
            <a:r>
              <a:rPr lang="zh-CN" altLang="en-US" b="1" dirty="0"/>
              <a:t>模仿栈，每读一个整数，插入到数组</a:t>
            </a:r>
            <a:r>
              <a:rPr lang="en-US" altLang="zh-CN" b="1" dirty="0"/>
              <a:t>a[0]</a:t>
            </a:r>
            <a:r>
              <a:rPr lang="zh-CN" altLang="en-US" b="1" dirty="0"/>
              <a:t>，原有元素从尾到头逐个后移。</a:t>
            </a:r>
            <a:endParaRPr lang="en-US" altLang="zh-CN" b="1" dirty="0"/>
          </a:p>
        </p:txBody>
      </p:sp>
      <p:graphicFrame>
        <p:nvGraphicFramePr>
          <p:cNvPr id="3" name="对象 2"/>
          <p:cNvGraphicFramePr/>
          <p:nvPr/>
        </p:nvGraphicFramePr>
        <p:xfrm>
          <a:off x="1136650" y="4115435"/>
          <a:ext cx="6870700" cy="2280285"/>
        </p:xfrm>
        <a:graphic>
          <a:graphicData uri="http://schemas.openxmlformats.org/presentationml/2006/ole">
            <mc:AlternateContent xmlns:mc="http://schemas.openxmlformats.org/markup-compatibility/2006">
              <mc:Choice xmlns:v="urn:schemas-microsoft-com:vml" Requires="v">
                <p:oleObj r:id="rId2" imgW="6865620" imgH="2278380" progId="Paint.Picture">
                  <p:embed/>
                </p:oleObj>
              </mc:Choice>
              <mc:Fallback>
                <p:oleObj r:id="rId2" imgW="6865620" imgH="2278380" progId="Paint.Picture">
                  <p:embed/>
                  <p:pic>
                    <p:nvPicPr>
                      <p:cNvPr id="3" name="对象 2"/>
                      <p:cNvPicPr/>
                      <p:nvPr/>
                    </p:nvPicPr>
                    <p:blipFill>
                      <a:blip r:embed="rId3"/>
                      <a:stretch>
                        <a:fillRect/>
                      </a:stretch>
                    </p:blipFill>
                    <p:spPr>
                      <a:xfrm>
                        <a:off x="1136650" y="4115435"/>
                        <a:ext cx="6870700" cy="2280285"/>
                      </a:xfrm>
                      <a:prstGeom prst="rect">
                        <a:avLst/>
                      </a:prstGeom>
                    </p:spPr>
                  </p:pic>
                </p:oleObj>
              </mc:Fallback>
            </mc:AlternateContent>
          </a:graphicData>
        </a:graphic>
      </p:graphicFrame>
    </p:spTree>
    <p:extLst>
      <p:ext uri="{BB962C8B-B14F-4D97-AF65-F5344CB8AC3E}">
        <p14:creationId xmlns:p14="http://schemas.microsoft.com/office/powerpoint/2010/main" val="218076186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头插法创建数组的子函数设计</a:t>
            </a:r>
          </a:p>
        </p:txBody>
      </p:sp>
      <p:sp>
        <p:nvSpPr>
          <p:cNvPr id="3" name="内容占位符 2"/>
          <p:cNvSpPr>
            <a:spLocks noGrp="1"/>
          </p:cNvSpPr>
          <p:nvPr>
            <p:ph idx="1"/>
          </p:nvPr>
        </p:nvSpPr>
        <p:spPr>
          <a:xfrm>
            <a:off x="539552" y="1268760"/>
            <a:ext cx="7772400" cy="4611687"/>
          </a:xfrm>
        </p:spPr>
        <p:txBody>
          <a:bodyPr/>
          <a:lstStyle/>
          <a:p>
            <a:pPr marL="0" indent="0">
              <a:spcBef>
                <a:spcPts val="0"/>
              </a:spcBef>
              <a:buNone/>
            </a:pPr>
            <a:r>
              <a:rPr lang="en-US" altLang="zh-CN" sz="2400" dirty="0">
                <a:latin typeface="Consolas" panose="020B0609020204030204" pitchFamily="49" charset="0"/>
                <a:sym typeface="+mn-ea"/>
              </a:rPr>
              <a:t>int </a:t>
            </a:r>
            <a:r>
              <a:rPr lang="en-US" altLang="zh-CN" sz="2400" dirty="0" err="1">
                <a:latin typeface="Consolas" panose="020B0609020204030204" pitchFamily="49" charset="0"/>
                <a:sym typeface="+mn-ea"/>
              </a:rPr>
              <a:t>createArrayHead</a:t>
            </a:r>
            <a:r>
              <a:rPr lang="en-US" altLang="zh-CN" sz="2400" dirty="0">
                <a:latin typeface="Consolas" panose="020B0609020204030204" pitchFamily="49" charset="0"/>
                <a:sym typeface="+mn-ea"/>
              </a:rPr>
              <a:t>(int a[], int size){</a:t>
            </a:r>
          </a:p>
          <a:p>
            <a:pPr marL="0" indent="0">
              <a:spcBef>
                <a:spcPts val="0"/>
              </a:spcBef>
              <a:buNone/>
            </a:pPr>
            <a:r>
              <a:rPr lang="en-US" altLang="zh-CN" sz="2400" dirty="0">
                <a:latin typeface="Consolas" panose="020B0609020204030204" pitchFamily="49" charset="0"/>
                <a:sym typeface="+mn-ea"/>
              </a:rPr>
              <a:t>	int </a:t>
            </a:r>
            <a:r>
              <a:rPr lang="en-US" altLang="zh-CN" sz="2400" dirty="0" err="1">
                <a:latin typeface="Consolas" panose="020B0609020204030204" pitchFamily="49" charset="0"/>
                <a:sym typeface="+mn-ea"/>
              </a:rPr>
              <a:t>i,num,j</a:t>
            </a:r>
            <a:r>
              <a:rPr lang="en-US" altLang="zh-CN" sz="2400" dirty="0">
                <a:latin typeface="Consolas" panose="020B0609020204030204" pitchFamily="49" charset="0"/>
                <a:sym typeface="+mn-ea"/>
              </a:rPr>
              <a:t>;	char </a:t>
            </a:r>
            <a:r>
              <a:rPr lang="en-US" altLang="zh-CN" sz="2400" dirty="0" err="1">
                <a:latin typeface="Consolas" panose="020B0609020204030204" pitchFamily="49" charset="0"/>
                <a:sym typeface="+mn-ea"/>
              </a:rPr>
              <a:t>ch</a:t>
            </a:r>
            <a:r>
              <a:rPr lang="en-US" altLang="zh-CN" sz="2400" dirty="0">
                <a:latin typeface="Consolas" panose="020B0609020204030204" pitchFamily="49" charset="0"/>
                <a:sym typeface="+mn-ea"/>
              </a:rPr>
              <a:t>=0;</a:t>
            </a:r>
          </a:p>
          <a:p>
            <a:pPr marL="0" indent="0">
              <a:spcBef>
                <a:spcPts val="0"/>
              </a:spcBef>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("Enter integers by a line to create reverse array.\n");</a:t>
            </a:r>
          </a:p>
          <a:p>
            <a:pPr marL="0" indent="0">
              <a:spcBef>
                <a:spcPts val="0"/>
              </a:spcBef>
              <a:buNone/>
            </a:pPr>
            <a:r>
              <a:rPr lang="en-US" altLang="zh-CN" sz="2400" dirty="0">
                <a:latin typeface="Consolas" panose="020B0609020204030204" pitchFamily="49" charset="0"/>
                <a:sym typeface="+mn-ea"/>
              </a:rPr>
              <a:t>	for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=0;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&lt;size &amp;&amp; '\n'!=</a:t>
            </a:r>
            <a:r>
              <a:rPr lang="en-US" altLang="zh-CN" sz="2400" dirty="0" err="1">
                <a:latin typeface="Consolas" panose="020B0609020204030204" pitchFamily="49" charset="0"/>
                <a:sym typeface="+mn-ea"/>
              </a:rPr>
              <a:t>ch</a:t>
            </a: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p>
          <a:p>
            <a:pPr marL="0" indent="0">
              <a:spcBef>
                <a:spcPts val="0"/>
              </a:spcBef>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scanf</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d",&amp;num</a:t>
            </a:r>
            <a:r>
              <a:rPr lang="en-US" altLang="zh-CN" sz="2400" dirty="0">
                <a:latin typeface="Consolas" panose="020B0609020204030204" pitchFamily="49" charset="0"/>
                <a:sym typeface="+mn-ea"/>
              </a:rPr>
              <a:t>);</a:t>
            </a:r>
          </a:p>
          <a:p>
            <a:pPr marL="0" indent="0">
              <a:spcBef>
                <a:spcPts val="0"/>
              </a:spcBef>
              <a:buNone/>
            </a:pPr>
            <a:r>
              <a:rPr lang="en-US" altLang="zh-CN" sz="2400" dirty="0">
                <a:latin typeface="Consolas" panose="020B0609020204030204" pitchFamily="49" charset="0"/>
                <a:sym typeface="+mn-ea"/>
              </a:rPr>
              <a:t>		for (j=</a:t>
            </a:r>
            <a:r>
              <a:rPr lang="en-US" altLang="zh-CN" sz="2400" dirty="0" err="1">
                <a:latin typeface="Consolas" panose="020B0609020204030204" pitchFamily="49" charset="0"/>
                <a:sym typeface="+mn-ea"/>
              </a:rPr>
              <a:t>i;j</a:t>
            </a:r>
            <a:r>
              <a:rPr lang="en-US" altLang="zh-CN" sz="2400" dirty="0">
                <a:latin typeface="Consolas" panose="020B0609020204030204" pitchFamily="49" charset="0"/>
                <a:sym typeface="+mn-ea"/>
              </a:rPr>
              <a:t>&gt;</a:t>
            </a:r>
            <a:r>
              <a:rPr lang="en-US" altLang="zh-CN" sz="2400" dirty="0" err="1">
                <a:latin typeface="Consolas" panose="020B0609020204030204" pitchFamily="49" charset="0"/>
                <a:sym typeface="+mn-ea"/>
              </a:rPr>
              <a:t>0;j</a:t>
            </a:r>
            <a:r>
              <a:rPr lang="en-US" altLang="zh-CN" sz="2400" dirty="0">
                <a:latin typeface="Consolas" panose="020B0609020204030204" pitchFamily="49" charset="0"/>
                <a:sym typeface="+mn-ea"/>
              </a:rPr>
              <a:t>--)</a:t>
            </a:r>
          </a:p>
          <a:p>
            <a:pPr marL="0" indent="0">
              <a:spcBef>
                <a:spcPts val="0"/>
              </a:spcBef>
              <a:buNone/>
            </a:pPr>
            <a:r>
              <a:rPr lang="en-US" altLang="zh-CN" sz="2400" dirty="0">
                <a:latin typeface="Consolas" panose="020B0609020204030204" pitchFamily="49" charset="0"/>
                <a:sym typeface="+mn-ea"/>
              </a:rPr>
              <a:t>			a[j]=a[j-1];</a:t>
            </a:r>
          </a:p>
          <a:p>
            <a:pPr marL="0" indent="0">
              <a:spcBef>
                <a:spcPts val="0"/>
              </a:spcBef>
              <a:buNone/>
            </a:pPr>
            <a:r>
              <a:rPr lang="en-US" altLang="zh-CN" sz="2400" dirty="0">
                <a:latin typeface="Consolas" panose="020B0609020204030204" pitchFamily="49" charset="0"/>
                <a:sym typeface="+mn-ea"/>
              </a:rPr>
              <a:t>		a[0]=num;</a:t>
            </a:r>
          </a:p>
          <a:p>
            <a:pPr marL="0" indent="0">
              <a:spcBef>
                <a:spcPts val="0"/>
              </a:spcBef>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ch</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getchar</a:t>
            </a:r>
            <a:r>
              <a:rPr lang="en-US" altLang="zh-CN" sz="2400" dirty="0">
                <a:latin typeface="Consolas" panose="020B0609020204030204" pitchFamily="49" charset="0"/>
                <a:sym typeface="+mn-ea"/>
              </a:rPr>
              <a:t>();		</a:t>
            </a:r>
          </a:p>
          <a:p>
            <a:pPr marL="0" indent="0">
              <a:spcBef>
                <a:spcPts val="0"/>
              </a:spcBef>
              <a:buNone/>
            </a:pPr>
            <a:r>
              <a:rPr lang="en-US" altLang="zh-CN" sz="2400" dirty="0">
                <a:latin typeface="Consolas" panose="020B0609020204030204" pitchFamily="49" charset="0"/>
                <a:sym typeface="+mn-ea"/>
              </a:rPr>
              <a:t>	}</a:t>
            </a:r>
          </a:p>
          <a:p>
            <a:pPr marL="0" indent="0">
              <a:spcBef>
                <a:spcPts val="0"/>
              </a:spcBef>
              <a:buNone/>
            </a:pPr>
            <a:r>
              <a:rPr lang="en-US" altLang="zh-CN" sz="2400" dirty="0">
                <a:latin typeface="Consolas" panose="020B0609020204030204" pitchFamily="49" charset="0"/>
                <a:sym typeface="+mn-ea"/>
              </a:rPr>
              <a:t>	return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a:t>
            </a:r>
          </a:p>
          <a:p>
            <a:pPr marL="0" indent="0">
              <a:spcBef>
                <a:spcPts val="0"/>
              </a:spcBef>
              <a:buNone/>
            </a:pPr>
            <a:r>
              <a:rPr lang="en-US" altLang="zh-CN" sz="2400" dirty="0">
                <a:latin typeface="Consolas" panose="020B0609020204030204" pitchFamily="49" charset="0"/>
                <a:sym typeface="+mn-ea"/>
              </a:rPr>
              <a:t>}</a:t>
            </a:r>
            <a:endParaRPr lang="zh-CN" altLang="en-US" sz="2400" dirty="0">
              <a:latin typeface="Consolas" panose="020B0609020204030204" pitchFamily="49"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319213"/>
            <a:ext cx="7918648" cy="4611687"/>
          </a:xfrm>
        </p:spPr>
        <p:txBody>
          <a:bodyPr/>
          <a:lstStyle/>
          <a:p>
            <a:pPr marL="0" indent="0">
              <a:buNone/>
            </a:pPr>
            <a:r>
              <a:rPr lang="zh-CN" altLang="en-US" sz="2000" dirty="0">
                <a:latin typeface="Consolas" panose="020B0609020204030204" pitchFamily="49" charset="0"/>
              </a:rPr>
              <a:t>#include&lt;stdio.h&gt;</a:t>
            </a:r>
          </a:p>
          <a:p>
            <a:pPr marL="0" indent="0">
              <a:buNone/>
            </a:pPr>
            <a:r>
              <a:rPr lang="zh-CN" altLang="en-US" sz="2000" dirty="0">
                <a:latin typeface="Consolas" panose="020B0609020204030204" pitchFamily="49" charset="0"/>
              </a:rPr>
              <a:t>#define SIZE </a:t>
            </a:r>
            <a:r>
              <a:rPr lang="en-US" altLang="zh-CN" sz="2000" dirty="0">
                <a:latin typeface="Consolas" panose="020B0609020204030204" pitchFamily="49" charset="0"/>
              </a:rPr>
              <a:t>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a:solidFill>
                  <a:srgbClr val="FF0000"/>
                </a:solidFill>
                <a:latin typeface="Consolas" panose="020B0609020204030204" pitchFamily="49" charset="0"/>
              </a:rPr>
              <a:t>const </a:t>
            </a:r>
            <a:r>
              <a:rPr lang="en-US" altLang="zh-CN" sz="2000" dirty="0">
                <a:latin typeface="Consolas" panose="020B0609020204030204" pitchFamily="49" charset="0"/>
              </a:rPr>
              <a:t>int a[], 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createArrayTail</a:t>
            </a:r>
            <a:r>
              <a:rPr lang="en-US" altLang="zh-CN" sz="2000" dirty="0">
                <a:latin typeface="Consolas" panose="020B0609020204030204" pitchFamily="49" charset="0"/>
              </a:rPr>
              <a:t>(int a[], int size);</a:t>
            </a:r>
            <a:endParaRPr lang="zh-CN" altLang="en-US" sz="2000" dirty="0">
              <a:latin typeface="Consolas" panose="020B0609020204030204" pitchFamily="49" charset="0"/>
            </a:endParaRP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createArrayHead</a:t>
            </a:r>
            <a:r>
              <a:rPr lang="en-US" altLang="zh-CN" sz="2000" dirty="0">
                <a:latin typeface="Consolas" panose="020B0609020204030204" pitchFamily="49" charset="0"/>
              </a:rPr>
              <a:t>(int a[], int size);</a:t>
            </a:r>
            <a:endParaRPr lang="zh-CN" altLang="en-US" sz="2000" dirty="0">
              <a:latin typeface="Consolas" panose="020B0609020204030204" pitchFamily="49" charset="0"/>
            </a:endParaRPr>
          </a:p>
          <a:p>
            <a:pPr marL="0" indent="0">
              <a:buNone/>
            </a:pPr>
            <a:r>
              <a:rPr lang="en-US" altLang="zh-CN" sz="2000" dirty="0">
                <a:latin typeface="Consolas" panose="020B0609020204030204" pitchFamily="49" charset="0"/>
              </a:rPr>
              <a:t>int </a:t>
            </a:r>
            <a:r>
              <a:rPr lang="zh-CN" altLang="en-US" sz="2000" dirty="0">
                <a:latin typeface="Consolas" panose="020B0609020204030204" pitchFamily="49" charset="0"/>
              </a:rPr>
              <a:t>main(){</a:t>
            </a:r>
          </a:p>
          <a:p>
            <a:pPr marL="0" indent="0">
              <a:buNone/>
            </a:pPr>
            <a:r>
              <a:rPr lang="zh-CN" altLang="en-US" sz="2000" dirty="0">
                <a:latin typeface="Consolas" panose="020B0609020204030204" pitchFamily="49" charset="0"/>
              </a:rPr>
              <a:t>    int a[SIZE]</a:t>
            </a:r>
            <a:r>
              <a:rPr lang="en-US" altLang="zh-CN" sz="2000" dirty="0">
                <a:latin typeface="Consolas" panose="020B0609020204030204" pitchFamily="49" charset="0"/>
              </a:rPr>
              <a:t>={0},b[SIZE]={0}</a:t>
            </a:r>
            <a:r>
              <a:rPr lang="zh-CN" altLang="en-US" sz="2000" dirty="0">
                <a:latin typeface="Consolas" panose="020B0609020204030204" pitchFamily="49" charset="0"/>
              </a:rPr>
              <a:t>;</a:t>
            </a:r>
          </a:p>
          <a:p>
            <a:pPr marL="0" indent="0">
              <a:buNone/>
            </a:pPr>
            <a:r>
              <a:rPr lang="zh-CN" altLang="en-US" sz="2000" dirty="0">
                <a:latin typeface="Consolas" panose="020B0609020204030204" pitchFamily="49" charset="0"/>
              </a:rPr>
              <a:t>    int </a:t>
            </a:r>
            <a:r>
              <a:rPr lang="en-US" altLang="zh-CN" sz="2000" dirty="0">
                <a:latin typeface="Consolas" panose="020B0609020204030204" pitchFamily="49" charset="0"/>
              </a:rPr>
              <a:t>n</a:t>
            </a:r>
            <a:r>
              <a:rPr lang="zh-CN" altLang="en-US" sz="2000" dirty="0">
                <a:latin typeface="Consolas" panose="020B0609020204030204" pitchFamily="49" charset="0"/>
              </a:rPr>
              <a:t>;  </a:t>
            </a:r>
          </a:p>
          <a:p>
            <a:pPr marL="0" indent="0">
              <a:buNone/>
            </a:pPr>
            <a:r>
              <a:rPr lang="en-US" altLang="zh-CN" sz="2000" dirty="0">
                <a:latin typeface="Consolas" panose="020B0609020204030204" pitchFamily="49" charset="0"/>
              </a:rPr>
              <a:t>    n=</a:t>
            </a:r>
            <a:r>
              <a:rPr lang="en-US" altLang="zh-CN" sz="2000" dirty="0" err="1">
                <a:latin typeface="Consolas" panose="020B0609020204030204" pitchFamily="49" charset="0"/>
              </a:rPr>
              <a:t>createArrayTail</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a,n</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n=</a:t>
            </a:r>
            <a:r>
              <a:rPr lang="en-US" altLang="zh-CN" sz="2000" dirty="0" err="1">
                <a:latin typeface="Consolas" panose="020B0609020204030204" pitchFamily="49" charset="0"/>
              </a:rPr>
              <a:t>createArrayHead</a:t>
            </a:r>
            <a:r>
              <a:rPr lang="en-US" altLang="zh-CN" sz="2000" dirty="0">
                <a:latin typeface="Consolas" panose="020B0609020204030204" pitchFamily="49" charset="0"/>
              </a:rPr>
              <a:t>(</a:t>
            </a:r>
            <a:r>
              <a:rPr lang="en-US" altLang="zh-CN" sz="2000" dirty="0" err="1">
                <a:latin typeface="Consolas" panose="020B0609020204030204" pitchFamily="49" charset="0"/>
              </a:rPr>
              <a:t>b,SIZE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b,n</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
        <p:nvSpPr>
          <p:cNvPr id="63492" name="Rectangle 6"/>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endParaRPr lang="zh-CN" altLang="en-US" sz="3200" b="1" dirty="0">
              <a:solidFill>
                <a:srgbClr val="FF3300"/>
              </a:solidFill>
            </a:endParaRPr>
          </a:p>
        </p:txBody>
      </p:sp>
    </p:spTree>
    <p:extLst>
      <p:ext uri="{BB962C8B-B14F-4D97-AF65-F5344CB8AC3E}">
        <p14:creationId xmlns:p14="http://schemas.microsoft.com/office/powerpoint/2010/main" val="40943008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467544" y="1268760"/>
            <a:ext cx="8458200" cy="4611687"/>
          </a:xfrm>
        </p:spPr>
        <p:txBody>
          <a:bodyPr/>
          <a:lstStyle/>
          <a:p>
            <a:pPr eaLnBrk="1" hangingPunct="1">
              <a:lnSpc>
                <a:spcPct val="90000"/>
              </a:lnSpc>
              <a:buFontTx/>
              <a:buNone/>
            </a:pPr>
            <a:r>
              <a:rPr lang="en-US" altLang="zh-CN" sz="2400" dirty="0">
                <a:latin typeface="Consolas" panose="020B0609020204030204" pitchFamily="49" charset="0"/>
              </a:rPr>
              <a:t>#define SIZE 10</a:t>
            </a:r>
          </a:p>
          <a:p>
            <a:pPr eaLnBrk="1" hangingPunct="1">
              <a:lnSpc>
                <a:spcPct val="90000"/>
              </a:lnSpc>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printArray</a:t>
            </a:r>
            <a:r>
              <a:rPr lang="en-US" altLang="zh-CN" sz="2400" dirty="0">
                <a:latin typeface="Consolas" panose="020B0609020204030204" pitchFamily="49" charset="0"/>
              </a:rPr>
              <a:t>(const int a[],int n);</a:t>
            </a:r>
          </a:p>
          <a:p>
            <a:pPr eaLnBrk="1" hangingPunct="1">
              <a:lnSpc>
                <a:spcPct val="90000"/>
              </a:lnSpc>
              <a:buFontTx/>
              <a:buNone/>
            </a:pPr>
            <a:r>
              <a:rPr lang="en-US" altLang="zh-CN" sz="2400" dirty="0">
                <a:latin typeface="Consolas" panose="020B0609020204030204" pitchFamily="49" charset="0"/>
              </a:rPr>
              <a:t>int 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a[SIZE]={2,1,6,9,8,36,27,25,12,7};</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printArray</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 </a:t>
            </a:r>
            <a:r>
              <a:rPr lang="en-US" altLang="zh-CN" sz="2400" dirty="0">
                <a:solidFill>
                  <a:srgbClr val="003399"/>
                </a:solidFill>
                <a:latin typeface="Consolas" panose="020B0609020204030204" pitchFamily="49" charset="0"/>
              </a:rPr>
              <a:t>//</a:t>
            </a:r>
            <a:r>
              <a:rPr lang="zh-CN" altLang="en-US" sz="2400" dirty="0">
                <a:solidFill>
                  <a:srgbClr val="003399"/>
                </a:solidFill>
                <a:latin typeface="Consolas" panose="020B0609020204030204" pitchFamily="49" charset="0"/>
              </a:rPr>
              <a:t>输出</a:t>
            </a:r>
            <a:r>
              <a:rPr lang="en-US" altLang="zh-CN" sz="2400" dirty="0">
                <a:solidFill>
                  <a:srgbClr val="003399"/>
                </a:solidFill>
                <a:latin typeface="Consolas" panose="020B0609020204030204" pitchFamily="49" charset="0"/>
              </a:rPr>
              <a:t>a</a:t>
            </a:r>
            <a:r>
              <a:rPr lang="zh-CN" altLang="en-US" sz="2400" dirty="0">
                <a:solidFill>
                  <a:srgbClr val="003399"/>
                </a:solidFill>
                <a:latin typeface="Consolas" panose="020B0609020204030204" pitchFamily="49" charset="0"/>
              </a:rPr>
              <a:t>中的所有元素</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printArray</a:t>
            </a:r>
            <a:r>
              <a:rPr lang="en-US" altLang="zh-CN" sz="2400" dirty="0">
                <a:latin typeface="Consolas" panose="020B0609020204030204" pitchFamily="49" charset="0"/>
              </a:rPr>
              <a:t>(&amp;a[1],SIZE-1); </a:t>
            </a:r>
            <a:r>
              <a:rPr lang="en-US" altLang="zh-CN" sz="2400" dirty="0">
                <a:solidFill>
                  <a:srgbClr val="003399"/>
                </a:solidFill>
                <a:latin typeface="Consolas" panose="020B0609020204030204" pitchFamily="49" charset="0"/>
              </a:rPr>
              <a:t>/*</a:t>
            </a:r>
            <a:r>
              <a:rPr lang="zh-CN" altLang="en-US" sz="2400" dirty="0">
                <a:solidFill>
                  <a:srgbClr val="003399"/>
                </a:solidFill>
                <a:latin typeface="Consolas" panose="020B0609020204030204" pitchFamily="49" charset="0"/>
              </a:rPr>
              <a:t>输出</a:t>
            </a:r>
            <a:r>
              <a:rPr lang="en-US" altLang="zh-CN" sz="2400" dirty="0">
                <a:solidFill>
                  <a:srgbClr val="003399"/>
                </a:solidFill>
                <a:latin typeface="Consolas" panose="020B0609020204030204" pitchFamily="49" charset="0"/>
              </a:rPr>
              <a:t>a</a:t>
            </a:r>
            <a:r>
              <a:rPr lang="zh-CN" altLang="en-US" sz="2400" dirty="0">
                <a:solidFill>
                  <a:srgbClr val="003399"/>
                </a:solidFill>
                <a:latin typeface="Consolas" panose="020B0609020204030204" pitchFamily="49" charset="0"/>
              </a:rPr>
              <a:t>中第</a:t>
            </a:r>
            <a:r>
              <a:rPr lang="en-US" altLang="zh-CN" sz="2400" dirty="0">
                <a:solidFill>
                  <a:srgbClr val="003399"/>
                </a:solidFill>
                <a:latin typeface="Consolas" panose="020B0609020204030204" pitchFamily="49" charset="0"/>
              </a:rPr>
              <a:t>2</a:t>
            </a:r>
            <a:r>
              <a:rPr lang="zh-CN" altLang="en-US" sz="2400" dirty="0">
                <a:solidFill>
                  <a:srgbClr val="003399"/>
                </a:solidFill>
                <a:latin typeface="Consolas" panose="020B0609020204030204" pitchFamily="49" charset="0"/>
              </a:rPr>
              <a:t>个元素开始的所有元素*</a:t>
            </a:r>
            <a:r>
              <a:rPr lang="en-US" altLang="zh-CN" sz="2400" dirty="0">
                <a:solidFill>
                  <a:srgbClr val="003399"/>
                </a:solidFill>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t>
            </a:r>
          </a:p>
          <a:p>
            <a:pPr eaLnBrk="1" hangingPunct="1">
              <a:lnSpc>
                <a:spcPct val="90000"/>
              </a:lnSpc>
              <a:buFontTx/>
              <a:buNone/>
            </a:pPr>
            <a:r>
              <a:rPr lang="en-US" altLang="zh-CN" sz="2400" dirty="0">
                <a:latin typeface="Consolas" panose="020B0609020204030204" pitchFamily="49" charset="0"/>
              </a:rPr>
              <a:t>   return 0;</a:t>
            </a:r>
          </a:p>
          <a:p>
            <a:pPr eaLnBrk="1" hangingPunct="1">
              <a:lnSpc>
                <a:spcPct val="90000"/>
              </a:lnSpc>
              <a:buFontTx/>
              <a:buNone/>
            </a:pPr>
            <a:r>
              <a:rPr lang="en-US" altLang="zh-CN" sz="2400" dirty="0">
                <a:latin typeface="Consolas" panose="020B0609020204030204" pitchFamily="49" charset="0"/>
              </a:rPr>
              <a:t>} </a:t>
            </a:r>
            <a:endParaRPr lang="zh-CN" altLang="en-US" sz="2400" dirty="0">
              <a:latin typeface="Consolas" panose="020B0609020204030204" pitchFamily="49" charset="0"/>
            </a:endParaRPr>
          </a:p>
        </p:txBody>
      </p:sp>
      <p:sp>
        <p:nvSpPr>
          <p:cNvPr id="64515" name="Rectangle 2"/>
          <p:cNvSpPr>
            <a:spLocks noGrp="1" noChangeArrowheads="1"/>
          </p:cNvSpPr>
          <p:nvPr>
            <p:ph type="title"/>
          </p:nvPr>
        </p:nvSpPr>
        <p:spPr/>
        <p:txBody>
          <a:bodyPr/>
          <a:lstStyle/>
          <a:p>
            <a:pPr eaLnBrk="1" hangingPunct="1"/>
            <a:r>
              <a:rPr lang="zh-CN" altLang="en-US" b="1" dirty="0"/>
              <a:t>数组名形参的灵活处理：实参可缩小范围</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a:xfrm>
            <a:off x="685800" y="1319213"/>
            <a:ext cx="7772400" cy="957262"/>
          </a:xfrm>
        </p:spPr>
        <p:txBody>
          <a:bodyPr/>
          <a:lstStyle/>
          <a:p>
            <a:pPr eaLnBrk="1" hangingPunct="1"/>
            <a:r>
              <a:rPr lang="zh-CN" altLang="en-US" b="1" dirty="0"/>
              <a:t>设计一个递归函数</a:t>
            </a:r>
            <a:r>
              <a:rPr lang="en-US" altLang="zh-CN" b="1" dirty="0"/>
              <a:t>,</a:t>
            </a:r>
            <a:r>
              <a:rPr lang="zh-CN" altLang="en-US" b="1" dirty="0"/>
              <a:t>逆序打印整数数组</a:t>
            </a:r>
            <a:r>
              <a:rPr lang="en-US" altLang="zh-CN" b="1" dirty="0"/>
              <a:t>.</a:t>
            </a:r>
          </a:p>
        </p:txBody>
      </p:sp>
      <p:sp>
        <p:nvSpPr>
          <p:cNvPr id="67588" name="Rectangle 4"/>
          <p:cNvSpPr>
            <a:spLocks noGrp="1" noChangeArrowheads="1"/>
          </p:cNvSpPr>
          <p:nvPr>
            <p:ph type="title"/>
          </p:nvPr>
        </p:nvSpPr>
        <p:spPr>
          <a:noFill/>
        </p:spPr>
        <p:txBody>
          <a:bodyPr/>
          <a:lstStyle/>
          <a:p>
            <a:pPr eaLnBrk="1" hangingPunct="1"/>
            <a:r>
              <a:rPr lang="zh-CN" altLang="en-US" b="1" dirty="0"/>
              <a:t>逆序打印数组的递归算法</a:t>
            </a:r>
            <a:endParaRPr lang="en-US" altLang="zh-CN" b="1" dirty="0"/>
          </a:p>
        </p:txBody>
      </p:sp>
      <p:sp>
        <p:nvSpPr>
          <p:cNvPr id="67589" name="Text Box 5"/>
          <p:cNvSpPr txBox="1">
            <a:spLocks noChangeArrowheads="1"/>
          </p:cNvSpPr>
          <p:nvPr/>
        </p:nvSpPr>
        <p:spPr bwMode="auto">
          <a:xfrm>
            <a:off x="685800" y="2276475"/>
            <a:ext cx="7343775" cy="3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latin typeface="Consolas" panose="020B0609020204030204" pitchFamily="49" charset="0"/>
              </a:rPr>
              <a:t>//</a:t>
            </a:r>
            <a:r>
              <a:rPr lang="zh-CN" altLang="en-US" sz="2400" dirty="0">
                <a:latin typeface="Consolas" panose="020B0609020204030204" pitchFamily="49" charset="0"/>
              </a:rPr>
              <a:t>递归逆序打印数组元素</a:t>
            </a:r>
            <a:r>
              <a:rPr lang="en-US" altLang="zh-CN" sz="2400" dirty="0">
                <a:latin typeface="Consolas" panose="020B0609020204030204" pitchFamily="49" charset="0"/>
              </a:rPr>
              <a:t> </a:t>
            </a:r>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prtRevArrayRec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int a[], int n</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if (n&gt;0){</a:t>
            </a:r>
          </a:p>
          <a:p>
            <a:pPr eaLnBrk="1" hangingPunct="1">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prtRevArrayRec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&amp;a[1],n-1</a:t>
            </a:r>
            <a:r>
              <a:rPr lang="en-US" altLang="zh-CN" sz="2400" dirty="0">
                <a:latin typeface="Consolas" panose="020B0609020204030204" pitchFamily="49" charset="0"/>
              </a:rPr>
              <a:t>); </a:t>
            </a:r>
            <a:endParaRPr lang="en-US" altLang="zh-CN" sz="2400" dirty="0">
              <a:latin typeface="Consolas" panose="020B0609020204030204" pitchFamily="49" charset="0"/>
              <a:sym typeface="+mn-ea"/>
            </a:endParaRPr>
          </a:p>
          <a:p>
            <a:pPr eaLnBrk="1" hangingPunct="1">
              <a:buFontTx/>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("%d\</a:t>
            </a:r>
            <a:r>
              <a:rPr lang="en-US" altLang="zh-CN" sz="2400" dirty="0" err="1">
                <a:latin typeface="Consolas" panose="020B0609020204030204" pitchFamily="49" charset="0"/>
                <a:sym typeface="+mn-ea"/>
              </a:rPr>
              <a:t>t",a</a:t>
            </a:r>
            <a:r>
              <a:rPr lang="en-US" altLang="zh-CN" sz="2400" dirty="0">
                <a:latin typeface="Consolas" panose="020B0609020204030204" pitchFamily="49" charset="0"/>
                <a:sym typeface="+mn-ea"/>
              </a:rPr>
              <a:t>[0]);</a:t>
            </a:r>
          </a:p>
          <a:p>
            <a:pPr eaLnBrk="1" hangingPunct="1">
              <a:buFontTx/>
              <a:buNone/>
            </a:pPr>
            <a:r>
              <a:rPr lang="en-US" altLang="zh-CN" sz="2400" dirty="0">
                <a:latin typeface="Consolas" panose="020B0609020204030204" pitchFamily="49" charset="0"/>
                <a:sym typeface="+mn-ea"/>
              </a:rPr>
              <a:t>	}</a:t>
            </a:r>
          </a:p>
          <a:p>
            <a:pPr eaLnBrk="1" hangingPunct="1">
              <a:buFontTx/>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Tree>
    <p:extLst>
      <p:ext uri="{BB962C8B-B14F-4D97-AF65-F5344CB8AC3E}">
        <p14:creationId xmlns:p14="http://schemas.microsoft.com/office/powerpoint/2010/main" val="20989964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pPr eaLnBrk="1" hangingPunct="1"/>
            <a:r>
              <a:rPr lang="zh-CN" altLang="en-US" b="1" dirty="0"/>
              <a:t>数组元素求和的递归算法</a:t>
            </a:r>
            <a:endParaRPr lang="en-US" altLang="zh-CN" b="1" dirty="0"/>
          </a:p>
        </p:txBody>
      </p:sp>
      <p:sp>
        <p:nvSpPr>
          <p:cNvPr id="68612" name="Text Box 4"/>
          <p:cNvSpPr>
            <a:spLocks noGrp="1" noChangeArrowheads="1"/>
          </p:cNvSpPr>
          <p:nvPr>
            <p:ph type="body" idx="1"/>
          </p:nvPr>
        </p:nvSpPr>
        <p:spPr>
          <a:xfrm>
            <a:off x="395536" y="1841500"/>
            <a:ext cx="7772400" cy="4611687"/>
          </a:xfr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sumOfArrayRec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int a[],int n</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a:t>
            </a:r>
            <a:r>
              <a:rPr lang="en-US" altLang="zh-CN" sz="2400" dirty="0">
                <a:latin typeface="Consolas" panose="020B0609020204030204" pitchFamily="49" charset="0"/>
                <a:sym typeface="+mn-ea"/>
              </a:rPr>
              <a:t>  if (n == 0)</a:t>
            </a:r>
            <a:endParaRPr lang="en-US" altLang="zh-CN" sz="2400" dirty="0">
              <a:latin typeface="Consolas" panose="020B0609020204030204" pitchFamily="49" charset="0"/>
            </a:endParaRPr>
          </a:p>
          <a:p>
            <a:pPr eaLnBrk="1" hangingPunct="1">
              <a:buFontTx/>
              <a:buNone/>
            </a:pPr>
            <a:r>
              <a:rPr lang="en-US" altLang="zh-CN" sz="2400" dirty="0">
                <a:latin typeface="Consolas" panose="020B0609020204030204" pitchFamily="49" charset="0"/>
                <a:sym typeface="+mn-ea"/>
              </a:rPr>
              <a:t>        return 0;</a:t>
            </a:r>
            <a:endParaRPr lang="en-US" altLang="zh-CN" sz="2400" dirty="0">
              <a:latin typeface="Consolas" panose="020B0609020204030204" pitchFamily="49" charset="0"/>
            </a:endParaRPr>
          </a:p>
          <a:p>
            <a:pPr eaLnBrk="1" hangingPunct="1">
              <a:buFontTx/>
              <a:buNone/>
            </a:pPr>
            <a:r>
              <a:rPr lang="en-US" altLang="zh-CN" sz="2400" dirty="0">
                <a:latin typeface="Consolas" panose="020B0609020204030204" pitchFamily="49" charset="0"/>
                <a:sym typeface="+mn-ea"/>
              </a:rPr>
              <a:t>	 else if (n == 1)</a:t>
            </a:r>
            <a:endParaRPr lang="en-US" altLang="zh-CN" sz="2400" dirty="0">
              <a:latin typeface="Consolas" panose="020B0609020204030204" pitchFamily="49" charset="0"/>
            </a:endParaRPr>
          </a:p>
          <a:p>
            <a:pPr eaLnBrk="1" hangingPunct="1">
              <a:buFontTx/>
              <a:buNone/>
            </a:pPr>
            <a:r>
              <a:rPr lang="en-US" altLang="zh-CN" sz="2400" dirty="0">
                <a:latin typeface="Consolas" panose="020B0609020204030204" pitchFamily="49" charset="0"/>
                <a:sym typeface="+mn-ea"/>
              </a:rPr>
              <a:t>        return a[0];</a:t>
            </a:r>
            <a:endParaRPr lang="en-US" altLang="zh-CN" sz="2400" dirty="0">
              <a:latin typeface="Consolas" panose="020B0609020204030204" pitchFamily="49" charset="0"/>
            </a:endParaRPr>
          </a:p>
          <a:p>
            <a:pPr eaLnBrk="1" hangingPunct="1">
              <a:buFontTx/>
              <a:buNone/>
            </a:pPr>
            <a:r>
              <a:rPr lang="en-US" altLang="zh-CN" sz="2400" dirty="0">
                <a:latin typeface="Consolas" panose="020B0609020204030204" pitchFamily="49" charset="0"/>
              </a:rPr>
              <a:t>   else</a:t>
            </a:r>
          </a:p>
          <a:p>
            <a:pPr eaLnBrk="1" hangingPunct="1">
              <a:buFontTx/>
              <a:buNone/>
            </a:pPr>
            <a:r>
              <a:rPr lang="en-US" altLang="zh-CN" sz="2400" dirty="0">
                <a:latin typeface="Consolas" panose="020B0609020204030204" pitchFamily="49" charset="0"/>
              </a:rPr>
              <a:t>	   return a[0] + </a:t>
            </a:r>
            <a:r>
              <a:rPr lang="en-US" altLang="zh-CN" sz="2400" dirty="0" err="1">
                <a:latin typeface="Consolas" panose="020B0609020204030204" pitchFamily="49" charset="0"/>
              </a:rPr>
              <a:t>sumOfArrayRec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&amp;a[1],n-1</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	   //return a[n-1]+</a:t>
            </a:r>
            <a:r>
              <a:rPr lang="en-US" altLang="zh-CN" sz="2400" dirty="0" err="1">
                <a:latin typeface="Consolas" panose="020B0609020204030204" pitchFamily="49" charset="0"/>
              </a:rPr>
              <a:t>sumOfArrayRec</a:t>
            </a:r>
            <a:r>
              <a:rPr lang="en-US" altLang="zh-CN" sz="2400" dirty="0">
                <a:latin typeface="Consolas" panose="020B0609020204030204" pitchFamily="49" charset="0"/>
              </a:rPr>
              <a:t>(</a:t>
            </a:r>
            <a:r>
              <a:rPr lang="en-US" altLang="zh-CN" sz="2400" dirty="0" err="1">
                <a:latin typeface="Consolas" panose="020B0609020204030204" pitchFamily="49" charset="0"/>
              </a:rPr>
              <a:t>a,n</a:t>
            </a:r>
            <a:r>
              <a:rPr lang="en-US" altLang="zh-CN" sz="2400" dirty="0">
                <a:latin typeface="Consolas" panose="020B0609020204030204" pitchFamily="49" charset="0"/>
              </a:rPr>
              <a:t>-1);</a:t>
            </a:r>
          </a:p>
          <a:p>
            <a:pPr eaLnBrk="1" hangingPunct="1">
              <a:buFontTx/>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4" name="Rectangle 3">
            <a:extLst>
              <a:ext uri="{FF2B5EF4-FFF2-40B4-BE49-F238E27FC236}">
                <a16:creationId xmlns:a16="http://schemas.microsoft.com/office/drawing/2014/main" id="{82FD8947-190B-413D-88A3-8CB2B75BCCB8}"/>
              </a:ext>
            </a:extLst>
          </p:cNvPr>
          <p:cNvSpPr txBox="1">
            <a:spLocks noChangeArrowheads="1"/>
          </p:cNvSpPr>
          <p:nvPr/>
        </p:nvSpPr>
        <p:spPr bwMode="auto">
          <a:xfrm>
            <a:off x="395506" y="1268760"/>
            <a:ext cx="777240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eaLnBrk="1" hangingPunct="1">
              <a:lnSpc>
                <a:spcPct val="100000"/>
              </a:lnSpc>
            </a:pPr>
            <a:r>
              <a:rPr lang="zh-CN" altLang="en-US" b="1" kern="0" dirty="0"/>
              <a:t>设计一个递归函数</a:t>
            </a:r>
            <a:r>
              <a:rPr lang="en-US" altLang="zh-CN" b="1" kern="0" dirty="0"/>
              <a:t>,</a:t>
            </a:r>
            <a:r>
              <a:rPr lang="zh-CN" altLang="en-US" b="1" kern="0" dirty="0"/>
              <a:t>计算整数数组元素之和</a:t>
            </a:r>
            <a:r>
              <a:rPr lang="en-US" altLang="zh-CN" b="1" kern="0" dirty="0"/>
              <a:t>.</a:t>
            </a:r>
          </a:p>
        </p:txBody>
      </p:sp>
    </p:spTree>
    <p:extLst>
      <p:ext uri="{BB962C8B-B14F-4D97-AF65-F5344CB8AC3E}">
        <p14:creationId xmlns:p14="http://schemas.microsoft.com/office/powerpoint/2010/main" val="27594017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6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6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6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6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86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86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86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type="body" idx="1"/>
          </p:nvPr>
        </p:nvSpPr>
        <p:spPr>
          <a:xfrm>
            <a:off x="611560" y="1268760"/>
            <a:ext cx="7772400" cy="4611687"/>
          </a:xfrm>
        </p:spPr>
        <p:txBody>
          <a:bodyPr/>
          <a:lstStyle/>
          <a:p>
            <a:pPr eaLnBrk="1" hangingPunct="1">
              <a:lnSpc>
                <a:spcPct val="90000"/>
              </a:lnSpc>
              <a:buFontTx/>
              <a:buNone/>
            </a:pPr>
            <a:r>
              <a:rPr lang="en-US" altLang="zh-CN" sz="2400" dirty="0">
                <a:latin typeface="Consolas" panose="020B0609020204030204" pitchFamily="49" charset="0"/>
              </a:rPr>
              <a:t>#define SIZE 5</a:t>
            </a:r>
          </a:p>
          <a:p>
            <a:pPr eaLnBrk="1" hangingPunct="1">
              <a:lnSpc>
                <a:spcPct val="90000"/>
              </a:lnSpc>
              <a:buNone/>
            </a:pPr>
            <a:r>
              <a:rPr lang="en-US" altLang="zh-CN" sz="2400" dirty="0">
                <a:latin typeface="Consolas" panose="020B0609020204030204" pitchFamily="49" charset="0"/>
              </a:rPr>
              <a:t>void </a:t>
            </a:r>
            <a:r>
              <a:rPr lang="en-US" altLang="zh-CN" sz="2400" dirty="0" err="1">
                <a:latin typeface="Consolas" panose="020B0609020204030204" pitchFamily="49" charset="0"/>
              </a:rPr>
              <a:t>prtRevArrayRec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int a[], int n</a:t>
            </a:r>
            <a:r>
              <a:rPr lang="en-US" altLang="zh-CN" sz="2400" dirty="0">
                <a:latin typeface="Consolas" panose="020B0609020204030204" pitchFamily="49" charset="0"/>
              </a:rPr>
              <a:t>);</a:t>
            </a:r>
          </a:p>
          <a:p>
            <a:pPr eaLnBrk="1" hangingPunct="1">
              <a:lnSpc>
                <a:spcPct val="90000"/>
              </a:lnSpc>
              <a:buNone/>
            </a:pPr>
            <a:r>
              <a:rPr lang="en-US" altLang="zh-CN" sz="2400" dirty="0">
                <a:latin typeface="Consolas" panose="020B0609020204030204" pitchFamily="49" charset="0"/>
              </a:rPr>
              <a:t>int </a:t>
            </a:r>
            <a:r>
              <a:rPr lang="en-US" altLang="zh-CN" sz="2400" dirty="0" err="1">
                <a:latin typeface="Consolas" panose="020B0609020204030204" pitchFamily="49" charset="0"/>
              </a:rPr>
              <a:t>sumOfArrayRec</a:t>
            </a:r>
            <a:r>
              <a:rPr lang="en-US" altLang="zh-CN" sz="2400" dirty="0">
                <a:latin typeface="Consolas" panose="020B0609020204030204" pitchFamily="49" charset="0"/>
              </a:rPr>
              <a:t>(</a:t>
            </a:r>
            <a:r>
              <a:rPr lang="en-US" altLang="zh-CN" sz="2400" dirty="0">
                <a:solidFill>
                  <a:srgbClr val="FF0000"/>
                </a:solidFill>
                <a:latin typeface="Consolas" panose="020B0609020204030204" pitchFamily="49" charset="0"/>
              </a:rPr>
              <a:t>int a[],int n</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int 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a[SIZE]={1,2,3,4,5};</a:t>
            </a:r>
          </a:p>
          <a:p>
            <a:pPr eaLnBrk="1" hangingPunct="1">
              <a:lnSpc>
                <a:spcPct val="90000"/>
              </a:lnSpc>
              <a:buFontTx/>
              <a:buNone/>
            </a:pPr>
            <a:endParaRPr lang="en-US" altLang="zh-CN" sz="2400" dirty="0">
              <a:latin typeface="Consolas" panose="020B0609020204030204" pitchFamily="49" charset="0"/>
            </a:endParaRP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prtRevArrayRec</a:t>
            </a:r>
            <a:r>
              <a:rPr lang="en-US" altLang="zh-CN" sz="2400" dirty="0">
                <a:latin typeface="Consolas" panose="020B0609020204030204" pitchFamily="49" charset="0"/>
              </a:rPr>
              <a:t>(a, SIZE);   </a:t>
            </a: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("sum=%d\n",</a:t>
            </a:r>
            <a:r>
              <a:rPr lang="en-US" altLang="zh-CN" sz="2400" dirty="0" err="1">
                <a:latin typeface="Consolas" panose="020B0609020204030204" pitchFamily="49" charset="0"/>
              </a:rPr>
              <a:t>sumOfArrayRec</a:t>
            </a:r>
            <a:r>
              <a:rPr lang="en-US" altLang="zh-CN" sz="2400" dirty="0">
                <a:latin typeface="Consolas" panose="020B0609020204030204" pitchFamily="49" charset="0"/>
              </a:rPr>
              <a:t>(</a:t>
            </a:r>
            <a:r>
              <a:rPr lang="en-US" altLang="zh-CN" sz="2400" dirty="0" err="1">
                <a:latin typeface="Consolas" panose="020B0609020204030204" pitchFamily="49" charset="0"/>
              </a:rPr>
              <a:t>a,SIZE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return 0;</a:t>
            </a:r>
          </a:p>
          <a:p>
            <a:pPr eaLnBrk="1" hangingPunct="1">
              <a:lnSpc>
                <a:spcPct val="90000"/>
              </a:lnSpc>
              <a:buFontTx/>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2" name="标题 1">
            <a:extLst>
              <a:ext uri="{FF2B5EF4-FFF2-40B4-BE49-F238E27FC236}">
                <a16:creationId xmlns:a16="http://schemas.microsoft.com/office/drawing/2014/main" id="{2066C259-25A9-231E-2E76-F945B04405EA}"/>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98196002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r>
              <a:rPr lang="zh-CN" altLang="en-US" b="1" dirty="0"/>
              <a:t>数组的基本操作</a:t>
            </a:r>
            <a:r>
              <a:rPr lang="en-US" altLang="zh-CN" b="1" dirty="0"/>
              <a:t>3</a:t>
            </a:r>
            <a:r>
              <a:rPr lang="zh-CN" altLang="en-US" b="1" dirty="0"/>
              <a:t>－查找元素</a:t>
            </a:r>
          </a:p>
        </p:txBody>
      </p:sp>
      <p:sp>
        <p:nvSpPr>
          <p:cNvPr id="41881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zh-CN" altLang="en-US" b="1"/>
              <a:t>线性表的基本操作1</a:t>
            </a:r>
            <a:r>
              <a:rPr lang="en-US" altLang="zh-CN" b="1">
                <a:latin typeface="宋体" panose="02010600030101010101" pitchFamily="2" charset="-122"/>
              </a:rPr>
              <a:t>—</a:t>
            </a:r>
            <a:r>
              <a:rPr lang="zh-CN" altLang="en-US" b="1" i="1">
                <a:solidFill>
                  <a:srgbClr val="003399"/>
                </a:solidFill>
                <a:effectLst>
                  <a:outerShdw blurRad="38100" dist="38100" dir="2700000" algn="tl">
                    <a:srgbClr val="C0C0C0"/>
                  </a:outerShdw>
                </a:effectLst>
              </a:rPr>
              <a:t>查找数组元素</a:t>
            </a:r>
            <a:endParaRPr lang="zh-CN" altLang="en-US" sz="2400" b="1"/>
          </a:p>
          <a:p>
            <a:pPr eaLnBrk="1" hangingPunct="1">
              <a:lnSpc>
                <a:spcPct val="90000"/>
              </a:lnSpc>
              <a:buFont typeface="Wingdings" panose="05000000000000000000" pitchFamily="2" charset="2"/>
              <a:buNone/>
              <a:defRPr/>
            </a:pPr>
            <a:r>
              <a:rPr lang="zh-CN" altLang="en-US" sz="2400" b="1"/>
              <a:t>设计一个函数，查找某个元素在数组中的下标并返回。若存在多个符合条件的元素，则只返回第一个符合条件元素的下标。</a:t>
            </a:r>
          </a:p>
          <a:p>
            <a:pPr eaLnBrk="1" hangingPunct="1">
              <a:lnSpc>
                <a:spcPct val="90000"/>
              </a:lnSpc>
              <a:buFont typeface="Wingdings" panose="05000000000000000000" pitchFamily="2" charset="2"/>
              <a:buNone/>
              <a:defRPr/>
            </a:pPr>
            <a:r>
              <a:rPr lang="zh-CN" altLang="en-US" sz="2400" b="1"/>
              <a:t>函数设计考虑：</a:t>
            </a:r>
          </a:p>
          <a:p>
            <a:pPr eaLnBrk="1" hangingPunct="1">
              <a:lnSpc>
                <a:spcPct val="90000"/>
              </a:lnSpc>
              <a:buFont typeface="Wingdings" panose="05000000000000000000" pitchFamily="2" charset="2"/>
              <a:buNone/>
              <a:defRPr/>
            </a:pPr>
            <a:r>
              <a:rPr lang="zh-CN" altLang="en-US" sz="2400" b="1"/>
              <a:t>   </a:t>
            </a:r>
            <a:r>
              <a:rPr lang="zh-CN" altLang="en-US" sz="2400" b="1" i="1" u="sng">
                <a:solidFill>
                  <a:srgbClr val="003399"/>
                </a:solidFill>
                <a:effectLst>
                  <a:outerShdw blurRad="38100" dist="38100" dir="2700000" algn="tl">
                    <a:srgbClr val="C0C0C0"/>
                  </a:outerShdw>
                </a:effectLst>
              </a:rPr>
              <a:t>参数设计</a:t>
            </a:r>
            <a:r>
              <a:rPr lang="zh-CN" altLang="en-US" sz="2400" b="1">
                <a:solidFill>
                  <a:srgbClr val="003399"/>
                </a:solidFill>
                <a:effectLst>
                  <a:outerShdw blurRad="38100" dist="38100" dir="2700000" algn="tl">
                    <a:srgbClr val="C0C0C0"/>
                  </a:outerShdw>
                </a:effectLst>
              </a:rPr>
              <a:t>：</a:t>
            </a:r>
          </a:p>
          <a:p>
            <a:pPr lvl="1" eaLnBrk="1" hangingPunct="1">
              <a:lnSpc>
                <a:spcPct val="90000"/>
              </a:lnSpc>
              <a:buFont typeface="Wingdings" panose="05000000000000000000" pitchFamily="2" charset="2"/>
              <a:buChar char="Ø"/>
              <a:defRPr/>
            </a:pPr>
            <a:r>
              <a:rPr lang="zh-CN" altLang="en-US" sz="2400" b="1"/>
              <a:t>数组名为参数传入</a:t>
            </a:r>
          </a:p>
          <a:p>
            <a:pPr lvl="1" eaLnBrk="1" hangingPunct="1">
              <a:lnSpc>
                <a:spcPct val="90000"/>
              </a:lnSpc>
              <a:buFont typeface="Wingdings" panose="05000000000000000000" pitchFamily="2" charset="2"/>
              <a:buChar char="Ø"/>
              <a:defRPr/>
            </a:pPr>
            <a:r>
              <a:rPr lang="zh-CN" altLang="en-US" sz="2400" b="1"/>
              <a:t>数组的最大有效位置作为参数传入； </a:t>
            </a:r>
          </a:p>
          <a:p>
            <a:pPr lvl="1" eaLnBrk="1" hangingPunct="1">
              <a:lnSpc>
                <a:spcPct val="90000"/>
              </a:lnSpc>
              <a:buFont typeface="Wingdings" panose="05000000000000000000" pitchFamily="2" charset="2"/>
              <a:buChar char="Ø"/>
              <a:defRPr/>
            </a:pPr>
            <a:r>
              <a:rPr lang="zh-CN" altLang="en-US" sz="2400" b="1"/>
              <a:t>要查找的值作为参数传入；</a:t>
            </a:r>
          </a:p>
          <a:p>
            <a:pPr lvl="1" eaLnBrk="1" hangingPunct="1">
              <a:lnSpc>
                <a:spcPct val="90000"/>
              </a:lnSpc>
              <a:buFont typeface="Wingdings" panose="05000000000000000000" pitchFamily="2" charset="2"/>
              <a:buNone/>
              <a:defRPr/>
            </a:pPr>
            <a:r>
              <a:rPr lang="zh-CN" altLang="en-US" sz="2400" b="1" i="1" u="sng">
                <a:solidFill>
                  <a:srgbClr val="003399"/>
                </a:solidFill>
                <a:effectLst>
                  <a:outerShdw blurRad="38100" dist="38100" dir="2700000" algn="tl">
                    <a:srgbClr val="C0C0C0"/>
                  </a:outerShdw>
                </a:effectLst>
              </a:rPr>
              <a:t>返回结果</a:t>
            </a:r>
            <a:r>
              <a:rPr lang="zh-CN" altLang="en-US" sz="2400" b="1"/>
              <a:t>：若找到，则返回元素下标，否则返回</a:t>
            </a:r>
            <a:r>
              <a:rPr lang="en-US" altLang="zh-CN" sz="2400" b="1"/>
              <a:t>-1 </a:t>
            </a:r>
            <a:r>
              <a:rPr lang="zh-CN" altLang="en-US" sz="2400" b="1"/>
              <a:t>；</a:t>
            </a:r>
            <a:endParaRPr lang="en-US" altLang="zh-CN" sz="2400" b="1"/>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7544" y="1228497"/>
            <a:ext cx="6252210" cy="4052570"/>
          </a:xfrm>
          <a:prstGeom prst="rect">
            <a:avLst/>
          </a:prstGeom>
          <a:ln>
            <a:noFill/>
          </a:ln>
          <a:effectLst>
            <a:glow rad="101600">
              <a:schemeClr val="accent1">
                <a:satMod val="175000"/>
                <a:alpha val="40000"/>
              </a:schemeClr>
            </a:glow>
          </a:effectLst>
        </p:spPr>
        <p:txBody>
          <a:bodyPr/>
          <a:lstStyle/>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int </a:t>
            </a:r>
            <a:r>
              <a:rPr lang="en-US" altLang="zh-CN" b="0" dirty="0" err="1">
                <a:solidFill>
                  <a:schemeClr val="tx2"/>
                </a:solidFill>
                <a:latin typeface="Consolas" panose="020B0609020204030204" pitchFamily="49" charset="0"/>
                <a:ea typeface="Courier New" panose="02070309020205020404" pitchFamily="49" charset="0"/>
              </a:rPr>
              <a:t>findEle</a:t>
            </a:r>
            <a:r>
              <a:rPr lang="en-US" altLang="zh-CN" b="0" dirty="0">
                <a:solidFill>
                  <a:schemeClr val="tx2"/>
                </a:solidFill>
                <a:latin typeface="Consolas" panose="020B0609020204030204" pitchFamily="49" charset="0"/>
                <a:ea typeface="Courier New" panose="02070309020205020404" pitchFamily="49" charset="0"/>
              </a:rPr>
              <a:t>(int a[], int n, int x)</a:t>
            </a:r>
            <a:endParaRPr lang="en-US" altLang="zh-CN" b="0" dirty="0">
              <a:solidFill>
                <a:schemeClr val="tx2"/>
              </a:solidFill>
              <a:latin typeface="Consolas" panose="020B0609020204030204" pitchFamily="49" charset="0"/>
              <a:ea typeface="Times New Roman" panose="02020603050405020304" pitchFamily="18" charset="0"/>
            </a:endParaRP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a:t>
            </a: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 int i;</a:t>
            </a:r>
            <a:endParaRPr lang="en-US" altLang="zh-CN" b="0" dirty="0">
              <a:solidFill>
                <a:schemeClr val="tx2"/>
              </a:solidFill>
              <a:latin typeface="Consolas" panose="020B0609020204030204" pitchFamily="49" charset="0"/>
              <a:ea typeface="Times New Roman" panose="02020603050405020304" pitchFamily="18" charset="0"/>
            </a:endParaRP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 for</a:t>
            </a:r>
            <a:r>
              <a:rPr lang="en-US" altLang="zh-CN" b="0" dirty="0">
                <a:solidFill>
                  <a:srgbClr val="0000FF"/>
                </a:solidFill>
                <a:latin typeface="Consolas" panose="020B0609020204030204" pitchFamily="49" charset="0"/>
                <a:ea typeface="Courier New" panose="02070309020205020404" pitchFamily="49" charset="0"/>
              </a:rPr>
              <a:t> </a:t>
            </a:r>
            <a:r>
              <a:rPr lang="en-US" altLang="zh-CN" b="0" dirty="0">
                <a:solidFill>
                  <a:schemeClr val="tx2"/>
                </a:solidFill>
                <a:latin typeface="Consolas" panose="020B0609020204030204" pitchFamily="49" charset="0"/>
                <a:ea typeface="Courier New" panose="02070309020205020404" pitchFamily="49" charset="0"/>
              </a:rPr>
              <a:t>(i=0; </a:t>
            </a:r>
            <a:r>
              <a:rPr lang="en-US" altLang="zh-CN" b="0" dirty="0" err="1">
                <a:solidFill>
                  <a:schemeClr val="tx2"/>
                </a:solidFill>
                <a:latin typeface="Consolas" panose="020B0609020204030204" pitchFamily="49" charset="0"/>
                <a:ea typeface="Courier New" panose="02070309020205020404" pitchFamily="49" charset="0"/>
              </a:rPr>
              <a:t>i</a:t>
            </a:r>
            <a:r>
              <a:rPr lang="en-US" altLang="zh-CN" b="0" dirty="0">
                <a:solidFill>
                  <a:schemeClr val="tx2"/>
                </a:solidFill>
                <a:latin typeface="Consolas" panose="020B0609020204030204" pitchFamily="49" charset="0"/>
                <a:ea typeface="Courier New" panose="02070309020205020404" pitchFamily="49" charset="0"/>
              </a:rPr>
              <a:t>&lt;n  &amp;&amp;  a[i] != x; i++) </a:t>
            </a: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         ;</a:t>
            </a:r>
            <a:endParaRPr lang="en-US" altLang="zh-CN" b="0" dirty="0">
              <a:solidFill>
                <a:schemeClr val="tx2"/>
              </a:solidFill>
              <a:latin typeface="Consolas" panose="020B0609020204030204" pitchFamily="49" charset="0"/>
              <a:ea typeface="Times New Roman" panose="02020603050405020304" pitchFamily="18" charset="0"/>
            </a:endParaRPr>
          </a:p>
          <a:p>
            <a:pPr marL="342900" lvl="0" indent="-342900">
              <a:spcBef>
                <a:spcPct val="20000"/>
              </a:spcBef>
              <a:buFont typeface="Wingdings" panose="05000000000000000000" pitchFamily="2" charset="2"/>
              <a:buNone/>
            </a:pPr>
            <a:r>
              <a:rPr lang="en-US" altLang="zh-CN" b="0" dirty="0">
                <a:solidFill>
                  <a:srgbClr val="0000FF"/>
                </a:solidFill>
                <a:latin typeface="Consolas" panose="020B0609020204030204" pitchFamily="49" charset="0"/>
                <a:ea typeface="Courier New" panose="02070309020205020404" pitchFamily="49" charset="0"/>
              </a:rPr>
              <a:t> if </a:t>
            </a:r>
            <a:r>
              <a:rPr lang="en-US" altLang="zh-CN" b="0" dirty="0">
                <a:solidFill>
                  <a:schemeClr val="tx2"/>
                </a:solidFill>
                <a:latin typeface="Consolas" panose="020B0609020204030204" pitchFamily="49" charset="0"/>
                <a:ea typeface="Courier New" panose="02070309020205020404" pitchFamily="49" charset="0"/>
              </a:rPr>
              <a:t>(</a:t>
            </a:r>
            <a:r>
              <a:rPr lang="en-US" altLang="zh-CN" b="0" dirty="0" err="1">
                <a:solidFill>
                  <a:schemeClr val="tx2"/>
                </a:solidFill>
                <a:latin typeface="Consolas" panose="020B0609020204030204" pitchFamily="49" charset="0"/>
                <a:ea typeface="Courier New" panose="02070309020205020404" pitchFamily="49" charset="0"/>
              </a:rPr>
              <a:t>i</a:t>
            </a:r>
            <a:r>
              <a:rPr lang="en-US" altLang="zh-CN" b="0" dirty="0">
                <a:solidFill>
                  <a:schemeClr val="tx2"/>
                </a:solidFill>
                <a:latin typeface="Consolas" panose="020B0609020204030204" pitchFamily="49" charset="0"/>
                <a:ea typeface="Courier New" panose="02070309020205020404" pitchFamily="49" charset="0"/>
              </a:rPr>
              <a:t> &gt;=n)     </a:t>
            </a: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         return -1;     //</a:t>
            </a:r>
            <a:r>
              <a:rPr lang="zh-CN" altLang="en-US" b="0" dirty="0">
                <a:solidFill>
                  <a:schemeClr val="tx2"/>
                </a:solidFill>
                <a:latin typeface="Consolas" panose="020B0609020204030204" pitchFamily="49" charset="0"/>
                <a:ea typeface="Courier New" panose="02070309020205020404" pitchFamily="49" charset="0"/>
              </a:rPr>
              <a:t>查找失败</a:t>
            </a:r>
            <a:endParaRPr lang="en-US" altLang="zh-CN" b="0" dirty="0">
              <a:solidFill>
                <a:schemeClr val="tx2"/>
              </a:solidFill>
              <a:latin typeface="Consolas" panose="020B0609020204030204" pitchFamily="49" charset="0"/>
              <a:ea typeface="Times New Roman" panose="02020603050405020304" pitchFamily="18" charset="0"/>
            </a:endParaRP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ea typeface="Courier New" panose="02070309020205020404" pitchFamily="49" charset="0"/>
              </a:rPr>
              <a:t> </a:t>
            </a:r>
            <a:r>
              <a:rPr lang="en-US" altLang="zh-CN" b="0" dirty="0">
                <a:solidFill>
                  <a:srgbClr val="0000FF"/>
                </a:solidFill>
                <a:latin typeface="Consolas" panose="020B0609020204030204" pitchFamily="49" charset="0"/>
                <a:ea typeface="Courier New" panose="02070309020205020404" pitchFamily="49" charset="0"/>
              </a:rPr>
              <a:t>else   </a:t>
            </a:r>
            <a:r>
              <a:rPr lang="en-US" altLang="zh-CN" b="0" dirty="0">
                <a:solidFill>
                  <a:schemeClr val="tx2"/>
                </a:solidFill>
                <a:latin typeface="Consolas" panose="020B0609020204030204" pitchFamily="49" charset="0"/>
                <a:ea typeface="Courier New" panose="02070309020205020404" pitchFamily="49" charset="0"/>
              </a:rPr>
              <a:t> return  i ;    //</a:t>
            </a:r>
            <a:r>
              <a:rPr lang="zh-CN" altLang="en-US" b="0" dirty="0">
                <a:solidFill>
                  <a:schemeClr val="tx2"/>
                </a:solidFill>
                <a:latin typeface="Consolas" panose="020B0609020204030204" pitchFamily="49" charset="0"/>
                <a:ea typeface="Courier New" panose="02070309020205020404" pitchFamily="49" charset="0"/>
              </a:rPr>
              <a:t>返回存储位置</a:t>
            </a:r>
            <a:r>
              <a:rPr lang="en-US" altLang="zh-CN" b="0" dirty="0">
                <a:solidFill>
                  <a:schemeClr val="tx2"/>
                </a:solidFill>
                <a:latin typeface="Consolas" panose="020B0609020204030204" pitchFamily="49" charset="0"/>
                <a:ea typeface="Courier New" panose="02070309020205020404" pitchFamily="49" charset="0"/>
              </a:rPr>
              <a:t>        </a:t>
            </a:r>
            <a:endParaRPr lang="en-US" altLang="zh-CN" b="0" dirty="0">
              <a:solidFill>
                <a:schemeClr val="tx2"/>
              </a:solidFill>
              <a:latin typeface="Consolas" panose="020B0609020204030204" pitchFamily="49" charset="0"/>
              <a:ea typeface="Times New Roman" panose="02020603050405020304" pitchFamily="18" charset="0"/>
            </a:endParaRPr>
          </a:p>
          <a:p>
            <a:pPr marL="342900" lvl="0" indent="-342900">
              <a:spcBef>
                <a:spcPct val="20000"/>
              </a:spcBef>
              <a:buFont typeface="Wingdings" panose="05000000000000000000" pitchFamily="2" charset="2"/>
              <a:buNone/>
            </a:pPr>
            <a:r>
              <a:rPr lang="en-US" altLang="zh-CN" b="0" dirty="0">
                <a:solidFill>
                  <a:schemeClr val="tx2"/>
                </a:solidFill>
                <a:latin typeface="Consolas" panose="020B0609020204030204" pitchFamily="49" charset="0"/>
              </a:rPr>
              <a:t>}</a:t>
            </a:r>
            <a:r>
              <a:rPr lang="en-US" altLang="zh-CN" b="0" dirty="0">
                <a:solidFill>
                  <a:schemeClr val="tx2"/>
                </a:solidFill>
                <a:latin typeface="Consolas" panose="020B0609020204030204" pitchFamily="49" charset="0"/>
                <a:ea typeface="Courier New" panose="02070309020205020404" pitchFamily="49" charset="0"/>
              </a:rPr>
              <a:t> </a:t>
            </a:r>
          </a:p>
        </p:txBody>
      </p:sp>
      <p:sp>
        <p:nvSpPr>
          <p:cNvPr id="17414" name="矩形 3"/>
          <p:cNvSpPr/>
          <p:nvPr/>
        </p:nvSpPr>
        <p:spPr>
          <a:xfrm>
            <a:off x="4932040" y="498158"/>
            <a:ext cx="3805243" cy="48013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0">
                <a:solidFill>
                  <a:schemeClr val="tx1"/>
                </a:solidFill>
                <a:latin typeface="+mn-lt"/>
                <a:ea typeface="+mn-ea"/>
              </a:defRPr>
            </a:lvl2pPr>
            <a:lvl3pPr marL="1143000" indent="-228600" algn="l" rtl="0" eaLnBrk="0" fontAlgn="base" hangingPunct="0">
              <a:spcBef>
                <a:spcPct val="20000"/>
              </a:spcBef>
              <a:spcAft>
                <a:spcPct val="0"/>
              </a:spcAft>
              <a:buChar char="•"/>
              <a:defRPr kumimoji="1" sz="2400" b="0">
                <a:solidFill>
                  <a:schemeClr val="tx1"/>
                </a:solidFill>
                <a:latin typeface="+mn-lt"/>
                <a:ea typeface="+mn-ea"/>
              </a:defRPr>
            </a:lvl3pPr>
            <a:lvl4pPr marL="1600200" indent="-228600" algn="l" rtl="0" eaLnBrk="0" fontAlgn="base" hangingPunct="0">
              <a:spcBef>
                <a:spcPct val="20000"/>
              </a:spcBef>
              <a:spcAft>
                <a:spcPct val="0"/>
              </a:spcAft>
              <a:buChar char="–"/>
              <a:defRPr kumimoji="1" sz="2000" b="0">
                <a:solidFill>
                  <a:schemeClr val="tx1"/>
                </a:solidFill>
                <a:latin typeface="+mn-lt"/>
                <a:ea typeface="+mn-ea"/>
              </a:defRPr>
            </a:lvl4pPr>
            <a:lvl5pPr marL="2057400" indent="-228600" algn="l" rtl="0" eaLnBrk="0" fontAlgn="base" hangingPunct="0">
              <a:spcBef>
                <a:spcPct val="20000"/>
              </a:spcBef>
              <a:spcAft>
                <a:spcPct val="0"/>
              </a:spcAft>
              <a:buChar char="»"/>
              <a:defRPr kumimoji="1" sz="2000" b="0">
                <a:solidFill>
                  <a:schemeClr val="tx1"/>
                </a:solidFill>
                <a:latin typeface="+mn-lt"/>
                <a:ea typeface="+mn-ea"/>
              </a:defRPr>
            </a:lvl5pPr>
          </a:lstStyle>
          <a:p>
            <a:pPr marL="0" lvl="0" indent="0" eaLnBrk="1" hangingPunct="1">
              <a:spcBef>
                <a:spcPct val="50000"/>
              </a:spcBef>
              <a:buNone/>
            </a:pPr>
            <a:r>
              <a:rPr lang="zh-CN" altLang="en-US" sz="2800" b="1" dirty="0">
                <a:solidFill>
                  <a:srgbClr val="FF0000"/>
                </a:solidFill>
                <a:latin typeface="宋体" panose="02010600030101010101" pitchFamily="2" charset="-122"/>
                <a:ea typeface="宋体" panose="02010600030101010101" pitchFamily="2" charset="-122"/>
              </a:rPr>
              <a:t>按值查找数组元素位置</a:t>
            </a:r>
          </a:p>
        </p:txBody>
      </p:sp>
      <p:graphicFrame>
        <p:nvGraphicFramePr>
          <p:cNvPr id="17415" name="表格 17414"/>
          <p:cNvGraphicFramePr/>
          <p:nvPr/>
        </p:nvGraphicFramePr>
        <p:xfrm>
          <a:off x="6948488" y="1412875"/>
          <a:ext cx="1905000" cy="3835400"/>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57200">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标号</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数据域</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0</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a1= 10</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1</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a2= 12</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2</a:t>
                      </a:r>
                      <a:endParaRPr lang="en-US" altLang="zh-CN" sz="2000" b="0" dirty="0">
                        <a:solidFill>
                          <a:srgbClr val="000000"/>
                        </a:solidFill>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a3= 25</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3862">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3</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a4= 8</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4</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a5= 16</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3862">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5</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a6= 20</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solidFill>
                          <a:srgbClr val="000000"/>
                        </a:solidFill>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solidFill>
                          <a:srgbClr val="000000"/>
                        </a:solidFill>
                        <a:latin typeface="Times New Roman" panose="02020603050405020304" pitchFamily="18" charset="0"/>
                        <a:ea typeface="楷体_GB2312" pitchFamily="49" charset="-122"/>
                      </a:endParaRP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latin typeface="Times New Roman" panose="02020603050405020304" pitchFamily="18" charset="0"/>
                        <a:ea typeface="楷体_GB2312" pitchFamily="49" charset="-122"/>
                      </a:endParaRP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322565" name="Group 5"/>
          <p:cNvGrpSpPr/>
          <p:nvPr/>
        </p:nvGrpSpPr>
        <p:grpSpPr bwMode="auto">
          <a:xfrm>
            <a:off x="755576" y="4725144"/>
            <a:ext cx="3600450" cy="1728787"/>
            <a:chOff x="2064" y="2931"/>
            <a:chExt cx="2268" cy="1089"/>
          </a:xfrm>
        </p:grpSpPr>
        <p:sp>
          <p:nvSpPr>
            <p:cNvPr id="74758" name="Rectangle 6"/>
            <p:cNvSpPr>
              <a:spLocks noChangeArrowheads="1"/>
            </p:cNvSpPr>
            <p:nvPr/>
          </p:nvSpPr>
          <p:spPr bwMode="auto">
            <a:xfrm>
              <a:off x="2064" y="3249"/>
              <a:ext cx="2268" cy="771"/>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p>
          </p:txBody>
        </p:sp>
        <p:sp>
          <p:nvSpPr>
            <p:cNvPr id="74759" name="Rectangle 7"/>
            <p:cNvSpPr>
              <a:spLocks noChangeArrowheads="1"/>
            </p:cNvSpPr>
            <p:nvPr/>
          </p:nvSpPr>
          <p:spPr bwMode="auto">
            <a:xfrm>
              <a:off x="2563" y="3702"/>
              <a:ext cx="1769" cy="318"/>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p>
          </p:txBody>
        </p:sp>
        <p:sp>
          <p:nvSpPr>
            <p:cNvPr id="74760" name="Text Box 8"/>
            <p:cNvSpPr txBox="1">
              <a:spLocks noChangeArrowheads="1"/>
            </p:cNvSpPr>
            <p:nvPr/>
          </p:nvSpPr>
          <p:spPr bwMode="auto">
            <a:xfrm>
              <a:off x="2110" y="3385"/>
              <a:ext cx="2177" cy="231"/>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i</a:t>
              </a:r>
              <a:r>
                <a:rPr lang="zh-CN" altLang="en-US" sz="2000" b="1"/>
                <a:t>未越界且</a:t>
              </a:r>
              <a:r>
                <a:rPr lang="en-US" altLang="zh-CN" sz="2000" b="1"/>
                <a:t>a[i]</a:t>
              </a:r>
              <a:r>
                <a:rPr lang="zh-CN" altLang="en-US" sz="2000" b="1"/>
                <a:t>不符合查找要求</a:t>
              </a:r>
            </a:p>
          </p:txBody>
        </p:sp>
        <p:sp>
          <p:nvSpPr>
            <p:cNvPr id="74761" name="Text Box 9"/>
            <p:cNvSpPr txBox="1">
              <a:spLocks noChangeArrowheads="1"/>
            </p:cNvSpPr>
            <p:nvPr/>
          </p:nvSpPr>
          <p:spPr bwMode="auto">
            <a:xfrm>
              <a:off x="2745" y="3755"/>
              <a:ext cx="771" cy="26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i++</a:t>
              </a:r>
            </a:p>
          </p:txBody>
        </p:sp>
        <p:sp>
          <p:nvSpPr>
            <p:cNvPr id="74762" name="Rectangle 10"/>
            <p:cNvSpPr>
              <a:spLocks noChangeArrowheads="1"/>
            </p:cNvSpPr>
            <p:nvPr/>
          </p:nvSpPr>
          <p:spPr bwMode="auto">
            <a:xfrm>
              <a:off x="2064" y="2931"/>
              <a:ext cx="2268" cy="318"/>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p>
          </p:txBody>
        </p:sp>
        <p:sp>
          <p:nvSpPr>
            <p:cNvPr id="74763" name="Text Box 11"/>
            <p:cNvSpPr txBox="1">
              <a:spLocks noChangeArrowheads="1"/>
            </p:cNvSpPr>
            <p:nvPr/>
          </p:nvSpPr>
          <p:spPr bwMode="auto">
            <a:xfrm>
              <a:off x="2246" y="2938"/>
              <a:ext cx="1314" cy="26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i = </a:t>
              </a:r>
              <a:r>
                <a:rPr lang="zh-CN" altLang="en-US" sz="2000" b="1"/>
                <a:t>下标初始值</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22565"/>
                                        </p:tgtEl>
                                        <p:attrNameLst>
                                          <p:attrName>style.visibility</p:attrName>
                                        </p:attrNameLst>
                                      </p:cBhvr>
                                      <p:to>
                                        <p:strVal val="visible"/>
                                      </p:to>
                                    </p:set>
                                    <p:animEffect transition="in" filter="barn(inHorizontal)">
                                      <p:cBhvr>
                                        <p:cTn id="7" dur="500"/>
                                        <p:tgtEl>
                                          <p:spTgt spid="322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C9D36-4B14-769D-6340-D298EB93DB1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E0B7DAC-E735-299E-3F27-0F20B8B29AF6}"/>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5</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findEle</a:t>
            </a:r>
            <a:r>
              <a:rPr lang="en-US" altLang="zh-CN" sz="2000" dirty="0">
                <a:latin typeface="Consolas" panose="020B0609020204030204" pitchFamily="49" charset="0"/>
              </a:rPr>
              <a:t>(int a[], int n, int x);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int a[SIZE]={1,2,3,4,5};</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loc=</a:t>
            </a:r>
            <a:r>
              <a:rPr lang="en-US" altLang="zh-CN" sz="2000" dirty="0" err="1">
                <a:latin typeface="Consolas" panose="020B0609020204030204" pitchFamily="49" charset="0"/>
              </a:rPr>
              <a:t>findEle</a:t>
            </a:r>
            <a:r>
              <a:rPr lang="en-US" altLang="zh-CN" sz="2000" dirty="0">
                <a:latin typeface="Consolas" panose="020B0609020204030204" pitchFamily="49" charset="0"/>
              </a:rPr>
              <a:t>(</a:t>
            </a:r>
            <a:r>
              <a:rPr lang="en-US" altLang="zh-CN" sz="2000" dirty="0" err="1">
                <a:latin typeface="Consolas" panose="020B0609020204030204" pitchFamily="49" charset="0"/>
              </a:rPr>
              <a:t>a,SIZE,x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("%d loc=%d\n",</a:t>
            </a:r>
            <a:r>
              <a:rPr lang="en-US" altLang="zh-CN" sz="2000" dirty="0" err="1">
                <a:latin typeface="Consolas" panose="020B0609020204030204" pitchFamily="49" charset="0"/>
              </a:rPr>
              <a:t>x,loc</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28425852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3"/>
          <p:cNvSpPr>
            <a:spLocks noChangeArrowheads="1"/>
          </p:cNvSpPr>
          <p:nvPr/>
        </p:nvSpPr>
        <p:spPr bwMode="auto">
          <a:xfrm>
            <a:off x="611188" y="1341438"/>
            <a:ext cx="81534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buFont typeface="Wingdings" panose="05000000000000000000" pitchFamily="2" charset="2"/>
              <a:buChar char="Ø"/>
              <a:defRPr/>
            </a:pPr>
            <a:r>
              <a:rPr lang="zh-CN" altLang="en-US" sz="2800" b="1" dirty="0"/>
              <a:t>线性表的基本操作</a:t>
            </a:r>
            <a:r>
              <a:rPr lang="en-US" altLang="zh-CN" sz="2800" b="1" dirty="0"/>
              <a:t>3</a:t>
            </a:r>
            <a:r>
              <a:rPr lang="en-US" altLang="zh-CN" sz="2800" b="1" dirty="0">
                <a:latin typeface="宋体" panose="02010600030101010101" pitchFamily="2" charset="-122"/>
              </a:rPr>
              <a:t>—</a:t>
            </a:r>
            <a:r>
              <a:rPr lang="zh-CN" altLang="en-US" sz="2800" b="1" i="1" dirty="0">
                <a:solidFill>
                  <a:srgbClr val="003399"/>
                </a:solidFill>
                <a:effectLst>
                  <a:outerShdw blurRad="38100" dist="38100" dir="2700000" algn="tl">
                    <a:srgbClr val="C0C0C0"/>
                  </a:outerShdw>
                </a:effectLst>
              </a:rPr>
              <a:t>删除表中元素的函数</a:t>
            </a:r>
          </a:p>
          <a:p>
            <a:pPr marL="342900" indent="-342900">
              <a:buFont typeface="Wingdings" panose="05000000000000000000" pitchFamily="2" charset="2"/>
              <a:buNone/>
              <a:defRPr/>
            </a:pPr>
            <a:r>
              <a:rPr lang="zh-CN" altLang="en-US" sz="2800" b="1" dirty="0"/>
              <a:t>函数设计考虑：</a:t>
            </a:r>
          </a:p>
          <a:p>
            <a:pPr marL="342900" indent="-342900">
              <a:buFont typeface="Wingdings" panose="05000000000000000000" pitchFamily="2" charset="2"/>
              <a:buNone/>
              <a:defRPr/>
            </a:pPr>
            <a:r>
              <a:rPr lang="zh-CN" altLang="en-US" sz="2800" b="1" dirty="0"/>
              <a:t>   </a:t>
            </a:r>
            <a:r>
              <a:rPr lang="zh-CN" altLang="en-US" sz="2800" b="1" i="1" u="sng" dirty="0">
                <a:solidFill>
                  <a:srgbClr val="003399"/>
                </a:solidFill>
              </a:rPr>
              <a:t>参数设计</a:t>
            </a:r>
            <a:r>
              <a:rPr lang="zh-CN" altLang="en-US" sz="2800" b="1" dirty="0"/>
              <a:t>：</a:t>
            </a:r>
          </a:p>
          <a:p>
            <a:pPr marL="742950" lvl="1" indent="-285750">
              <a:buFont typeface="Wingdings" panose="05000000000000000000" pitchFamily="2" charset="2"/>
              <a:buChar char="Ø"/>
              <a:defRPr/>
            </a:pPr>
            <a:r>
              <a:rPr lang="zh-CN" altLang="en-US" sz="2800" b="1" dirty="0"/>
              <a:t>数组名、数组最尾元素下标作为参数传入；</a:t>
            </a:r>
          </a:p>
          <a:p>
            <a:pPr marL="742950" lvl="1" indent="-285750">
              <a:buFont typeface="Wingdings" panose="05000000000000000000" pitchFamily="2" charset="2"/>
              <a:buChar char="Ø"/>
              <a:defRPr/>
            </a:pPr>
            <a:r>
              <a:rPr lang="zh-CN" altLang="en-US" sz="2800" b="1" dirty="0"/>
              <a:t>删除元素的下标作为参数传入；</a:t>
            </a:r>
          </a:p>
          <a:p>
            <a:pPr marL="342900" indent="-342900">
              <a:buFont typeface="Wingdings" panose="05000000000000000000" pitchFamily="2" charset="2"/>
              <a:buNone/>
              <a:defRPr/>
            </a:pPr>
            <a:r>
              <a:rPr lang="zh-CN" altLang="en-US" sz="2800" b="1" dirty="0"/>
              <a:t>  </a:t>
            </a:r>
            <a:r>
              <a:rPr lang="zh-CN" altLang="en-US" sz="2800" b="1" i="1" u="sng" dirty="0">
                <a:solidFill>
                  <a:srgbClr val="003399"/>
                </a:solidFill>
              </a:rPr>
              <a:t>返回结果</a:t>
            </a:r>
            <a:r>
              <a:rPr lang="zh-CN" altLang="en-US" sz="2800" b="1" dirty="0"/>
              <a:t>：最尾元素下标</a:t>
            </a:r>
            <a:r>
              <a:rPr lang="en-US" altLang="zh-CN" sz="2800" b="1" dirty="0"/>
              <a:t>; </a:t>
            </a:r>
            <a:r>
              <a:rPr lang="zh-CN" altLang="en-US" sz="2800" b="1" dirty="0"/>
              <a:t>或参数越界提示</a:t>
            </a:r>
          </a:p>
          <a:p>
            <a:pPr marL="342900" indent="-342900">
              <a:buFont typeface="Wingdings" panose="05000000000000000000" pitchFamily="2" charset="2"/>
              <a:buNone/>
              <a:defRPr/>
            </a:pPr>
            <a:r>
              <a:rPr lang="zh-CN" altLang="en-US" sz="2800" b="1" dirty="0"/>
              <a:t>  </a:t>
            </a:r>
            <a:r>
              <a:rPr lang="zh-CN" altLang="en-US" sz="2800" b="1" i="1" u="sng" dirty="0">
                <a:solidFill>
                  <a:srgbClr val="003399"/>
                </a:solidFill>
              </a:rPr>
              <a:t>功能设计</a:t>
            </a:r>
            <a:r>
              <a:rPr lang="zh-CN" altLang="en-US" sz="2800" b="1" dirty="0"/>
              <a:t>：删除数组中指定下标，需要移动数组的元素，将待删元素后面的元素依次往前移一个位置。</a:t>
            </a:r>
          </a:p>
          <a:p>
            <a:pPr marL="1143000" lvl="2" indent="-228600">
              <a:buSzPct val="65000"/>
              <a:buFont typeface="Wingdings" panose="05000000000000000000" pitchFamily="2" charset="2"/>
              <a:buNone/>
              <a:defRPr/>
            </a:pPr>
            <a:endParaRPr lang="zh-CN" altLang="en-US" sz="2800" b="1" dirty="0"/>
          </a:p>
        </p:txBody>
      </p:sp>
      <p:sp>
        <p:nvSpPr>
          <p:cNvPr id="82948" name="Rectangle 4"/>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dirty="0">
                <a:solidFill>
                  <a:srgbClr val="FF3300"/>
                </a:solidFill>
              </a:rPr>
              <a:t>6.5 </a:t>
            </a:r>
            <a:r>
              <a:rPr lang="zh-CN" altLang="en-US" sz="3200" b="1" dirty="0">
                <a:solidFill>
                  <a:srgbClr val="FF3300"/>
                </a:solidFill>
              </a:rPr>
              <a:t>数组的应用－删除元素</a:t>
            </a:r>
          </a:p>
        </p:txBody>
      </p:sp>
      <p:graphicFrame>
        <p:nvGraphicFramePr>
          <p:cNvPr id="4" name="对象 3">
            <a:extLst>
              <a:ext uri="{FF2B5EF4-FFF2-40B4-BE49-F238E27FC236}">
                <a16:creationId xmlns:a16="http://schemas.microsoft.com/office/drawing/2014/main" id="{C1428039-3D30-4217-AE1A-CC0913C5ACE0}"/>
              </a:ext>
            </a:extLst>
          </p:cNvPr>
          <p:cNvGraphicFramePr/>
          <p:nvPr>
            <p:extLst>
              <p:ext uri="{D42A27DB-BD31-4B8C-83A1-F6EECF244321}">
                <p14:modId xmlns:p14="http://schemas.microsoft.com/office/powerpoint/2010/main" val="154993059"/>
              </p:ext>
            </p:extLst>
          </p:nvPr>
        </p:nvGraphicFramePr>
        <p:xfrm>
          <a:off x="2456158" y="4970463"/>
          <a:ext cx="6291580" cy="1708150"/>
        </p:xfrm>
        <a:graphic>
          <a:graphicData uri="http://schemas.openxmlformats.org/presentationml/2006/ole">
            <mc:AlternateContent xmlns:mc="http://schemas.openxmlformats.org/markup-compatibility/2006">
              <mc:Choice xmlns:v="urn:schemas-microsoft-com:vml" Requires="v">
                <p:oleObj r:id="rId2" imgW="6286500" imgH="1706880" progId="Paint.Picture">
                  <p:embed/>
                </p:oleObj>
              </mc:Choice>
              <mc:Fallback>
                <p:oleObj r:id="rId2" imgW="6286500" imgH="1706880" progId="Paint.Picture">
                  <p:embed/>
                  <p:pic>
                    <p:nvPicPr>
                      <p:cNvPr id="3" name="对象 2"/>
                      <p:cNvPicPr/>
                      <p:nvPr/>
                    </p:nvPicPr>
                    <p:blipFill>
                      <a:blip r:embed="rId3"/>
                      <a:stretch>
                        <a:fillRect/>
                      </a:stretch>
                    </p:blipFill>
                    <p:spPr>
                      <a:xfrm>
                        <a:off x="2456158" y="4970463"/>
                        <a:ext cx="6291580" cy="1708150"/>
                      </a:xfrm>
                      <a:prstGeom prst="rect">
                        <a:avLst/>
                      </a:prstGeom>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179512" y="1268760"/>
            <a:ext cx="6624955" cy="4947627"/>
          </a:xfrm>
          <a:prstGeom prst="rect">
            <a:avLst/>
          </a:prstGeom>
          <a:ln>
            <a:noFill/>
          </a:ln>
          <a:effectLst>
            <a:glow rad="139700">
              <a:schemeClr val="accent1">
                <a:satMod val="175000"/>
                <a:alpha val="40000"/>
              </a:schemeClr>
            </a:glow>
          </a:effectLst>
        </p:spPr>
        <p:txBody>
          <a:bodyPr/>
          <a:lstStyle/>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int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delEleByLoc</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(int a[],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sym typeface="+mn-ea"/>
              </a:rPr>
              <a:t>int n,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int i)  </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int j;</a:t>
            </a:r>
            <a:endPar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a:solidFill>
                  <a:srgbClr val="0000FF"/>
                </a:solidFill>
                <a:latin typeface="Consolas" panose="020B0609020204030204" pitchFamily="49" charset="0"/>
                <a:ea typeface="DFKai-SB" panose="03000509000000000000" pitchFamily="65" charset="-120"/>
                <a:cs typeface="Times New Roman" panose="02020603050405020304" pitchFamily="18" charset="0"/>
              </a:rPr>
              <a:t>if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(n == 0)</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printf</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Array is null.\n</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(-1) ;}</a:t>
            </a:r>
            <a:endPar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endPar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r>
              <a:rPr lang="en-US" altLang="zh-CN" dirty="0">
                <a:solidFill>
                  <a:srgbClr val="0000FF"/>
                </a:solidFill>
                <a:latin typeface="Consolas" panose="020B0609020204030204" pitchFamily="49" charset="0"/>
                <a:ea typeface="DFKai-SB" panose="03000509000000000000" pitchFamily="65" charset="-120"/>
                <a:cs typeface="Times New Roman" panose="02020603050405020304" pitchFamily="18" charset="0"/>
              </a:rPr>
              <a:t>if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(i&lt;0 || </a:t>
            </a:r>
            <a:r>
              <a:rPr lang="en-US" altLang="zh-CN" dirty="0" err="1">
                <a:solidFill>
                  <a:srgbClr val="FF0000"/>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rgbClr val="FF0000"/>
                </a:solidFill>
                <a:latin typeface="Consolas" panose="020B0609020204030204" pitchFamily="49" charset="0"/>
                <a:ea typeface="DFKai-SB" panose="03000509000000000000" pitchFamily="65" charset="-120"/>
                <a:cs typeface="Times New Roman" panose="02020603050405020304" pitchFamily="18" charset="0"/>
              </a:rPr>
              <a:t>&gt; n-1</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printf</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location illegal.\n</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(-1); }</a:t>
            </a:r>
          </a:p>
          <a:p>
            <a:pPr marL="342900" lvl="0" indent="-342900">
              <a:lnSpc>
                <a:spcPct val="80000"/>
              </a:lnSpc>
              <a:spcBef>
                <a:spcPct val="20000"/>
              </a:spcBef>
              <a:buFont typeface="Wingdings" panose="05000000000000000000" pitchFamily="2" charset="2"/>
              <a:buNone/>
            </a:pPr>
            <a:endPar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a:solidFill>
                  <a:srgbClr val="0000FF"/>
                </a:solidFill>
                <a:latin typeface="Consolas" panose="020B0609020204030204" pitchFamily="49" charset="0"/>
                <a:ea typeface="DFKai-SB" panose="03000509000000000000" pitchFamily="65" charset="-120"/>
                <a:cs typeface="Times New Roman" panose="02020603050405020304" pitchFamily="18" charset="0"/>
              </a:rPr>
              <a:t>for</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a:solidFill>
                  <a:srgbClr val="FF0000"/>
                </a:solidFill>
                <a:latin typeface="Consolas" panose="020B0609020204030204" pitchFamily="49" charset="0"/>
                <a:ea typeface="DFKai-SB" panose="03000509000000000000" pitchFamily="65" charset="-120"/>
                <a:cs typeface="Times New Roman" panose="02020603050405020304" pitchFamily="18" charset="0"/>
              </a:rPr>
              <a:t>j=</a:t>
            </a:r>
            <a:r>
              <a:rPr lang="en-US" altLang="zh-CN" dirty="0" err="1">
                <a:solidFill>
                  <a:srgbClr val="FF0000"/>
                </a:solidFill>
                <a:latin typeface="Consolas" panose="020B0609020204030204" pitchFamily="49" charset="0"/>
                <a:ea typeface="DFKai-SB" panose="03000509000000000000" pitchFamily="65" charset="-120"/>
                <a:cs typeface="Times New Roman" panose="02020603050405020304" pitchFamily="18" charset="0"/>
              </a:rPr>
              <a:t>i+1</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j&lt;n; j++)</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a[j-1] = a[j];//</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前移</a:t>
            </a:r>
            <a:endPar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endPar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n--; //</a:t>
            </a: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数组长度减</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1</a:t>
            </a:r>
          </a:p>
          <a:p>
            <a:pPr marL="342900" lvl="0" indent="-342900">
              <a:lnSpc>
                <a:spcPct val="80000"/>
              </a:lnSpc>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n;</a:t>
            </a:r>
            <a:endPar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endParaRPr>
          </a:p>
          <a:p>
            <a:pPr marL="342900" lvl="0" indent="-342900">
              <a:lnSpc>
                <a:spcPct val="80000"/>
              </a:lnSpc>
              <a:spcBef>
                <a:spcPct val="20000"/>
              </a:spcBef>
              <a:buFont typeface="Wingdings" panose="05000000000000000000" pitchFamily="2" charset="2"/>
              <a:buNone/>
            </a:pPr>
            <a:r>
              <a:rPr lang="zh-CN" altLang="en-US"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p>
        </p:txBody>
      </p:sp>
      <p:graphicFrame>
        <p:nvGraphicFramePr>
          <p:cNvPr id="15365" name="表格 15364"/>
          <p:cNvGraphicFramePr/>
          <p:nvPr/>
        </p:nvGraphicFramePr>
        <p:xfrm>
          <a:off x="6948488" y="1412875"/>
          <a:ext cx="1905000" cy="3835400"/>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57200">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标号</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数据域</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0</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a1= 10</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1</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a2= 12</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2</a:t>
                      </a:r>
                      <a:endParaRPr lang="en-US" altLang="zh-CN" sz="2000" b="0" dirty="0">
                        <a:solidFill>
                          <a:srgbClr val="000000"/>
                        </a:solidFill>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a3= 25</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3862">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3</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a4= 8</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4</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a5= 16</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3862">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5</a:t>
                      </a: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a6= 20</a:t>
                      </a: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solidFill>
                          <a:srgbClr val="000000"/>
                        </a:solidFill>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solidFill>
                          <a:srgbClr val="000000"/>
                        </a:solidFill>
                        <a:latin typeface="Times New Roman" panose="02020603050405020304" pitchFamily="18" charset="0"/>
                        <a:ea typeface="楷体_GB2312" pitchFamily="49" charset="-122"/>
                      </a:endParaRP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latin typeface="Times New Roman" panose="02020603050405020304" pitchFamily="18" charset="0"/>
                        <a:ea typeface="楷体_GB2312" pitchFamily="49" charset="-122"/>
                      </a:endParaRPr>
                    </a:p>
                  </a:txBody>
                  <a:tcPr marT="45739" marB="45739">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latin typeface="Times New Roman" panose="02020603050405020304" pitchFamily="18" charset="0"/>
                        <a:ea typeface="楷体_GB2312" pitchFamily="49" charset="-122"/>
                      </a:endParaRPr>
                    </a:p>
                  </a:txBody>
                  <a:tcPr marT="45739" marB="45739">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4515" name="Rectangle 2"/>
          <p:cNvSpPr>
            <a:spLocks noGrp="1" noChangeArrowheads="1"/>
          </p:cNvSpPr>
          <p:nvPr/>
        </p:nvSpPr>
        <p:spPr>
          <a:xfrm>
            <a:off x="1263650" y="404813"/>
            <a:ext cx="7772400" cy="720725"/>
          </a:xfrm>
          <a:prstGeom prst="rect">
            <a:avLst/>
          </a:prstGeom>
          <a:noFill/>
          <a:ln>
            <a:noFill/>
          </a:ln>
        </p:spPr>
        <p:txBody>
          <a:bodyPr vert="horz" wrap="square" lIns="91440" tIns="45720" rIns="91440" bIns="45720" numCol="1" anchor="ctr" anchorCtr="0" compatLnSpc="1"/>
          <a:lst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a:lstStyle>
          <a:p>
            <a:pPr indent="0" eaLnBrk="1" hangingPunct="1">
              <a:buNone/>
            </a:pPr>
            <a:r>
              <a:rPr lang="zh-CN" altLang="en-US" b="1" dirty="0"/>
              <a:t>数组元素按位置删除</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C9D36-4B14-769D-6340-D298EB93DB1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E0B7DAC-E735-299E-3F27-0F20B8B29AF6}"/>
              </a:ext>
            </a:extLst>
          </p:cNvPr>
          <p:cNvSpPr>
            <a:spLocks noGrp="1"/>
          </p:cNvSpPr>
          <p:nvPr>
            <p:ph idx="1"/>
          </p:nvPr>
        </p:nvSpPr>
        <p:spPr>
          <a:xfrm>
            <a:off x="539552" y="1125538"/>
            <a:ext cx="7772400" cy="5278139"/>
          </a:xfrm>
        </p:spPr>
        <p:txBody>
          <a:bodyPr/>
          <a:lstStyle/>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5</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 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findEle</a:t>
            </a:r>
            <a:r>
              <a:rPr lang="en-US" altLang="zh-CN" sz="2000" dirty="0">
                <a:latin typeface="Consolas" panose="020B0609020204030204" pitchFamily="49" charset="0"/>
              </a:rPr>
              <a:t>(int a[], int n, int x); </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delEleByLoc</a:t>
            </a:r>
            <a:r>
              <a:rPr lang="en-US" altLang="zh-CN" sz="2000" dirty="0">
                <a:latin typeface="Consolas" panose="020B0609020204030204" pitchFamily="49" charset="0"/>
              </a:rPr>
              <a:t>(int a[], int n, int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int a[SIZE]={1,2,3,4,5};</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pt-BR" altLang="zh-CN" sz="2000" dirty="0">
                <a:latin typeface="Consolas" panose="020B0609020204030204" pitchFamily="49" charset="0"/>
              </a:rPr>
              <a:t>    loc=findEle(a,SIZE,x);</a:t>
            </a:r>
          </a:p>
          <a:p>
            <a:pPr marL="0" indent="0">
              <a:buNone/>
            </a:pPr>
            <a:r>
              <a:rPr lang="pt-BR" altLang="zh-CN" sz="2000" dirty="0">
                <a:latin typeface="Consolas" panose="020B0609020204030204" pitchFamily="49" charset="0"/>
              </a:rPr>
              <a:t>    printf("%d loc=%d\n",x,loc);</a:t>
            </a:r>
          </a:p>
          <a:p>
            <a:pPr marL="0" indent="0">
              <a:buNone/>
            </a:pPr>
            <a:r>
              <a:rPr lang="pt-BR" altLang="zh-CN" sz="2000" dirty="0">
                <a:latin typeface="Consolas" panose="020B0609020204030204" pitchFamily="49" charset="0"/>
              </a:rPr>
              <a:t>    n=delEleByLoc(a,SIZE,x);</a:t>
            </a:r>
          </a:p>
          <a:p>
            <a:pPr marL="0" indent="0">
              <a:buNone/>
            </a:pPr>
            <a:r>
              <a:rPr lang="pt-BR" altLang="zh-CN" sz="2000" dirty="0">
                <a:latin typeface="Consolas" panose="020B0609020204030204" pitchFamily="49" charset="0"/>
              </a:rPr>
              <a:t>    printArray(a,n);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284917903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noGrp="1" noChangeArrowheads="1"/>
          </p:cNvSpPr>
          <p:nvPr>
            <p:ph type="body" idx="1"/>
          </p:nvPr>
        </p:nvSpPr>
        <p:spPr/>
        <p:txBody>
          <a:bodyPr/>
          <a:lstStyle/>
          <a:p>
            <a:pPr eaLnBrk="1" hangingPunct="1">
              <a:buFontTx/>
              <a:buNone/>
            </a:pPr>
            <a:r>
              <a:rPr lang="zh-CN" altLang="en-US" b="1" dirty="0"/>
              <a:t>练习：设计函数</a:t>
            </a:r>
          </a:p>
          <a:p>
            <a:pPr eaLnBrk="1" hangingPunct="1">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delEleByVal</a:t>
            </a:r>
            <a:r>
              <a:rPr lang="en-US" altLang="zh-CN" sz="2400" dirty="0">
                <a:latin typeface="Consolas" panose="020B0609020204030204" pitchFamily="49" charset="0"/>
              </a:rPr>
              <a:t>(int a[],int </a:t>
            </a:r>
            <a:r>
              <a:rPr lang="en-US" altLang="zh-CN" sz="2400" dirty="0" err="1">
                <a:latin typeface="Consolas" panose="020B0609020204030204" pitchFamily="49" charset="0"/>
              </a:rPr>
              <a:t>n,int</a:t>
            </a:r>
            <a:r>
              <a:rPr lang="en-US" altLang="zh-CN" sz="2400" dirty="0">
                <a:latin typeface="Consolas" panose="020B0609020204030204" pitchFamily="49" charset="0"/>
              </a:rPr>
              <a:t> x);</a:t>
            </a:r>
          </a:p>
          <a:p>
            <a:pPr eaLnBrk="1" hangingPunct="1">
              <a:buFontTx/>
              <a:buNone/>
            </a:pPr>
            <a:r>
              <a:rPr lang="zh-CN" altLang="en-US" b="1" dirty="0"/>
              <a:t>将数组</a:t>
            </a:r>
            <a:r>
              <a:rPr lang="en-US" altLang="zh-CN" b="1" dirty="0"/>
              <a:t>a</a:t>
            </a:r>
            <a:r>
              <a:rPr lang="zh-CN" altLang="en-US" b="1" dirty="0"/>
              <a:t>中所有值等于</a:t>
            </a:r>
            <a:r>
              <a:rPr lang="en-US" altLang="zh-CN" b="1" dirty="0"/>
              <a:t>x</a:t>
            </a:r>
            <a:r>
              <a:rPr lang="zh-CN" altLang="en-US" b="1" dirty="0"/>
              <a:t>的元素删除。</a:t>
            </a:r>
          </a:p>
          <a:p>
            <a:pPr eaLnBrk="1" hangingPunct="1">
              <a:buFontTx/>
              <a:buNone/>
            </a:pPr>
            <a:endParaRPr lang="zh-CN" altLang="en-US" b="1" dirty="0"/>
          </a:p>
          <a:p>
            <a:pPr eaLnBrk="1" hangingPunct="1"/>
            <a:endParaRPr lang="zh-CN" altLang="en-US" dirty="0"/>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92782523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noGrp="1" noChangeArrowheads="1"/>
          </p:cNvSpPr>
          <p:nvPr>
            <p:ph type="body" idx="1"/>
          </p:nvPr>
        </p:nvSpPr>
        <p:spPr/>
        <p:txBody>
          <a:bodyPr/>
          <a:lstStyle/>
          <a:p>
            <a:pPr eaLnBrk="1" hangingPunct="1">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delEleByVal</a:t>
            </a:r>
            <a:r>
              <a:rPr lang="en-US" altLang="zh-CN" sz="2400" dirty="0">
                <a:latin typeface="Consolas" panose="020B0609020204030204" pitchFamily="49" charset="0"/>
              </a:rPr>
              <a:t>(int a[],int </a:t>
            </a:r>
            <a:r>
              <a:rPr lang="en-US" altLang="zh-CN" sz="2400" dirty="0" err="1">
                <a:latin typeface="Consolas" panose="020B0609020204030204" pitchFamily="49" charset="0"/>
              </a:rPr>
              <a:t>n,int</a:t>
            </a:r>
            <a:r>
              <a:rPr lang="en-US" altLang="zh-CN" sz="2400" dirty="0">
                <a:latin typeface="Consolas" panose="020B0609020204030204" pitchFamily="49" charset="0"/>
              </a:rPr>
              <a:t> x)</a:t>
            </a:r>
          </a:p>
          <a:p>
            <a:pPr marL="0" indent="0" eaLnBrk="1" hangingPunct="1">
              <a:buNone/>
            </a:pPr>
            <a:r>
              <a:rPr lang="en-US" altLang="zh-CN" sz="2400" dirty="0">
                <a:latin typeface="Consolas" panose="020B0609020204030204" pitchFamily="49" charset="0"/>
              </a:rPr>
              <a:t>{	int </a:t>
            </a:r>
            <a:r>
              <a:rPr lang="en-US" altLang="zh-CN" sz="2400" dirty="0" err="1">
                <a:latin typeface="Consolas" panose="020B0609020204030204" pitchFamily="49" charset="0"/>
              </a:rPr>
              <a:t>i,j</a:t>
            </a:r>
            <a:r>
              <a:rPr lang="en-US" altLang="zh-CN" sz="2400" dirty="0">
                <a:latin typeface="Consolas" panose="020B0609020204030204" pitchFamily="49" charset="0"/>
              </a:rPr>
              <a:t>;</a:t>
            </a:r>
          </a:p>
          <a:p>
            <a:pPr marL="0" indent="0" eaLnBrk="1" hangingPunct="1">
              <a:buNone/>
            </a:pPr>
            <a:r>
              <a:rPr lang="en-US" altLang="zh-CN" sz="2400" dirty="0">
                <a:latin typeface="Consolas" panose="020B0609020204030204" pitchFamily="49" charset="0"/>
              </a:rPr>
              <a:t>	for (</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0;i</a:t>
            </a:r>
            <a:r>
              <a:rPr lang="en-US" altLang="zh-CN" sz="2400" dirty="0">
                <a:latin typeface="Consolas" panose="020B0609020204030204" pitchFamily="49" charset="0"/>
              </a:rPr>
              <a:t>&lt;n; )</a:t>
            </a:r>
          </a:p>
          <a:p>
            <a:pPr marL="0" indent="0" eaLnBrk="1" hangingPunct="1">
              <a:buNone/>
            </a:pPr>
            <a:r>
              <a:rPr lang="en-US" altLang="zh-CN" sz="2400" dirty="0">
                <a:latin typeface="Consolas" panose="020B0609020204030204" pitchFamily="49" charset="0"/>
              </a:rPr>
              <a:t>		if (a[</a:t>
            </a:r>
            <a:r>
              <a:rPr lang="en-US" altLang="zh-CN" sz="2400" dirty="0" err="1">
                <a:latin typeface="Consolas" panose="020B0609020204030204" pitchFamily="49" charset="0"/>
              </a:rPr>
              <a:t>i</a:t>
            </a:r>
            <a:r>
              <a:rPr lang="en-US" altLang="zh-CN" sz="2400" dirty="0">
                <a:latin typeface="Consolas" panose="020B0609020204030204" pitchFamily="49" charset="0"/>
              </a:rPr>
              <a:t>]==x){</a:t>
            </a:r>
          </a:p>
          <a:p>
            <a:pPr marL="0" indent="0" eaLnBrk="1" hangingPunct="1">
              <a:buNone/>
            </a:pPr>
            <a:r>
              <a:rPr lang="en-US" altLang="zh-CN" sz="2400" dirty="0">
                <a:latin typeface="Consolas" panose="020B0609020204030204" pitchFamily="49" charset="0"/>
              </a:rPr>
              <a:t>			for(j=</a:t>
            </a:r>
            <a:r>
              <a:rPr lang="en-US" altLang="zh-CN" sz="2400" dirty="0" err="1">
                <a:latin typeface="Consolas" panose="020B0609020204030204" pitchFamily="49" charset="0"/>
              </a:rPr>
              <a:t>i+1;j</a:t>
            </a:r>
            <a:r>
              <a:rPr lang="en-US" altLang="zh-CN" sz="2400" dirty="0">
                <a:latin typeface="Consolas" panose="020B0609020204030204" pitchFamily="49" charset="0"/>
              </a:rPr>
              <a:t>&lt;</a:t>
            </a:r>
            <a:r>
              <a:rPr lang="en-US" altLang="zh-CN" sz="2400" dirty="0" err="1">
                <a:latin typeface="Consolas" panose="020B0609020204030204" pitchFamily="49" charset="0"/>
              </a:rPr>
              <a:t>n;j</a:t>
            </a:r>
            <a:r>
              <a:rPr lang="en-US" altLang="zh-CN" sz="2400" dirty="0">
                <a:latin typeface="Consolas" panose="020B0609020204030204" pitchFamily="49" charset="0"/>
              </a:rPr>
              <a:t>++) </a:t>
            </a:r>
          </a:p>
          <a:p>
            <a:pPr marL="0" indent="0" eaLnBrk="1" hangingPunct="1">
              <a:buNone/>
            </a:pPr>
            <a:r>
              <a:rPr lang="en-US" altLang="zh-CN" sz="2400" dirty="0">
                <a:latin typeface="Consolas" panose="020B0609020204030204" pitchFamily="49" charset="0"/>
              </a:rPr>
              <a:t>				a[j-1]=a[j];</a:t>
            </a:r>
          </a:p>
          <a:p>
            <a:pPr marL="0" indent="0" eaLnBrk="1" hangingPunct="1">
              <a:buNone/>
            </a:pPr>
            <a:r>
              <a:rPr lang="en-US" altLang="zh-CN" sz="2400" dirty="0">
                <a:latin typeface="Consolas" panose="020B0609020204030204" pitchFamily="49" charset="0"/>
              </a:rPr>
              <a:t>			n</a:t>
            </a:r>
            <a:r>
              <a:rPr lang="en-US" altLang="zh-CN" sz="2400" dirty="0">
                <a:solidFill>
                  <a:srgbClr val="FF0000"/>
                </a:solidFill>
                <a:latin typeface="Consolas" panose="020B0609020204030204" pitchFamily="49" charset="0"/>
              </a:rPr>
              <a:t>--;//</a:t>
            </a:r>
            <a:r>
              <a:rPr lang="zh-CN" altLang="en-US" sz="2400" dirty="0">
                <a:solidFill>
                  <a:srgbClr val="FF0000"/>
                </a:solidFill>
                <a:latin typeface="Consolas" panose="020B0609020204030204" pitchFamily="49" charset="0"/>
              </a:rPr>
              <a:t>删除元素后修正数组长度</a:t>
            </a:r>
            <a:endParaRPr lang="en-US" altLang="zh-CN" sz="2400" dirty="0">
              <a:solidFill>
                <a:srgbClr val="FF0000"/>
              </a:solidFill>
              <a:latin typeface="Consolas" panose="020B0609020204030204" pitchFamily="49" charset="0"/>
            </a:endParaRPr>
          </a:p>
          <a:p>
            <a:pPr marL="0" indent="0" eaLnBrk="1" hangingPunct="1">
              <a:buNone/>
            </a:pPr>
            <a:r>
              <a:rPr lang="en-US" altLang="zh-CN" sz="2400" dirty="0">
                <a:latin typeface="Consolas" panose="020B0609020204030204" pitchFamily="49" charset="0"/>
              </a:rPr>
              <a:t>		} else </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marL="0" indent="0" eaLnBrk="1" hangingPunct="1">
              <a:buNone/>
            </a:pPr>
            <a:r>
              <a:rPr lang="en-US" altLang="zh-CN" sz="2400" dirty="0">
                <a:latin typeface="Consolas" panose="020B0609020204030204" pitchFamily="49" charset="0"/>
              </a:rPr>
              <a:t>		</a:t>
            </a:r>
          </a:p>
          <a:p>
            <a:pPr marL="0" indent="0" eaLnBrk="1" hangingPunct="1">
              <a:buNone/>
            </a:pPr>
            <a:r>
              <a:rPr lang="en-US" altLang="zh-CN" sz="2400" dirty="0">
                <a:latin typeface="Consolas" panose="020B0609020204030204" pitchFamily="49" charset="0"/>
              </a:rPr>
              <a:t>	return n;</a:t>
            </a:r>
          </a:p>
          <a:p>
            <a:pPr marL="0" indent="0" eaLnBrk="1" hangingPunct="1">
              <a:buNone/>
            </a:pPr>
            <a:r>
              <a:rPr lang="en-US" altLang="zh-CN" sz="2400" dirty="0">
                <a:latin typeface="Consolas" panose="020B0609020204030204" pitchFamily="49" charset="0"/>
              </a:rPr>
              <a:t>}</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87360759"/>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C9D36-4B14-769D-6340-D298EB93DB1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E0B7DAC-E735-299E-3F27-0F20B8B29AF6}"/>
              </a:ext>
            </a:extLst>
          </p:cNvPr>
          <p:cNvSpPr>
            <a:spLocks noGrp="1"/>
          </p:cNvSpPr>
          <p:nvPr>
            <p:ph idx="1"/>
          </p:nvPr>
        </p:nvSpPr>
        <p:spPr>
          <a:xfrm>
            <a:off x="539552" y="1125538"/>
            <a:ext cx="7772400" cy="5278139"/>
          </a:xfrm>
        </p:spPr>
        <p:txBody>
          <a:bodyPr/>
          <a:lstStyle/>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5</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 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delEleByVal</a:t>
            </a:r>
            <a:r>
              <a:rPr lang="en-US" altLang="zh-CN" sz="2000" dirty="0">
                <a:latin typeface="Consolas" panose="020B0609020204030204" pitchFamily="49" charset="0"/>
              </a:rPr>
              <a:t>(int a[],int </a:t>
            </a:r>
            <a:r>
              <a:rPr lang="en-US" altLang="zh-CN" sz="2000" dirty="0" err="1">
                <a:latin typeface="Consolas" panose="020B0609020204030204" pitchFamily="49" charset="0"/>
              </a:rPr>
              <a:t>n,int</a:t>
            </a:r>
            <a:r>
              <a:rPr lang="en-US" altLang="zh-CN" sz="2000" dirty="0">
                <a:latin typeface="Consolas" panose="020B0609020204030204" pitchFamily="49" charset="0"/>
              </a:rPr>
              <a:t> x);</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int a[SIZE]={1,1,3,3,3};</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pt-BR" altLang="zh-CN" sz="2000" dirty="0">
                <a:latin typeface="Consolas" panose="020B0609020204030204" pitchFamily="49" charset="0"/>
              </a:rPr>
              <a:t>    n=delEleByVal(a,SIZE,x);</a:t>
            </a:r>
          </a:p>
          <a:p>
            <a:pPr marL="0" indent="0">
              <a:buNone/>
            </a:pPr>
            <a:r>
              <a:rPr lang="pt-BR" altLang="zh-CN" sz="2000" dirty="0">
                <a:latin typeface="Consolas" panose="020B0609020204030204" pitchFamily="49" charset="0"/>
              </a:rPr>
              <a:t>    printArray(a,n);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213953692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idx="1"/>
          </p:nvPr>
        </p:nvSpPr>
        <p:spPr/>
        <p:txBody>
          <a:bodyPr/>
          <a:lstStyle/>
          <a:p>
            <a:pPr eaLnBrk="1" hangingPunct="1"/>
            <a:r>
              <a:rPr lang="zh-CN" altLang="en-US" b="1"/>
              <a:t>请判断下面整型数组</a:t>
            </a:r>
            <a:r>
              <a:rPr lang="en-US" altLang="zh-CN" b="1"/>
              <a:t>a</a:t>
            </a:r>
            <a:r>
              <a:rPr lang="zh-CN" altLang="en-US" b="1"/>
              <a:t>的状态是否合理？</a:t>
            </a:r>
          </a:p>
          <a:p>
            <a:pPr lvl="1" eaLnBrk="1" hangingPunct="1"/>
            <a:r>
              <a:rPr lang="zh-CN" altLang="en-US" b="1"/>
              <a:t>将</a:t>
            </a:r>
            <a:r>
              <a:rPr lang="en-US" altLang="zh-CN" b="1"/>
              <a:t>50</a:t>
            </a:r>
            <a:r>
              <a:rPr lang="zh-CN" altLang="en-US" b="1"/>
              <a:t>、</a:t>
            </a:r>
            <a:r>
              <a:rPr lang="en-US" altLang="zh-CN" b="1"/>
              <a:t>40</a:t>
            </a:r>
            <a:r>
              <a:rPr lang="zh-CN" altLang="en-US" b="1"/>
              <a:t>、</a:t>
            </a:r>
            <a:r>
              <a:rPr lang="en-US" altLang="zh-CN" b="1"/>
              <a:t>30</a:t>
            </a:r>
            <a:r>
              <a:rPr lang="zh-CN" altLang="en-US" b="1"/>
              <a:t>分别存放到下标为</a:t>
            </a:r>
            <a:r>
              <a:rPr lang="en-US" altLang="zh-CN" b="1"/>
              <a:t>0</a:t>
            </a:r>
            <a:r>
              <a:rPr lang="zh-CN" altLang="en-US" b="1"/>
              <a:t>、</a:t>
            </a:r>
            <a:r>
              <a:rPr lang="en-US" altLang="zh-CN" b="1"/>
              <a:t>1</a:t>
            </a:r>
            <a:r>
              <a:rPr lang="zh-CN" altLang="en-US" b="1"/>
              <a:t>、</a:t>
            </a:r>
            <a:r>
              <a:rPr lang="en-US" altLang="zh-CN" b="1"/>
              <a:t>3</a:t>
            </a:r>
            <a:r>
              <a:rPr lang="zh-CN" altLang="en-US" b="1"/>
              <a:t>的数组元素中</a:t>
            </a:r>
            <a:r>
              <a:rPr lang="en-US" altLang="zh-CN" b="1"/>
              <a:t>(</a:t>
            </a:r>
            <a:r>
              <a:rPr lang="zh-CN" altLang="en-US" b="1"/>
              <a:t>未往下标为</a:t>
            </a:r>
            <a:r>
              <a:rPr lang="en-US" altLang="zh-CN" b="1"/>
              <a:t>2</a:t>
            </a:r>
            <a:r>
              <a:rPr lang="zh-CN" altLang="en-US" b="1"/>
              <a:t>的元素中存放值</a:t>
            </a:r>
            <a:r>
              <a:rPr lang="en-US" altLang="zh-CN" b="1"/>
              <a:t>)</a:t>
            </a:r>
            <a:r>
              <a:rPr lang="zh-CN" altLang="en-US" b="1"/>
              <a:t>。</a:t>
            </a:r>
          </a:p>
        </p:txBody>
      </p:sp>
      <p:sp>
        <p:nvSpPr>
          <p:cNvPr id="227333" name="Text Box 5"/>
          <p:cNvSpPr txBox="1">
            <a:spLocks noChangeArrowheads="1"/>
          </p:cNvSpPr>
          <p:nvPr/>
        </p:nvSpPr>
        <p:spPr bwMode="auto">
          <a:xfrm>
            <a:off x="755650" y="4005263"/>
            <a:ext cx="7705725" cy="1800225"/>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800" b="1"/>
              <a:t>不合理！数组用于存储线性表，线性表中的元素是相邻的，这就要求它们在数组中的存储单元也要相邻。如果它们在数组中不是使用连续的存储空间，那就无法标识哪些是有效的数组元素。</a:t>
            </a:r>
          </a:p>
        </p:txBody>
      </p:sp>
      <p:sp>
        <p:nvSpPr>
          <p:cNvPr id="75781" name="Rectangle 6"/>
          <p:cNvSpPr>
            <a:spLocks noGrp="1" noChangeArrowheads="1"/>
          </p:cNvSpPr>
          <p:nvPr>
            <p:ph type="title"/>
          </p:nvPr>
        </p:nvSpPr>
        <p:spPr>
          <a:noFill/>
        </p:spPr>
        <p:txBody>
          <a:bodyPr/>
          <a:lstStyle/>
          <a:p>
            <a:pPr eaLnBrk="1" hangingPunct="1"/>
            <a:r>
              <a:rPr lang="en-US" altLang="zh-CN" b="1"/>
              <a:t>6.5 </a:t>
            </a:r>
            <a:r>
              <a:rPr lang="zh-CN" altLang="en-US" b="1"/>
              <a:t>数组的应用</a:t>
            </a:r>
            <a:r>
              <a:rPr lang="en-US" altLang="zh-CN" b="1"/>
              <a:t>2</a:t>
            </a:r>
            <a:r>
              <a:rPr lang="zh-CN" altLang="en-US" b="1"/>
              <a:t>－插入元素</a:t>
            </a:r>
            <a:endParaRPr lang="en-US" altLang="zh-CN" b="1"/>
          </a:p>
        </p:txBody>
      </p:sp>
      <p:grpSp>
        <p:nvGrpSpPr>
          <p:cNvPr id="75782" name="Group 11"/>
          <p:cNvGrpSpPr/>
          <p:nvPr/>
        </p:nvGrpSpPr>
        <p:grpSpPr bwMode="auto">
          <a:xfrm>
            <a:off x="1619250" y="2852738"/>
            <a:ext cx="4824413" cy="831850"/>
            <a:chOff x="1020" y="1797"/>
            <a:chExt cx="3039" cy="524"/>
          </a:xfrm>
        </p:grpSpPr>
        <p:pic>
          <p:nvPicPr>
            <p:cNvPr id="757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 y="1797"/>
              <a:ext cx="3039"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5" name="Line 7"/>
            <p:cNvSpPr>
              <a:spLocks noChangeShapeType="1"/>
            </p:cNvSpPr>
            <p:nvPr/>
          </p:nvSpPr>
          <p:spPr bwMode="auto">
            <a:xfrm flipH="1">
              <a:off x="2426" y="2115"/>
              <a:ext cx="136" cy="91"/>
            </a:xfrm>
            <a:prstGeom prst="line">
              <a:avLst/>
            </a:prstGeom>
            <a:noFill/>
            <a:ln w="9525">
              <a:solidFill>
                <a:schemeClr val="tx1"/>
              </a:solidFill>
              <a:roun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sp>
          <p:nvSpPr>
            <p:cNvPr id="227336" name="Line 8"/>
            <p:cNvSpPr>
              <a:spLocks noChangeShapeType="1"/>
            </p:cNvSpPr>
            <p:nvPr/>
          </p:nvSpPr>
          <p:spPr bwMode="auto">
            <a:xfrm flipH="1">
              <a:off x="2562" y="2115"/>
              <a:ext cx="136" cy="91"/>
            </a:xfrm>
            <a:prstGeom prst="line">
              <a:avLst/>
            </a:prstGeom>
            <a:noFill/>
            <a:ln w="9525">
              <a:solidFill>
                <a:schemeClr val="tx1"/>
              </a:solidFill>
              <a:roun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sp>
          <p:nvSpPr>
            <p:cNvPr id="227337" name="Line 9"/>
            <p:cNvSpPr>
              <a:spLocks noChangeShapeType="1"/>
            </p:cNvSpPr>
            <p:nvPr/>
          </p:nvSpPr>
          <p:spPr bwMode="auto">
            <a:xfrm flipH="1">
              <a:off x="3515" y="2115"/>
              <a:ext cx="136" cy="91"/>
            </a:xfrm>
            <a:prstGeom prst="line">
              <a:avLst/>
            </a:prstGeom>
            <a:noFill/>
            <a:ln w="9525">
              <a:solidFill>
                <a:schemeClr val="tx1"/>
              </a:solidFill>
              <a:roun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sp>
          <p:nvSpPr>
            <p:cNvPr id="227338" name="Line 10"/>
            <p:cNvSpPr>
              <a:spLocks noChangeShapeType="1"/>
            </p:cNvSpPr>
            <p:nvPr/>
          </p:nvSpPr>
          <p:spPr bwMode="auto">
            <a:xfrm flipH="1">
              <a:off x="3651" y="2115"/>
              <a:ext cx="136" cy="91"/>
            </a:xfrm>
            <a:prstGeom prst="line">
              <a:avLst/>
            </a:prstGeom>
            <a:noFill/>
            <a:ln w="9525">
              <a:solidFill>
                <a:schemeClr val="tx1"/>
              </a:solidFill>
              <a:roun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dissolve">
                                      <p:cBhvr>
                                        <p:cTn id="7" dur="500"/>
                                        <p:tgtEl>
                                          <p:spTgt spid="227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3"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ChangeArrowheads="1"/>
          </p:cNvSpPr>
          <p:nvPr/>
        </p:nvSpPr>
        <p:spPr bwMode="auto">
          <a:xfrm>
            <a:off x="395288" y="1268413"/>
            <a:ext cx="8497887" cy="558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buFont typeface="Wingdings" panose="05000000000000000000" pitchFamily="2" charset="2"/>
              <a:buChar char="Ø"/>
              <a:defRPr/>
            </a:pPr>
            <a:r>
              <a:rPr lang="zh-CN" altLang="en-US" sz="2800" b="1"/>
              <a:t>线性表的基本操作</a:t>
            </a:r>
            <a:r>
              <a:rPr lang="en-US" altLang="zh-CN" sz="2800" b="1"/>
              <a:t>2</a:t>
            </a:r>
            <a:r>
              <a:rPr lang="en-US" altLang="zh-CN" sz="2800" b="1">
                <a:latin typeface="宋体" panose="02010600030101010101" pitchFamily="2" charset="-122"/>
              </a:rPr>
              <a:t>—</a:t>
            </a:r>
            <a:r>
              <a:rPr lang="zh-CN" altLang="en-US" sz="2800" b="1" i="1">
                <a:solidFill>
                  <a:srgbClr val="003399"/>
                </a:solidFill>
                <a:effectLst>
                  <a:outerShdw blurRad="38100" dist="38100" dir="2700000" algn="tl">
                    <a:srgbClr val="C0C0C0"/>
                  </a:outerShdw>
                </a:effectLst>
              </a:rPr>
              <a:t>往表中插入一个元素的函数</a:t>
            </a:r>
          </a:p>
        </p:txBody>
      </p:sp>
      <p:sp>
        <p:nvSpPr>
          <p:cNvPr id="77828" name="Rectangle 4"/>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a:solidFill>
                  <a:srgbClr val="FF3300"/>
                </a:solidFill>
              </a:rPr>
              <a:t>6.5 </a:t>
            </a:r>
            <a:r>
              <a:rPr lang="zh-CN" altLang="en-US" sz="3200" b="1">
                <a:solidFill>
                  <a:srgbClr val="FF3300"/>
                </a:solidFill>
              </a:rPr>
              <a:t>数组的应用</a:t>
            </a:r>
            <a:r>
              <a:rPr lang="en-US" altLang="zh-CN" sz="3200" b="1">
                <a:solidFill>
                  <a:srgbClr val="FF3300"/>
                </a:solidFill>
              </a:rPr>
              <a:t>2</a:t>
            </a:r>
            <a:r>
              <a:rPr lang="zh-CN" altLang="en-US" sz="3200" b="1">
                <a:solidFill>
                  <a:srgbClr val="FF3300"/>
                </a:solidFill>
              </a:rPr>
              <a:t>－插入元素</a:t>
            </a:r>
          </a:p>
        </p:txBody>
      </p:sp>
      <p:pic>
        <p:nvPicPr>
          <p:cNvPr id="778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743075"/>
            <a:ext cx="43211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924175"/>
            <a:ext cx="4248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Line 8"/>
          <p:cNvSpPr>
            <a:spLocks noChangeShapeType="1"/>
          </p:cNvSpPr>
          <p:nvPr/>
        </p:nvSpPr>
        <p:spPr bwMode="auto">
          <a:xfrm>
            <a:off x="2052638" y="2462213"/>
            <a:ext cx="647700" cy="461962"/>
          </a:xfrm>
          <a:prstGeom prst="line">
            <a:avLst/>
          </a:prstGeom>
          <a:noFill/>
          <a:ln w="9525">
            <a:solidFill>
              <a:srgbClr val="FF0000"/>
            </a:solidFill>
            <a:round/>
          </a:ln>
          <a:effectLst>
            <a:prstShdw prst="shdw17" dist="17961" dir="13500000">
              <a:srgbClr val="990000"/>
            </a:prst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77832" name="Line 9"/>
          <p:cNvSpPr>
            <a:spLocks noChangeShapeType="1"/>
          </p:cNvSpPr>
          <p:nvPr/>
        </p:nvSpPr>
        <p:spPr bwMode="auto">
          <a:xfrm>
            <a:off x="3421063" y="2462213"/>
            <a:ext cx="574675" cy="461962"/>
          </a:xfrm>
          <a:prstGeom prst="line">
            <a:avLst/>
          </a:prstGeom>
          <a:noFill/>
          <a:ln w="9525">
            <a:solidFill>
              <a:srgbClr val="FF0000"/>
            </a:solidFill>
            <a:round/>
          </a:ln>
          <a:effectLst>
            <a:prstShdw prst="shdw17" dist="17961" dir="13500000">
              <a:srgbClr val="990000"/>
            </a:prst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51562"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5300663"/>
            <a:ext cx="42481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63" name="Text Box 11"/>
          <p:cNvSpPr txBox="1">
            <a:spLocks noChangeArrowheads="1"/>
          </p:cNvSpPr>
          <p:nvPr/>
        </p:nvSpPr>
        <p:spPr bwMode="auto">
          <a:xfrm>
            <a:off x="5076825" y="1958975"/>
            <a:ext cx="3455988" cy="1187450"/>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a:t>若数组未满，且插入位置合理，则先逐个后移元素，再插入元素。</a:t>
            </a:r>
          </a:p>
        </p:txBody>
      </p:sp>
      <p:sp>
        <p:nvSpPr>
          <p:cNvPr id="151564" name="Text Box 12"/>
          <p:cNvSpPr txBox="1">
            <a:spLocks noChangeArrowheads="1"/>
          </p:cNvSpPr>
          <p:nvPr/>
        </p:nvSpPr>
        <p:spPr bwMode="auto">
          <a:xfrm>
            <a:off x="5219700" y="5300663"/>
            <a:ext cx="2987675" cy="822325"/>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a:t>若数组已满，则不允许插入元素！</a:t>
            </a:r>
          </a:p>
        </p:txBody>
      </p:sp>
      <p:sp>
        <p:nvSpPr>
          <p:cNvPr id="151565" name="Text Box 13"/>
          <p:cNvSpPr txBox="1">
            <a:spLocks noChangeArrowheads="1"/>
          </p:cNvSpPr>
          <p:nvPr/>
        </p:nvSpPr>
        <p:spPr bwMode="auto">
          <a:xfrm>
            <a:off x="5148263" y="3759200"/>
            <a:ext cx="3671887" cy="1187450"/>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a:t>若数组未满，但插入位置不合理</a:t>
            </a:r>
            <a:r>
              <a:rPr lang="en-US" altLang="zh-CN" sz="2400" b="1"/>
              <a:t>(</a:t>
            </a:r>
            <a:r>
              <a:rPr lang="zh-CN" altLang="en-US" sz="2400" b="1"/>
              <a:t>包括数组越界</a:t>
            </a:r>
            <a:r>
              <a:rPr lang="en-US" altLang="zh-CN" sz="2400" b="1"/>
              <a:t>)</a:t>
            </a:r>
            <a:r>
              <a:rPr lang="zh-CN" altLang="en-US" sz="2400" b="1"/>
              <a:t>，则不允许插入元素！</a:t>
            </a:r>
          </a:p>
        </p:txBody>
      </p:sp>
      <p:grpSp>
        <p:nvGrpSpPr>
          <p:cNvPr id="151566" name="Group 14"/>
          <p:cNvGrpSpPr/>
          <p:nvPr/>
        </p:nvGrpSpPr>
        <p:grpSpPr bwMode="auto">
          <a:xfrm>
            <a:off x="612775" y="4046538"/>
            <a:ext cx="4535488" cy="1008062"/>
            <a:chOff x="386" y="2432"/>
            <a:chExt cx="2857" cy="635"/>
          </a:xfrm>
        </p:grpSpPr>
        <p:pic>
          <p:nvPicPr>
            <p:cNvPr id="77838"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 y="2432"/>
              <a:ext cx="2722"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9" name="Line 16"/>
            <p:cNvSpPr>
              <a:spLocks noChangeShapeType="1"/>
            </p:cNvSpPr>
            <p:nvPr/>
          </p:nvSpPr>
          <p:spPr bwMode="auto">
            <a:xfrm flipV="1">
              <a:off x="2790" y="2886"/>
              <a:ext cx="0" cy="181"/>
            </a:xfrm>
            <a:prstGeom prst="line">
              <a:avLst/>
            </a:prstGeom>
            <a:noFill/>
            <a:ln w="317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0" name="Line 17"/>
            <p:cNvSpPr>
              <a:spLocks noChangeShapeType="1"/>
            </p:cNvSpPr>
            <p:nvPr/>
          </p:nvSpPr>
          <p:spPr bwMode="auto">
            <a:xfrm flipV="1">
              <a:off x="3243" y="2886"/>
              <a:ext cx="0" cy="181"/>
            </a:xfrm>
            <a:prstGeom prst="line">
              <a:avLst/>
            </a:prstGeom>
            <a:noFill/>
            <a:ln w="317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1563"/>
                                        </p:tgtEl>
                                        <p:attrNameLst>
                                          <p:attrName>style.visibility</p:attrName>
                                        </p:attrNameLst>
                                      </p:cBhvr>
                                      <p:to>
                                        <p:strVal val="visible"/>
                                      </p:to>
                                    </p:set>
                                    <p:animEffect transition="in" filter="dissolve">
                                      <p:cBhvr>
                                        <p:cTn id="7" dur="500"/>
                                        <p:tgtEl>
                                          <p:spTgt spid="1515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1566"/>
                                        </p:tgtEl>
                                        <p:attrNameLst>
                                          <p:attrName>style.visibility</p:attrName>
                                        </p:attrNameLst>
                                      </p:cBhvr>
                                      <p:to>
                                        <p:strVal val="visible"/>
                                      </p:to>
                                    </p:set>
                                    <p:animEffect transition="in" filter="dissolve">
                                      <p:cBhvr>
                                        <p:cTn id="12" dur="500"/>
                                        <p:tgtEl>
                                          <p:spTgt spid="15156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1562"/>
                                        </p:tgtEl>
                                        <p:attrNameLst>
                                          <p:attrName>style.visibility</p:attrName>
                                        </p:attrNameLst>
                                      </p:cBhvr>
                                      <p:to>
                                        <p:strVal val="visible"/>
                                      </p:to>
                                    </p:set>
                                    <p:animEffect transition="in" filter="dissolve">
                                      <p:cBhvr>
                                        <p:cTn id="17" dur="500"/>
                                        <p:tgtEl>
                                          <p:spTgt spid="1515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1565"/>
                                        </p:tgtEl>
                                        <p:attrNameLst>
                                          <p:attrName>style.visibility</p:attrName>
                                        </p:attrNameLst>
                                      </p:cBhvr>
                                      <p:to>
                                        <p:strVal val="visible"/>
                                      </p:to>
                                    </p:set>
                                    <p:animEffect transition="in" filter="dissolve">
                                      <p:cBhvr>
                                        <p:cTn id="22" dur="500"/>
                                        <p:tgtEl>
                                          <p:spTgt spid="15156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51564"/>
                                        </p:tgtEl>
                                        <p:attrNameLst>
                                          <p:attrName>style.visibility</p:attrName>
                                        </p:attrNameLst>
                                      </p:cBhvr>
                                      <p:to>
                                        <p:strVal val="visible"/>
                                      </p:to>
                                    </p:set>
                                    <p:animEffect transition="in" filter="dissolve">
                                      <p:cBhvr>
                                        <p:cTn id="25" dur="500"/>
                                        <p:tgtEl>
                                          <p:spTgt spid="151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3" grpId="0" bldLvl="0" animBg="1"/>
      <p:bldP spid="151564" grpId="0" bldLvl="0" animBg="1"/>
      <p:bldP spid="15156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5" name="Rectangle 5"/>
          <p:cNvSpPr>
            <a:spLocks noChangeArrowheads="1"/>
          </p:cNvSpPr>
          <p:nvPr/>
        </p:nvSpPr>
        <p:spPr bwMode="auto">
          <a:xfrm>
            <a:off x="395288" y="1268413"/>
            <a:ext cx="8497887" cy="558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buFont typeface="Wingdings" panose="05000000000000000000" pitchFamily="2" charset="2"/>
              <a:buNone/>
              <a:defRPr/>
            </a:pPr>
            <a:r>
              <a:rPr lang="zh-CN" altLang="en-US" sz="2800" b="1" dirty="0"/>
              <a:t>函数设计考虑：</a:t>
            </a:r>
          </a:p>
          <a:p>
            <a:pPr marL="342900" indent="-342900">
              <a:buFont typeface="Wingdings" panose="05000000000000000000" pitchFamily="2" charset="2"/>
              <a:buNone/>
              <a:defRPr/>
            </a:pPr>
            <a:r>
              <a:rPr lang="zh-CN" altLang="en-US" sz="2800" b="1" dirty="0"/>
              <a:t>   </a:t>
            </a:r>
            <a:r>
              <a:rPr lang="zh-CN" altLang="en-US" sz="2800" b="1" i="1" u="sng" dirty="0">
                <a:solidFill>
                  <a:srgbClr val="003399"/>
                </a:solidFill>
                <a:effectLst>
                  <a:outerShdw blurRad="38100" dist="38100" dir="2700000" algn="tl">
                    <a:srgbClr val="C0C0C0"/>
                  </a:outerShdw>
                </a:effectLst>
              </a:rPr>
              <a:t>参数设计</a:t>
            </a:r>
            <a:r>
              <a:rPr lang="zh-CN" altLang="en-US" sz="2800" b="1" dirty="0">
                <a:solidFill>
                  <a:srgbClr val="003399"/>
                </a:solidFill>
                <a:effectLst>
                  <a:outerShdw blurRad="38100" dist="38100" dir="2700000" algn="tl">
                    <a:srgbClr val="C0C0C0"/>
                  </a:outerShdw>
                </a:effectLst>
              </a:rPr>
              <a:t>：</a:t>
            </a:r>
          </a:p>
          <a:p>
            <a:pPr marL="742950" lvl="1" indent="-285750">
              <a:buFont typeface="Wingdings" panose="05000000000000000000" pitchFamily="2" charset="2"/>
              <a:buChar char="Ø"/>
              <a:defRPr/>
            </a:pPr>
            <a:r>
              <a:rPr lang="zh-CN" altLang="en-US" sz="2800" b="1" dirty="0"/>
              <a:t>数组名、数组的大小作为参数传入；</a:t>
            </a:r>
          </a:p>
          <a:p>
            <a:pPr marL="742950" lvl="1" indent="-285750">
              <a:buFont typeface="Wingdings" panose="05000000000000000000" pitchFamily="2" charset="2"/>
              <a:buChar char="Ø"/>
              <a:defRPr/>
            </a:pPr>
            <a:r>
              <a:rPr lang="zh-CN" altLang="en-US" sz="2800" b="1" dirty="0"/>
              <a:t>数组中已存放的元素个数作为参数传入；</a:t>
            </a:r>
          </a:p>
          <a:p>
            <a:pPr marL="742950" lvl="1" indent="-285750">
              <a:buFont typeface="Wingdings" panose="05000000000000000000" pitchFamily="2" charset="2"/>
              <a:buChar char="Ø"/>
              <a:defRPr/>
            </a:pPr>
            <a:r>
              <a:rPr lang="zh-CN" altLang="en-US" sz="2800" b="1" dirty="0"/>
              <a:t>插入元素、插入位置作为参数传入；</a:t>
            </a:r>
          </a:p>
          <a:p>
            <a:pPr marL="742950" lvl="1" indent="-285750">
              <a:buFont typeface="Wingdings" panose="05000000000000000000" pitchFamily="2" charset="2"/>
              <a:buNone/>
              <a:defRPr/>
            </a:pPr>
            <a:r>
              <a:rPr lang="zh-CN" altLang="en-US" sz="2800" b="1" i="1" u="sng" dirty="0">
                <a:solidFill>
                  <a:srgbClr val="003399"/>
                </a:solidFill>
                <a:effectLst>
                  <a:outerShdw blurRad="38100" dist="38100" dir="2700000" algn="tl">
                    <a:srgbClr val="C0C0C0"/>
                  </a:outerShdw>
                </a:effectLst>
              </a:rPr>
              <a:t>返回结果</a:t>
            </a:r>
            <a:r>
              <a:rPr lang="zh-CN" altLang="en-US" sz="2800" b="1" dirty="0"/>
              <a:t>：成功插入,则返回1;数组未满但插入位置不合理，返回</a:t>
            </a:r>
            <a:r>
              <a:rPr lang="en-US" altLang="zh-CN" sz="2800" b="1" dirty="0"/>
              <a:t>-1;</a:t>
            </a:r>
            <a:r>
              <a:rPr lang="zh-CN" altLang="en-US" sz="2800" b="1" dirty="0"/>
              <a:t>数组已满而无法插入,返回</a:t>
            </a:r>
          </a:p>
          <a:p>
            <a:pPr marL="742950" lvl="1" indent="-285750">
              <a:buFont typeface="Wingdings" panose="05000000000000000000" pitchFamily="2" charset="2"/>
              <a:buNone/>
              <a:defRPr/>
            </a:pPr>
            <a:r>
              <a:rPr lang="zh-CN" altLang="en-US" sz="2800" b="1" dirty="0"/>
              <a:t>    -</a:t>
            </a:r>
            <a:r>
              <a:rPr lang="en-US" altLang="zh-CN" sz="2800" b="1" dirty="0"/>
              <a:t>2 </a:t>
            </a:r>
            <a:r>
              <a:rPr lang="zh-CN" altLang="en-US" sz="2800" b="1" dirty="0"/>
              <a:t>；</a:t>
            </a:r>
            <a:endParaRPr lang="en-US" altLang="zh-CN" sz="2800" b="1" dirty="0"/>
          </a:p>
          <a:p>
            <a:pPr marL="342900" indent="-342900">
              <a:buFont typeface="Wingdings" panose="05000000000000000000" pitchFamily="2" charset="2"/>
              <a:buNone/>
              <a:defRPr/>
            </a:pPr>
            <a:r>
              <a:rPr lang="zh-CN" altLang="en-US" sz="2800" b="1" dirty="0"/>
              <a:t>  </a:t>
            </a:r>
            <a:r>
              <a:rPr lang="zh-CN" altLang="en-US" sz="2800" b="1" i="1" u="sng" dirty="0">
                <a:solidFill>
                  <a:srgbClr val="003399"/>
                </a:solidFill>
                <a:effectLst>
                  <a:outerShdw blurRad="38100" dist="38100" dir="2700000" algn="tl">
                    <a:srgbClr val="C0C0C0"/>
                  </a:outerShdw>
                </a:effectLst>
              </a:rPr>
              <a:t>功能设计</a:t>
            </a:r>
            <a:r>
              <a:rPr lang="zh-CN" altLang="en-US" sz="2800" b="1" dirty="0"/>
              <a:t>：需要移动数组的元素，为待插入的元素留出位置。</a:t>
            </a:r>
          </a:p>
        </p:txBody>
      </p:sp>
      <p:sp>
        <p:nvSpPr>
          <p:cNvPr id="78852" name="Rectangle 6"/>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a:solidFill>
                  <a:srgbClr val="FF3300"/>
                </a:solidFill>
              </a:rPr>
              <a:t>6.5 </a:t>
            </a:r>
            <a:r>
              <a:rPr lang="zh-CN" altLang="en-US" sz="3200" b="1">
                <a:solidFill>
                  <a:srgbClr val="FF3300"/>
                </a:solidFill>
              </a:rPr>
              <a:t>数组的应用</a:t>
            </a:r>
            <a:r>
              <a:rPr lang="en-US" altLang="zh-CN" sz="3200" b="1">
                <a:solidFill>
                  <a:srgbClr val="FF3300"/>
                </a:solidFill>
              </a:rPr>
              <a:t>2</a:t>
            </a:r>
            <a:r>
              <a:rPr lang="zh-CN" altLang="en-US" sz="3200" b="1">
                <a:solidFill>
                  <a:srgbClr val="FF3300"/>
                </a:solidFill>
              </a:rPr>
              <a:t>－插入元素</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7445">
                                            <p:txEl>
                                              <p:pRg st="1" end="1"/>
                                            </p:txEl>
                                          </p:spTgt>
                                        </p:tgtEl>
                                        <p:attrNameLst>
                                          <p:attrName>style.visibility</p:attrName>
                                        </p:attrNameLst>
                                      </p:cBhvr>
                                      <p:to>
                                        <p:strVal val="visible"/>
                                      </p:to>
                                    </p:set>
                                    <p:animEffect transition="in" filter="box(in)">
                                      <p:cBhvr>
                                        <p:cTn id="7" dur="500"/>
                                        <p:tgtEl>
                                          <p:spTgt spid="31744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17445">
                                            <p:txEl>
                                              <p:pRg st="2" end="2"/>
                                            </p:txEl>
                                          </p:spTgt>
                                        </p:tgtEl>
                                        <p:attrNameLst>
                                          <p:attrName>style.visibility</p:attrName>
                                        </p:attrNameLst>
                                      </p:cBhvr>
                                      <p:to>
                                        <p:strVal val="visible"/>
                                      </p:to>
                                    </p:set>
                                    <p:animEffect transition="in" filter="box(in)">
                                      <p:cBhvr>
                                        <p:cTn id="10" dur="500"/>
                                        <p:tgtEl>
                                          <p:spTgt spid="31744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17445">
                                            <p:txEl>
                                              <p:pRg st="3" end="3"/>
                                            </p:txEl>
                                          </p:spTgt>
                                        </p:tgtEl>
                                        <p:attrNameLst>
                                          <p:attrName>style.visibility</p:attrName>
                                        </p:attrNameLst>
                                      </p:cBhvr>
                                      <p:to>
                                        <p:strVal val="visible"/>
                                      </p:to>
                                    </p:set>
                                    <p:animEffect transition="in" filter="box(in)">
                                      <p:cBhvr>
                                        <p:cTn id="13" dur="500"/>
                                        <p:tgtEl>
                                          <p:spTgt spid="31744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17445">
                                            <p:txEl>
                                              <p:pRg st="4" end="4"/>
                                            </p:txEl>
                                          </p:spTgt>
                                        </p:tgtEl>
                                        <p:attrNameLst>
                                          <p:attrName>style.visibility</p:attrName>
                                        </p:attrNameLst>
                                      </p:cBhvr>
                                      <p:to>
                                        <p:strVal val="visible"/>
                                      </p:to>
                                    </p:set>
                                    <p:animEffect transition="in" filter="box(in)">
                                      <p:cBhvr>
                                        <p:cTn id="16" dur="500"/>
                                        <p:tgtEl>
                                          <p:spTgt spid="31744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317445">
                                            <p:txEl>
                                              <p:pRg st="5" end="5"/>
                                            </p:txEl>
                                          </p:spTgt>
                                        </p:tgtEl>
                                        <p:attrNameLst>
                                          <p:attrName>style.visibility</p:attrName>
                                        </p:attrNameLst>
                                      </p:cBhvr>
                                      <p:to>
                                        <p:strVal val="visible"/>
                                      </p:to>
                                    </p:set>
                                    <p:animEffect transition="in" filter="diamond(in)">
                                      <p:cBhvr>
                                        <p:cTn id="21" dur="1000"/>
                                        <p:tgtEl>
                                          <p:spTgt spid="317445">
                                            <p:txEl>
                                              <p:pRg st="5" end="5"/>
                                            </p:txEl>
                                          </p:spTgt>
                                        </p:tgtEl>
                                      </p:cBhvr>
                                    </p:animEffect>
                                  </p:childTnLst>
                                </p:cTn>
                              </p:par>
                              <p:par>
                                <p:cTn id="22" presetID="8" presetClass="entr" presetSubtype="16" fill="hold" nodeType="withEffect">
                                  <p:stCondLst>
                                    <p:cond delay="0"/>
                                  </p:stCondLst>
                                  <p:childTnLst>
                                    <p:set>
                                      <p:cBhvr>
                                        <p:cTn id="23" dur="1" fill="hold">
                                          <p:stCondLst>
                                            <p:cond delay="0"/>
                                          </p:stCondLst>
                                        </p:cTn>
                                        <p:tgtEl>
                                          <p:spTgt spid="317445">
                                            <p:txEl>
                                              <p:pRg st="6" end="6"/>
                                            </p:txEl>
                                          </p:spTgt>
                                        </p:tgtEl>
                                        <p:attrNameLst>
                                          <p:attrName>style.visibility</p:attrName>
                                        </p:attrNameLst>
                                      </p:cBhvr>
                                      <p:to>
                                        <p:strVal val="visible"/>
                                      </p:to>
                                    </p:set>
                                    <p:animEffect transition="in" filter="diamond(in)">
                                      <p:cBhvr>
                                        <p:cTn id="24" dur="1000"/>
                                        <p:tgtEl>
                                          <p:spTgt spid="31744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317445">
                                            <p:txEl>
                                              <p:pRg st="7" end="7"/>
                                            </p:txEl>
                                          </p:spTgt>
                                        </p:tgtEl>
                                        <p:attrNameLst>
                                          <p:attrName>style.visibility</p:attrName>
                                        </p:attrNameLst>
                                      </p:cBhvr>
                                      <p:to>
                                        <p:strVal val="visible"/>
                                      </p:to>
                                    </p:set>
                                    <p:animEffect transition="in" filter="box(in)">
                                      <p:cBhvr>
                                        <p:cTn id="29" dur="500"/>
                                        <p:tgtEl>
                                          <p:spTgt spid="3174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251460" y="1294765"/>
            <a:ext cx="8449945" cy="5230495"/>
          </a:xfrm>
          <a:prstGeom prst="rect">
            <a:avLst/>
          </a:prstGeom>
          <a:ln>
            <a:noFill/>
          </a:ln>
          <a:effectLst>
            <a:glow rad="101600">
              <a:schemeClr val="accent1">
                <a:satMod val="175000"/>
                <a:alpha val="40000"/>
              </a:schemeClr>
            </a:glow>
          </a:effectLst>
        </p:spPr>
        <p:txBody>
          <a:bodyPr/>
          <a:lstStyle/>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int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insEleByLoc</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(int a[], int n, int size, int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int x){</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int j;</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if (n == size){</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printf</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("Array is full.\n");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-2;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if (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&lt;0 ||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&gt;=n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printf</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("loc illegal.\n");</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-1;</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for (j=n-1; j&gt;=</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j--)</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j+1</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 a[j]; </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a[</a:t>
            </a:r>
            <a:r>
              <a:rPr lang="en-US" altLang="zh-CN" dirty="0" err="1">
                <a:solidFill>
                  <a:schemeClr val="tx2"/>
                </a:solidFill>
                <a:latin typeface="Consolas" panose="020B0609020204030204" pitchFamily="49" charset="0"/>
                <a:ea typeface="DFKai-SB" panose="03000509000000000000" pitchFamily="65" charset="-120"/>
                <a:cs typeface="Times New Roman" panose="02020603050405020304" pitchFamily="18" charset="0"/>
              </a:rPr>
              <a:t>i</a:t>
            </a: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]=x;</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n++;</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	return n;</a:t>
            </a:r>
          </a:p>
          <a:p>
            <a:pPr marL="342900" lvl="0" indent="-342900">
              <a:spcBef>
                <a:spcPct val="20000"/>
              </a:spcBef>
              <a:buFont typeface="Wingdings" panose="05000000000000000000" pitchFamily="2" charset="2"/>
              <a:buNone/>
            </a:pPr>
            <a:r>
              <a:rPr lang="en-US" altLang="zh-CN" dirty="0">
                <a:solidFill>
                  <a:schemeClr val="tx2"/>
                </a:solidFill>
                <a:latin typeface="Consolas" panose="020B0609020204030204" pitchFamily="49" charset="0"/>
                <a:ea typeface="DFKai-SB" panose="03000509000000000000" pitchFamily="65" charset="-120"/>
                <a:cs typeface="Times New Roman" panose="02020603050405020304" pitchFamily="18" charset="0"/>
              </a:rPr>
              <a:t>}</a:t>
            </a:r>
          </a:p>
        </p:txBody>
      </p:sp>
      <p:graphicFrame>
        <p:nvGraphicFramePr>
          <p:cNvPr id="12293" name="表格 12292"/>
          <p:cNvGraphicFramePr/>
          <p:nvPr/>
        </p:nvGraphicFramePr>
        <p:xfrm>
          <a:off x="6372225" y="2205038"/>
          <a:ext cx="1905000" cy="3833813"/>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57200">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标号</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数据域</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227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0</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a1= 10</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1</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a2= 12</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2</a:t>
                      </a:r>
                      <a:endParaRPr lang="en-US" altLang="zh-CN" sz="2000" b="0" dirty="0">
                        <a:solidFill>
                          <a:srgbClr val="000000"/>
                        </a:solidFill>
                        <a:latin typeface="Times New Roman" panose="02020603050405020304" pitchFamily="18" charset="0"/>
                        <a:ea typeface="楷体_GB2312" pitchFamily="49"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a3= 25</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2275">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3</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a4= 8</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3862">
                <a:tc>
                  <a:txBody>
                    <a:bodyPr/>
                    <a:lstStyle/>
                    <a:p>
                      <a:pPr lvl="0" eaLnBrk="1" hangingPunct="1">
                        <a:spcBef>
                          <a:spcPct val="20000"/>
                        </a:spcBef>
                        <a:buClr>
                          <a:schemeClr val="hlink"/>
                        </a:buClr>
                        <a:buSzPct val="110000"/>
                        <a:buFont typeface="Wingdings" panose="05000000000000000000" pitchFamily="2" charset="2"/>
                        <a:buNone/>
                      </a:pPr>
                      <a:r>
                        <a:rPr lang="zh-CN" altLang="en-US" sz="2000" b="0" dirty="0">
                          <a:solidFill>
                            <a:srgbClr val="000000"/>
                          </a:solidFill>
                          <a:latin typeface="Times New Roman" panose="02020603050405020304" pitchFamily="18" charset="0"/>
                          <a:ea typeface="楷体_GB2312" pitchFamily="49" charset="-122"/>
                        </a:rPr>
                        <a:t>4</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a5= 16</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3863">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5</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r>
                        <a:rPr lang="en-US" altLang="zh-CN" sz="2000" b="0" dirty="0">
                          <a:solidFill>
                            <a:srgbClr val="000000"/>
                          </a:solidFill>
                          <a:latin typeface="Times New Roman" panose="02020603050405020304" pitchFamily="18" charset="0"/>
                          <a:ea typeface="楷体_GB2312" pitchFamily="49" charset="-122"/>
                        </a:rPr>
                        <a:t>a6= 20</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solidFill>
                          <a:srgbClr val="000000"/>
                        </a:solidFill>
                        <a:latin typeface="Times New Roman" panose="02020603050405020304" pitchFamily="18" charset="0"/>
                        <a:ea typeface="楷体_GB2312" pitchFamily="49"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solidFill>
                          <a:srgbClr val="000000"/>
                        </a:solidFill>
                        <a:latin typeface="Times New Roman" panose="02020603050405020304" pitchFamily="18" charset="0"/>
                        <a:ea typeface="楷体_GB2312" pitchFamily="49"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sm" len="sm"/>
                      <a:tailEnd type="none" w="sm" len="sm"/>
                    </a:lnB>
                    <a:lnTlToBr>
                      <a:noFill/>
                    </a:lnTlToBr>
                    <a:lnBlToTr>
                      <a:noFill/>
                    </a:lnBlToTr>
                    <a:noFill/>
                  </a:tcPr>
                </a:tc>
                <a:extLst>
                  <a:ext uri="{0D108BD9-81ED-4DB2-BD59-A6C34878D82A}">
                    <a16:rowId xmlns:a16="http://schemas.microsoft.com/office/drawing/2014/main" val="10007"/>
                  </a:ext>
                </a:extLst>
              </a:tr>
              <a:tr h="422275">
                <a:tc>
                  <a:txBody>
                    <a:bodyPr/>
                    <a:lstStyle/>
                    <a:p>
                      <a:pPr lvl="0" eaLnBrk="1" hangingPunct="1">
                        <a:spcBef>
                          <a:spcPct val="20000"/>
                        </a:spcBef>
                        <a:buClr>
                          <a:schemeClr val="hlink"/>
                        </a:buClr>
                        <a:buSzPct val="110000"/>
                        <a:buFont typeface="Wingdings" panose="05000000000000000000" pitchFamily="2" charset="2"/>
                        <a:buNone/>
                      </a:pPr>
                      <a:endParaRPr lang="zh-CN" altLang="en-US" sz="2000" b="0" dirty="0">
                        <a:latin typeface="Times New Roman" panose="02020603050405020304" pitchFamily="18" charset="0"/>
                        <a:ea typeface="楷体_GB2312" pitchFamily="49"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tc>
                  <a:txBody>
                    <a:bodyPr/>
                    <a:lstStyle/>
                    <a:p>
                      <a:pPr lvl="0" eaLnBrk="1" hangingPunct="1">
                        <a:spcBef>
                          <a:spcPct val="20000"/>
                        </a:spcBef>
                        <a:buClr>
                          <a:schemeClr val="hlink"/>
                        </a:buClr>
                        <a:buSzPct val="110000"/>
                        <a:buFont typeface="Wingdings" panose="05000000000000000000" pitchFamily="2" charset="2"/>
                        <a:buNone/>
                      </a:pPr>
                      <a:endParaRPr lang="en-US" altLang="zh-CN" sz="2000" b="0" dirty="0">
                        <a:latin typeface="Times New Roman" panose="02020603050405020304" pitchFamily="18" charset="0"/>
                        <a:ea typeface="楷体_GB2312" pitchFamily="49"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sm" len="sm"/>
                      <a:tailEnd type="none" w="sm" len="sm"/>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4515" name="Rectangle 2"/>
          <p:cNvSpPr>
            <a:spLocks noGrp="1" noChangeArrowheads="1"/>
          </p:cNvSpPr>
          <p:nvPr/>
        </p:nvSpPr>
        <p:spPr>
          <a:xfrm>
            <a:off x="1263650" y="404813"/>
            <a:ext cx="7772400" cy="720725"/>
          </a:xfrm>
          <a:prstGeom prst="rect">
            <a:avLst/>
          </a:prstGeom>
          <a:noFill/>
          <a:ln>
            <a:noFill/>
          </a:ln>
        </p:spPr>
        <p:txBody>
          <a:bodyPr vert="horz" wrap="square" lIns="91440" tIns="45720" rIns="91440" bIns="45720" numCol="1" anchor="ctr" anchorCtr="0" compatLnSpc="1"/>
          <a:lst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a:lstStyle>
          <a:p>
            <a:pPr indent="0" eaLnBrk="1" hangingPunct="1">
              <a:buNone/>
            </a:pPr>
            <a:r>
              <a:rPr lang="zh-CN" altLang="en-US" b="1" dirty="0"/>
              <a:t>数组按位置插入元素</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C9D36-4B14-769D-6340-D298EB93DB1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E0B7DAC-E735-299E-3F27-0F20B8B29AF6}"/>
              </a:ext>
            </a:extLst>
          </p:cNvPr>
          <p:cNvSpPr>
            <a:spLocks noGrp="1"/>
          </p:cNvSpPr>
          <p:nvPr>
            <p:ph idx="1"/>
          </p:nvPr>
        </p:nvSpPr>
        <p:spPr>
          <a:xfrm>
            <a:off x="539552" y="1125538"/>
            <a:ext cx="7772400" cy="5278139"/>
          </a:xfrm>
        </p:spPr>
        <p:txBody>
          <a:bodyPr/>
          <a:lstStyle/>
          <a:p>
            <a:pPr marL="0" indent="0">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5</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 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insEleByLoc</a:t>
            </a:r>
            <a:r>
              <a:rPr lang="en-US" altLang="zh-CN" sz="2000" dirty="0">
                <a:latin typeface="Consolas" panose="020B0609020204030204" pitchFamily="49" charset="0"/>
              </a:rPr>
              <a:t>(int a[], int n, int size, int </a:t>
            </a:r>
            <a:r>
              <a:rPr lang="en-US" altLang="zh-CN" sz="2000" dirty="0" err="1">
                <a:latin typeface="Consolas" panose="020B0609020204030204" pitchFamily="49" charset="0"/>
              </a:rPr>
              <a:t>i</a:t>
            </a:r>
            <a:r>
              <a:rPr lang="en-US" altLang="zh-CN" sz="2000" dirty="0">
                <a:latin typeface="Consolas" panose="020B0609020204030204" pitchFamily="49" charset="0"/>
              </a:rPr>
              <a:t>, int x);</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int a[SIZE]={1,2,3,4};</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pt-BR" altLang="zh-CN" sz="2000" dirty="0">
                <a:latin typeface="Consolas" panose="020B0609020204030204" pitchFamily="49" charset="0"/>
              </a:rPr>
              <a:t>    n=</a:t>
            </a:r>
            <a:r>
              <a:rPr lang="en-US" altLang="zh-CN" sz="2000" dirty="0">
                <a:latin typeface="Consolas" panose="020B0609020204030204" pitchFamily="49" charset="0"/>
              </a:rPr>
              <a:t> </a:t>
            </a:r>
            <a:r>
              <a:rPr lang="en-US" altLang="zh-CN" sz="2000" dirty="0" err="1">
                <a:latin typeface="Consolas" panose="020B0609020204030204" pitchFamily="49" charset="0"/>
              </a:rPr>
              <a:t>insEleByLoc</a:t>
            </a:r>
            <a:r>
              <a:rPr lang="pt-BR" altLang="zh-CN" sz="2000" dirty="0">
                <a:latin typeface="Consolas" panose="020B0609020204030204" pitchFamily="49" charset="0"/>
              </a:rPr>
              <a:t>(a,4,SIZE,1,x);</a:t>
            </a:r>
          </a:p>
          <a:p>
            <a:pPr marL="0" indent="0">
              <a:buNone/>
            </a:pPr>
            <a:r>
              <a:rPr lang="pt-BR" altLang="zh-CN" sz="2000" dirty="0">
                <a:latin typeface="Consolas" panose="020B0609020204030204" pitchFamily="49" charset="0"/>
              </a:rPr>
              <a:t>    printArray(a,n);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380707393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61</a:t>
            </a:fld>
            <a:endParaRPr lang="zh-CN" altLang="en-US" sz="1400" b="1" dirty="0"/>
          </a:p>
        </p:txBody>
      </p:sp>
      <p:graphicFrame>
        <p:nvGraphicFramePr>
          <p:cNvPr id="109571" name="Object 4"/>
          <p:cNvGraphicFramePr>
            <a:graphicFrameLocks noGrp="1" noChangeAspect="1"/>
          </p:cNvGraphicFramePr>
          <p:nvPr>
            <p:ph/>
          </p:nvPr>
        </p:nvGraphicFramePr>
        <p:xfrm>
          <a:off x="3563938" y="2060575"/>
          <a:ext cx="2438400" cy="2270125"/>
        </p:xfrm>
        <a:graphic>
          <a:graphicData uri="http://schemas.openxmlformats.org/presentationml/2006/ole">
            <mc:AlternateContent xmlns:mc="http://schemas.openxmlformats.org/markup-compatibility/2006">
              <mc:Choice xmlns:v="urn:schemas-microsoft-com:vml" Requires="v">
                <p:oleObj r:id="rId2" imgW="1132205" imgH="1054100" progId="MS_ClipArt_Gallery.2">
                  <p:embed/>
                </p:oleObj>
              </mc:Choice>
              <mc:Fallback>
                <p:oleObj r:id="rId2" imgW="1132205" imgH="1054100" progId="MS_ClipArt_Gallery.2">
                  <p:embed/>
                  <p:pic>
                    <p:nvPicPr>
                      <p:cNvPr id="109571" name="Object 4"/>
                      <p:cNvPicPr/>
                      <p:nvPr/>
                    </p:nvPicPr>
                    <p:blipFill>
                      <a:blip r:embed="rId3"/>
                      <a:srcRect/>
                      <a:stretch>
                        <a:fillRect/>
                      </a:stretch>
                    </p:blipFill>
                    <p:spPr>
                      <a:xfrm>
                        <a:off x="3563938" y="2060575"/>
                        <a:ext cx="2438400" cy="2270125"/>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1" 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1" 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txDef>
      <a:spPr>
        <a:noFill/>
      </a:spPr>
      <a:bodyPr wrap="square" rtlCol="0">
        <a:spAutoFit/>
      </a:bodyPr>
      <a:lstStyle>
        <a:defPPr>
          <a:defRPr dirty="0" smtClean="0"/>
        </a:defPPr>
      </a:lstStyle>
    </a:tx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2325</TotalTime>
  <Words>5986</Words>
  <Application>Microsoft Office PowerPoint</Application>
  <PresentationFormat>全屏显示(4:3)</PresentationFormat>
  <Paragraphs>760</Paragraphs>
  <Slides>61</Slides>
  <Notes>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74" baseType="lpstr">
      <vt:lpstr>Monotype Sorts</vt:lpstr>
      <vt:lpstr>System</vt:lpstr>
      <vt:lpstr>楷体</vt:lpstr>
      <vt:lpstr>宋体</vt:lpstr>
      <vt:lpstr>微软雅黑</vt:lpstr>
      <vt:lpstr>Arial</vt:lpstr>
      <vt:lpstr>Cambria Math</vt:lpstr>
      <vt:lpstr>Consolas</vt:lpstr>
      <vt:lpstr>Times New Roman</vt:lpstr>
      <vt:lpstr>Wingdings</vt:lpstr>
      <vt:lpstr>经分互动规范介绍</vt:lpstr>
      <vt:lpstr>Bitmap Image</vt:lpstr>
      <vt:lpstr>MS_ClipArt_Gallery.2</vt:lpstr>
      <vt:lpstr>PowerPoint 演示文稿</vt:lpstr>
      <vt:lpstr>提纲</vt:lpstr>
      <vt:lpstr>6.1 总结与回顾</vt:lpstr>
      <vt:lpstr>6.1 总结与回顾</vt:lpstr>
      <vt:lpstr>数据的扩展表示(1)</vt:lpstr>
      <vt:lpstr>数据的扩展表示(2)</vt:lpstr>
      <vt:lpstr>PowerPoint 演示文稿</vt:lpstr>
      <vt:lpstr>数据结构</vt:lpstr>
      <vt:lpstr>提纲</vt:lpstr>
      <vt:lpstr>6.2  数组是连续存储的线性表</vt:lpstr>
      <vt:lpstr>PowerPoint 演示文稿</vt:lpstr>
      <vt:lpstr>数组的定义</vt:lpstr>
      <vt:lpstr>数组的访问</vt:lpstr>
      <vt:lpstr>数组元素操作：读取和赋值</vt:lpstr>
      <vt:lpstr>提纲</vt:lpstr>
      <vt:lpstr>6.3.1 数组的声明</vt:lpstr>
      <vt:lpstr>6.3.1 数组的声明</vt:lpstr>
      <vt:lpstr>6.3.1 数组的声明</vt:lpstr>
      <vt:lpstr>6.3.2 数组的初始化</vt:lpstr>
      <vt:lpstr>6.3.2 数组的初始化</vt:lpstr>
      <vt:lpstr>6.3.2 数组的初始化</vt:lpstr>
      <vt:lpstr>PowerPoint 演示文稿</vt:lpstr>
      <vt:lpstr>6.3.3 数组的逐元素操作</vt:lpstr>
      <vt:lpstr>6.3.3 数组的逐元素操作</vt:lpstr>
      <vt:lpstr>投票统计的算法设计</vt:lpstr>
      <vt:lpstr>6.3.3 数组的逐元素操作</vt:lpstr>
      <vt:lpstr>6.3.3 数组的逐元素操作</vt:lpstr>
      <vt:lpstr>提纲</vt:lpstr>
      <vt:lpstr>PowerPoint 演示文稿</vt:lpstr>
      <vt:lpstr>6.4 数组作为函数参数的处理</vt:lpstr>
      <vt:lpstr>PowerPoint 演示文稿</vt:lpstr>
      <vt:lpstr>PowerPoint 演示文稿</vt:lpstr>
      <vt:lpstr>数组名形参-示例1</vt:lpstr>
      <vt:lpstr>PowerPoint 演示文稿</vt:lpstr>
      <vt:lpstr>PowerPoint 演示文稿</vt:lpstr>
      <vt:lpstr>数组打印的子函数设计</vt:lpstr>
      <vt:lpstr>尾插法创建数组子函数设计v1</vt:lpstr>
      <vt:lpstr>PowerPoint 演示文稿</vt:lpstr>
      <vt:lpstr>尾插法创建数组子函数设计v2</vt:lpstr>
      <vt:lpstr>数组的倒序存储</vt:lpstr>
      <vt:lpstr>头插法创建数组的子函数设计</vt:lpstr>
      <vt:lpstr>PowerPoint 演示文稿</vt:lpstr>
      <vt:lpstr>数组名形参的灵活处理：实参可缩小范围</vt:lpstr>
      <vt:lpstr>逆序打印数组的递归算法</vt:lpstr>
      <vt:lpstr>数组元素求和的递归算法</vt:lpstr>
      <vt:lpstr>PowerPoint 演示文稿</vt:lpstr>
      <vt:lpstr>数组的基本操作3－查找元素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 数组的应用2－插入元素</vt:lpstr>
      <vt:lpstr>PowerPoint 演示文稿</vt:lpstr>
      <vt:lpstr>PowerPoint 演示文稿</vt:lpstr>
      <vt:lpstr>PowerPoint 演示文稿</vt:lpstr>
      <vt:lpstr>PowerPoint 演示文稿</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creator>cyzhou</dc:creator>
  <cp:lastModifiedBy>yanmei zhang</cp:lastModifiedBy>
  <cp:revision>2157</cp:revision>
  <dcterms:created xsi:type="dcterms:W3CDTF">2002-12-06T01:10:00Z</dcterms:created>
  <dcterms:modified xsi:type="dcterms:W3CDTF">2023-11-20T07:40:57Z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