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handoutMasterIdLst>
    <p:handoutMasterId r:id="rId44"/>
  </p:handoutMasterIdLst>
  <p:sldIdLst>
    <p:sldId id="256" r:id="rId2"/>
    <p:sldId id="1484" r:id="rId3"/>
    <p:sldId id="1972" r:id="rId4"/>
    <p:sldId id="1974" r:id="rId5"/>
    <p:sldId id="1485" r:id="rId6"/>
    <p:sldId id="1973" r:id="rId7"/>
    <p:sldId id="1486" r:id="rId8"/>
    <p:sldId id="1487" r:id="rId9"/>
    <p:sldId id="1989" r:id="rId10"/>
    <p:sldId id="1489" r:id="rId11"/>
    <p:sldId id="1576" r:id="rId12"/>
    <p:sldId id="1990" r:id="rId13"/>
    <p:sldId id="1975" r:id="rId14"/>
    <p:sldId id="1479" r:id="rId15"/>
    <p:sldId id="1482" r:id="rId16"/>
    <p:sldId id="1991" r:id="rId17"/>
    <p:sldId id="1483" r:id="rId18"/>
    <p:sldId id="1992" r:id="rId19"/>
    <p:sldId id="1166" r:id="rId20"/>
    <p:sldId id="273" r:id="rId21"/>
    <p:sldId id="363" r:id="rId22"/>
    <p:sldId id="313" r:id="rId23"/>
    <p:sldId id="1987" r:id="rId24"/>
    <p:sldId id="1993" r:id="rId25"/>
    <p:sldId id="476" r:id="rId26"/>
    <p:sldId id="1994" r:id="rId27"/>
    <p:sldId id="1527" r:id="rId28"/>
    <p:sldId id="1995" r:id="rId29"/>
    <p:sldId id="1285" r:id="rId30"/>
    <p:sldId id="524" r:id="rId31"/>
    <p:sldId id="312" r:id="rId32"/>
    <p:sldId id="1528" r:id="rId33"/>
    <p:sldId id="1996" r:id="rId34"/>
    <p:sldId id="1286" r:id="rId35"/>
    <p:sldId id="1212" r:id="rId36"/>
    <p:sldId id="1988" r:id="rId37"/>
    <p:sldId id="1214" r:id="rId38"/>
    <p:sldId id="1215" r:id="rId39"/>
    <p:sldId id="1997" r:id="rId40"/>
    <p:sldId id="1287" r:id="rId41"/>
    <p:sldId id="1147" r:id="rId42"/>
  </p:sldIdLst>
  <p:sldSz cx="9144000" cy="6858000" type="screen4x3"/>
  <p:notesSz cx="6858000" cy="9144000"/>
  <p:defaultTextStyle>
    <a:defPPr>
      <a:defRPr lang="en-US"/>
    </a:defPPr>
    <a:lvl1pPr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lnSpc>
        <a:spcPct val="90000"/>
      </a:lnSpc>
      <a:spcBef>
        <a:spcPct val="20000"/>
      </a:spcBef>
      <a:spcAft>
        <a:spcPct val="0"/>
      </a:spcAft>
      <a:buChar char="•"/>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p:defaultTextStyle>
  <p:extLst>
    <p:ext uri="{521415D9-36F7-43E2-AB2F-B90AF26B5E84}">
      <p14:sectionLst xmlns:p14="http://schemas.microsoft.com/office/powerpoint/2010/main">
        <p14:section name="默认节" id="{83F6B4C7-8CC0-427F-BF86-ACC9BDA8EE70}">
          <p14:sldIdLst>
            <p14:sldId id="256"/>
          </p14:sldIdLst>
        </p14:section>
        <p14:section name="查找算法" id="{2B1E07E9-85B6-42A1-BCC3-B12AAB522DE9}">
          <p14:sldIdLst>
            <p14:sldId id="1484"/>
            <p14:sldId id="1972"/>
            <p14:sldId id="1974"/>
            <p14:sldId id="1485"/>
            <p14:sldId id="1973"/>
            <p14:sldId id="1486"/>
            <p14:sldId id="1487"/>
            <p14:sldId id="1989"/>
            <p14:sldId id="1489"/>
            <p14:sldId id="1576"/>
            <p14:sldId id="1990"/>
          </p14:sldIdLst>
        </p14:section>
        <p14:section name="排序算法" id="{64534ACF-FC2A-433A-897D-6DF1975A66AF}">
          <p14:sldIdLst>
            <p14:sldId id="1975"/>
            <p14:sldId id="1479"/>
            <p14:sldId id="1482"/>
            <p14:sldId id="1991"/>
            <p14:sldId id="1483"/>
            <p14:sldId id="1992"/>
            <p14:sldId id="1166"/>
            <p14:sldId id="273"/>
            <p14:sldId id="363"/>
            <p14:sldId id="313"/>
            <p14:sldId id="1987"/>
            <p14:sldId id="1993"/>
            <p14:sldId id="476"/>
            <p14:sldId id="1994"/>
            <p14:sldId id="1527"/>
            <p14:sldId id="1995"/>
            <p14:sldId id="1285"/>
            <p14:sldId id="524"/>
          </p14:sldIdLst>
        </p14:section>
        <p14:section name="选择排序" id="{E503B603-EC99-4A72-B021-77678AD172C2}">
          <p14:sldIdLst>
            <p14:sldId id="312"/>
            <p14:sldId id="1528"/>
            <p14:sldId id="1996"/>
            <p14:sldId id="1286"/>
          </p14:sldIdLst>
        </p14:section>
        <p14:section name="插入排序" id="{87058088-66FC-4F6A-906B-A7352DAB1BB6}">
          <p14:sldIdLst>
            <p14:sldId id="1212"/>
            <p14:sldId id="1988"/>
            <p14:sldId id="1214"/>
            <p14:sldId id="1215"/>
            <p14:sldId id="1997"/>
            <p14:sldId id="1287"/>
          </p14:sldIdLst>
        </p14:section>
        <p14:section name="end" id="{95B223D5-089E-4A6B-86F4-67F59C1391AC}">
          <p14:sldIdLst>
            <p14:sldId id="1147"/>
          </p14:sldIdLst>
        </p14:section>
      </p14:sectionLst>
    </p:ext>
    <p:ext uri="{EFAFB233-063F-42B5-8137-9DF3F51BA10A}">
      <p15:sldGuideLst xmlns:p15="http://schemas.microsoft.com/office/powerpoint/2012/main">
        <p15:guide id="1" orient="horz" pos="2283">
          <p15:clr>
            <a:srgbClr val="A4A3A4"/>
          </p15:clr>
        </p15:guide>
        <p15:guide id="2" pos="2973">
          <p15:clr>
            <a:srgbClr val="A4A3A4"/>
          </p15:clr>
        </p15:guide>
      </p15:sldGuideLst>
    </p:ext>
    <p:ext uri="{2D200454-40CA-4A62-9FC3-DE9A4176ACB9}">
      <p15:notesGuideLst xmlns:p15="http://schemas.microsoft.com/office/powerpoint/2012/main">
        <p15:guide id="1" orient="horz" pos="2882">
          <p15:clr>
            <a:srgbClr val="A4A3A4"/>
          </p15:clr>
        </p15:guide>
        <p15:guide id="2" pos="223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FFFF"/>
    <a:srgbClr val="000099"/>
    <a:srgbClr val="003399"/>
    <a:srgbClr val="FFFF66"/>
    <a:srgbClr val="FF66CC"/>
    <a:srgbClr val="990099"/>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79732" autoAdjust="0"/>
  </p:normalViewPr>
  <p:slideViewPr>
    <p:cSldViewPr>
      <p:cViewPr varScale="1">
        <p:scale>
          <a:sx n="53" d="100"/>
          <a:sy n="53" d="100"/>
        </p:scale>
        <p:origin x="1380" y="48"/>
      </p:cViewPr>
      <p:guideLst>
        <p:guide orient="horz" pos="2283"/>
        <p:guide pos="297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3598"/>
    </p:cViewPr>
  </p:sorterViewPr>
  <p:notesViewPr>
    <p:cSldViewPr>
      <p:cViewPr varScale="1">
        <p:scale>
          <a:sx n="62" d="100"/>
          <a:sy n="62" d="100"/>
        </p:scale>
        <p:origin x="-2436" y="-90"/>
      </p:cViewPr>
      <p:guideLst>
        <p:guide orient="horz" pos="2882"/>
        <p:guide pos="223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spcBef>
                <a:spcPct val="0"/>
              </a:spcBef>
              <a:buFontTx/>
              <a:buNone/>
              <a:defRPr sz="1200"/>
            </a:lvl1pPr>
          </a:lstStyle>
          <a:p>
            <a:pPr>
              <a:defRPr/>
            </a:pPr>
            <a:endParaRPr lang="zh-CN" altLang="en-US"/>
          </a:p>
        </p:txBody>
      </p:sp>
      <p:sp>
        <p:nvSpPr>
          <p:cNvPr id="13005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FontTx/>
              <a:buNone/>
              <a:defRPr sz="1200"/>
            </a:lvl1pPr>
          </a:lstStyle>
          <a:p>
            <a:pPr>
              <a:defRPr/>
            </a:pPr>
            <a:endParaRPr lang="en-US" altLang="zh-CN"/>
          </a:p>
        </p:txBody>
      </p:sp>
      <p:sp>
        <p:nvSpPr>
          <p:cNvPr id="13005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FontTx/>
              <a:buNone/>
              <a:defRPr sz="1200"/>
            </a:lvl1pPr>
          </a:lstStyle>
          <a:p>
            <a:pPr>
              <a:defRPr/>
            </a:pPr>
            <a:endParaRPr lang="en-US" altLang="zh-CN"/>
          </a:p>
        </p:txBody>
      </p:sp>
      <p:sp>
        <p:nvSpPr>
          <p:cNvPr id="13005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FontTx/>
              <a:buNone/>
              <a:defRPr sz="1200"/>
            </a:lvl1pPr>
          </a:lstStyle>
          <a:p>
            <a:pPr>
              <a:defRPr/>
            </a:pPr>
            <a:fld id="{3A1D5920-E781-45E2-AC47-9045A780A24A}"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spcBef>
                <a:spcPct val="0"/>
              </a:spcBef>
              <a:buFontTx/>
              <a:buNone/>
              <a:defRPr sz="1200"/>
            </a:lvl1pPr>
          </a:lstStyle>
          <a:p>
            <a:pPr>
              <a:defRPr/>
            </a:pPr>
            <a:endParaRPr lang="zh-CN" altLang="en-US"/>
          </a:p>
        </p:txBody>
      </p:sp>
      <p:sp>
        <p:nvSpPr>
          <p:cNvPr id="849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FontTx/>
              <a:buNone/>
              <a:defRPr sz="1200"/>
            </a:lvl1pPr>
          </a:lstStyle>
          <a:p>
            <a:pPr>
              <a:defRPr/>
            </a:pPr>
            <a:endParaRPr lang="en-US" altLang="zh-CN"/>
          </a:p>
        </p:txBody>
      </p:sp>
      <p:sp>
        <p:nvSpPr>
          <p:cNvPr id="1689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49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49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FontTx/>
              <a:buNone/>
              <a:defRPr sz="1200"/>
            </a:lvl1pPr>
          </a:lstStyle>
          <a:p>
            <a:pPr>
              <a:defRPr/>
            </a:pPr>
            <a:endParaRPr lang="en-US" altLang="zh-CN"/>
          </a:p>
        </p:txBody>
      </p:sp>
      <p:sp>
        <p:nvSpPr>
          <p:cNvPr id="849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FontTx/>
              <a:buNone/>
              <a:defRPr sz="1200"/>
            </a:lvl1pPr>
          </a:lstStyle>
          <a:p>
            <a:pPr>
              <a:defRPr/>
            </a:pPr>
            <a:fld id="{445D2F3F-009E-4C69-B954-65C8D576346B}"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16706353-0EDA-4BC7-80C2-5A7BFEFF0BDC}" type="slidenum">
              <a:rPr lang="zh-CN" altLang="en-US" smtClean="0"/>
              <a:t>1</a:t>
            </a:fld>
            <a:endParaRPr lang="en-US" altLang="zh-CN"/>
          </a:p>
        </p:txBody>
      </p:sp>
      <p:sp>
        <p:nvSpPr>
          <p:cNvPr id="169987" name="Rectangle 2"/>
          <p:cNvSpPr>
            <a:spLocks noGrp="1" noRot="1" noChangeAspect="1" noChangeArrowheads="1" noTextEdit="1"/>
          </p:cNvSpPr>
          <p:nvPr>
            <p:ph type="sldImg"/>
          </p:nvPr>
        </p:nvSpPr>
        <p:spPr/>
      </p:sp>
      <p:sp>
        <p:nvSpPr>
          <p:cNvPr id="169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回想生活中我们如何快速查找东西的？面对厚厚的字典，我们借助索引。索引技术广泛用在数据库和文件管理领域。</a:t>
            </a:r>
            <a:endParaRPr lang="en-US" altLang="zh-CN" dirty="0"/>
          </a:p>
          <a:p>
            <a:r>
              <a:rPr lang="zh-CN" altLang="en-US" dirty="0"/>
              <a:t>但是索引方法需要我们费心维护索引表和内容数组之间的一致性关系，比较复杂。这里暂时不介绍。</a:t>
            </a:r>
            <a:endParaRPr lang="en-US" altLang="zh-CN" dirty="0"/>
          </a:p>
          <a:p>
            <a:r>
              <a:rPr lang="zh-CN" altLang="en-US" dirty="0"/>
              <a:t>如果没有索引，我们如何在一本厚书中找到需要的那一页内容？</a:t>
            </a:r>
            <a:endParaRPr lang="en-US" altLang="zh-CN" dirty="0"/>
          </a:p>
          <a:p>
            <a:r>
              <a:rPr lang="zh-CN" altLang="en-US" dirty="0"/>
              <a:t>比如，在读过的小说里找到某个细节。随便翻到一处，查看当前内容，发现目标在此之前；</a:t>
            </a:r>
            <a:endParaRPr lang="en-US" altLang="zh-CN" dirty="0"/>
          </a:p>
          <a:p>
            <a:r>
              <a:rPr lang="zh-CN" altLang="en-US" dirty="0"/>
              <a:t>于是翻到之前的任意一处，比对，目标仍然在此之前；重复，直到找到为止。</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445D2F3F-009E-4C69-B954-65C8D576346B}" type="slidenum">
              <a:rPr lang="zh-CN" altLang="en-US" smtClean="0"/>
              <a:t>2</a:t>
            </a:fld>
            <a:endParaRPr lang="en-US" altLang="zh-CN"/>
          </a:p>
        </p:txBody>
      </p:sp>
    </p:spTree>
    <p:extLst>
      <p:ext uri="{BB962C8B-B14F-4D97-AF65-F5344CB8AC3E}">
        <p14:creationId xmlns:p14="http://schemas.microsoft.com/office/powerpoint/2010/main" val="2137537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45D2F3F-009E-4C69-B954-65C8D576346B}" type="slidenum">
              <a:rPr lang="zh-CN" altLang="en-US" smtClean="0"/>
              <a:t>7</a:t>
            </a:fld>
            <a:endParaRPr lang="en-US" altLang="zh-CN"/>
          </a:p>
        </p:txBody>
      </p:sp>
    </p:spTree>
    <p:extLst>
      <p:ext uri="{BB962C8B-B14F-4D97-AF65-F5344CB8AC3E}">
        <p14:creationId xmlns:p14="http://schemas.microsoft.com/office/powerpoint/2010/main" val="3144184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设想在一个考场上，所有同学已经坐好了，但是没有按顺序！你比对后，大喊：从这里开始，所有人向后移两位。没有人动。</a:t>
            </a:r>
            <a:endParaRPr lang="en-US" altLang="zh-CN" dirty="0"/>
          </a:p>
          <a:p>
            <a:r>
              <a:rPr lang="zh-CN" altLang="en-US" dirty="0"/>
              <a:t>排序的难度好高啊！怎么办？</a:t>
            </a:r>
          </a:p>
        </p:txBody>
      </p:sp>
      <p:sp>
        <p:nvSpPr>
          <p:cNvPr id="4" name="灯片编号占位符 3"/>
          <p:cNvSpPr>
            <a:spLocks noGrp="1"/>
          </p:cNvSpPr>
          <p:nvPr>
            <p:ph type="sldNum" sz="quarter" idx="5"/>
          </p:nvPr>
        </p:nvSpPr>
        <p:spPr/>
        <p:txBody>
          <a:bodyPr/>
          <a:lstStyle/>
          <a:p>
            <a:pPr>
              <a:defRPr/>
            </a:pPr>
            <a:fld id="{445D2F3F-009E-4C69-B954-65C8D576346B}" type="slidenum">
              <a:rPr lang="zh-CN" altLang="en-US" smtClean="0"/>
              <a:t>13</a:t>
            </a:fld>
            <a:endParaRPr lang="en-US" altLang="zh-CN"/>
          </a:p>
        </p:txBody>
      </p:sp>
    </p:spTree>
    <p:extLst>
      <p:ext uri="{BB962C8B-B14F-4D97-AF65-F5344CB8AC3E}">
        <p14:creationId xmlns:p14="http://schemas.microsoft.com/office/powerpoint/2010/main" val="2831972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交换的方法将数组中奇偶分开，是最快的算法。</a:t>
            </a:r>
            <a:endParaRPr lang="en-US" altLang="zh-CN" dirty="0"/>
          </a:p>
          <a:p>
            <a:r>
              <a:rPr lang="zh-CN" altLang="en-US" dirty="0"/>
              <a:t>但是在</a:t>
            </a:r>
            <a:r>
              <a:rPr lang="en-US" altLang="zh-CN" dirty="0" err="1"/>
              <a:t>pta</a:t>
            </a:r>
            <a:r>
              <a:rPr lang="zh-CN" altLang="en-US" dirty="0"/>
              <a:t>上遇到这种题目，却不可使用交换方法，因为测试数据可能是按原数组中奇数次序和偶数顺序组织的；</a:t>
            </a:r>
            <a:endParaRPr lang="en-US" altLang="zh-CN" dirty="0"/>
          </a:p>
          <a:p>
            <a:r>
              <a:rPr lang="zh-CN" altLang="en-US" dirty="0"/>
              <a:t>交换方法不能保证遵从原数组奇数出现次序，因此</a:t>
            </a:r>
            <a:r>
              <a:rPr lang="en-US" altLang="zh-CN" dirty="0" err="1"/>
              <a:t>pta</a:t>
            </a:r>
            <a:r>
              <a:rPr lang="zh-CN" altLang="en-US" dirty="0"/>
              <a:t>题需要开一个新数组，将原数组的奇数挑出来存在前面，再将原数组的偶数挑出来存在后面。</a:t>
            </a:r>
          </a:p>
        </p:txBody>
      </p:sp>
      <p:sp>
        <p:nvSpPr>
          <p:cNvPr id="4" name="灯片编号占位符 3"/>
          <p:cNvSpPr>
            <a:spLocks noGrp="1"/>
          </p:cNvSpPr>
          <p:nvPr>
            <p:ph type="sldNum" sz="quarter" idx="5"/>
          </p:nvPr>
        </p:nvSpPr>
        <p:spPr/>
        <p:txBody>
          <a:bodyPr/>
          <a:lstStyle/>
          <a:p>
            <a:pPr>
              <a:defRPr/>
            </a:pPr>
            <a:fld id="{445D2F3F-009E-4C69-B954-65C8D576346B}" type="slidenum">
              <a:rPr lang="zh-CN" altLang="en-US" smtClean="0"/>
              <a:t>17</a:t>
            </a:fld>
            <a:endParaRPr lang="en-US" altLang="zh-CN"/>
          </a:p>
        </p:txBody>
      </p:sp>
    </p:spTree>
    <p:extLst>
      <p:ext uri="{BB962C8B-B14F-4D97-AF65-F5344CB8AC3E}">
        <p14:creationId xmlns:p14="http://schemas.microsoft.com/office/powerpoint/2010/main" val="3439432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幻灯片图像占位符 1">
            <a:extLst>
              <a:ext uri="{FF2B5EF4-FFF2-40B4-BE49-F238E27FC236}">
                <a16:creationId xmlns:a16="http://schemas.microsoft.com/office/drawing/2014/main" id="{3CB68044-3DE1-431D-B89B-003A996C460C}"/>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20482" name="备注占位符 2">
            <a:extLst>
              <a:ext uri="{FF2B5EF4-FFF2-40B4-BE49-F238E27FC236}">
                <a16:creationId xmlns:a16="http://schemas.microsoft.com/office/drawing/2014/main" id="{5AC41541-4F3C-4737-BA20-5A1D97B4D1AF}"/>
              </a:ext>
            </a:extLst>
          </p:cNvPr>
          <p:cNvSpPr>
            <a:spLocks noGrp="1" noChangeArrowheads="1"/>
          </p:cNvSpPr>
          <p:nvPr>
            <p:ph type="body" idx="4294967295"/>
          </p:nvPr>
        </p:nvSpPr>
        <p:spPr bwMode="auto">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0483" name="灯片编号占位符 3">
            <a:extLst>
              <a:ext uri="{FF2B5EF4-FFF2-40B4-BE49-F238E27FC236}">
                <a16:creationId xmlns:a16="http://schemas.microsoft.com/office/drawing/2014/main" id="{EE59CB38-FB46-480C-B570-57DD380C67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2DBD5F83-54D8-4B73-8BF0-67E07310A650}" type="slidenum">
              <a:rPr lang="zh-CN" altLang="en-US" sz="1800" smtClean="0"/>
              <a:pPr/>
              <a:t>20</a:t>
            </a:fld>
            <a:endParaRPr lang="zh-CN" altLang="en-US" sz="18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1E39D1CF-0F2B-4F64-B478-C37F00A6BCF6}" type="slidenum">
              <a:rPr lang="zh-CN" altLang="en-US" smtClean="0"/>
              <a:t>22</a:t>
            </a:fld>
            <a:endParaRPr lang="en-US" altLang="zh-CN"/>
          </a:p>
        </p:txBody>
      </p:sp>
      <p:sp>
        <p:nvSpPr>
          <p:cNvPr id="176131" name="Rectangle 2"/>
          <p:cNvSpPr>
            <a:spLocks noGrp="1" noRot="1" noChangeAspect="1" noChangeArrowheads="1" noTextEdit="1"/>
          </p:cNvSpPr>
          <p:nvPr>
            <p:ph type="sldImg"/>
          </p:nvPr>
        </p:nvSpPr>
        <p:spPr/>
      </p:sp>
      <p:sp>
        <p:nvSpPr>
          <p:cNvPr id="176132" name="Rectangle 3"/>
          <p:cNvSpPr>
            <a:spLocks noGrp="1" noChangeArrowheads="1"/>
          </p:cNvSpPr>
          <p:nvPr>
            <p:ph type="body" idx="1"/>
          </p:nvPr>
        </p:nvSpPr>
        <p:spPr>
          <a:noFill/>
        </p:spPr>
        <p:txBody>
          <a:bodyPr/>
          <a:lstStyle/>
          <a:p>
            <a:pPr eaLnBrk="1" hangingPunct="1"/>
            <a:r>
              <a:rPr lang="zh-CN" altLang="en-US"/>
              <a:t>关键点：找出第</a:t>
            </a:r>
            <a:r>
              <a:rPr lang="en-US" altLang="zh-CN"/>
              <a:t>pass</a:t>
            </a:r>
            <a:r>
              <a:rPr lang="zh-CN" altLang="en-US"/>
              <a:t>趟要赋值的下标</a:t>
            </a:r>
            <a:r>
              <a:rPr lang="en-US" altLang="zh-CN"/>
              <a:t>x</a:t>
            </a:r>
          </a:p>
          <a:p>
            <a:pPr eaLnBrk="1" hangingPunct="1"/>
            <a:r>
              <a:rPr lang="zh-CN" altLang="en-US"/>
              <a:t>第</a:t>
            </a:r>
            <a:r>
              <a:rPr lang="en-US" altLang="zh-CN"/>
              <a:t>pass</a:t>
            </a:r>
            <a:r>
              <a:rPr lang="zh-CN" altLang="en-US"/>
              <a:t>趟下标为</a:t>
            </a:r>
            <a:r>
              <a:rPr lang="en-US" altLang="zh-CN"/>
              <a:t>elementCount－1</a:t>
            </a:r>
            <a:r>
              <a:rPr lang="zh-CN" altLang="en-US"/>
              <a:t> 和</a:t>
            </a:r>
            <a:r>
              <a:rPr lang="en-US" altLang="zh-CN"/>
              <a:t>x</a:t>
            </a:r>
            <a:r>
              <a:rPr lang="zh-CN" altLang="en-US"/>
              <a:t>的数组元素之间的元素个数是：（</a:t>
            </a:r>
            <a:r>
              <a:rPr lang="en-US" altLang="zh-CN"/>
              <a:t>elementCount－1）－x＋1</a:t>
            </a:r>
          </a:p>
          <a:p>
            <a:pPr eaLnBrk="1" hangingPunct="1"/>
            <a:r>
              <a:rPr lang="zh-CN" altLang="en-US"/>
              <a:t>而下标为</a:t>
            </a:r>
            <a:r>
              <a:rPr lang="en-US" altLang="zh-CN"/>
              <a:t>elementCount－1</a:t>
            </a:r>
            <a:r>
              <a:rPr lang="zh-CN" altLang="en-US"/>
              <a:t> 和</a:t>
            </a:r>
            <a:r>
              <a:rPr lang="en-US" altLang="zh-CN"/>
              <a:t>x</a:t>
            </a:r>
            <a:r>
              <a:rPr lang="zh-CN" altLang="en-US"/>
              <a:t>的数组元素之间的元素个数是</a:t>
            </a:r>
            <a:r>
              <a:rPr lang="en-US" altLang="zh-CN"/>
              <a:t>pass</a:t>
            </a:r>
            <a:r>
              <a:rPr lang="zh-CN" altLang="en-US"/>
              <a:t>个，由等式（</a:t>
            </a:r>
            <a:r>
              <a:rPr lang="en-US" altLang="zh-CN"/>
              <a:t>elementCount－1）－x＋1</a:t>
            </a:r>
          </a:p>
          <a:p>
            <a:pPr eaLnBrk="1" hangingPunct="1"/>
            <a:r>
              <a:rPr lang="zh-CN" altLang="en-US"/>
              <a:t>＝</a:t>
            </a:r>
            <a:r>
              <a:rPr lang="en-US" altLang="zh-CN"/>
              <a:t>pass</a:t>
            </a:r>
            <a:r>
              <a:rPr lang="zh-CN" altLang="en-US"/>
              <a:t>可得</a:t>
            </a:r>
            <a:r>
              <a:rPr lang="en-US" altLang="zh-CN"/>
              <a:t>x＝ elementCount－pass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p:cNvSpPr>
            <a:spLocks noGrp="1" noRot="1" noChangeAspect="1" noTextEdit="1"/>
          </p:cNvSpPr>
          <p:nvPr>
            <p:ph type="sldImg"/>
          </p:nvPr>
        </p:nvSpPr>
        <p:spPr/>
      </p:sp>
      <p:sp>
        <p:nvSpPr>
          <p:cNvPr id="177155" name="备注占位符 2"/>
          <p:cNvSpPr>
            <a:spLocks noGrp="1"/>
          </p:cNvSpPr>
          <p:nvPr>
            <p:ph type="body" idx="1"/>
          </p:nvPr>
        </p:nvSpPr>
        <p:spPr>
          <a:noFill/>
        </p:spPr>
        <p:txBody>
          <a:bodyPr/>
          <a:lstStyle/>
          <a:p>
            <a:endParaRPr lang="zh-CN" altLang="en-US"/>
          </a:p>
        </p:txBody>
      </p:sp>
      <p:sp>
        <p:nvSpPr>
          <p:cNvPr id="177156" name="灯片编号占位符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6C0A8730-245F-4637-B071-4B29F182BF7C}" type="slidenum">
              <a:rPr lang="zh-CN" altLang="en-US" smtClean="0"/>
              <a:t>30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0A0CD573-0D49-40E5-93E7-DC3FCED26C56}" type="slidenum">
              <a:rPr lang="zh-CN" altLang="en-US"/>
              <a:t>‹#›</a:t>
            </a:fld>
            <a:endParaRPr lang="en-US" altLang="zh-CN"/>
          </a:p>
        </p:txBody>
      </p:sp>
    </p:spTree>
  </p:cSld>
  <p:clrMapOvr>
    <a:masterClrMapping/>
  </p:clrMapOvr>
  <p:transition/>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ACFCF81A-63DF-425F-8382-179C6EBDE7B5}" type="slidenum">
              <a:rPr lang="zh-CN" altLang="en-US"/>
              <a:t>‹#›</a:t>
            </a:fld>
            <a:endParaRPr lang="en-US" altLang="zh-CN"/>
          </a:p>
        </p:txBody>
      </p:sp>
    </p:spTree>
  </p:cSld>
  <p:clrMapOvr>
    <a:masterClrMapping/>
  </p:clrMapOvr>
  <p:transition/>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B9C5B4C6-FA0B-43F5-9B36-C09E90DCCB56}" type="slidenum">
              <a:rPr lang="zh-CN" altLang="en-US"/>
              <a:t>‹#›</a:t>
            </a:fld>
            <a:endParaRPr lang="en-US" altLang="zh-CN"/>
          </a:p>
        </p:txBody>
      </p:sp>
    </p:spTree>
  </p:cSld>
  <p:clrMapOvr>
    <a:masterClrMapping/>
  </p:clrMapOvr>
  <p:transition/>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42B816D3-0A73-4BB0-AF78-3AE6E035861B}" type="slidenum">
              <a:rPr lang="zh-CN" altLang="en-US"/>
              <a:t>‹#›</a:t>
            </a:fld>
            <a:endParaRPr lang="en-US" altLang="zh-CN"/>
          </a:p>
        </p:txBody>
      </p:sp>
    </p:spTree>
  </p:cSld>
  <p:clrMapOvr>
    <a:masterClrMapping/>
  </p:clrMapOvr>
  <p:transition/>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p:txBody>
          <a:bodyPr/>
          <a:lstStyle>
            <a:lvl1pPr>
              <a:defRPr/>
            </a:lvl1pPr>
          </a:lstStyle>
          <a:p>
            <a:pPr>
              <a:defRPr/>
            </a:pPr>
            <a:fld id="{C22DCD31-C104-402E-B1B7-C115A793F457}" type="slidenum">
              <a:rPr lang="zh-CN" altLang="en-US"/>
              <a:t>‹#›</a:t>
            </a:fld>
            <a:endParaRPr lang="en-US" altLang="zh-CN"/>
          </a:p>
        </p:txBody>
      </p:sp>
    </p:spTree>
  </p:cSld>
  <p:clrMapOvr>
    <a:masterClrMapping/>
  </p:clrMapOvr>
  <p:transition/>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p:txBody>
          <a:bodyPr/>
          <a:lstStyle>
            <a:lvl1pPr>
              <a:defRPr/>
            </a:lvl1pPr>
          </a:lstStyle>
          <a:p>
            <a:pPr>
              <a:defRPr/>
            </a:pPr>
            <a:fld id="{DAE71CB8-5422-4627-929F-D04EDEDC5496}" type="slidenum">
              <a:rPr lang="zh-CN" altLang="en-US"/>
              <a:t>‹#›</a:t>
            </a:fld>
            <a:endParaRPr lang="en-US" altLang="zh-CN"/>
          </a:p>
        </p:txBody>
      </p:sp>
    </p:spTree>
  </p:cSld>
  <p:clrMapOvr>
    <a:masterClrMapping/>
  </p:clrMapOvr>
  <p:transition/>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p:txBody>
          <a:bodyPr/>
          <a:lstStyle>
            <a:lvl1pPr>
              <a:defRPr/>
            </a:lvl1pPr>
          </a:lstStyle>
          <a:p>
            <a:pPr>
              <a:defRPr/>
            </a:pPr>
            <a:fld id="{A65ED743-0921-459D-BB2C-FAFFDF8127E6}" type="slidenum">
              <a:rPr lang="zh-CN" altLang="en-US"/>
              <a:t>‹#›</a:t>
            </a:fld>
            <a:endParaRPr lang="en-US" altLang="zh-CN"/>
          </a:p>
        </p:txBody>
      </p:sp>
    </p:spTree>
  </p:cSld>
  <p:clrMapOvr>
    <a:masterClrMapping/>
  </p:clrMapOvr>
  <p:transition/>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lstStyle/>
          <a:p>
            <a:pPr lvl="0"/>
            <a:r>
              <a:rPr lang="zh-CN" altLang="zh-CN"/>
              <a:t>单击以编辑</a:t>
            </a:r>
            <a:r>
              <a:rPr lang="zh-CN" altLang="en-US"/>
              <a:t>母版标题样式</a:t>
            </a:r>
          </a:p>
        </p:txBody>
      </p:sp>
      <p:sp>
        <p:nvSpPr>
          <p:cNvPr id="1027" name="Rectangle 3"/>
          <p:cNvSpPr>
            <a:spLocks noGrp="1" noChangeArrowheads="1"/>
          </p:cNvSpPr>
          <p:nvPr>
            <p:ph type="body" idx="1"/>
          </p:nvPr>
        </p:nvSpPr>
        <p:spPr bwMode="auto">
          <a:xfrm>
            <a:off x="685800" y="1319213"/>
            <a:ext cx="7772400" cy="4611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7637" name="Rectangle 5"/>
          <p:cNvSpPr>
            <a:spLocks noGrp="1" noChangeArrowheads="1"/>
          </p:cNvSpPr>
          <p:nvPr>
            <p:ph type="ftr" sz="quarter" idx="3"/>
          </p:nvPr>
        </p:nvSpPr>
        <p:spPr bwMode="auto">
          <a:xfrm>
            <a:off x="3124200" y="60833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ctr">
              <a:spcBef>
                <a:spcPct val="50000"/>
              </a:spcBef>
              <a:buFontTx/>
              <a:buNone/>
              <a:defRPr sz="1400"/>
            </a:lvl1pPr>
          </a:lstStyle>
          <a:p>
            <a:pPr>
              <a:defRPr/>
            </a:pPr>
            <a:endParaRPr lang="en-US" altLang="zh-CN"/>
          </a:p>
        </p:txBody>
      </p:sp>
      <p:sp>
        <p:nvSpPr>
          <p:cNvPr id="197638" name="Rectangle 6"/>
          <p:cNvSpPr>
            <a:spLocks noGrp="1" noChangeArrowheads="1"/>
          </p:cNvSpPr>
          <p:nvPr>
            <p:ph type="sldNum" sz="quarter" idx="4"/>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a:spcBef>
                <a:spcPct val="50000"/>
              </a:spcBef>
              <a:buFontTx/>
              <a:buNone/>
              <a:defRPr sz="1400" b="1"/>
            </a:lvl1pPr>
          </a:lstStyle>
          <a:p>
            <a:pPr>
              <a:defRPr/>
            </a:pPr>
            <a:fld id="{528C3BB1-4401-40CC-883B-BDFB3B36ED38}" type="slidenum">
              <a:rPr lang="zh-CN" altLang="en-US"/>
              <a:t>‹#›</a:t>
            </a:fld>
            <a:endParaRPr lang="en-US" altLang="zh-CN"/>
          </a:p>
        </p:txBody>
      </p:sp>
      <p:grpSp>
        <p:nvGrpSpPr>
          <p:cNvPr id="1030" name="Group 7"/>
          <p:cNvGrpSpPr/>
          <p:nvPr/>
        </p:nvGrpSpPr>
        <p:grpSpPr bwMode="auto">
          <a:xfrm>
            <a:off x="0" y="6553200"/>
            <a:ext cx="9144000" cy="301625"/>
            <a:chOff x="0" y="4032"/>
            <a:chExt cx="5760" cy="288"/>
          </a:xfrm>
        </p:grpSpPr>
        <p:sp>
          <p:nvSpPr>
            <p:cNvPr id="1034"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defRPr/>
              </a:pPr>
              <a:r>
                <a:rPr lang="zh-CN" altLang="en-US" sz="2400"/>
                <a:t>                  </a:t>
              </a:r>
            </a:p>
          </p:txBody>
        </p:sp>
        <p:sp>
          <p:nvSpPr>
            <p:cNvPr id="1035" name="Line 9"/>
            <p:cNvSpPr>
              <a:spLocks noChangeShapeType="1"/>
            </p:cNvSpPr>
            <p:nvPr/>
          </p:nvSpPr>
          <p:spPr bwMode="auto">
            <a:xfrm>
              <a:off x="4464" y="4032"/>
              <a:ext cx="288"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36" name="Line 10"/>
            <p:cNvSpPr>
              <a:spLocks noChangeShapeType="1"/>
            </p:cNvSpPr>
            <p:nvPr/>
          </p:nvSpPr>
          <p:spPr bwMode="auto">
            <a:xfrm>
              <a:off x="4176" y="4032"/>
              <a:ext cx="336"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37" name="Line 11"/>
            <p:cNvSpPr>
              <a:spLocks noChangeShapeType="1"/>
            </p:cNvSpPr>
            <p:nvPr/>
          </p:nvSpPr>
          <p:spPr bwMode="auto">
            <a:xfrm>
              <a:off x="4704" y="4032"/>
              <a:ext cx="336"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38" name="Line 12"/>
            <p:cNvSpPr>
              <a:spLocks noChangeShapeType="1"/>
            </p:cNvSpPr>
            <p:nvPr/>
          </p:nvSpPr>
          <p:spPr bwMode="auto">
            <a:xfrm>
              <a:off x="5376" y="4032"/>
              <a:ext cx="384"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39" name="Line 13"/>
            <p:cNvSpPr>
              <a:spLocks noChangeShapeType="1"/>
            </p:cNvSpPr>
            <p:nvPr/>
          </p:nvSpPr>
          <p:spPr bwMode="auto">
            <a:xfrm>
              <a:off x="5184" y="4032"/>
              <a:ext cx="384"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40" name="Line 14"/>
            <p:cNvSpPr>
              <a:spLocks noChangeShapeType="1"/>
            </p:cNvSpPr>
            <p:nvPr/>
          </p:nvSpPr>
          <p:spPr bwMode="auto">
            <a:xfrm>
              <a:off x="5568" y="4032"/>
              <a:ext cx="192" cy="144"/>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41" name="Line 15"/>
            <p:cNvSpPr>
              <a:spLocks noChangeShapeType="1"/>
            </p:cNvSpPr>
            <p:nvPr/>
          </p:nvSpPr>
          <p:spPr bwMode="auto">
            <a:xfrm>
              <a:off x="4992" y="4032"/>
              <a:ext cx="336" cy="288"/>
            </a:xfrm>
            <a:prstGeom prst="line">
              <a:avLst/>
            </a:prstGeom>
            <a:noFill/>
            <a:ln w="57150">
              <a:solidFill>
                <a:srgbClr val="FFFF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031" name="Line 16"/>
          <p:cNvSpPr>
            <a:spLocks noChangeShapeType="1"/>
          </p:cNvSpPr>
          <p:nvPr/>
        </p:nvSpPr>
        <p:spPr bwMode="auto">
          <a:xfrm>
            <a:off x="468313" y="1176338"/>
            <a:ext cx="8458200" cy="0"/>
          </a:xfrm>
          <a:prstGeom prst="line">
            <a:avLst/>
          </a:prstGeom>
          <a:noFill/>
          <a:ln w="57150">
            <a:solidFill>
              <a:srgbClr val="33CC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032" name="Text Box 17"/>
          <p:cNvSpPr txBox="1">
            <a:spLocks noChangeArrowheads="1"/>
          </p:cNvSpPr>
          <p:nvPr/>
        </p:nvSpPr>
        <p:spPr bwMode="auto">
          <a:xfrm>
            <a:off x="457200" y="2514600"/>
            <a:ext cx="8305800" cy="350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defRPr/>
            </a:pPr>
            <a:endParaRPr lang="zh-CN" altLang="en-US" sz="3200" b="1">
              <a:solidFill>
                <a:srgbClr val="FFFFFF"/>
              </a:solidFill>
            </a:endParaRPr>
          </a:p>
          <a:p>
            <a:pPr eaLnBrk="1" hangingPunct="1">
              <a:spcBef>
                <a:spcPct val="50000"/>
              </a:spcBef>
              <a:buFontTx/>
              <a:buNone/>
              <a:defRPr/>
            </a:pPr>
            <a:endParaRPr lang="zh-CN" altLang="en-US" sz="3200" b="1">
              <a:solidFill>
                <a:srgbClr val="FFFFFF"/>
              </a:solidFill>
            </a:endParaRPr>
          </a:p>
          <a:p>
            <a:pPr eaLnBrk="1" hangingPunct="1">
              <a:spcBef>
                <a:spcPct val="50000"/>
              </a:spcBef>
              <a:buFontTx/>
              <a:buNone/>
              <a:defRPr/>
            </a:pPr>
            <a:endParaRPr lang="zh-CN" altLang="en-US" sz="3200" b="1">
              <a:solidFill>
                <a:srgbClr val="FFFFFF"/>
              </a:solidFill>
            </a:endParaRPr>
          </a:p>
          <a:p>
            <a:pPr eaLnBrk="1" hangingPunct="1">
              <a:spcBef>
                <a:spcPct val="50000"/>
              </a:spcBef>
              <a:buFontTx/>
              <a:buNone/>
              <a:defRPr/>
            </a:pPr>
            <a:endParaRPr lang="zh-CN" altLang="en-US" sz="3200" b="1">
              <a:solidFill>
                <a:srgbClr val="FFFFFF"/>
              </a:solidFill>
            </a:endParaRPr>
          </a:p>
          <a:p>
            <a:pPr eaLnBrk="1" hangingPunct="1">
              <a:spcBef>
                <a:spcPct val="50000"/>
              </a:spcBef>
              <a:buFontTx/>
              <a:buNone/>
              <a:defRPr/>
            </a:pPr>
            <a:endParaRPr lang="zh-CN" altLang="en-US" sz="3200" b="1">
              <a:solidFill>
                <a:srgbClr val="FFFFFF"/>
              </a:solidFill>
            </a:endParaRPr>
          </a:p>
        </p:txBody>
      </p:sp>
      <p:pic>
        <p:nvPicPr>
          <p:cNvPr id="1033" name="Picture 18" descr="bup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138" y="228600"/>
            <a:ext cx="1970087" cy="661988"/>
          </a:xfrm>
          <a:prstGeom prst="rect">
            <a:avLst/>
          </a:prstGeom>
          <a:solidFill>
            <a:srgbClr val="438AC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hf sldNum="0" hdr="0" ftr="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10.wmf"/><Relationship Id="rId4"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7.xml"/><Relationship Id="rId4" Type="http://schemas.openxmlformats.org/officeDocument/2006/relationships/oleObject" Target="../embeddings/oleObject4.bin"/></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15.wmf"/><Relationship Id="rId4" Type="http://schemas.openxmlformats.org/officeDocument/2006/relationships/oleObject" Target="../embeddings/oleObject6.bin"/></Relationships>
</file>

<file path=ppt/slides/_rels/slide4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1" name="Group 4"/>
          <p:cNvGrpSpPr/>
          <p:nvPr/>
        </p:nvGrpSpPr>
        <p:grpSpPr bwMode="auto">
          <a:xfrm>
            <a:off x="1619250" y="1917700"/>
            <a:ext cx="5903913" cy="863600"/>
            <a:chOff x="1488" y="1152"/>
            <a:chExt cx="2736" cy="624"/>
          </a:xfrm>
        </p:grpSpPr>
        <p:sp>
          <p:nvSpPr>
            <p:cNvPr id="2053" name="Rectangle 5"/>
            <p:cNvSpPr>
              <a:spLocks noChangeArrowheads="1"/>
            </p:cNvSpPr>
            <p:nvPr/>
          </p:nvSpPr>
          <p:spPr bwMode="auto">
            <a:xfrm>
              <a:off x="1488" y="1152"/>
              <a:ext cx="2736" cy="624"/>
            </a:xfrm>
            <a:prstGeom prst="rect">
              <a:avLst/>
            </a:prstGeom>
            <a:gradFill rotWithShape="0">
              <a:gsLst>
                <a:gs pos="0">
                  <a:srgbClr val="3E040E"/>
                </a:gs>
                <a:gs pos="50000">
                  <a:srgbClr val="CF0E30"/>
                </a:gs>
                <a:gs pos="100000">
                  <a:srgbClr val="3E040E"/>
                </a:gs>
              </a:gsLst>
              <a:lin ang="2700000" scaled="1"/>
            </a:gradFill>
            <a:ln w="28575">
              <a:solidFill>
                <a:srgbClr val="F6829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054" name="Text Box 6"/>
            <p:cNvSpPr txBox="1">
              <a:spLocks noChangeArrowheads="1"/>
            </p:cNvSpPr>
            <p:nvPr/>
          </p:nvSpPr>
          <p:spPr bwMode="auto">
            <a:xfrm>
              <a:off x="1536" y="1200"/>
              <a:ext cx="2612"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en-US" altLang="zh-CN" sz="3600" b="1" dirty="0">
                  <a:solidFill>
                    <a:schemeClr val="bg1"/>
                  </a:solidFill>
                </a:rPr>
                <a:t>6.5</a:t>
              </a:r>
              <a:r>
                <a:rPr lang="zh-CN" altLang="en-US" sz="3600" b="1" dirty="0">
                  <a:solidFill>
                    <a:schemeClr val="bg1"/>
                  </a:solidFill>
                </a:rPr>
                <a:t>  数组的查找与排序</a:t>
              </a:r>
            </a:p>
          </p:txBody>
        </p:sp>
      </p:grpSp>
      <p:pic>
        <p:nvPicPr>
          <p:cNvPr id="2052" name="Picture 7" descr="地球"/>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1363" y="4940300"/>
            <a:ext cx="15843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p:cNvSpPr>
            <a:spLocks noGrp="1" noChangeArrowheads="1"/>
          </p:cNvSpPr>
          <p:nvPr>
            <p:ph type="title"/>
          </p:nvPr>
        </p:nvSpPr>
        <p:spPr/>
        <p:txBody>
          <a:bodyPr/>
          <a:lstStyle/>
          <a:p>
            <a:pPr eaLnBrk="1" hangingPunct="1"/>
            <a:r>
              <a:rPr lang="en-US" altLang="zh-CN" b="1"/>
              <a:t>6.5 </a:t>
            </a:r>
            <a:r>
              <a:rPr lang="zh-CN" altLang="en-US" b="1"/>
              <a:t>数组的应用</a:t>
            </a:r>
            <a:r>
              <a:rPr lang="en-US" altLang="zh-CN" b="1"/>
              <a:t>-</a:t>
            </a:r>
            <a:r>
              <a:rPr lang="zh-CN" altLang="en-US" b="1"/>
              <a:t>数组元素的线性查找</a:t>
            </a:r>
          </a:p>
        </p:txBody>
      </p:sp>
      <p:sp>
        <p:nvSpPr>
          <p:cNvPr id="106500" name="Rectangle 3"/>
          <p:cNvSpPr>
            <a:spLocks noGrp="1" noChangeArrowheads="1"/>
          </p:cNvSpPr>
          <p:nvPr>
            <p:ph type="body" idx="1"/>
          </p:nvPr>
        </p:nvSpPr>
        <p:spPr>
          <a:xfrm>
            <a:off x="504664" y="1340768"/>
            <a:ext cx="8134672" cy="5040560"/>
          </a:xfrm>
        </p:spPr>
        <p:txBody>
          <a:bodyPr/>
          <a:lstStyle/>
          <a:p>
            <a:pPr eaLnBrk="1" hangingPunct="1">
              <a:lnSpc>
                <a:spcPct val="80000"/>
              </a:lnSpc>
              <a:buFontTx/>
              <a:buNone/>
            </a:pPr>
            <a:r>
              <a:rPr kumimoji="0" lang="zh-CN" altLang="en-US" sz="2400" b="1" dirty="0">
                <a:solidFill>
                  <a:schemeClr val="accent2"/>
                </a:solidFill>
                <a:sym typeface="+mn-ea"/>
              </a:rPr>
              <a:t>线性查找</a:t>
            </a:r>
            <a:r>
              <a:rPr kumimoji="0" lang="zh-CN" altLang="en-US" sz="2400" b="1" dirty="0">
                <a:sym typeface="+mn-ea"/>
              </a:rPr>
              <a:t>（假设数组元素是无序排列的）</a:t>
            </a:r>
            <a:endParaRPr kumimoji="0" lang="zh-CN" altLang="en-US" sz="2400" b="1" dirty="0"/>
          </a:p>
          <a:p>
            <a:pPr eaLnBrk="1" hangingPunct="1">
              <a:lnSpc>
                <a:spcPct val="80000"/>
              </a:lnSpc>
              <a:buFontTx/>
              <a:buNone/>
            </a:pPr>
            <a:r>
              <a:rPr kumimoji="0" lang="zh-CN" altLang="en-US" sz="2400" b="1" dirty="0">
                <a:sym typeface="+mn-ea"/>
              </a:rPr>
              <a:t>思路：从第一个元素开始依次找，直到找到或全部找完但没有找到。</a:t>
            </a:r>
            <a:r>
              <a:rPr kumimoji="0" lang="zh-CN" altLang="en-US" sz="2400" b="1" dirty="0">
                <a:solidFill>
                  <a:srgbClr val="FF0000"/>
                </a:solidFill>
                <a:sym typeface="+mn-ea"/>
              </a:rPr>
              <a:t>时间复杂度</a:t>
            </a:r>
            <a:r>
              <a:rPr kumimoji="0" lang="en-US" altLang="zh-CN" sz="2400" b="1" dirty="0">
                <a:solidFill>
                  <a:srgbClr val="FF0000"/>
                </a:solidFill>
                <a:sym typeface="+mn-ea"/>
              </a:rPr>
              <a:t>O(n)</a:t>
            </a:r>
          </a:p>
          <a:p>
            <a:pPr marL="342900" lvl="0" indent="-342900">
              <a:spcBef>
                <a:spcPct val="20000"/>
              </a:spcBef>
              <a:buFont typeface="Wingdings" panose="05000000000000000000" pitchFamily="2" charset="2"/>
              <a:buNone/>
            </a:pPr>
            <a:r>
              <a:rPr lang="en-US" altLang="zh-CN" sz="2400" b="0" dirty="0">
                <a:solidFill>
                  <a:schemeClr val="tx2"/>
                </a:solidFill>
                <a:latin typeface="Consolas" panose="020B0609020204030204" pitchFamily="49" charset="0"/>
                <a:ea typeface="Courier New" panose="02070309020205020404" pitchFamily="49" charset="0"/>
              </a:rPr>
              <a:t>int </a:t>
            </a:r>
            <a:r>
              <a:rPr lang="en-US" altLang="zh-CN" sz="2400" b="0" dirty="0" err="1">
                <a:solidFill>
                  <a:schemeClr val="tx2"/>
                </a:solidFill>
                <a:latin typeface="Consolas" panose="020B0609020204030204" pitchFamily="49" charset="0"/>
                <a:ea typeface="Courier New" panose="02070309020205020404" pitchFamily="49" charset="0"/>
              </a:rPr>
              <a:t>findEle</a:t>
            </a:r>
            <a:r>
              <a:rPr lang="en-US" altLang="zh-CN" sz="2400" b="0" dirty="0">
                <a:solidFill>
                  <a:schemeClr val="tx2"/>
                </a:solidFill>
                <a:latin typeface="Consolas" panose="020B0609020204030204" pitchFamily="49" charset="0"/>
                <a:ea typeface="Courier New" panose="02070309020205020404" pitchFamily="49" charset="0"/>
              </a:rPr>
              <a:t>(int a[], int n, int x)</a:t>
            </a:r>
          </a:p>
          <a:p>
            <a:pPr marL="342900" lvl="0" indent="-342900">
              <a:spcBef>
                <a:spcPct val="20000"/>
              </a:spcBef>
              <a:buFont typeface="Wingdings" panose="05000000000000000000" pitchFamily="2" charset="2"/>
              <a:buNone/>
            </a:pPr>
            <a:r>
              <a:rPr lang="en-US" altLang="zh-CN" sz="2400" b="0" dirty="0">
                <a:solidFill>
                  <a:schemeClr val="tx2"/>
                </a:solidFill>
                <a:latin typeface="Consolas" panose="020B0609020204030204" pitchFamily="49" charset="0"/>
                <a:ea typeface="Courier New" panose="02070309020205020404" pitchFamily="49" charset="0"/>
              </a:rPr>
              <a:t>{</a:t>
            </a:r>
          </a:p>
          <a:p>
            <a:pPr marL="342900" lvl="0" indent="-342900">
              <a:spcBef>
                <a:spcPct val="20000"/>
              </a:spcBef>
              <a:buFont typeface="Wingdings" panose="05000000000000000000" pitchFamily="2" charset="2"/>
              <a:buNone/>
            </a:pPr>
            <a:r>
              <a:rPr lang="en-US" altLang="zh-CN" sz="2400" b="0" dirty="0">
                <a:solidFill>
                  <a:schemeClr val="tx2"/>
                </a:solidFill>
                <a:latin typeface="Consolas" panose="020B0609020204030204" pitchFamily="49" charset="0"/>
                <a:ea typeface="Courier New" panose="02070309020205020404" pitchFamily="49" charset="0"/>
              </a:rPr>
              <a:t> 	int </a:t>
            </a:r>
            <a:r>
              <a:rPr lang="en-US" altLang="zh-CN" sz="2400" b="0" dirty="0" err="1">
                <a:solidFill>
                  <a:schemeClr val="tx2"/>
                </a:solidFill>
                <a:latin typeface="Consolas" panose="020B0609020204030204" pitchFamily="49" charset="0"/>
                <a:ea typeface="Courier New" panose="02070309020205020404" pitchFamily="49" charset="0"/>
              </a:rPr>
              <a:t>i</a:t>
            </a:r>
            <a:r>
              <a:rPr lang="en-US" altLang="zh-CN" sz="2400" b="0" dirty="0">
                <a:solidFill>
                  <a:schemeClr val="tx2"/>
                </a:solidFill>
                <a:latin typeface="Consolas" panose="020B0609020204030204" pitchFamily="49" charset="0"/>
                <a:ea typeface="Courier New" panose="02070309020205020404" pitchFamily="49" charset="0"/>
              </a:rPr>
              <a:t>;</a:t>
            </a:r>
          </a:p>
          <a:p>
            <a:pPr marL="342900" lvl="0" indent="-342900">
              <a:spcBef>
                <a:spcPct val="20000"/>
              </a:spcBef>
              <a:buFont typeface="Wingdings" panose="05000000000000000000" pitchFamily="2" charset="2"/>
              <a:buNone/>
            </a:pPr>
            <a:r>
              <a:rPr lang="en-US" altLang="zh-CN" sz="2400" b="0" dirty="0">
                <a:solidFill>
                  <a:schemeClr val="tx2"/>
                </a:solidFill>
                <a:latin typeface="Consolas" panose="020B0609020204030204" pitchFamily="49" charset="0"/>
                <a:ea typeface="Courier New" panose="02070309020205020404" pitchFamily="49" charset="0"/>
              </a:rPr>
              <a:t> 	for (</a:t>
            </a:r>
            <a:r>
              <a:rPr lang="en-US" altLang="zh-CN" sz="2400" b="0" dirty="0" err="1">
                <a:solidFill>
                  <a:schemeClr val="tx2"/>
                </a:solidFill>
                <a:latin typeface="Consolas" panose="020B0609020204030204" pitchFamily="49" charset="0"/>
                <a:ea typeface="Courier New" panose="02070309020205020404" pitchFamily="49" charset="0"/>
              </a:rPr>
              <a:t>i</a:t>
            </a:r>
            <a:r>
              <a:rPr lang="en-US" altLang="zh-CN" sz="2400" b="0" dirty="0">
                <a:solidFill>
                  <a:schemeClr val="tx2"/>
                </a:solidFill>
                <a:latin typeface="Consolas" panose="020B0609020204030204" pitchFamily="49" charset="0"/>
                <a:ea typeface="Courier New" panose="02070309020205020404" pitchFamily="49" charset="0"/>
              </a:rPr>
              <a:t>=0; </a:t>
            </a:r>
            <a:r>
              <a:rPr lang="en-US" altLang="zh-CN" sz="2400" b="0" dirty="0" err="1">
                <a:solidFill>
                  <a:schemeClr val="tx2"/>
                </a:solidFill>
                <a:latin typeface="Consolas" panose="020B0609020204030204" pitchFamily="49" charset="0"/>
                <a:ea typeface="Courier New" panose="02070309020205020404" pitchFamily="49" charset="0"/>
              </a:rPr>
              <a:t>i</a:t>
            </a:r>
            <a:r>
              <a:rPr lang="en-US" altLang="zh-CN" sz="2400" b="0" dirty="0">
                <a:solidFill>
                  <a:schemeClr val="tx2"/>
                </a:solidFill>
                <a:latin typeface="Consolas" panose="020B0609020204030204" pitchFamily="49" charset="0"/>
                <a:ea typeface="Courier New" panose="02070309020205020404" pitchFamily="49" charset="0"/>
              </a:rPr>
              <a:t>&lt;n  &amp;&amp;  a[</a:t>
            </a:r>
            <a:r>
              <a:rPr lang="en-US" altLang="zh-CN" sz="2400" b="0" dirty="0" err="1">
                <a:solidFill>
                  <a:schemeClr val="tx2"/>
                </a:solidFill>
                <a:latin typeface="Consolas" panose="020B0609020204030204" pitchFamily="49" charset="0"/>
                <a:ea typeface="Courier New" panose="02070309020205020404" pitchFamily="49" charset="0"/>
              </a:rPr>
              <a:t>i</a:t>
            </a:r>
            <a:r>
              <a:rPr lang="en-US" altLang="zh-CN" sz="2400" b="0" dirty="0">
                <a:solidFill>
                  <a:schemeClr val="tx2"/>
                </a:solidFill>
                <a:latin typeface="Consolas" panose="020B0609020204030204" pitchFamily="49" charset="0"/>
                <a:ea typeface="Courier New" panose="02070309020205020404" pitchFamily="49" charset="0"/>
              </a:rPr>
              <a:t>] != x; </a:t>
            </a:r>
            <a:r>
              <a:rPr lang="en-US" altLang="zh-CN" sz="2400" b="0" dirty="0" err="1">
                <a:solidFill>
                  <a:schemeClr val="tx2"/>
                </a:solidFill>
                <a:latin typeface="Consolas" panose="020B0609020204030204" pitchFamily="49" charset="0"/>
                <a:ea typeface="Courier New" panose="02070309020205020404" pitchFamily="49" charset="0"/>
              </a:rPr>
              <a:t>i</a:t>
            </a:r>
            <a:r>
              <a:rPr lang="en-US" altLang="zh-CN" sz="2400" b="0" dirty="0">
                <a:solidFill>
                  <a:schemeClr val="tx2"/>
                </a:solidFill>
                <a:latin typeface="Consolas" panose="020B0609020204030204" pitchFamily="49" charset="0"/>
                <a:ea typeface="Courier New" panose="02070309020205020404" pitchFamily="49" charset="0"/>
              </a:rPr>
              <a:t>++) </a:t>
            </a:r>
          </a:p>
          <a:p>
            <a:pPr marL="342900" lvl="0" indent="-342900">
              <a:spcBef>
                <a:spcPct val="20000"/>
              </a:spcBef>
              <a:buFont typeface="Wingdings" panose="05000000000000000000" pitchFamily="2" charset="2"/>
              <a:buNone/>
            </a:pPr>
            <a:r>
              <a:rPr lang="en-US" altLang="zh-CN" sz="2400" b="0" dirty="0">
                <a:solidFill>
                  <a:schemeClr val="tx2"/>
                </a:solidFill>
                <a:latin typeface="Consolas" panose="020B0609020204030204" pitchFamily="49" charset="0"/>
                <a:ea typeface="Courier New" panose="02070309020205020404" pitchFamily="49" charset="0"/>
              </a:rPr>
              <a:t>        ;</a:t>
            </a:r>
          </a:p>
          <a:p>
            <a:pPr marL="342900" lvl="0" indent="-342900">
              <a:spcBef>
                <a:spcPct val="20000"/>
              </a:spcBef>
              <a:buFont typeface="Wingdings" panose="05000000000000000000" pitchFamily="2" charset="2"/>
              <a:buNone/>
            </a:pPr>
            <a:r>
              <a:rPr lang="en-US" altLang="zh-CN" sz="2400" b="0" dirty="0">
                <a:solidFill>
                  <a:schemeClr val="tx2"/>
                </a:solidFill>
                <a:latin typeface="Consolas" panose="020B0609020204030204" pitchFamily="49" charset="0"/>
                <a:ea typeface="Courier New" panose="02070309020205020404" pitchFamily="49" charset="0"/>
              </a:rPr>
              <a:t> 	if (</a:t>
            </a:r>
            <a:r>
              <a:rPr lang="en-US" altLang="zh-CN" sz="2400" b="0" dirty="0" err="1">
                <a:solidFill>
                  <a:schemeClr val="tx2"/>
                </a:solidFill>
                <a:latin typeface="Consolas" panose="020B0609020204030204" pitchFamily="49" charset="0"/>
                <a:ea typeface="Courier New" panose="02070309020205020404" pitchFamily="49" charset="0"/>
              </a:rPr>
              <a:t>i</a:t>
            </a:r>
            <a:r>
              <a:rPr lang="en-US" altLang="zh-CN" sz="2400" b="0" dirty="0">
                <a:solidFill>
                  <a:schemeClr val="tx2"/>
                </a:solidFill>
                <a:latin typeface="Consolas" panose="020B0609020204030204" pitchFamily="49" charset="0"/>
                <a:ea typeface="Courier New" panose="02070309020205020404" pitchFamily="49" charset="0"/>
              </a:rPr>
              <a:t> &gt;=n)     </a:t>
            </a:r>
          </a:p>
          <a:p>
            <a:pPr marL="342900" lvl="0" indent="-342900">
              <a:spcBef>
                <a:spcPct val="20000"/>
              </a:spcBef>
              <a:buFont typeface="Wingdings" panose="05000000000000000000" pitchFamily="2" charset="2"/>
              <a:buNone/>
            </a:pPr>
            <a:r>
              <a:rPr lang="en-US" altLang="zh-CN" sz="2400" b="0" dirty="0">
                <a:solidFill>
                  <a:schemeClr val="tx2"/>
                </a:solidFill>
                <a:latin typeface="Consolas" panose="020B0609020204030204" pitchFamily="49" charset="0"/>
                <a:ea typeface="Courier New" panose="02070309020205020404" pitchFamily="49" charset="0"/>
              </a:rPr>
              <a:t>    	return -1;</a:t>
            </a:r>
          </a:p>
          <a:p>
            <a:pPr marL="342900" lvl="0" indent="-342900">
              <a:spcBef>
                <a:spcPct val="20000"/>
              </a:spcBef>
              <a:buFont typeface="Wingdings" panose="05000000000000000000" pitchFamily="2" charset="2"/>
              <a:buNone/>
            </a:pPr>
            <a:r>
              <a:rPr lang="en-US" altLang="zh-CN" sz="2400" b="0" dirty="0">
                <a:solidFill>
                  <a:schemeClr val="tx2"/>
                </a:solidFill>
                <a:latin typeface="Consolas" panose="020B0609020204030204" pitchFamily="49" charset="0"/>
                <a:ea typeface="Courier New" panose="02070309020205020404" pitchFamily="49" charset="0"/>
              </a:rPr>
              <a:t> 	else    return </a:t>
            </a:r>
            <a:r>
              <a:rPr lang="en-US" altLang="zh-CN" sz="2400" b="0" dirty="0" err="1">
                <a:solidFill>
                  <a:schemeClr val="tx2"/>
                </a:solidFill>
                <a:latin typeface="Consolas" panose="020B0609020204030204" pitchFamily="49" charset="0"/>
                <a:ea typeface="Courier New" panose="02070309020205020404" pitchFamily="49" charset="0"/>
              </a:rPr>
              <a:t>i</a:t>
            </a:r>
            <a:r>
              <a:rPr lang="en-US" altLang="zh-CN" sz="2400" b="0" dirty="0">
                <a:solidFill>
                  <a:schemeClr val="tx2"/>
                </a:solidFill>
                <a:latin typeface="Consolas" panose="020B0609020204030204" pitchFamily="49" charset="0"/>
                <a:ea typeface="Courier New" panose="02070309020205020404" pitchFamily="49" charset="0"/>
              </a:rPr>
              <a:t>;//</a:t>
            </a:r>
            <a:r>
              <a:rPr lang="zh-CN" altLang="en-US" sz="2400" b="0" dirty="0">
                <a:solidFill>
                  <a:schemeClr val="tx2"/>
                </a:solidFill>
                <a:latin typeface="Consolas" panose="020B0609020204030204" pitchFamily="49" charset="0"/>
                <a:ea typeface="Courier New" panose="02070309020205020404" pitchFamily="49" charset="0"/>
              </a:rPr>
              <a:t>返回存储位置        </a:t>
            </a:r>
          </a:p>
          <a:p>
            <a:pPr marL="342900" lvl="0" indent="-342900">
              <a:spcBef>
                <a:spcPct val="20000"/>
              </a:spcBef>
              <a:buFont typeface="Wingdings" panose="05000000000000000000" pitchFamily="2" charset="2"/>
              <a:buNone/>
            </a:pPr>
            <a:r>
              <a:rPr lang="en-US" altLang="zh-CN" sz="2400" b="0" dirty="0">
                <a:solidFill>
                  <a:schemeClr val="tx2"/>
                </a:solidFill>
                <a:latin typeface="Consolas" panose="020B0609020204030204" pitchFamily="49" charset="0"/>
                <a:ea typeface="Courier New" panose="02070309020205020404" pitchFamily="49" charset="0"/>
              </a:rPr>
              <a:t>}</a:t>
            </a:r>
            <a:endParaRPr lang="zh-CN" altLang="en-US" sz="2400" b="1"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F67D6A-F598-4FB0-BF52-9B96AEC7FB69}"/>
              </a:ext>
            </a:extLst>
          </p:cNvPr>
          <p:cNvSpPr>
            <a:spLocks noGrp="1"/>
          </p:cNvSpPr>
          <p:nvPr>
            <p:ph type="title"/>
          </p:nvPr>
        </p:nvSpPr>
        <p:spPr/>
        <p:txBody>
          <a:bodyPr/>
          <a:lstStyle/>
          <a:p>
            <a:r>
              <a:rPr lang="zh-CN" altLang="en-US" dirty="0"/>
              <a:t>如何快速查找？</a:t>
            </a:r>
          </a:p>
        </p:txBody>
      </p:sp>
      <p:sp>
        <p:nvSpPr>
          <p:cNvPr id="3" name="内容占位符 2">
            <a:extLst>
              <a:ext uri="{FF2B5EF4-FFF2-40B4-BE49-F238E27FC236}">
                <a16:creationId xmlns:a16="http://schemas.microsoft.com/office/drawing/2014/main" id="{60F76019-D905-4AA5-871F-6ACCC3F3D329}"/>
              </a:ext>
            </a:extLst>
          </p:cNvPr>
          <p:cNvSpPr>
            <a:spLocks noGrp="1"/>
          </p:cNvSpPr>
          <p:nvPr>
            <p:ph idx="1"/>
          </p:nvPr>
        </p:nvSpPr>
        <p:spPr>
          <a:xfrm>
            <a:off x="467544" y="1319213"/>
            <a:ext cx="8424936" cy="4611687"/>
          </a:xfrm>
        </p:spPr>
        <p:txBody>
          <a:bodyPr/>
          <a:lstStyle/>
          <a:p>
            <a:r>
              <a:rPr lang="zh-CN" altLang="en-US" dirty="0"/>
              <a:t>回想生活中我们如何快速查找东西的？</a:t>
            </a:r>
            <a:endParaRPr lang="en-US" altLang="zh-CN" dirty="0"/>
          </a:p>
          <a:p>
            <a:r>
              <a:rPr lang="zh-CN" altLang="en-US" dirty="0"/>
              <a:t>面对厚厚的字典，我们借助索引。索引技术广泛用在数据库和文件管理领域。</a:t>
            </a:r>
            <a:endParaRPr lang="en-US" altLang="zh-CN" dirty="0"/>
          </a:p>
          <a:p>
            <a:r>
              <a:rPr lang="zh-CN" altLang="en-US" dirty="0"/>
              <a:t>但是索引方法需要我们费心维护索引表和内容数组之间的一致性关系。这里暂时不介绍。</a:t>
            </a:r>
            <a:endParaRPr lang="en-US" altLang="zh-CN" dirty="0"/>
          </a:p>
          <a:p>
            <a:r>
              <a:rPr lang="zh-CN" altLang="en-US" dirty="0"/>
              <a:t>如果没有索引，我们如何在一本厚书中找到需要的那一页内容？</a:t>
            </a:r>
            <a:endParaRPr lang="en-US" altLang="zh-CN" dirty="0"/>
          </a:p>
          <a:p>
            <a:r>
              <a:rPr lang="zh-CN" altLang="en-US" dirty="0"/>
              <a:t>比如，在读过的小说里找到某个细节。随便翻到一处，查看当前内容，发现目标在此之前；</a:t>
            </a:r>
            <a:endParaRPr lang="en-US" altLang="zh-CN" dirty="0"/>
          </a:p>
          <a:p>
            <a:r>
              <a:rPr lang="zh-CN" altLang="en-US" dirty="0"/>
              <a:t>于是翻到之前的任意一处，比对，目标仍然在此之前；重复，直到找到为止。</a:t>
            </a:r>
            <a:endParaRPr lang="en-US" altLang="zh-CN" dirty="0"/>
          </a:p>
          <a:p>
            <a:endParaRPr lang="zh-CN" altLang="en-US" dirty="0"/>
          </a:p>
          <a:p>
            <a:endParaRPr lang="zh-CN" altLang="en-US" dirty="0"/>
          </a:p>
        </p:txBody>
      </p:sp>
    </p:spTree>
    <p:extLst>
      <p:ext uri="{BB962C8B-B14F-4D97-AF65-F5344CB8AC3E}">
        <p14:creationId xmlns:p14="http://schemas.microsoft.com/office/powerpoint/2010/main" val="239191296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F7DAEE-886F-47FB-980D-9C72DD37890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A5059EF-8D00-41B4-B7E9-759E05CE19B0}"/>
              </a:ext>
            </a:extLst>
          </p:cNvPr>
          <p:cNvSpPr>
            <a:spLocks noGrp="1"/>
          </p:cNvSpPr>
          <p:nvPr>
            <p:ph idx="1"/>
          </p:nvPr>
        </p:nvSpPr>
        <p:spPr/>
        <p:txBody>
          <a:bodyPr/>
          <a:lstStyle/>
          <a:p>
            <a:r>
              <a:rPr lang="zh-CN" altLang="en-US" b="1" dirty="0"/>
              <a:t>如果不靠运气的话，随意翻一处的位置应该定在哪里？</a:t>
            </a:r>
            <a:endParaRPr lang="en-US" altLang="zh-CN" b="1" dirty="0"/>
          </a:p>
          <a:p>
            <a:endParaRPr lang="zh-CN" altLang="en-US" b="1" dirty="0"/>
          </a:p>
        </p:txBody>
      </p:sp>
    </p:spTree>
    <p:extLst>
      <p:ext uri="{BB962C8B-B14F-4D97-AF65-F5344CB8AC3E}">
        <p14:creationId xmlns:p14="http://schemas.microsoft.com/office/powerpoint/2010/main" val="330062082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p:txBody>
          <a:bodyPr/>
          <a:lstStyle/>
          <a:p>
            <a:pPr eaLnBrk="1" hangingPunct="1"/>
            <a:r>
              <a:rPr lang="en-US" altLang="zh-CN" b="1"/>
              <a:t>6.5 </a:t>
            </a:r>
            <a:r>
              <a:rPr lang="zh-CN" altLang="en-US" b="1"/>
              <a:t>数组的应用</a:t>
            </a:r>
            <a:r>
              <a:rPr lang="en-US" altLang="zh-CN" b="1"/>
              <a:t>-</a:t>
            </a:r>
            <a:r>
              <a:rPr lang="zh-CN" altLang="en-US" b="1"/>
              <a:t>数组元素的查找</a:t>
            </a:r>
          </a:p>
        </p:txBody>
      </p:sp>
      <p:grpSp>
        <p:nvGrpSpPr>
          <p:cNvPr id="204804" name="Group 4"/>
          <p:cNvGrpSpPr/>
          <p:nvPr/>
        </p:nvGrpSpPr>
        <p:grpSpPr bwMode="auto">
          <a:xfrm>
            <a:off x="1130300" y="2773363"/>
            <a:ext cx="7391400" cy="914400"/>
            <a:chOff x="576" y="1056"/>
            <a:chExt cx="4656" cy="576"/>
          </a:xfrm>
        </p:grpSpPr>
        <p:sp>
          <p:nvSpPr>
            <p:cNvPr id="107561" name="Text Box 5"/>
            <p:cNvSpPr txBox="1">
              <a:spLocks noChangeArrowheads="1"/>
            </p:cNvSpPr>
            <p:nvPr/>
          </p:nvSpPr>
          <p:spPr bwMode="auto">
            <a:xfrm>
              <a:off x="624" y="1056"/>
              <a:ext cx="4320"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endParaRPr lang="zh-CN" altLang="en-US" sz="2400" b="1"/>
            </a:p>
          </p:txBody>
        </p:sp>
        <p:sp>
          <p:nvSpPr>
            <p:cNvPr id="107562" name="Line 6"/>
            <p:cNvSpPr>
              <a:spLocks noChangeShapeType="1"/>
            </p:cNvSpPr>
            <p:nvPr/>
          </p:nvSpPr>
          <p:spPr bwMode="auto">
            <a:xfrm>
              <a:off x="2496"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63" name="Line 7"/>
            <p:cNvSpPr>
              <a:spLocks noChangeShapeType="1"/>
            </p:cNvSpPr>
            <p:nvPr/>
          </p:nvSpPr>
          <p:spPr bwMode="auto">
            <a:xfrm>
              <a:off x="2784"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64" name="Line 8"/>
            <p:cNvSpPr>
              <a:spLocks noChangeShapeType="1"/>
            </p:cNvSpPr>
            <p:nvPr/>
          </p:nvSpPr>
          <p:spPr bwMode="auto">
            <a:xfrm>
              <a:off x="912"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65" name="Line 9"/>
            <p:cNvSpPr>
              <a:spLocks noChangeShapeType="1"/>
            </p:cNvSpPr>
            <p:nvPr/>
          </p:nvSpPr>
          <p:spPr bwMode="auto">
            <a:xfrm>
              <a:off x="4656" y="105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566" name="Text Box 10"/>
            <p:cNvSpPr txBox="1">
              <a:spLocks noChangeArrowheads="1"/>
            </p:cNvSpPr>
            <p:nvPr/>
          </p:nvSpPr>
          <p:spPr bwMode="auto">
            <a:xfrm>
              <a:off x="576" y="134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left</a:t>
              </a:r>
            </a:p>
          </p:txBody>
        </p:sp>
        <p:sp>
          <p:nvSpPr>
            <p:cNvPr id="107567" name="Text Box 11"/>
            <p:cNvSpPr txBox="1">
              <a:spLocks noChangeArrowheads="1"/>
            </p:cNvSpPr>
            <p:nvPr/>
          </p:nvSpPr>
          <p:spPr bwMode="auto">
            <a:xfrm>
              <a:off x="4608" y="134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right</a:t>
              </a:r>
            </a:p>
          </p:txBody>
        </p:sp>
        <p:sp>
          <p:nvSpPr>
            <p:cNvPr id="107568" name="Text Box 12"/>
            <p:cNvSpPr txBox="1">
              <a:spLocks noChangeArrowheads="1"/>
            </p:cNvSpPr>
            <p:nvPr/>
          </p:nvSpPr>
          <p:spPr bwMode="auto">
            <a:xfrm>
              <a:off x="2448" y="1344"/>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mid</a:t>
              </a:r>
            </a:p>
          </p:txBody>
        </p:sp>
      </p:grpSp>
      <p:sp>
        <p:nvSpPr>
          <p:cNvPr id="204813" name="Text Box 13"/>
          <p:cNvSpPr txBox="1">
            <a:spLocks noChangeArrowheads="1"/>
          </p:cNvSpPr>
          <p:nvPr/>
        </p:nvSpPr>
        <p:spPr bwMode="auto">
          <a:xfrm>
            <a:off x="684213" y="1484313"/>
            <a:ext cx="8077200" cy="864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SzPct val="75000"/>
              <a:buFont typeface="Monotype Sorts" charset="2"/>
              <a:buNone/>
            </a:pPr>
            <a:r>
              <a:rPr kumimoji="0" lang="zh-CN" altLang="en-US" b="1">
                <a:solidFill>
                  <a:schemeClr val="accent2"/>
                </a:solidFill>
              </a:rPr>
              <a:t>折半查找</a:t>
            </a:r>
            <a:r>
              <a:rPr kumimoji="0" lang="zh-CN" altLang="en-US" b="1"/>
              <a:t>（要求数组元素是已排序的，假设是升序排序的）</a:t>
            </a:r>
            <a:endParaRPr lang="zh-CN" altLang="en-US" b="1"/>
          </a:p>
        </p:txBody>
      </p:sp>
      <p:sp>
        <p:nvSpPr>
          <p:cNvPr id="204815" name="Text Box 15"/>
          <p:cNvSpPr txBox="1">
            <a:spLocks noChangeArrowheads="1"/>
          </p:cNvSpPr>
          <p:nvPr/>
        </p:nvSpPr>
        <p:spPr bwMode="auto">
          <a:xfrm>
            <a:off x="901700" y="3687763"/>
            <a:ext cx="8001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t>在下标为</a:t>
            </a:r>
            <a:r>
              <a:rPr lang="en-US" altLang="zh-CN" sz="2400" b="1" dirty="0" err="1"/>
              <a:t>left～right</a:t>
            </a:r>
            <a:r>
              <a:rPr lang="zh-CN" altLang="en-US" sz="2400" b="1" dirty="0"/>
              <a:t>的元素中查找值为</a:t>
            </a:r>
            <a:r>
              <a:rPr lang="en-US" altLang="zh-CN" sz="2400" b="1" dirty="0"/>
              <a:t>x</a:t>
            </a:r>
            <a:r>
              <a:rPr lang="zh-CN" altLang="en-US" sz="2400" b="1" dirty="0"/>
              <a:t>的元素下标：</a:t>
            </a:r>
            <a:endParaRPr lang="en-US" altLang="zh-CN" sz="2400" b="1" dirty="0"/>
          </a:p>
          <a:p>
            <a:pPr eaLnBrk="1" hangingPunct="1">
              <a:buFontTx/>
              <a:buNone/>
            </a:pPr>
            <a:r>
              <a:rPr lang="zh-CN" altLang="en-US" sz="2400" b="1" dirty="0">
                <a:solidFill>
                  <a:schemeClr val="accent2"/>
                </a:solidFill>
              </a:rPr>
              <a:t>先求出</a:t>
            </a:r>
            <a:r>
              <a:rPr lang="en-US" altLang="zh-CN" sz="2400" b="1" dirty="0">
                <a:solidFill>
                  <a:schemeClr val="accent2"/>
                </a:solidFill>
              </a:rPr>
              <a:t>mid＝(</a:t>
            </a:r>
            <a:r>
              <a:rPr lang="en-US" altLang="zh-CN" sz="2400" b="1" dirty="0" err="1">
                <a:solidFill>
                  <a:schemeClr val="accent2"/>
                </a:solidFill>
              </a:rPr>
              <a:t>left+right</a:t>
            </a:r>
            <a:r>
              <a:rPr lang="en-US" altLang="zh-CN" sz="2400" b="1" dirty="0">
                <a:solidFill>
                  <a:schemeClr val="accent2"/>
                </a:solidFill>
              </a:rPr>
              <a:t>)/2; </a:t>
            </a:r>
            <a:r>
              <a:rPr lang="zh-CN" altLang="en-US" sz="2400" b="1" dirty="0">
                <a:solidFill>
                  <a:schemeClr val="accent2"/>
                </a:solidFill>
              </a:rPr>
              <a:t>若</a:t>
            </a:r>
            <a:r>
              <a:rPr lang="en-US" altLang="zh-CN" sz="2400" b="1" dirty="0">
                <a:solidFill>
                  <a:schemeClr val="accent2"/>
                </a:solidFill>
              </a:rPr>
              <a:t>x == a[mid],</a:t>
            </a:r>
            <a:r>
              <a:rPr lang="zh-CN" altLang="en-US" sz="2400" b="1" dirty="0">
                <a:solidFill>
                  <a:schemeClr val="accent2"/>
                </a:solidFill>
              </a:rPr>
              <a:t>说明找到；</a:t>
            </a:r>
          </a:p>
          <a:p>
            <a:pPr eaLnBrk="1" hangingPunct="1">
              <a:buFontTx/>
              <a:buNone/>
            </a:pPr>
            <a:r>
              <a:rPr lang="zh-CN" altLang="en-US" sz="2400" b="1" dirty="0">
                <a:solidFill>
                  <a:schemeClr val="accent2"/>
                </a:solidFill>
              </a:rPr>
              <a:t>若</a:t>
            </a:r>
            <a:r>
              <a:rPr lang="en-US" altLang="zh-CN" sz="2400" b="1" dirty="0">
                <a:solidFill>
                  <a:schemeClr val="accent2"/>
                </a:solidFill>
              </a:rPr>
              <a:t>x &lt; a[mid],</a:t>
            </a:r>
            <a:r>
              <a:rPr lang="zh-CN" altLang="en-US" sz="2400" b="1" dirty="0">
                <a:solidFill>
                  <a:schemeClr val="accent2"/>
                </a:solidFill>
              </a:rPr>
              <a:t>说明</a:t>
            </a:r>
            <a:r>
              <a:rPr lang="en-US" altLang="zh-CN" sz="2400" b="1" dirty="0">
                <a:solidFill>
                  <a:schemeClr val="accent2"/>
                </a:solidFill>
              </a:rPr>
              <a:t>x</a:t>
            </a:r>
            <a:r>
              <a:rPr lang="zh-CN" altLang="en-US" sz="2400" b="1" dirty="0">
                <a:solidFill>
                  <a:schemeClr val="accent2"/>
                </a:solidFill>
              </a:rPr>
              <a:t>可能在下标为</a:t>
            </a:r>
            <a:r>
              <a:rPr lang="en-US" altLang="zh-CN" sz="2400" b="1" dirty="0" err="1">
                <a:solidFill>
                  <a:schemeClr val="accent2"/>
                </a:solidFill>
              </a:rPr>
              <a:t>left~mid-1</a:t>
            </a:r>
            <a:r>
              <a:rPr lang="zh-CN" altLang="en-US" sz="2400" b="1" dirty="0">
                <a:solidFill>
                  <a:schemeClr val="accent2"/>
                </a:solidFill>
              </a:rPr>
              <a:t>的这段元素中，修正查找范围，继续查找。</a:t>
            </a:r>
          </a:p>
          <a:p>
            <a:pPr eaLnBrk="1" hangingPunct="1">
              <a:buFontTx/>
              <a:buNone/>
            </a:pPr>
            <a:r>
              <a:rPr lang="zh-CN" altLang="en-US" sz="2400" b="1" dirty="0">
                <a:solidFill>
                  <a:schemeClr val="accent2"/>
                </a:solidFill>
              </a:rPr>
              <a:t>若</a:t>
            </a:r>
            <a:r>
              <a:rPr lang="en-US" altLang="zh-CN" sz="2400" b="1" dirty="0">
                <a:solidFill>
                  <a:schemeClr val="accent2"/>
                </a:solidFill>
              </a:rPr>
              <a:t>x &gt; a[mid],</a:t>
            </a:r>
            <a:r>
              <a:rPr lang="zh-CN" altLang="en-US" sz="2400" b="1" dirty="0">
                <a:solidFill>
                  <a:schemeClr val="accent2"/>
                </a:solidFill>
              </a:rPr>
              <a:t>说明</a:t>
            </a:r>
            <a:r>
              <a:rPr lang="en-US" altLang="zh-CN" sz="2400" b="1" dirty="0">
                <a:solidFill>
                  <a:schemeClr val="accent2"/>
                </a:solidFill>
              </a:rPr>
              <a:t>x</a:t>
            </a:r>
            <a:r>
              <a:rPr lang="zh-CN" altLang="en-US" sz="2400" b="1" dirty="0">
                <a:solidFill>
                  <a:schemeClr val="accent2"/>
                </a:solidFill>
              </a:rPr>
              <a:t>可能在下标为</a:t>
            </a:r>
            <a:r>
              <a:rPr lang="en-US" altLang="zh-CN" sz="2400" b="1" dirty="0" err="1">
                <a:solidFill>
                  <a:schemeClr val="accent2"/>
                </a:solidFill>
              </a:rPr>
              <a:t>mid+1~right</a:t>
            </a:r>
            <a:r>
              <a:rPr lang="zh-CN" altLang="en-US" sz="2400" b="1" dirty="0">
                <a:solidFill>
                  <a:schemeClr val="accent2"/>
                </a:solidFill>
              </a:rPr>
              <a:t>的这段元素中，修正查找范围，继续查找。通过大范围缩减查找范围来提高有序表的查找速度。</a:t>
            </a:r>
          </a:p>
        </p:txBody>
      </p:sp>
      <p:sp>
        <p:nvSpPr>
          <p:cNvPr id="204816" name="Line 16"/>
          <p:cNvSpPr>
            <a:spLocks noChangeShapeType="1"/>
          </p:cNvSpPr>
          <p:nvPr/>
        </p:nvSpPr>
        <p:spPr bwMode="auto">
          <a:xfrm flipH="1">
            <a:off x="4178300" y="2773363"/>
            <a:ext cx="2286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17" name="Line 17"/>
          <p:cNvSpPr>
            <a:spLocks noChangeShapeType="1"/>
          </p:cNvSpPr>
          <p:nvPr/>
        </p:nvSpPr>
        <p:spPr bwMode="auto">
          <a:xfrm flipH="1">
            <a:off x="4330700" y="2925763"/>
            <a:ext cx="304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18" name="Line 18"/>
          <p:cNvSpPr>
            <a:spLocks noChangeShapeType="1"/>
          </p:cNvSpPr>
          <p:nvPr/>
        </p:nvSpPr>
        <p:spPr bwMode="auto">
          <a:xfrm flipH="1">
            <a:off x="4178300" y="2773363"/>
            <a:ext cx="4572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19" name="AutoShape 19"/>
          <p:cNvSpPr/>
          <p:nvPr/>
        </p:nvSpPr>
        <p:spPr bwMode="auto">
          <a:xfrm rot="-5323588">
            <a:off x="6161087" y="866776"/>
            <a:ext cx="454025" cy="3352800"/>
          </a:xfrm>
          <a:prstGeom prst="rightBrace">
            <a:avLst>
              <a:gd name="adj1" fmla="val 61538"/>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04820" name="AutoShape 20"/>
          <p:cNvSpPr/>
          <p:nvPr/>
        </p:nvSpPr>
        <p:spPr bwMode="auto">
          <a:xfrm rot="-5323588">
            <a:off x="2465387" y="1052513"/>
            <a:ext cx="454025" cy="2971800"/>
          </a:xfrm>
          <a:prstGeom prst="rightBrace">
            <a:avLst>
              <a:gd name="adj1" fmla="val 54545"/>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04821" name="Line 21"/>
          <p:cNvSpPr>
            <a:spLocks noChangeShapeType="1"/>
          </p:cNvSpPr>
          <p:nvPr/>
        </p:nvSpPr>
        <p:spPr bwMode="auto">
          <a:xfrm>
            <a:off x="3644900" y="2773363"/>
            <a:ext cx="4572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2" name="Line 22"/>
          <p:cNvSpPr>
            <a:spLocks noChangeShapeType="1"/>
          </p:cNvSpPr>
          <p:nvPr/>
        </p:nvSpPr>
        <p:spPr bwMode="auto">
          <a:xfrm>
            <a:off x="31877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3" name="Line 23"/>
          <p:cNvSpPr>
            <a:spLocks noChangeShapeType="1"/>
          </p:cNvSpPr>
          <p:nvPr/>
        </p:nvSpPr>
        <p:spPr bwMode="auto">
          <a:xfrm>
            <a:off x="27305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4" name="Line 24"/>
          <p:cNvSpPr>
            <a:spLocks noChangeShapeType="1"/>
          </p:cNvSpPr>
          <p:nvPr/>
        </p:nvSpPr>
        <p:spPr bwMode="auto">
          <a:xfrm>
            <a:off x="34163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5" name="Line 25"/>
          <p:cNvSpPr>
            <a:spLocks noChangeShapeType="1"/>
          </p:cNvSpPr>
          <p:nvPr/>
        </p:nvSpPr>
        <p:spPr bwMode="auto">
          <a:xfrm>
            <a:off x="29591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6" name="Line 26"/>
          <p:cNvSpPr>
            <a:spLocks noChangeShapeType="1"/>
          </p:cNvSpPr>
          <p:nvPr/>
        </p:nvSpPr>
        <p:spPr bwMode="auto">
          <a:xfrm>
            <a:off x="25019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7" name="Line 27"/>
          <p:cNvSpPr>
            <a:spLocks noChangeShapeType="1"/>
          </p:cNvSpPr>
          <p:nvPr/>
        </p:nvSpPr>
        <p:spPr bwMode="auto">
          <a:xfrm>
            <a:off x="21971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8" name="Line 28"/>
          <p:cNvSpPr>
            <a:spLocks noChangeShapeType="1"/>
          </p:cNvSpPr>
          <p:nvPr/>
        </p:nvSpPr>
        <p:spPr bwMode="auto">
          <a:xfrm>
            <a:off x="18923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9" name="Line 29"/>
          <p:cNvSpPr>
            <a:spLocks noChangeShapeType="1"/>
          </p:cNvSpPr>
          <p:nvPr/>
        </p:nvSpPr>
        <p:spPr bwMode="auto">
          <a:xfrm>
            <a:off x="16637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0" name="Line 30"/>
          <p:cNvSpPr>
            <a:spLocks noChangeShapeType="1"/>
          </p:cNvSpPr>
          <p:nvPr/>
        </p:nvSpPr>
        <p:spPr bwMode="auto">
          <a:xfrm>
            <a:off x="14351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1" name="Line 31"/>
          <p:cNvSpPr>
            <a:spLocks noChangeShapeType="1"/>
          </p:cNvSpPr>
          <p:nvPr/>
        </p:nvSpPr>
        <p:spPr bwMode="auto">
          <a:xfrm>
            <a:off x="12065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2" name="Line 32"/>
          <p:cNvSpPr>
            <a:spLocks noChangeShapeType="1"/>
          </p:cNvSpPr>
          <p:nvPr/>
        </p:nvSpPr>
        <p:spPr bwMode="auto">
          <a:xfrm>
            <a:off x="1206500" y="3001963"/>
            <a:ext cx="3048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3" name="Line 33"/>
          <p:cNvSpPr>
            <a:spLocks noChangeShapeType="1"/>
          </p:cNvSpPr>
          <p:nvPr/>
        </p:nvSpPr>
        <p:spPr bwMode="auto">
          <a:xfrm>
            <a:off x="3873500" y="2773363"/>
            <a:ext cx="3048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4" name="Line 34"/>
          <p:cNvSpPr>
            <a:spLocks noChangeShapeType="1"/>
          </p:cNvSpPr>
          <p:nvPr/>
        </p:nvSpPr>
        <p:spPr bwMode="auto">
          <a:xfrm>
            <a:off x="7073900" y="2773363"/>
            <a:ext cx="4572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5" name="Line 35"/>
          <p:cNvSpPr>
            <a:spLocks noChangeShapeType="1"/>
          </p:cNvSpPr>
          <p:nvPr/>
        </p:nvSpPr>
        <p:spPr bwMode="auto">
          <a:xfrm>
            <a:off x="66167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6" name="Line 36"/>
          <p:cNvSpPr>
            <a:spLocks noChangeShapeType="1"/>
          </p:cNvSpPr>
          <p:nvPr/>
        </p:nvSpPr>
        <p:spPr bwMode="auto">
          <a:xfrm>
            <a:off x="61595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7" name="Line 37"/>
          <p:cNvSpPr>
            <a:spLocks noChangeShapeType="1"/>
          </p:cNvSpPr>
          <p:nvPr/>
        </p:nvSpPr>
        <p:spPr bwMode="auto">
          <a:xfrm>
            <a:off x="68453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8" name="Line 38"/>
          <p:cNvSpPr>
            <a:spLocks noChangeShapeType="1"/>
          </p:cNvSpPr>
          <p:nvPr/>
        </p:nvSpPr>
        <p:spPr bwMode="auto">
          <a:xfrm>
            <a:off x="63881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39" name="Line 39"/>
          <p:cNvSpPr>
            <a:spLocks noChangeShapeType="1"/>
          </p:cNvSpPr>
          <p:nvPr/>
        </p:nvSpPr>
        <p:spPr bwMode="auto">
          <a:xfrm>
            <a:off x="59309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0" name="Line 40"/>
          <p:cNvSpPr>
            <a:spLocks noChangeShapeType="1"/>
          </p:cNvSpPr>
          <p:nvPr/>
        </p:nvSpPr>
        <p:spPr bwMode="auto">
          <a:xfrm>
            <a:off x="56261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1" name="Line 41"/>
          <p:cNvSpPr>
            <a:spLocks noChangeShapeType="1"/>
          </p:cNvSpPr>
          <p:nvPr/>
        </p:nvSpPr>
        <p:spPr bwMode="auto">
          <a:xfrm>
            <a:off x="53213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2" name="Line 42"/>
          <p:cNvSpPr>
            <a:spLocks noChangeShapeType="1"/>
          </p:cNvSpPr>
          <p:nvPr/>
        </p:nvSpPr>
        <p:spPr bwMode="auto">
          <a:xfrm>
            <a:off x="50927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3" name="Line 43"/>
          <p:cNvSpPr>
            <a:spLocks noChangeShapeType="1"/>
          </p:cNvSpPr>
          <p:nvPr/>
        </p:nvSpPr>
        <p:spPr bwMode="auto">
          <a:xfrm>
            <a:off x="48641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4" name="Line 44"/>
          <p:cNvSpPr>
            <a:spLocks noChangeShapeType="1"/>
          </p:cNvSpPr>
          <p:nvPr/>
        </p:nvSpPr>
        <p:spPr bwMode="auto">
          <a:xfrm>
            <a:off x="4635500" y="2773363"/>
            <a:ext cx="5334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5" name="Line 45"/>
          <p:cNvSpPr>
            <a:spLocks noChangeShapeType="1"/>
          </p:cNvSpPr>
          <p:nvPr/>
        </p:nvSpPr>
        <p:spPr bwMode="auto">
          <a:xfrm>
            <a:off x="4635500" y="3001963"/>
            <a:ext cx="3048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6" name="Line 46"/>
          <p:cNvSpPr>
            <a:spLocks noChangeShapeType="1"/>
          </p:cNvSpPr>
          <p:nvPr/>
        </p:nvSpPr>
        <p:spPr bwMode="auto">
          <a:xfrm>
            <a:off x="7302500" y="2773363"/>
            <a:ext cx="4572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7" name="Line 47"/>
          <p:cNvSpPr>
            <a:spLocks noChangeShapeType="1"/>
          </p:cNvSpPr>
          <p:nvPr/>
        </p:nvSpPr>
        <p:spPr bwMode="auto">
          <a:xfrm>
            <a:off x="7454900" y="2773363"/>
            <a:ext cx="4572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8" name="Line 48"/>
          <p:cNvSpPr>
            <a:spLocks noChangeShapeType="1"/>
          </p:cNvSpPr>
          <p:nvPr/>
        </p:nvSpPr>
        <p:spPr bwMode="auto">
          <a:xfrm>
            <a:off x="7607300" y="2773363"/>
            <a:ext cx="4572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49" name="Line 49"/>
          <p:cNvSpPr>
            <a:spLocks noChangeShapeType="1"/>
          </p:cNvSpPr>
          <p:nvPr/>
        </p:nvSpPr>
        <p:spPr bwMode="auto">
          <a:xfrm>
            <a:off x="7759700" y="2773363"/>
            <a:ext cx="3048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804"/>
                                        </p:tgtEl>
                                        <p:attrNameLst>
                                          <p:attrName>style.visibility</p:attrName>
                                        </p:attrNameLst>
                                      </p:cBhvr>
                                      <p:to>
                                        <p:strVal val="visible"/>
                                      </p:to>
                                    </p:set>
                                    <p:animEffect transition="in" filter="dissolve">
                                      <p:cBhvr>
                                        <p:cTn id="7" dur="500"/>
                                        <p:tgtEl>
                                          <p:spTgt spid="20480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04813"/>
                                        </p:tgtEl>
                                        <p:attrNameLst>
                                          <p:attrName>style.visibility</p:attrName>
                                        </p:attrNameLst>
                                      </p:cBhvr>
                                      <p:to>
                                        <p:strVal val="visible"/>
                                      </p:to>
                                    </p:set>
                                    <p:animEffect transition="in" filter="dissolve">
                                      <p:cBhvr>
                                        <p:cTn id="10" dur="500"/>
                                        <p:tgtEl>
                                          <p:spTgt spid="20481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04815"/>
                                        </p:tgtEl>
                                        <p:attrNameLst>
                                          <p:attrName>style.visibility</p:attrName>
                                        </p:attrNameLst>
                                      </p:cBhvr>
                                      <p:to>
                                        <p:strVal val="visible"/>
                                      </p:to>
                                    </p:set>
                                    <p:animEffect transition="in" filter="dissolve">
                                      <p:cBhvr>
                                        <p:cTn id="13" dur="500"/>
                                        <p:tgtEl>
                                          <p:spTgt spid="20481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04816"/>
                                        </p:tgtEl>
                                        <p:attrNameLst>
                                          <p:attrName>style.visibility</p:attrName>
                                        </p:attrNameLst>
                                      </p:cBhvr>
                                      <p:to>
                                        <p:strVal val="visible"/>
                                      </p:to>
                                    </p:set>
                                    <p:animEffect transition="in" filter="dissolve">
                                      <p:cBhvr>
                                        <p:cTn id="16" dur="500"/>
                                        <p:tgtEl>
                                          <p:spTgt spid="20481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04817"/>
                                        </p:tgtEl>
                                        <p:attrNameLst>
                                          <p:attrName>style.visibility</p:attrName>
                                        </p:attrNameLst>
                                      </p:cBhvr>
                                      <p:to>
                                        <p:strVal val="visible"/>
                                      </p:to>
                                    </p:set>
                                    <p:animEffect transition="in" filter="dissolve">
                                      <p:cBhvr>
                                        <p:cTn id="19" dur="500"/>
                                        <p:tgtEl>
                                          <p:spTgt spid="20481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04818"/>
                                        </p:tgtEl>
                                        <p:attrNameLst>
                                          <p:attrName>style.visibility</p:attrName>
                                        </p:attrNameLst>
                                      </p:cBhvr>
                                      <p:to>
                                        <p:strVal val="visible"/>
                                      </p:to>
                                    </p:set>
                                    <p:animEffect transition="in" filter="dissolve">
                                      <p:cBhvr>
                                        <p:cTn id="22" dur="500"/>
                                        <p:tgtEl>
                                          <p:spTgt spid="20481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04819"/>
                                        </p:tgtEl>
                                        <p:attrNameLst>
                                          <p:attrName>style.visibility</p:attrName>
                                        </p:attrNameLst>
                                      </p:cBhvr>
                                      <p:to>
                                        <p:strVal val="visible"/>
                                      </p:to>
                                    </p:set>
                                    <p:animEffect transition="in" filter="dissolve">
                                      <p:cBhvr>
                                        <p:cTn id="25" dur="500"/>
                                        <p:tgtEl>
                                          <p:spTgt spid="20481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04820"/>
                                        </p:tgtEl>
                                        <p:attrNameLst>
                                          <p:attrName>style.visibility</p:attrName>
                                        </p:attrNameLst>
                                      </p:cBhvr>
                                      <p:to>
                                        <p:strVal val="visible"/>
                                      </p:to>
                                    </p:set>
                                    <p:animEffect transition="in" filter="dissolve">
                                      <p:cBhvr>
                                        <p:cTn id="28" dur="500"/>
                                        <p:tgtEl>
                                          <p:spTgt spid="20482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04821"/>
                                        </p:tgtEl>
                                        <p:attrNameLst>
                                          <p:attrName>style.visibility</p:attrName>
                                        </p:attrNameLst>
                                      </p:cBhvr>
                                      <p:to>
                                        <p:strVal val="visible"/>
                                      </p:to>
                                    </p:set>
                                    <p:animEffect transition="in" filter="dissolve">
                                      <p:cBhvr>
                                        <p:cTn id="31" dur="500"/>
                                        <p:tgtEl>
                                          <p:spTgt spid="20482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04822"/>
                                        </p:tgtEl>
                                        <p:attrNameLst>
                                          <p:attrName>style.visibility</p:attrName>
                                        </p:attrNameLst>
                                      </p:cBhvr>
                                      <p:to>
                                        <p:strVal val="visible"/>
                                      </p:to>
                                    </p:set>
                                    <p:animEffect transition="in" filter="dissolve">
                                      <p:cBhvr>
                                        <p:cTn id="34" dur="500"/>
                                        <p:tgtEl>
                                          <p:spTgt spid="204822"/>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04823"/>
                                        </p:tgtEl>
                                        <p:attrNameLst>
                                          <p:attrName>style.visibility</p:attrName>
                                        </p:attrNameLst>
                                      </p:cBhvr>
                                      <p:to>
                                        <p:strVal val="visible"/>
                                      </p:to>
                                    </p:set>
                                    <p:animEffect transition="in" filter="dissolve">
                                      <p:cBhvr>
                                        <p:cTn id="37" dur="500"/>
                                        <p:tgtEl>
                                          <p:spTgt spid="204823"/>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04824"/>
                                        </p:tgtEl>
                                        <p:attrNameLst>
                                          <p:attrName>style.visibility</p:attrName>
                                        </p:attrNameLst>
                                      </p:cBhvr>
                                      <p:to>
                                        <p:strVal val="visible"/>
                                      </p:to>
                                    </p:set>
                                    <p:animEffect transition="in" filter="dissolve">
                                      <p:cBhvr>
                                        <p:cTn id="40" dur="500"/>
                                        <p:tgtEl>
                                          <p:spTgt spid="204824"/>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04825"/>
                                        </p:tgtEl>
                                        <p:attrNameLst>
                                          <p:attrName>style.visibility</p:attrName>
                                        </p:attrNameLst>
                                      </p:cBhvr>
                                      <p:to>
                                        <p:strVal val="visible"/>
                                      </p:to>
                                    </p:set>
                                    <p:animEffect transition="in" filter="dissolve">
                                      <p:cBhvr>
                                        <p:cTn id="43" dur="500"/>
                                        <p:tgtEl>
                                          <p:spTgt spid="204825"/>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04826"/>
                                        </p:tgtEl>
                                        <p:attrNameLst>
                                          <p:attrName>style.visibility</p:attrName>
                                        </p:attrNameLst>
                                      </p:cBhvr>
                                      <p:to>
                                        <p:strVal val="visible"/>
                                      </p:to>
                                    </p:set>
                                    <p:animEffect transition="in" filter="dissolve">
                                      <p:cBhvr>
                                        <p:cTn id="46" dur="500"/>
                                        <p:tgtEl>
                                          <p:spTgt spid="204826"/>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04827"/>
                                        </p:tgtEl>
                                        <p:attrNameLst>
                                          <p:attrName>style.visibility</p:attrName>
                                        </p:attrNameLst>
                                      </p:cBhvr>
                                      <p:to>
                                        <p:strVal val="visible"/>
                                      </p:to>
                                    </p:set>
                                    <p:animEffect transition="in" filter="dissolve">
                                      <p:cBhvr>
                                        <p:cTn id="49" dur="500"/>
                                        <p:tgtEl>
                                          <p:spTgt spid="204827"/>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04828"/>
                                        </p:tgtEl>
                                        <p:attrNameLst>
                                          <p:attrName>style.visibility</p:attrName>
                                        </p:attrNameLst>
                                      </p:cBhvr>
                                      <p:to>
                                        <p:strVal val="visible"/>
                                      </p:to>
                                    </p:set>
                                    <p:animEffect transition="in" filter="dissolve">
                                      <p:cBhvr>
                                        <p:cTn id="52" dur="500"/>
                                        <p:tgtEl>
                                          <p:spTgt spid="204828"/>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04829"/>
                                        </p:tgtEl>
                                        <p:attrNameLst>
                                          <p:attrName>style.visibility</p:attrName>
                                        </p:attrNameLst>
                                      </p:cBhvr>
                                      <p:to>
                                        <p:strVal val="visible"/>
                                      </p:to>
                                    </p:set>
                                    <p:animEffect transition="in" filter="dissolve">
                                      <p:cBhvr>
                                        <p:cTn id="55" dur="500"/>
                                        <p:tgtEl>
                                          <p:spTgt spid="204829"/>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04830"/>
                                        </p:tgtEl>
                                        <p:attrNameLst>
                                          <p:attrName>style.visibility</p:attrName>
                                        </p:attrNameLst>
                                      </p:cBhvr>
                                      <p:to>
                                        <p:strVal val="visible"/>
                                      </p:to>
                                    </p:set>
                                    <p:animEffect transition="in" filter="dissolve">
                                      <p:cBhvr>
                                        <p:cTn id="58" dur="500"/>
                                        <p:tgtEl>
                                          <p:spTgt spid="204830"/>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04831"/>
                                        </p:tgtEl>
                                        <p:attrNameLst>
                                          <p:attrName>style.visibility</p:attrName>
                                        </p:attrNameLst>
                                      </p:cBhvr>
                                      <p:to>
                                        <p:strVal val="visible"/>
                                      </p:to>
                                    </p:set>
                                    <p:animEffect transition="in" filter="dissolve">
                                      <p:cBhvr>
                                        <p:cTn id="61" dur="500"/>
                                        <p:tgtEl>
                                          <p:spTgt spid="204831"/>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04832"/>
                                        </p:tgtEl>
                                        <p:attrNameLst>
                                          <p:attrName>style.visibility</p:attrName>
                                        </p:attrNameLst>
                                      </p:cBhvr>
                                      <p:to>
                                        <p:strVal val="visible"/>
                                      </p:to>
                                    </p:set>
                                    <p:animEffect transition="in" filter="dissolve">
                                      <p:cBhvr>
                                        <p:cTn id="64" dur="500"/>
                                        <p:tgtEl>
                                          <p:spTgt spid="204832"/>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04833"/>
                                        </p:tgtEl>
                                        <p:attrNameLst>
                                          <p:attrName>style.visibility</p:attrName>
                                        </p:attrNameLst>
                                      </p:cBhvr>
                                      <p:to>
                                        <p:strVal val="visible"/>
                                      </p:to>
                                    </p:set>
                                    <p:animEffect transition="in" filter="dissolve">
                                      <p:cBhvr>
                                        <p:cTn id="67" dur="500"/>
                                        <p:tgtEl>
                                          <p:spTgt spid="204833"/>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04834"/>
                                        </p:tgtEl>
                                        <p:attrNameLst>
                                          <p:attrName>style.visibility</p:attrName>
                                        </p:attrNameLst>
                                      </p:cBhvr>
                                      <p:to>
                                        <p:strVal val="visible"/>
                                      </p:to>
                                    </p:set>
                                    <p:animEffect transition="in" filter="dissolve">
                                      <p:cBhvr>
                                        <p:cTn id="70" dur="500"/>
                                        <p:tgtEl>
                                          <p:spTgt spid="204834"/>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204835"/>
                                        </p:tgtEl>
                                        <p:attrNameLst>
                                          <p:attrName>style.visibility</p:attrName>
                                        </p:attrNameLst>
                                      </p:cBhvr>
                                      <p:to>
                                        <p:strVal val="visible"/>
                                      </p:to>
                                    </p:set>
                                    <p:animEffect transition="in" filter="dissolve">
                                      <p:cBhvr>
                                        <p:cTn id="73" dur="500"/>
                                        <p:tgtEl>
                                          <p:spTgt spid="204835"/>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204836"/>
                                        </p:tgtEl>
                                        <p:attrNameLst>
                                          <p:attrName>style.visibility</p:attrName>
                                        </p:attrNameLst>
                                      </p:cBhvr>
                                      <p:to>
                                        <p:strVal val="visible"/>
                                      </p:to>
                                    </p:set>
                                    <p:animEffect transition="in" filter="dissolve">
                                      <p:cBhvr>
                                        <p:cTn id="76" dur="500"/>
                                        <p:tgtEl>
                                          <p:spTgt spid="204836"/>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04837"/>
                                        </p:tgtEl>
                                        <p:attrNameLst>
                                          <p:attrName>style.visibility</p:attrName>
                                        </p:attrNameLst>
                                      </p:cBhvr>
                                      <p:to>
                                        <p:strVal val="visible"/>
                                      </p:to>
                                    </p:set>
                                    <p:animEffect transition="in" filter="dissolve">
                                      <p:cBhvr>
                                        <p:cTn id="79" dur="500"/>
                                        <p:tgtEl>
                                          <p:spTgt spid="204837"/>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04838"/>
                                        </p:tgtEl>
                                        <p:attrNameLst>
                                          <p:attrName>style.visibility</p:attrName>
                                        </p:attrNameLst>
                                      </p:cBhvr>
                                      <p:to>
                                        <p:strVal val="visible"/>
                                      </p:to>
                                    </p:set>
                                    <p:animEffect transition="in" filter="dissolve">
                                      <p:cBhvr>
                                        <p:cTn id="82" dur="500"/>
                                        <p:tgtEl>
                                          <p:spTgt spid="204838"/>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04839"/>
                                        </p:tgtEl>
                                        <p:attrNameLst>
                                          <p:attrName>style.visibility</p:attrName>
                                        </p:attrNameLst>
                                      </p:cBhvr>
                                      <p:to>
                                        <p:strVal val="visible"/>
                                      </p:to>
                                    </p:set>
                                    <p:animEffect transition="in" filter="dissolve">
                                      <p:cBhvr>
                                        <p:cTn id="85" dur="500"/>
                                        <p:tgtEl>
                                          <p:spTgt spid="204839"/>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204840"/>
                                        </p:tgtEl>
                                        <p:attrNameLst>
                                          <p:attrName>style.visibility</p:attrName>
                                        </p:attrNameLst>
                                      </p:cBhvr>
                                      <p:to>
                                        <p:strVal val="visible"/>
                                      </p:to>
                                    </p:set>
                                    <p:animEffect transition="in" filter="dissolve">
                                      <p:cBhvr>
                                        <p:cTn id="88" dur="500"/>
                                        <p:tgtEl>
                                          <p:spTgt spid="204840"/>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204841"/>
                                        </p:tgtEl>
                                        <p:attrNameLst>
                                          <p:attrName>style.visibility</p:attrName>
                                        </p:attrNameLst>
                                      </p:cBhvr>
                                      <p:to>
                                        <p:strVal val="visible"/>
                                      </p:to>
                                    </p:set>
                                    <p:animEffect transition="in" filter="dissolve">
                                      <p:cBhvr>
                                        <p:cTn id="91" dur="500"/>
                                        <p:tgtEl>
                                          <p:spTgt spid="204841"/>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204842"/>
                                        </p:tgtEl>
                                        <p:attrNameLst>
                                          <p:attrName>style.visibility</p:attrName>
                                        </p:attrNameLst>
                                      </p:cBhvr>
                                      <p:to>
                                        <p:strVal val="visible"/>
                                      </p:to>
                                    </p:set>
                                    <p:animEffect transition="in" filter="dissolve">
                                      <p:cBhvr>
                                        <p:cTn id="94" dur="500"/>
                                        <p:tgtEl>
                                          <p:spTgt spid="204842"/>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204843"/>
                                        </p:tgtEl>
                                        <p:attrNameLst>
                                          <p:attrName>style.visibility</p:attrName>
                                        </p:attrNameLst>
                                      </p:cBhvr>
                                      <p:to>
                                        <p:strVal val="visible"/>
                                      </p:to>
                                    </p:set>
                                    <p:animEffect transition="in" filter="dissolve">
                                      <p:cBhvr>
                                        <p:cTn id="97" dur="500"/>
                                        <p:tgtEl>
                                          <p:spTgt spid="204843"/>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204844"/>
                                        </p:tgtEl>
                                        <p:attrNameLst>
                                          <p:attrName>style.visibility</p:attrName>
                                        </p:attrNameLst>
                                      </p:cBhvr>
                                      <p:to>
                                        <p:strVal val="visible"/>
                                      </p:to>
                                    </p:set>
                                    <p:animEffect transition="in" filter="dissolve">
                                      <p:cBhvr>
                                        <p:cTn id="100" dur="500"/>
                                        <p:tgtEl>
                                          <p:spTgt spid="204844"/>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204845"/>
                                        </p:tgtEl>
                                        <p:attrNameLst>
                                          <p:attrName>style.visibility</p:attrName>
                                        </p:attrNameLst>
                                      </p:cBhvr>
                                      <p:to>
                                        <p:strVal val="visible"/>
                                      </p:to>
                                    </p:set>
                                    <p:animEffect transition="in" filter="dissolve">
                                      <p:cBhvr>
                                        <p:cTn id="103" dur="500"/>
                                        <p:tgtEl>
                                          <p:spTgt spid="204845"/>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204846"/>
                                        </p:tgtEl>
                                        <p:attrNameLst>
                                          <p:attrName>style.visibility</p:attrName>
                                        </p:attrNameLst>
                                      </p:cBhvr>
                                      <p:to>
                                        <p:strVal val="visible"/>
                                      </p:to>
                                    </p:set>
                                    <p:animEffect transition="in" filter="dissolve">
                                      <p:cBhvr>
                                        <p:cTn id="106" dur="500"/>
                                        <p:tgtEl>
                                          <p:spTgt spid="204846"/>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204847"/>
                                        </p:tgtEl>
                                        <p:attrNameLst>
                                          <p:attrName>style.visibility</p:attrName>
                                        </p:attrNameLst>
                                      </p:cBhvr>
                                      <p:to>
                                        <p:strVal val="visible"/>
                                      </p:to>
                                    </p:set>
                                    <p:animEffect transition="in" filter="dissolve">
                                      <p:cBhvr>
                                        <p:cTn id="109" dur="500"/>
                                        <p:tgtEl>
                                          <p:spTgt spid="204847"/>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204848"/>
                                        </p:tgtEl>
                                        <p:attrNameLst>
                                          <p:attrName>style.visibility</p:attrName>
                                        </p:attrNameLst>
                                      </p:cBhvr>
                                      <p:to>
                                        <p:strVal val="visible"/>
                                      </p:to>
                                    </p:set>
                                    <p:animEffect transition="in" filter="dissolve">
                                      <p:cBhvr>
                                        <p:cTn id="112" dur="500"/>
                                        <p:tgtEl>
                                          <p:spTgt spid="204848"/>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204849"/>
                                        </p:tgtEl>
                                        <p:attrNameLst>
                                          <p:attrName>style.visibility</p:attrName>
                                        </p:attrNameLst>
                                      </p:cBhvr>
                                      <p:to>
                                        <p:strVal val="visible"/>
                                      </p:to>
                                    </p:set>
                                    <p:animEffect transition="in" filter="dissolve">
                                      <p:cBhvr>
                                        <p:cTn id="115" dur="500"/>
                                        <p:tgtEl>
                                          <p:spTgt spid="204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13" grpId="0" bldLvl="0" animBg="1"/>
      <p:bldP spid="204815" grpId="0" bldLvl="0" animBg="1"/>
      <p:bldP spid="204816" grpId="0" bldLvl="0" animBg="1"/>
      <p:bldP spid="204817" grpId="0" bldLvl="0" animBg="1"/>
      <p:bldP spid="204818" grpId="0" bldLvl="0" animBg="1"/>
      <p:bldP spid="204819" grpId="0" bldLvl="0" animBg="1"/>
      <p:bldP spid="204820" grpId="0" bldLvl="0" animBg="1"/>
      <p:bldP spid="204821" grpId="0" bldLvl="0" animBg="1"/>
      <p:bldP spid="204822" grpId="0" bldLvl="0" animBg="1"/>
      <p:bldP spid="204823" grpId="0" bldLvl="0" animBg="1"/>
      <p:bldP spid="204824" grpId="0" bldLvl="0" animBg="1"/>
      <p:bldP spid="204825" grpId="0" bldLvl="0" animBg="1"/>
      <p:bldP spid="204826" grpId="0" bldLvl="0" animBg="1"/>
      <p:bldP spid="204827" grpId="0" bldLvl="0" animBg="1"/>
      <p:bldP spid="204828" grpId="0" bldLvl="0" animBg="1"/>
      <p:bldP spid="204829" grpId="0" bldLvl="0" animBg="1"/>
      <p:bldP spid="204830" grpId="0" bldLvl="0" animBg="1"/>
      <p:bldP spid="204831" grpId="0" bldLvl="0" animBg="1"/>
      <p:bldP spid="204832" grpId="0" bldLvl="0" animBg="1"/>
      <p:bldP spid="204833" grpId="0" bldLvl="0" animBg="1"/>
      <p:bldP spid="204834" grpId="0" bldLvl="0" animBg="1"/>
      <p:bldP spid="204835" grpId="0" bldLvl="0" animBg="1"/>
      <p:bldP spid="204836" grpId="0" bldLvl="0" animBg="1"/>
      <p:bldP spid="204837" grpId="0" bldLvl="0" animBg="1"/>
      <p:bldP spid="204838" grpId="0" bldLvl="0" animBg="1"/>
      <p:bldP spid="204839" grpId="0" bldLvl="0" animBg="1"/>
      <p:bldP spid="204840" grpId="0" bldLvl="0" animBg="1"/>
      <p:bldP spid="204841" grpId="0" bldLvl="0" animBg="1"/>
      <p:bldP spid="204842" grpId="0" bldLvl="0" animBg="1"/>
      <p:bldP spid="204843" grpId="0" bldLvl="0" animBg="1"/>
      <p:bldP spid="204844" grpId="0" bldLvl="0" animBg="1"/>
      <p:bldP spid="204845" grpId="0" bldLvl="0" animBg="1"/>
      <p:bldP spid="204846" grpId="0" bldLvl="0" animBg="1"/>
      <p:bldP spid="204847" grpId="0" bldLvl="0" animBg="1"/>
      <p:bldP spid="204848" grpId="0" bldLvl="0" animBg="1"/>
      <p:bldP spid="204849"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F7DAEE-886F-47FB-980D-9C72DD37890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A5059EF-8D00-41B4-B7E9-759E05CE19B0}"/>
              </a:ext>
            </a:extLst>
          </p:cNvPr>
          <p:cNvSpPr>
            <a:spLocks noGrp="1"/>
          </p:cNvSpPr>
          <p:nvPr>
            <p:ph idx="1"/>
          </p:nvPr>
        </p:nvSpPr>
        <p:spPr/>
        <p:txBody>
          <a:bodyPr/>
          <a:lstStyle/>
          <a:p>
            <a:r>
              <a:rPr lang="zh-CN" altLang="en-US" b="1" dirty="0"/>
              <a:t>如果不靠运气的话，折半查找最终找到目标的条件是什么？</a:t>
            </a:r>
            <a:endParaRPr lang="en-US" altLang="zh-CN" b="1" dirty="0"/>
          </a:p>
          <a:p>
            <a:endParaRPr lang="zh-CN" altLang="en-US" b="1" dirty="0"/>
          </a:p>
        </p:txBody>
      </p:sp>
      <p:pic>
        <p:nvPicPr>
          <p:cNvPr id="5" name="图片 4">
            <a:extLst>
              <a:ext uri="{FF2B5EF4-FFF2-40B4-BE49-F238E27FC236}">
                <a16:creationId xmlns:a16="http://schemas.microsoft.com/office/drawing/2014/main" id="{DE804616-27C3-4389-89F5-D76041706EC9}"/>
              </a:ext>
            </a:extLst>
          </p:cNvPr>
          <p:cNvPicPr>
            <a:picLocks noChangeAspect="1"/>
          </p:cNvPicPr>
          <p:nvPr/>
        </p:nvPicPr>
        <p:blipFill>
          <a:blip r:embed="rId2"/>
          <a:stretch>
            <a:fillRect/>
          </a:stretch>
        </p:blipFill>
        <p:spPr>
          <a:xfrm>
            <a:off x="705991" y="2420888"/>
            <a:ext cx="7610425" cy="3600400"/>
          </a:xfrm>
          <a:prstGeom prst="rect">
            <a:avLst/>
          </a:prstGeom>
        </p:spPr>
      </p:pic>
    </p:spTree>
    <p:extLst>
      <p:ext uri="{BB962C8B-B14F-4D97-AF65-F5344CB8AC3E}">
        <p14:creationId xmlns:p14="http://schemas.microsoft.com/office/powerpoint/2010/main" val="428511805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4"/>
          <p:cNvSpPr>
            <a:spLocks noGrp="1" noChangeArrowheads="1"/>
          </p:cNvSpPr>
          <p:nvPr>
            <p:ph type="body" idx="1"/>
          </p:nvPr>
        </p:nvSpPr>
        <p:spPr>
          <a:xfrm>
            <a:off x="1655763" y="260350"/>
            <a:ext cx="7812087" cy="533400"/>
          </a:xfr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eaLnBrk="1" hangingPunct="1">
              <a:lnSpc>
                <a:spcPct val="90000"/>
              </a:lnSpc>
              <a:buFontTx/>
              <a:buNone/>
            </a:pPr>
            <a:r>
              <a:rPr lang="zh-CN" altLang="en-US"/>
              <a:t>在下标为</a:t>
            </a:r>
            <a:r>
              <a:rPr lang="en-US" altLang="zh-CN"/>
              <a:t>left～right</a:t>
            </a:r>
            <a:r>
              <a:rPr lang="zh-CN" altLang="en-US"/>
              <a:t>的元素中查找值为</a:t>
            </a:r>
            <a:r>
              <a:rPr lang="en-US" altLang="zh-CN"/>
              <a:t>key</a:t>
            </a:r>
            <a:r>
              <a:rPr lang="zh-CN" altLang="en-US"/>
              <a:t>的元素下标。例如：查找3 。</a:t>
            </a:r>
            <a:r>
              <a:rPr lang="en-US" altLang="zh-CN"/>
              <a:t>mid＝(left+right)/2;</a:t>
            </a:r>
            <a:endParaRPr lang="zh-CN" altLang="en-US"/>
          </a:p>
          <a:p>
            <a:pPr eaLnBrk="1" hangingPunct="1">
              <a:lnSpc>
                <a:spcPct val="90000"/>
              </a:lnSpc>
              <a:buFontTx/>
              <a:buNone/>
            </a:pPr>
            <a:endParaRPr lang="zh-CN" altLang="en-US" sz="2000" b="1"/>
          </a:p>
        </p:txBody>
      </p:sp>
      <p:grpSp>
        <p:nvGrpSpPr>
          <p:cNvPr id="207877" name="Group 5"/>
          <p:cNvGrpSpPr/>
          <p:nvPr/>
        </p:nvGrpSpPr>
        <p:grpSpPr bwMode="auto">
          <a:xfrm>
            <a:off x="1504950" y="2198688"/>
            <a:ext cx="914400" cy="838200"/>
            <a:chOff x="384" y="2016"/>
            <a:chExt cx="576" cy="528"/>
          </a:xfrm>
        </p:grpSpPr>
        <p:sp>
          <p:nvSpPr>
            <p:cNvPr id="108613" name="Line 6"/>
            <p:cNvSpPr>
              <a:spLocks noChangeShapeType="1"/>
            </p:cNvSpPr>
            <p:nvPr/>
          </p:nvSpPr>
          <p:spPr bwMode="auto">
            <a:xfrm flipV="1">
              <a:off x="576"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4" name="Text Box 7"/>
            <p:cNvSpPr txBox="1">
              <a:spLocks noChangeArrowheads="1"/>
            </p:cNvSpPr>
            <p:nvPr/>
          </p:nvSpPr>
          <p:spPr bwMode="auto">
            <a:xfrm>
              <a:off x="384" y="225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left</a:t>
              </a:r>
            </a:p>
          </p:txBody>
        </p:sp>
      </p:grpSp>
      <p:grpSp>
        <p:nvGrpSpPr>
          <p:cNvPr id="207880" name="Group 8"/>
          <p:cNvGrpSpPr/>
          <p:nvPr/>
        </p:nvGrpSpPr>
        <p:grpSpPr bwMode="auto">
          <a:xfrm>
            <a:off x="3790950" y="2198688"/>
            <a:ext cx="914400" cy="838200"/>
            <a:chOff x="1968" y="2016"/>
            <a:chExt cx="576" cy="528"/>
          </a:xfrm>
        </p:grpSpPr>
        <p:sp>
          <p:nvSpPr>
            <p:cNvPr id="108611" name="Line 9"/>
            <p:cNvSpPr>
              <a:spLocks noChangeShapeType="1"/>
            </p:cNvSpPr>
            <p:nvPr/>
          </p:nvSpPr>
          <p:spPr bwMode="auto">
            <a:xfrm flipV="1">
              <a:off x="2160"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2" name="Text Box 10"/>
            <p:cNvSpPr txBox="1">
              <a:spLocks noChangeArrowheads="1"/>
            </p:cNvSpPr>
            <p:nvPr/>
          </p:nvSpPr>
          <p:spPr bwMode="auto">
            <a:xfrm>
              <a:off x="1968" y="225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right</a:t>
              </a:r>
            </a:p>
          </p:txBody>
        </p:sp>
      </p:grpSp>
      <p:grpSp>
        <p:nvGrpSpPr>
          <p:cNvPr id="207883" name="Group 11"/>
          <p:cNvGrpSpPr/>
          <p:nvPr/>
        </p:nvGrpSpPr>
        <p:grpSpPr bwMode="auto">
          <a:xfrm>
            <a:off x="2647950" y="2198688"/>
            <a:ext cx="685800" cy="838200"/>
            <a:chOff x="1200" y="2016"/>
            <a:chExt cx="432" cy="528"/>
          </a:xfrm>
        </p:grpSpPr>
        <p:sp>
          <p:nvSpPr>
            <p:cNvPr id="108609" name="Line 12"/>
            <p:cNvSpPr>
              <a:spLocks noChangeShapeType="1"/>
            </p:cNvSpPr>
            <p:nvPr/>
          </p:nvSpPr>
          <p:spPr bwMode="auto">
            <a:xfrm flipV="1">
              <a:off x="1392"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10" name="Text Box 13"/>
            <p:cNvSpPr txBox="1">
              <a:spLocks noChangeArrowheads="1"/>
            </p:cNvSpPr>
            <p:nvPr/>
          </p:nvSpPr>
          <p:spPr bwMode="auto">
            <a:xfrm>
              <a:off x="1200" y="225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mid</a:t>
              </a:r>
            </a:p>
          </p:txBody>
        </p:sp>
      </p:grpSp>
      <p:grpSp>
        <p:nvGrpSpPr>
          <p:cNvPr id="207886" name="Group 14"/>
          <p:cNvGrpSpPr/>
          <p:nvPr/>
        </p:nvGrpSpPr>
        <p:grpSpPr bwMode="auto">
          <a:xfrm>
            <a:off x="285750" y="1284288"/>
            <a:ext cx="4343400" cy="923925"/>
            <a:chOff x="96" y="1104"/>
            <a:chExt cx="2736" cy="582"/>
          </a:xfrm>
        </p:grpSpPr>
        <p:grpSp>
          <p:nvGrpSpPr>
            <p:cNvPr id="108601" name="Group 15"/>
            <p:cNvGrpSpPr/>
            <p:nvPr/>
          </p:nvGrpSpPr>
          <p:grpSpPr bwMode="auto">
            <a:xfrm>
              <a:off x="864" y="1104"/>
              <a:ext cx="1968" cy="582"/>
              <a:chOff x="864" y="1104"/>
              <a:chExt cx="1968" cy="582"/>
            </a:xfrm>
          </p:grpSpPr>
          <p:sp>
            <p:nvSpPr>
              <p:cNvPr id="108603" name="Text Box 16"/>
              <p:cNvSpPr txBox="1">
                <a:spLocks noChangeArrowheads="1"/>
              </p:cNvSpPr>
              <p:nvPr/>
            </p:nvSpPr>
            <p:spPr bwMode="auto">
              <a:xfrm>
                <a:off x="960" y="1392"/>
                <a:ext cx="1728" cy="294"/>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1     4     5     7      9   </a:t>
                </a:r>
              </a:p>
            </p:txBody>
          </p:sp>
          <p:sp>
            <p:nvSpPr>
              <p:cNvPr id="108604" name="Line 17"/>
              <p:cNvSpPr>
                <a:spLocks noChangeShapeType="1"/>
              </p:cNvSpPr>
              <p:nvPr/>
            </p:nvSpPr>
            <p:spPr bwMode="auto">
              <a:xfrm>
                <a:off x="2304" y="1392"/>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05" name="Line 18"/>
              <p:cNvSpPr>
                <a:spLocks noChangeShapeType="1"/>
              </p:cNvSpPr>
              <p:nvPr/>
            </p:nvSpPr>
            <p:spPr bwMode="auto">
              <a:xfrm>
                <a:off x="1920" y="1392"/>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06" name="Line 19"/>
              <p:cNvSpPr>
                <a:spLocks noChangeShapeType="1"/>
              </p:cNvSpPr>
              <p:nvPr/>
            </p:nvSpPr>
            <p:spPr bwMode="auto">
              <a:xfrm>
                <a:off x="1584" y="1392"/>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07" name="Line 20"/>
              <p:cNvSpPr>
                <a:spLocks noChangeShapeType="1"/>
              </p:cNvSpPr>
              <p:nvPr/>
            </p:nvSpPr>
            <p:spPr bwMode="auto">
              <a:xfrm>
                <a:off x="1248" y="1392"/>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08" name="Text Box 21"/>
              <p:cNvSpPr txBox="1">
                <a:spLocks noChangeArrowheads="1"/>
              </p:cNvSpPr>
              <p:nvPr/>
            </p:nvSpPr>
            <p:spPr bwMode="auto">
              <a:xfrm>
                <a:off x="864" y="1104"/>
                <a:ext cx="19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a[0] a[1] a[2] a[3] a[4]</a:t>
                </a:r>
              </a:p>
            </p:txBody>
          </p:sp>
        </p:grpSp>
        <p:sp>
          <p:nvSpPr>
            <p:cNvPr id="108602" name="Text Box 22"/>
            <p:cNvSpPr txBox="1">
              <a:spLocks noChangeArrowheads="1"/>
            </p:cNvSpPr>
            <p:nvPr/>
          </p:nvSpPr>
          <p:spPr bwMode="auto">
            <a:xfrm>
              <a:off x="96" y="1296"/>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第一趟</a:t>
              </a:r>
            </a:p>
          </p:txBody>
        </p:sp>
      </p:grpSp>
      <p:grpSp>
        <p:nvGrpSpPr>
          <p:cNvPr id="207895" name="Group 23"/>
          <p:cNvGrpSpPr/>
          <p:nvPr/>
        </p:nvGrpSpPr>
        <p:grpSpPr bwMode="auto">
          <a:xfrm>
            <a:off x="1504950" y="4103688"/>
            <a:ext cx="914400" cy="838200"/>
            <a:chOff x="384" y="2016"/>
            <a:chExt cx="576" cy="528"/>
          </a:xfrm>
        </p:grpSpPr>
        <p:sp>
          <p:nvSpPr>
            <p:cNvPr id="108599" name="Line 24"/>
            <p:cNvSpPr>
              <a:spLocks noChangeShapeType="1"/>
            </p:cNvSpPr>
            <p:nvPr/>
          </p:nvSpPr>
          <p:spPr bwMode="auto">
            <a:xfrm flipV="1">
              <a:off x="576"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600" name="Text Box 25"/>
            <p:cNvSpPr txBox="1">
              <a:spLocks noChangeArrowheads="1"/>
            </p:cNvSpPr>
            <p:nvPr/>
          </p:nvSpPr>
          <p:spPr bwMode="auto">
            <a:xfrm>
              <a:off x="384" y="225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left</a:t>
              </a:r>
            </a:p>
          </p:txBody>
        </p:sp>
      </p:grpSp>
      <p:grpSp>
        <p:nvGrpSpPr>
          <p:cNvPr id="207898" name="Group 26"/>
          <p:cNvGrpSpPr/>
          <p:nvPr/>
        </p:nvGrpSpPr>
        <p:grpSpPr bwMode="auto">
          <a:xfrm>
            <a:off x="2114550" y="4103688"/>
            <a:ext cx="914400" cy="838200"/>
            <a:chOff x="1968" y="2016"/>
            <a:chExt cx="576" cy="528"/>
          </a:xfrm>
        </p:grpSpPr>
        <p:sp>
          <p:nvSpPr>
            <p:cNvPr id="108597" name="Line 27"/>
            <p:cNvSpPr>
              <a:spLocks noChangeShapeType="1"/>
            </p:cNvSpPr>
            <p:nvPr/>
          </p:nvSpPr>
          <p:spPr bwMode="auto">
            <a:xfrm flipV="1">
              <a:off x="2160"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8" name="Text Box 28"/>
            <p:cNvSpPr txBox="1">
              <a:spLocks noChangeArrowheads="1"/>
            </p:cNvSpPr>
            <p:nvPr/>
          </p:nvSpPr>
          <p:spPr bwMode="auto">
            <a:xfrm>
              <a:off x="1968" y="225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right</a:t>
              </a:r>
            </a:p>
          </p:txBody>
        </p:sp>
      </p:grpSp>
      <p:grpSp>
        <p:nvGrpSpPr>
          <p:cNvPr id="207901" name="Group 29"/>
          <p:cNvGrpSpPr/>
          <p:nvPr/>
        </p:nvGrpSpPr>
        <p:grpSpPr bwMode="auto">
          <a:xfrm>
            <a:off x="1504950" y="4789488"/>
            <a:ext cx="685800" cy="838200"/>
            <a:chOff x="1200" y="2016"/>
            <a:chExt cx="432" cy="528"/>
          </a:xfrm>
        </p:grpSpPr>
        <p:sp>
          <p:nvSpPr>
            <p:cNvPr id="108595" name="Line 30"/>
            <p:cNvSpPr>
              <a:spLocks noChangeShapeType="1"/>
            </p:cNvSpPr>
            <p:nvPr/>
          </p:nvSpPr>
          <p:spPr bwMode="auto">
            <a:xfrm flipV="1">
              <a:off x="1392"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6" name="Text Box 31"/>
            <p:cNvSpPr txBox="1">
              <a:spLocks noChangeArrowheads="1"/>
            </p:cNvSpPr>
            <p:nvPr/>
          </p:nvSpPr>
          <p:spPr bwMode="auto">
            <a:xfrm>
              <a:off x="1200" y="225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mid</a:t>
              </a:r>
            </a:p>
          </p:txBody>
        </p:sp>
      </p:grpSp>
      <p:grpSp>
        <p:nvGrpSpPr>
          <p:cNvPr id="207904" name="Group 32"/>
          <p:cNvGrpSpPr/>
          <p:nvPr/>
        </p:nvGrpSpPr>
        <p:grpSpPr bwMode="auto">
          <a:xfrm>
            <a:off x="6762750" y="2198688"/>
            <a:ext cx="914400" cy="838200"/>
            <a:chOff x="384" y="2016"/>
            <a:chExt cx="576" cy="528"/>
          </a:xfrm>
        </p:grpSpPr>
        <p:sp>
          <p:nvSpPr>
            <p:cNvPr id="108593" name="Line 33"/>
            <p:cNvSpPr>
              <a:spLocks noChangeShapeType="1"/>
            </p:cNvSpPr>
            <p:nvPr/>
          </p:nvSpPr>
          <p:spPr bwMode="auto">
            <a:xfrm flipV="1">
              <a:off x="576"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4" name="Text Box 34"/>
            <p:cNvSpPr txBox="1">
              <a:spLocks noChangeArrowheads="1"/>
            </p:cNvSpPr>
            <p:nvPr/>
          </p:nvSpPr>
          <p:spPr bwMode="auto">
            <a:xfrm>
              <a:off x="384" y="225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left</a:t>
              </a:r>
            </a:p>
          </p:txBody>
        </p:sp>
      </p:grpSp>
      <p:grpSp>
        <p:nvGrpSpPr>
          <p:cNvPr id="207907" name="Group 35"/>
          <p:cNvGrpSpPr/>
          <p:nvPr/>
        </p:nvGrpSpPr>
        <p:grpSpPr bwMode="auto">
          <a:xfrm>
            <a:off x="6838950" y="2884488"/>
            <a:ext cx="914400" cy="838200"/>
            <a:chOff x="1968" y="2016"/>
            <a:chExt cx="576" cy="528"/>
          </a:xfrm>
        </p:grpSpPr>
        <p:sp>
          <p:nvSpPr>
            <p:cNvPr id="108591" name="Line 36"/>
            <p:cNvSpPr>
              <a:spLocks noChangeShapeType="1"/>
            </p:cNvSpPr>
            <p:nvPr/>
          </p:nvSpPr>
          <p:spPr bwMode="auto">
            <a:xfrm flipV="1">
              <a:off x="2160"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2" name="Text Box 37"/>
            <p:cNvSpPr txBox="1">
              <a:spLocks noChangeArrowheads="1"/>
            </p:cNvSpPr>
            <p:nvPr/>
          </p:nvSpPr>
          <p:spPr bwMode="auto">
            <a:xfrm>
              <a:off x="1968" y="225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right</a:t>
              </a:r>
            </a:p>
          </p:txBody>
        </p:sp>
      </p:grpSp>
      <p:grpSp>
        <p:nvGrpSpPr>
          <p:cNvPr id="207910" name="Group 38"/>
          <p:cNvGrpSpPr/>
          <p:nvPr/>
        </p:nvGrpSpPr>
        <p:grpSpPr bwMode="auto">
          <a:xfrm>
            <a:off x="6838950" y="3646488"/>
            <a:ext cx="685800" cy="838200"/>
            <a:chOff x="1200" y="2016"/>
            <a:chExt cx="432" cy="528"/>
          </a:xfrm>
        </p:grpSpPr>
        <p:sp>
          <p:nvSpPr>
            <p:cNvPr id="108589" name="Line 39"/>
            <p:cNvSpPr>
              <a:spLocks noChangeShapeType="1"/>
            </p:cNvSpPr>
            <p:nvPr/>
          </p:nvSpPr>
          <p:spPr bwMode="auto">
            <a:xfrm flipV="1">
              <a:off x="1392"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90" name="Text Box 40"/>
            <p:cNvSpPr txBox="1">
              <a:spLocks noChangeArrowheads="1"/>
            </p:cNvSpPr>
            <p:nvPr/>
          </p:nvSpPr>
          <p:spPr bwMode="auto">
            <a:xfrm>
              <a:off x="1200" y="2256"/>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mid</a:t>
              </a:r>
            </a:p>
          </p:txBody>
        </p:sp>
      </p:grpSp>
      <p:grpSp>
        <p:nvGrpSpPr>
          <p:cNvPr id="207913" name="Group 41"/>
          <p:cNvGrpSpPr/>
          <p:nvPr/>
        </p:nvGrpSpPr>
        <p:grpSpPr bwMode="auto">
          <a:xfrm>
            <a:off x="6076950" y="5399088"/>
            <a:ext cx="914400" cy="838200"/>
            <a:chOff x="1968" y="2016"/>
            <a:chExt cx="576" cy="528"/>
          </a:xfrm>
        </p:grpSpPr>
        <p:sp>
          <p:nvSpPr>
            <p:cNvPr id="108587" name="Line 42"/>
            <p:cNvSpPr>
              <a:spLocks noChangeShapeType="1"/>
            </p:cNvSpPr>
            <p:nvPr/>
          </p:nvSpPr>
          <p:spPr bwMode="auto">
            <a:xfrm flipV="1">
              <a:off x="2160"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8" name="Text Box 43"/>
            <p:cNvSpPr txBox="1">
              <a:spLocks noChangeArrowheads="1"/>
            </p:cNvSpPr>
            <p:nvPr/>
          </p:nvSpPr>
          <p:spPr bwMode="auto">
            <a:xfrm>
              <a:off x="1968" y="225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right</a:t>
              </a:r>
            </a:p>
          </p:txBody>
        </p:sp>
      </p:grpSp>
      <p:grpSp>
        <p:nvGrpSpPr>
          <p:cNvPr id="207916" name="Group 44"/>
          <p:cNvGrpSpPr/>
          <p:nvPr/>
        </p:nvGrpSpPr>
        <p:grpSpPr bwMode="auto">
          <a:xfrm>
            <a:off x="6762750" y="5399088"/>
            <a:ext cx="914400" cy="838200"/>
            <a:chOff x="384" y="2016"/>
            <a:chExt cx="576" cy="528"/>
          </a:xfrm>
        </p:grpSpPr>
        <p:sp>
          <p:nvSpPr>
            <p:cNvPr id="108585" name="Line 45"/>
            <p:cNvSpPr>
              <a:spLocks noChangeShapeType="1"/>
            </p:cNvSpPr>
            <p:nvPr/>
          </p:nvSpPr>
          <p:spPr bwMode="auto">
            <a:xfrm flipV="1">
              <a:off x="576" y="2016"/>
              <a:ext cx="0" cy="24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6" name="Text Box 46"/>
            <p:cNvSpPr txBox="1">
              <a:spLocks noChangeArrowheads="1"/>
            </p:cNvSpPr>
            <p:nvPr/>
          </p:nvSpPr>
          <p:spPr bwMode="auto">
            <a:xfrm>
              <a:off x="384" y="225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left</a:t>
              </a:r>
            </a:p>
          </p:txBody>
        </p:sp>
      </p:grpSp>
      <p:grpSp>
        <p:nvGrpSpPr>
          <p:cNvPr id="207919" name="Group 47"/>
          <p:cNvGrpSpPr/>
          <p:nvPr/>
        </p:nvGrpSpPr>
        <p:grpSpPr bwMode="auto">
          <a:xfrm>
            <a:off x="285750" y="3113088"/>
            <a:ext cx="4267200" cy="923925"/>
            <a:chOff x="96" y="2256"/>
            <a:chExt cx="2688" cy="582"/>
          </a:xfrm>
        </p:grpSpPr>
        <p:sp>
          <p:nvSpPr>
            <p:cNvPr id="108578" name="Text Box 48"/>
            <p:cNvSpPr txBox="1">
              <a:spLocks noChangeArrowheads="1"/>
            </p:cNvSpPr>
            <p:nvPr/>
          </p:nvSpPr>
          <p:spPr bwMode="auto">
            <a:xfrm>
              <a:off x="96" y="2496"/>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第二趟</a:t>
              </a:r>
            </a:p>
          </p:txBody>
        </p:sp>
        <p:sp>
          <p:nvSpPr>
            <p:cNvPr id="108579" name="Text Box 49"/>
            <p:cNvSpPr txBox="1">
              <a:spLocks noChangeArrowheads="1"/>
            </p:cNvSpPr>
            <p:nvPr/>
          </p:nvSpPr>
          <p:spPr bwMode="auto">
            <a:xfrm>
              <a:off x="912" y="2544"/>
              <a:ext cx="1728" cy="294"/>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1     4     </a:t>
              </a:r>
            </a:p>
          </p:txBody>
        </p:sp>
        <p:sp>
          <p:nvSpPr>
            <p:cNvPr id="108580" name="Line 50"/>
            <p:cNvSpPr>
              <a:spLocks noChangeShapeType="1"/>
            </p:cNvSpPr>
            <p:nvPr/>
          </p:nvSpPr>
          <p:spPr bwMode="auto">
            <a:xfrm>
              <a:off x="2256" y="254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1" name="Line 51"/>
            <p:cNvSpPr>
              <a:spLocks noChangeShapeType="1"/>
            </p:cNvSpPr>
            <p:nvPr/>
          </p:nvSpPr>
          <p:spPr bwMode="auto">
            <a:xfrm>
              <a:off x="1872" y="254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2" name="Line 52"/>
            <p:cNvSpPr>
              <a:spLocks noChangeShapeType="1"/>
            </p:cNvSpPr>
            <p:nvPr/>
          </p:nvSpPr>
          <p:spPr bwMode="auto">
            <a:xfrm>
              <a:off x="1536" y="254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3" name="Line 53"/>
            <p:cNvSpPr>
              <a:spLocks noChangeShapeType="1"/>
            </p:cNvSpPr>
            <p:nvPr/>
          </p:nvSpPr>
          <p:spPr bwMode="auto">
            <a:xfrm>
              <a:off x="1200" y="254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84" name="Text Box 54"/>
            <p:cNvSpPr txBox="1">
              <a:spLocks noChangeArrowheads="1"/>
            </p:cNvSpPr>
            <p:nvPr/>
          </p:nvSpPr>
          <p:spPr bwMode="auto">
            <a:xfrm>
              <a:off x="816" y="2256"/>
              <a:ext cx="19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a[0] a[1] a[2] a[3] a[4]</a:t>
              </a:r>
            </a:p>
          </p:txBody>
        </p:sp>
      </p:grpSp>
      <p:grpSp>
        <p:nvGrpSpPr>
          <p:cNvPr id="207927" name="Group 55"/>
          <p:cNvGrpSpPr/>
          <p:nvPr/>
        </p:nvGrpSpPr>
        <p:grpSpPr bwMode="auto">
          <a:xfrm>
            <a:off x="5010150" y="1274763"/>
            <a:ext cx="4343400" cy="923925"/>
            <a:chOff x="3072" y="1098"/>
            <a:chExt cx="2736" cy="582"/>
          </a:xfrm>
        </p:grpSpPr>
        <p:sp>
          <p:nvSpPr>
            <p:cNvPr id="108571" name="Text Box 56"/>
            <p:cNvSpPr txBox="1">
              <a:spLocks noChangeArrowheads="1"/>
            </p:cNvSpPr>
            <p:nvPr/>
          </p:nvSpPr>
          <p:spPr bwMode="auto">
            <a:xfrm>
              <a:off x="3072" y="1296"/>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第三趟</a:t>
              </a:r>
            </a:p>
          </p:txBody>
        </p:sp>
        <p:sp>
          <p:nvSpPr>
            <p:cNvPr id="108572" name="Text Box 57"/>
            <p:cNvSpPr txBox="1">
              <a:spLocks noChangeArrowheads="1"/>
            </p:cNvSpPr>
            <p:nvPr/>
          </p:nvSpPr>
          <p:spPr bwMode="auto">
            <a:xfrm>
              <a:off x="3936" y="1386"/>
              <a:ext cx="1728" cy="294"/>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       4     </a:t>
              </a:r>
            </a:p>
          </p:txBody>
        </p:sp>
        <p:sp>
          <p:nvSpPr>
            <p:cNvPr id="108573" name="Line 58"/>
            <p:cNvSpPr>
              <a:spLocks noChangeShapeType="1"/>
            </p:cNvSpPr>
            <p:nvPr/>
          </p:nvSpPr>
          <p:spPr bwMode="auto">
            <a:xfrm>
              <a:off x="5280" y="138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4" name="Line 59"/>
            <p:cNvSpPr>
              <a:spLocks noChangeShapeType="1"/>
            </p:cNvSpPr>
            <p:nvPr/>
          </p:nvSpPr>
          <p:spPr bwMode="auto">
            <a:xfrm>
              <a:off x="4896" y="138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5" name="Line 60"/>
            <p:cNvSpPr>
              <a:spLocks noChangeShapeType="1"/>
            </p:cNvSpPr>
            <p:nvPr/>
          </p:nvSpPr>
          <p:spPr bwMode="auto">
            <a:xfrm>
              <a:off x="4560" y="138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6" name="Line 61"/>
            <p:cNvSpPr>
              <a:spLocks noChangeShapeType="1"/>
            </p:cNvSpPr>
            <p:nvPr/>
          </p:nvSpPr>
          <p:spPr bwMode="auto">
            <a:xfrm>
              <a:off x="4224" y="1386"/>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7" name="Text Box 62"/>
            <p:cNvSpPr txBox="1">
              <a:spLocks noChangeArrowheads="1"/>
            </p:cNvSpPr>
            <p:nvPr/>
          </p:nvSpPr>
          <p:spPr bwMode="auto">
            <a:xfrm>
              <a:off x="3840" y="1098"/>
              <a:ext cx="19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a[0] a[1] a[2] a[3] a[4]</a:t>
              </a:r>
            </a:p>
          </p:txBody>
        </p:sp>
      </p:grpSp>
      <p:grpSp>
        <p:nvGrpSpPr>
          <p:cNvPr id="207935" name="Group 63"/>
          <p:cNvGrpSpPr/>
          <p:nvPr/>
        </p:nvGrpSpPr>
        <p:grpSpPr bwMode="auto">
          <a:xfrm>
            <a:off x="4933950" y="4398963"/>
            <a:ext cx="4267200" cy="923925"/>
            <a:chOff x="3024" y="3066"/>
            <a:chExt cx="2688" cy="582"/>
          </a:xfrm>
        </p:grpSpPr>
        <p:sp>
          <p:nvSpPr>
            <p:cNvPr id="108564" name="Text Box 64"/>
            <p:cNvSpPr txBox="1">
              <a:spLocks noChangeArrowheads="1"/>
            </p:cNvSpPr>
            <p:nvPr/>
          </p:nvSpPr>
          <p:spPr bwMode="auto">
            <a:xfrm>
              <a:off x="3024" y="3258"/>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第四趟</a:t>
              </a:r>
            </a:p>
          </p:txBody>
        </p:sp>
        <p:sp>
          <p:nvSpPr>
            <p:cNvPr id="108565" name="Text Box 65"/>
            <p:cNvSpPr txBox="1">
              <a:spLocks noChangeArrowheads="1"/>
            </p:cNvSpPr>
            <p:nvPr/>
          </p:nvSpPr>
          <p:spPr bwMode="auto">
            <a:xfrm>
              <a:off x="3840" y="3354"/>
              <a:ext cx="1728" cy="294"/>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       4     </a:t>
              </a:r>
            </a:p>
          </p:txBody>
        </p:sp>
        <p:sp>
          <p:nvSpPr>
            <p:cNvPr id="108566" name="Line 66"/>
            <p:cNvSpPr>
              <a:spLocks noChangeShapeType="1"/>
            </p:cNvSpPr>
            <p:nvPr/>
          </p:nvSpPr>
          <p:spPr bwMode="auto">
            <a:xfrm>
              <a:off x="5184" y="335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7" name="Line 67"/>
            <p:cNvSpPr>
              <a:spLocks noChangeShapeType="1"/>
            </p:cNvSpPr>
            <p:nvPr/>
          </p:nvSpPr>
          <p:spPr bwMode="auto">
            <a:xfrm>
              <a:off x="4800" y="335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8" name="Line 68"/>
            <p:cNvSpPr>
              <a:spLocks noChangeShapeType="1"/>
            </p:cNvSpPr>
            <p:nvPr/>
          </p:nvSpPr>
          <p:spPr bwMode="auto">
            <a:xfrm>
              <a:off x="4464" y="335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69" name="Line 69"/>
            <p:cNvSpPr>
              <a:spLocks noChangeShapeType="1"/>
            </p:cNvSpPr>
            <p:nvPr/>
          </p:nvSpPr>
          <p:spPr bwMode="auto">
            <a:xfrm>
              <a:off x="4128" y="3354"/>
              <a:ext cx="0" cy="2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570" name="Text Box 70"/>
            <p:cNvSpPr txBox="1">
              <a:spLocks noChangeArrowheads="1"/>
            </p:cNvSpPr>
            <p:nvPr/>
          </p:nvSpPr>
          <p:spPr bwMode="auto">
            <a:xfrm>
              <a:off x="3744" y="3066"/>
              <a:ext cx="19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t>a[0] a[1] a[2] a[3] a[4]</a:t>
              </a:r>
            </a:p>
          </p:txBody>
        </p:sp>
      </p:grpSp>
      <p:sp>
        <p:nvSpPr>
          <p:cNvPr id="207948" name="Text Box 76"/>
          <p:cNvSpPr txBox="1">
            <a:spLocks noChangeArrowheads="1"/>
          </p:cNvSpPr>
          <p:nvPr/>
        </p:nvSpPr>
        <p:spPr bwMode="auto">
          <a:xfrm>
            <a:off x="1547813" y="5805488"/>
            <a:ext cx="3960812" cy="757130"/>
          </a:xfrm>
          <a:prstGeom prst="rect">
            <a:avLst/>
          </a:prstGeom>
          <a:solidFill>
            <a:schemeClr val="hlink"/>
          </a:solidFill>
          <a:ln>
            <a:noFill/>
          </a:ln>
          <a:effectLst>
            <a:prstShdw prst="shdw18" dist="17961" dir="13500000">
              <a:schemeClr val="hlink">
                <a:gamma/>
                <a:shade val="60000"/>
                <a:invGamma/>
              </a:schemeClr>
            </a:prst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None/>
              <a:defRPr/>
            </a:pPr>
            <a:r>
              <a:rPr lang="zh-CN" altLang="en-US" sz="2400" b="1" dirty="0"/>
              <a:t>循环结束条件：</a:t>
            </a:r>
            <a:r>
              <a:rPr lang="en-US" altLang="zh-CN" sz="2400" b="1" dirty="0"/>
              <a:t>left&gt;right </a:t>
            </a:r>
            <a:r>
              <a:rPr lang="zh-CN" altLang="en-US" sz="2400" b="1" dirty="0"/>
              <a:t>或者已经找到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7886"/>
                                        </p:tgtEl>
                                        <p:attrNameLst>
                                          <p:attrName>style.visibility</p:attrName>
                                        </p:attrNameLst>
                                      </p:cBhvr>
                                      <p:to>
                                        <p:strVal val="visible"/>
                                      </p:to>
                                    </p:set>
                                    <p:animEffect transition="in" filter="dissolve">
                                      <p:cBhvr>
                                        <p:cTn id="7" dur="500"/>
                                        <p:tgtEl>
                                          <p:spTgt spid="20788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7877"/>
                                        </p:tgtEl>
                                        <p:attrNameLst>
                                          <p:attrName>style.visibility</p:attrName>
                                        </p:attrNameLst>
                                      </p:cBhvr>
                                      <p:to>
                                        <p:strVal val="visible"/>
                                      </p:to>
                                    </p:set>
                                    <p:animEffect transition="in" filter="dissolve">
                                      <p:cBhvr>
                                        <p:cTn id="12" dur="500"/>
                                        <p:tgtEl>
                                          <p:spTgt spid="20787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07880"/>
                                        </p:tgtEl>
                                        <p:attrNameLst>
                                          <p:attrName>style.visibility</p:attrName>
                                        </p:attrNameLst>
                                      </p:cBhvr>
                                      <p:to>
                                        <p:strVal val="visible"/>
                                      </p:to>
                                    </p:set>
                                    <p:animEffect transition="in" filter="dissolve">
                                      <p:cBhvr>
                                        <p:cTn id="17" dur="500"/>
                                        <p:tgtEl>
                                          <p:spTgt spid="20788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7883"/>
                                        </p:tgtEl>
                                        <p:attrNameLst>
                                          <p:attrName>style.visibility</p:attrName>
                                        </p:attrNameLst>
                                      </p:cBhvr>
                                      <p:to>
                                        <p:strVal val="visible"/>
                                      </p:to>
                                    </p:set>
                                    <p:animEffect transition="in" filter="dissolve">
                                      <p:cBhvr>
                                        <p:cTn id="22" dur="500"/>
                                        <p:tgtEl>
                                          <p:spTgt spid="20788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07919"/>
                                        </p:tgtEl>
                                        <p:attrNameLst>
                                          <p:attrName>style.visibility</p:attrName>
                                        </p:attrNameLst>
                                      </p:cBhvr>
                                      <p:to>
                                        <p:strVal val="visible"/>
                                      </p:to>
                                    </p:set>
                                    <p:anim calcmode="lin" valueType="num">
                                      <p:cBhvr additive="base">
                                        <p:cTn id="27" dur="500" fill="hold"/>
                                        <p:tgtEl>
                                          <p:spTgt spid="207919"/>
                                        </p:tgtEl>
                                        <p:attrNameLst>
                                          <p:attrName>ppt_x</p:attrName>
                                        </p:attrNameLst>
                                      </p:cBhvr>
                                      <p:tavLst>
                                        <p:tav tm="0">
                                          <p:val>
                                            <p:strVal val="0-#ppt_w/2"/>
                                          </p:val>
                                        </p:tav>
                                        <p:tav tm="100000">
                                          <p:val>
                                            <p:strVal val="#ppt_x"/>
                                          </p:val>
                                        </p:tav>
                                      </p:tavLst>
                                    </p:anim>
                                    <p:anim calcmode="lin" valueType="num">
                                      <p:cBhvr additive="base">
                                        <p:cTn id="28" dur="500" fill="hold"/>
                                        <p:tgtEl>
                                          <p:spTgt spid="20791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07895"/>
                                        </p:tgtEl>
                                        <p:attrNameLst>
                                          <p:attrName>style.visibility</p:attrName>
                                        </p:attrNameLst>
                                      </p:cBhvr>
                                      <p:to>
                                        <p:strVal val="visible"/>
                                      </p:to>
                                    </p:set>
                                    <p:animEffect transition="in" filter="dissolve">
                                      <p:cBhvr>
                                        <p:cTn id="33" dur="500"/>
                                        <p:tgtEl>
                                          <p:spTgt spid="207895"/>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07898"/>
                                        </p:tgtEl>
                                        <p:attrNameLst>
                                          <p:attrName>style.visibility</p:attrName>
                                        </p:attrNameLst>
                                      </p:cBhvr>
                                      <p:to>
                                        <p:strVal val="visible"/>
                                      </p:to>
                                    </p:set>
                                    <p:animEffect transition="in" filter="dissolve">
                                      <p:cBhvr>
                                        <p:cTn id="38" dur="500"/>
                                        <p:tgtEl>
                                          <p:spTgt spid="20789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07901"/>
                                        </p:tgtEl>
                                        <p:attrNameLst>
                                          <p:attrName>style.visibility</p:attrName>
                                        </p:attrNameLst>
                                      </p:cBhvr>
                                      <p:to>
                                        <p:strVal val="visible"/>
                                      </p:to>
                                    </p:set>
                                    <p:animEffect transition="in" filter="dissolve">
                                      <p:cBhvr>
                                        <p:cTn id="43" dur="500"/>
                                        <p:tgtEl>
                                          <p:spTgt spid="207901"/>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207927"/>
                                        </p:tgtEl>
                                        <p:attrNameLst>
                                          <p:attrName>style.visibility</p:attrName>
                                        </p:attrNameLst>
                                      </p:cBhvr>
                                      <p:to>
                                        <p:strVal val="visible"/>
                                      </p:to>
                                    </p:set>
                                    <p:anim calcmode="lin" valueType="num">
                                      <p:cBhvr additive="base">
                                        <p:cTn id="48" dur="500" fill="hold"/>
                                        <p:tgtEl>
                                          <p:spTgt spid="207927"/>
                                        </p:tgtEl>
                                        <p:attrNameLst>
                                          <p:attrName>ppt_x</p:attrName>
                                        </p:attrNameLst>
                                      </p:cBhvr>
                                      <p:tavLst>
                                        <p:tav tm="0">
                                          <p:val>
                                            <p:strVal val="0-#ppt_w/2"/>
                                          </p:val>
                                        </p:tav>
                                        <p:tav tm="100000">
                                          <p:val>
                                            <p:strVal val="#ppt_x"/>
                                          </p:val>
                                        </p:tav>
                                      </p:tavLst>
                                    </p:anim>
                                    <p:anim calcmode="lin" valueType="num">
                                      <p:cBhvr additive="base">
                                        <p:cTn id="49" dur="500" fill="hold"/>
                                        <p:tgtEl>
                                          <p:spTgt spid="207927"/>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207904"/>
                                        </p:tgtEl>
                                        <p:attrNameLst>
                                          <p:attrName>style.visibility</p:attrName>
                                        </p:attrNameLst>
                                      </p:cBhvr>
                                      <p:to>
                                        <p:strVal val="visible"/>
                                      </p:to>
                                    </p:set>
                                    <p:animEffect transition="in" filter="dissolve">
                                      <p:cBhvr>
                                        <p:cTn id="54" dur="500"/>
                                        <p:tgtEl>
                                          <p:spTgt spid="207904"/>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207907"/>
                                        </p:tgtEl>
                                        <p:attrNameLst>
                                          <p:attrName>style.visibility</p:attrName>
                                        </p:attrNameLst>
                                      </p:cBhvr>
                                      <p:to>
                                        <p:strVal val="visible"/>
                                      </p:to>
                                    </p:set>
                                    <p:animEffect transition="in" filter="dissolve">
                                      <p:cBhvr>
                                        <p:cTn id="59" dur="500"/>
                                        <p:tgtEl>
                                          <p:spTgt spid="207907"/>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207910"/>
                                        </p:tgtEl>
                                        <p:attrNameLst>
                                          <p:attrName>style.visibility</p:attrName>
                                        </p:attrNameLst>
                                      </p:cBhvr>
                                      <p:to>
                                        <p:strVal val="visible"/>
                                      </p:to>
                                    </p:set>
                                    <p:animEffect transition="in" filter="dissolve">
                                      <p:cBhvr>
                                        <p:cTn id="64" dur="500"/>
                                        <p:tgtEl>
                                          <p:spTgt spid="207910"/>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8" fill="hold" nodeType="clickEffect">
                                  <p:stCondLst>
                                    <p:cond delay="0"/>
                                  </p:stCondLst>
                                  <p:childTnLst>
                                    <p:set>
                                      <p:cBhvr>
                                        <p:cTn id="68" dur="1" fill="hold">
                                          <p:stCondLst>
                                            <p:cond delay="0"/>
                                          </p:stCondLst>
                                        </p:cTn>
                                        <p:tgtEl>
                                          <p:spTgt spid="207935"/>
                                        </p:tgtEl>
                                        <p:attrNameLst>
                                          <p:attrName>style.visibility</p:attrName>
                                        </p:attrNameLst>
                                      </p:cBhvr>
                                      <p:to>
                                        <p:strVal val="visible"/>
                                      </p:to>
                                    </p:set>
                                    <p:anim calcmode="lin" valueType="num">
                                      <p:cBhvr additive="base">
                                        <p:cTn id="69" dur="500" fill="hold"/>
                                        <p:tgtEl>
                                          <p:spTgt spid="207935"/>
                                        </p:tgtEl>
                                        <p:attrNameLst>
                                          <p:attrName>ppt_x</p:attrName>
                                        </p:attrNameLst>
                                      </p:cBhvr>
                                      <p:tavLst>
                                        <p:tav tm="0">
                                          <p:val>
                                            <p:strVal val="0-#ppt_w/2"/>
                                          </p:val>
                                        </p:tav>
                                        <p:tav tm="100000">
                                          <p:val>
                                            <p:strVal val="#ppt_x"/>
                                          </p:val>
                                        </p:tav>
                                      </p:tavLst>
                                    </p:anim>
                                    <p:anim calcmode="lin" valueType="num">
                                      <p:cBhvr additive="base">
                                        <p:cTn id="70" dur="500" fill="hold"/>
                                        <p:tgtEl>
                                          <p:spTgt spid="207935"/>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nodeType="clickEffect">
                                  <p:stCondLst>
                                    <p:cond delay="0"/>
                                  </p:stCondLst>
                                  <p:childTnLst>
                                    <p:set>
                                      <p:cBhvr>
                                        <p:cTn id="74" dur="1" fill="hold">
                                          <p:stCondLst>
                                            <p:cond delay="0"/>
                                          </p:stCondLst>
                                        </p:cTn>
                                        <p:tgtEl>
                                          <p:spTgt spid="207916"/>
                                        </p:tgtEl>
                                        <p:attrNameLst>
                                          <p:attrName>style.visibility</p:attrName>
                                        </p:attrNameLst>
                                      </p:cBhvr>
                                      <p:to>
                                        <p:strVal val="visible"/>
                                      </p:to>
                                    </p:set>
                                    <p:anim calcmode="lin" valueType="num">
                                      <p:cBhvr additive="base">
                                        <p:cTn id="75" dur="500" fill="hold"/>
                                        <p:tgtEl>
                                          <p:spTgt spid="207916"/>
                                        </p:tgtEl>
                                        <p:attrNameLst>
                                          <p:attrName>ppt_x</p:attrName>
                                        </p:attrNameLst>
                                      </p:cBhvr>
                                      <p:tavLst>
                                        <p:tav tm="0">
                                          <p:val>
                                            <p:strVal val="0-#ppt_w/2"/>
                                          </p:val>
                                        </p:tav>
                                        <p:tav tm="100000">
                                          <p:val>
                                            <p:strVal val="#ppt_x"/>
                                          </p:val>
                                        </p:tav>
                                      </p:tavLst>
                                    </p:anim>
                                    <p:anim calcmode="lin" valueType="num">
                                      <p:cBhvr additive="base">
                                        <p:cTn id="76" dur="500" fill="hold"/>
                                        <p:tgtEl>
                                          <p:spTgt spid="207916"/>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nodeType="clickEffect">
                                  <p:stCondLst>
                                    <p:cond delay="0"/>
                                  </p:stCondLst>
                                  <p:childTnLst>
                                    <p:set>
                                      <p:cBhvr>
                                        <p:cTn id="80" dur="1" fill="hold">
                                          <p:stCondLst>
                                            <p:cond delay="0"/>
                                          </p:stCondLst>
                                        </p:cTn>
                                        <p:tgtEl>
                                          <p:spTgt spid="207913"/>
                                        </p:tgtEl>
                                        <p:attrNameLst>
                                          <p:attrName>style.visibility</p:attrName>
                                        </p:attrNameLst>
                                      </p:cBhvr>
                                      <p:to>
                                        <p:strVal val="visible"/>
                                      </p:to>
                                    </p:set>
                                    <p:animEffect transition="in" filter="dissolve">
                                      <p:cBhvr>
                                        <p:cTn id="81" dur="500"/>
                                        <p:tgtEl>
                                          <p:spTgt spid="207913"/>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207948"/>
                                        </p:tgtEl>
                                        <p:attrNameLst>
                                          <p:attrName>style.visibility</p:attrName>
                                        </p:attrNameLst>
                                      </p:cBhvr>
                                      <p:to>
                                        <p:strVal val="visible"/>
                                      </p:to>
                                    </p:set>
                                    <p:animEffect transition="in" filter="dissolve">
                                      <p:cBhvr>
                                        <p:cTn id="86" dur="500"/>
                                        <p:tgtEl>
                                          <p:spTgt spid="207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48"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ChangeArrowheads="1"/>
          </p:cNvSpPr>
          <p:nvPr>
            <p:ph type="title"/>
          </p:nvPr>
        </p:nvSpPr>
        <p:spPr/>
        <p:txBody>
          <a:bodyPr/>
          <a:lstStyle/>
          <a:p>
            <a:pPr eaLnBrk="1" hangingPunct="1"/>
            <a:r>
              <a:rPr lang="en-US" altLang="zh-CN" b="1"/>
              <a:t>6.5 </a:t>
            </a:r>
            <a:r>
              <a:rPr lang="zh-CN" altLang="en-US" b="1"/>
              <a:t>数组的应用</a:t>
            </a:r>
            <a:r>
              <a:rPr lang="en-US" altLang="zh-CN" b="1"/>
              <a:t>-</a:t>
            </a:r>
            <a:r>
              <a:rPr lang="zh-CN" altLang="en-US" b="1"/>
              <a:t>折半查找</a:t>
            </a:r>
          </a:p>
        </p:txBody>
      </p:sp>
      <p:sp>
        <p:nvSpPr>
          <p:cNvPr id="109572" name="Rectangle 3"/>
          <p:cNvSpPr>
            <a:spLocks noGrp="1" noChangeArrowheads="1"/>
          </p:cNvSpPr>
          <p:nvPr>
            <p:ph type="body" idx="1"/>
          </p:nvPr>
        </p:nvSpPr>
        <p:spPr/>
        <p:txBody>
          <a:bodyPr/>
          <a:lstStyle/>
          <a:p>
            <a:pPr eaLnBrk="1" hangingPunct="1">
              <a:lnSpc>
                <a:spcPct val="80000"/>
              </a:lnSpc>
              <a:buFontTx/>
              <a:buNone/>
            </a:pPr>
            <a:r>
              <a:rPr lang="en-US" altLang="zh-CN" sz="2400" dirty="0">
                <a:latin typeface="Consolas" panose="020B0609020204030204" pitchFamily="49" charset="0"/>
              </a:rPr>
              <a:t>int </a:t>
            </a:r>
            <a:r>
              <a:rPr lang="en-US" altLang="zh-CN" sz="2400" dirty="0" err="1">
                <a:latin typeface="Consolas" panose="020B0609020204030204" pitchFamily="49" charset="0"/>
              </a:rPr>
              <a:t>binarySearch</a:t>
            </a:r>
            <a:r>
              <a:rPr lang="en-US" altLang="zh-CN" sz="2400" dirty="0">
                <a:latin typeface="Consolas" panose="020B0609020204030204" pitchFamily="49" charset="0"/>
              </a:rPr>
              <a:t>(int a[],int n, int x)</a:t>
            </a:r>
          </a:p>
          <a:p>
            <a:pPr eaLnBrk="1" hangingPunct="1">
              <a:lnSpc>
                <a:spcPct val="80000"/>
              </a:lnSpc>
              <a:buFontTx/>
              <a:buNone/>
            </a:pPr>
            <a:r>
              <a:rPr lang="en-US" altLang="zh-CN" sz="2400" dirty="0">
                <a:latin typeface="Consolas" panose="020B0609020204030204" pitchFamily="49" charset="0"/>
              </a:rPr>
              <a:t>{</a:t>
            </a:r>
          </a:p>
          <a:p>
            <a:pPr eaLnBrk="1" hangingPunct="1">
              <a:lnSpc>
                <a:spcPct val="80000"/>
              </a:lnSpc>
              <a:buFontTx/>
              <a:buNone/>
            </a:pPr>
            <a:r>
              <a:rPr lang="en-US" altLang="zh-CN" sz="2400" dirty="0">
                <a:latin typeface="Consolas" panose="020B0609020204030204" pitchFamily="49" charset="0"/>
              </a:rPr>
              <a:t>  	int </a:t>
            </a:r>
            <a:r>
              <a:rPr lang="en-US" altLang="zh-CN" sz="2400" dirty="0" err="1">
                <a:latin typeface="Consolas" panose="020B0609020204030204" pitchFamily="49" charset="0"/>
              </a:rPr>
              <a:t>i,j,m</a:t>
            </a:r>
            <a:r>
              <a:rPr lang="en-US" altLang="zh-CN" sz="2400" dirty="0">
                <a:latin typeface="Consolas" panose="020B0609020204030204" pitchFamily="49" charset="0"/>
              </a:rPr>
              <a:t>;</a:t>
            </a:r>
          </a:p>
          <a:p>
            <a:pPr eaLnBrk="1" hangingPunct="1">
              <a:lnSpc>
                <a:spcPct val="80000"/>
              </a:lnSpc>
              <a:buFontTx/>
              <a:buNone/>
            </a:pPr>
            <a:r>
              <a:rPr lang="en-US" altLang="zh-CN" sz="2400" dirty="0">
                <a:latin typeface="Consolas" panose="020B0609020204030204" pitchFamily="49" charset="0"/>
              </a:rPr>
              <a:t>    for(</a:t>
            </a:r>
            <a:r>
              <a:rPr lang="en-US" altLang="zh-CN" sz="2400" dirty="0" err="1">
                <a:latin typeface="Consolas" panose="020B0609020204030204" pitchFamily="49" charset="0"/>
              </a:rPr>
              <a:t>i</a:t>
            </a:r>
            <a:r>
              <a:rPr lang="en-US" altLang="zh-CN" sz="2400" dirty="0">
                <a:latin typeface="Consolas" panose="020B0609020204030204" pitchFamily="49" charset="0"/>
              </a:rPr>
              <a:t>=</a:t>
            </a:r>
            <a:r>
              <a:rPr lang="en-US" altLang="zh-CN" sz="2400" dirty="0" err="1">
                <a:latin typeface="Consolas" panose="020B0609020204030204" pitchFamily="49" charset="0"/>
              </a:rPr>
              <a:t>0,j</a:t>
            </a:r>
            <a:r>
              <a:rPr lang="en-US" altLang="zh-CN" sz="2400" dirty="0">
                <a:latin typeface="Consolas" panose="020B0609020204030204" pitchFamily="49" charset="0"/>
              </a:rPr>
              <a:t>=n-1; </a:t>
            </a:r>
            <a:r>
              <a:rPr lang="en-US" altLang="zh-CN" sz="2400" dirty="0" err="1">
                <a:latin typeface="Consolas" panose="020B0609020204030204" pitchFamily="49" charset="0"/>
              </a:rPr>
              <a:t>i</a:t>
            </a:r>
            <a:r>
              <a:rPr lang="en-US" altLang="zh-CN" sz="2400" dirty="0">
                <a:latin typeface="Consolas" panose="020B0609020204030204" pitchFamily="49" charset="0"/>
              </a:rPr>
              <a:t>&lt;=j; ){</a:t>
            </a:r>
          </a:p>
          <a:p>
            <a:pPr eaLnBrk="1" hangingPunct="1">
              <a:lnSpc>
                <a:spcPct val="80000"/>
              </a:lnSpc>
              <a:buFontTx/>
              <a:buNone/>
            </a:pPr>
            <a:r>
              <a:rPr lang="en-US" altLang="zh-CN" sz="2400" dirty="0">
                <a:latin typeface="Consolas" panose="020B0609020204030204" pitchFamily="49" charset="0"/>
              </a:rPr>
              <a:t>      m = (</a:t>
            </a:r>
            <a:r>
              <a:rPr lang="en-US" altLang="zh-CN" sz="2400" dirty="0" err="1">
                <a:latin typeface="Consolas" panose="020B0609020204030204" pitchFamily="49" charset="0"/>
              </a:rPr>
              <a:t>i</a:t>
            </a:r>
            <a:r>
              <a:rPr lang="en-US" altLang="zh-CN" sz="2400" dirty="0">
                <a:latin typeface="Consolas" panose="020B0609020204030204" pitchFamily="49" charset="0"/>
              </a:rPr>
              <a:t> + j)/2;</a:t>
            </a:r>
          </a:p>
          <a:p>
            <a:pPr eaLnBrk="1" hangingPunct="1">
              <a:lnSpc>
                <a:spcPct val="80000"/>
              </a:lnSpc>
              <a:buFontTx/>
              <a:buNone/>
            </a:pPr>
            <a:r>
              <a:rPr lang="en-US" altLang="zh-CN" sz="2400" dirty="0">
                <a:latin typeface="Consolas" panose="020B0609020204030204" pitchFamily="49" charset="0"/>
              </a:rPr>
              <a:t>      if (x == a[m])</a:t>
            </a:r>
          </a:p>
          <a:p>
            <a:pPr eaLnBrk="1" hangingPunct="1">
              <a:lnSpc>
                <a:spcPct val="80000"/>
              </a:lnSpc>
              <a:buFontTx/>
              <a:buNone/>
            </a:pPr>
            <a:r>
              <a:rPr lang="en-US" altLang="zh-CN" sz="2400" dirty="0">
                <a:latin typeface="Consolas" panose="020B0609020204030204" pitchFamily="49" charset="0"/>
              </a:rPr>
              <a:t>         return m;</a:t>
            </a:r>
          </a:p>
          <a:p>
            <a:pPr eaLnBrk="1" hangingPunct="1">
              <a:lnSpc>
                <a:spcPct val="80000"/>
              </a:lnSpc>
              <a:buFontTx/>
              <a:buNone/>
            </a:pPr>
            <a:r>
              <a:rPr lang="en-US" altLang="zh-CN" sz="2400" dirty="0">
                <a:latin typeface="Consolas" panose="020B0609020204030204" pitchFamily="49" charset="0"/>
              </a:rPr>
              <a:t>      else if(x &lt; a[m])</a:t>
            </a:r>
          </a:p>
          <a:p>
            <a:pPr eaLnBrk="1" hangingPunct="1">
              <a:lnSpc>
                <a:spcPct val="80000"/>
              </a:lnSpc>
              <a:buFontTx/>
              <a:buNone/>
            </a:pPr>
            <a:r>
              <a:rPr lang="en-US" altLang="zh-CN" sz="2400" dirty="0">
                <a:latin typeface="Consolas" panose="020B0609020204030204" pitchFamily="49" charset="0"/>
              </a:rPr>
              <a:t>          j = m - 1;</a:t>
            </a:r>
          </a:p>
          <a:p>
            <a:pPr eaLnBrk="1" hangingPunct="1">
              <a:lnSpc>
                <a:spcPct val="80000"/>
              </a:lnSpc>
              <a:buFontTx/>
              <a:buNone/>
            </a:pPr>
            <a:r>
              <a:rPr lang="en-US" altLang="zh-CN" sz="2400" dirty="0">
                <a:latin typeface="Consolas" panose="020B0609020204030204" pitchFamily="49" charset="0"/>
              </a:rPr>
              <a:t>      else</a:t>
            </a:r>
          </a:p>
          <a:p>
            <a:pPr eaLnBrk="1" hangingPunct="1">
              <a:lnSpc>
                <a:spcPct val="8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i</a:t>
            </a:r>
            <a:r>
              <a:rPr lang="en-US" altLang="zh-CN" sz="2400" dirty="0">
                <a:latin typeface="Consolas" panose="020B0609020204030204" pitchFamily="49" charset="0"/>
              </a:rPr>
              <a:t> = m + 1;</a:t>
            </a:r>
          </a:p>
          <a:p>
            <a:pPr eaLnBrk="1" hangingPunct="1">
              <a:lnSpc>
                <a:spcPct val="80000"/>
              </a:lnSpc>
              <a:buFontTx/>
              <a:buNone/>
            </a:pPr>
            <a:r>
              <a:rPr lang="en-US" altLang="zh-CN" sz="2400" dirty="0">
                <a:latin typeface="Consolas" panose="020B0609020204030204" pitchFamily="49" charset="0"/>
              </a:rPr>
              <a:t>   }</a:t>
            </a:r>
          </a:p>
          <a:p>
            <a:pPr eaLnBrk="1" hangingPunct="1">
              <a:lnSpc>
                <a:spcPct val="80000"/>
              </a:lnSpc>
              <a:buFontTx/>
              <a:buNone/>
            </a:pPr>
            <a:r>
              <a:rPr lang="en-US" altLang="zh-CN" sz="2400" dirty="0">
                <a:latin typeface="Consolas" panose="020B0609020204030204" pitchFamily="49" charset="0"/>
              </a:rPr>
              <a:t>   return -1;</a:t>
            </a:r>
          </a:p>
          <a:p>
            <a:pPr eaLnBrk="1" hangingPunct="1">
              <a:lnSpc>
                <a:spcPct val="80000"/>
              </a:lnSpc>
              <a:buFontTx/>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7C87E-E00B-381C-5CED-A7FC071EC5B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189C2D-017F-C94A-8046-E1EBCDD9292D}"/>
              </a:ext>
            </a:extLst>
          </p:cNvPr>
          <p:cNvSpPr>
            <a:spLocks noGrp="1"/>
          </p:cNvSpPr>
          <p:nvPr>
            <p:ph idx="1"/>
          </p:nvPr>
        </p:nvSpPr>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10</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binarySearch</a:t>
            </a:r>
            <a:r>
              <a:rPr lang="en-US" altLang="zh-CN" sz="2000" dirty="0">
                <a:latin typeface="Consolas" panose="020B0609020204030204" pitchFamily="49" charset="0"/>
              </a:rPr>
              <a:t>(int a[],int n, int x); </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int a[SIZE]={1,2,6,7,8,9,12,25,27,36};</a:t>
            </a:r>
          </a:p>
          <a:p>
            <a:pPr marL="0" indent="0">
              <a:buNone/>
            </a:pPr>
            <a:r>
              <a:rPr lang="en-US" altLang="zh-CN" sz="2000" dirty="0">
                <a:latin typeface="Consolas" panose="020B0609020204030204" pitchFamily="49" charset="0"/>
              </a:rPr>
              <a:t>    int </a:t>
            </a:r>
            <a:r>
              <a:rPr lang="en-US" altLang="zh-CN" sz="2000" dirty="0" err="1">
                <a:latin typeface="Consolas" panose="020B0609020204030204" pitchFamily="49" charset="0"/>
              </a:rPr>
              <a:t>n,loc,x</a:t>
            </a:r>
            <a:r>
              <a:rPr lang="en-US" altLang="zh-CN" sz="2000" dirty="0">
                <a:latin typeface="Consolas" panose="020B0609020204030204" pitchFamily="49" charset="0"/>
              </a:rPr>
              <a:t>;</a:t>
            </a:r>
          </a:p>
          <a:p>
            <a:pPr marL="0" indent="0">
              <a:buNone/>
            </a:pPr>
            <a:endParaRPr lang="en-US" altLang="zh-CN" sz="2000" dirty="0">
              <a:latin typeface="Consolas" panose="020B0609020204030204" pitchFamily="49" charset="0"/>
            </a:endParaRP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d",&amp;x</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loc=</a:t>
            </a:r>
            <a:r>
              <a:rPr lang="en-US" altLang="zh-CN" sz="2000" dirty="0" err="1">
                <a:latin typeface="Consolas" panose="020B0609020204030204" pitchFamily="49" charset="0"/>
              </a:rPr>
              <a:t>binarySearch</a:t>
            </a:r>
            <a:r>
              <a:rPr lang="en-US" altLang="zh-CN" sz="2000" dirty="0">
                <a:latin typeface="Consolas" panose="020B0609020204030204" pitchFamily="49" charset="0"/>
              </a:rPr>
              <a:t>(</a:t>
            </a:r>
            <a:r>
              <a:rPr lang="en-US" altLang="zh-CN" sz="2000" dirty="0" err="1">
                <a:latin typeface="Consolas" panose="020B0609020204030204" pitchFamily="49" charset="0"/>
              </a:rPr>
              <a:t>a,SIZE,x</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("%d loc=%d\n",</a:t>
            </a:r>
            <a:r>
              <a:rPr lang="en-US" altLang="zh-CN" sz="2000" dirty="0" err="1">
                <a:latin typeface="Consolas" panose="020B0609020204030204" pitchFamily="49" charset="0"/>
              </a:rPr>
              <a:t>x,loc</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zh-CN" altLang="en-US" sz="2000" dirty="0">
                <a:latin typeface="Consolas" panose="020B0609020204030204" pitchFamily="49" charset="0"/>
              </a:rPr>
              <a:t> </a:t>
            </a:r>
            <a:r>
              <a:rPr lang="en-US" altLang="zh-CN" sz="2000" dirty="0">
                <a:latin typeface="Consolas" panose="020B0609020204030204" pitchFamily="49" charset="0"/>
              </a:rPr>
              <a:t>return</a:t>
            </a:r>
            <a:r>
              <a:rPr lang="zh-CN" altLang="en-US" sz="2000" dirty="0">
                <a:latin typeface="Consolas" panose="020B0609020204030204" pitchFamily="49" charset="0"/>
              </a:rPr>
              <a:t> </a:t>
            </a:r>
            <a:r>
              <a:rPr lang="en-US" altLang="zh-CN" sz="2000" dirty="0">
                <a:latin typeface="Consolas" panose="020B0609020204030204" pitchFamily="49" charset="0"/>
              </a:rPr>
              <a:t>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363759935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37808" y="1250633"/>
            <a:ext cx="2785110" cy="49784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457200" lvl="0" indent="-457200" eaLnBrk="1" hangingPunct="1">
              <a:spcBef>
                <a:spcPct val="0"/>
              </a:spcBef>
            </a:pPr>
            <a:r>
              <a:rPr lang="zh-CN" altLang="en-US" sz="2800" b="1" dirty="0">
                <a:solidFill>
                  <a:srgbClr val="C00000"/>
                </a:solidFill>
                <a:latin typeface="Arial" panose="020B0604020202020204" pitchFamily="34" charset="0"/>
                <a:ea typeface="楷体_GB2312" pitchFamily="49" charset="-122"/>
              </a:rPr>
              <a:t>最好的情况：</a:t>
            </a:r>
          </a:p>
        </p:txBody>
      </p:sp>
      <p:sp>
        <p:nvSpPr>
          <p:cNvPr id="5" name="Text Box 4"/>
          <p:cNvSpPr txBox="1"/>
          <p:nvPr/>
        </p:nvSpPr>
        <p:spPr>
          <a:xfrm>
            <a:off x="3144203" y="1252855"/>
            <a:ext cx="2863215" cy="4781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比较"</a:t>
            </a:r>
            <a:r>
              <a:rPr lang="zh-CN" altLang="en-US" sz="2800" b="1" dirty="0">
                <a:latin typeface="Arial" panose="020B0604020202020204" pitchFamily="34" charset="0"/>
                <a:ea typeface="楷体_GB2312" pitchFamily="49" charset="-122"/>
              </a:rPr>
              <a:t>的次数：</a:t>
            </a:r>
            <a:r>
              <a:rPr lang="en-US" altLang="zh-CN" sz="2800" b="1" dirty="0">
                <a:latin typeface="Arial" panose="020B0604020202020204" pitchFamily="34" charset="0"/>
                <a:ea typeface="楷体_GB2312" pitchFamily="49" charset="-122"/>
              </a:rPr>
              <a:t>1</a:t>
            </a:r>
          </a:p>
        </p:txBody>
      </p:sp>
      <p:sp>
        <p:nvSpPr>
          <p:cNvPr id="6" name="Text Box 8"/>
          <p:cNvSpPr txBox="1"/>
          <p:nvPr/>
        </p:nvSpPr>
        <p:spPr>
          <a:xfrm>
            <a:off x="238125" y="1865630"/>
            <a:ext cx="2785110" cy="497840"/>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457200" lvl="0" indent="-457200" eaLnBrk="1" hangingPunct="1">
              <a:spcBef>
                <a:spcPct val="0"/>
              </a:spcBef>
            </a:pPr>
            <a:r>
              <a:rPr lang="zh-CN" altLang="en-US" sz="2800" b="1" dirty="0">
                <a:solidFill>
                  <a:srgbClr val="C00000"/>
                </a:solidFill>
                <a:latin typeface="Arial" panose="020B0604020202020204" pitchFamily="34" charset="0"/>
                <a:ea typeface="楷体_GB2312" pitchFamily="49" charset="-122"/>
              </a:rPr>
              <a:t>最坏的情况：</a:t>
            </a:r>
          </a:p>
        </p:txBody>
      </p:sp>
      <p:sp>
        <p:nvSpPr>
          <p:cNvPr id="7" name="Text Box 9"/>
          <p:cNvSpPr txBox="1"/>
          <p:nvPr/>
        </p:nvSpPr>
        <p:spPr>
          <a:xfrm>
            <a:off x="1035685" y="2462213"/>
            <a:ext cx="3780790" cy="4781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比较"</a:t>
            </a:r>
            <a:r>
              <a:rPr lang="zh-CN" altLang="en-US" sz="2800" b="1" dirty="0">
                <a:latin typeface="Arial" panose="020B0604020202020204" pitchFamily="34" charset="0"/>
                <a:ea typeface="楷体_GB2312" pitchFamily="49" charset="-122"/>
              </a:rPr>
              <a:t>的次数：</a:t>
            </a:r>
            <a:r>
              <a:rPr lang="en-US" altLang="zh-CN" sz="2800" b="1" dirty="0">
                <a:latin typeface="Arial" panose="020B0604020202020204" pitchFamily="34" charset="0"/>
                <a:ea typeface="楷体_GB2312" pitchFamily="49" charset="-122"/>
              </a:rPr>
              <a:t>log</a:t>
            </a:r>
            <a:r>
              <a:rPr lang="en-US" altLang="zh-CN" sz="2800" b="1" baseline="-25000" dirty="0">
                <a:solidFill>
                  <a:schemeClr val="tx1"/>
                </a:solidFill>
                <a:uFillTx/>
                <a:latin typeface="Arial" panose="020B0604020202020204" pitchFamily="34" charset="0"/>
                <a:ea typeface="楷体_GB2312" pitchFamily="49" charset="-122"/>
              </a:rPr>
              <a:t>2</a:t>
            </a:r>
            <a:r>
              <a:rPr lang="en-US" altLang="zh-CN" sz="2800" b="1" dirty="0">
                <a:latin typeface="Arial" panose="020B0604020202020204" pitchFamily="34" charset="0"/>
                <a:ea typeface="楷体_GB2312" pitchFamily="49" charset="-122"/>
              </a:rPr>
              <a:t>(n)</a:t>
            </a:r>
          </a:p>
        </p:txBody>
      </p:sp>
      <p:sp>
        <p:nvSpPr>
          <p:cNvPr id="12297" name="Rectangle 2"/>
          <p:cNvSpPr txBox="1"/>
          <p:nvPr/>
        </p:nvSpPr>
        <p:spPr>
          <a:xfrm>
            <a:off x="3861435" y="414020"/>
            <a:ext cx="4836160" cy="54356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None/>
            </a:pPr>
            <a:r>
              <a:rPr lang="en-US" altLang="zh-CN" sz="2800" b="1" dirty="0">
                <a:solidFill>
                  <a:srgbClr val="FF0000"/>
                </a:solidFill>
                <a:latin typeface="楷体" panose="02010609060101010101" pitchFamily="49" charset="-122"/>
                <a:ea typeface="楷体" panose="02010609060101010101" pitchFamily="49" charset="-122"/>
              </a:rPr>
              <a:t>4.</a:t>
            </a:r>
            <a:r>
              <a:rPr lang="zh-CN" altLang="en-US" sz="2800" b="1" dirty="0">
                <a:solidFill>
                  <a:srgbClr val="FF0000"/>
                </a:solidFill>
                <a:latin typeface="楷体" panose="02010609060101010101" pitchFamily="49" charset="-122"/>
                <a:ea typeface="楷体" panose="02010609060101010101" pitchFamily="49" charset="-122"/>
              </a:rPr>
              <a:t>折半查找的性能分析</a:t>
            </a:r>
            <a:endParaRPr lang="en-US" altLang="zh-CN" sz="2800" b="1" dirty="0">
              <a:solidFill>
                <a:srgbClr val="FF0000"/>
              </a:solidFill>
              <a:latin typeface="楷体" panose="02010609060101010101" pitchFamily="49" charset="-122"/>
              <a:ea typeface="楷体" panose="02010609060101010101" pitchFamily="49" charset="-122"/>
            </a:endParaRPr>
          </a:p>
        </p:txBody>
      </p:sp>
      <p:sp>
        <p:nvSpPr>
          <p:cNvPr id="12290" name="Rectangle 3"/>
          <p:cNvSpPr txBox="1">
            <a:spLocks noChangeArrowheads="1"/>
          </p:cNvSpPr>
          <p:nvPr/>
        </p:nvSpPr>
        <p:spPr bwMode="auto">
          <a:xfrm>
            <a:off x="238125" y="3294380"/>
            <a:ext cx="7458075" cy="51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时间复杂度 </a:t>
            </a:r>
            <a:r>
              <a:rPr kumimoji="0" lang="en-US" altLang="zh-CN"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rPr>
              <a:t>O</a:t>
            </a:r>
            <a:r>
              <a:rPr kumimoji="0" lang="zh-CN" altLang="en-US"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err="1">
                <a:ln>
                  <a:noFill/>
                </a:ln>
                <a:solidFill>
                  <a:srgbClr val="0000FF"/>
                </a:solidFill>
                <a:effectLst/>
                <a:uLnTx/>
                <a:uFillTx/>
                <a:latin typeface="楷体" panose="02010609060101010101" pitchFamily="49" charset="-122"/>
                <a:ea typeface="楷体" panose="02010609060101010101" pitchFamily="49" charset="-122"/>
                <a:cs typeface="+mn-cs"/>
              </a:rPr>
              <a:t>log</a:t>
            </a:r>
            <a:r>
              <a:rPr kumimoji="0" lang="en-US" altLang="zh-CN" sz="2800" b="1" i="0" baseline="-25000" noProof="0" dirty="0" err="1">
                <a:ln>
                  <a:noFill/>
                </a:ln>
                <a:solidFill>
                  <a:srgbClr val="0000FF"/>
                </a:solidFill>
                <a:effectLst/>
                <a:uLnTx/>
                <a:uFillTx/>
                <a:latin typeface="楷体" panose="02010609060101010101" pitchFamily="49" charset="-122"/>
                <a:ea typeface="楷体" panose="02010609060101010101" pitchFamily="49" charset="-122"/>
                <a:cs typeface="+mn-cs"/>
              </a:rPr>
              <a:t>2</a:t>
            </a:r>
            <a:r>
              <a:rPr kumimoji="0" lang="en-US" altLang="zh-CN" sz="2800" b="1" i="0" u="none" strike="noStrike" kern="1200" cap="none" spc="0" normalizeH="0" baseline="0" noProof="0" dirty="0" err="1">
                <a:ln>
                  <a:noFill/>
                </a:ln>
                <a:solidFill>
                  <a:srgbClr val="0000FF"/>
                </a:solidFill>
                <a:effectLst/>
                <a:uLnTx/>
                <a:uFillTx/>
                <a:latin typeface="楷体" panose="02010609060101010101" pitchFamily="49" charset="-122"/>
                <a:ea typeface="楷体" panose="02010609060101010101" pitchFamily="49" charset="-122"/>
                <a:cs typeface="+mn-cs"/>
              </a:rPr>
              <a:t>n</a:t>
            </a:r>
            <a:r>
              <a:rPr kumimoji="0" lang="en-US" altLang="zh-CN"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rPr>
              <a:t>)</a:t>
            </a:r>
            <a:endParaRPr kumimoji="0" lang="en-US" altLang="zh-CN"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downRigh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递归算法的二分查找</a:t>
            </a:r>
            <a:endParaRPr lang="zh-CN" altLang="en-US"/>
          </a:p>
        </p:txBody>
      </p:sp>
      <p:sp>
        <p:nvSpPr>
          <p:cNvPr id="3" name="内容占位符 2"/>
          <p:cNvSpPr>
            <a:spLocks noGrp="1"/>
          </p:cNvSpPr>
          <p:nvPr>
            <p:ph idx="1"/>
          </p:nvPr>
        </p:nvSpPr>
        <p:spPr>
          <a:xfrm>
            <a:off x="323529" y="1249680"/>
            <a:ext cx="8712522" cy="5703570"/>
          </a:xfrm>
        </p:spPr>
        <p:txBody>
          <a:bodyPr/>
          <a:lstStyle/>
          <a:p>
            <a:pPr eaLnBrk="1" hangingPunct="1">
              <a:lnSpc>
                <a:spcPct val="80000"/>
              </a:lnSpc>
              <a:buFontTx/>
              <a:buNone/>
            </a:pPr>
            <a:r>
              <a:rPr lang="en-US" altLang="zh-CN" sz="2200" dirty="0">
                <a:latin typeface="Consolas" panose="020B0609020204030204" pitchFamily="49" charset="0"/>
                <a:sym typeface="+mn-ea"/>
              </a:rPr>
              <a:t>int </a:t>
            </a:r>
            <a:r>
              <a:rPr lang="en-US" altLang="zh-CN" sz="2200" dirty="0" err="1">
                <a:latin typeface="Consolas" panose="020B0609020204030204" pitchFamily="49" charset="0"/>
                <a:sym typeface="+mn-ea"/>
              </a:rPr>
              <a:t>recBiSearch</a:t>
            </a:r>
            <a:r>
              <a:rPr lang="en-US" altLang="zh-CN" sz="2200" dirty="0">
                <a:latin typeface="Consolas" panose="020B0609020204030204" pitchFamily="49" charset="0"/>
                <a:sym typeface="+mn-ea"/>
              </a:rPr>
              <a:t>(int a[],</a:t>
            </a:r>
            <a:r>
              <a:rPr lang="en-US" altLang="zh-CN" sz="2200" b="1" dirty="0">
                <a:latin typeface="Consolas" panose="020B0609020204030204" pitchFamily="49" charset="0"/>
                <a:sym typeface="+mn-ea"/>
              </a:rPr>
              <a:t>int </a:t>
            </a:r>
            <a:r>
              <a:rPr lang="en-US" altLang="zh-CN" sz="2200" b="1" dirty="0" err="1">
                <a:latin typeface="Consolas" panose="020B0609020204030204" pitchFamily="49" charset="0"/>
                <a:sym typeface="+mn-ea"/>
              </a:rPr>
              <a:t>x,int</a:t>
            </a:r>
            <a:r>
              <a:rPr lang="en-US" altLang="zh-CN" sz="2200" b="1" dirty="0">
                <a:latin typeface="Consolas" panose="020B0609020204030204" pitchFamily="49" charset="0"/>
                <a:sym typeface="+mn-ea"/>
              </a:rPr>
              <a:t> </a:t>
            </a:r>
            <a:r>
              <a:rPr lang="en-US" altLang="zh-CN" sz="2200" b="1" dirty="0" err="1">
                <a:latin typeface="Consolas" panose="020B0609020204030204" pitchFamily="49" charset="0"/>
                <a:sym typeface="+mn-ea"/>
              </a:rPr>
              <a:t>i,int</a:t>
            </a:r>
            <a:r>
              <a:rPr lang="en-US" altLang="zh-CN" sz="2200" b="1" dirty="0">
                <a:latin typeface="Consolas" panose="020B0609020204030204" pitchFamily="49" charset="0"/>
                <a:sym typeface="+mn-ea"/>
              </a:rPr>
              <a:t> j</a:t>
            </a:r>
            <a:r>
              <a:rPr lang="en-US" altLang="zh-CN" sz="2200" dirty="0">
                <a:latin typeface="Consolas" panose="020B0609020204030204" pitchFamily="49" charset="0"/>
                <a:sym typeface="+mn-ea"/>
              </a:rPr>
              <a:t>)</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int m;  </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if (</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&lt;=j){</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m = (</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 + j)/2;</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if (x == a[m])</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return m;</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else if (x &lt; a[m])</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a:t>
            </a:r>
            <a:r>
              <a:rPr lang="en-US" altLang="zh-CN" sz="2200" dirty="0">
                <a:solidFill>
                  <a:srgbClr val="FF0000"/>
                </a:solidFill>
                <a:latin typeface="Consolas" panose="020B0609020204030204" pitchFamily="49" charset="0"/>
                <a:sym typeface="+mn-ea"/>
              </a:rPr>
              <a:t>return </a:t>
            </a:r>
            <a:r>
              <a:rPr lang="en-US" altLang="zh-CN" sz="2200" dirty="0" err="1">
                <a:solidFill>
                  <a:srgbClr val="FF0000"/>
                </a:solidFill>
                <a:latin typeface="Consolas" panose="020B0609020204030204" pitchFamily="49" charset="0"/>
                <a:sym typeface="+mn-ea"/>
              </a:rPr>
              <a:t>recBiSearch</a:t>
            </a:r>
            <a:r>
              <a:rPr lang="en-US" altLang="zh-CN" sz="2200" dirty="0">
                <a:solidFill>
                  <a:srgbClr val="FF0000"/>
                </a:solidFill>
                <a:latin typeface="Consolas" panose="020B0609020204030204" pitchFamily="49" charset="0"/>
                <a:sym typeface="+mn-ea"/>
              </a:rPr>
              <a:t>(</a:t>
            </a:r>
            <a:r>
              <a:rPr lang="en-US" altLang="zh-CN" sz="2200" dirty="0" err="1">
                <a:solidFill>
                  <a:srgbClr val="FF0000"/>
                </a:solidFill>
                <a:latin typeface="Consolas" panose="020B0609020204030204" pitchFamily="49" charset="0"/>
                <a:sym typeface="+mn-ea"/>
              </a:rPr>
              <a:t>a,x,i,m</a:t>
            </a:r>
            <a:r>
              <a:rPr lang="en-US" altLang="zh-CN" sz="2200" dirty="0">
                <a:solidFill>
                  <a:srgbClr val="FF0000"/>
                </a:solidFill>
                <a:latin typeface="Consolas" panose="020B0609020204030204" pitchFamily="49" charset="0"/>
                <a:sym typeface="+mn-ea"/>
              </a:rPr>
              <a:t>-1);</a:t>
            </a:r>
            <a:endParaRPr lang="en-US" altLang="zh-CN" sz="2200" dirty="0">
              <a:solidFill>
                <a:srgbClr val="FF0000"/>
              </a:solidFill>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else</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a:t>
            </a:r>
            <a:r>
              <a:rPr lang="en-US" altLang="zh-CN" sz="2200" dirty="0">
                <a:solidFill>
                  <a:srgbClr val="FF0000"/>
                </a:solidFill>
                <a:latin typeface="Consolas" panose="020B0609020204030204" pitchFamily="49" charset="0"/>
                <a:sym typeface="+mn-ea"/>
              </a:rPr>
              <a:t>return </a:t>
            </a:r>
            <a:r>
              <a:rPr lang="en-US" altLang="zh-CN" sz="2200" dirty="0" err="1">
                <a:solidFill>
                  <a:srgbClr val="FF0000"/>
                </a:solidFill>
                <a:latin typeface="Consolas" panose="020B0609020204030204" pitchFamily="49" charset="0"/>
                <a:sym typeface="+mn-ea"/>
              </a:rPr>
              <a:t>recBiSearch</a:t>
            </a:r>
            <a:r>
              <a:rPr lang="en-US" altLang="zh-CN" sz="2200" dirty="0">
                <a:solidFill>
                  <a:srgbClr val="FF0000"/>
                </a:solidFill>
                <a:latin typeface="Consolas" panose="020B0609020204030204" pitchFamily="49" charset="0"/>
                <a:sym typeface="+mn-ea"/>
              </a:rPr>
              <a:t>(</a:t>
            </a:r>
            <a:r>
              <a:rPr lang="en-US" altLang="zh-CN" sz="2200" dirty="0" err="1">
                <a:solidFill>
                  <a:srgbClr val="FF0000"/>
                </a:solidFill>
                <a:latin typeface="Consolas" panose="020B0609020204030204" pitchFamily="49" charset="0"/>
                <a:sym typeface="+mn-ea"/>
              </a:rPr>
              <a:t>a,x,m+1,j</a:t>
            </a:r>
            <a:r>
              <a:rPr lang="en-US" altLang="zh-CN" sz="2200" dirty="0">
                <a:solidFill>
                  <a:srgbClr val="FF0000"/>
                </a:solidFill>
                <a:latin typeface="Consolas" panose="020B0609020204030204" pitchFamily="49" charset="0"/>
                <a:sym typeface="+mn-ea"/>
              </a:rPr>
              <a:t>);</a:t>
            </a:r>
            <a:endParaRPr lang="en-US" altLang="zh-CN" sz="2200" dirty="0">
              <a:solidFill>
                <a:srgbClr val="FF0000"/>
              </a:solidFill>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else return -1;</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a:t>
            </a:r>
            <a:endParaRPr lang="zh-CN" altLang="en-US" sz="2200" dirty="0">
              <a:latin typeface="Consolas" panose="020B0609020204030204" pitchFamily="49"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7C87E-E00B-381C-5CED-A7FC071EC5B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189C2D-017F-C94A-8046-E1EBCDD9292D}"/>
              </a:ext>
            </a:extLst>
          </p:cNvPr>
          <p:cNvSpPr>
            <a:spLocks noGrp="1"/>
          </p:cNvSpPr>
          <p:nvPr>
            <p:ph idx="1"/>
          </p:nvPr>
        </p:nvSpPr>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10</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recBiSearch</a:t>
            </a:r>
            <a:r>
              <a:rPr lang="en-US" altLang="zh-CN" sz="2000" dirty="0">
                <a:latin typeface="Consolas" panose="020B0609020204030204" pitchFamily="49" charset="0"/>
              </a:rPr>
              <a:t>(int a[],int </a:t>
            </a:r>
            <a:r>
              <a:rPr lang="en-US" altLang="zh-CN" sz="2000" dirty="0" err="1">
                <a:latin typeface="Consolas" panose="020B0609020204030204" pitchFamily="49" charset="0"/>
              </a:rPr>
              <a:t>x,int</a:t>
            </a:r>
            <a:r>
              <a:rPr lang="en-US" altLang="zh-CN" sz="2000" dirty="0">
                <a:latin typeface="Consolas" panose="020B0609020204030204" pitchFamily="49" charset="0"/>
              </a:rPr>
              <a:t> </a:t>
            </a:r>
            <a:r>
              <a:rPr lang="en-US" altLang="zh-CN" sz="2000" dirty="0" err="1">
                <a:latin typeface="Consolas" panose="020B0609020204030204" pitchFamily="49" charset="0"/>
              </a:rPr>
              <a:t>i,int</a:t>
            </a:r>
            <a:r>
              <a:rPr lang="en-US" altLang="zh-CN" sz="2000" dirty="0">
                <a:latin typeface="Consolas" panose="020B0609020204030204" pitchFamily="49" charset="0"/>
              </a:rPr>
              <a:t> j);  </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int a[SIZE]={1,2,6,7,8,9,12,25,27,36};</a:t>
            </a:r>
          </a:p>
          <a:p>
            <a:pPr marL="0" indent="0">
              <a:buNone/>
            </a:pPr>
            <a:r>
              <a:rPr lang="en-US" altLang="zh-CN" sz="2000" dirty="0">
                <a:latin typeface="Consolas" panose="020B0609020204030204" pitchFamily="49" charset="0"/>
              </a:rPr>
              <a:t>    int </a:t>
            </a:r>
            <a:r>
              <a:rPr lang="en-US" altLang="zh-CN" sz="2000" dirty="0" err="1">
                <a:latin typeface="Consolas" panose="020B0609020204030204" pitchFamily="49" charset="0"/>
              </a:rPr>
              <a:t>n,loc,x</a:t>
            </a:r>
            <a:r>
              <a:rPr lang="en-US" altLang="zh-CN" sz="2000" dirty="0">
                <a:latin typeface="Consolas" panose="020B0609020204030204" pitchFamily="49" charset="0"/>
              </a:rPr>
              <a:t>;</a:t>
            </a:r>
          </a:p>
          <a:p>
            <a:pPr marL="0" indent="0">
              <a:buNone/>
            </a:pPr>
            <a:endParaRPr lang="en-US" altLang="zh-CN" sz="2000" dirty="0">
              <a:latin typeface="Consolas" panose="020B0609020204030204" pitchFamily="49" charset="0"/>
            </a:endParaRP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d",&amp;x</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loc=</a:t>
            </a:r>
            <a:r>
              <a:rPr lang="en-US" altLang="zh-CN" sz="2000" dirty="0" err="1">
                <a:latin typeface="Consolas" panose="020B0609020204030204" pitchFamily="49" charset="0"/>
              </a:rPr>
              <a:t>recBiSearch</a:t>
            </a:r>
            <a:r>
              <a:rPr lang="en-US" altLang="zh-CN" sz="2000" dirty="0">
                <a:latin typeface="Consolas" panose="020B0609020204030204" pitchFamily="49" charset="0"/>
              </a:rPr>
              <a:t>(</a:t>
            </a:r>
            <a:r>
              <a:rPr lang="en-US" altLang="zh-CN" sz="2000" dirty="0" err="1">
                <a:latin typeface="Consolas" panose="020B0609020204030204" pitchFamily="49" charset="0"/>
              </a:rPr>
              <a:t>a,x,0,SIZE</a:t>
            </a:r>
            <a:r>
              <a:rPr lang="en-US" altLang="zh-CN" sz="2000" dirty="0">
                <a:latin typeface="Consolas" panose="020B0609020204030204" pitchFamily="49" charset="0"/>
              </a:rPr>
              <a:t>-1);</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("%d loc=%d\n",</a:t>
            </a:r>
            <a:r>
              <a:rPr lang="en-US" altLang="zh-CN" sz="2000" dirty="0" err="1">
                <a:latin typeface="Consolas" panose="020B0609020204030204" pitchFamily="49" charset="0"/>
              </a:rPr>
              <a:t>x,loc</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zh-CN" altLang="en-US" sz="2000" dirty="0">
                <a:latin typeface="Consolas" panose="020B0609020204030204" pitchFamily="49" charset="0"/>
              </a:rPr>
              <a:t> </a:t>
            </a:r>
            <a:r>
              <a:rPr lang="en-US" altLang="zh-CN" sz="2000" dirty="0">
                <a:latin typeface="Consolas" panose="020B0609020204030204" pitchFamily="49" charset="0"/>
              </a:rPr>
              <a:t>return</a:t>
            </a:r>
            <a:r>
              <a:rPr lang="zh-CN" altLang="en-US" sz="2000" dirty="0">
                <a:latin typeface="Consolas" panose="020B0609020204030204" pitchFamily="49" charset="0"/>
              </a:rPr>
              <a:t> </a:t>
            </a:r>
            <a:r>
              <a:rPr lang="en-US" altLang="zh-CN" sz="2000" dirty="0">
                <a:latin typeface="Consolas" panose="020B0609020204030204" pitchFamily="49" charset="0"/>
              </a:rPr>
              <a:t>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385812383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1A96CA-2410-48D9-BC3E-A763D91C415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6F231B3-9C95-45B2-9325-566F0FF2AD26}"/>
              </a:ext>
            </a:extLst>
          </p:cNvPr>
          <p:cNvSpPr>
            <a:spLocks noGrp="1"/>
          </p:cNvSpPr>
          <p:nvPr>
            <p:ph idx="1"/>
          </p:nvPr>
        </p:nvSpPr>
        <p:spPr>
          <a:xfrm>
            <a:off x="467544" y="1319213"/>
            <a:ext cx="8424936" cy="4611687"/>
          </a:xfrm>
        </p:spPr>
        <p:txBody>
          <a:bodyPr/>
          <a:lstStyle/>
          <a:p>
            <a:r>
              <a:rPr lang="zh-CN" altLang="en-US" dirty="0"/>
              <a:t>排序算法有很多种，你平时用哪些方法排序呢？</a:t>
            </a:r>
            <a:endParaRPr lang="en-US" altLang="zh-CN" dirty="0"/>
          </a:p>
          <a:p>
            <a:endParaRPr lang="en-US" altLang="zh-CN" dirty="0"/>
          </a:p>
          <a:p>
            <a:r>
              <a:rPr lang="zh-CN" altLang="en-US" dirty="0"/>
              <a:t>我们先从一种非常实用并且有趣的排序算法开始。</a:t>
            </a:r>
          </a:p>
        </p:txBody>
      </p:sp>
    </p:spTree>
    <p:extLst>
      <p:ext uri="{BB962C8B-B14F-4D97-AF65-F5344CB8AC3E}">
        <p14:creationId xmlns:p14="http://schemas.microsoft.com/office/powerpoint/2010/main" val="341150468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altLang="zh-CN" b="1"/>
              <a:t>6.5</a:t>
            </a:r>
            <a:r>
              <a:rPr lang="zh-CN" altLang="en-US" b="1"/>
              <a:t> 交换排序思想</a:t>
            </a:r>
            <a:endParaRPr lang="zh-CN" altLang="en-US" b="1" u="sng"/>
          </a:p>
        </p:txBody>
      </p:sp>
      <p:sp>
        <p:nvSpPr>
          <p:cNvPr id="51204" name="Rectangle 3"/>
          <p:cNvSpPr>
            <a:spLocks noGrp="1" noChangeArrowheads="1"/>
          </p:cNvSpPr>
          <p:nvPr>
            <p:ph type="body" idx="1"/>
          </p:nvPr>
        </p:nvSpPr>
        <p:spPr/>
        <p:txBody>
          <a:bodyPr/>
          <a:lstStyle/>
          <a:p>
            <a:pPr eaLnBrk="1" hangingPunct="1">
              <a:buFontTx/>
              <a:buNone/>
            </a:pPr>
            <a:r>
              <a:rPr lang="zh-CN" altLang="en-US" sz="2400" b="1" dirty="0"/>
              <a:t>练习</a:t>
            </a:r>
            <a:r>
              <a:rPr lang="en-US" altLang="zh-CN" sz="2400" b="1" dirty="0"/>
              <a:t>2</a:t>
            </a:r>
            <a:r>
              <a:rPr lang="zh-CN" altLang="en-US" sz="2400" b="1" dirty="0"/>
              <a:t>：将一个整数数组逆序存储。</a:t>
            </a:r>
            <a:endParaRPr lang="en-US" altLang="zh-CN" sz="2400" b="1" dirty="0"/>
          </a:p>
          <a:p>
            <a:pPr eaLnBrk="1" hangingPunct="1">
              <a:buFontTx/>
              <a:buNone/>
            </a:pPr>
            <a:r>
              <a:rPr lang="zh-CN" altLang="en-US" sz="2400" b="1" dirty="0"/>
              <a:t>问题分析：</a:t>
            </a:r>
          </a:p>
          <a:p>
            <a:pPr eaLnBrk="1" hangingPunct="1">
              <a:buFontTx/>
              <a:buNone/>
            </a:pPr>
            <a:r>
              <a:rPr lang="zh-CN" altLang="en-US" sz="2400" b="1" dirty="0"/>
              <a:t>    实现逆序的手段是第</a:t>
            </a:r>
            <a:r>
              <a:rPr lang="en-US" altLang="zh-CN" sz="2400" b="1" dirty="0" err="1"/>
              <a:t>i</a:t>
            </a:r>
            <a:r>
              <a:rPr lang="zh-CN" altLang="en-US" sz="2400" b="1" dirty="0"/>
              <a:t>个元素和倒数第</a:t>
            </a:r>
            <a:r>
              <a:rPr lang="en-US" altLang="zh-CN" sz="2400" b="1" dirty="0" err="1"/>
              <a:t>i</a:t>
            </a:r>
            <a:r>
              <a:rPr lang="zh-CN" altLang="en-US" sz="2400" b="1" dirty="0"/>
              <a:t>个元素交换。</a:t>
            </a:r>
          </a:p>
          <a:p>
            <a:pPr eaLnBrk="1" hangingPunct="1">
              <a:buFontTx/>
              <a:buNone/>
            </a:pPr>
            <a:r>
              <a:rPr lang="zh-CN" altLang="en-US" sz="2400" b="1" dirty="0"/>
              <a:t>    交换次数：</a:t>
            </a:r>
            <a:r>
              <a:rPr lang="en-US" altLang="zh-CN" sz="2400" b="1" dirty="0"/>
              <a:t>n/2</a:t>
            </a:r>
            <a:r>
              <a:rPr lang="zh-CN" altLang="en-US" sz="2400" b="1" dirty="0"/>
              <a:t>次（</a:t>
            </a:r>
            <a:r>
              <a:rPr lang="en-US" altLang="zh-CN" sz="2400" b="1" dirty="0"/>
              <a:t>n</a:t>
            </a:r>
            <a:r>
              <a:rPr lang="zh-CN" altLang="en-US" sz="2400" b="1" dirty="0"/>
              <a:t>为数组元素个数），故 </a:t>
            </a:r>
            <a:r>
              <a:rPr lang="en-US" altLang="zh-CN" sz="2400" b="1" dirty="0" err="1"/>
              <a:t>i</a:t>
            </a:r>
            <a:r>
              <a:rPr lang="zh-CN" altLang="en-US" sz="2400" b="1" dirty="0"/>
              <a:t>的变化范围是：</a:t>
            </a:r>
            <a:r>
              <a:rPr lang="en-US" altLang="zh-CN" sz="2400" b="1" dirty="0"/>
              <a:t>0 ~ n/2-1</a:t>
            </a:r>
          </a:p>
          <a:p>
            <a:pPr eaLnBrk="1" hangingPunct="1">
              <a:buFontTx/>
              <a:buNone/>
            </a:pPr>
            <a:r>
              <a:rPr lang="en-US" altLang="zh-CN" sz="2400" b="1" dirty="0"/>
              <a:t>    a[</a:t>
            </a:r>
            <a:r>
              <a:rPr lang="en-US" altLang="zh-CN" sz="2400" b="1" dirty="0" err="1"/>
              <a:t>i</a:t>
            </a:r>
            <a:r>
              <a:rPr lang="en-US" altLang="zh-CN" sz="2400" b="1" dirty="0"/>
              <a:t>]</a:t>
            </a:r>
            <a:r>
              <a:rPr lang="zh-CN" altLang="en-US" sz="2400" b="1" dirty="0"/>
              <a:t>与</a:t>
            </a:r>
            <a:r>
              <a:rPr lang="en-US" altLang="zh-CN" sz="2400" b="1" dirty="0"/>
              <a:t>a[x]</a:t>
            </a:r>
            <a:r>
              <a:rPr lang="zh-CN" altLang="en-US" sz="2400" b="1" dirty="0"/>
              <a:t>交换，则由 </a:t>
            </a:r>
            <a:r>
              <a:rPr lang="en-US" altLang="zh-CN" sz="2400" b="1" dirty="0" err="1"/>
              <a:t>i</a:t>
            </a:r>
            <a:r>
              <a:rPr lang="en-US" altLang="zh-CN" sz="2400" b="1" dirty="0"/>
              <a:t>-0=n-1-x</a:t>
            </a:r>
            <a:r>
              <a:rPr lang="zh-CN" altLang="en-US" sz="2400" b="1" dirty="0"/>
              <a:t>，得</a:t>
            </a:r>
            <a:r>
              <a:rPr lang="en-US" altLang="zh-CN" sz="2400" b="1" dirty="0"/>
              <a:t>x=n-1-</a:t>
            </a:r>
            <a:r>
              <a:rPr lang="en-US" altLang="zh-CN" sz="2400" b="1" dirty="0" err="1"/>
              <a:t>i</a:t>
            </a:r>
            <a:endParaRPr lang="en-US" altLang="zh-CN" sz="2400" b="1" dirty="0"/>
          </a:p>
        </p:txBody>
      </p:sp>
      <p:grpSp>
        <p:nvGrpSpPr>
          <p:cNvPr id="2" name="组合 1">
            <a:extLst>
              <a:ext uri="{FF2B5EF4-FFF2-40B4-BE49-F238E27FC236}">
                <a16:creationId xmlns:a16="http://schemas.microsoft.com/office/drawing/2014/main" id="{B1F13EDB-00BE-0D10-88D7-E1817C279A56}"/>
              </a:ext>
            </a:extLst>
          </p:cNvPr>
          <p:cNvGrpSpPr/>
          <p:nvPr/>
        </p:nvGrpSpPr>
        <p:grpSpPr>
          <a:xfrm>
            <a:off x="1763688" y="4089698"/>
            <a:ext cx="4897437" cy="779462"/>
            <a:chOff x="2843213" y="5157788"/>
            <a:chExt cx="4897437" cy="779462"/>
          </a:xfrm>
        </p:grpSpPr>
        <p:sp>
          <p:nvSpPr>
            <p:cNvPr id="51205" name="Rectangle 4"/>
            <p:cNvSpPr>
              <a:spLocks noChangeArrowheads="1"/>
            </p:cNvSpPr>
            <p:nvPr/>
          </p:nvSpPr>
          <p:spPr bwMode="auto">
            <a:xfrm>
              <a:off x="2843213" y="5157788"/>
              <a:ext cx="4176712" cy="358775"/>
            </a:xfrm>
            <a:prstGeom prst="rect">
              <a:avLst/>
            </a:prstGeom>
            <a:noFill/>
            <a:ln w="9525" algn="ctr">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51206" name="Line 5"/>
            <p:cNvSpPr>
              <a:spLocks noChangeShapeType="1"/>
            </p:cNvSpPr>
            <p:nvPr/>
          </p:nvSpPr>
          <p:spPr bwMode="auto">
            <a:xfrm>
              <a:off x="3132138" y="5157788"/>
              <a:ext cx="0" cy="358775"/>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207" name="Line 6"/>
            <p:cNvSpPr>
              <a:spLocks noChangeShapeType="1"/>
            </p:cNvSpPr>
            <p:nvPr/>
          </p:nvSpPr>
          <p:spPr bwMode="auto">
            <a:xfrm>
              <a:off x="3995738" y="5157788"/>
              <a:ext cx="0" cy="358775"/>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208" name="Line 7"/>
            <p:cNvSpPr>
              <a:spLocks noChangeShapeType="1"/>
            </p:cNvSpPr>
            <p:nvPr/>
          </p:nvSpPr>
          <p:spPr bwMode="auto">
            <a:xfrm>
              <a:off x="4284663" y="5157788"/>
              <a:ext cx="0" cy="358775"/>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209" name="Text Box 8"/>
            <p:cNvSpPr txBox="1">
              <a:spLocks noChangeArrowheads="1"/>
            </p:cNvSpPr>
            <p:nvPr/>
          </p:nvSpPr>
          <p:spPr bwMode="auto">
            <a:xfrm>
              <a:off x="2843213" y="5445125"/>
              <a:ext cx="433387"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0</a:t>
              </a:r>
            </a:p>
          </p:txBody>
        </p:sp>
        <p:sp>
          <p:nvSpPr>
            <p:cNvPr id="51210" name="Text Box 9"/>
            <p:cNvSpPr txBox="1">
              <a:spLocks noChangeArrowheads="1"/>
            </p:cNvSpPr>
            <p:nvPr/>
          </p:nvSpPr>
          <p:spPr bwMode="auto">
            <a:xfrm>
              <a:off x="3922713" y="5445125"/>
              <a:ext cx="433387"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i</a:t>
              </a:r>
            </a:p>
          </p:txBody>
        </p:sp>
        <p:sp>
          <p:nvSpPr>
            <p:cNvPr id="51211" name="Line 10"/>
            <p:cNvSpPr>
              <a:spLocks noChangeShapeType="1"/>
            </p:cNvSpPr>
            <p:nvPr/>
          </p:nvSpPr>
          <p:spPr bwMode="auto">
            <a:xfrm>
              <a:off x="5580063" y="5157788"/>
              <a:ext cx="0" cy="358775"/>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212" name="Line 11"/>
            <p:cNvSpPr>
              <a:spLocks noChangeShapeType="1"/>
            </p:cNvSpPr>
            <p:nvPr/>
          </p:nvSpPr>
          <p:spPr bwMode="auto">
            <a:xfrm>
              <a:off x="5867400" y="5157788"/>
              <a:ext cx="0" cy="358775"/>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213" name="Line 12"/>
            <p:cNvSpPr>
              <a:spLocks noChangeShapeType="1"/>
            </p:cNvSpPr>
            <p:nvPr/>
          </p:nvSpPr>
          <p:spPr bwMode="auto">
            <a:xfrm>
              <a:off x="6732588" y="5157788"/>
              <a:ext cx="0" cy="358775"/>
            </a:xfrm>
            <a:prstGeom prst="line">
              <a:avLst/>
            </a:prstGeom>
            <a:noFill/>
            <a:ln w="952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214" name="Text Box 13"/>
            <p:cNvSpPr txBox="1">
              <a:spLocks noChangeArrowheads="1"/>
            </p:cNvSpPr>
            <p:nvPr/>
          </p:nvSpPr>
          <p:spPr bwMode="auto">
            <a:xfrm>
              <a:off x="6588125" y="5516563"/>
              <a:ext cx="1152525"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dirty="0"/>
                <a:t>n-1</a:t>
              </a:r>
            </a:p>
          </p:txBody>
        </p:sp>
        <p:sp>
          <p:nvSpPr>
            <p:cNvPr id="51215" name="Text Box 14"/>
            <p:cNvSpPr txBox="1">
              <a:spLocks noChangeArrowheads="1"/>
            </p:cNvSpPr>
            <p:nvPr/>
          </p:nvSpPr>
          <p:spPr bwMode="auto">
            <a:xfrm>
              <a:off x="5578475" y="5516563"/>
              <a:ext cx="433388"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x</a:t>
              </a:r>
            </a:p>
          </p:txBody>
        </p:sp>
        <p:sp>
          <p:nvSpPr>
            <p:cNvPr id="51216" name="Rectangle 15"/>
            <p:cNvSpPr>
              <a:spLocks noChangeArrowheads="1"/>
            </p:cNvSpPr>
            <p:nvPr/>
          </p:nvSpPr>
          <p:spPr bwMode="auto">
            <a:xfrm>
              <a:off x="2843213" y="5157788"/>
              <a:ext cx="1441450" cy="358775"/>
            </a:xfrm>
            <a:prstGeom prst="rect">
              <a:avLst/>
            </a:prstGeom>
            <a:solidFill>
              <a:srgbClr val="FFFF99">
                <a:alpha val="5294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51217" name="Rectangle 16"/>
            <p:cNvSpPr>
              <a:spLocks noChangeArrowheads="1"/>
            </p:cNvSpPr>
            <p:nvPr/>
          </p:nvSpPr>
          <p:spPr bwMode="auto">
            <a:xfrm>
              <a:off x="5580063" y="5157788"/>
              <a:ext cx="1441450" cy="358775"/>
            </a:xfrm>
            <a:prstGeom prst="rect">
              <a:avLst/>
            </a:prstGeom>
            <a:solidFill>
              <a:srgbClr val="FFFF99">
                <a:alpha val="5294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pPr eaLnBrk="1" hangingPunct="1"/>
            <a:r>
              <a:rPr lang="zh-CN" altLang="en-US" b="1" dirty="0"/>
              <a:t>整数数组逆置函数设计</a:t>
            </a:r>
          </a:p>
        </p:txBody>
      </p:sp>
      <p:sp>
        <p:nvSpPr>
          <p:cNvPr id="53252" name="Rectangle 3"/>
          <p:cNvSpPr>
            <a:spLocks noGrp="1" noChangeArrowheads="1"/>
          </p:cNvSpPr>
          <p:nvPr>
            <p:ph type="body" idx="1"/>
          </p:nvPr>
        </p:nvSpPr>
        <p:spPr>
          <a:xfrm>
            <a:off x="539552" y="1340768"/>
            <a:ext cx="7772400" cy="4611687"/>
          </a:xfrm>
        </p:spPr>
        <p:txBody>
          <a:bodyPr/>
          <a:lstStyle/>
          <a:p>
            <a:pPr eaLnBrk="1" hangingPunct="1">
              <a:lnSpc>
                <a:spcPct val="90000"/>
              </a:lnSpc>
              <a:buFontTx/>
              <a:buNone/>
            </a:pPr>
            <a:r>
              <a:rPr lang="en-US" altLang="zh-CN" sz="2400" dirty="0">
                <a:latin typeface="Consolas" panose="020B0609020204030204" pitchFamily="49" charset="0"/>
                <a:sym typeface="+mn-ea"/>
              </a:rPr>
              <a:t>void </a:t>
            </a:r>
            <a:r>
              <a:rPr lang="en-US" altLang="zh-CN" sz="2400" dirty="0" err="1">
                <a:latin typeface="Consolas" panose="020B0609020204030204" pitchFamily="49" charset="0"/>
                <a:sym typeface="+mn-ea"/>
              </a:rPr>
              <a:t>revserseSeq</a:t>
            </a:r>
            <a:r>
              <a:rPr lang="en-US" altLang="zh-CN" sz="2400" dirty="0">
                <a:latin typeface="Consolas" panose="020B0609020204030204" pitchFamily="49" charset="0"/>
                <a:sym typeface="+mn-ea"/>
              </a:rPr>
              <a:t>(int a[], int n)</a:t>
            </a:r>
            <a:endParaRPr lang="en-US" altLang="zh-CN" sz="2400" dirty="0">
              <a:solidFill>
                <a:srgbClr val="003399"/>
              </a:solidFill>
              <a:latin typeface="Consolas" panose="020B0609020204030204" pitchFamily="49" charset="0"/>
            </a:endParaRPr>
          </a:p>
          <a:p>
            <a:pPr eaLnBrk="1" hangingPunct="1">
              <a:lnSpc>
                <a:spcPct val="90000"/>
              </a:lnSpc>
              <a:buFontTx/>
              <a:buNone/>
            </a:pPr>
            <a:r>
              <a:rPr lang="en-US" altLang="zh-CN" sz="2400" dirty="0">
                <a:solidFill>
                  <a:schemeClr val="tx1"/>
                </a:solidFill>
                <a:latin typeface="Consolas" panose="020B0609020204030204" pitchFamily="49" charset="0"/>
              </a:rPr>
              <a:t>{</a:t>
            </a:r>
            <a:r>
              <a:rPr lang="en-US" altLang="zh-CN" sz="2400" dirty="0">
                <a:solidFill>
                  <a:srgbClr val="003399"/>
                </a:solidFill>
                <a:latin typeface="Consolas" panose="020B0609020204030204" pitchFamily="49" charset="0"/>
              </a:rPr>
              <a:t>//</a:t>
            </a:r>
            <a:r>
              <a:rPr lang="zh-CN" altLang="en-US" sz="2400" dirty="0">
                <a:solidFill>
                  <a:srgbClr val="003399"/>
                </a:solidFill>
                <a:latin typeface="Consolas" panose="020B0609020204030204" pitchFamily="49" charset="0"/>
              </a:rPr>
              <a:t>将整数数组中的元素逆序存放	</a:t>
            </a:r>
          </a:p>
          <a:p>
            <a:pPr eaLnBrk="1" hangingPunct="1">
              <a:lnSpc>
                <a:spcPct val="90000"/>
              </a:lnSpc>
              <a:buFontTx/>
              <a:buNone/>
            </a:pPr>
            <a:r>
              <a:rPr lang="en-US" altLang="zh-CN" sz="2400" dirty="0">
                <a:solidFill>
                  <a:srgbClr val="003399"/>
                </a:solidFill>
                <a:latin typeface="Consolas" panose="020B0609020204030204" pitchFamily="49" charset="0"/>
              </a:rPr>
              <a:t>	</a:t>
            </a:r>
            <a:r>
              <a:rPr lang="en-US" altLang="zh-CN" sz="2400" dirty="0">
                <a:solidFill>
                  <a:schemeClr val="tx1"/>
                </a:solidFill>
                <a:latin typeface="Consolas" panose="020B0609020204030204" pitchFamily="49" charset="0"/>
              </a:rPr>
              <a:t>int </a:t>
            </a:r>
            <a:r>
              <a:rPr lang="en-US" altLang="zh-CN" sz="2400" dirty="0" err="1">
                <a:solidFill>
                  <a:schemeClr val="tx1"/>
                </a:solidFill>
                <a:latin typeface="Consolas" panose="020B0609020204030204" pitchFamily="49" charset="0"/>
              </a:rPr>
              <a:t>i,tmp</a:t>
            </a:r>
            <a:r>
              <a:rPr lang="en-US" altLang="zh-CN" sz="2400" dirty="0">
                <a:solidFill>
                  <a:schemeClr val="tx1"/>
                </a:solidFill>
                <a:latin typeface="Consolas" panose="020B0609020204030204" pitchFamily="49" charset="0"/>
              </a:rPr>
              <a:t>;</a:t>
            </a:r>
          </a:p>
          <a:p>
            <a:pPr eaLnBrk="1" hangingPunct="1">
              <a:lnSpc>
                <a:spcPct val="90000"/>
              </a:lnSpc>
              <a:buFontTx/>
              <a:buNone/>
            </a:pPr>
            <a:r>
              <a:rPr lang="zh-CN" altLang="en-US" sz="2400" dirty="0">
                <a:latin typeface="Consolas" panose="020B0609020204030204" pitchFamily="49" charset="0"/>
              </a:rPr>
              <a:t>	</a:t>
            </a:r>
            <a:r>
              <a:rPr lang="en-US" altLang="zh-CN" sz="2400" dirty="0">
                <a:solidFill>
                  <a:srgbClr val="FF0000"/>
                </a:solidFill>
                <a:latin typeface="Consolas" panose="020B0609020204030204" pitchFamily="49" charset="0"/>
              </a:rPr>
              <a:t>for(</a:t>
            </a:r>
            <a:r>
              <a:rPr lang="en-US" altLang="zh-CN" sz="2400" dirty="0" err="1">
                <a:solidFill>
                  <a:srgbClr val="FF0000"/>
                </a:solidFill>
                <a:latin typeface="Consolas" panose="020B0609020204030204" pitchFamily="49" charset="0"/>
              </a:rPr>
              <a:t>i</a:t>
            </a:r>
            <a:r>
              <a:rPr lang="en-US" altLang="zh-CN" sz="2400" dirty="0">
                <a:solidFill>
                  <a:srgbClr val="FF0000"/>
                </a:solidFill>
                <a:latin typeface="Consolas" panose="020B0609020204030204" pitchFamily="49" charset="0"/>
              </a:rPr>
              <a:t>=0; </a:t>
            </a:r>
            <a:r>
              <a:rPr lang="en-US" altLang="zh-CN" sz="2400" dirty="0" err="1">
                <a:solidFill>
                  <a:srgbClr val="FF0000"/>
                </a:solidFill>
                <a:latin typeface="Consolas" panose="020B0609020204030204" pitchFamily="49" charset="0"/>
              </a:rPr>
              <a:t>i</a:t>
            </a:r>
            <a:r>
              <a:rPr lang="en-US" altLang="zh-CN" sz="2400" dirty="0">
                <a:solidFill>
                  <a:srgbClr val="FF0000"/>
                </a:solidFill>
                <a:latin typeface="Consolas" panose="020B0609020204030204" pitchFamily="49" charset="0"/>
              </a:rPr>
              <a:t>&lt;=(n/2-1); </a:t>
            </a:r>
            <a:r>
              <a:rPr lang="en-US" altLang="zh-CN" sz="2400" dirty="0" err="1">
                <a:solidFill>
                  <a:srgbClr val="FF0000"/>
                </a:solidFill>
                <a:latin typeface="Consolas" panose="020B0609020204030204" pitchFamily="49" charset="0"/>
              </a:rPr>
              <a:t>i</a:t>
            </a:r>
            <a:r>
              <a:rPr lang="en-US" altLang="zh-CN" sz="2400" dirty="0">
                <a:solidFill>
                  <a:srgbClr val="FF0000"/>
                </a:solidFill>
                <a:latin typeface="Consolas" panose="020B0609020204030204" pitchFamily="49" charset="0"/>
              </a:rPr>
              <a:t>++)</a:t>
            </a:r>
            <a:r>
              <a:rPr lang="en-US" altLang="zh-CN" sz="2400" dirty="0">
                <a:latin typeface="Consolas" panose="020B0609020204030204" pitchFamily="49" charset="0"/>
              </a:rPr>
              <a:t>{</a:t>
            </a:r>
            <a:endParaRPr lang="en-US" altLang="zh-CN" sz="2400" dirty="0">
              <a:solidFill>
                <a:srgbClr val="003399"/>
              </a:solidFill>
              <a:latin typeface="Consolas" panose="020B0609020204030204" pitchFamily="49" charset="0"/>
            </a:endParaRPr>
          </a:p>
          <a:p>
            <a:pPr eaLnBrk="1" hangingPunct="1">
              <a:lnSpc>
                <a:spcPct val="90000"/>
              </a:lnSpc>
              <a:buFontTx/>
              <a:buNone/>
            </a:pPr>
            <a:r>
              <a:rPr lang="en-US" altLang="zh-CN" sz="2400" dirty="0">
                <a:latin typeface="Consolas" panose="020B0609020204030204" pitchFamily="49" charset="0"/>
              </a:rPr>
              <a:t>	   </a:t>
            </a:r>
            <a:r>
              <a:rPr lang="en-US" altLang="zh-CN" sz="2400" dirty="0" err="1">
                <a:latin typeface="Consolas" panose="020B0609020204030204" pitchFamily="49" charset="0"/>
              </a:rPr>
              <a:t>tmp</a:t>
            </a:r>
            <a:r>
              <a:rPr lang="en-US" altLang="zh-CN" sz="2400" dirty="0">
                <a:latin typeface="Consolas" panose="020B0609020204030204" pitchFamily="49" charset="0"/>
              </a:rPr>
              <a:t> = a[</a:t>
            </a:r>
            <a:r>
              <a:rPr lang="en-US" altLang="zh-CN" sz="2400" dirty="0" err="1">
                <a:latin typeface="Consolas" panose="020B0609020204030204" pitchFamily="49" charset="0"/>
              </a:rPr>
              <a:t>i</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a[</a:t>
            </a:r>
            <a:r>
              <a:rPr lang="en-US" altLang="zh-CN" sz="2400" dirty="0" err="1">
                <a:latin typeface="Consolas" panose="020B0609020204030204" pitchFamily="49" charset="0"/>
              </a:rPr>
              <a:t>i</a:t>
            </a:r>
            <a:r>
              <a:rPr lang="en-US" altLang="zh-CN" sz="2400" dirty="0">
                <a:latin typeface="Consolas" panose="020B0609020204030204" pitchFamily="49" charset="0"/>
              </a:rPr>
              <a:t>] = a[n-1-</a:t>
            </a:r>
            <a:r>
              <a:rPr lang="en-US" altLang="zh-CN" sz="2400" dirty="0" err="1">
                <a:latin typeface="Consolas" panose="020B0609020204030204" pitchFamily="49" charset="0"/>
              </a:rPr>
              <a:t>i</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a[n-1-</a:t>
            </a:r>
            <a:r>
              <a:rPr lang="en-US" altLang="zh-CN" sz="2400" dirty="0" err="1">
                <a:latin typeface="Consolas" panose="020B0609020204030204" pitchFamily="49" charset="0"/>
              </a:rPr>
              <a:t>i</a:t>
            </a:r>
            <a:r>
              <a:rPr lang="en-US" altLang="zh-CN" sz="2400" dirty="0">
                <a:latin typeface="Consolas" panose="020B0609020204030204" pitchFamily="49" charset="0"/>
              </a:rPr>
              <a:t>] = </a:t>
            </a:r>
            <a:r>
              <a:rPr lang="en-US" altLang="zh-CN" sz="2400" dirty="0" err="1">
                <a:latin typeface="Consolas" panose="020B0609020204030204" pitchFamily="49" charset="0"/>
              </a:rPr>
              <a:t>tmp</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a:t>
            </a:r>
            <a:endParaRPr lang="zh-CN" altLang="en-US" sz="2400" dirty="0">
              <a:latin typeface="Consolas" panose="020B0609020204030204" pitchFamily="49" charset="0"/>
            </a:endParaRPr>
          </a:p>
          <a:p>
            <a:pPr eaLnBrk="1" hangingPunct="1">
              <a:lnSpc>
                <a:spcPct val="90000"/>
              </a:lnSpc>
              <a:buFontTx/>
              <a:buNone/>
            </a:pPr>
            <a:r>
              <a:rPr lang="en-US" altLang="zh-CN" sz="2400" dirty="0">
                <a:latin typeface="Consolas" panose="020B0609020204030204" pitchFamily="49" charset="0"/>
              </a:rPr>
              <a:t>}</a:t>
            </a:r>
          </a:p>
          <a:p>
            <a:pPr eaLnBrk="1" hangingPunct="1">
              <a:lnSpc>
                <a:spcPct val="90000"/>
              </a:lnSpc>
              <a:buFontTx/>
              <a:buNone/>
            </a:pPr>
            <a:endParaRPr lang="zh-CN" altLang="en-US" sz="2400" dirty="0">
              <a:latin typeface="Consolas" panose="020B0609020204030204" pitchFamily="49"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7C87E-E00B-381C-5CED-A7FC071EC5B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189C2D-017F-C94A-8046-E1EBCDD9292D}"/>
              </a:ext>
            </a:extLst>
          </p:cNvPr>
          <p:cNvSpPr>
            <a:spLocks noGrp="1"/>
          </p:cNvSpPr>
          <p:nvPr>
            <p:ph idx="1"/>
          </p:nvPr>
        </p:nvSpPr>
        <p:spPr>
          <a:xfrm>
            <a:off x="685800" y="1340768"/>
            <a:ext cx="7772400" cy="4611687"/>
          </a:xfrm>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10</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(const int a[],int n);</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revserseSeq</a:t>
            </a:r>
            <a:r>
              <a:rPr lang="en-US" altLang="zh-CN" sz="2000" dirty="0">
                <a:latin typeface="Consolas" panose="020B0609020204030204" pitchFamily="49" charset="0"/>
              </a:rPr>
              <a:t>(int a[], int n); </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int a[SIZE]={1,2,6,7,8,9,12,25,27,36};</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revserseSeq</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zh-CN" altLang="en-US" sz="2000" dirty="0">
                <a:latin typeface="Consolas" panose="020B0609020204030204" pitchFamily="49" charset="0"/>
              </a:rPr>
              <a:t> </a:t>
            </a:r>
            <a:r>
              <a:rPr lang="en-US" altLang="zh-CN" sz="2000" dirty="0">
                <a:latin typeface="Consolas" panose="020B0609020204030204" pitchFamily="49" charset="0"/>
              </a:rPr>
              <a:t>return</a:t>
            </a:r>
            <a:r>
              <a:rPr lang="zh-CN" altLang="en-US" sz="2000" dirty="0">
                <a:latin typeface="Consolas" panose="020B0609020204030204" pitchFamily="49" charset="0"/>
              </a:rPr>
              <a:t> </a:t>
            </a:r>
            <a:r>
              <a:rPr lang="en-US" altLang="zh-CN" sz="2000" dirty="0">
                <a:latin typeface="Consolas" panose="020B0609020204030204" pitchFamily="49" charset="0"/>
              </a:rPr>
              <a:t>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422242005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将数组划分为奇偶两部分</a:t>
            </a:r>
          </a:p>
        </p:txBody>
      </p:sp>
      <p:sp>
        <p:nvSpPr>
          <p:cNvPr id="3" name="内容占位符 2"/>
          <p:cNvSpPr>
            <a:spLocks noGrp="1"/>
          </p:cNvSpPr>
          <p:nvPr>
            <p:ph idx="1"/>
          </p:nvPr>
        </p:nvSpPr>
        <p:spPr>
          <a:xfrm>
            <a:off x="372745" y="1319530"/>
            <a:ext cx="8483600" cy="4611370"/>
          </a:xfrm>
        </p:spPr>
        <p:txBody>
          <a:bodyPr/>
          <a:lstStyle/>
          <a:p>
            <a:pPr marL="0" indent="0">
              <a:lnSpc>
                <a:spcPct val="80000"/>
              </a:lnSpc>
              <a:buNone/>
            </a:pPr>
            <a:r>
              <a:rPr lang="zh-CN" altLang="en-US" dirty="0">
                <a:solidFill>
                  <a:srgbClr val="000000"/>
                </a:solidFill>
                <a:latin typeface="新宋体" panose="02010609030101010101" charset="-122"/>
                <a:ea typeface="新宋体" panose="02010609030101010101" charset="-122"/>
                <a:sym typeface="+mn-ea"/>
              </a:rPr>
              <a:t>已知整型数组</a:t>
            </a:r>
            <a:r>
              <a:rPr lang="en-US" altLang="zh-CN" dirty="0">
                <a:solidFill>
                  <a:srgbClr val="000000"/>
                </a:solidFill>
                <a:latin typeface="新宋体" panose="02010609030101010101" charset="-122"/>
                <a:ea typeface="新宋体" panose="02010609030101010101" charset="-122"/>
                <a:sym typeface="+mn-ea"/>
              </a:rPr>
              <a:t>a</a:t>
            </a:r>
            <a:r>
              <a:rPr lang="zh-CN" altLang="en-US" dirty="0">
                <a:solidFill>
                  <a:srgbClr val="000000"/>
                </a:solidFill>
                <a:latin typeface="新宋体" panose="02010609030101010101" charset="-122"/>
                <a:ea typeface="新宋体" panose="02010609030101010101" charset="-122"/>
                <a:sym typeface="+mn-ea"/>
              </a:rPr>
              <a:t>，设计算法将其调整为左右两部分，左边所有元素为奇数，右边所有元素为偶数。</a:t>
            </a:r>
          </a:p>
        </p:txBody>
      </p:sp>
      <p:grpSp>
        <p:nvGrpSpPr>
          <p:cNvPr id="21506" name="组合 1"/>
          <p:cNvGrpSpPr/>
          <p:nvPr/>
        </p:nvGrpSpPr>
        <p:grpSpPr>
          <a:xfrm>
            <a:off x="1585913" y="5527040"/>
            <a:ext cx="5832475" cy="1381125"/>
            <a:chOff x="1520825" y="2276475"/>
            <a:chExt cx="5832475" cy="1381125"/>
          </a:xfrm>
        </p:grpSpPr>
        <p:sp>
          <p:nvSpPr>
            <p:cNvPr id="21507" name="Rectangle 4"/>
            <p:cNvSpPr/>
            <p:nvPr/>
          </p:nvSpPr>
          <p:spPr>
            <a:xfrm>
              <a:off x="1520825" y="2276475"/>
              <a:ext cx="647700" cy="504825"/>
            </a:xfrm>
            <a:prstGeom prst="rect">
              <a:avLst/>
            </a:prstGeom>
            <a:noFill/>
            <a:ln w="25400" cap="flat" cmpd="sng">
              <a:solidFill>
                <a:schemeClr val="tx1"/>
              </a:solidFill>
              <a:prstDash val="solid"/>
              <a:miter/>
              <a:headEnd type="none" w="sm" len="sm"/>
              <a:tailEnd type="none" w="sm" len="sm"/>
            </a:ln>
          </p:spPr>
          <p:txBody>
            <a:bodyPr wrap="none" anchor="ctr"/>
            <a:lstStyle/>
            <a:p>
              <a:pPr indent="0" algn="ctr">
                <a:spcBef>
                  <a:spcPct val="50000"/>
                </a:spcBef>
                <a:buNone/>
              </a:pPr>
              <a:r>
                <a:rPr lang="en-US" altLang="zh-CN" dirty="0">
                  <a:latin typeface="Times New Roman" panose="02020603050405020304" pitchFamily="18" charset="0"/>
                  <a:ea typeface="宋体" panose="02010600030101010101" pitchFamily="2" charset="-122"/>
                </a:rPr>
                <a:t>3</a:t>
              </a:r>
            </a:p>
          </p:txBody>
        </p:sp>
        <p:sp>
          <p:nvSpPr>
            <p:cNvPr id="21508" name="Rectangle 5"/>
            <p:cNvSpPr/>
            <p:nvPr/>
          </p:nvSpPr>
          <p:spPr>
            <a:xfrm>
              <a:off x="2168525" y="2276475"/>
              <a:ext cx="647700" cy="504825"/>
            </a:xfrm>
            <a:prstGeom prst="rect">
              <a:avLst/>
            </a:prstGeom>
            <a:noFill/>
            <a:ln w="25400" cap="flat" cmpd="sng">
              <a:solidFill>
                <a:schemeClr val="tx1"/>
              </a:solidFill>
              <a:prstDash val="solid"/>
              <a:miter/>
              <a:headEnd type="none" w="sm" len="sm"/>
              <a:tailEnd type="none" w="sm" len="sm"/>
            </a:ln>
          </p:spPr>
          <p:txBody>
            <a:bodyPr wrap="none" anchor="ctr"/>
            <a:lstStyle/>
            <a:p>
              <a:pPr indent="0" algn="ctr">
                <a:spcBef>
                  <a:spcPct val="50000"/>
                </a:spcBef>
                <a:buNone/>
              </a:pPr>
              <a:r>
                <a:rPr lang="en-US" altLang="zh-CN" dirty="0">
                  <a:latin typeface="Times New Roman" panose="02020603050405020304" pitchFamily="18" charset="0"/>
                  <a:ea typeface="宋体" panose="02010600030101010101" pitchFamily="2" charset="-122"/>
                </a:rPr>
                <a:t>9</a:t>
              </a:r>
            </a:p>
          </p:txBody>
        </p:sp>
        <p:sp>
          <p:nvSpPr>
            <p:cNvPr id="21509" name="Rectangle 6"/>
            <p:cNvSpPr/>
            <p:nvPr/>
          </p:nvSpPr>
          <p:spPr>
            <a:xfrm>
              <a:off x="2816225" y="2276475"/>
              <a:ext cx="647700" cy="504825"/>
            </a:xfrm>
            <a:prstGeom prst="rect">
              <a:avLst/>
            </a:prstGeom>
            <a:noFill/>
            <a:ln w="25400" cap="flat" cmpd="sng">
              <a:solidFill>
                <a:schemeClr val="tx1"/>
              </a:solidFill>
              <a:prstDash val="solid"/>
              <a:miter/>
              <a:headEnd type="none" w="sm" len="sm"/>
              <a:tailEnd type="none" w="sm" len="sm"/>
            </a:ln>
          </p:spPr>
          <p:txBody>
            <a:bodyPr wrap="none" anchor="ctr"/>
            <a:lstStyle/>
            <a:p>
              <a:pPr indent="0" algn="ctr">
                <a:spcBef>
                  <a:spcPct val="50000"/>
                </a:spcBef>
                <a:buNone/>
              </a:pPr>
              <a:r>
                <a:rPr lang="en-US" altLang="zh-CN" dirty="0">
                  <a:latin typeface="Times New Roman" panose="02020603050405020304" pitchFamily="18" charset="0"/>
                  <a:ea typeface="宋体" panose="02010600030101010101" pitchFamily="2" charset="-122"/>
                </a:rPr>
                <a:t>8</a:t>
              </a:r>
            </a:p>
          </p:txBody>
        </p:sp>
        <p:sp>
          <p:nvSpPr>
            <p:cNvPr id="21510" name="Rectangle 7"/>
            <p:cNvSpPr/>
            <p:nvPr/>
          </p:nvSpPr>
          <p:spPr>
            <a:xfrm>
              <a:off x="3465513" y="2276475"/>
              <a:ext cx="647700" cy="504825"/>
            </a:xfrm>
            <a:prstGeom prst="rect">
              <a:avLst/>
            </a:prstGeom>
            <a:noFill/>
            <a:ln w="25400" cap="flat" cmpd="sng">
              <a:solidFill>
                <a:schemeClr val="tx1"/>
              </a:solidFill>
              <a:prstDash val="solid"/>
              <a:miter/>
              <a:headEnd type="none" w="sm" len="sm"/>
              <a:tailEnd type="none" w="sm" len="sm"/>
            </a:ln>
          </p:spPr>
          <p:txBody>
            <a:bodyPr wrap="none" anchor="ctr"/>
            <a:lstStyle/>
            <a:p>
              <a:pPr indent="0" algn="ctr">
                <a:spcBef>
                  <a:spcPct val="50000"/>
                </a:spcBef>
                <a:buNone/>
              </a:pPr>
              <a:r>
                <a:rPr lang="en-US" altLang="zh-CN" dirty="0">
                  <a:latin typeface="Times New Roman" panose="02020603050405020304" pitchFamily="18" charset="0"/>
                  <a:ea typeface="宋体" panose="02010600030101010101" pitchFamily="2" charset="-122"/>
                </a:rPr>
                <a:t>7</a:t>
              </a:r>
            </a:p>
          </p:txBody>
        </p:sp>
        <p:sp>
          <p:nvSpPr>
            <p:cNvPr id="21511" name="Rectangle 8"/>
            <p:cNvSpPr/>
            <p:nvPr/>
          </p:nvSpPr>
          <p:spPr>
            <a:xfrm>
              <a:off x="4113213" y="2276475"/>
              <a:ext cx="647700" cy="504825"/>
            </a:xfrm>
            <a:prstGeom prst="rect">
              <a:avLst/>
            </a:prstGeom>
            <a:noFill/>
            <a:ln w="25400" cap="flat" cmpd="sng">
              <a:solidFill>
                <a:schemeClr val="tx1"/>
              </a:solidFill>
              <a:prstDash val="solid"/>
              <a:miter/>
              <a:headEnd type="none" w="sm" len="sm"/>
              <a:tailEnd type="none" w="sm" len="sm"/>
            </a:ln>
          </p:spPr>
          <p:txBody>
            <a:bodyPr wrap="none" anchor="ctr"/>
            <a:lstStyle/>
            <a:p>
              <a:pPr indent="0" algn="ctr">
                <a:spcBef>
                  <a:spcPct val="50000"/>
                </a:spcBef>
                <a:buNone/>
              </a:pPr>
              <a:r>
                <a:rPr lang="en-US" altLang="zh-CN" dirty="0">
                  <a:latin typeface="Times New Roman" panose="02020603050405020304" pitchFamily="18" charset="0"/>
                  <a:ea typeface="宋体" panose="02010600030101010101" pitchFamily="2" charset="-122"/>
                </a:rPr>
                <a:t>5</a:t>
              </a:r>
            </a:p>
          </p:txBody>
        </p:sp>
        <p:sp>
          <p:nvSpPr>
            <p:cNvPr id="21512" name="Rectangle 9"/>
            <p:cNvSpPr/>
            <p:nvPr/>
          </p:nvSpPr>
          <p:spPr>
            <a:xfrm>
              <a:off x="4760913" y="2276475"/>
              <a:ext cx="647700" cy="504825"/>
            </a:xfrm>
            <a:prstGeom prst="rect">
              <a:avLst/>
            </a:prstGeom>
            <a:noFill/>
            <a:ln w="25400" cap="flat" cmpd="sng">
              <a:solidFill>
                <a:schemeClr val="tx1"/>
              </a:solidFill>
              <a:prstDash val="solid"/>
              <a:miter/>
              <a:headEnd type="none" w="sm" len="sm"/>
              <a:tailEnd type="none" w="sm" len="sm"/>
            </a:ln>
          </p:spPr>
          <p:txBody>
            <a:bodyPr wrap="none" anchor="ctr"/>
            <a:lstStyle/>
            <a:p>
              <a:pPr indent="0" algn="ctr">
                <a:spcBef>
                  <a:spcPct val="50000"/>
                </a:spcBef>
                <a:buNone/>
              </a:pPr>
              <a:r>
                <a:rPr lang="en-US" altLang="zh-CN" dirty="0">
                  <a:latin typeface="Times New Roman" panose="02020603050405020304" pitchFamily="18" charset="0"/>
                  <a:ea typeface="宋体" panose="02010600030101010101" pitchFamily="2" charset="-122"/>
                </a:rPr>
                <a:t>1</a:t>
              </a:r>
            </a:p>
          </p:txBody>
        </p:sp>
        <p:sp>
          <p:nvSpPr>
            <p:cNvPr id="21513" name="Rectangle 10"/>
            <p:cNvSpPr/>
            <p:nvPr/>
          </p:nvSpPr>
          <p:spPr>
            <a:xfrm>
              <a:off x="5410200" y="2276475"/>
              <a:ext cx="647700" cy="504825"/>
            </a:xfrm>
            <a:prstGeom prst="rect">
              <a:avLst/>
            </a:prstGeom>
            <a:noFill/>
            <a:ln w="25400" cap="flat" cmpd="sng">
              <a:solidFill>
                <a:schemeClr val="tx1"/>
              </a:solidFill>
              <a:prstDash val="solid"/>
              <a:miter/>
              <a:headEnd type="none" w="sm" len="sm"/>
              <a:tailEnd type="none" w="sm" len="sm"/>
            </a:ln>
          </p:spPr>
          <p:txBody>
            <a:bodyPr wrap="none" anchor="ctr"/>
            <a:lstStyle/>
            <a:p>
              <a:pPr indent="0" algn="ctr">
                <a:spcBef>
                  <a:spcPct val="50000"/>
                </a:spcBef>
                <a:buNone/>
              </a:pPr>
              <a:r>
                <a:rPr lang="en-US" altLang="zh-CN" dirty="0">
                  <a:latin typeface="Times New Roman" panose="02020603050405020304" pitchFamily="18" charset="0"/>
                  <a:ea typeface="宋体" panose="02010600030101010101" pitchFamily="2" charset="-122"/>
                </a:rPr>
                <a:t>2</a:t>
              </a:r>
            </a:p>
          </p:txBody>
        </p:sp>
        <p:sp>
          <p:nvSpPr>
            <p:cNvPr id="21514" name="Rectangle 11"/>
            <p:cNvSpPr/>
            <p:nvPr/>
          </p:nvSpPr>
          <p:spPr>
            <a:xfrm>
              <a:off x="6057900" y="2276475"/>
              <a:ext cx="647700" cy="504825"/>
            </a:xfrm>
            <a:prstGeom prst="rect">
              <a:avLst/>
            </a:prstGeom>
            <a:noFill/>
            <a:ln w="25400" cap="flat" cmpd="sng">
              <a:solidFill>
                <a:schemeClr val="tx1"/>
              </a:solidFill>
              <a:prstDash val="solid"/>
              <a:miter/>
              <a:headEnd type="none" w="sm" len="sm"/>
              <a:tailEnd type="none" w="sm" len="sm"/>
            </a:ln>
          </p:spPr>
          <p:txBody>
            <a:bodyPr wrap="none" anchor="ctr"/>
            <a:lstStyle/>
            <a:p>
              <a:pPr indent="0" algn="ctr">
                <a:spcBef>
                  <a:spcPct val="50000"/>
                </a:spcBef>
                <a:buNone/>
              </a:pPr>
              <a:r>
                <a:rPr lang="en-US" altLang="zh-CN" dirty="0">
                  <a:latin typeface="Times New Roman" panose="02020603050405020304" pitchFamily="18" charset="0"/>
                  <a:ea typeface="宋体" panose="02010600030101010101" pitchFamily="2" charset="-122"/>
                </a:rPr>
                <a:t>6</a:t>
              </a:r>
            </a:p>
          </p:txBody>
        </p:sp>
        <p:sp>
          <p:nvSpPr>
            <p:cNvPr id="21515" name="Rectangle 12"/>
            <p:cNvSpPr/>
            <p:nvPr/>
          </p:nvSpPr>
          <p:spPr>
            <a:xfrm>
              <a:off x="6705600" y="2276475"/>
              <a:ext cx="647700" cy="504825"/>
            </a:xfrm>
            <a:prstGeom prst="rect">
              <a:avLst/>
            </a:prstGeom>
            <a:noFill/>
            <a:ln w="25400" cap="flat" cmpd="sng">
              <a:solidFill>
                <a:schemeClr val="tx1"/>
              </a:solidFill>
              <a:prstDash val="solid"/>
              <a:miter/>
              <a:headEnd type="none" w="sm" len="sm"/>
              <a:tailEnd type="none" w="sm" len="sm"/>
            </a:ln>
          </p:spPr>
          <p:txBody>
            <a:bodyPr wrap="none" anchor="ctr"/>
            <a:lstStyle/>
            <a:p>
              <a:pPr indent="0" algn="ctr">
                <a:spcBef>
                  <a:spcPct val="50000"/>
                </a:spcBef>
                <a:buNone/>
              </a:pPr>
              <a:r>
                <a:rPr lang="en-US" altLang="zh-CN" dirty="0">
                  <a:latin typeface="Times New Roman" panose="02020603050405020304" pitchFamily="18" charset="0"/>
                  <a:ea typeface="宋体" panose="02010600030101010101" pitchFamily="2" charset="-122"/>
                </a:rPr>
                <a:t>4</a:t>
              </a:r>
            </a:p>
          </p:txBody>
        </p:sp>
        <p:sp>
          <p:nvSpPr>
            <p:cNvPr id="21516" name="Line 13"/>
            <p:cNvSpPr/>
            <p:nvPr/>
          </p:nvSpPr>
          <p:spPr>
            <a:xfrm flipV="1">
              <a:off x="1736725" y="2781300"/>
              <a:ext cx="0" cy="647700"/>
            </a:xfrm>
            <a:prstGeom prst="line">
              <a:avLst/>
            </a:prstGeom>
            <a:ln w="25400" cap="flat" cmpd="sng">
              <a:solidFill>
                <a:srgbClr val="FF0000"/>
              </a:solidFill>
              <a:prstDash val="solid"/>
              <a:miter/>
              <a:headEnd type="none" w="sm" len="sm"/>
              <a:tailEnd type="triangle" w="med" len="lg"/>
            </a:ln>
          </p:spPr>
        </p:sp>
        <p:sp>
          <p:nvSpPr>
            <p:cNvPr id="21517" name="Line 14"/>
            <p:cNvSpPr/>
            <p:nvPr/>
          </p:nvSpPr>
          <p:spPr>
            <a:xfrm flipV="1">
              <a:off x="7065963" y="2781300"/>
              <a:ext cx="0" cy="647700"/>
            </a:xfrm>
            <a:prstGeom prst="line">
              <a:avLst/>
            </a:prstGeom>
            <a:ln w="25400" cap="flat" cmpd="sng">
              <a:solidFill>
                <a:srgbClr val="FF0000"/>
              </a:solidFill>
              <a:prstDash val="solid"/>
              <a:miter/>
              <a:headEnd type="none" w="sm" len="sm"/>
              <a:tailEnd type="triangle" w="med" len="lg"/>
            </a:ln>
          </p:spPr>
        </p:sp>
        <p:sp>
          <p:nvSpPr>
            <p:cNvPr id="21518" name="Text Box 15"/>
            <p:cNvSpPr txBox="1"/>
            <p:nvPr/>
          </p:nvSpPr>
          <p:spPr>
            <a:xfrm>
              <a:off x="1844675" y="3121174"/>
              <a:ext cx="503237" cy="457200"/>
            </a:xfrm>
            <a:prstGeom prst="rect">
              <a:avLst/>
            </a:prstGeom>
            <a:noFill/>
            <a:ln w="50800">
              <a:noFill/>
            </a:ln>
          </p:spPr>
          <p:txBody>
            <a:bodyPr anchor="t">
              <a:spAutoFit/>
            </a:bodyPr>
            <a:lstStyle/>
            <a:p>
              <a:pPr indent="0">
                <a:spcBef>
                  <a:spcPct val="50000"/>
                </a:spcBef>
                <a:buNone/>
              </a:pPr>
              <a:r>
                <a:rPr lang="en-US" altLang="zh-CN" dirty="0">
                  <a:solidFill>
                    <a:srgbClr val="FF0000"/>
                  </a:solidFill>
                  <a:latin typeface="Times New Roman" panose="02020603050405020304" pitchFamily="18" charset="0"/>
                  <a:ea typeface="宋体" panose="02010600030101010101" pitchFamily="2" charset="-122"/>
                </a:rPr>
                <a:t>i</a:t>
              </a:r>
            </a:p>
          </p:txBody>
        </p:sp>
        <p:sp>
          <p:nvSpPr>
            <p:cNvPr id="21519" name="Text Box 16"/>
            <p:cNvSpPr txBox="1"/>
            <p:nvPr/>
          </p:nvSpPr>
          <p:spPr>
            <a:xfrm>
              <a:off x="6705599" y="3200400"/>
              <a:ext cx="503237" cy="457200"/>
            </a:xfrm>
            <a:prstGeom prst="rect">
              <a:avLst/>
            </a:prstGeom>
            <a:noFill/>
            <a:ln w="50800">
              <a:noFill/>
            </a:ln>
          </p:spPr>
          <p:txBody>
            <a:bodyPr anchor="t">
              <a:spAutoFit/>
            </a:bodyPr>
            <a:lstStyle/>
            <a:p>
              <a:pPr indent="0">
                <a:spcBef>
                  <a:spcPct val="50000"/>
                </a:spcBef>
                <a:buNone/>
              </a:pPr>
              <a:r>
                <a:rPr lang="en-US" altLang="zh-CN" dirty="0">
                  <a:solidFill>
                    <a:srgbClr val="FF0000"/>
                  </a:solidFill>
                  <a:latin typeface="Times New Roman" panose="02020603050405020304" pitchFamily="18" charset="0"/>
                  <a:ea typeface="宋体" panose="02010600030101010101" pitchFamily="2" charset="-122"/>
                </a:rPr>
                <a:t>j</a:t>
              </a:r>
            </a:p>
          </p:txBody>
        </p:sp>
      </p:grpSp>
      <p:sp>
        <p:nvSpPr>
          <p:cNvPr id="18" name="内容占位符 2">
            <a:extLst>
              <a:ext uri="{FF2B5EF4-FFF2-40B4-BE49-F238E27FC236}">
                <a16:creationId xmlns:a16="http://schemas.microsoft.com/office/drawing/2014/main" id="{D63EB1CB-F978-48A7-92CC-088B4589DE34}"/>
              </a:ext>
            </a:extLst>
          </p:cNvPr>
          <p:cNvSpPr txBox="1">
            <a:spLocks/>
          </p:cNvSpPr>
          <p:nvPr/>
        </p:nvSpPr>
        <p:spPr bwMode="auto">
          <a:xfrm>
            <a:off x="372745" y="2132856"/>
            <a:ext cx="8483600" cy="329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a:lstStyle>
          <a:p>
            <a:pPr marL="0" indent="0">
              <a:lnSpc>
                <a:spcPct val="100000"/>
              </a:lnSpc>
              <a:buFontTx/>
              <a:buNone/>
            </a:pPr>
            <a:r>
              <a:rPr lang="en-US" altLang="zh-CN" sz="2000" kern="0" dirty="0">
                <a:latin typeface="Consolas" panose="020B0609020204030204" pitchFamily="49" charset="0"/>
              </a:rPr>
              <a:t>void </a:t>
            </a:r>
            <a:r>
              <a:rPr lang="en-US" altLang="zh-CN" sz="2000" kern="0" dirty="0" err="1">
                <a:latin typeface="Consolas" panose="020B0609020204030204" pitchFamily="49" charset="0"/>
              </a:rPr>
              <a:t>oddEvenPartition</a:t>
            </a:r>
            <a:r>
              <a:rPr lang="en-US" altLang="zh-CN" sz="2000" kern="0" dirty="0">
                <a:latin typeface="Consolas" panose="020B0609020204030204" pitchFamily="49" charset="0"/>
              </a:rPr>
              <a:t>(int a[], int n){</a:t>
            </a:r>
          </a:p>
          <a:p>
            <a:pPr marL="0" indent="0">
              <a:lnSpc>
                <a:spcPct val="100000"/>
              </a:lnSpc>
              <a:buFontTx/>
              <a:buNone/>
            </a:pPr>
            <a:r>
              <a:rPr lang="en-US" altLang="zh-CN" sz="2000" kern="0" dirty="0">
                <a:latin typeface="Consolas" panose="020B0609020204030204" pitchFamily="49" charset="0"/>
              </a:rPr>
              <a:t>	int </a:t>
            </a:r>
            <a:r>
              <a:rPr lang="en-US" altLang="zh-CN" sz="2000" kern="0" dirty="0" err="1">
                <a:latin typeface="Consolas" panose="020B0609020204030204" pitchFamily="49" charset="0"/>
              </a:rPr>
              <a:t>i</a:t>
            </a:r>
            <a:r>
              <a:rPr lang="en-US" altLang="zh-CN" sz="2000" kern="0" dirty="0">
                <a:latin typeface="Consolas" panose="020B0609020204030204" pitchFamily="49" charset="0"/>
              </a:rPr>
              <a:t>=</a:t>
            </a:r>
            <a:r>
              <a:rPr lang="en-US" altLang="zh-CN" sz="2000" kern="0" dirty="0" err="1">
                <a:latin typeface="Consolas" panose="020B0609020204030204" pitchFamily="49" charset="0"/>
              </a:rPr>
              <a:t>0,j</a:t>
            </a:r>
            <a:r>
              <a:rPr lang="en-US" altLang="zh-CN" sz="2000" kern="0" dirty="0">
                <a:latin typeface="Consolas" panose="020B0609020204030204" pitchFamily="49" charset="0"/>
              </a:rPr>
              <a:t>=n-</a:t>
            </a:r>
            <a:r>
              <a:rPr lang="en-US" altLang="zh-CN" sz="2000" kern="0" dirty="0" err="1">
                <a:latin typeface="Consolas" panose="020B0609020204030204" pitchFamily="49" charset="0"/>
              </a:rPr>
              <a:t>1,tmp</a:t>
            </a:r>
            <a:r>
              <a:rPr lang="en-US" altLang="zh-CN" sz="2000" kern="0" dirty="0">
                <a:latin typeface="Consolas" panose="020B0609020204030204" pitchFamily="49" charset="0"/>
              </a:rPr>
              <a:t>;</a:t>
            </a:r>
          </a:p>
          <a:p>
            <a:pPr marL="0" indent="0">
              <a:lnSpc>
                <a:spcPct val="100000"/>
              </a:lnSpc>
              <a:buFontTx/>
              <a:buNone/>
            </a:pPr>
            <a:r>
              <a:rPr lang="en-US" altLang="zh-CN" sz="2000" kern="0" dirty="0">
                <a:latin typeface="Consolas" panose="020B0609020204030204" pitchFamily="49" charset="0"/>
              </a:rPr>
              <a:t>	while(</a:t>
            </a:r>
            <a:r>
              <a:rPr lang="en-US" altLang="zh-CN" sz="2000" kern="0" dirty="0" err="1">
                <a:latin typeface="Consolas" panose="020B0609020204030204" pitchFamily="49" charset="0"/>
              </a:rPr>
              <a:t>i</a:t>
            </a:r>
            <a:r>
              <a:rPr lang="en-US" altLang="zh-CN" sz="2000" kern="0" dirty="0">
                <a:latin typeface="Consolas" panose="020B0609020204030204" pitchFamily="49" charset="0"/>
              </a:rPr>
              <a:t>&lt;j){</a:t>
            </a:r>
          </a:p>
          <a:p>
            <a:pPr marL="0" indent="0">
              <a:lnSpc>
                <a:spcPct val="100000"/>
              </a:lnSpc>
              <a:buFontTx/>
              <a:buNone/>
            </a:pPr>
            <a:r>
              <a:rPr lang="en-US" altLang="zh-CN" sz="2000" kern="0" dirty="0">
                <a:latin typeface="Consolas" panose="020B0609020204030204" pitchFamily="49" charset="0"/>
              </a:rPr>
              <a:t>	    while (</a:t>
            </a:r>
            <a:r>
              <a:rPr lang="en-US" altLang="zh-CN" sz="2000" kern="0" dirty="0" err="1">
                <a:latin typeface="Consolas" panose="020B0609020204030204" pitchFamily="49" charset="0"/>
              </a:rPr>
              <a:t>i</a:t>
            </a:r>
            <a:r>
              <a:rPr lang="en-US" altLang="zh-CN" sz="2000" kern="0" dirty="0">
                <a:latin typeface="Consolas" panose="020B0609020204030204" pitchFamily="49" charset="0"/>
              </a:rPr>
              <a:t>&lt;j &amp;&amp; a[</a:t>
            </a:r>
            <a:r>
              <a:rPr lang="en-US" altLang="zh-CN" sz="2000" kern="0" dirty="0" err="1">
                <a:latin typeface="Consolas" panose="020B0609020204030204" pitchFamily="49" charset="0"/>
              </a:rPr>
              <a:t>i</a:t>
            </a:r>
            <a:r>
              <a:rPr lang="en-US" altLang="zh-CN" sz="2000" kern="0" dirty="0">
                <a:latin typeface="Consolas" panose="020B0609020204030204" pitchFamily="49" charset="0"/>
              </a:rPr>
              <a:t>]%2!=0) </a:t>
            </a:r>
            <a:r>
              <a:rPr lang="en-US" altLang="zh-CN" sz="2000" kern="0" dirty="0" err="1">
                <a:latin typeface="Consolas" panose="020B0609020204030204" pitchFamily="49" charset="0"/>
              </a:rPr>
              <a:t>i</a:t>
            </a:r>
            <a:r>
              <a:rPr lang="en-US" altLang="zh-CN" sz="2000" kern="0" dirty="0">
                <a:latin typeface="Consolas" panose="020B0609020204030204" pitchFamily="49" charset="0"/>
              </a:rPr>
              <a:t>++;</a:t>
            </a:r>
          </a:p>
          <a:p>
            <a:pPr marL="0" indent="0">
              <a:lnSpc>
                <a:spcPct val="100000"/>
              </a:lnSpc>
              <a:buFontTx/>
              <a:buNone/>
            </a:pPr>
            <a:r>
              <a:rPr lang="en-US" altLang="zh-CN" sz="2000" kern="0" dirty="0">
                <a:latin typeface="Consolas" panose="020B0609020204030204" pitchFamily="49" charset="0"/>
              </a:rPr>
              <a:t>	    while (</a:t>
            </a:r>
            <a:r>
              <a:rPr lang="en-US" altLang="zh-CN" sz="2000" kern="0" dirty="0" err="1">
                <a:latin typeface="Consolas" panose="020B0609020204030204" pitchFamily="49" charset="0"/>
              </a:rPr>
              <a:t>i</a:t>
            </a:r>
            <a:r>
              <a:rPr lang="en-US" altLang="zh-CN" sz="2000" kern="0" dirty="0">
                <a:latin typeface="Consolas" panose="020B0609020204030204" pitchFamily="49" charset="0"/>
                <a:sym typeface="+mn-ea"/>
              </a:rPr>
              <a:t>&lt;j &amp;&amp; </a:t>
            </a:r>
            <a:r>
              <a:rPr lang="en-US" altLang="zh-CN" sz="2000" kern="0" dirty="0">
                <a:latin typeface="Consolas" panose="020B0609020204030204" pitchFamily="49" charset="0"/>
              </a:rPr>
              <a:t>a[j]%2==0) j--;</a:t>
            </a:r>
          </a:p>
          <a:p>
            <a:pPr marL="0" indent="0">
              <a:lnSpc>
                <a:spcPct val="100000"/>
              </a:lnSpc>
              <a:buFontTx/>
              <a:buNone/>
            </a:pPr>
            <a:r>
              <a:rPr lang="en-US" altLang="zh-CN" sz="2000" kern="0" dirty="0">
                <a:latin typeface="Consolas" panose="020B0609020204030204" pitchFamily="49" charset="0"/>
              </a:rPr>
              <a:t>	    if (</a:t>
            </a:r>
            <a:r>
              <a:rPr lang="en-US" altLang="zh-CN" sz="2000" kern="0" dirty="0" err="1">
                <a:latin typeface="Consolas" panose="020B0609020204030204" pitchFamily="49" charset="0"/>
              </a:rPr>
              <a:t>i</a:t>
            </a:r>
            <a:r>
              <a:rPr lang="en-US" altLang="zh-CN" sz="2000" kern="0" dirty="0">
                <a:latin typeface="Consolas" panose="020B0609020204030204" pitchFamily="49" charset="0"/>
              </a:rPr>
              <a:t>&lt;j){</a:t>
            </a:r>
          </a:p>
          <a:p>
            <a:pPr marL="0" indent="0">
              <a:lnSpc>
                <a:spcPct val="100000"/>
              </a:lnSpc>
              <a:buFontTx/>
              <a:buNone/>
            </a:pPr>
            <a:r>
              <a:rPr lang="en-US" altLang="zh-CN" sz="2000" kern="0" dirty="0">
                <a:latin typeface="Consolas" panose="020B0609020204030204" pitchFamily="49" charset="0"/>
              </a:rPr>
              <a:t>		</a:t>
            </a:r>
            <a:r>
              <a:rPr lang="en-US" altLang="zh-CN" sz="2000" kern="0" dirty="0" err="1">
                <a:latin typeface="Consolas" panose="020B0609020204030204" pitchFamily="49" charset="0"/>
              </a:rPr>
              <a:t>tmp</a:t>
            </a:r>
            <a:r>
              <a:rPr lang="en-US" altLang="zh-CN" sz="2000" kern="0" dirty="0">
                <a:latin typeface="Consolas" panose="020B0609020204030204" pitchFamily="49" charset="0"/>
              </a:rPr>
              <a:t>=a[</a:t>
            </a:r>
            <a:r>
              <a:rPr lang="en-US" altLang="zh-CN" sz="2000" kern="0" dirty="0" err="1">
                <a:latin typeface="Consolas" panose="020B0609020204030204" pitchFamily="49" charset="0"/>
              </a:rPr>
              <a:t>i</a:t>
            </a:r>
            <a:r>
              <a:rPr lang="en-US" altLang="zh-CN" sz="2000" kern="0" dirty="0">
                <a:latin typeface="Consolas" panose="020B0609020204030204" pitchFamily="49" charset="0"/>
              </a:rPr>
              <a:t>]; </a:t>
            </a:r>
            <a:r>
              <a:rPr lang="en-US" altLang="zh-CN" sz="2000" kern="0" dirty="0">
                <a:latin typeface="Consolas" panose="020B0609020204030204" pitchFamily="49" charset="0"/>
                <a:sym typeface="+mn-ea"/>
              </a:rPr>
              <a:t>a[</a:t>
            </a:r>
            <a:r>
              <a:rPr lang="en-US" altLang="zh-CN" sz="2000" kern="0" dirty="0" err="1">
                <a:latin typeface="Consolas" panose="020B0609020204030204" pitchFamily="49" charset="0"/>
                <a:sym typeface="+mn-ea"/>
              </a:rPr>
              <a:t>i</a:t>
            </a:r>
            <a:r>
              <a:rPr lang="en-US" altLang="zh-CN" sz="2000" kern="0" dirty="0">
                <a:latin typeface="Consolas" panose="020B0609020204030204" pitchFamily="49" charset="0"/>
                <a:sym typeface="+mn-ea"/>
              </a:rPr>
              <a:t>]=</a:t>
            </a:r>
            <a:r>
              <a:rPr lang="en-US" altLang="zh-CN" sz="2000" kern="0" dirty="0">
                <a:latin typeface="Consolas" panose="020B0609020204030204" pitchFamily="49" charset="0"/>
              </a:rPr>
              <a:t>a[j];</a:t>
            </a:r>
            <a:r>
              <a:rPr lang="en-US" altLang="zh-CN" sz="2000" kern="0" dirty="0">
                <a:latin typeface="Consolas" panose="020B0609020204030204" pitchFamily="49" charset="0"/>
                <a:sym typeface="+mn-ea"/>
              </a:rPr>
              <a:t>a[j]=</a:t>
            </a:r>
            <a:r>
              <a:rPr lang="en-US" altLang="zh-CN" sz="2000" kern="0" dirty="0" err="1">
                <a:latin typeface="Consolas" panose="020B0609020204030204" pitchFamily="49" charset="0"/>
                <a:sym typeface="+mn-ea"/>
              </a:rPr>
              <a:t>tmp</a:t>
            </a:r>
            <a:r>
              <a:rPr lang="en-US" altLang="zh-CN" sz="2000" kern="0" dirty="0">
                <a:latin typeface="Consolas" panose="020B0609020204030204" pitchFamily="49" charset="0"/>
                <a:sym typeface="+mn-ea"/>
              </a:rPr>
              <a:t>;}</a:t>
            </a:r>
            <a:r>
              <a:rPr lang="en-US" altLang="zh-CN" sz="2000" kern="0" dirty="0">
                <a:latin typeface="Consolas" panose="020B0609020204030204" pitchFamily="49" charset="0"/>
              </a:rPr>
              <a:t> </a:t>
            </a:r>
          </a:p>
          <a:p>
            <a:pPr marL="0" indent="0">
              <a:lnSpc>
                <a:spcPct val="100000"/>
              </a:lnSpc>
              <a:buFontTx/>
              <a:buNone/>
            </a:pPr>
            <a:r>
              <a:rPr lang="en-US" altLang="zh-CN" sz="2000" kern="0" dirty="0">
                <a:latin typeface="Consolas" panose="020B0609020204030204" pitchFamily="49" charset="0"/>
              </a:rPr>
              <a:t>	}</a:t>
            </a:r>
          </a:p>
          <a:p>
            <a:pPr marL="0" indent="0">
              <a:lnSpc>
                <a:spcPct val="100000"/>
              </a:lnSpc>
              <a:buFontTx/>
              <a:buNone/>
            </a:pPr>
            <a:r>
              <a:rPr lang="en-US" altLang="zh-CN" sz="2000" kern="0" dirty="0">
                <a:latin typeface="Consolas" panose="020B0609020204030204" pitchFamily="49"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7C87E-E00B-381C-5CED-A7FC071EC5B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189C2D-017F-C94A-8046-E1EBCDD9292D}"/>
              </a:ext>
            </a:extLst>
          </p:cNvPr>
          <p:cNvSpPr>
            <a:spLocks noGrp="1"/>
          </p:cNvSpPr>
          <p:nvPr>
            <p:ph idx="1"/>
          </p:nvPr>
        </p:nvSpPr>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10</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(const int a[],int n);</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oddEvenPartition</a:t>
            </a:r>
            <a:r>
              <a:rPr lang="en-US" altLang="zh-CN" sz="2000" dirty="0">
                <a:latin typeface="Consolas" panose="020B0609020204030204" pitchFamily="49" charset="0"/>
              </a:rPr>
              <a:t>(int a[], int n);</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int a[SIZE]={1,2,6,7,8,9,12,25,27,36};</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oddEvenPartition</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return</a:t>
            </a:r>
            <a:r>
              <a:rPr lang="zh-CN" altLang="en-US" sz="2000" dirty="0">
                <a:latin typeface="Consolas" panose="020B0609020204030204" pitchFamily="49" charset="0"/>
              </a:rPr>
              <a:t> </a:t>
            </a:r>
            <a:r>
              <a:rPr lang="en-US" altLang="zh-CN" sz="2000" dirty="0">
                <a:latin typeface="Consolas" panose="020B0609020204030204" pitchFamily="49" charset="0"/>
              </a:rPr>
              <a:t>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345512070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3">
            <a:extLst>
              <a:ext uri="{FF2B5EF4-FFF2-40B4-BE49-F238E27FC236}">
                <a16:creationId xmlns:a16="http://schemas.microsoft.com/office/drawing/2014/main" id="{C7D57F34-585F-43A6-8940-65C5BB7951EA}"/>
              </a:ext>
            </a:extLst>
          </p:cNvPr>
          <p:cNvSpPr>
            <a:spLocks noGrp="1" noChangeArrowheads="1"/>
          </p:cNvSpPr>
          <p:nvPr/>
        </p:nvSpPr>
        <p:spPr bwMode="auto">
          <a:xfrm>
            <a:off x="406400" y="1216024"/>
            <a:ext cx="8499475" cy="466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b="1">
                <a:solidFill>
                  <a:schemeClr val="tx1"/>
                </a:solidFill>
                <a:latin typeface="Times New Roman" panose="02020603050405020304" pitchFamily="18" charset="0"/>
                <a:ea typeface="宋体" panose="02010600030101010101" pitchFamily="2" charset="-122"/>
              </a:defRPr>
            </a:lvl1pPr>
            <a:lvl2pPr>
              <a:defRPr b="1">
                <a:solidFill>
                  <a:schemeClr val="tx1"/>
                </a:solidFill>
                <a:latin typeface="Times New Roman" panose="02020603050405020304" pitchFamily="18" charset="0"/>
                <a:ea typeface="宋体" panose="02010600030101010101" pitchFamily="2" charset="-122"/>
              </a:defRPr>
            </a:lvl2pPr>
            <a:lvl3pPr>
              <a:defRPr b="1">
                <a:solidFill>
                  <a:schemeClr val="tx1"/>
                </a:solidFill>
                <a:latin typeface="Times New Roman" panose="02020603050405020304" pitchFamily="18" charset="0"/>
                <a:ea typeface="宋体" panose="02010600030101010101" pitchFamily="2" charset="-122"/>
              </a:defRPr>
            </a:lvl3pPr>
            <a:lvl4pPr>
              <a:defRPr b="1">
                <a:solidFill>
                  <a:schemeClr val="tx1"/>
                </a:solidFill>
                <a:latin typeface="Times New Roman" panose="02020603050405020304" pitchFamily="18" charset="0"/>
                <a:ea typeface="宋体" panose="02010600030101010101" pitchFamily="2" charset="-122"/>
              </a:defRPr>
            </a:lvl4pPr>
            <a:lvl5pPr>
              <a:defRPr b="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marL="0" indent="0" eaLnBrk="0" hangingPunct="0">
              <a:buNone/>
            </a:pPr>
            <a:r>
              <a:rPr lang="zh-CN" altLang="zh-CN" sz="2400" dirty="0"/>
              <a:t>思路是把 a、b、c 这3个变量本身改成 a ≤ b ≤ c 的形式。 </a:t>
            </a:r>
          </a:p>
          <a:p>
            <a:pPr marL="0" indent="0" eaLnBrk="0" hangingPunct="0">
              <a:buNone/>
            </a:pPr>
            <a:r>
              <a:rPr lang="zh-CN" altLang="en-US" sz="2400" dirty="0"/>
              <a:t>实现过程：</a:t>
            </a:r>
            <a:endParaRPr lang="en-US" altLang="zh-CN" sz="2400" dirty="0"/>
          </a:p>
          <a:p>
            <a:pPr marL="0" indent="0" eaLnBrk="0" hangingPunct="0">
              <a:buNone/>
            </a:pPr>
            <a:r>
              <a:rPr lang="en-US" altLang="zh-CN" sz="2400" dirty="0"/>
              <a:t>	</a:t>
            </a:r>
            <a:r>
              <a:rPr lang="zh-CN" altLang="zh-CN" sz="2400" dirty="0"/>
              <a:t>首先 </a:t>
            </a:r>
            <a:r>
              <a:rPr lang="zh-CN" altLang="en-US" sz="2400" dirty="0"/>
              <a:t>比较</a:t>
            </a:r>
            <a:r>
              <a:rPr lang="zh-CN" altLang="zh-CN" sz="2400" dirty="0"/>
              <a:t> a 和 b 的</a:t>
            </a:r>
            <a:r>
              <a:rPr lang="zh-CN" altLang="en-US" sz="2400" dirty="0"/>
              <a:t>大小</a:t>
            </a:r>
            <a:r>
              <a:rPr lang="zh-CN" altLang="zh-CN" sz="2400" dirty="0"/>
              <a:t>，</a:t>
            </a:r>
            <a:endParaRPr lang="en-US" altLang="zh-CN" sz="2400" dirty="0"/>
          </a:p>
          <a:p>
            <a:pPr marL="0" indent="0" eaLnBrk="0" hangingPunct="0">
              <a:buNone/>
            </a:pPr>
            <a:r>
              <a:rPr lang="en-US" altLang="zh-CN" sz="2400" dirty="0"/>
              <a:t>		</a:t>
            </a:r>
            <a:r>
              <a:rPr lang="zh-CN" altLang="zh-CN" sz="2400" dirty="0"/>
              <a:t>如果 a ＞ b， 则 交换 a 和 b（利用前面讲过的变量交换法）；</a:t>
            </a:r>
            <a:endParaRPr lang="en-US" altLang="zh-CN" sz="2400" dirty="0"/>
          </a:p>
          <a:p>
            <a:pPr marL="0" indent="0" eaLnBrk="0" hangingPunct="0">
              <a:buNone/>
            </a:pPr>
            <a:r>
              <a:rPr lang="en-US" altLang="zh-CN" sz="2400" dirty="0"/>
              <a:t>	</a:t>
            </a:r>
            <a:r>
              <a:rPr lang="zh-CN" altLang="zh-CN" sz="2400" dirty="0"/>
              <a:t>接下来 </a:t>
            </a:r>
            <a:r>
              <a:rPr lang="zh-CN" altLang="en-US" sz="2400" dirty="0"/>
              <a:t>比较</a:t>
            </a:r>
            <a:r>
              <a:rPr lang="zh-CN" altLang="zh-CN" sz="2400" dirty="0"/>
              <a:t> a 和 c</a:t>
            </a:r>
            <a:r>
              <a:rPr lang="zh-CN" altLang="en-US" sz="2400" dirty="0"/>
              <a:t>的大小</a:t>
            </a:r>
            <a:r>
              <a:rPr lang="zh-CN" altLang="zh-CN" sz="2400" dirty="0"/>
              <a:t>，</a:t>
            </a:r>
            <a:endParaRPr lang="en-US" altLang="zh-CN" sz="2400" dirty="0"/>
          </a:p>
          <a:p>
            <a:pPr marL="0" indent="0" eaLnBrk="0" hangingPunct="0">
              <a:buNone/>
            </a:pPr>
            <a:r>
              <a:rPr lang="en-US" altLang="zh-CN" sz="2400" dirty="0"/>
              <a:t>		</a:t>
            </a:r>
            <a:r>
              <a:rPr lang="zh-CN" altLang="zh-CN" sz="2400" dirty="0"/>
              <a:t>如果 a ＞ </a:t>
            </a:r>
            <a:r>
              <a:rPr lang="en-US" altLang="zh-CN" sz="2400" dirty="0"/>
              <a:t>c</a:t>
            </a:r>
            <a:r>
              <a:rPr lang="zh-CN" altLang="zh-CN" sz="2400" dirty="0"/>
              <a:t>， 则 交换 a 和</a:t>
            </a:r>
            <a:r>
              <a:rPr lang="en-US" altLang="zh-CN" sz="2400" dirty="0"/>
              <a:t>c</a:t>
            </a:r>
            <a:r>
              <a:rPr lang="zh-CN" altLang="zh-CN" sz="2400" dirty="0"/>
              <a:t>；</a:t>
            </a:r>
            <a:endParaRPr lang="en-US" altLang="zh-CN" sz="2400" dirty="0"/>
          </a:p>
          <a:p>
            <a:pPr marL="0" indent="0" eaLnBrk="0" hangingPunct="0">
              <a:buNone/>
            </a:pPr>
            <a:r>
              <a:rPr lang="en-US" altLang="zh-CN" sz="2400" dirty="0"/>
              <a:t>	</a:t>
            </a:r>
            <a:r>
              <a:rPr lang="zh-CN" altLang="zh-CN" sz="2400" dirty="0"/>
              <a:t>最后</a:t>
            </a:r>
            <a:r>
              <a:rPr lang="zh-CN" altLang="en-US" sz="2400" dirty="0"/>
              <a:t>比较</a:t>
            </a:r>
            <a:r>
              <a:rPr lang="zh-CN" altLang="zh-CN" sz="2400" dirty="0"/>
              <a:t> b 和 c</a:t>
            </a:r>
            <a:r>
              <a:rPr lang="zh-CN" altLang="en-US" sz="2400" dirty="0"/>
              <a:t>的大小，</a:t>
            </a:r>
            <a:endParaRPr lang="en-US" altLang="zh-CN" sz="2400" dirty="0"/>
          </a:p>
          <a:p>
            <a:pPr marL="0" indent="0" eaLnBrk="0" hangingPunct="0">
              <a:buNone/>
            </a:pPr>
            <a:r>
              <a:rPr lang="en-US" altLang="zh-CN" sz="2400" dirty="0"/>
              <a:t>		</a:t>
            </a:r>
            <a:r>
              <a:rPr lang="zh-CN" altLang="zh-CN" sz="2400" dirty="0"/>
              <a:t>如果 </a:t>
            </a:r>
            <a:r>
              <a:rPr lang="en-US" altLang="zh-CN" sz="2400" dirty="0"/>
              <a:t>b</a:t>
            </a:r>
            <a:r>
              <a:rPr lang="zh-CN" altLang="zh-CN" sz="2400" dirty="0"/>
              <a:t> ＞ </a:t>
            </a:r>
            <a:r>
              <a:rPr lang="en-US" altLang="zh-CN" sz="2400" dirty="0"/>
              <a:t>c</a:t>
            </a:r>
            <a:r>
              <a:rPr lang="zh-CN" altLang="zh-CN" sz="2400" dirty="0"/>
              <a:t>， 则 交换 </a:t>
            </a:r>
            <a:r>
              <a:rPr lang="en-US" altLang="zh-CN" sz="2400" dirty="0"/>
              <a:t>b</a:t>
            </a:r>
            <a:r>
              <a:rPr lang="zh-CN" altLang="zh-CN" sz="2400" dirty="0"/>
              <a:t> 和</a:t>
            </a:r>
            <a:r>
              <a:rPr lang="en-US" altLang="zh-CN" sz="2400" dirty="0"/>
              <a:t>c</a:t>
            </a:r>
            <a:r>
              <a:rPr lang="zh-CN" altLang="zh-CN" sz="2400" dirty="0"/>
              <a:t>；</a:t>
            </a:r>
            <a:endParaRPr lang="en-US" altLang="zh-CN" sz="2400" dirty="0"/>
          </a:p>
          <a:p>
            <a:pPr marL="0" indent="0" eaLnBrk="0" hangingPunct="0">
              <a:buNone/>
            </a:pPr>
            <a:endParaRPr lang="zh-CN" altLang="zh-CN" sz="2400" dirty="0"/>
          </a:p>
        </p:txBody>
      </p:sp>
      <p:sp>
        <p:nvSpPr>
          <p:cNvPr id="47106" name="Rectangle 2">
            <a:extLst>
              <a:ext uri="{FF2B5EF4-FFF2-40B4-BE49-F238E27FC236}">
                <a16:creationId xmlns:a16="http://schemas.microsoft.com/office/drawing/2014/main" id="{5C5FC89B-2143-4C2A-BA10-F1F036A1E7A6}"/>
              </a:ext>
            </a:extLst>
          </p:cNvPr>
          <p:cNvSpPr>
            <a:spLocks noGrp="1"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r" eaLnBrk="0" hangingPunct="0">
              <a:spcBef>
                <a:spcPct val="0"/>
              </a:spcBef>
              <a:buNone/>
            </a:pPr>
            <a:r>
              <a:rPr lang="zh-CN" altLang="en-US" sz="3200" dirty="0">
                <a:solidFill>
                  <a:srgbClr val="FF3300"/>
                </a:solidFill>
                <a:latin typeface="宋体" panose="02010600030101010101" pitchFamily="2" charset="-122"/>
              </a:rPr>
              <a:t>回顾：三整数排序问题的标签法</a:t>
            </a:r>
          </a:p>
        </p:txBody>
      </p:sp>
    </p:spTree>
    <p:extLst>
      <p:ext uri="{BB962C8B-B14F-4D97-AF65-F5344CB8AC3E}">
        <p14:creationId xmlns:p14="http://schemas.microsoft.com/office/powerpoint/2010/main" val="328789779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矩形 1">
            <a:extLst>
              <a:ext uri="{FF2B5EF4-FFF2-40B4-BE49-F238E27FC236}">
                <a16:creationId xmlns:a16="http://schemas.microsoft.com/office/drawing/2014/main" id="{54587DC8-256D-4E74-A11E-BAB72AF7F8F9}"/>
              </a:ext>
            </a:extLst>
          </p:cNvPr>
          <p:cNvSpPr>
            <a:spLocks noChangeArrowheads="1"/>
          </p:cNvSpPr>
          <p:nvPr/>
        </p:nvSpPr>
        <p:spPr bwMode="auto">
          <a:xfrm>
            <a:off x="395536" y="1268760"/>
            <a:ext cx="8561387"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800" b="1" dirty="0">
                <a:solidFill>
                  <a:srgbClr val="0000FF"/>
                </a:solidFill>
                <a:latin typeface="楷体" panose="02010609060101010101" pitchFamily="49" charset="-122"/>
                <a:ea typeface="楷体" panose="02010609060101010101" pitchFamily="49" charset="-122"/>
              </a:rPr>
              <a:t>向池塘丢一颗石子，你会看见气泡从底部慢慢地浮上来，先浮上来的气泡最大。</a:t>
            </a:r>
            <a:endParaRPr lang="en-US" altLang="zh-CN" sz="2800" b="1" dirty="0">
              <a:solidFill>
                <a:srgbClr val="0000FF"/>
              </a:solidFill>
              <a:latin typeface="楷体" panose="02010609060101010101" pitchFamily="49" charset="-122"/>
              <a:ea typeface="楷体" panose="02010609060101010101" pitchFamily="49" charset="-122"/>
            </a:endParaRPr>
          </a:p>
          <a:p>
            <a:r>
              <a:rPr lang="zh-CN" altLang="en-US" sz="2800" b="1" dirty="0">
                <a:solidFill>
                  <a:srgbClr val="0000FF"/>
                </a:solidFill>
                <a:latin typeface="楷体" panose="02010609060101010101" pitchFamily="49" charset="-122"/>
                <a:ea typeface="楷体" panose="02010609060101010101" pitchFamily="49" charset="-122"/>
              </a:rPr>
              <a:t>相邻数据元素之</a:t>
            </a:r>
            <a:r>
              <a:rPr lang="zh-CN" altLang="zh-CN" sz="2800" b="1" dirty="0">
                <a:solidFill>
                  <a:srgbClr val="0000FF"/>
                </a:solidFill>
                <a:latin typeface="楷体" panose="02010609060101010101" pitchFamily="49" charset="-122"/>
                <a:ea typeface="楷体" panose="02010609060101010101" pitchFamily="49" charset="-122"/>
              </a:rPr>
              <a:t>间两两比较，若为逆序，则交换位置</a:t>
            </a:r>
            <a:r>
              <a:rPr lang="zh-CN" altLang="en-US" sz="2800" b="1" dirty="0">
                <a:solidFill>
                  <a:srgbClr val="0000FF"/>
                </a:solidFill>
                <a:latin typeface="楷体" panose="02010609060101010101" pitchFamily="49" charset="-122"/>
                <a:ea typeface="楷体" panose="02010609060101010101" pitchFamily="49" charset="-122"/>
              </a:rPr>
              <a:t>，上浮一步</a:t>
            </a:r>
            <a:r>
              <a:rPr lang="zh-CN" altLang="zh-CN" sz="2800" b="1" dirty="0">
                <a:solidFill>
                  <a:srgbClr val="0000FF"/>
                </a:solidFill>
                <a:latin typeface="楷体" panose="02010609060101010101" pitchFamily="49" charset="-122"/>
                <a:ea typeface="楷体" panose="02010609060101010101" pitchFamily="49" charset="-122"/>
              </a:rPr>
              <a:t>。</a:t>
            </a:r>
            <a:endParaRPr lang="en-US" altLang="zh-CN" sz="2800" b="1" dirty="0">
              <a:solidFill>
                <a:srgbClr val="0000FF"/>
              </a:solidFill>
              <a:latin typeface="楷体" panose="02010609060101010101" pitchFamily="49" charset="-122"/>
              <a:ea typeface="楷体" panose="02010609060101010101" pitchFamily="49" charset="-122"/>
            </a:endParaRPr>
          </a:p>
          <a:p>
            <a:pPr eaLnBrk="1" hangingPunct="1">
              <a:buFont typeface="Wingdings" panose="05000000000000000000" pitchFamily="2" charset="2"/>
              <a:buNone/>
            </a:pPr>
            <a:r>
              <a:rPr lang="zh-CN" altLang="en-US" sz="2800" b="1" dirty="0"/>
              <a:t>冒牌排序算法思路：</a:t>
            </a:r>
          </a:p>
          <a:p>
            <a:pPr eaLnBrk="1" hangingPunct="1">
              <a:buFont typeface="Wingdings" panose="05000000000000000000" pitchFamily="2" charset="2"/>
              <a:buNone/>
            </a:pPr>
            <a:r>
              <a:rPr lang="zh-CN" altLang="en-US" sz="2800" b="1" dirty="0"/>
              <a:t>    1、每一趟过程通过</a:t>
            </a:r>
            <a:r>
              <a:rPr lang="zh-CN" altLang="en-US" sz="2800" b="1" u="sng" dirty="0"/>
              <a:t>相邻元素</a:t>
            </a:r>
            <a:r>
              <a:rPr lang="zh-CN" altLang="en-US" sz="2800" b="1" dirty="0"/>
              <a:t>两两比较和交换将最大的元素冒泡到最后</a:t>
            </a:r>
            <a:r>
              <a:rPr lang="en-US" altLang="zh-CN" sz="2800" b="1" dirty="0"/>
              <a:t>(</a:t>
            </a:r>
            <a:r>
              <a:rPr lang="zh-CN" altLang="en-US" sz="2800" b="1" dirty="0"/>
              <a:t>下标为</a:t>
            </a:r>
            <a:r>
              <a:rPr lang="en-US" altLang="zh-CN" sz="2800" b="1" dirty="0"/>
              <a:t>0</a:t>
            </a:r>
            <a:r>
              <a:rPr lang="zh-CN" altLang="en-US" sz="2800" b="1" dirty="0"/>
              <a:t>的元素最靠前</a:t>
            </a:r>
            <a:r>
              <a:rPr lang="en-US" altLang="zh-CN" sz="2800" b="1" dirty="0"/>
              <a:t>)</a:t>
            </a:r>
            <a:r>
              <a:rPr lang="zh-CN" altLang="en-US" sz="2800" b="1" dirty="0"/>
              <a:t>；</a:t>
            </a:r>
          </a:p>
          <a:p>
            <a:pPr eaLnBrk="1" hangingPunct="1">
              <a:buFont typeface="Wingdings" panose="05000000000000000000" pitchFamily="2" charset="2"/>
              <a:buNone/>
            </a:pPr>
            <a:r>
              <a:rPr lang="zh-CN" altLang="en-US" sz="2800" b="1" dirty="0"/>
              <a:t>    2、需要（</a:t>
            </a:r>
            <a:r>
              <a:rPr lang="en-US" altLang="zh-CN" sz="2800" b="1" dirty="0"/>
              <a:t>n-1）</a:t>
            </a:r>
            <a:r>
              <a:rPr lang="zh-CN" altLang="en-US" sz="2800" b="1" dirty="0"/>
              <a:t>趟过程完成数组排序（</a:t>
            </a:r>
            <a:r>
              <a:rPr lang="en-US" altLang="zh-CN" sz="2800" b="1" dirty="0"/>
              <a:t>n</a:t>
            </a:r>
            <a:r>
              <a:rPr lang="zh-CN" altLang="en-US" sz="2800" b="1" dirty="0"/>
              <a:t>是元素个数）；</a:t>
            </a:r>
          </a:p>
          <a:p>
            <a:endParaRPr lang="zh-CN" altLang="en-US" sz="2800" b="1" dirty="0">
              <a:solidFill>
                <a:srgbClr val="0000FF"/>
              </a:solidFill>
              <a:latin typeface="楷体" panose="02010609060101010101" pitchFamily="49" charset="-122"/>
              <a:ea typeface="楷体" panose="02010609060101010101" pitchFamily="49" charset="-122"/>
            </a:endParaRPr>
          </a:p>
        </p:txBody>
      </p:sp>
      <p:sp>
        <p:nvSpPr>
          <p:cNvPr id="2" name="日期占位符 1">
            <a:extLst>
              <a:ext uri="{FF2B5EF4-FFF2-40B4-BE49-F238E27FC236}">
                <a16:creationId xmlns:a16="http://schemas.microsoft.com/office/drawing/2014/main" id="{5434C06F-BCFE-4D81-B15D-72F85601F814}"/>
              </a:ext>
            </a:extLst>
          </p:cNvPr>
          <p:cNvSpPr>
            <a:spLocks noGrp="1"/>
          </p:cNvSpPr>
          <p:nvPr>
            <p:ph type="dt" sz="quarter" idx="10"/>
          </p:nvPr>
        </p:nvSpPr>
        <p:spPr/>
        <p:txBody>
          <a:bodyPr/>
          <a:lstStyle/>
          <a:p>
            <a:pPr>
              <a:defRPr/>
            </a:pPr>
            <a:r>
              <a:rPr lang="en-US" altLang="zh-CN"/>
              <a:t>BUPT</a:t>
            </a:r>
          </a:p>
        </p:txBody>
      </p:sp>
      <p:sp>
        <p:nvSpPr>
          <p:cNvPr id="6" name="Rectangle 2052">
            <a:extLst>
              <a:ext uri="{FF2B5EF4-FFF2-40B4-BE49-F238E27FC236}">
                <a16:creationId xmlns:a16="http://schemas.microsoft.com/office/drawing/2014/main" id="{F7F6B74D-91EB-442B-B785-4905AD5EBE93}"/>
              </a:ext>
            </a:extLst>
          </p:cNvPr>
          <p:cNvSpPr>
            <a:spLocks noChangeArrowheads="1"/>
          </p:cNvSpPr>
          <p:nvPr/>
        </p:nvSpPr>
        <p:spPr bwMode="auto">
          <a:xfrm>
            <a:off x="1341864" y="476672"/>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en-US" altLang="zh-CN" sz="3200" b="1" dirty="0">
                <a:solidFill>
                  <a:srgbClr val="FF3300"/>
                </a:solidFill>
              </a:rPr>
              <a:t>6.5 </a:t>
            </a:r>
            <a:r>
              <a:rPr lang="zh-CN" altLang="en-US" sz="3200" b="1" dirty="0">
                <a:solidFill>
                  <a:srgbClr val="FF3300"/>
                </a:solidFill>
              </a:rPr>
              <a:t>冒泡排序</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4">
            <a:extLst>
              <a:ext uri="{FF2B5EF4-FFF2-40B4-BE49-F238E27FC236}">
                <a16:creationId xmlns:a16="http://schemas.microsoft.com/office/drawing/2014/main" id="{27007028-A281-46C1-9D93-C710924C61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211638"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5">
            <a:extLst>
              <a:ext uri="{FF2B5EF4-FFF2-40B4-BE49-F238E27FC236}">
                <a16:creationId xmlns:a16="http://schemas.microsoft.com/office/drawing/2014/main" id="{598DE717-FF34-4C2B-972A-EC4E149190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0"/>
            <a:ext cx="4033837" cy="305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6">
            <a:extLst>
              <a:ext uri="{FF2B5EF4-FFF2-40B4-BE49-F238E27FC236}">
                <a16:creationId xmlns:a16="http://schemas.microsoft.com/office/drawing/2014/main" id="{15AA951D-B6B8-4758-B125-00C415AFAD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3357563"/>
            <a:ext cx="3122612"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7">
            <a:extLst>
              <a:ext uri="{FF2B5EF4-FFF2-40B4-BE49-F238E27FC236}">
                <a16:creationId xmlns:a16="http://schemas.microsoft.com/office/drawing/2014/main" id="{32341FBE-CF86-4695-B383-EB5BC970B4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363" y="3500438"/>
            <a:ext cx="2212975"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 Box 8">
            <a:extLst>
              <a:ext uri="{FF2B5EF4-FFF2-40B4-BE49-F238E27FC236}">
                <a16:creationId xmlns:a16="http://schemas.microsoft.com/office/drawing/2014/main" id="{19F4C2C1-0437-44EE-ABA8-F03E482DFDA3}"/>
              </a:ext>
            </a:extLst>
          </p:cNvPr>
          <p:cNvSpPr txBox="1">
            <a:spLocks noChangeArrowheads="1"/>
          </p:cNvSpPr>
          <p:nvPr/>
        </p:nvSpPr>
        <p:spPr bwMode="auto">
          <a:xfrm>
            <a:off x="1187450" y="2781300"/>
            <a:ext cx="230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FF"/>
                </a:solidFill>
              </a:rPr>
              <a:t>第一趟比较</a:t>
            </a:r>
          </a:p>
        </p:txBody>
      </p:sp>
      <p:sp>
        <p:nvSpPr>
          <p:cNvPr id="46" name="Text Box 9">
            <a:extLst>
              <a:ext uri="{FF2B5EF4-FFF2-40B4-BE49-F238E27FC236}">
                <a16:creationId xmlns:a16="http://schemas.microsoft.com/office/drawing/2014/main" id="{9BDE68CB-9A46-4163-AED1-204A4EC50599}"/>
              </a:ext>
            </a:extLst>
          </p:cNvPr>
          <p:cNvSpPr txBox="1">
            <a:spLocks noChangeArrowheads="1"/>
          </p:cNvSpPr>
          <p:nvPr/>
        </p:nvSpPr>
        <p:spPr bwMode="auto">
          <a:xfrm>
            <a:off x="6588125" y="2997200"/>
            <a:ext cx="230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FF"/>
                </a:solidFill>
              </a:rPr>
              <a:t>第二趟比较</a:t>
            </a:r>
          </a:p>
        </p:txBody>
      </p:sp>
      <p:sp>
        <p:nvSpPr>
          <p:cNvPr id="47" name="Text Box 10">
            <a:extLst>
              <a:ext uri="{FF2B5EF4-FFF2-40B4-BE49-F238E27FC236}">
                <a16:creationId xmlns:a16="http://schemas.microsoft.com/office/drawing/2014/main" id="{225DC1DB-7C47-4E0E-B0F9-09DA8819C325}"/>
              </a:ext>
            </a:extLst>
          </p:cNvPr>
          <p:cNvSpPr txBox="1">
            <a:spLocks noChangeArrowheads="1"/>
          </p:cNvSpPr>
          <p:nvPr/>
        </p:nvSpPr>
        <p:spPr bwMode="auto">
          <a:xfrm>
            <a:off x="3203575" y="4076700"/>
            <a:ext cx="230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FF"/>
                </a:solidFill>
              </a:rPr>
              <a:t>第三趟比较</a:t>
            </a:r>
          </a:p>
        </p:txBody>
      </p:sp>
      <p:sp>
        <p:nvSpPr>
          <p:cNvPr id="48" name="Text Box 11">
            <a:extLst>
              <a:ext uri="{FF2B5EF4-FFF2-40B4-BE49-F238E27FC236}">
                <a16:creationId xmlns:a16="http://schemas.microsoft.com/office/drawing/2014/main" id="{631108AF-2FF5-48DE-B02C-88EA162EB92C}"/>
              </a:ext>
            </a:extLst>
          </p:cNvPr>
          <p:cNvSpPr txBox="1">
            <a:spLocks noChangeArrowheads="1"/>
          </p:cNvSpPr>
          <p:nvPr/>
        </p:nvSpPr>
        <p:spPr bwMode="auto">
          <a:xfrm>
            <a:off x="7270750" y="4508500"/>
            <a:ext cx="187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solidFill>
                  <a:srgbClr val="0000FF"/>
                </a:solidFill>
              </a:rPr>
              <a:t>第四趟比较</a:t>
            </a:r>
          </a:p>
        </p:txBody>
      </p:sp>
      <p:sp>
        <p:nvSpPr>
          <p:cNvPr id="2" name="日期占位符 1">
            <a:extLst>
              <a:ext uri="{FF2B5EF4-FFF2-40B4-BE49-F238E27FC236}">
                <a16:creationId xmlns:a16="http://schemas.microsoft.com/office/drawing/2014/main" id="{11D65869-2369-466D-B0C0-E57CEF47E879}"/>
              </a:ext>
            </a:extLst>
          </p:cNvPr>
          <p:cNvSpPr>
            <a:spLocks noGrp="1"/>
          </p:cNvSpPr>
          <p:nvPr>
            <p:ph type="dt" sz="quarter" idx="10"/>
          </p:nvPr>
        </p:nvSpPr>
        <p:spPr/>
        <p:txBody>
          <a:bodyPr/>
          <a:lstStyle/>
          <a:p>
            <a:pPr>
              <a:defRPr/>
            </a:pPr>
            <a:r>
              <a:rPr lang="en-US" altLang="zh-CN"/>
              <a:t>BUPT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a:spLocks noChangeArrowheads="1"/>
          </p:cNvSpPr>
          <p:nvPr/>
        </p:nvSpPr>
        <p:spPr bwMode="auto">
          <a:xfrm>
            <a:off x="838200" y="1447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609600" indent="-6096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524000" indent="-609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Char char="Ø"/>
            </a:pPr>
            <a:r>
              <a:rPr lang="zh-CN" altLang="en-US" b="1" dirty="0"/>
              <a:t>线性表的基本操作</a:t>
            </a:r>
            <a:r>
              <a:rPr lang="en-US" altLang="zh-CN" b="1" dirty="0"/>
              <a:t>4</a:t>
            </a:r>
            <a:r>
              <a:rPr lang="en-US" altLang="zh-CN" b="1" dirty="0">
                <a:latin typeface="宋体" panose="02010600030101010101" pitchFamily="2" charset="-122"/>
              </a:rPr>
              <a:t>—</a:t>
            </a:r>
            <a:r>
              <a:rPr lang="zh-CN" altLang="en-US" b="1" dirty="0"/>
              <a:t>数组排序（</a:t>
            </a:r>
            <a:r>
              <a:rPr lang="zh-CN" altLang="en-US" b="1" dirty="0">
                <a:solidFill>
                  <a:srgbClr val="003399"/>
                </a:solidFill>
              </a:rPr>
              <a:t>冒泡排序</a:t>
            </a:r>
            <a:r>
              <a:rPr lang="zh-CN" altLang="en-US" b="1" dirty="0"/>
              <a:t>）</a:t>
            </a:r>
          </a:p>
        </p:txBody>
      </p:sp>
      <p:sp>
        <p:nvSpPr>
          <p:cNvPr id="88068" name="Rectangle 2052"/>
          <p:cNvSpPr>
            <a:spLocks noChangeArrowheads="1"/>
          </p:cNvSpPr>
          <p:nvPr/>
        </p:nvSpPr>
        <p:spPr bwMode="auto">
          <a:xfrm>
            <a:off x="1341864" y="476672"/>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en-US" altLang="zh-CN" sz="3200" b="1" dirty="0">
                <a:solidFill>
                  <a:srgbClr val="FF3300"/>
                </a:solidFill>
              </a:rPr>
              <a:t>6.5 </a:t>
            </a:r>
            <a:r>
              <a:rPr lang="zh-CN" altLang="en-US" sz="3200" b="1" dirty="0">
                <a:solidFill>
                  <a:srgbClr val="FF3300"/>
                </a:solidFill>
              </a:rPr>
              <a:t>冒泡排序</a:t>
            </a:r>
          </a:p>
        </p:txBody>
      </p:sp>
      <p:pic>
        <p:nvPicPr>
          <p:cNvPr id="4" name="图片 3">
            <a:extLst>
              <a:ext uri="{FF2B5EF4-FFF2-40B4-BE49-F238E27FC236}">
                <a16:creationId xmlns:a16="http://schemas.microsoft.com/office/drawing/2014/main" id="{8922A4BD-190E-433A-8186-1052B2C3DA27}"/>
              </a:ext>
            </a:extLst>
          </p:cNvPr>
          <p:cNvPicPr>
            <a:picLocks noChangeAspect="1"/>
          </p:cNvPicPr>
          <p:nvPr/>
        </p:nvPicPr>
        <p:blipFill>
          <a:blip r:embed="rId3"/>
          <a:stretch>
            <a:fillRect/>
          </a:stretch>
        </p:blipFill>
        <p:spPr>
          <a:xfrm>
            <a:off x="899592" y="2400300"/>
            <a:ext cx="7203276" cy="2828900"/>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E10196-C2B8-4674-8F27-D4FD1AB9D4FE}"/>
              </a:ext>
            </a:extLst>
          </p:cNvPr>
          <p:cNvSpPr>
            <a:spLocks noGrp="1"/>
          </p:cNvSpPr>
          <p:nvPr>
            <p:ph type="title"/>
          </p:nvPr>
        </p:nvSpPr>
        <p:spPr/>
        <p:txBody>
          <a:bodyPr/>
          <a:lstStyle/>
          <a:p>
            <a:r>
              <a:rPr lang="zh-CN" altLang="en-US" b="1" dirty="0"/>
              <a:t>冒泡排序算法</a:t>
            </a:r>
            <a:endParaRPr lang="zh-CN" altLang="en-US" dirty="0"/>
          </a:p>
        </p:txBody>
      </p:sp>
      <p:sp>
        <p:nvSpPr>
          <p:cNvPr id="3" name="内容占位符 2">
            <a:extLst>
              <a:ext uri="{FF2B5EF4-FFF2-40B4-BE49-F238E27FC236}">
                <a16:creationId xmlns:a16="http://schemas.microsoft.com/office/drawing/2014/main" id="{ACE1B5BE-FCBC-45DA-A911-9B29150B4DB9}"/>
              </a:ext>
            </a:extLst>
          </p:cNvPr>
          <p:cNvSpPr>
            <a:spLocks noGrp="1"/>
          </p:cNvSpPr>
          <p:nvPr>
            <p:ph idx="1"/>
          </p:nvPr>
        </p:nvSpPr>
        <p:spPr>
          <a:xfrm>
            <a:off x="468660" y="1268760"/>
            <a:ext cx="8206680" cy="4611687"/>
          </a:xfrm>
        </p:spPr>
        <p:txBody>
          <a:bodyPr/>
          <a:lstStyle/>
          <a:p>
            <a:pPr marL="0" indent="0">
              <a:buNone/>
            </a:pPr>
            <a:r>
              <a:rPr lang="en-US" altLang="zh-CN" sz="2200" dirty="0">
                <a:latin typeface="Consolas" panose="020B0609020204030204" pitchFamily="49" charset="0"/>
              </a:rPr>
              <a:t>void </a:t>
            </a:r>
            <a:r>
              <a:rPr lang="en-US" altLang="zh-CN" sz="2200" dirty="0" err="1">
                <a:latin typeface="Consolas" panose="020B0609020204030204" pitchFamily="49" charset="0"/>
              </a:rPr>
              <a:t>bubbleSort</a:t>
            </a:r>
            <a:r>
              <a:rPr lang="en-US" altLang="zh-CN" sz="2200" dirty="0">
                <a:latin typeface="Consolas" panose="020B0609020204030204" pitchFamily="49" charset="0"/>
              </a:rPr>
              <a:t>(int a[],int n){</a:t>
            </a:r>
          </a:p>
          <a:p>
            <a:pPr marL="0" indent="0">
              <a:buNone/>
            </a:pPr>
            <a:r>
              <a:rPr lang="en-US" altLang="zh-CN" sz="2200" dirty="0">
                <a:latin typeface="Consolas" panose="020B0609020204030204" pitchFamily="49" charset="0"/>
              </a:rPr>
              <a:t>    int </a:t>
            </a:r>
            <a:r>
              <a:rPr lang="en-US" altLang="zh-CN" sz="2200" dirty="0" err="1">
                <a:latin typeface="Consolas" panose="020B0609020204030204" pitchFamily="49" charset="0"/>
              </a:rPr>
              <a:t>i,j,tmp</a:t>
            </a:r>
            <a:r>
              <a:rPr lang="en-US" altLang="zh-CN" sz="2200" dirty="0">
                <a:latin typeface="Consolas" panose="020B0609020204030204" pitchFamily="49" charset="0"/>
              </a:rPr>
              <a:t>;</a:t>
            </a:r>
          </a:p>
          <a:p>
            <a:pPr marL="0" indent="0">
              <a:buNone/>
            </a:pPr>
            <a:r>
              <a:rPr lang="en-US" altLang="zh-CN" sz="2200" dirty="0">
                <a:latin typeface="Consolas" panose="020B0609020204030204" pitchFamily="49" charset="0"/>
              </a:rPr>
              <a:t>    for (</a:t>
            </a:r>
            <a:r>
              <a:rPr lang="en-US" altLang="zh-CN" sz="2200" dirty="0" err="1">
                <a:latin typeface="Consolas" panose="020B0609020204030204" pitchFamily="49" charset="0"/>
              </a:rPr>
              <a:t>i</a:t>
            </a:r>
            <a:r>
              <a:rPr lang="en-US" altLang="zh-CN" sz="2200" dirty="0">
                <a:latin typeface="Consolas" panose="020B0609020204030204" pitchFamily="49" charset="0"/>
              </a:rPr>
              <a:t>=</a:t>
            </a:r>
            <a:r>
              <a:rPr lang="en-US" altLang="zh-CN" sz="2200" dirty="0" err="1">
                <a:solidFill>
                  <a:srgbClr val="FF0000"/>
                </a:solidFill>
                <a:latin typeface="Consolas" panose="020B0609020204030204" pitchFamily="49" charset="0"/>
              </a:rPr>
              <a:t>1;i</a:t>
            </a:r>
            <a:r>
              <a:rPr lang="en-US" altLang="zh-CN" sz="2200" dirty="0">
                <a:solidFill>
                  <a:srgbClr val="FF0000"/>
                </a:solidFill>
                <a:latin typeface="Consolas" panose="020B0609020204030204" pitchFamily="49" charset="0"/>
              </a:rPr>
              <a:t>&lt;=</a:t>
            </a:r>
            <a:r>
              <a:rPr lang="en-US" altLang="zh-CN" sz="2200" dirty="0" err="1">
                <a:solidFill>
                  <a:srgbClr val="FF0000"/>
                </a:solidFill>
                <a:latin typeface="Consolas" panose="020B0609020204030204" pitchFamily="49" charset="0"/>
              </a:rPr>
              <a:t>n-1</a:t>
            </a:r>
            <a:r>
              <a:rPr lang="en-US" altLang="zh-CN" sz="2200" dirty="0" err="1">
                <a:latin typeface="Consolas" panose="020B0609020204030204" pitchFamily="49" charset="0"/>
              </a:rPr>
              <a:t>;i</a:t>
            </a:r>
            <a:r>
              <a:rPr lang="en-US" altLang="zh-CN" sz="2200" dirty="0">
                <a:latin typeface="Consolas" panose="020B0609020204030204" pitchFamily="49" charset="0"/>
              </a:rPr>
              <a:t>++){</a:t>
            </a:r>
          </a:p>
          <a:p>
            <a:pPr marL="0" indent="0">
              <a:buNone/>
            </a:pPr>
            <a:r>
              <a:rPr lang="en-US" altLang="zh-CN" sz="2200" dirty="0">
                <a:latin typeface="Consolas" panose="020B0609020204030204" pitchFamily="49" charset="0"/>
              </a:rPr>
              <a:t>        for (j=</a:t>
            </a:r>
            <a:r>
              <a:rPr lang="en-US" altLang="zh-CN" sz="2200" dirty="0" err="1">
                <a:latin typeface="Consolas" panose="020B0609020204030204" pitchFamily="49" charset="0"/>
              </a:rPr>
              <a:t>0;</a:t>
            </a:r>
            <a:r>
              <a:rPr lang="en-US" altLang="zh-CN" sz="2200" dirty="0" err="1">
                <a:solidFill>
                  <a:srgbClr val="FF0000"/>
                </a:solidFill>
                <a:latin typeface="Consolas" panose="020B0609020204030204" pitchFamily="49" charset="0"/>
              </a:rPr>
              <a:t>j</a:t>
            </a:r>
            <a:r>
              <a:rPr lang="en-US" altLang="zh-CN" sz="2200" dirty="0">
                <a:solidFill>
                  <a:srgbClr val="FF0000"/>
                </a:solidFill>
                <a:latin typeface="Consolas" panose="020B0609020204030204" pitchFamily="49" charset="0"/>
              </a:rPr>
              <a:t>&lt;=</a:t>
            </a:r>
            <a:r>
              <a:rPr lang="en-US" altLang="zh-CN" sz="2200" dirty="0" err="1">
                <a:solidFill>
                  <a:srgbClr val="FF0000"/>
                </a:solidFill>
                <a:latin typeface="Consolas" panose="020B0609020204030204" pitchFamily="49" charset="0"/>
              </a:rPr>
              <a:t>n-1-i</a:t>
            </a:r>
            <a:r>
              <a:rPr lang="en-US" altLang="zh-CN" sz="2200" dirty="0" err="1">
                <a:latin typeface="Consolas" panose="020B0609020204030204" pitchFamily="49" charset="0"/>
              </a:rPr>
              <a:t>;j</a:t>
            </a:r>
            <a:r>
              <a:rPr lang="en-US" altLang="zh-CN" sz="2200" dirty="0">
                <a:latin typeface="Consolas" panose="020B0609020204030204" pitchFamily="49" charset="0"/>
              </a:rPr>
              <a:t>++){</a:t>
            </a:r>
          </a:p>
          <a:p>
            <a:pPr marL="0" indent="0">
              <a:buNone/>
            </a:pPr>
            <a:r>
              <a:rPr lang="en-US" altLang="zh-CN" sz="2200" dirty="0">
                <a:latin typeface="Consolas" panose="020B0609020204030204" pitchFamily="49" charset="0"/>
              </a:rPr>
              <a:t>            if (a[j]&gt;a[</a:t>
            </a:r>
            <a:r>
              <a:rPr lang="en-US" altLang="zh-CN" sz="2200" dirty="0" err="1">
                <a:latin typeface="Consolas" panose="020B0609020204030204" pitchFamily="49" charset="0"/>
              </a:rPr>
              <a:t>j+1</a:t>
            </a:r>
            <a:r>
              <a:rPr lang="en-US" altLang="zh-CN" sz="2200" dirty="0">
                <a:latin typeface="Consolas" panose="020B0609020204030204" pitchFamily="49" charset="0"/>
              </a:rPr>
              <a:t>]){</a:t>
            </a:r>
          </a:p>
          <a:p>
            <a:pPr marL="0" indent="0">
              <a:buNone/>
            </a:pPr>
            <a:r>
              <a:rPr lang="en-US" altLang="zh-CN" sz="2200" dirty="0">
                <a:latin typeface="Consolas" panose="020B0609020204030204" pitchFamily="49" charset="0"/>
              </a:rPr>
              <a:t>                </a:t>
            </a:r>
            <a:r>
              <a:rPr lang="en-US" altLang="zh-CN" sz="2200" dirty="0" err="1">
                <a:latin typeface="Consolas" panose="020B0609020204030204" pitchFamily="49" charset="0"/>
              </a:rPr>
              <a:t>tmp</a:t>
            </a:r>
            <a:r>
              <a:rPr lang="en-US" altLang="zh-CN" sz="2200" dirty="0">
                <a:latin typeface="Consolas" panose="020B0609020204030204" pitchFamily="49" charset="0"/>
              </a:rPr>
              <a:t>=a[j];</a:t>
            </a:r>
          </a:p>
          <a:p>
            <a:pPr marL="0" indent="0">
              <a:buNone/>
            </a:pPr>
            <a:r>
              <a:rPr lang="en-US" altLang="zh-CN" sz="2200" dirty="0">
                <a:latin typeface="Consolas" panose="020B0609020204030204" pitchFamily="49" charset="0"/>
              </a:rPr>
              <a:t>                a[j]=a[</a:t>
            </a:r>
            <a:r>
              <a:rPr lang="en-US" altLang="zh-CN" sz="2200" dirty="0" err="1">
                <a:latin typeface="Consolas" panose="020B0609020204030204" pitchFamily="49" charset="0"/>
              </a:rPr>
              <a:t>j+1</a:t>
            </a:r>
            <a:r>
              <a:rPr lang="en-US" altLang="zh-CN" sz="2200" dirty="0">
                <a:latin typeface="Consolas" panose="020B0609020204030204" pitchFamily="49" charset="0"/>
              </a:rPr>
              <a:t>];</a:t>
            </a:r>
          </a:p>
          <a:p>
            <a:pPr marL="0" indent="0">
              <a:buNone/>
            </a:pPr>
            <a:r>
              <a:rPr lang="en-US" altLang="zh-CN" sz="2200" dirty="0">
                <a:latin typeface="Consolas" panose="020B0609020204030204" pitchFamily="49" charset="0"/>
              </a:rPr>
              <a:t>                a[</a:t>
            </a:r>
            <a:r>
              <a:rPr lang="en-US" altLang="zh-CN" sz="2200" dirty="0" err="1">
                <a:latin typeface="Consolas" panose="020B0609020204030204" pitchFamily="49" charset="0"/>
              </a:rPr>
              <a:t>j+1</a:t>
            </a:r>
            <a:r>
              <a:rPr lang="en-US" altLang="zh-CN" sz="2200" dirty="0">
                <a:latin typeface="Consolas" panose="020B0609020204030204" pitchFamily="49" charset="0"/>
              </a:rPr>
              <a:t>]=</a:t>
            </a:r>
            <a:r>
              <a:rPr lang="en-US" altLang="zh-CN" sz="2200" dirty="0" err="1">
                <a:latin typeface="Consolas" panose="020B0609020204030204" pitchFamily="49" charset="0"/>
              </a:rPr>
              <a:t>tmp</a:t>
            </a:r>
            <a:r>
              <a:rPr lang="en-US" altLang="zh-CN" sz="2200" dirty="0">
                <a:latin typeface="Consolas" panose="020B0609020204030204" pitchFamily="49" charset="0"/>
              </a:rPr>
              <a:t>;</a:t>
            </a:r>
          </a:p>
          <a:p>
            <a:pPr marL="0" indent="0">
              <a:buNone/>
            </a:pPr>
            <a:r>
              <a:rPr lang="en-US" altLang="zh-CN" sz="2200" dirty="0">
                <a:latin typeface="Consolas" panose="020B0609020204030204" pitchFamily="49" charset="0"/>
              </a:rPr>
              <a:t>            }</a:t>
            </a:r>
          </a:p>
          <a:p>
            <a:pPr marL="0" indent="0">
              <a:buNone/>
            </a:pPr>
            <a:r>
              <a:rPr lang="en-US" altLang="zh-CN" sz="2200" dirty="0">
                <a:latin typeface="Consolas" panose="020B0609020204030204" pitchFamily="49" charset="0"/>
              </a:rPr>
              <a:t>        }</a:t>
            </a:r>
          </a:p>
          <a:p>
            <a:pPr marL="0" indent="0">
              <a:buNone/>
            </a:pPr>
            <a:r>
              <a:rPr lang="en-US" altLang="zh-CN" sz="2200" dirty="0">
                <a:latin typeface="Consolas" panose="020B0609020204030204" pitchFamily="49" charset="0"/>
              </a:rPr>
              <a:t>    }</a:t>
            </a:r>
          </a:p>
          <a:p>
            <a:pPr marL="0" indent="0">
              <a:buNone/>
            </a:pPr>
            <a:r>
              <a:rPr lang="en-US" altLang="zh-CN" sz="2200" dirty="0">
                <a:latin typeface="Consolas" panose="020B0609020204030204" pitchFamily="49" charset="0"/>
              </a:rPr>
              <a:t>}</a:t>
            </a:r>
            <a:endParaRPr lang="zh-CN" altLang="en-US" sz="2200" dirty="0">
              <a:latin typeface="Consolas" panose="020B0609020204030204" pitchFamily="49" charset="0"/>
            </a:endParaRPr>
          </a:p>
        </p:txBody>
      </p:sp>
    </p:spTree>
    <p:extLst>
      <p:ext uri="{BB962C8B-B14F-4D97-AF65-F5344CB8AC3E}">
        <p14:creationId xmlns:p14="http://schemas.microsoft.com/office/powerpoint/2010/main" val="233529314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7C87E-E00B-381C-5CED-A7FC071EC5B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189C2D-017F-C94A-8046-E1EBCDD9292D}"/>
              </a:ext>
            </a:extLst>
          </p:cNvPr>
          <p:cNvSpPr>
            <a:spLocks noGrp="1"/>
          </p:cNvSpPr>
          <p:nvPr>
            <p:ph idx="1"/>
          </p:nvPr>
        </p:nvSpPr>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10</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(const int a[],int n);</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bubbleSort</a:t>
            </a:r>
            <a:r>
              <a:rPr lang="en-US" altLang="zh-CN" sz="2000" dirty="0">
                <a:latin typeface="Consolas" panose="020B0609020204030204" pitchFamily="49" charset="0"/>
              </a:rPr>
              <a:t>(int a[],int n); </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int a[SIZE]={2,1,6,9,8,36,27,25,12,7};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bubbleSort</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return</a:t>
            </a:r>
            <a:r>
              <a:rPr lang="zh-CN" altLang="en-US" sz="2000" dirty="0">
                <a:latin typeface="Consolas" panose="020B0609020204030204" pitchFamily="49" charset="0"/>
              </a:rPr>
              <a:t> </a:t>
            </a:r>
            <a:r>
              <a:rPr lang="en-US" altLang="zh-CN" sz="2000" dirty="0">
                <a:latin typeface="Consolas" panose="020B0609020204030204" pitchFamily="49" charset="0"/>
              </a:rPr>
              <a:t>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403365405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p:txBody>
          <a:bodyPr/>
          <a:lstStyle/>
          <a:p>
            <a:pPr eaLnBrk="1" hangingPunct="1"/>
            <a:r>
              <a:rPr lang="zh-CN" altLang="en-US" b="1" dirty="0"/>
              <a:t>冒泡排序算法改进</a:t>
            </a:r>
            <a:r>
              <a:rPr lang="en-US" altLang="zh-CN" b="1" dirty="0"/>
              <a:t>-</a:t>
            </a:r>
            <a:r>
              <a:rPr lang="zh-CN" altLang="en-US" b="1" dirty="0"/>
              <a:t>没有交换就终止</a:t>
            </a:r>
          </a:p>
        </p:txBody>
      </p:sp>
      <p:sp>
        <p:nvSpPr>
          <p:cNvPr id="93188" name="Rectangle 3"/>
          <p:cNvSpPr>
            <a:spLocks noGrp="1" noChangeArrowheads="1"/>
          </p:cNvSpPr>
          <p:nvPr>
            <p:ph type="body" idx="1"/>
          </p:nvPr>
        </p:nvSpPr>
        <p:spPr>
          <a:xfrm>
            <a:off x="467544" y="1196752"/>
            <a:ext cx="7989888" cy="4989512"/>
          </a:xfrm>
        </p:spPr>
        <p:txBody>
          <a:bodyPr/>
          <a:lstStyle/>
          <a:p>
            <a:pPr eaLnBrk="1" hangingPunct="1">
              <a:lnSpc>
                <a:spcPct val="80000"/>
              </a:lnSpc>
              <a:buFontTx/>
              <a:buNone/>
            </a:pPr>
            <a:r>
              <a:rPr lang="en-US" altLang="zh-CN" sz="2200" dirty="0">
                <a:latin typeface="Consolas" panose="020B0609020204030204" pitchFamily="49" charset="0"/>
              </a:rPr>
              <a:t>int </a:t>
            </a:r>
            <a:r>
              <a:rPr lang="en-US" altLang="zh-CN" sz="2200" dirty="0" err="1">
                <a:latin typeface="Consolas" panose="020B0609020204030204" pitchFamily="49" charset="0"/>
              </a:rPr>
              <a:t>bubbleSort2</a:t>
            </a:r>
            <a:r>
              <a:rPr lang="en-US" altLang="zh-CN" sz="2200" dirty="0">
                <a:latin typeface="Consolas" panose="020B0609020204030204" pitchFamily="49" charset="0"/>
              </a:rPr>
              <a:t>(int a[],int n)</a:t>
            </a:r>
          </a:p>
          <a:p>
            <a:pPr eaLnBrk="1" hangingPunct="1">
              <a:lnSpc>
                <a:spcPct val="80000"/>
              </a:lnSpc>
              <a:buFontTx/>
              <a:buNone/>
            </a:pPr>
            <a:r>
              <a:rPr lang="en-US" altLang="zh-CN" sz="2200" dirty="0">
                <a:latin typeface="Consolas" panose="020B0609020204030204" pitchFamily="49" charset="0"/>
              </a:rPr>
              <a:t>{</a:t>
            </a:r>
          </a:p>
          <a:p>
            <a:pPr eaLnBrk="1" hangingPunct="1">
              <a:lnSpc>
                <a:spcPct val="80000"/>
              </a:lnSpc>
              <a:buFontTx/>
              <a:buNone/>
            </a:pPr>
            <a:r>
              <a:rPr lang="en-US" altLang="zh-CN" sz="2200" dirty="0">
                <a:latin typeface="Consolas" panose="020B0609020204030204" pitchFamily="49" charset="0"/>
              </a:rPr>
              <a:t>	int </a:t>
            </a:r>
            <a:r>
              <a:rPr lang="en-US" altLang="zh-CN" sz="2200" dirty="0" err="1">
                <a:latin typeface="Consolas" panose="020B0609020204030204" pitchFamily="49" charset="0"/>
              </a:rPr>
              <a:t>i,j,tmp,</a:t>
            </a:r>
            <a:r>
              <a:rPr lang="en-US" altLang="zh-CN" sz="2200" dirty="0" err="1">
                <a:solidFill>
                  <a:srgbClr val="FF0000"/>
                </a:solidFill>
                <a:latin typeface="Consolas" panose="020B0609020204030204" pitchFamily="49" charset="0"/>
              </a:rPr>
              <a:t>swap</a:t>
            </a:r>
            <a:r>
              <a:rPr lang="en-US" altLang="zh-CN" sz="2200" dirty="0">
                <a:latin typeface="Consolas" panose="020B0609020204030204" pitchFamily="49" charset="0"/>
              </a:rPr>
              <a:t>;</a:t>
            </a:r>
          </a:p>
          <a:p>
            <a:pPr eaLnBrk="1" hangingPunct="1">
              <a:lnSpc>
                <a:spcPct val="80000"/>
              </a:lnSpc>
              <a:buFontTx/>
              <a:buNone/>
            </a:pPr>
            <a:r>
              <a:rPr lang="en-US" altLang="zh-CN" sz="800" dirty="0">
                <a:latin typeface="Consolas" panose="020B0609020204030204" pitchFamily="49" charset="0"/>
              </a:rPr>
              <a:t>	</a:t>
            </a:r>
          </a:p>
          <a:p>
            <a:pPr eaLnBrk="1" hangingPunct="1">
              <a:lnSpc>
                <a:spcPct val="80000"/>
              </a:lnSpc>
              <a:buFontTx/>
              <a:buNone/>
            </a:pPr>
            <a:r>
              <a:rPr lang="en-US" altLang="zh-CN" sz="2200" dirty="0">
                <a:latin typeface="Consolas" panose="020B0609020204030204" pitchFamily="49" charset="0"/>
              </a:rPr>
              <a:t>	for(</a:t>
            </a:r>
            <a:r>
              <a:rPr lang="en-US" altLang="zh-CN" sz="2200" dirty="0" err="1">
                <a:latin typeface="Consolas" panose="020B0609020204030204" pitchFamily="49" charset="0"/>
              </a:rPr>
              <a:t>i</a:t>
            </a:r>
            <a:r>
              <a:rPr lang="en-US" altLang="zh-CN" sz="2200" dirty="0">
                <a:latin typeface="Consolas" panose="020B0609020204030204" pitchFamily="49" charset="0"/>
              </a:rPr>
              <a:t>=</a:t>
            </a:r>
            <a:r>
              <a:rPr lang="en-US" altLang="zh-CN" sz="2200" dirty="0" err="1">
                <a:latin typeface="Consolas" panose="020B0609020204030204" pitchFamily="49" charset="0"/>
              </a:rPr>
              <a:t>1,</a:t>
            </a:r>
            <a:r>
              <a:rPr lang="en-US" altLang="zh-CN" sz="2200" dirty="0" err="1">
                <a:solidFill>
                  <a:srgbClr val="FF0000"/>
                </a:solidFill>
                <a:latin typeface="Consolas" panose="020B0609020204030204" pitchFamily="49" charset="0"/>
              </a:rPr>
              <a:t>swap</a:t>
            </a:r>
            <a:r>
              <a:rPr lang="en-US" altLang="zh-CN" sz="2200" dirty="0">
                <a:solidFill>
                  <a:srgbClr val="FF0000"/>
                </a:solidFill>
                <a:latin typeface="Consolas" panose="020B0609020204030204" pitchFamily="49" charset="0"/>
              </a:rPr>
              <a:t>=1</a:t>
            </a:r>
            <a:r>
              <a:rPr lang="en-US" altLang="zh-CN" sz="2200" dirty="0">
                <a:latin typeface="Consolas" panose="020B0609020204030204" pitchFamily="49" charset="0"/>
              </a:rPr>
              <a:t>; </a:t>
            </a:r>
            <a:r>
              <a:rPr lang="en-US" altLang="zh-CN" sz="2200" dirty="0" err="1">
                <a:latin typeface="Consolas" panose="020B0609020204030204" pitchFamily="49" charset="0"/>
              </a:rPr>
              <a:t>i</a:t>
            </a:r>
            <a:r>
              <a:rPr lang="en-US" altLang="zh-CN" sz="2200" dirty="0">
                <a:latin typeface="Consolas" panose="020B0609020204030204" pitchFamily="49" charset="0"/>
              </a:rPr>
              <a:t>&lt;=n-1 &amp;&amp; </a:t>
            </a:r>
            <a:r>
              <a:rPr lang="en-US" altLang="zh-CN" sz="2200" dirty="0">
                <a:solidFill>
                  <a:srgbClr val="FF0000"/>
                </a:solidFill>
                <a:latin typeface="Consolas" panose="020B0609020204030204" pitchFamily="49" charset="0"/>
              </a:rPr>
              <a:t>swap&gt;0</a:t>
            </a:r>
            <a:r>
              <a:rPr lang="en-US" altLang="zh-CN" sz="2200" dirty="0">
                <a:latin typeface="Consolas" panose="020B0609020204030204" pitchFamily="49" charset="0"/>
              </a:rPr>
              <a:t>; </a:t>
            </a:r>
            <a:r>
              <a:rPr lang="en-US" altLang="zh-CN" sz="2200" dirty="0" err="1">
                <a:latin typeface="Consolas" panose="020B0609020204030204" pitchFamily="49" charset="0"/>
              </a:rPr>
              <a:t>i</a:t>
            </a:r>
            <a:r>
              <a:rPr lang="en-US" altLang="zh-CN" sz="2200" dirty="0">
                <a:latin typeface="Consolas" panose="020B0609020204030204" pitchFamily="49" charset="0"/>
              </a:rPr>
              <a:t>++){ </a:t>
            </a:r>
            <a:endParaRPr lang="en-US" altLang="zh-CN" sz="2200" dirty="0">
              <a:solidFill>
                <a:srgbClr val="FF0000"/>
              </a:solidFill>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rPr>
              <a:t>	    for(j=</a:t>
            </a:r>
            <a:r>
              <a:rPr lang="en-US" altLang="zh-CN" sz="2200" dirty="0" err="1">
                <a:latin typeface="Consolas" panose="020B0609020204030204" pitchFamily="49" charset="0"/>
              </a:rPr>
              <a:t>0,</a:t>
            </a:r>
            <a:r>
              <a:rPr lang="en-US" altLang="zh-CN" sz="2200" dirty="0" err="1">
                <a:solidFill>
                  <a:srgbClr val="FF0000"/>
                </a:solidFill>
                <a:latin typeface="Consolas" panose="020B0609020204030204" pitchFamily="49" charset="0"/>
              </a:rPr>
              <a:t>swap</a:t>
            </a:r>
            <a:r>
              <a:rPr lang="en-US" altLang="zh-CN" sz="2200" dirty="0">
                <a:solidFill>
                  <a:srgbClr val="FF0000"/>
                </a:solidFill>
                <a:latin typeface="Consolas" panose="020B0609020204030204" pitchFamily="49" charset="0"/>
              </a:rPr>
              <a:t>=0</a:t>
            </a:r>
            <a:r>
              <a:rPr lang="en-US" altLang="zh-CN" sz="2200" dirty="0">
                <a:latin typeface="Consolas" panose="020B0609020204030204" pitchFamily="49" charset="0"/>
              </a:rPr>
              <a:t>; j&lt;=n-1-</a:t>
            </a:r>
            <a:r>
              <a:rPr lang="en-US" altLang="zh-CN" sz="2200" dirty="0" err="1">
                <a:latin typeface="Consolas" panose="020B0609020204030204" pitchFamily="49" charset="0"/>
              </a:rPr>
              <a:t>i</a:t>
            </a:r>
            <a:r>
              <a:rPr lang="en-US" altLang="zh-CN" sz="2200" dirty="0">
                <a:latin typeface="Consolas" panose="020B0609020204030204" pitchFamily="49" charset="0"/>
              </a:rPr>
              <a:t>; </a:t>
            </a:r>
            <a:r>
              <a:rPr lang="en-US" altLang="zh-CN" sz="2200" dirty="0" err="1">
                <a:latin typeface="Consolas" panose="020B0609020204030204" pitchFamily="49" charset="0"/>
              </a:rPr>
              <a:t>j++</a:t>
            </a:r>
            <a:r>
              <a:rPr lang="en-US" altLang="zh-CN" sz="2200" dirty="0">
                <a:latin typeface="Consolas" panose="020B0609020204030204" pitchFamily="49" charset="0"/>
              </a:rPr>
              <a:t>){    </a:t>
            </a:r>
          </a:p>
          <a:p>
            <a:pPr eaLnBrk="1" hangingPunct="1">
              <a:lnSpc>
                <a:spcPct val="80000"/>
              </a:lnSpc>
              <a:buFontTx/>
              <a:buNone/>
            </a:pPr>
            <a:r>
              <a:rPr lang="en-US" altLang="zh-CN" sz="2200" dirty="0">
                <a:latin typeface="Consolas" panose="020B0609020204030204" pitchFamily="49" charset="0"/>
              </a:rPr>
              <a:t>		   if(a[j] &gt; a[</a:t>
            </a:r>
            <a:r>
              <a:rPr lang="en-US" altLang="zh-CN" sz="2200" dirty="0" err="1">
                <a:latin typeface="Consolas" panose="020B0609020204030204" pitchFamily="49" charset="0"/>
              </a:rPr>
              <a:t>j+1</a:t>
            </a:r>
            <a:r>
              <a:rPr lang="en-US" altLang="zh-CN" sz="2200" dirty="0">
                <a:latin typeface="Consolas" panose="020B0609020204030204" pitchFamily="49" charset="0"/>
              </a:rPr>
              <a:t>]){</a:t>
            </a:r>
            <a:endParaRPr lang="en-US" altLang="zh-CN" sz="2200" dirty="0">
              <a:solidFill>
                <a:schemeClr val="accent2"/>
              </a:solidFill>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rPr>
              <a:t>		     </a:t>
            </a:r>
            <a:r>
              <a:rPr lang="en-US" altLang="zh-CN" sz="2200" dirty="0" err="1">
                <a:latin typeface="Consolas" panose="020B0609020204030204" pitchFamily="49" charset="0"/>
              </a:rPr>
              <a:t>tmp</a:t>
            </a:r>
            <a:r>
              <a:rPr lang="en-US" altLang="zh-CN" sz="2200" dirty="0">
                <a:latin typeface="Consolas" panose="020B0609020204030204" pitchFamily="49" charset="0"/>
              </a:rPr>
              <a:t> = a[j];</a:t>
            </a:r>
          </a:p>
          <a:p>
            <a:pPr eaLnBrk="1" hangingPunct="1">
              <a:lnSpc>
                <a:spcPct val="80000"/>
              </a:lnSpc>
              <a:buFontTx/>
              <a:buNone/>
            </a:pPr>
            <a:r>
              <a:rPr lang="en-US" altLang="zh-CN" sz="2200" dirty="0">
                <a:latin typeface="Consolas" panose="020B0609020204030204" pitchFamily="49" charset="0"/>
              </a:rPr>
              <a:t>		     a[j] = a[</a:t>
            </a:r>
            <a:r>
              <a:rPr lang="en-US" altLang="zh-CN" sz="2200" dirty="0" err="1">
                <a:latin typeface="Consolas" panose="020B0609020204030204" pitchFamily="49" charset="0"/>
              </a:rPr>
              <a:t>j+1</a:t>
            </a:r>
            <a:r>
              <a:rPr lang="en-US" altLang="zh-CN" sz="2200" dirty="0">
                <a:latin typeface="Consolas" panose="020B0609020204030204" pitchFamily="49" charset="0"/>
              </a:rPr>
              <a:t>];</a:t>
            </a:r>
          </a:p>
          <a:p>
            <a:pPr eaLnBrk="1" hangingPunct="1">
              <a:lnSpc>
                <a:spcPct val="80000"/>
              </a:lnSpc>
              <a:buFontTx/>
              <a:buNone/>
            </a:pPr>
            <a:r>
              <a:rPr lang="en-US" altLang="zh-CN" sz="2200" dirty="0">
                <a:latin typeface="Consolas" panose="020B0609020204030204" pitchFamily="49" charset="0"/>
              </a:rPr>
              <a:t>		     a[</a:t>
            </a:r>
            <a:r>
              <a:rPr lang="en-US" altLang="zh-CN" sz="2200" dirty="0" err="1">
                <a:latin typeface="Consolas" panose="020B0609020204030204" pitchFamily="49" charset="0"/>
              </a:rPr>
              <a:t>j+1</a:t>
            </a:r>
            <a:r>
              <a:rPr lang="en-US" altLang="zh-CN" sz="2200" dirty="0">
                <a:latin typeface="Consolas" panose="020B0609020204030204" pitchFamily="49" charset="0"/>
              </a:rPr>
              <a:t>] = </a:t>
            </a:r>
            <a:r>
              <a:rPr lang="en-US" altLang="zh-CN" sz="2200" dirty="0" err="1">
                <a:latin typeface="Consolas" panose="020B0609020204030204" pitchFamily="49" charset="0"/>
              </a:rPr>
              <a:t>tmp</a:t>
            </a:r>
            <a:r>
              <a:rPr lang="en-US" altLang="zh-CN" sz="2200" dirty="0">
                <a:latin typeface="Consolas" panose="020B0609020204030204" pitchFamily="49" charset="0"/>
              </a:rPr>
              <a:t>;</a:t>
            </a:r>
          </a:p>
          <a:p>
            <a:pPr eaLnBrk="1" hangingPunct="1">
              <a:lnSpc>
                <a:spcPct val="80000"/>
              </a:lnSpc>
              <a:buFontTx/>
              <a:buNone/>
            </a:pPr>
            <a:r>
              <a:rPr lang="en-US" altLang="zh-CN" sz="2200" dirty="0">
                <a:latin typeface="Consolas" panose="020B0609020204030204" pitchFamily="49" charset="0"/>
              </a:rPr>
              <a:t>		     </a:t>
            </a:r>
            <a:r>
              <a:rPr lang="en-US" altLang="zh-CN" sz="2200" dirty="0">
                <a:solidFill>
                  <a:srgbClr val="FF0000"/>
                </a:solidFill>
                <a:latin typeface="Consolas" panose="020B0609020204030204" pitchFamily="49" charset="0"/>
              </a:rPr>
              <a:t>swap++;</a:t>
            </a:r>
          </a:p>
          <a:p>
            <a:pPr eaLnBrk="1" hangingPunct="1">
              <a:lnSpc>
                <a:spcPct val="80000"/>
              </a:lnSpc>
              <a:buFontTx/>
              <a:buNone/>
            </a:pPr>
            <a:r>
              <a:rPr lang="en-US" altLang="zh-CN" sz="2200" dirty="0">
                <a:latin typeface="Consolas" panose="020B0609020204030204" pitchFamily="49" charset="0"/>
              </a:rPr>
              <a:t>		   }</a:t>
            </a:r>
          </a:p>
          <a:p>
            <a:pPr eaLnBrk="1" hangingPunct="1">
              <a:lnSpc>
                <a:spcPct val="80000"/>
              </a:lnSpc>
              <a:buFontTx/>
              <a:buNone/>
            </a:pPr>
            <a:r>
              <a:rPr lang="en-US" altLang="zh-CN" sz="2200" dirty="0">
                <a:latin typeface="Consolas" panose="020B0609020204030204" pitchFamily="49" charset="0"/>
              </a:rPr>
              <a:t>		}</a:t>
            </a:r>
          </a:p>
          <a:p>
            <a:pPr eaLnBrk="1" hangingPunct="1">
              <a:lnSpc>
                <a:spcPct val="80000"/>
              </a:lnSpc>
              <a:buFontTx/>
              <a:buNone/>
            </a:pPr>
            <a:r>
              <a:rPr lang="en-US" altLang="zh-CN" sz="2200" dirty="0">
                <a:latin typeface="Consolas" panose="020B0609020204030204" pitchFamily="49" charset="0"/>
              </a:rPr>
              <a:t>	}</a:t>
            </a:r>
          </a:p>
          <a:p>
            <a:pPr eaLnBrk="1" hangingPunct="1">
              <a:lnSpc>
                <a:spcPct val="80000"/>
              </a:lnSpc>
              <a:buFontTx/>
              <a:buNone/>
            </a:pPr>
            <a:r>
              <a:rPr lang="en-US" altLang="zh-CN" sz="2200" dirty="0">
                <a:latin typeface="Consolas" panose="020B0609020204030204" pitchFamily="49" charset="0"/>
              </a:rPr>
              <a:t>	return </a:t>
            </a:r>
            <a:r>
              <a:rPr lang="en-US" altLang="zh-CN" sz="2200" dirty="0" err="1">
                <a:latin typeface="Consolas" panose="020B0609020204030204" pitchFamily="49" charset="0"/>
              </a:rPr>
              <a:t>i</a:t>
            </a:r>
            <a:r>
              <a:rPr lang="en-US" altLang="zh-CN" sz="2200" dirty="0">
                <a:latin typeface="Consolas" panose="020B0609020204030204" pitchFamily="49" charset="0"/>
              </a:rPr>
              <a:t>;//</a:t>
            </a:r>
            <a:r>
              <a:rPr lang="zh-CN" altLang="en-US" sz="2200" dirty="0">
                <a:latin typeface="Consolas" panose="020B0609020204030204" pitchFamily="49" charset="0"/>
              </a:rPr>
              <a:t>返回排序的趟数</a:t>
            </a:r>
            <a:r>
              <a:rPr lang="en-US" altLang="zh-CN" sz="2200" dirty="0">
                <a:latin typeface="Consolas" panose="020B0609020204030204" pitchFamily="49" charset="0"/>
              </a:rPr>
              <a:t> </a:t>
            </a:r>
          </a:p>
          <a:p>
            <a:pPr eaLnBrk="1" hangingPunct="1">
              <a:lnSpc>
                <a:spcPct val="80000"/>
              </a:lnSpc>
              <a:buFontTx/>
              <a:buNone/>
            </a:pPr>
            <a:r>
              <a:rPr lang="en-US" altLang="zh-CN" sz="2200" dirty="0">
                <a:latin typeface="Consolas" panose="020B0609020204030204" pitchFamily="49" charset="0"/>
              </a:rPr>
              <a:t>}</a:t>
            </a:r>
            <a:endParaRPr lang="zh-CN" altLang="en-US" sz="2200" dirty="0">
              <a:latin typeface="Consolas" panose="020B0609020204030204" pitchFamily="49"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7C87E-E00B-381C-5CED-A7FC071EC5B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189C2D-017F-C94A-8046-E1EBCDD9292D}"/>
              </a:ext>
            </a:extLst>
          </p:cNvPr>
          <p:cNvSpPr>
            <a:spLocks noGrp="1"/>
          </p:cNvSpPr>
          <p:nvPr>
            <p:ph idx="1"/>
          </p:nvPr>
        </p:nvSpPr>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10</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(const int a[],int n);</a:t>
            </a:r>
          </a:p>
          <a:p>
            <a:pPr marL="0" indent="0">
              <a:buNone/>
            </a:pPr>
            <a:r>
              <a:rPr lang="en-US" altLang="zh-CN" sz="2000" dirty="0">
                <a:latin typeface="Consolas" panose="020B0609020204030204" pitchFamily="49" charset="0"/>
              </a:rPr>
              <a:t>int </a:t>
            </a:r>
            <a:r>
              <a:rPr lang="en-US" altLang="zh-CN" sz="2000" dirty="0" err="1">
                <a:latin typeface="Consolas" panose="020B0609020204030204" pitchFamily="49" charset="0"/>
              </a:rPr>
              <a:t>bubbleSort2</a:t>
            </a:r>
            <a:r>
              <a:rPr lang="en-US" altLang="zh-CN" sz="2000" dirty="0">
                <a:latin typeface="Consolas" panose="020B0609020204030204" pitchFamily="49" charset="0"/>
              </a:rPr>
              <a:t>(int a[],int n); </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int a[SIZE]={2,1,6,9,8,36,27,25,12,7};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 </a:t>
            </a:r>
          </a:p>
          <a:p>
            <a:pPr marL="0" indent="0">
              <a:buNone/>
            </a:pPr>
            <a:r>
              <a:rPr lang="en-US" altLang="zh-CN" sz="2000" dirty="0">
                <a:latin typeface="Consolas" panose="020B0609020204030204" pitchFamily="49" charset="0"/>
              </a:rPr>
              <a:t>	int </a:t>
            </a:r>
            <a:r>
              <a:rPr lang="en-US" altLang="zh-CN" sz="2000" dirty="0" err="1">
                <a:latin typeface="Consolas" panose="020B0609020204030204" pitchFamily="49" charset="0"/>
              </a:rPr>
              <a:t>cnt</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cnt</a:t>
            </a:r>
            <a:r>
              <a:rPr lang="en-US" altLang="zh-CN" sz="2000" dirty="0">
                <a:latin typeface="Consolas" panose="020B0609020204030204" pitchFamily="49" charset="0"/>
              </a:rPr>
              <a:t>=</a:t>
            </a:r>
            <a:r>
              <a:rPr lang="en-US" altLang="zh-CN" sz="2000" dirty="0" err="1">
                <a:latin typeface="Consolas" panose="020B0609020204030204" pitchFamily="49" charset="0"/>
              </a:rPr>
              <a:t>bubbleSort2</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 </a:t>
            </a:r>
          </a:p>
          <a:p>
            <a:pPr marL="0" indent="0">
              <a:buNone/>
            </a:pPr>
            <a:r>
              <a:rPr lang="pt-BR" altLang="zh-CN" sz="2000" dirty="0">
                <a:latin typeface="Consolas" panose="020B0609020204030204" pitchFamily="49" charset="0"/>
              </a:rPr>
              <a:t>	printf("cnt=%d\n",cnt);</a:t>
            </a:r>
          </a:p>
          <a:p>
            <a:pPr marL="0" indent="0">
              <a:buNone/>
            </a:pPr>
            <a:r>
              <a:rPr lang="en-US" altLang="zh-CN" sz="2000" dirty="0">
                <a:latin typeface="Consolas" panose="020B0609020204030204" pitchFamily="49" charset="0"/>
              </a:rPr>
              <a:t>	return</a:t>
            </a:r>
            <a:r>
              <a:rPr lang="zh-CN" altLang="en-US" sz="2000" dirty="0">
                <a:latin typeface="Consolas" panose="020B0609020204030204" pitchFamily="49" charset="0"/>
              </a:rPr>
              <a:t> </a:t>
            </a:r>
            <a:r>
              <a:rPr lang="en-US" altLang="zh-CN" sz="2000" dirty="0">
                <a:latin typeface="Consolas" panose="020B0609020204030204" pitchFamily="49" charset="0"/>
              </a:rPr>
              <a:t>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12988173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用冒泡思想判定数组是否排好序</a:t>
            </a:r>
          </a:p>
        </p:txBody>
      </p:sp>
      <p:sp>
        <p:nvSpPr>
          <p:cNvPr id="3" name="内容占位符 2"/>
          <p:cNvSpPr>
            <a:spLocks noGrp="1"/>
          </p:cNvSpPr>
          <p:nvPr>
            <p:ph idx="1"/>
          </p:nvPr>
        </p:nvSpPr>
        <p:spPr/>
        <p:txBody>
          <a:bodyPr/>
          <a:lstStyle/>
          <a:p>
            <a:pPr eaLnBrk="1" hangingPunct="1">
              <a:lnSpc>
                <a:spcPct val="90000"/>
              </a:lnSpc>
              <a:buFontTx/>
              <a:buNone/>
            </a:pPr>
            <a:r>
              <a:rPr lang="en-US" altLang="zh-CN" sz="2200" dirty="0">
                <a:solidFill>
                  <a:schemeClr val="accent2"/>
                </a:solidFill>
                <a:latin typeface="Consolas" panose="020B0609020204030204" pitchFamily="49" charset="0"/>
                <a:sym typeface="+mn-ea"/>
              </a:rPr>
              <a:t>/*judge a[] is up sort?</a:t>
            </a:r>
            <a:r>
              <a:rPr lang="zh-CN" altLang="en-US" sz="2200" dirty="0">
                <a:solidFill>
                  <a:schemeClr val="accent2"/>
                </a:solidFill>
                <a:latin typeface="Consolas" panose="020B0609020204030204" pitchFamily="49" charset="0"/>
                <a:sym typeface="+mn-ea"/>
              </a:rPr>
              <a:t>*</a:t>
            </a:r>
            <a:r>
              <a:rPr lang="en-US" altLang="zh-CN" sz="2200" dirty="0">
                <a:solidFill>
                  <a:schemeClr val="accent2"/>
                </a:solidFill>
                <a:latin typeface="Consolas" panose="020B0609020204030204" pitchFamily="49" charset="0"/>
                <a:sym typeface="+mn-ea"/>
              </a:rPr>
              <a:t>/</a:t>
            </a:r>
            <a:endParaRPr lang="en-US" altLang="zh-CN" sz="2200" dirty="0">
              <a:solidFill>
                <a:schemeClr val="accent2"/>
              </a:solidFill>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int </a:t>
            </a:r>
            <a:r>
              <a:rPr lang="en-US" altLang="zh-CN" sz="2200" dirty="0" err="1">
                <a:latin typeface="Consolas" panose="020B0609020204030204" pitchFamily="49" charset="0"/>
                <a:sym typeface="+mn-ea"/>
              </a:rPr>
              <a:t>isSort</a:t>
            </a:r>
            <a:r>
              <a:rPr lang="en-US" altLang="zh-CN" sz="2200" dirty="0">
                <a:latin typeface="Consolas" panose="020B0609020204030204" pitchFamily="49" charset="0"/>
                <a:sym typeface="+mn-ea"/>
              </a:rPr>
              <a:t>(int a[],int n)</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int </a:t>
            </a:r>
            <a:r>
              <a:rPr lang="en-US" altLang="zh-CN" sz="2200" dirty="0" err="1">
                <a:latin typeface="Consolas" panose="020B0609020204030204" pitchFamily="49" charset="0"/>
                <a:sym typeface="+mn-ea"/>
              </a:rPr>
              <a:t>i,sorted</a:t>
            </a:r>
            <a:r>
              <a:rPr lang="en-US" altLang="zh-CN" sz="2200" dirty="0">
                <a:latin typeface="Consolas" panose="020B0609020204030204" pitchFamily="49" charset="0"/>
                <a:sym typeface="+mn-ea"/>
              </a:rPr>
              <a:t>;</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for(</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a:t>
            </a:r>
            <a:r>
              <a:rPr lang="en-US" altLang="zh-CN" sz="2200" dirty="0" err="1">
                <a:latin typeface="Consolas" panose="020B0609020204030204" pitchFamily="49" charset="0"/>
                <a:sym typeface="+mn-ea"/>
              </a:rPr>
              <a:t>0,sorted</a:t>
            </a:r>
            <a:r>
              <a:rPr lang="en-US" altLang="zh-CN" sz="2200" dirty="0">
                <a:latin typeface="Consolas" panose="020B0609020204030204" pitchFamily="49" charset="0"/>
                <a:sym typeface="+mn-ea"/>
              </a:rPr>
              <a:t>=1; </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&lt;=n-2 &amp;&amp; sorted==1; </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    </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if(a[</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 &gt; a[</a:t>
            </a:r>
            <a:r>
              <a:rPr lang="en-US" altLang="zh-CN" sz="2200" dirty="0" err="1">
                <a:latin typeface="Consolas" panose="020B0609020204030204" pitchFamily="49" charset="0"/>
                <a:sym typeface="+mn-ea"/>
              </a:rPr>
              <a:t>i+1</a:t>
            </a:r>
            <a:r>
              <a:rPr lang="en-US" altLang="zh-CN" sz="2200" dirty="0">
                <a:latin typeface="Consolas" panose="020B0609020204030204" pitchFamily="49" charset="0"/>
                <a:sym typeface="+mn-ea"/>
              </a:rPr>
              <a:t>])</a:t>
            </a:r>
          </a:p>
          <a:p>
            <a:pPr eaLnBrk="1" hangingPunct="1">
              <a:lnSpc>
                <a:spcPct val="80000"/>
              </a:lnSpc>
              <a:buFontTx/>
              <a:buNone/>
            </a:pPr>
            <a:r>
              <a:rPr lang="en-US" altLang="zh-CN" sz="2200" dirty="0">
                <a:latin typeface="Consolas" panose="020B0609020204030204" pitchFamily="49" charset="0"/>
                <a:sym typeface="+mn-ea"/>
              </a:rPr>
              <a:t>			sorted=0;</a:t>
            </a:r>
          </a:p>
          <a:p>
            <a:pPr eaLnBrk="1" hangingPunct="1">
              <a:lnSpc>
                <a:spcPct val="80000"/>
              </a:lnSpc>
              <a:buFontTx/>
              <a:buNone/>
            </a:pPr>
            <a:r>
              <a:rPr lang="en-US" altLang="zh-CN" sz="2200" dirty="0">
                <a:latin typeface="Consolas" panose="020B0609020204030204" pitchFamily="49" charset="0"/>
                <a:sym typeface="+mn-ea"/>
              </a:rPr>
              <a:t>  }</a:t>
            </a:r>
          </a:p>
          <a:p>
            <a:pPr eaLnBrk="1" hangingPunct="1">
              <a:lnSpc>
                <a:spcPct val="80000"/>
              </a:lnSpc>
              <a:buFontTx/>
              <a:buNone/>
            </a:pPr>
            <a:endParaRPr lang="en-US" altLang="zh-CN" sz="2200" dirty="0">
              <a:latin typeface="Consolas" panose="020B0609020204030204" pitchFamily="49" charset="0"/>
              <a:sym typeface="+mn-ea"/>
            </a:endParaRPr>
          </a:p>
          <a:p>
            <a:pPr eaLnBrk="1" hangingPunct="1">
              <a:lnSpc>
                <a:spcPct val="80000"/>
              </a:lnSpc>
              <a:buFontTx/>
              <a:buNone/>
            </a:pPr>
            <a:r>
              <a:rPr lang="en-US" altLang="zh-CN" sz="2200" dirty="0">
                <a:latin typeface="Consolas" panose="020B0609020204030204" pitchFamily="49" charset="0"/>
                <a:sym typeface="+mn-ea"/>
              </a:rPr>
              <a:t>	return sorted; </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a:t>
            </a:r>
            <a:endParaRPr lang="en-US" altLang="zh-CN" sz="2200" dirty="0">
              <a:latin typeface="Consolas" panose="020B0609020204030204" pitchFamily="49"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7C87E-E00B-381C-5CED-A7FC071EC5B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189C2D-017F-C94A-8046-E1EBCDD9292D}"/>
              </a:ext>
            </a:extLst>
          </p:cNvPr>
          <p:cNvSpPr>
            <a:spLocks noGrp="1"/>
          </p:cNvSpPr>
          <p:nvPr>
            <p:ph idx="1"/>
          </p:nvPr>
        </p:nvSpPr>
        <p:spPr>
          <a:xfrm>
            <a:off x="467544" y="1142331"/>
            <a:ext cx="8424936" cy="5455021"/>
          </a:xfrm>
        </p:spPr>
        <p:txBody>
          <a:bodyPr/>
          <a:lstStyle/>
          <a:p>
            <a:pPr marL="0" indent="0">
              <a:buNone/>
            </a:pPr>
            <a:r>
              <a:rPr lang="en-US" altLang="zh-CN" sz="1600" dirty="0">
                <a:latin typeface="Consolas" panose="020B0609020204030204" pitchFamily="49" charset="0"/>
              </a:rPr>
              <a:t>#include &lt;</a:t>
            </a:r>
            <a:r>
              <a:rPr lang="en-US" altLang="zh-CN" sz="1600" dirty="0" err="1">
                <a:latin typeface="Consolas" panose="020B0609020204030204" pitchFamily="49" charset="0"/>
              </a:rPr>
              <a:t>stdio.h</a:t>
            </a:r>
            <a:r>
              <a:rPr lang="en-US" altLang="zh-CN" sz="1600" dirty="0">
                <a:latin typeface="Consolas" panose="020B0609020204030204" pitchFamily="49" charset="0"/>
              </a:rPr>
              <a:t>&gt;</a:t>
            </a:r>
          </a:p>
          <a:p>
            <a:pPr marL="0" indent="0">
              <a:buNone/>
            </a:pPr>
            <a:r>
              <a:rPr lang="en-US" altLang="zh-CN" sz="1600" dirty="0">
                <a:latin typeface="Consolas" panose="020B0609020204030204" pitchFamily="49" charset="0"/>
              </a:rPr>
              <a:t>#define SIZE 10</a:t>
            </a:r>
          </a:p>
          <a:p>
            <a:pPr marL="0" indent="0">
              <a:buNone/>
            </a:pPr>
            <a:r>
              <a:rPr lang="en-US" altLang="zh-CN" sz="1600" dirty="0">
                <a:latin typeface="Consolas" panose="020B0609020204030204" pitchFamily="49" charset="0"/>
              </a:rPr>
              <a:t>void </a:t>
            </a:r>
            <a:r>
              <a:rPr lang="en-US" altLang="zh-CN" sz="1600" dirty="0" err="1">
                <a:latin typeface="Consolas" panose="020B0609020204030204" pitchFamily="49" charset="0"/>
              </a:rPr>
              <a:t>printArray</a:t>
            </a:r>
            <a:r>
              <a:rPr lang="en-US" altLang="zh-CN" sz="1600" dirty="0">
                <a:latin typeface="Consolas" panose="020B0609020204030204" pitchFamily="49" charset="0"/>
              </a:rPr>
              <a:t>(const int a[],int n);</a:t>
            </a:r>
          </a:p>
          <a:p>
            <a:pPr marL="0" indent="0">
              <a:buNone/>
            </a:pPr>
            <a:r>
              <a:rPr lang="en-US" altLang="zh-CN" sz="1600" dirty="0">
                <a:latin typeface="Consolas" panose="020B0609020204030204" pitchFamily="49" charset="0"/>
              </a:rPr>
              <a:t>int </a:t>
            </a:r>
            <a:r>
              <a:rPr lang="en-US" altLang="zh-CN" sz="1600" dirty="0" err="1">
                <a:latin typeface="Consolas" panose="020B0609020204030204" pitchFamily="49" charset="0"/>
              </a:rPr>
              <a:t>bubbleSort2</a:t>
            </a:r>
            <a:r>
              <a:rPr lang="en-US" altLang="zh-CN" sz="1600" dirty="0">
                <a:latin typeface="Consolas" panose="020B0609020204030204" pitchFamily="49" charset="0"/>
              </a:rPr>
              <a:t>(int a[],int n);</a:t>
            </a:r>
          </a:p>
          <a:p>
            <a:pPr marL="0" indent="0">
              <a:buNone/>
            </a:pPr>
            <a:r>
              <a:rPr lang="en-US" altLang="zh-CN" sz="1600" dirty="0">
                <a:latin typeface="Consolas" panose="020B0609020204030204" pitchFamily="49" charset="0"/>
              </a:rPr>
              <a:t>int </a:t>
            </a:r>
            <a:r>
              <a:rPr lang="en-US" altLang="zh-CN" sz="1600" dirty="0" err="1">
                <a:latin typeface="Consolas" panose="020B0609020204030204" pitchFamily="49" charset="0"/>
              </a:rPr>
              <a:t>isSort</a:t>
            </a:r>
            <a:r>
              <a:rPr lang="en-US" altLang="zh-CN" sz="1600" dirty="0">
                <a:latin typeface="Consolas" panose="020B0609020204030204" pitchFamily="49" charset="0"/>
              </a:rPr>
              <a:t>(int a[],int n); </a:t>
            </a:r>
          </a:p>
          <a:p>
            <a:pPr marL="0" indent="0">
              <a:buNone/>
            </a:pPr>
            <a:r>
              <a:rPr lang="en-US" altLang="zh-CN" sz="1600" dirty="0">
                <a:latin typeface="Consolas" panose="020B0609020204030204" pitchFamily="49" charset="0"/>
              </a:rPr>
              <a:t>int main()</a:t>
            </a:r>
          </a:p>
          <a:p>
            <a:pPr marL="0" indent="0">
              <a:buNone/>
            </a:pPr>
            <a:r>
              <a:rPr lang="en-US" altLang="zh-CN" sz="1600" dirty="0">
                <a:latin typeface="Consolas" panose="020B0609020204030204" pitchFamily="49" charset="0"/>
              </a:rPr>
              <a:t>{</a:t>
            </a:r>
          </a:p>
          <a:p>
            <a:pPr marL="0" indent="0">
              <a:buNone/>
            </a:pPr>
            <a:r>
              <a:rPr lang="en-US" altLang="zh-CN" sz="1600" dirty="0">
                <a:latin typeface="Consolas" panose="020B0609020204030204" pitchFamily="49" charset="0"/>
              </a:rPr>
              <a:t> 	int a[SIZE]={2,1,6,9,8,36,27,25,12,7};</a:t>
            </a:r>
          </a:p>
          <a:p>
            <a:pPr marL="0" indent="0">
              <a:buNone/>
            </a:pPr>
            <a:r>
              <a:rPr lang="en-US" altLang="zh-CN" sz="1600" dirty="0">
                <a:latin typeface="Consolas" panose="020B0609020204030204" pitchFamily="49" charset="0"/>
              </a:rPr>
              <a:t> 	</a:t>
            </a:r>
            <a:r>
              <a:rPr lang="en-US" altLang="zh-CN" sz="1600" dirty="0" err="1">
                <a:latin typeface="Consolas" panose="020B0609020204030204" pitchFamily="49" charset="0"/>
              </a:rPr>
              <a:t>printArray</a:t>
            </a:r>
            <a:r>
              <a:rPr lang="en-US" altLang="zh-CN" sz="1600" dirty="0">
                <a:latin typeface="Consolas" panose="020B0609020204030204" pitchFamily="49" charset="0"/>
              </a:rPr>
              <a:t>(</a:t>
            </a:r>
            <a:r>
              <a:rPr lang="en-US" altLang="zh-CN" sz="1600" dirty="0" err="1">
                <a:latin typeface="Consolas" panose="020B0609020204030204" pitchFamily="49" charset="0"/>
              </a:rPr>
              <a:t>a,SIZE</a:t>
            </a:r>
            <a:r>
              <a:rPr lang="en-US" altLang="zh-CN" sz="1600" dirty="0">
                <a:latin typeface="Consolas" panose="020B0609020204030204" pitchFamily="49" charset="0"/>
              </a:rPr>
              <a:t>);</a:t>
            </a:r>
          </a:p>
          <a:p>
            <a:pPr marL="0" indent="0">
              <a:buNone/>
            </a:pPr>
            <a:r>
              <a:rPr lang="en-US" altLang="zh-CN" sz="1600" dirty="0">
                <a:latin typeface="Consolas" panose="020B0609020204030204" pitchFamily="49" charset="0"/>
              </a:rPr>
              <a:t>	if (</a:t>
            </a:r>
            <a:r>
              <a:rPr lang="en-US" altLang="zh-CN" sz="1600" dirty="0" err="1">
                <a:latin typeface="Consolas" panose="020B0609020204030204" pitchFamily="49" charset="0"/>
              </a:rPr>
              <a:t>isSort</a:t>
            </a:r>
            <a:r>
              <a:rPr lang="en-US" altLang="zh-CN" sz="1600" dirty="0">
                <a:latin typeface="Consolas" panose="020B0609020204030204" pitchFamily="49" charset="0"/>
              </a:rPr>
              <a:t>(</a:t>
            </a:r>
            <a:r>
              <a:rPr lang="en-US" altLang="zh-CN" sz="1600" dirty="0" err="1">
                <a:latin typeface="Consolas" panose="020B0609020204030204" pitchFamily="49" charset="0"/>
              </a:rPr>
              <a:t>a,SIZE</a:t>
            </a:r>
            <a:r>
              <a:rPr lang="en-US" altLang="zh-CN" sz="1600" dirty="0">
                <a:latin typeface="Consolas" panose="020B0609020204030204" pitchFamily="49" charset="0"/>
              </a:rPr>
              <a:t>)==1) </a:t>
            </a:r>
          </a:p>
          <a:p>
            <a:pPr marL="0" indent="0">
              <a:buNone/>
            </a:pPr>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("Sorted\n");</a:t>
            </a:r>
          </a:p>
          <a:p>
            <a:pPr marL="0" indent="0">
              <a:buNone/>
            </a:pPr>
            <a:r>
              <a:rPr lang="en-US" altLang="zh-CN" sz="1600" dirty="0">
                <a:latin typeface="Consolas" panose="020B0609020204030204" pitchFamily="49" charset="0"/>
              </a:rPr>
              <a:t>	else </a:t>
            </a:r>
            <a:r>
              <a:rPr lang="en-US" altLang="zh-CN" sz="1600" dirty="0" err="1">
                <a:latin typeface="Consolas" panose="020B0609020204030204" pitchFamily="49" charset="0"/>
              </a:rPr>
              <a:t>printf</a:t>
            </a:r>
            <a:r>
              <a:rPr lang="en-US" altLang="zh-CN" sz="1600" dirty="0">
                <a:latin typeface="Consolas" panose="020B0609020204030204" pitchFamily="49" charset="0"/>
              </a:rPr>
              <a:t>("Unsort\n");</a:t>
            </a:r>
          </a:p>
          <a:p>
            <a:pPr marL="0" indent="0">
              <a:buNone/>
            </a:pPr>
            <a:r>
              <a:rPr lang="en-US" altLang="zh-CN" sz="1600" dirty="0">
                <a:latin typeface="Consolas" panose="020B0609020204030204" pitchFamily="49" charset="0"/>
              </a:rPr>
              <a:t>	</a:t>
            </a:r>
            <a:r>
              <a:rPr lang="en-US" altLang="zh-CN" sz="1600" dirty="0" err="1">
                <a:latin typeface="Consolas" panose="020B0609020204030204" pitchFamily="49" charset="0"/>
              </a:rPr>
              <a:t>bubbleSort2</a:t>
            </a:r>
            <a:r>
              <a:rPr lang="en-US" altLang="zh-CN" sz="1600" dirty="0">
                <a:latin typeface="Consolas" panose="020B0609020204030204" pitchFamily="49" charset="0"/>
              </a:rPr>
              <a:t>(</a:t>
            </a:r>
            <a:r>
              <a:rPr lang="en-US" altLang="zh-CN" sz="1600" dirty="0" err="1">
                <a:latin typeface="Consolas" panose="020B0609020204030204" pitchFamily="49" charset="0"/>
              </a:rPr>
              <a:t>a,SIZE</a:t>
            </a:r>
            <a:r>
              <a:rPr lang="en-US" altLang="zh-CN" sz="1600" dirty="0">
                <a:latin typeface="Consolas" panose="020B0609020204030204" pitchFamily="49" charset="0"/>
              </a:rPr>
              <a:t>);</a:t>
            </a:r>
          </a:p>
          <a:p>
            <a:pPr marL="0" indent="0">
              <a:buNone/>
            </a:pPr>
            <a:r>
              <a:rPr lang="en-US" altLang="zh-CN" sz="1600" dirty="0">
                <a:latin typeface="Consolas" panose="020B0609020204030204" pitchFamily="49" charset="0"/>
              </a:rPr>
              <a:t>   	</a:t>
            </a:r>
            <a:r>
              <a:rPr lang="en-US" altLang="zh-CN" sz="1600" dirty="0" err="1">
                <a:latin typeface="Consolas" panose="020B0609020204030204" pitchFamily="49" charset="0"/>
              </a:rPr>
              <a:t>printArray</a:t>
            </a:r>
            <a:r>
              <a:rPr lang="en-US" altLang="zh-CN" sz="1600" dirty="0">
                <a:latin typeface="Consolas" panose="020B0609020204030204" pitchFamily="49" charset="0"/>
              </a:rPr>
              <a:t>(</a:t>
            </a:r>
            <a:r>
              <a:rPr lang="en-US" altLang="zh-CN" sz="1600" dirty="0" err="1">
                <a:latin typeface="Consolas" panose="020B0609020204030204" pitchFamily="49" charset="0"/>
              </a:rPr>
              <a:t>a,SIZE</a:t>
            </a:r>
            <a:r>
              <a:rPr lang="en-US" altLang="zh-CN" sz="1600" dirty="0">
                <a:latin typeface="Consolas" panose="020B0609020204030204" pitchFamily="49" charset="0"/>
              </a:rPr>
              <a:t>);</a:t>
            </a:r>
          </a:p>
          <a:p>
            <a:pPr marL="0" indent="0">
              <a:buNone/>
            </a:pPr>
            <a:r>
              <a:rPr lang="en-US" altLang="zh-CN" sz="1600" dirty="0">
                <a:latin typeface="Consolas" panose="020B0609020204030204" pitchFamily="49" charset="0"/>
              </a:rPr>
              <a:t>	if (</a:t>
            </a:r>
            <a:r>
              <a:rPr lang="en-US" altLang="zh-CN" sz="1600" dirty="0" err="1">
                <a:latin typeface="Consolas" panose="020B0609020204030204" pitchFamily="49" charset="0"/>
              </a:rPr>
              <a:t>isSort</a:t>
            </a:r>
            <a:r>
              <a:rPr lang="en-US" altLang="zh-CN" sz="1600" dirty="0">
                <a:latin typeface="Consolas" panose="020B0609020204030204" pitchFamily="49" charset="0"/>
              </a:rPr>
              <a:t>(</a:t>
            </a:r>
            <a:r>
              <a:rPr lang="en-US" altLang="zh-CN" sz="1600" dirty="0" err="1">
                <a:latin typeface="Consolas" panose="020B0609020204030204" pitchFamily="49" charset="0"/>
              </a:rPr>
              <a:t>a,SIZE</a:t>
            </a:r>
            <a:r>
              <a:rPr lang="en-US" altLang="zh-CN" sz="1600" dirty="0">
                <a:latin typeface="Consolas" panose="020B0609020204030204" pitchFamily="49" charset="0"/>
              </a:rPr>
              <a:t>)==1) </a:t>
            </a:r>
          </a:p>
          <a:p>
            <a:pPr marL="0" indent="0">
              <a:buNone/>
            </a:pPr>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("Sorted\n");</a:t>
            </a:r>
          </a:p>
          <a:p>
            <a:pPr marL="0" indent="0">
              <a:buNone/>
            </a:pPr>
            <a:r>
              <a:rPr lang="en-US" altLang="zh-CN" sz="1600" dirty="0">
                <a:latin typeface="Consolas" panose="020B0609020204030204" pitchFamily="49" charset="0"/>
              </a:rPr>
              <a:t>	else </a:t>
            </a:r>
            <a:r>
              <a:rPr lang="en-US" altLang="zh-CN" sz="1600" dirty="0" err="1">
                <a:latin typeface="Consolas" panose="020B0609020204030204" pitchFamily="49" charset="0"/>
              </a:rPr>
              <a:t>printf</a:t>
            </a:r>
            <a:r>
              <a:rPr lang="en-US" altLang="zh-CN" sz="1600" dirty="0">
                <a:latin typeface="Consolas" panose="020B0609020204030204" pitchFamily="49" charset="0"/>
              </a:rPr>
              <a:t>("Unsort\n"); </a:t>
            </a:r>
            <a:endParaRPr lang="pt-BR" altLang="zh-CN" sz="1600" dirty="0">
              <a:latin typeface="Consolas" panose="020B0609020204030204" pitchFamily="49" charset="0"/>
            </a:endParaRPr>
          </a:p>
          <a:p>
            <a:pPr marL="0" indent="0">
              <a:buNone/>
            </a:pPr>
            <a:r>
              <a:rPr lang="en-US" altLang="zh-CN" sz="1600" dirty="0">
                <a:latin typeface="Consolas" panose="020B0609020204030204" pitchFamily="49" charset="0"/>
              </a:rPr>
              <a:t>	return</a:t>
            </a:r>
            <a:r>
              <a:rPr lang="zh-CN" altLang="en-US" sz="1600" dirty="0">
                <a:latin typeface="Consolas" panose="020B0609020204030204" pitchFamily="49" charset="0"/>
              </a:rPr>
              <a:t> </a:t>
            </a:r>
            <a:r>
              <a:rPr lang="en-US" altLang="zh-CN" sz="1600" dirty="0">
                <a:latin typeface="Consolas" panose="020B0609020204030204" pitchFamily="49" charset="0"/>
              </a:rPr>
              <a:t>0;</a:t>
            </a:r>
          </a:p>
          <a:p>
            <a:pPr marL="0" indent="0">
              <a:buNone/>
            </a:pPr>
            <a:r>
              <a:rPr lang="en-US" altLang="zh-CN" sz="1600" dirty="0">
                <a:latin typeface="Consolas" panose="020B0609020204030204" pitchFamily="49" charset="0"/>
              </a:rPr>
              <a:t>}</a:t>
            </a:r>
          </a:p>
        </p:txBody>
      </p:sp>
    </p:spTree>
    <p:extLst>
      <p:ext uri="{BB962C8B-B14F-4D97-AF65-F5344CB8AC3E}">
        <p14:creationId xmlns:p14="http://schemas.microsoft.com/office/powerpoint/2010/main" val="284863235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txBox="1"/>
          <p:nvPr/>
        </p:nvSpPr>
        <p:spPr>
          <a:xfrm>
            <a:off x="5311140" y="417830"/>
            <a:ext cx="3562350" cy="57150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Font typeface="Wingdings" panose="05000000000000000000" pitchFamily="2" charset="2"/>
              <a:buNone/>
            </a:pPr>
            <a:r>
              <a:rPr lang="zh-CN" altLang="en-US" sz="2800" b="1" dirty="0">
                <a:solidFill>
                  <a:srgbClr val="FF0000"/>
                </a:solidFill>
                <a:latin typeface="楷体" panose="02010609060101010101" pitchFamily="49" charset="-122"/>
                <a:ea typeface="楷体" panose="02010609060101010101" pitchFamily="49" charset="-122"/>
              </a:rPr>
              <a:t>冒泡排序的性能分析</a:t>
            </a:r>
            <a:endParaRPr lang="en-US" altLang="zh-CN" sz="2800" b="1" dirty="0">
              <a:solidFill>
                <a:srgbClr val="FF0000"/>
              </a:solidFill>
              <a:latin typeface="楷体" panose="02010609060101010101" pitchFamily="49" charset="-122"/>
              <a:ea typeface="楷体" panose="02010609060101010101" pitchFamily="49" charset="-122"/>
            </a:endParaRPr>
          </a:p>
        </p:txBody>
      </p:sp>
      <p:sp>
        <p:nvSpPr>
          <p:cNvPr id="5" name="Rectangle 3" descr="Rectangle: Click to edit Master text styles&#10;Second level&#10;Third level&#10;Fourth level&#10;Fifth level"/>
          <p:cNvSpPr txBox="1">
            <a:spLocks noChangeArrowheads="1"/>
          </p:cNvSpPr>
          <p:nvPr/>
        </p:nvSpPr>
        <p:spPr bwMode="auto">
          <a:xfrm>
            <a:off x="295593" y="1219200"/>
            <a:ext cx="747871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srgbClr val="C00000"/>
                </a:solidFill>
                <a:effectLst/>
                <a:uLnTx/>
                <a:uFillTx/>
                <a:latin typeface="楷体" panose="02010609060101010101" pitchFamily="49" charset="-122"/>
                <a:ea typeface="楷体" panose="02010609060101010101" pitchFamily="49" charset="-122"/>
                <a:cs typeface="+mn-cs"/>
              </a:rPr>
              <a:t>最好情况</a:t>
            </a:r>
            <a:endParaRPr kumimoji="0" lang="en-US" altLang="zh-CN" sz="2800" b="1" i="0" u="none" strike="noStrike" kern="1200" cap="none" spc="0" normalizeH="0" baseline="0" noProof="0" dirty="0">
              <a:ln>
                <a:noFill/>
              </a:ln>
              <a:solidFill>
                <a:srgbClr val="C00000"/>
              </a:solidFill>
              <a:effectLst/>
              <a:uLnTx/>
              <a:uFillTx/>
              <a:latin typeface="楷体" panose="02010609060101010101" pitchFamily="49" charset="-122"/>
              <a:ea typeface="楷体" panose="02010609060101010101" pitchFamily="49" charset="-122"/>
              <a:cs typeface="+mn-cs"/>
            </a:endParaRPr>
          </a:p>
          <a:p>
            <a:pPr marL="342900" marR="0" lvl="0" indent="-342900" algn="l" defTabSz="914400" rtl="0" eaLnBrk="0" fontAlgn="base" latinLnBrk="0" hangingPunct="0">
              <a:lnSpc>
                <a:spcPct val="90000"/>
              </a:lnSpc>
              <a:spcBef>
                <a:spcPct val="20000"/>
              </a:spcBef>
              <a:spcAft>
                <a:spcPct val="0"/>
              </a:spcAft>
              <a:buClrTx/>
              <a:buSzTx/>
              <a:buFont typeface="Wingdings" panose="05000000000000000000" pitchFamily="2" charset="2"/>
              <a:buNone/>
              <a:defRPr/>
            </a:pPr>
            <a:r>
              <a:rPr kumimoji="0" lang="zh-CN" altLang="en-US"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rPr>
              <a:t>  </a:t>
            </a:r>
            <a:endParaRPr kumimoji="0" lang="en-US" altLang="zh-CN"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endParaRPr>
          </a:p>
          <a:p>
            <a:pPr marL="342900" marR="0" lvl="0" indent="-342900" algn="l" defTabSz="914400" rtl="0" eaLnBrk="0" fontAlgn="base" latinLnBrk="0" hangingPunct="0">
              <a:lnSpc>
                <a:spcPct val="90000"/>
              </a:lnSpc>
              <a:spcBef>
                <a:spcPct val="20000"/>
              </a:spcBef>
              <a:spcAft>
                <a:spcPct val="0"/>
              </a:spcAft>
              <a:buClrTx/>
              <a:buSzTx/>
              <a:buFont typeface="Wingdings" panose="05000000000000000000" pitchFamily="2" charset="2"/>
              <a:buNone/>
              <a:defRPr/>
            </a:pPr>
            <a:endParaRPr kumimoji="0" lang="zh-CN" altLang="en-US"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endParaRPr>
          </a:p>
          <a:p>
            <a:pPr marL="342900" marR="0" lvl="0" indent="-342900" algn="l" defTabSz="914400" rtl="0" eaLnBrk="0" fontAlgn="base" latinLnBrk="0" hangingPunct="0">
              <a:lnSpc>
                <a:spcPct val="90000"/>
              </a:lnSpc>
              <a:spcBef>
                <a:spcPct val="2000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srgbClr val="C00000"/>
                </a:solidFill>
                <a:effectLst/>
                <a:uLnTx/>
                <a:uFillTx/>
                <a:latin typeface="楷体" panose="02010609060101010101" pitchFamily="49" charset="-122"/>
                <a:ea typeface="楷体" panose="02010609060101010101" pitchFamily="49" charset="-122"/>
                <a:cs typeface="+mn-cs"/>
              </a:rPr>
              <a:t>最坏情况</a:t>
            </a:r>
            <a:endParaRPr kumimoji="0" lang="en-US" altLang="zh-CN"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endParaRPr>
          </a:p>
          <a:p>
            <a:pPr marL="342900" marR="0" lvl="0" indent="-342900" algn="l" defTabSz="914400" rtl="0" eaLnBrk="0" fontAlgn="base" latinLnBrk="0" hangingPunct="0">
              <a:lnSpc>
                <a:spcPct val="90000"/>
              </a:lnSpc>
              <a:spcBef>
                <a:spcPct val="20000"/>
              </a:spcBef>
              <a:spcAft>
                <a:spcPct val="0"/>
              </a:spcAft>
              <a:buClrTx/>
              <a:buSzTx/>
              <a:buFont typeface="Wingdings" panose="05000000000000000000" pitchFamily="2" charset="2"/>
              <a:buNone/>
              <a:defRPr/>
            </a:pPr>
            <a:r>
              <a:rPr kumimoji="0" lang="en-US" altLang="zh-CN"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rPr>
              <a:t>   </a:t>
            </a:r>
          </a:p>
        </p:txBody>
      </p:sp>
      <p:sp>
        <p:nvSpPr>
          <p:cNvPr id="17412" name="Text Box 5"/>
          <p:cNvSpPr txBox="1"/>
          <p:nvPr/>
        </p:nvSpPr>
        <p:spPr>
          <a:xfrm>
            <a:off x="1068388" y="1513840"/>
            <a:ext cx="2101850" cy="523875"/>
          </a:xfrm>
          <a:prstGeom prst="rect">
            <a:avLst/>
          </a:prstGeom>
          <a:noFill/>
          <a:ln w="50800">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buNone/>
            </a:pPr>
            <a:r>
              <a:rPr lang="zh-CN" altLang="en-US" sz="2800" b="1" dirty="0">
                <a:latin typeface="楷体" panose="02010609060101010101" pitchFamily="49" charset="-122"/>
                <a:ea typeface="楷体" panose="02010609060101010101" pitchFamily="49" charset="-122"/>
              </a:rPr>
              <a:t>正序序列</a:t>
            </a:r>
            <a:endParaRPr lang="en-US" altLang="zh-CN" sz="2800" b="1" dirty="0">
              <a:latin typeface="楷体" panose="02010609060101010101" pitchFamily="49" charset="-122"/>
              <a:ea typeface="楷体" panose="02010609060101010101" pitchFamily="49" charset="-122"/>
            </a:endParaRPr>
          </a:p>
        </p:txBody>
      </p:sp>
      <p:sp>
        <p:nvSpPr>
          <p:cNvPr id="17413" name="Text Box 8"/>
          <p:cNvSpPr txBox="1"/>
          <p:nvPr/>
        </p:nvSpPr>
        <p:spPr>
          <a:xfrm>
            <a:off x="1068388" y="2981325"/>
            <a:ext cx="2133600" cy="522288"/>
          </a:xfrm>
          <a:prstGeom prst="rect">
            <a:avLst/>
          </a:prstGeom>
          <a:noFill/>
          <a:ln w="50800">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buNone/>
            </a:pPr>
            <a:r>
              <a:rPr lang="zh-CN" altLang="en-US" sz="2800" b="1" dirty="0">
                <a:latin typeface="楷体" panose="02010609060101010101" pitchFamily="49" charset="-122"/>
                <a:ea typeface="楷体" panose="02010609060101010101" pitchFamily="49" charset="-122"/>
              </a:rPr>
              <a:t>逆序序列</a:t>
            </a:r>
            <a:endParaRPr lang="en-US" altLang="zh-CN" sz="2800" b="1" dirty="0">
              <a:latin typeface="楷体" panose="02010609060101010101" pitchFamily="49" charset="-122"/>
              <a:ea typeface="楷体" panose="02010609060101010101" pitchFamily="49" charset="-122"/>
            </a:endParaRPr>
          </a:p>
        </p:txBody>
      </p:sp>
      <p:sp>
        <p:nvSpPr>
          <p:cNvPr id="17414" name="Rectangle 10"/>
          <p:cNvSpPr/>
          <p:nvPr/>
        </p:nvSpPr>
        <p:spPr>
          <a:xfrm>
            <a:off x="1363663" y="6019800"/>
            <a:ext cx="3013967" cy="480131"/>
          </a:xfrm>
          <a:prstGeom prst="rect">
            <a:avLst/>
          </a:prstGeom>
          <a:noFill/>
          <a:ln w="50800">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buClr>
                <a:schemeClr val="hlink"/>
              </a:buClr>
              <a:buSzPct val="110000"/>
              <a:buFont typeface="Wingdings" panose="05000000000000000000" pitchFamily="2" charset="2"/>
              <a:buNone/>
            </a:pPr>
            <a:r>
              <a:rPr lang="zh-CN" altLang="en-US" sz="2800" b="1" dirty="0">
                <a:latin typeface="楷体" panose="02010609060101010101" pitchFamily="49" charset="-122"/>
                <a:ea typeface="楷体" panose="02010609060101010101" pitchFamily="49" charset="-122"/>
              </a:rPr>
              <a:t>时间复杂度 </a:t>
            </a:r>
            <a:r>
              <a:rPr lang="en-US" altLang="zh-CN" sz="2800" b="1" dirty="0">
                <a:latin typeface="楷体" panose="02010609060101010101" pitchFamily="49" charset="-122"/>
                <a:ea typeface="楷体" panose="02010609060101010101" pitchFamily="49" charset="-122"/>
              </a:rPr>
              <a:t>O(</a:t>
            </a:r>
            <a:r>
              <a:rPr lang="en-US" altLang="zh-CN" sz="2800" b="1" dirty="0" err="1">
                <a:latin typeface="楷体" panose="02010609060101010101" pitchFamily="49" charset="-122"/>
                <a:ea typeface="楷体" panose="02010609060101010101" pitchFamily="49" charset="-122"/>
              </a:rPr>
              <a:t>n</a:t>
            </a:r>
            <a:r>
              <a:rPr lang="en-US" altLang="zh-CN" sz="2800" b="1" baseline="30000" dirty="0" err="1">
                <a:latin typeface="楷体" panose="02010609060101010101" pitchFamily="49" charset="-122"/>
                <a:ea typeface="楷体" panose="02010609060101010101" pitchFamily="49" charset="-122"/>
              </a:rPr>
              <a:t>2</a:t>
            </a:r>
            <a:r>
              <a:rPr lang="en-US" altLang="zh-CN" sz="2800" b="1" dirty="0">
                <a:latin typeface="楷体" panose="02010609060101010101" pitchFamily="49" charset="-122"/>
                <a:ea typeface="楷体" panose="02010609060101010101" pitchFamily="49" charset="-122"/>
              </a:rPr>
              <a:t>)</a:t>
            </a:r>
          </a:p>
        </p:txBody>
      </p:sp>
      <p:sp>
        <p:nvSpPr>
          <p:cNvPr id="17415" name="Text Box 4"/>
          <p:cNvSpPr txBox="1"/>
          <p:nvPr/>
        </p:nvSpPr>
        <p:spPr>
          <a:xfrm>
            <a:off x="1465263" y="2037715"/>
            <a:ext cx="2125980" cy="4781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比较"</a:t>
            </a:r>
            <a:r>
              <a:rPr lang="zh-CN" altLang="en-US" sz="2800" b="1" dirty="0">
                <a:latin typeface="Arial" panose="020B0604020202020204" pitchFamily="34" charset="0"/>
                <a:ea typeface="楷体_GB2312" pitchFamily="49" charset="-122"/>
              </a:rPr>
              <a:t>：</a:t>
            </a:r>
            <a:r>
              <a:rPr lang="en-US" altLang="zh-CN" sz="2800" b="1" dirty="0">
                <a:solidFill>
                  <a:srgbClr val="FF0000"/>
                </a:solidFill>
                <a:latin typeface="Arial" panose="020B0604020202020204" pitchFamily="34" charset="0"/>
                <a:ea typeface="楷体_GB2312" pitchFamily="49" charset="-122"/>
              </a:rPr>
              <a:t>n-1</a:t>
            </a:r>
            <a:endParaRPr lang="zh-CN" altLang="en-US" sz="2800" b="1" dirty="0">
              <a:solidFill>
                <a:srgbClr val="FF0000"/>
              </a:solidFill>
              <a:latin typeface="Arial" panose="020B0604020202020204" pitchFamily="34" charset="0"/>
            </a:endParaRPr>
          </a:p>
        </p:txBody>
      </p:sp>
      <p:sp>
        <p:nvSpPr>
          <p:cNvPr id="17416" name="Text Box 4"/>
          <p:cNvSpPr txBox="1"/>
          <p:nvPr/>
        </p:nvSpPr>
        <p:spPr>
          <a:xfrm>
            <a:off x="4495800" y="2037715"/>
            <a:ext cx="1790700" cy="4781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移动"</a:t>
            </a:r>
            <a:r>
              <a:rPr lang="zh-CN" altLang="en-US" sz="2800" b="1" dirty="0">
                <a:latin typeface="Arial" panose="020B0604020202020204" pitchFamily="34" charset="0"/>
                <a:ea typeface="楷体_GB2312" pitchFamily="49" charset="-122"/>
              </a:rPr>
              <a:t>：</a:t>
            </a:r>
            <a:r>
              <a:rPr lang="en-US" altLang="zh-CN" sz="2800" b="1" dirty="0">
                <a:solidFill>
                  <a:srgbClr val="FF0000"/>
                </a:solidFill>
                <a:latin typeface="Arial" panose="020B0604020202020204" pitchFamily="34" charset="0"/>
                <a:ea typeface="楷体_GB2312" pitchFamily="49" charset="-122"/>
              </a:rPr>
              <a:t>0</a:t>
            </a:r>
            <a:endParaRPr lang="zh-CN" altLang="en-US" sz="2800" b="1" dirty="0">
              <a:solidFill>
                <a:srgbClr val="FF0000"/>
              </a:solidFill>
              <a:latin typeface="Arial" panose="020B0604020202020204" pitchFamily="34" charset="0"/>
            </a:endParaRPr>
          </a:p>
        </p:txBody>
      </p:sp>
      <p:sp>
        <p:nvSpPr>
          <p:cNvPr id="17417" name="矩形 1"/>
          <p:cNvSpPr/>
          <p:nvPr/>
        </p:nvSpPr>
        <p:spPr>
          <a:xfrm>
            <a:off x="1292225" y="3514725"/>
            <a:ext cx="7231467" cy="4801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Font typeface="Wingdings" panose="05000000000000000000" pitchFamily="2" charset="2"/>
              <a:buNone/>
            </a:pPr>
            <a:r>
              <a:rPr lang="zh-CN" altLang="en-US" sz="2800" b="1" dirty="0">
                <a:solidFill>
                  <a:srgbClr val="0000FF"/>
                </a:solidFill>
                <a:latin typeface="楷体" panose="02010609060101010101" pitchFamily="49" charset="-122"/>
                <a:ea typeface="楷体" panose="02010609060101010101" pitchFamily="49" charset="-122"/>
              </a:rPr>
              <a:t>“比较”：</a:t>
            </a:r>
            <a:r>
              <a:rPr lang="en-US" altLang="zh-CN" sz="2800" b="1" dirty="0">
                <a:solidFill>
                  <a:srgbClr val="FF0000"/>
                </a:solidFill>
                <a:latin typeface="楷体" panose="02010609060101010101" pitchFamily="49" charset="-122"/>
                <a:ea typeface="楷体" panose="02010609060101010101" pitchFamily="49" charset="-122"/>
              </a:rPr>
              <a:t>              </a:t>
            </a:r>
            <a:r>
              <a:rPr lang="zh-CN" altLang="en-US" sz="2800" b="1" dirty="0">
                <a:solidFill>
                  <a:srgbClr val="0000FF"/>
                </a:solidFill>
                <a:latin typeface="楷体" panose="02010609060101010101" pitchFamily="49" charset="-122"/>
                <a:ea typeface="楷体" panose="02010609060101010101" pitchFamily="49" charset="-122"/>
              </a:rPr>
              <a:t>“移动</a:t>
            </a:r>
            <a:r>
              <a:rPr lang="en-US" altLang="zh-CN" sz="2800" b="1" dirty="0">
                <a:solidFill>
                  <a:srgbClr val="0000FF"/>
                </a:solidFill>
                <a:latin typeface="楷体" panose="02010609060101010101" pitchFamily="49" charset="-122"/>
                <a:ea typeface="楷体" panose="02010609060101010101" pitchFamily="49" charset="-122"/>
              </a:rPr>
              <a:t>(</a:t>
            </a:r>
            <a:r>
              <a:rPr lang="zh-CN" altLang="en-US" sz="2800" b="1" dirty="0">
                <a:solidFill>
                  <a:srgbClr val="0000FF"/>
                </a:solidFill>
                <a:latin typeface="楷体" panose="02010609060101010101" pitchFamily="49" charset="-122"/>
                <a:ea typeface="楷体" panose="02010609060101010101" pitchFamily="49" charset="-122"/>
              </a:rPr>
              <a:t>赋值</a:t>
            </a:r>
            <a:r>
              <a:rPr lang="en-US" altLang="zh-CN" sz="2800" b="1" dirty="0">
                <a:solidFill>
                  <a:srgbClr val="0000FF"/>
                </a:solidFill>
                <a:latin typeface="楷体" panose="02010609060101010101" pitchFamily="49" charset="-122"/>
                <a:ea typeface="楷体" panose="02010609060101010101" pitchFamily="49" charset="-122"/>
              </a:rPr>
              <a:t>)</a:t>
            </a:r>
            <a:r>
              <a:rPr lang="zh-CN" altLang="en-US" sz="2800" b="1" dirty="0">
                <a:solidFill>
                  <a:srgbClr val="0000FF"/>
                </a:solidFill>
                <a:latin typeface="楷体" panose="02010609060101010101" pitchFamily="49" charset="-122"/>
                <a:ea typeface="楷体" panose="02010609060101010101" pitchFamily="49" charset="-122"/>
              </a:rPr>
              <a:t>"：</a:t>
            </a:r>
            <a:endParaRPr lang="en-US" altLang="zh-CN" sz="2800" b="1" dirty="0">
              <a:solidFill>
                <a:srgbClr val="FF0000"/>
              </a:solidFill>
              <a:latin typeface="楷体" panose="02010609060101010101" pitchFamily="49" charset="-122"/>
              <a:ea typeface="楷体" panose="02010609060101010101" pitchFamily="49" charset="-122"/>
            </a:endParaRPr>
          </a:p>
        </p:txBody>
      </p:sp>
      <p:sp>
        <p:nvSpPr>
          <p:cNvPr id="17418" name="矩形 1"/>
          <p:cNvSpPr/>
          <p:nvPr/>
        </p:nvSpPr>
        <p:spPr>
          <a:xfrm>
            <a:off x="366713" y="5334000"/>
            <a:ext cx="1752600"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r>
              <a:rPr lang="zh-CN" altLang="en-US" sz="2800" b="1" dirty="0">
                <a:solidFill>
                  <a:srgbClr val="C00000"/>
                </a:solidFill>
                <a:latin typeface="楷体" panose="02010609060101010101" pitchFamily="49" charset="-122"/>
                <a:ea typeface="楷体" panose="02010609060101010101" pitchFamily="49" charset="-122"/>
              </a:rPr>
              <a:t>平均情况</a:t>
            </a:r>
          </a:p>
        </p:txBody>
      </p:sp>
      <p:graphicFrame>
        <p:nvGraphicFramePr>
          <p:cNvPr id="3" name="对象 2"/>
          <p:cNvGraphicFramePr>
            <a:graphicFrameLocks noChangeAspect="1"/>
          </p:cNvGraphicFramePr>
          <p:nvPr/>
        </p:nvGraphicFramePr>
        <p:xfrm>
          <a:off x="366713" y="4027488"/>
          <a:ext cx="3321050" cy="984250"/>
        </p:xfrm>
        <a:graphic>
          <a:graphicData uri="http://schemas.openxmlformats.org/presentationml/2006/ole">
            <mc:AlternateContent xmlns:mc="http://schemas.openxmlformats.org/markup-compatibility/2006">
              <mc:Choice xmlns:v="urn:schemas-microsoft-com:vml" Requires="v">
                <p:oleObj r:id="rId2" imgW="1497965" imgH="444500" progId="Equation.3">
                  <p:embed/>
                </p:oleObj>
              </mc:Choice>
              <mc:Fallback>
                <p:oleObj r:id="rId2" imgW="1497965" imgH="444500" progId="Equation.3">
                  <p:embed/>
                  <p:pic>
                    <p:nvPicPr>
                      <p:cNvPr id="0" name="图片 3078"/>
                      <p:cNvPicPr/>
                      <p:nvPr/>
                    </p:nvPicPr>
                    <p:blipFill>
                      <a:blip r:embed="rId3"/>
                      <a:stretch>
                        <a:fillRect/>
                      </a:stretch>
                    </p:blipFill>
                    <p:spPr>
                      <a:xfrm>
                        <a:off x="366713" y="4027488"/>
                        <a:ext cx="3321050" cy="984250"/>
                      </a:xfrm>
                      <a:prstGeom prst="rect">
                        <a:avLst/>
                      </a:prstGeom>
                      <a:noFill/>
                      <a:ln w="38100">
                        <a:noFill/>
                        <a:miter/>
                      </a:ln>
                    </p:spPr>
                  </p:pic>
                </p:oleObj>
              </mc:Fallback>
            </mc:AlternateContent>
          </a:graphicData>
        </a:graphic>
      </p:graphicFrame>
      <p:graphicFrame>
        <p:nvGraphicFramePr>
          <p:cNvPr id="4" name="对象 3"/>
          <p:cNvGraphicFramePr>
            <a:graphicFrameLocks noChangeAspect="1"/>
          </p:cNvGraphicFramePr>
          <p:nvPr/>
        </p:nvGraphicFramePr>
        <p:xfrm>
          <a:off x="4495800" y="4038600"/>
          <a:ext cx="4446588" cy="984250"/>
        </p:xfrm>
        <a:graphic>
          <a:graphicData uri="http://schemas.openxmlformats.org/presentationml/2006/ole">
            <mc:AlternateContent xmlns:mc="http://schemas.openxmlformats.org/markup-compatibility/2006">
              <mc:Choice xmlns:v="urn:schemas-microsoft-com:vml" Requires="v">
                <p:oleObj r:id="rId4" imgW="2005965" imgH="444500" progId="Equation.3">
                  <p:embed/>
                </p:oleObj>
              </mc:Choice>
              <mc:Fallback>
                <p:oleObj r:id="rId4" imgW="2005965" imgH="444500" progId="Equation.3">
                  <p:embed/>
                  <p:pic>
                    <p:nvPicPr>
                      <p:cNvPr id="0" name="图片 3079"/>
                      <p:cNvPicPr/>
                      <p:nvPr/>
                    </p:nvPicPr>
                    <p:blipFill>
                      <a:blip r:embed="rId5"/>
                      <a:stretch>
                        <a:fillRect/>
                      </a:stretch>
                    </p:blipFill>
                    <p:spPr>
                      <a:xfrm>
                        <a:off x="4495800" y="4038600"/>
                        <a:ext cx="4446588" cy="9842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p:txBody>
          <a:bodyPr/>
          <a:lstStyle/>
          <a:p>
            <a:pPr eaLnBrk="1" hangingPunct="1"/>
            <a:r>
              <a:rPr lang="en-US" altLang="zh-CN" b="1"/>
              <a:t>6.5 </a:t>
            </a:r>
            <a:r>
              <a:rPr lang="zh-CN" altLang="en-US" b="1"/>
              <a:t>数组的应用</a:t>
            </a:r>
            <a:r>
              <a:rPr lang="en-US" altLang="zh-CN" b="1"/>
              <a:t>4-</a:t>
            </a:r>
            <a:r>
              <a:rPr lang="zh-CN" altLang="en-US" b="1"/>
              <a:t>冒泡排序</a:t>
            </a:r>
          </a:p>
        </p:txBody>
      </p:sp>
      <p:sp>
        <p:nvSpPr>
          <p:cNvPr id="95236" name="Rectangle 3"/>
          <p:cNvSpPr>
            <a:spLocks noGrp="1" noChangeArrowheads="1"/>
          </p:cNvSpPr>
          <p:nvPr>
            <p:ph type="body" idx="1"/>
          </p:nvPr>
        </p:nvSpPr>
        <p:spPr/>
        <p:txBody>
          <a:bodyPr/>
          <a:lstStyle/>
          <a:p>
            <a:pPr eaLnBrk="1" hangingPunct="1">
              <a:buFontTx/>
              <a:buNone/>
            </a:pPr>
            <a:r>
              <a:rPr lang="zh-CN" altLang="en-US" b="1" dirty="0"/>
              <a:t>练习：</a:t>
            </a:r>
          </a:p>
          <a:p>
            <a:pPr eaLnBrk="1" hangingPunct="1">
              <a:buFontTx/>
              <a:buNone/>
            </a:pPr>
            <a:r>
              <a:rPr lang="zh-CN" altLang="en-US" b="1" dirty="0"/>
              <a:t>   设计冒泡排序算法，实现降序排序。</a:t>
            </a:r>
            <a:endParaRPr lang="en-US" altLang="zh-CN" b="1" dirty="0"/>
          </a:p>
          <a:p>
            <a:pPr eaLnBrk="1" hangingPunct="1">
              <a:buFontTx/>
              <a:buNone/>
            </a:pPr>
            <a:r>
              <a:rPr lang="zh-CN" altLang="en-US" b="1" dirty="0"/>
              <a:t>分析：每一趟过程通过两两比较和交换将</a:t>
            </a:r>
            <a:r>
              <a:rPr lang="zh-CN" altLang="en-US" b="1" dirty="0">
                <a:solidFill>
                  <a:srgbClr val="FF0000"/>
                </a:solidFill>
              </a:rPr>
              <a:t>较小</a:t>
            </a:r>
            <a:r>
              <a:rPr lang="zh-CN" altLang="en-US" b="1" dirty="0"/>
              <a:t>的元素往后冒泡。</a:t>
            </a:r>
          </a:p>
          <a:p>
            <a:pPr eaLnBrk="1" hangingPunct="1">
              <a:buFontTx/>
              <a:buNone/>
            </a:pPr>
            <a:r>
              <a:rPr lang="zh-CN" altLang="en-US" b="1" dirty="0"/>
              <a:t>   </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p:cNvSpPr>
            <a:spLocks noChangeArrowheads="1"/>
          </p:cNvSpPr>
          <p:nvPr/>
        </p:nvSpPr>
        <p:spPr bwMode="auto">
          <a:xfrm>
            <a:off x="684213" y="1341438"/>
            <a:ext cx="80772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Char char="Ø"/>
            </a:pPr>
            <a:r>
              <a:rPr lang="zh-CN" altLang="en-US" b="1" dirty="0"/>
              <a:t>线性表的基本操作</a:t>
            </a:r>
            <a:r>
              <a:rPr lang="en-US" altLang="zh-CN" b="1" dirty="0"/>
              <a:t>4</a:t>
            </a:r>
            <a:r>
              <a:rPr lang="en-US" altLang="zh-CN" b="1" dirty="0">
                <a:latin typeface="宋体" panose="02010600030101010101" pitchFamily="2" charset="-122"/>
              </a:rPr>
              <a:t>—</a:t>
            </a:r>
            <a:r>
              <a:rPr lang="zh-CN" altLang="en-US" b="1" dirty="0"/>
              <a:t>数组排序（</a:t>
            </a:r>
            <a:r>
              <a:rPr lang="zh-CN" altLang="en-US" b="1" dirty="0">
                <a:solidFill>
                  <a:srgbClr val="003399"/>
                </a:solidFill>
              </a:rPr>
              <a:t>选择排序</a:t>
            </a:r>
            <a:r>
              <a:rPr lang="zh-CN" altLang="en-US" b="1" dirty="0"/>
              <a:t>）</a:t>
            </a:r>
          </a:p>
          <a:p>
            <a:pPr eaLnBrk="1" hangingPunct="1">
              <a:buFont typeface="Wingdings" panose="05000000000000000000" pitchFamily="2" charset="2"/>
              <a:buNone/>
            </a:pPr>
            <a:r>
              <a:rPr lang="zh-CN" altLang="en-US" b="1" dirty="0"/>
              <a:t>升序排序算法设计思路：</a:t>
            </a:r>
          </a:p>
          <a:p>
            <a:pPr eaLnBrk="1" hangingPunct="1">
              <a:buFont typeface="Wingdings" panose="05000000000000000000" pitchFamily="2" charset="2"/>
              <a:buNone/>
            </a:pPr>
            <a:r>
              <a:rPr lang="zh-CN" altLang="en-US" b="1" dirty="0"/>
              <a:t>	从</a:t>
            </a:r>
            <a:r>
              <a:rPr lang="en-US" altLang="zh-CN" b="1" dirty="0"/>
              <a:t>a[0]~a[n-1]</a:t>
            </a:r>
            <a:r>
              <a:rPr lang="zh-CN" altLang="en-US" b="1" dirty="0"/>
              <a:t>元素中找最大元素</a:t>
            </a:r>
            <a:r>
              <a:rPr lang="en-US" altLang="zh-CN" b="1" dirty="0"/>
              <a:t>a[max]</a:t>
            </a:r>
            <a:r>
              <a:rPr lang="zh-CN" altLang="en-US" b="1" dirty="0"/>
              <a:t>，</a:t>
            </a:r>
            <a:r>
              <a:rPr lang="en-US" altLang="zh-CN" b="1" dirty="0"/>
              <a:t>a[n-1]</a:t>
            </a:r>
            <a:r>
              <a:rPr lang="zh-CN" altLang="en-US" b="1" dirty="0"/>
              <a:t>和</a:t>
            </a:r>
            <a:r>
              <a:rPr lang="en-US" altLang="zh-CN" b="1" dirty="0"/>
              <a:t>a[max]</a:t>
            </a:r>
            <a:r>
              <a:rPr lang="zh-CN" altLang="en-US" b="1" dirty="0"/>
              <a:t>交换；接着，从</a:t>
            </a:r>
            <a:r>
              <a:rPr lang="en-US" altLang="zh-CN" b="1" dirty="0"/>
              <a:t>a[0]~a[n-2]</a:t>
            </a:r>
            <a:r>
              <a:rPr lang="zh-CN" altLang="en-US" b="1" dirty="0"/>
              <a:t>元素中找最大元素</a:t>
            </a:r>
            <a:r>
              <a:rPr lang="en-US" altLang="zh-CN" b="1" dirty="0"/>
              <a:t>a[max]</a:t>
            </a:r>
            <a:r>
              <a:rPr lang="zh-CN" altLang="en-US" b="1" dirty="0"/>
              <a:t>，</a:t>
            </a:r>
            <a:r>
              <a:rPr lang="en-US" altLang="zh-CN" b="1" dirty="0"/>
              <a:t>a[n-2]</a:t>
            </a:r>
            <a:r>
              <a:rPr lang="zh-CN" altLang="en-US" b="1" dirty="0"/>
              <a:t>和</a:t>
            </a:r>
            <a:r>
              <a:rPr lang="en-US" altLang="zh-CN" b="1" dirty="0"/>
              <a:t>a[max]</a:t>
            </a:r>
            <a:r>
              <a:rPr lang="zh-CN" altLang="en-US" b="1" dirty="0"/>
              <a:t>交换；依次类推，直到搜索范围只剩</a:t>
            </a:r>
            <a:r>
              <a:rPr lang="en-US" altLang="zh-CN" b="1" dirty="0"/>
              <a:t>a[0]</a:t>
            </a:r>
            <a:r>
              <a:rPr lang="zh-CN" altLang="en-US" b="1" dirty="0"/>
              <a:t>元素为止。</a:t>
            </a:r>
          </a:p>
        </p:txBody>
      </p:sp>
      <p:sp>
        <p:nvSpPr>
          <p:cNvPr id="154628" name="Rectangle 4"/>
          <p:cNvSpPr>
            <a:spLocks noChangeArrowheads="1"/>
          </p:cNvSpPr>
          <p:nvPr/>
        </p:nvSpPr>
        <p:spPr bwMode="auto">
          <a:xfrm>
            <a:off x="755650" y="4149725"/>
            <a:ext cx="8077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b="1" dirty="0"/>
              <a:t>程序设计考虑：</a:t>
            </a:r>
          </a:p>
          <a:p>
            <a:pPr eaLnBrk="1" hangingPunct="1">
              <a:buFont typeface="Wingdings" panose="05000000000000000000" pitchFamily="2" charset="2"/>
              <a:buNone/>
            </a:pPr>
            <a:r>
              <a:rPr lang="zh-CN" altLang="en-US" b="1" dirty="0"/>
              <a:t>    利用查找数组最大元素的函数对线性表升序排序</a:t>
            </a:r>
          </a:p>
        </p:txBody>
      </p:sp>
      <p:sp>
        <p:nvSpPr>
          <p:cNvPr id="97286" name="Rectangle 9"/>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en-US" altLang="zh-CN" sz="3200" b="1">
                <a:solidFill>
                  <a:srgbClr val="FF3300"/>
                </a:solidFill>
              </a:rPr>
              <a:t>6.5 </a:t>
            </a:r>
            <a:r>
              <a:rPr lang="zh-CN" altLang="en-US" sz="3200" b="1">
                <a:solidFill>
                  <a:srgbClr val="FF3300"/>
                </a:solidFill>
              </a:rPr>
              <a:t>数组的应用</a:t>
            </a:r>
            <a:r>
              <a:rPr lang="en-US" altLang="zh-CN" sz="3200" b="1">
                <a:solidFill>
                  <a:srgbClr val="FF3300"/>
                </a:solidFill>
              </a:rPr>
              <a:t>-</a:t>
            </a:r>
            <a:r>
              <a:rPr lang="zh-CN" altLang="en-US" sz="3200" b="1">
                <a:solidFill>
                  <a:srgbClr val="FF3300"/>
                </a:solidFill>
              </a:rPr>
              <a:t>选择排序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4628"/>
                                        </p:tgtEl>
                                        <p:attrNameLst>
                                          <p:attrName>style.visibility</p:attrName>
                                        </p:attrNameLst>
                                      </p:cBhvr>
                                      <p:to>
                                        <p:strVal val="visible"/>
                                      </p:to>
                                    </p:set>
                                    <p:animEffect transition="in" filter="dissolve">
                                      <p:cBhvr>
                                        <p:cTn id="7" dur="500"/>
                                        <p:tgtEl>
                                          <p:spTgt spid="154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选择排序算法</a:t>
            </a:r>
          </a:p>
        </p:txBody>
      </p:sp>
      <p:sp>
        <p:nvSpPr>
          <p:cNvPr id="3" name="内容占位符 2"/>
          <p:cNvSpPr>
            <a:spLocks noGrp="1"/>
          </p:cNvSpPr>
          <p:nvPr>
            <p:ph idx="1"/>
          </p:nvPr>
        </p:nvSpPr>
        <p:spPr>
          <a:xfrm>
            <a:off x="116840" y="1319529"/>
            <a:ext cx="8919210" cy="5133657"/>
          </a:xfrm>
        </p:spPr>
        <p:txBody>
          <a:bodyPr/>
          <a:lstStyle/>
          <a:p>
            <a:pPr eaLnBrk="1" hangingPunct="1">
              <a:lnSpc>
                <a:spcPct val="80000"/>
              </a:lnSpc>
              <a:buFontTx/>
              <a:buNone/>
            </a:pPr>
            <a:r>
              <a:rPr lang="en-US" altLang="zh-CN" sz="2200" dirty="0">
                <a:latin typeface="Consolas" panose="020B0609020204030204" pitchFamily="49" charset="0"/>
                <a:sym typeface="+mn-ea"/>
              </a:rPr>
              <a:t>void </a:t>
            </a:r>
            <a:r>
              <a:rPr lang="en-US" altLang="zh-CN" sz="2200" dirty="0" err="1">
                <a:latin typeface="Consolas" panose="020B0609020204030204" pitchFamily="49" charset="0"/>
                <a:sym typeface="+mn-ea"/>
              </a:rPr>
              <a:t>selectSort</a:t>
            </a:r>
            <a:r>
              <a:rPr lang="en-US" altLang="zh-CN" sz="2200" dirty="0">
                <a:latin typeface="Consolas" panose="020B0609020204030204" pitchFamily="49" charset="0"/>
                <a:sym typeface="+mn-ea"/>
              </a:rPr>
              <a:t>(int a[],int n)  </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int </a:t>
            </a:r>
            <a:r>
              <a:rPr lang="en-US" altLang="zh-CN" sz="2200" dirty="0" err="1">
                <a:latin typeface="Consolas" panose="020B0609020204030204" pitchFamily="49" charset="0"/>
                <a:sym typeface="+mn-ea"/>
              </a:rPr>
              <a:t>i,j,max,tmp</a:t>
            </a:r>
            <a:r>
              <a:rPr lang="en-US" altLang="zh-CN" sz="2200" dirty="0">
                <a:latin typeface="Consolas" panose="020B0609020204030204" pitchFamily="49" charset="0"/>
                <a:sym typeface="+mn-ea"/>
              </a:rPr>
              <a:t>;</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for (</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=1; </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&lt;=n-1; </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a:t>
            </a:r>
          </a:p>
          <a:p>
            <a:pPr eaLnBrk="1" hangingPunct="1">
              <a:lnSpc>
                <a:spcPct val="80000"/>
              </a:lnSpc>
              <a:buFontTx/>
              <a:buNone/>
            </a:pPr>
            <a:r>
              <a:rPr lang="en-US" altLang="zh-CN" sz="2200" dirty="0">
                <a:latin typeface="Consolas" panose="020B0609020204030204" pitchFamily="49" charset="0"/>
                <a:sym typeface="+mn-ea"/>
              </a:rPr>
              <a:t>		max = n-</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for (j=0; j&lt;=n-1-</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 </a:t>
            </a:r>
            <a:r>
              <a:rPr lang="en-US" altLang="zh-CN" sz="2200" dirty="0" err="1">
                <a:latin typeface="Consolas" panose="020B0609020204030204" pitchFamily="49" charset="0"/>
                <a:sym typeface="+mn-ea"/>
              </a:rPr>
              <a:t>j++</a:t>
            </a:r>
            <a:r>
              <a:rPr lang="en-US" altLang="zh-CN" sz="2200" dirty="0">
                <a:latin typeface="Consolas" panose="020B0609020204030204" pitchFamily="49" charset="0"/>
                <a:sym typeface="+mn-ea"/>
              </a:rPr>
              <a:t>){		</a:t>
            </a:r>
          </a:p>
          <a:p>
            <a:pPr eaLnBrk="1" hangingPunct="1">
              <a:lnSpc>
                <a:spcPct val="80000"/>
              </a:lnSpc>
              <a:buFontTx/>
              <a:buNone/>
            </a:pPr>
            <a:r>
              <a:rPr lang="en-US" altLang="zh-CN" sz="2200" dirty="0">
                <a:latin typeface="Consolas" panose="020B0609020204030204" pitchFamily="49" charset="0"/>
                <a:sym typeface="+mn-ea"/>
              </a:rPr>
              <a:t>			if (a[j] &gt; a[max])</a:t>
            </a:r>
          </a:p>
          <a:p>
            <a:pPr eaLnBrk="1" hangingPunct="1">
              <a:lnSpc>
                <a:spcPct val="80000"/>
              </a:lnSpc>
              <a:buFontTx/>
              <a:buNone/>
            </a:pPr>
            <a:r>
              <a:rPr lang="en-US" altLang="zh-CN" sz="2200" dirty="0">
                <a:latin typeface="Consolas" panose="020B0609020204030204" pitchFamily="49" charset="0"/>
                <a:sym typeface="+mn-ea"/>
              </a:rPr>
              <a:t>				max = j;</a:t>
            </a:r>
          </a:p>
          <a:p>
            <a:pPr eaLnBrk="1" hangingPunct="1">
              <a:lnSpc>
                <a:spcPct val="80000"/>
              </a:lnSpc>
              <a:buFontTx/>
              <a:buNone/>
            </a:pPr>
            <a:r>
              <a:rPr lang="en-US" altLang="zh-CN" sz="2200" dirty="0">
                <a:latin typeface="Consolas" panose="020B0609020204030204" pitchFamily="49" charset="0"/>
                <a:sym typeface="+mn-ea"/>
              </a:rPr>
              <a:t>		}</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if (n-</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 != max){ </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a:t>
            </a:r>
            <a:r>
              <a:rPr lang="en-US" altLang="zh-CN" sz="2200" dirty="0" err="1">
                <a:latin typeface="Consolas" panose="020B0609020204030204" pitchFamily="49" charset="0"/>
                <a:sym typeface="+mn-ea"/>
              </a:rPr>
              <a:t>tmp</a:t>
            </a:r>
            <a:r>
              <a:rPr lang="en-US" altLang="zh-CN" sz="2200" dirty="0">
                <a:latin typeface="Consolas" panose="020B0609020204030204" pitchFamily="49" charset="0"/>
                <a:sym typeface="+mn-ea"/>
              </a:rPr>
              <a:t> = a[n-</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a[n-</a:t>
            </a:r>
            <a:r>
              <a:rPr lang="en-US" altLang="zh-CN" sz="2200" dirty="0" err="1">
                <a:latin typeface="Consolas" panose="020B0609020204030204" pitchFamily="49" charset="0"/>
                <a:sym typeface="+mn-ea"/>
              </a:rPr>
              <a:t>i</a:t>
            </a:r>
            <a:r>
              <a:rPr lang="en-US" altLang="zh-CN" sz="2200" dirty="0">
                <a:latin typeface="Consolas" panose="020B0609020204030204" pitchFamily="49" charset="0"/>
                <a:sym typeface="+mn-ea"/>
              </a:rPr>
              <a:t>] = a[max];</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a[max] = </a:t>
            </a:r>
            <a:r>
              <a:rPr lang="en-US" altLang="zh-CN" sz="2200" dirty="0" err="1">
                <a:latin typeface="Consolas" panose="020B0609020204030204" pitchFamily="49" charset="0"/>
                <a:sym typeface="+mn-ea"/>
              </a:rPr>
              <a:t>tmp</a:t>
            </a:r>
            <a:r>
              <a:rPr lang="en-US" altLang="zh-CN" sz="2200" dirty="0">
                <a:latin typeface="Consolas" panose="020B0609020204030204" pitchFamily="49" charset="0"/>
                <a:sym typeface="+mn-ea"/>
              </a:rPr>
              <a:t>;</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        </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 </a:t>
            </a:r>
            <a:endParaRPr lang="en-US" altLang="zh-CN" sz="2200" dirty="0">
              <a:latin typeface="Consolas" panose="020B0609020204030204" pitchFamily="49" charset="0"/>
            </a:endParaRPr>
          </a:p>
          <a:p>
            <a:pPr eaLnBrk="1" hangingPunct="1">
              <a:lnSpc>
                <a:spcPct val="80000"/>
              </a:lnSpc>
              <a:buFontTx/>
              <a:buNone/>
            </a:pPr>
            <a:r>
              <a:rPr lang="en-US" altLang="zh-CN" sz="2200" dirty="0">
                <a:latin typeface="Consolas" panose="020B0609020204030204" pitchFamily="49" charset="0"/>
                <a:sym typeface="+mn-ea"/>
              </a:rPr>
              <a:t>}   </a:t>
            </a:r>
            <a:endParaRPr lang="en-US" altLang="zh-CN" sz="2200" dirty="0">
              <a:latin typeface="Consolas" panose="020B0609020204030204" pitchFamily="49" charset="0"/>
            </a:endParaRPr>
          </a:p>
          <a:p>
            <a:pPr marL="0" indent="0">
              <a:buNone/>
            </a:pPr>
            <a:endParaRPr lang="zh-CN" altLang="en-US" sz="2200" dirty="0">
              <a:latin typeface="Consolas" panose="020B0609020204030204" pitchFamily="49"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7C87E-E00B-381C-5CED-A7FC071EC5B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189C2D-017F-C94A-8046-E1EBCDD9292D}"/>
              </a:ext>
            </a:extLst>
          </p:cNvPr>
          <p:cNvSpPr>
            <a:spLocks noGrp="1"/>
          </p:cNvSpPr>
          <p:nvPr>
            <p:ph idx="1"/>
          </p:nvPr>
        </p:nvSpPr>
        <p:spPr>
          <a:xfrm>
            <a:off x="359532" y="1412776"/>
            <a:ext cx="8424936" cy="4590925"/>
          </a:xfrm>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10</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(const int a[],int n);</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selectSort</a:t>
            </a:r>
            <a:r>
              <a:rPr lang="en-US" altLang="zh-CN" sz="2000" dirty="0">
                <a:latin typeface="Consolas" panose="020B0609020204030204" pitchFamily="49" charset="0"/>
              </a:rPr>
              <a:t>(int a[],int n);</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int a[SIZE]={2,1,6,9,8,36,27,25,12,7};</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selectSort</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return</a:t>
            </a:r>
            <a:r>
              <a:rPr lang="zh-CN" altLang="en-US" sz="2000" dirty="0">
                <a:latin typeface="Consolas" panose="020B0609020204030204" pitchFamily="49" charset="0"/>
              </a:rPr>
              <a:t> </a:t>
            </a:r>
            <a:r>
              <a:rPr lang="en-US" altLang="zh-CN" sz="2000" dirty="0">
                <a:latin typeface="Consolas" panose="020B0609020204030204" pitchFamily="49" charset="0"/>
              </a:rPr>
              <a:t>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147600295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txBox="1"/>
          <p:nvPr/>
        </p:nvSpPr>
        <p:spPr>
          <a:xfrm>
            <a:off x="4742180" y="451485"/>
            <a:ext cx="4149725" cy="57150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None/>
            </a:pPr>
            <a:r>
              <a:rPr lang="en-US" altLang="zh-CN" sz="2800" b="1" dirty="0">
                <a:solidFill>
                  <a:srgbClr val="FF0000"/>
                </a:solidFill>
                <a:latin typeface="楷体" panose="02010609060101010101" pitchFamily="49" charset="-122"/>
                <a:ea typeface="楷体" panose="02010609060101010101" pitchFamily="49" charset="-122"/>
              </a:rPr>
              <a:t>2.</a:t>
            </a:r>
            <a:r>
              <a:rPr lang="zh-CN" altLang="en-US" sz="2800" b="1" dirty="0">
                <a:solidFill>
                  <a:srgbClr val="FF0000"/>
                </a:solidFill>
                <a:latin typeface="楷体" panose="02010609060101010101" pitchFamily="49" charset="-122"/>
                <a:ea typeface="楷体" panose="02010609060101010101" pitchFamily="49" charset="-122"/>
              </a:rPr>
              <a:t>简单选择排序性能分析</a:t>
            </a:r>
          </a:p>
        </p:txBody>
      </p:sp>
      <p:sp>
        <p:nvSpPr>
          <p:cNvPr id="27651" name="Rectangle 3" descr="Rectangle: Click to edit Master text styles&#10;Second level&#10;Third level&#10;Fourth level&#10;Fifth level"/>
          <p:cNvSpPr txBox="1"/>
          <p:nvPr/>
        </p:nvSpPr>
        <p:spPr>
          <a:xfrm>
            <a:off x="221933" y="1187450"/>
            <a:ext cx="8472487" cy="411480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342900" lvl="0" indent="-342900"/>
            <a:r>
              <a:rPr lang="zh-CN" altLang="en-US" sz="2800" b="1" dirty="0">
                <a:solidFill>
                  <a:srgbClr val="0000FF"/>
                </a:solidFill>
                <a:latin typeface="楷体" panose="02010609060101010101" pitchFamily="49" charset="-122"/>
                <a:ea typeface="楷体" panose="02010609060101010101" pitchFamily="49" charset="-122"/>
              </a:rPr>
              <a:t>最好情况</a:t>
            </a:r>
          </a:p>
          <a:p>
            <a:pPr marL="342900" lvl="0" indent="-342900">
              <a:buFont typeface="Wingdings" panose="05000000000000000000" pitchFamily="2" charset="2"/>
              <a:buNone/>
            </a:pPr>
            <a:endParaRPr lang="en-US" altLang="zh-CN" sz="2800" b="1" dirty="0">
              <a:latin typeface="楷体" panose="02010609060101010101" pitchFamily="49" charset="-122"/>
              <a:ea typeface="楷体" panose="02010609060101010101" pitchFamily="49" charset="-122"/>
            </a:endParaRPr>
          </a:p>
          <a:p>
            <a:pPr marL="342900" lvl="0" indent="-342900"/>
            <a:r>
              <a:rPr lang="zh-CN" altLang="en-US" sz="2800" b="1" dirty="0">
                <a:solidFill>
                  <a:srgbClr val="0000FF"/>
                </a:solidFill>
                <a:latin typeface="楷体" panose="02010609060101010101" pitchFamily="49" charset="-122"/>
                <a:ea typeface="楷体" panose="02010609060101010101" pitchFamily="49" charset="-122"/>
              </a:rPr>
              <a:t>最坏情况</a:t>
            </a:r>
          </a:p>
          <a:p>
            <a:pPr marL="342900" lvl="0" indent="-342900">
              <a:buFont typeface="Wingdings" panose="05000000000000000000" pitchFamily="2" charset="2"/>
              <a:buNone/>
            </a:pPr>
            <a:r>
              <a:rPr lang="zh-CN" altLang="en-US" sz="2800" b="1" dirty="0">
                <a:latin typeface="楷体" panose="02010609060101010101" pitchFamily="49" charset="-122"/>
                <a:ea typeface="楷体" panose="02010609060101010101" pitchFamily="49" charset="-122"/>
              </a:rPr>
              <a:t> </a:t>
            </a:r>
          </a:p>
          <a:p>
            <a:pPr marL="342900" lvl="0" indent="-342900"/>
            <a:r>
              <a:rPr lang="zh-CN" altLang="en-US" sz="2800" b="1" dirty="0">
                <a:solidFill>
                  <a:srgbClr val="0000FF"/>
                </a:solidFill>
                <a:latin typeface="楷体" panose="02010609060101010101" pitchFamily="49" charset="-122"/>
                <a:ea typeface="楷体" panose="02010609060101010101" pitchFamily="49" charset="-122"/>
              </a:rPr>
              <a:t>平均情况</a:t>
            </a:r>
            <a:endParaRPr lang="en-US" altLang="zh-CN" sz="2800" b="1" dirty="0">
              <a:solidFill>
                <a:srgbClr val="0000FF"/>
              </a:solidFill>
              <a:latin typeface="楷体" panose="02010609060101010101" pitchFamily="49" charset="-122"/>
              <a:ea typeface="楷体" panose="02010609060101010101" pitchFamily="49" charset="-122"/>
            </a:endParaRPr>
          </a:p>
        </p:txBody>
      </p:sp>
      <p:sp>
        <p:nvSpPr>
          <p:cNvPr id="6" name="Text Box 4"/>
          <p:cNvSpPr txBox="1"/>
          <p:nvPr/>
        </p:nvSpPr>
        <p:spPr>
          <a:xfrm>
            <a:off x="1074420" y="1592580"/>
            <a:ext cx="7620000" cy="523875"/>
          </a:xfrm>
          <a:prstGeom prst="rect">
            <a:avLst/>
          </a:prstGeom>
          <a:noFill/>
          <a:ln w="50800">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buNone/>
            </a:pPr>
            <a:r>
              <a:rPr lang="zh-CN" altLang="en-US" sz="2800" b="1" dirty="0">
                <a:latin typeface="楷体" panose="02010609060101010101" pitchFamily="49" charset="-122"/>
                <a:ea typeface="楷体" panose="02010609060101010101" pitchFamily="49" charset="-122"/>
              </a:rPr>
              <a:t>正序序列：比较            移动</a:t>
            </a:r>
            <a:endParaRPr lang="en-US" altLang="zh-CN" sz="2800" b="1" dirty="0">
              <a:latin typeface="楷体" panose="02010609060101010101" pitchFamily="49" charset="-122"/>
              <a:ea typeface="楷体" panose="02010609060101010101" pitchFamily="49" charset="-122"/>
            </a:endParaRPr>
          </a:p>
        </p:txBody>
      </p:sp>
      <p:sp>
        <p:nvSpPr>
          <p:cNvPr id="7" name="Text Box 5"/>
          <p:cNvSpPr txBox="1"/>
          <p:nvPr/>
        </p:nvSpPr>
        <p:spPr>
          <a:xfrm>
            <a:off x="1074103" y="2548573"/>
            <a:ext cx="7877175" cy="480131"/>
          </a:xfrm>
          <a:prstGeom prst="rect">
            <a:avLst/>
          </a:prstGeom>
          <a:noFill/>
          <a:ln w="50800">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buNone/>
            </a:pPr>
            <a:r>
              <a:rPr lang="zh-CN" altLang="en-US" sz="2800" b="1" dirty="0">
                <a:latin typeface="楷体" panose="02010609060101010101" pitchFamily="49" charset="-122"/>
                <a:ea typeface="楷体" panose="02010609060101010101" pitchFamily="49" charset="-122"/>
              </a:rPr>
              <a:t>逆序序列：比较           移动</a:t>
            </a:r>
            <a:r>
              <a:rPr lang="en-US" altLang="zh-CN" sz="2800" b="1" dirty="0">
                <a:solidFill>
                  <a:srgbClr val="0000FF"/>
                </a:solidFill>
                <a:latin typeface="楷体" panose="02010609060101010101" pitchFamily="49" charset="-122"/>
                <a:ea typeface="楷体" panose="02010609060101010101" pitchFamily="49" charset="-122"/>
              </a:rPr>
              <a:t>(</a:t>
            </a:r>
            <a:r>
              <a:rPr lang="zh-CN" altLang="en-US" sz="2800" b="1" dirty="0">
                <a:solidFill>
                  <a:srgbClr val="0000FF"/>
                </a:solidFill>
                <a:latin typeface="楷体" panose="02010609060101010101" pitchFamily="49" charset="-122"/>
                <a:ea typeface="楷体" panose="02010609060101010101" pitchFamily="49" charset="-122"/>
              </a:rPr>
              <a:t>赋值</a:t>
            </a:r>
            <a:r>
              <a:rPr lang="en-US" altLang="zh-CN" sz="2800" b="1" dirty="0">
                <a:solidFill>
                  <a:srgbClr val="0000FF"/>
                </a:solidFill>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
        <p:nvSpPr>
          <p:cNvPr id="8" name="Rectangle 6"/>
          <p:cNvSpPr/>
          <p:nvPr/>
        </p:nvSpPr>
        <p:spPr>
          <a:xfrm>
            <a:off x="1609725" y="3572510"/>
            <a:ext cx="6265863" cy="523875"/>
          </a:xfrm>
          <a:prstGeom prst="rect">
            <a:avLst/>
          </a:prstGeom>
          <a:noFill/>
          <a:ln w="50800">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buClr>
                <a:schemeClr val="hlink"/>
              </a:buClr>
              <a:buSzPct val="110000"/>
              <a:buFont typeface="Wingdings" panose="05000000000000000000" pitchFamily="2" charset="2"/>
              <a:buNone/>
            </a:pPr>
            <a:r>
              <a:rPr lang="zh-CN" altLang="en-US" sz="2800" b="1" dirty="0">
                <a:latin typeface="楷体" panose="02010609060101010101" pitchFamily="49" charset="-122"/>
                <a:ea typeface="楷体" panose="02010609060101010101" pitchFamily="49" charset="-122"/>
              </a:rPr>
              <a:t>时间复杂度 </a:t>
            </a:r>
            <a:r>
              <a:rPr lang="en-US" altLang="zh-CN" sz="2800" b="1" dirty="0">
                <a:latin typeface="楷体" panose="02010609060101010101" pitchFamily="49" charset="-122"/>
                <a:ea typeface="楷体" panose="02010609060101010101" pitchFamily="49" charset="-122"/>
              </a:rPr>
              <a:t>O(n</a:t>
            </a:r>
            <a:r>
              <a:rPr lang="en-US" altLang="zh-CN" sz="2800" b="1" baseline="30000" dirty="0">
                <a:latin typeface="楷体" panose="02010609060101010101" pitchFamily="49" charset="-122"/>
                <a:ea typeface="楷体" panose="02010609060101010101" pitchFamily="49" charset="-122"/>
              </a:rPr>
              <a:t>2</a:t>
            </a: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空间复杂度  </a:t>
            </a:r>
            <a:r>
              <a:rPr lang="en-US" altLang="zh-CN" sz="2800" b="1" dirty="0">
                <a:latin typeface="楷体" panose="02010609060101010101" pitchFamily="49" charset="-122"/>
                <a:ea typeface="楷体" panose="02010609060101010101" pitchFamily="49" charset="-122"/>
              </a:rPr>
              <a:t>O(1)</a:t>
            </a:r>
          </a:p>
        </p:txBody>
      </p:sp>
      <p:sp>
        <p:nvSpPr>
          <p:cNvPr id="9" name="Text Box 7"/>
          <p:cNvSpPr txBox="1"/>
          <p:nvPr/>
        </p:nvSpPr>
        <p:spPr>
          <a:xfrm>
            <a:off x="6957695" y="1564640"/>
            <a:ext cx="647700" cy="523875"/>
          </a:xfrm>
          <a:prstGeom prst="rect">
            <a:avLst/>
          </a:prstGeom>
          <a:noFill/>
          <a:ln w="50800">
            <a:noFill/>
          </a:ln>
        </p:spPr>
        <p:txBody>
          <a:bodyPr>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None/>
            </a:pPr>
            <a:r>
              <a:rPr lang="en-US" altLang="zh-CN" sz="2800" b="1" dirty="0">
                <a:latin typeface="楷体" panose="02010609060101010101" pitchFamily="49" charset="-122"/>
                <a:ea typeface="楷体" panose="02010609060101010101" pitchFamily="49" charset="-122"/>
              </a:rPr>
              <a:t>0</a:t>
            </a:r>
          </a:p>
        </p:txBody>
      </p:sp>
      <p:graphicFrame>
        <p:nvGraphicFramePr>
          <p:cNvPr id="10" name="Object 8"/>
          <p:cNvGraphicFramePr>
            <a:graphicFrameLocks noChangeAspect="1"/>
          </p:cNvGraphicFramePr>
          <p:nvPr/>
        </p:nvGraphicFramePr>
        <p:xfrm>
          <a:off x="3893820" y="2403158"/>
          <a:ext cx="985838" cy="882650"/>
        </p:xfrm>
        <a:graphic>
          <a:graphicData uri="http://schemas.openxmlformats.org/presentationml/2006/ole">
            <mc:AlternateContent xmlns:mc="http://schemas.openxmlformats.org/markup-compatibility/2006">
              <mc:Choice xmlns:v="urn:schemas-microsoft-com:vml" Requires="v">
                <p:oleObj r:id="rId2" imgW="482600" imgH="431800" progId="Equation.3">
                  <p:embed/>
                </p:oleObj>
              </mc:Choice>
              <mc:Fallback>
                <p:oleObj r:id="rId2" imgW="482600" imgH="431800" progId="Equation.3">
                  <p:embed/>
                  <p:pic>
                    <p:nvPicPr>
                      <p:cNvPr id="0" name="图片 3081"/>
                      <p:cNvPicPr/>
                      <p:nvPr/>
                    </p:nvPicPr>
                    <p:blipFill>
                      <a:blip r:embed="rId3"/>
                      <a:stretch>
                        <a:fillRect/>
                      </a:stretch>
                    </p:blipFill>
                    <p:spPr>
                      <a:xfrm>
                        <a:off x="3893820" y="2403158"/>
                        <a:ext cx="985838" cy="882650"/>
                      </a:xfrm>
                      <a:prstGeom prst="rect">
                        <a:avLst/>
                      </a:prstGeom>
                      <a:noFill/>
                      <a:ln w="38100">
                        <a:noFill/>
                        <a:miter/>
                      </a:ln>
                    </p:spPr>
                  </p:pic>
                </p:oleObj>
              </mc:Fallback>
            </mc:AlternateContent>
          </a:graphicData>
        </a:graphic>
      </p:graphicFrame>
      <p:graphicFrame>
        <p:nvGraphicFramePr>
          <p:cNvPr id="11" name="Object 9"/>
          <p:cNvGraphicFramePr>
            <a:graphicFrameLocks noChangeAspect="1"/>
          </p:cNvGraphicFramePr>
          <p:nvPr/>
        </p:nvGraphicFramePr>
        <p:xfrm>
          <a:off x="3843973" y="1385253"/>
          <a:ext cx="985837" cy="882650"/>
        </p:xfrm>
        <a:graphic>
          <a:graphicData uri="http://schemas.openxmlformats.org/presentationml/2006/ole">
            <mc:AlternateContent xmlns:mc="http://schemas.openxmlformats.org/markup-compatibility/2006">
              <mc:Choice xmlns:v="urn:schemas-microsoft-com:vml" Requires="v">
                <p:oleObj r:id="rId4" imgW="482600" imgH="431800" progId="Equation.3">
                  <p:embed/>
                </p:oleObj>
              </mc:Choice>
              <mc:Fallback>
                <p:oleObj r:id="rId4" imgW="482600" imgH="431800" progId="Equation.3">
                  <p:embed/>
                  <p:pic>
                    <p:nvPicPr>
                      <p:cNvPr id="0" name="图片 3080"/>
                      <p:cNvPicPr/>
                      <p:nvPr/>
                    </p:nvPicPr>
                    <p:blipFill>
                      <a:blip r:embed="rId3"/>
                      <a:stretch>
                        <a:fillRect/>
                      </a:stretch>
                    </p:blipFill>
                    <p:spPr>
                      <a:xfrm>
                        <a:off x="3843973" y="1385253"/>
                        <a:ext cx="985837" cy="882650"/>
                      </a:xfrm>
                      <a:prstGeom prst="rect">
                        <a:avLst/>
                      </a:prstGeom>
                      <a:noFill/>
                      <a:ln w="38100">
                        <a:noFill/>
                        <a:miter/>
                      </a:ln>
                    </p:spPr>
                  </p:pic>
                </p:oleObj>
              </mc:Fallback>
            </mc:AlternateContent>
          </a:graphicData>
        </a:graphic>
      </p:graphicFrame>
      <p:sp>
        <p:nvSpPr>
          <p:cNvPr id="12" name="Text Box 10"/>
          <p:cNvSpPr txBox="1"/>
          <p:nvPr/>
        </p:nvSpPr>
        <p:spPr>
          <a:xfrm>
            <a:off x="7452320" y="2514795"/>
            <a:ext cx="1439585" cy="480131"/>
          </a:xfrm>
          <a:prstGeom prst="rect">
            <a:avLst/>
          </a:prstGeom>
          <a:noFill/>
          <a:ln w="50800">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50000"/>
              </a:spcBef>
              <a:buNone/>
            </a:pPr>
            <a:r>
              <a:rPr lang="en-US" altLang="zh-CN" sz="2800" b="1" dirty="0">
                <a:latin typeface="楷体" panose="02010609060101010101" pitchFamily="49" charset="-122"/>
                <a:ea typeface="楷体" panose="02010609060101010101" pitchFamily="49" charset="-122"/>
              </a:rPr>
              <a:t>3*(n-1)</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up)">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内容占位符 2"/>
          <p:cNvSpPr>
            <a:spLocks noGrp="1"/>
          </p:cNvSpPr>
          <p:nvPr>
            <p:ph idx="1"/>
          </p:nvPr>
        </p:nvSpPr>
        <p:spPr>
          <a:xfrm>
            <a:off x="611505" y="1269365"/>
            <a:ext cx="7772400" cy="5055235"/>
          </a:xfrm>
        </p:spPr>
        <p:txBody>
          <a:bodyPr/>
          <a:lstStyle/>
          <a:p>
            <a:pPr marL="0" indent="0">
              <a:buFontTx/>
              <a:buNone/>
            </a:pPr>
            <a:r>
              <a:rPr lang="zh-CN" altLang="en-US" sz="2400" b="1" dirty="0"/>
              <a:t>有一个已经有序的数据序列，插入一个数，要求插入后此数据序列仍然有序，这种新的排序方法——插入排序法。算法适用于少量数据的排序，时间复杂度为O(n^2)。</a:t>
            </a:r>
          </a:p>
          <a:p>
            <a:pPr marL="0" indent="0">
              <a:buFontTx/>
              <a:buNone/>
            </a:pPr>
            <a:r>
              <a:rPr lang="zh-CN" altLang="en-US" sz="2400" b="1" dirty="0"/>
              <a:t>包括：直接插入排序，折半插入排序。</a:t>
            </a:r>
          </a:p>
          <a:p>
            <a:r>
              <a:rPr lang="zh-CN" altLang="en-US" sz="2400" b="1" dirty="0">
                <a:solidFill>
                  <a:srgbClr val="0000FF"/>
                </a:solidFill>
                <a:latin typeface="楷体" panose="02010609060101010101" pitchFamily="49" charset="-122"/>
                <a:ea typeface="楷体" panose="02010609060101010101" pitchFamily="49" charset="-122"/>
              </a:rPr>
              <a:t>基本操作</a:t>
            </a:r>
            <a:r>
              <a:rPr lang="en-US" altLang="zh-CN" sz="2400" b="1" dirty="0">
                <a:solidFill>
                  <a:srgbClr val="0000FF"/>
                </a:solidFill>
                <a:latin typeface="楷体" panose="02010609060101010101" pitchFamily="49" charset="-122"/>
                <a:ea typeface="楷体" panose="02010609060101010101" pitchFamily="49" charset="-122"/>
              </a:rPr>
              <a:t>:</a:t>
            </a:r>
            <a:r>
              <a:rPr lang="zh-CN" altLang="en-US" sz="2400" b="1" dirty="0">
                <a:latin typeface="楷体" panose="02010609060101010101" pitchFamily="49" charset="-122"/>
                <a:ea typeface="楷体" panose="02010609060101010101" pitchFamily="49" charset="-122"/>
              </a:rPr>
              <a:t>将一个记录插入到已排好序的有序表中，从而得到一个新的、记录数增</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的有序表。</a:t>
            </a:r>
          </a:p>
        </p:txBody>
      </p:sp>
      <p:sp>
        <p:nvSpPr>
          <p:cNvPr id="109571" name="Rectangle 2"/>
          <p:cNvSpPr>
            <a:spLocks noGrp="1" noChangeArrowheads="1"/>
          </p:cNvSpPr>
          <p:nvPr>
            <p:ph type="title"/>
          </p:nvPr>
        </p:nvSpPr>
        <p:spPr/>
        <p:txBody>
          <a:bodyPr/>
          <a:lstStyle/>
          <a:p>
            <a:pPr eaLnBrk="1" hangingPunct="1"/>
            <a:r>
              <a:rPr lang="en-US" altLang="zh-CN" b="1"/>
              <a:t>6.5 </a:t>
            </a:r>
            <a:r>
              <a:rPr lang="zh-CN" altLang="en-US" b="1"/>
              <a:t>数组的应用</a:t>
            </a:r>
            <a:r>
              <a:rPr lang="en-US" altLang="zh-CN" b="1"/>
              <a:t>-</a:t>
            </a:r>
            <a:r>
              <a:rPr lang="zh-CN" altLang="en-US" b="1"/>
              <a:t>插入排序</a:t>
            </a:r>
          </a:p>
        </p:txBody>
      </p:sp>
      <p:grpSp>
        <p:nvGrpSpPr>
          <p:cNvPr id="3" name="Group 5">
            <a:extLst>
              <a:ext uri="{FF2B5EF4-FFF2-40B4-BE49-F238E27FC236}">
                <a16:creationId xmlns:a16="http://schemas.microsoft.com/office/drawing/2014/main" id="{9B895422-8A3E-C0C3-6529-1C457155363A}"/>
              </a:ext>
            </a:extLst>
          </p:cNvPr>
          <p:cNvGrpSpPr>
            <a:grpSpLocks/>
          </p:cNvGrpSpPr>
          <p:nvPr/>
        </p:nvGrpSpPr>
        <p:grpSpPr bwMode="auto">
          <a:xfrm>
            <a:off x="1187089" y="4149081"/>
            <a:ext cx="6311070" cy="1896703"/>
            <a:chOff x="1067" y="2387"/>
            <a:chExt cx="3627" cy="1286"/>
          </a:xfrm>
        </p:grpSpPr>
        <p:sp>
          <p:nvSpPr>
            <p:cNvPr id="4" name="Text Box 6">
              <a:extLst>
                <a:ext uri="{FF2B5EF4-FFF2-40B4-BE49-F238E27FC236}">
                  <a16:creationId xmlns:a16="http://schemas.microsoft.com/office/drawing/2014/main" id="{457E1746-0184-8F5A-E092-F7F77A27AC61}"/>
                </a:ext>
              </a:extLst>
            </p:cNvPr>
            <p:cNvSpPr txBox="1">
              <a:spLocks noChangeArrowheads="1"/>
            </p:cNvSpPr>
            <p:nvPr/>
          </p:nvSpPr>
          <p:spPr bwMode="auto">
            <a:xfrm>
              <a:off x="1111" y="2931"/>
              <a:ext cx="35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None/>
              </a:pPr>
              <a:r>
                <a:rPr lang="en-US" altLang="zh-CN" sz="2400" b="1">
                  <a:latin typeface="Times New Roman" panose="02020603050405020304" pitchFamily="18" charset="0"/>
                </a:rPr>
                <a:t>r</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≤r</a:t>
              </a:r>
              <a:r>
                <a:rPr lang="en-US" altLang="zh-CN" sz="2400" b="1" baseline="-25000">
                  <a:latin typeface="Times New Roman" panose="02020603050405020304" pitchFamily="18" charset="0"/>
                </a:rPr>
                <a:t>2</a:t>
              </a:r>
              <a:r>
                <a:rPr lang="en-US" altLang="zh-CN" sz="2400" b="1">
                  <a:latin typeface="Times New Roman" panose="02020603050405020304" pitchFamily="18" charset="0"/>
                </a:rPr>
                <a:t> ≤ …… ≤ r</a:t>
              </a:r>
              <a:r>
                <a:rPr lang="en-US" altLang="zh-CN" sz="2400" b="1" baseline="-25000">
                  <a:latin typeface="Times New Roman" panose="02020603050405020304" pitchFamily="18" charset="0"/>
                </a:rPr>
                <a:t>i-1       </a:t>
              </a:r>
              <a:r>
                <a:rPr lang="en-US" altLang="zh-CN" sz="2400" b="1">
                  <a:latin typeface="Times New Roman" panose="02020603050405020304" pitchFamily="18" charset="0"/>
                </a:rPr>
                <a:t>|    r</a:t>
              </a:r>
              <a:r>
                <a:rPr lang="en-US" altLang="zh-CN" sz="2400" b="1" baseline="-25000">
                  <a:latin typeface="Times New Roman" panose="02020603050405020304" pitchFamily="18" charset="0"/>
                </a:rPr>
                <a:t>i</a:t>
              </a:r>
              <a:r>
                <a:rPr lang="en-US" altLang="zh-CN" sz="2400" b="1">
                  <a:latin typeface="Times New Roman" panose="02020603050405020304" pitchFamily="18" charset="0"/>
                </a:rPr>
                <a:t>   r</a:t>
              </a:r>
              <a:r>
                <a:rPr lang="en-US" altLang="zh-CN" sz="2400" b="1" baseline="-25000">
                  <a:latin typeface="Times New Roman" panose="02020603050405020304" pitchFamily="18" charset="0"/>
                </a:rPr>
                <a:t>i+1   </a:t>
              </a:r>
              <a:r>
                <a:rPr lang="en-US" altLang="zh-CN" sz="2400" b="1">
                  <a:latin typeface="Times New Roman" panose="02020603050405020304" pitchFamily="18" charset="0"/>
                </a:rPr>
                <a:t>……  r</a:t>
              </a:r>
              <a:r>
                <a:rPr lang="en-US" altLang="zh-CN" sz="2400" b="1" baseline="-25000">
                  <a:latin typeface="Times New Roman" panose="02020603050405020304" pitchFamily="18" charset="0"/>
                </a:rPr>
                <a:t>n</a:t>
              </a:r>
            </a:p>
          </p:txBody>
        </p:sp>
        <p:sp>
          <p:nvSpPr>
            <p:cNvPr id="5" name="Line 7">
              <a:extLst>
                <a:ext uri="{FF2B5EF4-FFF2-40B4-BE49-F238E27FC236}">
                  <a16:creationId xmlns:a16="http://schemas.microsoft.com/office/drawing/2014/main" id="{D00AD359-98CD-3C8D-074B-183A565DD80D}"/>
                </a:ext>
              </a:extLst>
            </p:cNvPr>
            <p:cNvSpPr>
              <a:spLocks noChangeShapeType="1"/>
            </p:cNvSpPr>
            <p:nvPr/>
          </p:nvSpPr>
          <p:spPr bwMode="auto">
            <a:xfrm flipV="1">
              <a:off x="3333" y="2704"/>
              <a:ext cx="0" cy="227"/>
            </a:xfrm>
            <a:prstGeom prst="line">
              <a:avLst/>
            </a:prstGeom>
            <a:noFill/>
            <a:ln w="25400" cap="rnd">
              <a:solidFill>
                <a:srgbClr val="008000"/>
              </a:solidFill>
              <a:prstDash val="sysDot"/>
              <a:miter lim="800000"/>
              <a:headEnd type="none" w="sm" len="sm"/>
              <a:tailEnd type="none" w="sm" len="sm"/>
            </a:ln>
            <a:extLst>
              <a:ext uri="{909E8E84-426E-40DD-AFC4-6F175D3DCCD1}">
                <a14:hiddenFill xmlns:a14="http://schemas.microsoft.com/office/drawing/2010/main">
                  <a:noFill/>
                </a14:hiddenFill>
              </a:ext>
            </a:extLst>
          </p:spPr>
          <p:txBody>
            <a:bodyPr/>
            <a:lstStyle/>
            <a:p>
              <a:pPr>
                <a:buNone/>
              </a:pPr>
              <a:endParaRPr lang="zh-CN" altLang="en-US"/>
            </a:p>
          </p:txBody>
        </p:sp>
        <p:sp>
          <p:nvSpPr>
            <p:cNvPr id="6" name="Line 8">
              <a:extLst>
                <a:ext uri="{FF2B5EF4-FFF2-40B4-BE49-F238E27FC236}">
                  <a16:creationId xmlns:a16="http://schemas.microsoft.com/office/drawing/2014/main" id="{C32ECC94-227F-1FE3-5FA6-7862397E0E19}"/>
                </a:ext>
              </a:extLst>
            </p:cNvPr>
            <p:cNvSpPr>
              <a:spLocks noChangeShapeType="1"/>
            </p:cNvSpPr>
            <p:nvPr/>
          </p:nvSpPr>
          <p:spPr bwMode="auto">
            <a:xfrm flipH="1">
              <a:off x="1973" y="2704"/>
              <a:ext cx="1360" cy="0"/>
            </a:xfrm>
            <a:prstGeom prst="line">
              <a:avLst/>
            </a:prstGeom>
            <a:noFill/>
            <a:ln w="25400" cap="rnd">
              <a:solidFill>
                <a:srgbClr val="008000"/>
              </a:solidFill>
              <a:prstDash val="sysDot"/>
              <a:miter lim="800000"/>
              <a:headEnd type="none" w="sm" len="sm"/>
              <a:tailEnd type="none" w="sm" len="sm"/>
            </a:ln>
            <a:extLst>
              <a:ext uri="{909E8E84-426E-40DD-AFC4-6F175D3DCCD1}">
                <a14:hiddenFill xmlns:a14="http://schemas.microsoft.com/office/drawing/2010/main">
                  <a:noFill/>
                </a14:hiddenFill>
              </a:ext>
            </a:extLst>
          </p:spPr>
          <p:txBody>
            <a:bodyPr/>
            <a:lstStyle/>
            <a:p>
              <a:pPr>
                <a:buNone/>
              </a:pPr>
              <a:endParaRPr lang="zh-CN" altLang="en-US"/>
            </a:p>
          </p:txBody>
        </p:sp>
        <p:sp>
          <p:nvSpPr>
            <p:cNvPr id="7" name="Line 9">
              <a:extLst>
                <a:ext uri="{FF2B5EF4-FFF2-40B4-BE49-F238E27FC236}">
                  <a16:creationId xmlns:a16="http://schemas.microsoft.com/office/drawing/2014/main" id="{C899AAFB-9D94-A3D4-FF7C-A17105473E81}"/>
                </a:ext>
              </a:extLst>
            </p:cNvPr>
            <p:cNvSpPr>
              <a:spLocks noChangeShapeType="1"/>
            </p:cNvSpPr>
            <p:nvPr/>
          </p:nvSpPr>
          <p:spPr bwMode="auto">
            <a:xfrm>
              <a:off x="1973" y="2704"/>
              <a:ext cx="0" cy="272"/>
            </a:xfrm>
            <a:prstGeom prst="line">
              <a:avLst/>
            </a:prstGeom>
            <a:noFill/>
            <a:ln w="25400" cap="rnd">
              <a:solidFill>
                <a:srgbClr val="008000"/>
              </a:solidFill>
              <a:prstDash val="sysDot"/>
              <a:miter lim="800000"/>
              <a:headEnd type="none" w="sm" len="sm"/>
              <a:tailEnd type="stealth" w="med" len="lg"/>
            </a:ln>
            <a:extLst>
              <a:ext uri="{909E8E84-426E-40DD-AFC4-6F175D3DCCD1}">
                <a14:hiddenFill xmlns:a14="http://schemas.microsoft.com/office/drawing/2010/main">
                  <a:noFill/>
                </a14:hiddenFill>
              </a:ext>
            </a:extLst>
          </p:spPr>
          <p:txBody>
            <a:bodyPr/>
            <a:lstStyle/>
            <a:p>
              <a:pPr>
                <a:buNone/>
              </a:pPr>
              <a:endParaRPr lang="zh-CN" altLang="en-US"/>
            </a:p>
          </p:txBody>
        </p:sp>
        <p:sp>
          <p:nvSpPr>
            <p:cNvPr id="8" name="AutoShape 10">
              <a:extLst>
                <a:ext uri="{FF2B5EF4-FFF2-40B4-BE49-F238E27FC236}">
                  <a16:creationId xmlns:a16="http://schemas.microsoft.com/office/drawing/2014/main" id="{BE4A6351-87ED-5180-DE96-93A359E1FF18}"/>
                </a:ext>
              </a:extLst>
            </p:cNvPr>
            <p:cNvSpPr>
              <a:spLocks/>
            </p:cNvSpPr>
            <p:nvPr/>
          </p:nvSpPr>
          <p:spPr bwMode="auto">
            <a:xfrm rot="16200000">
              <a:off x="1770" y="2495"/>
              <a:ext cx="181" cy="1587"/>
            </a:xfrm>
            <a:prstGeom prst="leftBrace">
              <a:avLst>
                <a:gd name="adj1" fmla="val 72863"/>
                <a:gd name="adj2" fmla="val 49019"/>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None/>
              </a:pPr>
              <a:endParaRPr lang="zh-CN" altLang="en-US" sz="2400" b="1"/>
            </a:p>
          </p:txBody>
        </p:sp>
        <p:sp>
          <p:nvSpPr>
            <p:cNvPr id="9" name="AutoShape 11">
              <a:extLst>
                <a:ext uri="{FF2B5EF4-FFF2-40B4-BE49-F238E27FC236}">
                  <a16:creationId xmlns:a16="http://schemas.microsoft.com/office/drawing/2014/main" id="{C3C686E0-EAF8-534D-A36B-CDD7274A144B}"/>
                </a:ext>
              </a:extLst>
            </p:cNvPr>
            <p:cNvSpPr>
              <a:spLocks/>
            </p:cNvSpPr>
            <p:nvPr/>
          </p:nvSpPr>
          <p:spPr bwMode="auto">
            <a:xfrm rot="16200000">
              <a:off x="3455" y="2834"/>
              <a:ext cx="227" cy="865"/>
            </a:xfrm>
            <a:prstGeom prst="leftBrace">
              <a:avLst>
                <a:gd name="adj1" fmla="val 56197"/>
                <a:gd name="adj2" fmla="val 49019"/>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None/>
              </a:pPr>
              <a:endParaRPr lang="zh-CN" altLang="en-US" sz="2400" b="1"/>
            </a:p>
          </p:txBody>
        </p:sp>
        <p:sp>
          <p:nvSpPr>
            <p:cNvPr id="10" name="Text Box 12">
              <a:extLst>
                <a:ext uri="{FF2B5EF4-FFF2-40B4-BE49-F238E27FC236}">
                  <a16:creationId xmlns:a16="http://schemas.microsoft.com/office/drawing/2014/main" id="{0B5F240E-12D4-7797-30D0-6A78A552B1CD}"/>
                </a:ext>
              </a:extLst>
            </p:cNvPr>
            <p:cNvSpPr txBox="1">
              <a:spLocks noChangeArrowheads="1"/>
            </p:cNvSpPr>
            <p:nvPr/>
          </p:nvSpPr>
          <p:spPr bwMode="auto">
            <a:xfrm>
              <a:off x="1526" y="3385"/>
              <a:ext cx="7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None/>
              </a:pPr>
              <a:r>
                <a:rPr lang="zh-CN" altLang="en-US" sz="2400" b="1">
                  <a:ea typeface="楷体_GB2312" pitchFamily="49" charset="-122"/>
                </a:rPr>
                <a:t>有序区</a:t>
              </a:r>
            </a:p>
          </p:txBody>
        </p:sp>
        <p:sp>
          <p:nvSpPr>
            <p:cNvPr id="11" name="Text Box 13">
              <a:extLst>
                <a:ext uri="{FF2B5EF4-FFF2-40B4-BE49-F238E27FC236}">
                  <a16:creationId xmlns:a16="http://schemas.microsoft.com/office/drawing/2014/main" id="{60A1510D-74CB-3FEC-A641-FA1086930D80}"/>
                </a:ext>
              </a:extLst>
            </p:cNvPr>
            <p:cNvSpPr txBox="1">
              <a:spLocks noChangeArrowheads="1"/>
            </p:cNvSpPr>
            <p:nvPr/>
          </p:nvSpPr>
          <p:spPr bwMode="auto">
            <a:xfrm>
              <a:off x="3236" y="3379"/>
              <a:ext cx="7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None/>
              </a:pPr>
              <a:r>
                <a:rPr lang="zh-CN" altLang="en-US" sz="2400" b="1" dirty="0">
                  <a:ea typeface="楷体_GB2312" pitchFamily="49" charset="-122"/>
                </a:rPr>
                <a:t>无序区</a:t>
              </a:r>
            </a:p>
          </p:txBody>
        </p:sp>
        <p:sp>
          <p:nvSpPr>
            <p:cNvPr id="12" name="Text Box 14">
              <a:extLst>
                <a:ext uri="{FF2B5EF4-FFF2-40B4-BE49-F238E27FC236}">
                  <a16:creationId xmlns:a16="http://schemas.microsoft.com/office/drawing/2014/main" id="{C94CE9E0-0767-6452-0728-54538F833821}"/>
                </a:ext>
              </a:extLst>
            </p:cNvPr>
            <p:cNvSpPr txBox="1">
              <a:spLocks noChangeArrowheads="1"/>
            </p:cNvSpPr>
            <p:nvPr/>
          </p:nvSpPr>
          <p:spPr bwMode="auto">
            <a:xfrm>
              <a:off x="1837" y="2387"/>
              <a:ext cx="16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None/>
              </a:pPr>
              <a:r>
                <a:rPr lang="zh-CN" altLang="en-US" sz="2400" b="1">
                  <a:solidFill>
                    <a:srgbClr val="009900"/>
                  </a:solidFill>
                  <a:ea typeface="楷体_GB2312" pitchFamily="49" charset="-122"/>
                </a:rPr>
                <a:t>插入到合适的位置</a:t>
              </a:r>
              <a:endParaRPr lang="en-US" altLang="zh-CN" sz="2400" b="1">
                <a:solidFill>
                  <a:srgbClr val="009900"/>
                </a:solidFill>
                <a:ea typeface="楷体_GB2312" pitchFamily="49" charset="-122"/>
              </a:endParaRPr>
            </a:p>
          </p:txBody>
        </p:sp>
      </p:grpSp>
      <p:pic>
        <p:nvPicPr>
          <p:cNvPr id="16" name="图片 15">
            <a:extLst>
              <a:ext uri="{FF2B5EF4-FFF2-40B4-BE49-F238E27FC236}">
                <a16:creationId xmlns:a16="http://schemas.microsoft.com/office/drawing/2014/main" id="{04E3FD6D-132A-AEBE-F87E-F3F444BAA056}"/>
              </a:ext>
            </a:extLst>
          </p:cNvPr>
          <p:cNvPicPr>
            <a:picLocks noChangeAspect="1"/>
          </p:cNvPicPr>
          <p:nvPr/>
        </p:nvPicPr>
        <p:blipFill>
          <a:blip r:embed="rId2"/>
          <a:stretch>
            <a:fillRect/>
          </a:stretch>
        </p:blipFill>
        <p:spPr>
          <a:xfrm>
            <a:off x="7216854" y="4982626"/>
            <a:ext cx="1866900" cy="1600200"/>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9F4ED4-3C75-AA78-888C-E8E2556AF97F}"/>
              </a:ext>
            </a:extLst>
          </p:cNvPr>
          <p:cNvSpPr>
            <a:spLocks noGrp="1"/>
          </p:cNvSpPr>
          <p:nvPr>
            <p:ph type="title"/>
          </p:nvPr>
        </p:nvSpPr>
        <p:spPr/>
        <p:txBody>
          <a:bodyPr/>
          <a:lstStyle/>
          <a:p>
            <a:r>
              <a:rPr lang="zh-CN" altLang="en-US" dirty="0"/>
              <a:t>插入排序算法伪代码</a:t>
            </a:r>
          </a:p>
        </p:txBody>
      </p:sp>
      <p:sp>
        <p:nvSpPr>
          <p:cNvPr id="4" name="内容占位符 3">
            <a:extLst>
              <a:ext uri="{FF2B5EF4-FFF2-40B4-BE49-F238E27FC236}">
                <a16:creationId xmlns:a16="http://schemas.microsoft.com/office/drawing/2014/main" id="{A02DEE37-76C9-6CE0-0D90-9667351515A2}"/>
              </a:ext>
            </a:extLst>
          </p:cNvPr>
          <p:cNvSpPr>
            <a:spLocks noGrp="1"/>
          </p:cNvSpPr>
          <p:nvPr>
            <p:ph idx="1"/>
          </p:nvPr>
        </p:nvSpPr>
        <p:spPr/>
        <p:txBody>
          <a:bodyPr/>
          <a:lstStyle/>
          <a:p>
            <a:endParaRPr lang="zh-CN" altLang="en-US"/>
          </a:p>
        </p:txBody>
      </p:sp>
      <p:pic>
        <p:nvPicPr>
          <p:cNvPr id="6" name="图片 5">
            <a:extLst>
              <a:ext uri="{FF2B5EF4-FFF2-40B4-BE49-F238E27FC236}">
                <a16:creationId xmlns:a16="http://schemas.microsoft.com/office/drawing/2014/main" id="{976E4B9D-151C-5844-100E-2241DFDB98A9}"/>
              </a:ext>
            </a:extLst>
          </p:cNvPr>
          <p:cNvPicPr>
            <a:picLocks noChangeAspect="1"/>
          </p:cNvPicPr>
          <p:nvPr/>
        </p:nvPicPr>
        <p:blipFill>
          <a:blip r:embed="rId2"/>
          <a:stretch>
            <a:fillRect/>
          </a:stretch>
        </p:blipFill>
        <p:spPr>
          <a:xfrm>
            <a:off x="680045" y="1348581"/>
            <a:ext cx="8190904" cy="4611687"/>
          </a:xfrm>
          <a:prstGeom prst="rect">
            <a:avLst/>
          </a:prstGeom>
        </p:spPr>
      </p:pic>
      <p:sp>
        <p:nvSpPr>
          <p:cNvPr id="3" name="文本框 2">
            <a:extLst>
              <a:ext uri="{FF2B5EF4-FFF2-40B4-BE49-F238E27FC236}">
                <a16:creationId xmlns:a16="http://schemas.microsoft.com/office/drawing/2014/main" id="{00775057-90FF-D07E-FF59-16750B6C9871}"/>
              </a:ext>
            </a:extLst>
          </p:cNvPr>
          <p:cNvSpPr txBox="1"/>
          <p:nvPr/>
        </p:nvSpPr>
        <p:spPr>
          <a:xfrm>
            <a:off x="3707904" y="1844824"/>
            <a:ext cx="4596062" cy="424732"/>
          </a:xfrm>
          <a:prstGeom prst="rect">
            <a:avLst/>
          </a:prstGeom>
          <a:noFill/>
        </p:spPr>
        <p:txBody>
          <a:bodyPr wrap="square">
            <a:spAutoFit/>
          </a:bodyPr>
          <a:lstStyle/>
          <a:p>
            <a:pPr>
              <a:spcBef>
                <a:spcPct val="20000"/>
              </a:spcBef>
              <a:buClr>
                <a:srgbClr val="0000FF"/>
              </a:buClr>
            </a:pPr>
            <a:r>
              <a:rPr lang="zh-CN" altLang="en-US" sz="2400" b="1" dirty="0">
                <a:solidFill>
                  <a:srgbClr val="FF0066"/>
                </a:solidFill>
                <a:latin typeface="楷体" panose="02010609060101010101" pitchFamily="49" charset="-122"/>
                <a:ea typeface="楷体" panose="02010609060101010101" pitchFamily="49" charset="-122"/>
              </a:rPr>
              <a:t>从第</a:t>
            </a:r>
            <a:r>
              <a:rPr lang="en-US" altLang="zh-CN" sz="2400" b="1" dirty="0">
                <a:solidFill>
                  <a:srgbClr val="FF0066"/>
                </a:solidFill>
                <a:latin typeface="楷体" panose="02010609060101010101" pitchFamily="49" charset="-122"/>
                <a:ea typeface="楷体" panose="02010609060101010101" pitchFamily="49" charset="-122"/>
              </a:rPr>
              <a:t>2</a:t>
            </a:r>
            <a:r>
              <a:rPr lang="zh-CN" altLang="en-US" sz="2400" b="1" dirty="0">
                <a:solidFill>
                  <a:srgbClr val="FF0066"/>
                </a:solidFill>
                <a:latin typeface="楷体" panose="02010609060101010101" pitchFamily="49" charset="-122"/>
                <a:ea typeface="楷体" panose="02010609060101010101" pitchFamily="49" charset="-122"/>
              </a:rPr>
              <a:t>个元素开始依次插入排序</a:t>
            </a:r>
            <a:endParaRPr lang="en-US" altLang="zh-CN" sz="2400" b="1" dirty="0">
              <a:solidFill>
                <a:srgbClr val="FF0066"/>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5615252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ym typeface="+mn-ea"/>
              </a:rPr>
              <a:t>直接插入排序改进</a:t>
            </a:r>
            <a:r>
              <a:rPr lang="en-US" altLang="zh-CN" b="1" dirty="0">
                <a:sym typeface="+mn-ea"/>
              </a:rPr>
              <a:t>:</a:t>
            </a:r>
            <a:r>
              <a:rPr lang="zh-CN" altLang="en-US" b="1" dirty="0">
                <a:sym typeface="+mn-ea"/>
              </a:rPr>
              <a:t>从右开始比较</a:t>
            </a:r>
            <a:endParaRPr lang="zh-CN" altLang="en-US" dirty="0"/>
          </a:p>
        </p:txBody>
      </p:sp>
      <p:graphicFrame>
        <p:nvGraphicFramePr>
          <p:cNvPr id="3" name="Group 3">
            <a:extLst>
              <a:ext uri="{FF2B5EF4-FFF2-40B4-BE49-F238E27FC236}">
                <a16:creationId xmlns:a16="http://schemas.microsoft.com/office/drawing/2014/main" id="{CEFB2301-6DAC-34FE-CBBC-CE9E615A32CB}"/>
              </a:ext>
            </a:extLst>
          </p:cNvPr>
          <p:cNvGraphicFramePr>
            <a:graphicFrameLocks noGrp="1"/>
          </p:cNvGraphicFramePr>
          <p:nvPr>
            <p:extLst>
              <p:ext uri="{D42A27DB-BD31-4B8C-83A1-F6EECF244321}">
                <p14:modId xmlns:p14="http://schemas.microsoft.com/office/powerpoint/2010/main" val="2109129959"/>
              </p:ext>
            </p:extLst>
          </p:nvPr>
        </p:nvGraphicFramePr>
        <p:xfrm>
          <a:off x="914400" y="1439863"/>
          <a:ext cx="7620000" cy="914400"/>
        </p:xfrm>
        <a:graphic>
          <a:graphicData uri="http://schemas.openxmlformats.org/drawingml/2006/table">
            <a:tbl>
              <a:tblPr/>
              <a:tblGrid>
                <a:gridCol w="847725">
                  <a:extLst>
                    <a:ext uri="{9D8B030D-6E8A-4147-A177-3AD203B41FA5}">
                      <a16:colId xmlns:a16="http://schemas.microsoft.com/office/drawing/2014/main" val="20000"/>
                    </a:ext>
                  </a:extLst>
                </a:gridCol>
                <a:gridCol w="844550">
                  <a:extLst>
                    <a:ext uri="{9D8B030D-6E8A-4147-A177-3AD203B41FA5}">
                      <a16:colId xmlns:a16="http://schemas.microsoft.com/office/drawing/2014/main" val="20001"/>
                    </a:ext>
                  </a:extLst>
                </a:gridCol>
                <a:gridCol w="847725">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gridCol w="844550">
                  <a:extLst>
                    <a:ext uri="{9D8B030D-6E8A-4147-A177-3AD203B41FA5}">
                      <a16:colId xmlns:a16="http://schemas.microsoft.com/office/drawing/2014/main" val="20004"/>
                    </a:ext>
                  </a:extLst>
                </a:gridCol>
                <a:gridCol w="847725">
                  <a:extLst>
                    <a:ext uri="{9D8B030D-6E8A-4147-A177-3AD203B41FA5}">
                      <a16:colId xmlns:a16="http://schemas.microsoft.com/office/drawing/2014/main" val="20005"/>
                    </a:ext>
                  </a:extLst>
                </a:gridCol>
                <a:gridCol w="847725">
                  <a:extLst>
                    <a:ext uri="{9D8B030D-6E8A-4147-A177-3AD203B41FA5}">
                      <a16:colId xmlns:a16="http://schemas.microsoft.com/office/drawing/2014/main" val="20006"/>
                    </a:ext>
                  </a:extLst>
                </a:gridCol>
                <a:gridCol w="84455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1" i="0" u="none" strike="noStrike" cap="none" normalizeH="0" baseline="0" dirty="0">
                          <a:ln>
                            <a:noFill/>
                          </a:ln>
                          <a:solidFill>
                            <a:srgbClr val="0000FF"/>
                          </a:solidFill>
                          <a:effectLst/>
                          <a:latin typeface="Arial Unicode MS" pitchFamily="34" charset="-122"/>
                          <a:ea typeface="Arial Unicode MS" pitchFamily="34" charset="-122"/>
                          <a:cs typeface="Arial Unicode MS" pitchFamily="34" charset="-122"/>
                        </a:rPr>
                        <a:t>0</a:t>
                      </a:r>
                    </a:p>
                  </a:txBody>
                  <a:tcPr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p>
                  </a:txBody>
                  <a:tcPr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p>
                  </a:txBody>
                  <a:tcPr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3</a:t>
                      </a:r>
                    </a:p>
                  </a:txBody>
                  <a:tcPr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p>
                  </a:txBody>
                  <a:tcPr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a:t>
                      </a:r>
                    </a:p>
                  </a:txBody>
                  <a:tcPr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6</a:t>
                      </a:r>
                    </a:p>
                  </a:txBody>
                  <a:tcPr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7</a:t>
                      </a:r>
                    </a:p>
                  </a:txBody>
                  <a:tcPr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rPr>
                        <a:t>8</a:t>
                      </a:r>
                    </a:p>
                  </a:txBody>
                  <a:tcPr anchor="ctr" horzOverflow="overflow">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sng"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sng"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45">
            <a:extLst>
              <a:ext uri="{FF2B5EF4-FFF2-40B4-BE49-F238E27FC236}">
                <a16:creationId xmlns:a16="http://schemas.microsoft.com/office/drawing/2014/main" id="{A1074E1D-77EF-A0C1-64C5-0E56EF6F41A8}"/>
              </a:ext>
            </a:extLst>
          </p:cNvPr>
          <p:cNvGraphicFramePr>
            <a:graphicFrameLocks noGrp="1"/>
          </p:cNvGraphicFramePr>
          <p:nvPr>
            <p:extLst>
              <p:ext uri="{D42A27DB-BD31-4B8C-83A1-F6EECF244321}">
                <p14:modId xmlns:p14="http://schemas.microsoft.com/office/powerpoint/2010/main" val="2640239883"/>
              </p:ext>
            </p:extLst>
          </p:nvPr>
        </p:nvGraphicFramePr>
        <p:xfrm>
          <a:off x="914400" y="2506663"/>
          <a:ext cx="7620000" cy="457200"/>
        </p:xfrm>
        <a:graphic>
          <a:graphicData uri="http://schemas.openxmlformats.org/drawingml/2006/table">
            <a:tbl>
              <a:tblPr/>
              <a:tblGrid>
                <a:gridCol w="847725">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gridCol w="844550">
                  <a:extLst>
                    <a:ext uri="{9D8B030D-6E8A-4147-A177-3AD203B41FA5}">
                      <a16:colId xmlns:a16="http://schemas.microsoft.com/office/drawing/2014/main" val="20004"/>
                    </a:ext>
                  </a:extLst>
                </a:gridCol>
                <a:gridCol w="847725">
                  <a:extLst>
                    <a:ext uri="{9D8B030D-6E8A-4147-A177-3AD203B41FA5}">
                      <a16:colId xmlns:a16="http://schemas.microsoft.com/office/drawing/2014/main" val="20005"/>
                    </a:ext>
                  </a:extLst>
                </a:gridCol>
                <a:gridCol w="847725">
                  <a:extLst>
                    <a:ext uri="{9D8B030D-6E8A-4147-A177-3AD203B41FA5}">
                      <a16:colId xmlns:a16="http://schemas.microsoft.com/office/drawing/2014/main" val="20006"/>
                    </a:ext>
                  </a:extLst>
                </a:gridCol>
                <a:gridCol w="84455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tblGrid>
              <a:tr h="3952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sng"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 name="Group 111">
            <a:extLst>
              <a:ext uri="{FF2B5EF4-FFF2-40B4-BE49-F238E27FC236}">
                <a16:creationId xmlns:a16="http://schemas.microsoft.com/office/drawing/2014/main" id="{22C28957-B3C1-95B7-574E-E8516EDF7355}"/>
              </a:ext>
            </a:extLst>
          </p:cNvPr>
          <p:cNvGraphicFramePr>
            <a:graphicFrameLocks noGrp="1"/>
          </p:cNvGraphicFramePr>
          <p:nvPr>
            <p:extLst>
              <p:ext uri="{D42A27DB-BD31-4B8C-83A1-F6EECF244321}">
                <p14:modId xmlns:p14="http://schemas.microsoft.com/office/powerpoint/2010/main" val="880427020"/>
              </p:ext>
            </p:extLst>
          </p:nvPr>
        </p:nvGraphicFramePr>
        <p:xfrm>
          <a:off x="914400" y="4335463"/>
          <a:ext cx="7620000" cy="457200"/>
        </p:xfrm>
        <a:graphic>
          <a:graphicData uri="http://schemas.openxmlformats.org/drawingml/2006/table">
            <a:tbl>
              <a:tblPr/>
              <a:tblGrid>
                <a:gridCol w="847725">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gridCol w="844550">
                  <a:extLst>
                    <a:ext uri="{9D8B030D-6E8A-4147-A177-3AD203B41FA5}">
                      <a16:colId xmlns:a16="http://schemas.microsoft.com/office/drawing/2014/main" val="20004"/>
                    </a:ext>
                  </a:extLst>
                </a:gridCol>
                <a:gridCol w="847725">
                  <a:extLst>
                    <a:ext uri="{9D8B030D-6E8A-4147-A177-3AD203B41FA5}">
                      <a16:colId xmlns:a16="http://schemas.microsoft.com/office/drawing/2014/main" val="20005"/>
                    </a:ext>
                  </a:extLst>
                </a:gridCol>
                <a:gridCol w="847725">
                  <a:extLst>
                    <a:ext uri="{9D8B030D-6E8A-4147-A177-3AD203B41FA5}">
                      <a16:colId xmlns:a16="http://schemas.microsoft.com/office/drawing/2014/main" val="20006"/>
                    </a:ext>
                  </a:extLst>
                </a:gridCol>
                <a:gridCol w="84455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tblGrid>
              <a:tr h="3190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2"/>
                          </a:solidFill>
                          <a:effectLst/>
                          <a:latin typeface="宋体" panose="02010600030101010101" pitchFamily="2" charset="-122"/>
                          <a:ea typeface="宋体" panose="02010600030101010101" pitchFamily="2" charset="-122"/>
                        </a:rPr>
                        <a:t>38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sng"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 name="Group 133">
            <a:extLst>
              <a:ext uri="{FF2B5EF4-FFF2-40B4-BE49-F238E27FC236}">
                <a16:creationId xmlns:a16="http://schemas.microsoft.com/office/drawing/2014/main" id="{414C5205-7C4B-53C3-B42C-CF731ACA904B}"/>
              </a:ext>
            </a:extLst>
          </p:cNvPr>
          <p:cNvGraphicFramePr>
            <a:graphicFrameLocks noGrp="1"/>
          </p:cNvGraphicFramePr>
          <p:nvPr>
            <p:extLst>
              <p:ext uri="{D42A27DB-BD31-4B8C-83A1-F6EECF244321}">
                <p14:modId xmlns:p14="http://schemas.microsoft.com/office/powerpoint/2010/main" val="1430488125"/>
              </p:ext>
            </p:extLst>
          </p:nvPr>
        </p:nvGraphicFramePr>
        <p:xfrm>
          <a:off x="914400" y="4930775"/>
          <a:ext cx="7620000" cy="457200"/>
        </p:xfrm>
        <a:graphic>
          <a:graphicData uri="http://schemas.openxmlformats.org/drawingml/2006/table">
            <a:tbl>
              <a:tblPr/>
              <a:tblGrid>
                <a:gridCol w="847725">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gridCol w="844550">
                  <a:extLst>
                    <a:ext uri="{9D8B030D-6E8A-4147-A177-3AD203B41FA5}">
                      <a16:colId xmlns:a16="http://schemas.microsoft.com/office/drawing/2014/main" val="20004"/>
                    </a:ext>
                  </a:extLst>
                </a:gridCol>
                <a:gridCol w="847725">
                  <a:extLst>
                    <a:ext uri="{9D8B030D-6E8A-4147-A177-3AD203B41FA5}">
                      <a16:colId xmlns:a16="http://schemas.microsoft.com/office/drawing/2014/main" val="20005"/>
                    </a:ext>
                  </a:extLst>
                </a:gridCol>
                <a:gridCol w="847725">
                  <a:extLst>
                    <a:ext uri="{9D8B030D-6E8A-4147-A177-3AD203B41FA5}">
                      <a16:colId xmlns:a16="http://schemas.microsoft.com/office/drawing/2014/main" val="20006"/>
                    </a:ext>
                  </a:extLst>
                </a:gridCol>
                <a:gridCol w="84455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tblGrid>
              <a:tr h="3190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2"/>
                          </a:solidFill>
                          <a:effectLst/>
                          <a:latin typeface="宋体" panose="02010600030101010101" pitchFamily="2" charset="-122"/>
                          <a:ea typeface="宋体" panose="02010600030101010101" pitchFamily="2" charset="-122"/>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sng"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 name="Group 155">
            <a:extLst>
              <a:ext uri="{FF2B5EF4-FFF2-40B4-BE49-F238E27FC236}">
                <a16:creationId xmlns:a16="http://schemas.microsoft.com/office/drawing/2014/main" id="{547C6703-86C2-0886-0BA2-D31D792D0511}"/>
              </a:ext>
            </a:extLst>
          </p:cNvPr>
          <p:cNvGraphicFramePr>
            <a:graphicFrameLocks noGrp="1"/>
          </p:cNvGraphicFramePr>
          <p:nvPr>
            <p:extLst>
              <p:ext uri="{D42A27DB-BD31-4B8C-83A1-F6EECF244321}">
                <p14:modId xmlns:p14="http://schemas.microsoft.com/office/powerpoint/2010/main" val="3614615800"/>
              </p:ext>
            </p:extLst>
          </p:nvPr>
        </p:nvGraphicFramePr>
        <p:xfrm>
          <a:off x="914400" y="5478463"/>
          <a:ext cx="7620000" cy="457200"/>
        </p:xfrm>
        <a:graphic>
          <a:graphicData uri="http://schemas.openxmlformats.org/drawingml/2006/table">
            <a:tbl>
              <a:tblPr/>
              <a:tblGrid>
                <a:gridCol w="847725">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gridCol w="844550">
                  <a:extLst>
                    <a:ext uri="{9D8B030D-6E8A-4147-A177-3AD203B41FA5}">
                      <a16:colId xmlns:a16="http://schemas.microsoft.com/office/drawing/2014/main" val="20004"/>
                    </a:ext>
                  </a:extLst>
                </a:gridCol>
                <a:gridCol w="847725">
                  <a:extLst>
                    <a:ext uri="{9D8B030D-6E8A-4147-A177-3AD203B41FA5}">
                      <a16:colId xmlns:a16="http://schemas.microsoft.com/office/drawing/2014/main" val="20005"/>
                    </a:ext>
                  </a:extLst>
                </a:gridCol>
                <a:gridCol w="847725">
                  <a:extLst>
                    <a:ext uri="{9D8B030D-6E8A-4147-A177-3AD203B41FA5}">
                      <a16:colId xmlns:a16="http://schemas.microsoft.com/office/drawing/2014/main" val="20006"/>
                    </a:ext>
                  </a:extLst>
                </a:gridCol>
                <a:gridCol w="84455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tblGrid>
              <a:tr h="3190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2"/>
                          </a:solidFill>
                          <a:effectLst/>
                          <a:latin typeface="宋体" panose="02010600030101010101" pitchFamily="2" charset="-122"/>
                          <a:ea typeface="宋体" panose="02010600030101010101" pitchFamily="2" charset="-122"/>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sng"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177">
            <a:extLst>
              <a:ext uri="{FF2B5EF4-FFF2-40B4-BE49-F238E27FC236}">
                <a16:creationId xmlns:a16="http://schemas.microsoft.com/office/drawing/2014/main" id="{6379F061-378B-92CD-A474-4CC89AD6411D}"/>
              </a:ext>
            </a:extLst>
          </p:cNvPr>
          <p:cNvGraphicFramePr>
            <a:graphicFrameLocks noGrp="1"/>
          </p:cNvGraphicFramePr>
          <p:nvPr>
            <p:extLst>
              <p:ext uri="{D42A27DB-BD31-4B8C-83A1-F6EECF244321}">
                <p14:modId xmlns:p14="http://schemas.microsoft.com/office/powerpoint/2010/main" val="3076860217"/>
              </p:ext>
            </p:extLst>
          </p:nvPr>
        </p:nvGraphicFramePr>
        <p:xfrm>
          <a:off x="914400" y="6073775"/>
          <a:ext cx="7620000" cy="457200"/>
        </p:xfrm>
        <a:graphic>
          <a:graphicData uri="http://schemas.openxmlformats.org/drawingml/2006/table">
            <a:tbl>
              <a:tblPr/>
              <a:tblGrid>
                <a:gridCol w="847725">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gridCol w="844550">
                  <a:extLst>
                    <a:ext uri="{9D8B030D-6E8A-4147-A177-3AD203B41FA5}">
                      <a16:colId xmlns:a16="http://schemas.microsoft.com/office/drawing/2014/main" val="20004"/>
                    </a:ext>
                  </a:extLst>
                </a:gridCol>
                <a:gridCol w="847725">
                  <a:extLst>
                    <a:ext uri="{9D8B030D-6E8A-4147-A177-3AD203B41FA5}">
                      <a16:colId xmlns:a16="http://schemas.microsoft.com/office/drawing/2014/main" val="20005"/>
                    </a:ext>
                  </a:extLst>
                </a:gridCol>
                <a:gridCol w="847725">
                  <a:extLst>
                    <a:ext uri="{9D8B030D-6E8A-4147-A177-3AD203B41FA5}">
                      <a16:colId xmlns:a16="http://schemas.microsoft.com/office/drawing/2014/main" val="20006"/>
                    </a:ext>
                  </a:extLst>
                </a:gridCol>
                <a:gridCol w="84455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tblGrid>
              <a:tr h="3190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sng" strike="noStrike" cap="none" normalizeH="0" baseline="0" dirty="0">
                          <a:ln>
                            <a:noFill/>
                          </a:ln>
                          <a:solidFill>
                            <a:schemeClr val="tx2"/>
                          </a:solidFill>
                          <a:effectLst/>
                          <a:latin typeface="宋体" panose="02010600030101010101" pitchFamily="2" charset="-122"/>
                          <a:ea typeface="宋体" panose="02010600030101010101" pitchFamily="2" charset="-122"/>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sng"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Group 45">
            <a:extLst>
              <a:ext uri="{FF2B5EF4-FFF2-40B4-BE49-F238E27FC236}">
                <a16:creationId xmlns:a16="http://schemas.microsoft.com/office/drawing/2014/main" id="{F2A98D60-24A2-C158-0E75-E868CB6350A4}"/>
              </a:ext>
            </a:extLst>
          </p:cNvPr>
          <p:cNvGraphicFramePr>
            <a:graphicFrameLocks noGrp="1"/>
          </p:cNvGraphicFramePr>
          <p:nvPr>
            <p:extLst>
              <p:ext uri="{D42A27DB-BD31-4B8C-83A1-F6EECF244321}">
                <p14:modId xmlns:p14="http://schemas.microsoft.com/office/powerpoint/2010/main" val="3057736701"/>
              </p:ext>
            </p:extLst>
          </p:nvPr>
        </p:nvGraphicFramePr>
        <p:xfrm>
          <a:off x="914400" y="3101975"/>
          <a:ext cx="7620000" cy="457200"/>
        </p:xfrm>
        <a:graphic>
          <a:graphicData uri="http://schemas.openxmlformats.org/drawingml/2006/table">
            <a:tbl>
              <a:tblPr/>
              <a:tblGrid>
                <a:gridCol w="847725">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gridCol w="844550">
                  <a:extLst>
                    <a:ext uri="{9D8B030D-6E8A-4147-A177-3AD203B41FA5}">
                      <a16:colId xmlns:a16="http://schemas.microsoft.com/office/drawing/2014/main" val="20004"/>
                    </a:ext>
                  </a:extLst>
                </a:gridCol>
                <a:gridCol w="847725">
                  <a:extLst>
                    <a:ext uri="{9D8B030D-6E8A-4147-A177-3AD203B41FA5}">
                      <a16:colId xmlns:a16="http://schemas.microsoft.com/office/drawing/2014/main" val="20005"/>
                    </a:ext>
                  </a:extLst>
                </a:gridCol>
                <a:gridCol w="847725">
                  <a:extLst>
                    <a:ext uri="{9D8B030D-6E8A-4147-A177-3AD203B41FA5}">
                      <a16:colId xmlns:a16="http://schemas.microsoft.com/office/drawing/2014/main" val="20006"/>
                    </a:ext>
                  </a:extLst>
                </a:gridCol>
                <a:gridCol w="84455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tblGrid>
              <a:tr h="3952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sng"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Group 45">
            <a:extLst>
              <a:ext uri="{FF2B5EF4-FFF2-40B4-BE49-F238E27FC236}">
                <a16:creationId xmlns:a16="http://schemas.microsoft.com/office/drawing/2014/main" id="{BF487D7A-24F4-3342-F60E-5CDBEFF498D2}"/>
              </a:ext>
            </a:extLst>
          </p:cNvPr>
          <p:cNvGraphicFramePr>
            <a:graphicFrameLocks noGrp="1"/>
          </p:cNvGraphicFramePr>
          <p:nvPr>
            <p:extLst>
              <p:ext uri="{D42A27DB-BD31-4B8C-83A1-F6EECF244321}">
                <p14:modId xmlns:p14="http://schemas.microsoft.com/office/powerpoint/2010/main" val="2891353495"/>
              </p:ext>
            </p:extLst>
          </p:nvPr>
        </p:nvGraphicFramePr>
        <p:xfrm>
          <a:off x="914400" y="3707649"/>
          <a:ext cx="7620000" cy="457200"/>
        </p:xfrm>
        <a:graphic>
          <a:graphicData uri="http://schemas.openxmlformats.org/drawingml/2006/table">
            <a:tbl>
              <a:tblPr/>
              <a:tblGrid>
                <a:gridCol w="847725">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gridCol w="844550">
                  <a:extLst>
                    <a:ext uri="{9D8B030D-6E8A-4147-A177-3AD203B41FA5}">
                      <a16:colId xmlns:a16="http://schemas.microsoft.com/office/drawing/2014/main" val="20004"/>
                    </a:ext>
                  </a:extLst>
                </a:gridCol>
                <a:gridCol w="847725">
                  <a:extLst>
                    <a:ext uri="{9D8B030D-6E8A-4147-A177-3AD203B41FA5}">
                      <a16:colId xmlns:a16="http://schemas.microsoft.com/office/drawing/2014/main" val="20005"/>
                    </a:ext>
                  </a:extLst>
                </a:gridCol>
                <a:gridCol w="847725">
                  <a:extLst>
                    <a:ext uri="{9D8B030D-6E8A-4147-A177-3AD203B41FA5}">
                      <a16:colId xmlns:a16="http://schemas.microsoft.com/office/drawing/2014/main" val="20006"/>
                    </a:ext>
                  </a:extLst>
                </a:gridCol>
                <a:gridCol w="84455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tblGrid>
              <a:tr h="3952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97</a:t>
                      </a:r>
                      <a:endParaRPr kumimoji="1"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400" b="0" i="0" u="sng"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5" name="组合 14">
            <a:extLst>
              <a:ext uri="{FF2B5EF4-FFF2-40B4-BE49-F238E27FC236}">
                <a16:creationId xmlns:a16="http://schemas.microsoft.com/office/drawing/2014/main" id="{2C1DE0A8-B5DD-4F8C-94C4-A8E778CA2FBC}"/>
              </a:ext>
            </a:extLst>
          </p:cNvPr>
          <p:cNvGrpSpPr>
            <a:grpSpLocks/>
          </p:cNvGrpSpPr>
          <p:nvPr/>
        </p:nvGrpSpPr>
        <p:grpSpPr bwMode="auto">
          <a:xfrm>
            <a:off x="2195736" y="754063"/>
            <a:ext cx="685800" cy="685800"/>
            <a:chOff x="3048000" y="762000"/>
            <a:chExt cx="685800" cy="685800"/>
          </a:xfrm>
        </p:grpSpPr>
        <p:cxnSp>
          <p:nvCxnSpPr>
            <p:cNvPr id="16" name="直接箭头连接符 15">
              <a:extLst>
                <a:ext uri="{FF2B5EF4-FFF2-40B4-BE49-F238E27FC236}">
                  <a16:creationId xmlns:a16="http://schemas.microsoft.com/office/drawing/2014/main" id="{38588D60-9DD0-4352-8CBB-AA0EFB238F33}"/>
                </a:ext>
              </a:extLst>
            </p:cNvPr>
            <p:cNvCxnSpPr/>
            <p:nvPr/>
          </p:nvCxnSpPr>
          <p:spPr>
            <a:xfrm>
              <a:off x="3048000" y="990600"/>
              <a:ext cx="0" cy="457200"/>
            </a:xfrm>
            <a:prstGeom prst="straightConnector1">
              <a:avLst/>
            </a:prstGeom>
            <a:ln w="3810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7" name="TextBox 4">
              <a:extLst>
                <a:ext uri="{FF2B5EF4-FFF2-40B4-BE49-F238E27FC236}">
                  <a16:creationId xmlns:a16="http://schemas.microsoft.com/office/drawing/2014/main" id="{0C0B38F9-C7C7-6736-7CED-1B962B54AEE7}"/>
                </a:ext>
              </a:extLst>
            </p:cNvPr>
            <p:cNvSpPr txBox="1">
              <a:spLocks noChangeArrowheads="1"/>
            </p:cNvSpPr>
            <p:nvPr/>
          </p:nvSpPr>
          <p:spPr bwMode="auto">
            <a:xfrm>
              <a:off x="3048000" y="762000"/>
              <a:ext cx="6858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None/>
              </a:pPr>
              <a:r>
                <a:rPr lang="en-US" altLang="zh-CN" sz="2400" b="1" dirty="0" err="1">
                  <a:solidFill>
                    <a:srgbClr val="0000FF"/>
                  </a:solidFill>
                  <a:latin typeface="Arial Unicode MS" pitchFamily="34" charset="-122"/>
                  <a:ea typeface="Arial Unicode MS" pitchFamily="34" charset="-122"/>
                </a:rPr>
                <a:t>i</a:t>
              </a:r>
              <a:endParaRPr lang="zh-CN" altLang="en-US" sz="2400" b="1" dirty="0">
                <a:solidFill>
                  <a:srgbClr val="0000FF"/>
                </a:solidFill>
                <a:latin typeface="Arial Unicode MS" pitchFamily="34" charset="-122"/>
                <a:ea typeface="Arial Unicode MS" pitchFamily="3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dissolv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ym typeface="+mn-ea"/>
              </a:rPr>
              <a:t>直接插入排序算法</a:t>
            </a:r>
            <a:endParaRPr lang="zh-CN" altLang="en-US" dirty="0"/>
          </a:p>
        </p:txBody>
      </p:sp>
      <p:sp>
        <p:nvSpPr>
          <p:cNvPr id="3" name="内容占位符 2"/>
          <p:cNvSpPr>
            <a:spLocks noGrp="1"/>
          </p:cNvSpPr>
          <p:nvPr>
            <p:ph idx="1"/>
          </p:nvPr>
        </p:nvSpPr>
        <p:spPr>
          <a:xfrm>
            <a:off x="173355" y="1220470"/>
            <a:ext cx="8862695" cy="4611370"/>
          </a:xfrm>
        </p:spPr>
        <p:txBody>
          <a:bodyPr/>
          <a:lstStyle/>
          <a:p>
            <a:pPr marL="0" indent="0">
              <a:lnSpc>
                <a:spcPct val="90000"/>
              </a:lnSpc>
              <a:buNone/>
            </a:pPr>
            <a:r>
              <a:rPr lang="en-US" altLang="zh-CN" sz="2200" dirty="0">
                <a:latin typeface="Consolas" panose="020B0609020204030204" pitchFamily="49" charset="0"/>
                <a:sym typeface="+mn-ea"/>
              </a:rPr>
              <a:t>void </a:t>
            </a:r>
            <a:r>
              <a:rPr lang="en-US" altLang="zh-CN" sz="2200" dirty="0" err="1">
                <a:latin typeface="Consolas" panose="020B0609020204030204" pitchFamily="49" charset="0"/>
                <a:sym typeface="+mn-ea"/>
              </a:rPr>
              <a:t>insertSort</a:t>
            </a:r>
            <a:r>
              <a:rPr lang="en-US" altLang="zh-CN" sz="2200" dirty="0">
                <a:latin typeface="Consolas" panose="020B0609020204030204" pitchFamily="49" charset="0"/>
                <a:sym typeface="+mn-ea"/>
              </a:rPr>
              <a:t>(int a[],int n) {</a:t>
            </a:r>
            <a:endParaRPr lang="zh-CN" altLang="en-US" sz="2200" dirty="0">
              <a:solidFill>
                <a:schemeClr val="accent2"/>
              </a:solidFill>
              <a:latin typeface="Consolas" panose="020B0609020204030204" pitchFamily="49" charset="0"/>
              <a:sym typeface="+mn-ea"/>
            </a:endParaRPr>
          </a:p>
          <a:p>
            <a:pPr marL="0" indent="0">
              <a:lnSpc>
                <a:spcPct val="90000"/>
              </a:lnSpc>
              <a:buNone/>
            </a:pPr>
            <a:r>
              <a:rPr lang="en-US" altLang="zh-CN" sz="2200" dirty="0">
                <a:latin typeface="Consolas" panose="020B0609020204030204" pitchFamily="49" charset="0"/>
              </a:rPr>
              <a:t>	int </a:t>
            </a:r>
            <a:r>
              <a:rPr lang="en-US" altLang="zh-CN" sz="2200" dirty="0" err="1">
                <a:latin typeface="Consolas" panose="020B0609020204030204" pitchFamily="49" charset="0"/>
              </a:rPr>
              <a:t>i,j,tmp</a:t>
            </a:r>
            <a:r>
              <a:rPr lang="en-US" altLang="zh-CN" sz="2200" dirty="0">
                <a:latin typeface="Consolas" panose="020B0609020204030204" pitchFamily="49" charset="0"/>
              </a:rPr>
              <a:t>;</a:t>
            </a:r>
          </a:p>
          <a:p>
            <a:pPr marL="0" indent="0">
              <a:lnSpc>
                <a:spcPct val="90000"/>
              </a:lnSpc>
              <a:buNone/>
            </a:pPr>
            <a:r>
              <a:rPr lang="en-US" altLang="zh-CN" sz="2200" dirty="0">
                <a:latin typeface="Consolas" panose="020B0609020204030204" pitchFamily="49" charset="0"/>
              </a:rPr>
              <a:t>	</a:t>
            </a:r>
            <a:r>
              <a:rPr lang="zh-CN" altLang="en-US" sz="2200" dirty="0">
                <a:latin typeface="Consolas" panose="020B0609020204030204" pitchFamily="49" charset="0"/>
              </a:rPr>
              <a:t>for (i=1; i&lt;</a:t>
            </a:r>
            <a:r>
              <a:rPr lang="en-US" altLang="zh-CN" sz="2200" dirty="0">
                <a:latin typeface="Consolas" panose="020B0609020204030204" pitchFamily="49" charset="0"/>
              </a:rPr>
              <a:t>n;</a:t>
            </a:r>
            <a:r>
              <a:rPr lang="zh-CN" altLang="en-US" sz="2200" dirty="0">
                <a:latin typeface="Consolas" panose="020B0609020204030204" pitchFamily="49" charset="0"/>
              </a:rPr>
              <a:t> i++){</a:t>
            </a:r>
            <a:endParaRPr lang="zh-CN" altLang="en-US" sz="2200" dirty="0">
              <a:solidFill>
                <a:schemeClr val="accent2"/>
              </a:solidFill>
              <a:latin typeface="Consolas" panose="020B0609020204030204" pitchFamily="49" charset="0"/>
            </a:endParaRPr>
          </a:p>
          <a:p>
            <a:pPr marL="0" indent="0">
              <a:lnSpc>
                <a:spcPct val="90000"/>
              </a:lnSpc>
              <a:buNone/>
            </a:pPr>
            <a:r>
              <a:rPr lang="zh-CN" altLang="en-US" sz="2200" dirty="0">
                <a:latin typeface="Consolas" panose="020B0609020204030204" pitchFamily="49" charset="0"/>
              </a:rPr>
              <a:t>            </a:t>
            </a:r>
            <a:r>
              <a:rPr lang="en-US" altLang="zh-CN" sz="2200" dirty="0" err="1">
                <a:latin typeface="Consolas" panose="020B0609020204030204" pitchFamily="49" charset="0"/>
              </a:rPr>
              <a:t>tmp</a:t>
            </a:r>
            <a:r>
              <a:rPr lang="en-US" altLang="zh-CN" sz="2200" dirty="0">
                <a:latin typeface="Consolas" panose="020B0609020204030204" pitchFamily="49" charset="0"/>
              </a:rPr>
              <a:t> </a:t>
            </a:r>
            <a:r>
              <a:rPr lang="zh-CN" altLang="en-US" sz="2200" dirty="0">
                <a:latin typeface="Consolas" panose="020B0609020204030204" pitchFamily="49" charset="0"/>
              </a:rPr>
              <a:t>= </a:t>
            </a:r>
            <a:r>
              <a:rPr lang="en-US" altLang="zh-CN" sz="2200" dirty="0">
                <a:latin typeface="Consolas" panose="020B0609020204030204" pitchFamily="49" charset="0"/>
              </a:rPr>
              <a:t>a</a:t>
            </a:r>
            <a:r>
              <a:rPr lang="zh-CN" altLang="en-US" sz="2200" dirty="0">
                <a:latin typeface="Consolas" panose="020B0609020204030204" pitchFamily="49" charset="0"/>
              </a:rPr>
              <a:t>[i];</a:t>
            </a:r>
            <a:endParaRPr lang="en-US" altLang="zh-CN" sz="2200" dirty="0">
              <a:solidFill>
                <a:schemeClr val="accent2"/>
              </a:solidFill>
              <a:latin typeface="Consolas" panose="020B0609020204030204" pitchFamily="49" charset="0"/>
              <a:sym typeface="+mn-ea"/>
            </a:endParaRPr>
          </a:p>
          <a:p>
            <a:pPr marL="0" indent="0">
              <a:lnSpc>
                <a:spcPct val="90000"/>
              </a:lnSpc>
              <a:buNone/>
            </a:pPr>
            <a:r>
              <a:rPr lang="en-US" altLang="zh-CN" sz="2200" dirty="0">
                <a:latin typeface="Consolas" panose="020B0609020204030204" pitchFamily="49" charset="0"/>
              </a:rPr>
              <a:t>		for</a:t>
            </a:r>
            <a:r>
              <a:rPr lang="zh-CN" altLang="en-US" sz="2200" dirty="0">
                <a:latin typeface="Consolas" panose="020B0609020204030204" pitchFamily="49" charset="0"/>
              </a:rPr>
              <a:t> (j=i-1</a:t>
            </a:r>
            <a:r>
              <a:rPr lang="en-US" altLang="zh-CN" sz="2200" dirty="0">
                <a:latin typeface="Consolas" panose="020B0609020204030204" pitchFamily="49" charset="0"/>
              </a:rPr>
              <a:t>; </a:t>
            </a:r>
            <a:r>
              <a:rPr lang="zh-CN" altLang="en-US" sz="2200" dirty="0">
                <a:latin typeface="Consolas" panose="020B0609020204030204" pitchFamily="49" charset="0"/>
              </a:rPr>
              <a:t>j&gt;=0 &amp;&amp; </a:t>
            </a:r>
            <a:r>
              <a:rPr lang="en-US" altLang="zh-CN" sz="2200" dirty="0">
                <a:latin typeface="Consolas" panose="020B0609020204030204" pitchFamily="49" charset="0"/>
              </a:rPr>
              <a:t>a</a:t>
            </a:r>
            <a:r>
              <a:rPr lang="zh-CN" altLang="en-US" sz="2200" dirty="0">
                <a:latin typeface="Consolas" panose="020B0609020204030204" pitchFamily="49" charset="0"/>
              </a:rPr>
              <a:t>[j]&gt;</a:t>
            </a:r>
            <a:r>
              <a:rPr lang="en-US" altLang="zh-CN" sz="2200" dirty="0" err="1">
                <a:latin typeface="Consolas" panose="020B0609020204030204" pitchFamily="49" charset="0"/>
              </a:rPr>
              <a:t>tmp</a:t>
            </a:r>
            <a:r>
              <a:rPr lang="en-US" altLang="zh-CN" sz="2200" dirty="0">
                <a:latin typeface="Consolas" panose="020B0609020204030204" pitchFamily="49" charset="0"/>
              </a:rPr>
              <a:t>; j--</a:t>
            </a:r>
            <a:r>
              <a:rPr lang="zh-CN" altLang="en-US" sz="2200" dirty="0">
                <a:latin typeface="Consolas" panose="020B0609020204030204" pitchFamily="49" charset="0"/>
              </a:rPr>
              <a:t>){</a:t>
            </a:r>
          </a:p>
          <a:p>
            <a:pPr marL="0" indent="0">
              <a:lnSpc>
                <a:spcPct val="90000"/>
              </a:lnSpc>
              <a:buNone/>
            </a:pPr>
            <a:r>
              <a:rPr lang="en-US" altLang="zh-CN" sz="2200" dirty="0">
                <a:latin typeface="Consolas" panose="020B0609020204030204" pitchFamily="49" charset="0"/>
              </a:rPr>
              <a:t>				</a:t>
            </a:r>
            <a:r>
              <a:rPr lang="en-US" altLang="zh-CN" sz="2200" dirty="0">
                <a:solidFill>
                  <a:schemeClr val="accent2"/>
                </a:solidFill>
                <a:latin typeface="Consolas" panose="020B0609020204030204" pitchFamily="49" charset="0"/>
              </a:rPr>
              <a:t>//</a:t>
            </a:r>
            <a:r>
              <a:rPr lang="zh-CN" altLang="en-US" sz="2200" dirty="0">
                <a:solidFill>
                  <a:schemeClr val="accent2"/>
                </a:solidFill>
                <a:latin typeface="Consolas" panose="020B0609020204030204" pitchFamily="49" charset="0"/>
              </a:rPr>
              <a:t>若已排序列比之大则后移</a:t>
            </a:r>
          </a:p>
          <a:p>
            <a:pPr marL="0" indent="0">
              <a:lnSpc>
                <a:spcPct val="90000"/>
              </a:lnSpc>
              <a:buNone/>
            </a:pPr>
            <a:r>
              <a:rPr lang="zh-CN" altLang="en-US" sz="2200" dirty="0">
                <a:latin typeface="Consolas" panose="020B0609020204030204" pitchFamily="49" charset="0"/>
              </a:rPr>
              <a:t>                </a:t>
            </a:r>
            <a:r>
              <a:rPr lang="en-US" altLang="zh-CN" sz="2200" dirty="0">
                <a:latin typeface="Consolas" panose="020B0609020204030204" pitchFamily="49" charset="0"/>
              </a:rPr>
              <a:t>a</a:t>
            </a:r>
            <a:r>
              <a:rPr lang="zh-CN" altLang="en-US" sz="2200" dirty="0">
                <a:latin typeface="Consolas" panose="020B0609020204030204" pitchFamily="49" charset="0"/>
              </a:rPr>
              <a:t>[j+1] = </a:t>
            </a:r>
            <a:r>
              <a:rPr lang="en-US" altLang="zh-CN" sz="2200" dirty="0">
                <a:latin typeface="Consolas" panose="020B0609020204030204" pitchFamily="49" charset="0"/>
              </a:rPr>
              <a:t>a</a:t>
            </a:r>
            <a:r>
              <a:rPr lang="zh-CN" altLang="en-US" sz="2200" dirty="0">
                <a:latin typeface="Consolas" panose="020B0609020204030204" pitchFamily="49" charset="0"/>
              </a:rPr>
              <a:t>[j];</a:t>
            </a:r>
          </a:p>
          <a:p>
            <a:pPr marL="0" indent="0">
              <a:lnSpc>
                <a:spcPct val="90000"/>
              </a:lnSpc>
              <a:buNone/>
            </a:pPr>
            <a:r>
              <a:rPr lang="en-US" altLang="zh-CN" sz="2200" dirty="0">
                <a:latin typeface="Consolas" panose="020B0609020204030204" pitchFamily="49" charset="0"/>
              </a:rPr>
              <a:t>		</a:t>
            </a:r>
            <a:r>
              <a:rPr lang="zh-CN" altLang="en-US" sz="2200" dirty="0">
                <a:latin typeface="Consolas" panose="020B0609020204030204" pitchFamily="49" charset="0"/>
              </a:rPr>
              <a:t>}</a:t>
            </a:r>
            <a:endParaRPr lang="en-US" altLang="zh-CN" sz="2200" dirty="0">
              <a:latin typeface="Consolas" panose="020B0609020204030204" pitchFamily="49" charset="0"/>
            </a:endParaRPr>
          </a:p>
          <a:p>
            <a:pPr marL="0" indent="0">
              <a:lnSpc>
                <a:spcPct val="90000"/>
              </a:lnSpc>
              <a:buNone/>
            </a:pPr>
            <a:r>
              <a:rPr lang="en-US" altLang="zh-CN" sz="2200" dirty="0">
                <a:latin typeface="Consolas" panose="020B0609020204030204" pitchFamily="49" charset="0"/>
              </a:rPr>
              <a:t>		a</a:t>
            </a:r>
            <a:r>
              <a:rPr lang="zh-CN" altLang="en-US" sz="2200" dirty="0">
                <a:latin typeface="Consolas" panose="020B0609020204030204" pitchFamily="49" charset="0"/>
              </a:rPr>
              <a:t>[j+1] = </a:t>
            </a:r>
            <a:r>
              <a:rPr lang="en-US" altLang="zh-CN" sz="2200" dirty="0" err="1">
                <a:latin typeface="Consolas" panose="020B0609020204030204" pitchFamily="49" charset="0"/>
              </a:rPr>
              <a:t>tmp</a:t>
            </a:r>
            <a:r>
              <a:rPr lang="zh-CN" altLang="en-US" sz="2200" dirty="0">
                <a:latin typeface="Consolas" panose="020B0609020204030204" pitchFamily="49" charset="0"/>
              </a:rPr>
              <a:t>;</a:t>
            </a:r>
            <a:r>
              <a:rPr lang="en-US" altLang="zh-CN" sz="2200" dirty="0">
                <a:solidFill>
                  <a:schemeClr val="accent2"/>
                </a:solidFill>
                <a:latin typeface="Consolas" panose="020B0609020204030204" pitchFamily="49" charset="0"/>
              </a:rPr>
              <a:t>//</a:t>
            </a:r>
            <a:r>
              <a:rPr lang="zh-CN" altLang="en-US" sz="2200" dirty="0">
                <a:solidFill>
                  <a:schemeClr val="accent2"/>
                </a:solidFill>
                <a:latin typeface="Consolas" panose="020B0609020204030204" pitchFamily="49" charset="0"/>
              </a:rPr>
              <a:t>插入当前元素</a:t>
            </a:r>
          </a:p>
          <a:p>
            <a:pPr marL="0" indent="0">
              <a:lnSpc>
                <a:spcPct val="90000"/>
              </a:lnSpc>
              <a:buNone/>
            </a:pPr>
            <a:r>
              <a:rPr lang="en-US" altLang="zh-CN" sz="2200" dirty="0">
                <a:latin typeface="Consolas" panose="020B0609020204030204" pitchFamily="49" charset="0"/>
              </a:rPr>
              <a:t>	</a:t>
            </a:r>
            <a:r>
              <a:rPr lang="zh-CN" altLang="en-US" sz="2200" dirty="0">
                <a:latin typeface="Consolas" panose="020B0609020204030204" pitchFamily="49" charset="0"/>
              </a:rPr>
              <a:t>}</a:t>
            </a:r>
            <a:endParaRPr lang="en-US" altLang="zh-CN" sz="2200" dirty="0">
              <a:latin typeface="Consolas" panose="020B0609020204030204" pitchFamily="49" charset="0"/>
            </a:endParaRPr>
          </a:p>
          <a:p>
            <a:pPr marL="0" indent="0">
              <a:lnSpc>
                <a:spcPct val="90000"/>
              </a:lnSpc>
              <a:buNone/>
            </a:pPr>
            <a:r>
              <a:rPr lang="en-US" altLang="zh-CN" sz="2200" dirty="0">
                <a:latin typeface="Consolas" panose="020B0609020204030204" pitchFamily="49" charset="0"/>
              </a:rPr>
              <a:t>}</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7C87E-E00B-381C-5CED-A7FC071EC5B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189C2D-017F-C94A-8046-E1EBCDD9292D}"/>
              </a:ext>
            </a:extLst>
          </p:cNvPr>
          <p:cNvSpPr>
            <a:spLocks noGrp="1"/>
          </p:cNvSpPr>
          <p:nvPr>
            <p:ph idx="1"/>
          </p:nvPr>
        </p:nvSpPr>
        <p:spPr>
          <a:xfrm>
            <a:off x="359532" y="1412776"/>
            <a:ext cx="8424936" cy="4590925"/>
          </a:xfrm>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#define SIZE 10</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printArray</a:t>
            </a:r>
            <a:r>
              <a:rPr lang="en-US" altLang="zh-CN" sz="2000" dirty="0">
                <a:latin typeface="Consolas" panose="020B0609020204030204" pitchFamily="49" charset="0"/>
              </a:rPr>
              <a:t>(const int a[],int n);</a:t>
            </a:r>
          </a:p>
          <a:p>
            <a:pPr marL="0" indent="0">
              <a:buNone/>
            </a:pPr>
            <a:r>
              <a:rPr lang="en-US" altLang="zh-CN" sz="2000" dirty="0">
                <a:latin typeface="Consolas" panose="020B0609020204030204" pitchFamily="49" charset="0"/>
              </a:rPr>
              <a:t>void </a:t>
            </a:r>
            <a:r>
              <a:rPr lang="en-US" altLang="zh-CN" sz="2000" dirty="0" err="1">
                <a:latin typeface="Consolas" panose="020B0609020204030204" pitchFamily="49" charset="0"/>
              </a:rPr>
              <a:t>insertSort</a:t>
            </a:r>
            <a:r>
              <a:rPr lang="en-US" altLang="zh-CN" sz="2000" dirty="0">
                <a:latin typeface="Consolas" panose="020B0609020204030204" pitchFamily="49" charset="0"/>
              </a:rPr>
              <a:t>(int a[],int n);</a:t>
            </a:r>
          </a:p>
          <a:p>
            <a:pPr marL="0" indent="0">
              <a:buNone/>
            </a:pPr>
            <a:r>
              <a:rPr lang="en-US" altLang="zh-CN" sz="2000" dirty="0">
                <a:latin typeface="Consolas" panose="020B0609020204030204" pitchFamily="49" charset="0"/>
              </a:rPr>
              <a:t>int main()</a:t>
            </a:r>
          </a:p>
          <a:p>
            <a:pPr marL="0" indent="0">
              <a:buNone/>
            </a:pP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int a[SIZE]={2,1,6,9,8,36,27,25,12,7};</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insertSort</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printArray</a:t>
            </a:r>
            <a:r>
              <a:rPr lang="en-US" altLang="zh-CN" sz="2000" dirty="0">
                <a:latin typeface="Consolas" panose="020B0609020204030204" pitchFamily="49" charset="0"/>
              </a:rPr>
              <a:t>(</a:t>
            </a:r>
            <a:r>
              <a:rPr lang="en-US" altLang="zh-CN" sz="2000" dirty="0" err="1">
                <a:latin typeface="Consolas" panose="020B0609020204030204" pitchFamily="49" charset="0"/>
              </a:rPr>
              <a:t>a,SIZE</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return</a:t>
            </a:r>
            <a:r>
              <a:rPr lang="zh-CN" altLang="en-US" sz="2000" dirty="0">
                <a:latin typeface="Consolas" panose="020B0609020204030204" pitchFamily="49" charset="0"/>
              </a:rPr>
              <a:t> </a:t>
            </a:r>
            <a:r>
              <a:rPr lang="en-US" altLang="zh-CN" sz="2000" dirty="0">
                <a:latin typeface="Consolas" panose="020B0609020204030204" pitchFamily="49" charset="0"/>
              </a:rPr>
              <a:t>0;</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218864196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37808" y="1250633"/>
            <a:ext cx="4975225"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457200" lvl="0" indent="-457200" eaLnBrk="1" hangingPunct="1">
              <a:spcBef>
                <a:spcPct val="0"/>
              </a:spcBef>
            </a:pPr>
            <a:r>
              <a:rPr lang="zh-CN" altLang="en-US" sz="2800" b="1" dirty="0">
                <a:solidFill>
                  <a:srgbClr val="C00000"/>
                </a:solidFill>
                <a:latin typeface="Arial" panose="020B0604020202020204" pitchFamily="34" charset="0"/>
                <a:ea typeface="楷体_GB2312" pitchFamily="49" charset="-122"/>
              </a:rPr>
              <a:t>最好的情况（</a:t>
            </a:r>
            <a:r>
              <a:rPr lang="zh-CN" altLang="en-US" sz="2800" b="1" dirty="0">
                <a:solidFill>
                  <a:srgbClr val="0000FF"/>
                </a:solidFill>
                <a:latin typeface="Arial" panose="020B0604020202020204" pitchFamily="34" charset="0"/>
                <a:ea typeface="楷体_GB2312" pitchFamily="49" charset="-122"/>
              </a:rPr>
              <a:t>顺序</a:t>
            </a:r>
            <a:r>
              <a:rPr lang="zh-CN" altLang="en-US" sz="2800" b="1" dirty="0">
                <a:solidFill>
                  <a:srgbClr val="C00000"/>
                </a:solidFill>
                <a:latin typeface="Arial" panose="020B0604020202020204" pitchFamily="34" charset="0"/>
                <a:ea typeface="楷体_GB2312" pitchFamily="49" charset="-122"/>
              </a:rPr>
              <a:t>有序）：</a:t>
            </a:r>
          </a:p>
        </p:txBody>
      </p:sp>
      <p:sp>
        <p:nvSpPr>
          <p:cNvPr id="5" name="Text Box 4"/>
          <p:cNvSpPr txBox="1"/>
          <p:nvPr/>
        </p:nvSpPr>
        <p:spPr>
          <a:xfrm>
            <a:off x="237808" y="1837690"/>
            <a:ext cx="2665730" cy="4781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比较"</a:t>
            </a:r>
            <a:r>
              <a:rPr lang="zh-CN" altLang="en-US" sz="2800" b="1" dirty="0">
                <a:latin typeface="Arial" panose="020B0604020202020204" pitchFamily="34" charset="0"/>
                <a:ea typeface="楷体_GB2312" pitchFamily="49" charset="-122"/>
              </a:rPr>
              <a:t>的次数：</a:t>
            </a:r>
            <a:endParaRPr lang="zh-CN" altLang="en-US" sz="2800" b="1" dirty="0">
              <a:latin typeface="Arial" panose="020B0604020202020204" pitchFamily="34" charset="0"/>
            </a:endParaRPr>
          </a:p>
        </p:txBody>
      </p:sp>
      <p:sp>
        <p:nvSpPr>
          <p:cNvPr id="6" name="Text Box 8"/>
          <p:cNvSpPr txBox="1"/>
          <p:nvPr/>
        </p:nvSpPr>
        <p:spPr>
          <a:xfrm>
            <a:off x="238125" y="2941955"/>
            <a:ext cx="4975225"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457200" lvl="0" indent="-457200" eaLnBrk="1" hangingPunct="1">
              <a:spcBef>
                <a:spcPct val="0"/>
              </a:spcBef>
            </a:pPr>
            <a:r>
              <a:rPr lang="zh-CN" altLang="en-US" sz="2800" b="1" dirty="0">
                <a:solidFill>
                  <a:srgbClr val="C00000"/>
                </a:solidFill>
                <a:latin typeface="Arial" panose="020B0604020202020204" pitchFamily="34" charset="0"/>
                <a:ea typeface="楷体_GB2312" pitchFamily="49" charset="-122"/>
              </a:rPr>
              <a:t>最坏的情况（</a:t>
            </a:r>
            <a:r>
              <a:rPr lang="zh-CN" altLang="en-US" sz="2800" b="1" dirty="0">
                <a:solidFill>
                  <a:srgbClr val="0000FF"/>
                </a:solidFill>
                <a:latin typeface="Arial" panose="020B0604020202020204" pitchFamily="34" charset="0"/>
                <a:ea typeface="楷体_GB2312" pitchFamily="49" charset="-122"/>
              </a:rPr>
              <a:t>逆序</a:t>
            </a:r>
            <a:r>
              <a:rPr lang="zh-CN" altLang="en-US" sz="2800" b="1" dirty="0">
                <a:solidFill>
                  <a:srgbClr val="C00000"/>
                </a:solidFill>
                <a:latin typeface="Arial" panose="020B0604020202020204" pitchFamily="34" charset="0"/>
                <a:ea typeface="楷体_GB2312" pitchFamily="49" charset="-122"/>
              </a:rPr>
              <a:t>有序）：</a:t>
            </a:r>
          </a:p>
        </p:txBody>
      </p:sp>
      <p:sp>
        <p:nvSpPr>
          <p:cNvPr id="7" name="Text Box 9"/>
          <p:cNvSpPr txBox="1"/>
          <p:nvPr/>
        </p:nvSpPr>
        <p:spPr>
          <a:xfrm>
            <a:off x="1035685" y="3538538"/>
            <a:ext cx="2665730" cy="4781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比较"</a:t>
            </a:r>
            <a:r>
              <a:rPr lang="zh-CN" altLang="en-US" sz="2800" b="1" dirty="0">
                <a:latin typeface="Arial" panose="020B0604020202020204" pitchFamily="34" charset="0"/>
                <a:ea typeface="楷体_GB2312" pitchFamily="49" charset="-122"/>
              </a:rPr>
              <a:t>的次数：</a:t>
            </a:r>
          </a:p>
        </p:txBody>
      </p:sp>
      <p:sp>
        <p:nvSpPr>
          <p:cNvPr id="9" name="Text Box 11"/>
          <p:cNvSpPr txBox="1"/>
          <p:nvPr/>
        </p:nvSpPr>
        <p:spPr>
          <a:xfrm>
            <a:off x="8313103" y="1837690"/>
            <a:ext cx="384175"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FF0000"/>
                </a:solidFill>
                <a:latin typeface="Arial" panose="020B0604020202020204" pitchFamily="34" charset="0"/>
              </a:rPr>
              <a:t>0</a:t>
            </a:r>
            <a:endParaRPr lang="en-US" altLang="zh-CN" sz="2800" b="1" dirty="0">
              <a:latin typeface="Arial" panose="020B0604020202020204" pitchFamily="34" charset="0"/>
            </a:endParaRPr>
          </a:p>
        </p:txBody>
      </p:sp>
      <p:sp>
        <p:nvSpPr>
          <p:cNvPr id="10" name="Rectangle 14"/>
          <p:cNvSpPr/>
          <p:nvPr/>
        </p:nvSpPr>
        <p:spPr>
          <a:xfrm>
            <a:off x="5621973" y="1837690"/>
            <a:ext cx="2665730" cy="478155"/>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移动"</a:t>
            </a:r>
            <a:r>
              <a:rPr lang="zh-CN" altLang="en-US" sz="2800" b="1" dirty="0">
                <a:latin typeface="Arial" panose="020B0604020202020204" pitchFamily="34" charset="0"/>
                <a:ea typeface="楷体_GB2312" pitchFamily="49" charset="-122"/>
              </a:rPr>
              <a:t>的次数：</a:t>
            </a:r>
          </a:p>
        </p:txBody>
      </p:sp>
      <p:sp>
        <p:nvSpPr>
          <p:cNvPr id="11" name="Rectangle 15"/>
          <p:cNvSpPr/>
          <p:nvPr/>
        </p:nvSpPr>
        <p:spPr>
          <a:xfrm>
            <a:off x="5506466" y="3465830"/>
            <a:ext cx="3637534" cy="4801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None/>
            </a:pP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移动</a:t>
            </a: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赋值</a:t>
            </a:r>
            <a:r>
              <a:rPr lang="en-US" altLang="zh-CN" sz="2800" b="1" dirty="0">
                <a:solidFill>
                  <a:srgbClr val="0000FF"/>
                </a:solidFill>
                <a:latin typeface="Arial" panose="020B0604020202020204" pitchFamily="34" charset="0"/>
                <a:ea typeface="楷体_GB2312" pitchFamily="49" charset="-122"/>
              </a:rPr>
              <a:t>)</a:t>
            </a:r>
            <a:r>
              <a:rPr lang="zh-CN" altLang="en-US" sz="2800" b="1" dirty="0">
                <a:solidFill>
                  <a:srgbClr val="0000FF"/>
                </a:solidFill>
                <a:latin typeface="Arial" panose="020B0604020202020204" pitchFamily="34" charset="0"/>
                <a:ea typeface="楷体_GB2312" pitchFamily="49" charset="-122"/>
              </a:rPr>
              <a:t>"</a:t>
            </a:r>
            <a:r>
              <a:rPr lang="zh-CN" altLang="en-US" sz="2800" b="1" dirty="0">
                <a:latin typeface="Arial" panose="020B0604020202020204" pitchFamily="34" charset="0"/>
                <a:ea typeface="楷体_GB2312" pitchFamily="49" charset="-122"/>
              </a:rPr>
              <a:t>的次数：</a:t>
            </a:r>
          </a:p>
        </p:txBody>
      </p:sp>
      <p:sp>
        <p:nvSpPr>
          <p:cNvPr id="12297" name="Rectangle 2"/>
          <p:cNvSpPr txBox="1"/>
          <p:nvPr/>
        </p:nvSpPr>
        <p:spPr>
          <a:xfrm>
            <a:off x="3861435" y="414020"/>
            <a:ext cx="4836160" cy="543560"/>
          </a:xfrm>
          <a:prstGeom prst="rect">
            <a:avLst/>
          </a:prstGeom>
          <a:noFill/>
          <a:ln w="9525">
            <a:noFill/>
          </a:ln>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spcBef>
                <a:spcPct val="0"/>
              </a:spcBef>
              <a:buNone/>
            </a:pPr>
            <a:r>
              <a:rPr lang="en-US" altLang="zh-CN" sz="2800" b="1" dirty="0">
                <a:solidFill>
                  <a:srgbClr val="FF0000"/>
                </a:solidFill>
                <a:latin typeface="楷体" panose="02010609060101010101" pitchFamily="49" charset="-122"/>
                <a:ea typeface="楷体" panose="02010609060101010101" pitchFamily="49" charset="-122"/>
              </a:rPr>
              <a:t>3.</a:t>
            </a:r>
            <a:r>
              <a:rPr lang="zh-CN" altLang="en-US" sz="2800" b="1" dirty="0">
                <a:solidFill>
                  <a:srgbClr val="FF0000"/>
                </a:solidFill>
                <a:latin typeface="楷体" panose="02010609060101010101" pitchFamily="49" charset="-122"/>
                <a:ea typeface="楷体" panose="02010609060101010101" pitchFamily="49" charset="-122"/>
              </a:rPr>
              <a:t>直接插入排序的性能分析</a:t>
            </a:r>
            <a:endParaRPr lang="en-US" altLang="zh-CN" sz="2800" b="1" dirty="0">
              <a:solidFill>
                <a:srgbClr val="FF0000"/>
              </a:solidFill>
              <a:latin typeface="楷体" panose="02010609060101010101" pitchFamily="49" charset="-122"/>
              <a:ea typeface="楷体" panose="02010609060101010101" pitchFamily="49" charset="-122"/>
            </a:endParaRPr>
          </a:p>
        </p:txBody>
      </p:sp>
      <p:graphicFrame>
        <p:nvGraphicFramePr>
          <p:cNvPr id="15" name="对象 14"/>
          <p:cNvGraphicFramePr>
            <a:graphicFrameLocks noChangeAspect="1"/>
          </p:cNvGraphicFramePr>
          <p:nvPr/>
        </p:nvGraphicFramePr>
        <p:xfrm>
          <a:off x="2911475" y="1774825"/>
          <a:ext cx="2301875" cy="1166813"/>
        </p:xfrm>
        <a:graphic>
          <a:graphicData uri="http://schemas.openxmlformats.org/presentationml/2006/ole">
            <mc:AlternateContent xmlns:mc="http://schemas.openxmlformats.org/markup-compatibility/2006">
              <mc:Choice xmlns:v="urn:schemas-microsoft-com:vml" Requires="v">
                <p:oleObj r:id="rId2" imgW="875665" imgH="444500" progId="Equation.3">
                  <p:embed/>
                </p:oleObj>
              </mc:Choice>
              <mc:Fallback>
                <p:oleObj r:id="rId2" imgW="875665" imgH="444500" progId="Equation.3">
                  <p:embed/>
                  <p:pic>
                    <p:nvPicPr>
                      <p:cNvPr id="0" name="图片 3075"/>
                      <p:cNvPicPr/>
                      <p:nvPr/>
                    </p:nvPicPr>
                    <p:blipFill>
                      <a:blip r:embed="rId3"/>
                      <a:stretch>
                        <a:fillRect/>
                      </a:stretch>
                    </p:blipFill>
                    <p:spPr>
                      <a:xfrm>
                        <a:off x="2911475" y="1774825"/>
                        <a:ext cx="2301875" cy="1166813"/>
                      </a:xfrm>
                      <a:prstGeom prst="rect">
                        <a:avLst/>
                      </a:prstGeom>
                      <a:noFill/>
                      <a:ln w="38100">
                        <a:noFill/>
                        <a:miter/>
                      </a:ln>
                    </p:spPr>
                  </p:pic>
                </p:oleObj>
              </mc:Fallback>
            </mc:AlternateContent>
          </a:graphicData>
        </a:graphic>
      </p:graphicFrame>
      <p:graphicFrame>
        <p:nvGraphicFramePr>
          <p:cNvPr id="16" name="对象 15"/>
          <p:cNvGraphicFramePr>
            <a:graphicFrameLocks noChangeAspect="1"/>
          </p:cNvGraphicFramePr>
          <p:nvPr/>
        </p:nvGraphicFramePr>
        <p:xfrm>
          <a:off x="597535" y="4235450"/>
          <a:ext cx="3327400" cy="962025"/>
        </p:xfrm>
        <a:graphic>
          <a:graphicData uri="http://schemas.openxmlformats.org/presentationml/2006/ole">
            <mc:AlternateContent xmlns:mc="http://schemas.openxmlformats.org/markup-compatibility/2006">
              <mc:Choice xmlns:v="urn:schemas-microsoft-com:vml" Requires="v">
                <p:oleObj r:id="rId4" imgW="1536065" imgH="444500" progId="Equation.3">
                  <p:embed/>
                </p:oleObj>
              </mc:Choice>
              <mc:Fallback>
                <p:oleObj r:id="rId4" imgW="1536065" imgH="444500" progId="Equation.3">
                  <p:embed/>
                  <p:pic>
                    <p:nvPicPr>
                      <p:cNvPr id="0" name="图片 3076"/>
                      <p:cNvPicPr/>
                      <p:nvPr/>
                    </p:nvPicPr>
                    <p:blipFill>
                      <a:blip r:embed="rId5"/>
                      <a:stretch>
                        <a:fillRect/>
                      </a:stretch>
                    </p:blipFill>
                    <p:spPr>
                      <a:xfrm>
                        <a:off x="597535" y="4235450"/>
                        <a:ext cx="3327400" cy="962025"/>
                      </a:xfrm>
                      <a:prstGeom prst="rect">
                        <a:avLst/>
                      </a:prstGeom>
                      <a:noFill/>
                      <a:ln w="38100">
                        <a:noFill/>
                        <a:miter/>
                      </a:ln>
                    </p:spPr>
                  </p:pic>
                </p:oleObj>
              </mc:Fallback>
            </mc:AlternateContent>
          </a:graphicData>
        </a:graphic>
      </p:graphicFrame>
      <p:graphicFrame>
        <p:nvGraphicFramePr>
          <p:cNvPr id="17" name="对象 16"/>
          <p:cNvGraphicFramePr>
            <a:graphicFrameLocks noChangeAspect="1"/>
          </p:cNvGraphicFramePr>
          <p:nvPr/>
        </p:nvGraphicFramePr>
        <p:xfrm>
          <a:off x="4724400" y="4062730"/>
          <a:ext cx="4283075" cy="990600"/>
        </p:xfrm>
        <a:graphic>
          <a:graphicData uri="http://schemas.openxmlformats.org/presentationml/2006/ole">
            <mc:AlternateContent xmlns:mc="http://schemas.openxmlformats.org/markup-compatibility/2006">
              <mc:Choice xmlns:v="urn:schemas-microsoft-com:vml" Requires="v">
                <p:oleObj r:id="rId6" imgW="2171700" imgH="444500" progId="Equation.3">
                  <p:embed/>
                </p:oleObj>
              </mc:Choice>
              <mc:Fallback>
                <p:oleObj r:id="rId6" imgW="2171700" imgH="444500" progId="Equation.3">
                  <p:embed/>
                  <p:pic>
                    <p:nvPicPr>
                      <p:cNvPr id="0" name="图片 3077"/>
                      <p:cNvPicPr/>
                      <p:nvPr/>
                    </p:nvPicPr>
                    <p:blipFill>
                      <a:blip r:embed="rId7"/>
                      <a:stretch>
                        <a:fillRect/>
                      </a:stretch>
                    </p:blipFill>
                    <p:spPr>
                      <a:xfrm>
                        <a:off x="4724400" y="4062730"/>
                        <a:ext cx="4283075" cy="990600"/>
                      </a:xfrm>
                      <a:prstGeom prst="rect">
                        <a:avLst/>
                      </a:prstGeom>
                      <a:noFill/>
                      <a:ln w="38100">
                        <a:noFill/>
                        <a:miter/>
                      </a:ln>
                    </p:spPr>
                  </p:pic>
                </p:oleObj>
              </mc:Fallback>
            </mc:AlternateContent>
          </a:graphicData>
        </a:graphic>
      </p:graphicFrame>
      <p:sp>
        <p:nvSpPr>
          <p:cNvPr id="12290" name="Rectangle 3"/>
          <p:cNvSpPr txBox="1">
            <a:spLocks noChangeArrowheads="1"/>
          </p:cNvSpPr>
          <p:nvPr/>
        </p:nvSpPr>
        <p:spPr bwMode="auto">
          <a:xfrm>
            <a:off x="238125" y="5325745"/>
            <a:ext cx="7458075" cy="51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时间复杂度 </a:t>
            </a:r>
            <a:r>
              <a:rPr kumimoji="0" lang="en-US" altLang="zh-CN"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rPr>
              <a:t>O</a:t>
            </a:r>
            <a:r>
              <a:rPr kumimoji="0" lang="zh-CN" altLang="en-US"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rPr>
              <a:t>n</a:t>
            </a:r>
            <a:r>
              <a:rPr kumimoji="0" lang="en-US" altLang="zh-CN" sz="2800" b="1" i="0" u="none" strike="noStrike" kern="1200" cap="none" spc="0" normalizeH="0" baseline="30000" noProof="0" dirty="0">
                <a:ln>
                  <a:noFill/>
                </a:ln>
                <a:solidFill>
                  <a:srgbClr val="0000FF"/>
                </a:solidFill>
                <a:effectLst/>
                <a:uLnTx/>
                <a:uFillTx/>
                <a:latin typeface="楷体" panose="02010609060101010101" pitchFamily="49" charset="-122"/>
                <a:ea typeface="楷体" panose="02010609060101010101" pitchFamily="49" charset="-122"/>
                <a:cs typeface="+mn-cs"/>
              </a:rPr>
              <a:t>2</a:t>
            </a:r>
            <a:r>
              <a:rPr kumimoji="0" lang="en-US" altLang="zh-CN" sz="2800" b="1" i="0" u="none" strike="noStrike" kern="1200" cap="none" spc="0" normalizeH="0" baseline="0" noProof="0" dirty="0">
                <a:ln>
                  <a:noFill/>
                </a:ln>
                <a:solidFill>
                  <a:srgbClr val="0000FF"/>
                </a:solidFill>
                <a:effectLst/>
                <a:uLnTx/>
                <a:uFillTx/>
                <a:latin typeface="楷体" panose="02010609060101010101" pitchFamily="49" charset="-122"/>
                <a:ea typeface="楷体" panose="02010609060101010101" pitchFamily="49" charset="-122"/>
                <a:cs typeface="+mn-cs"/>
              </a:rPr>
              <a:t>) </a:t>
            </a:r>
            <a:endParaRPr kumimoji="0" lang="en-US" altLang="zh-CN" sz="2800" b="1" i="0" u="none" strike="noStrike" kern="1200" cap="none" spc="0" normalizeH="0" baseline="0" noProof="0" dirty="0">
              <a:ln>
                <a:noFill/>
              </a:ln>
              <a:solidFill>
                <a:schemeClr val="tx1"/>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childTnLst>
                          </p:cTn>
                        </p:par>
                        <p:par>
                          <p:cTn id="22" fill="hold">
                            <p:stCondLst>
                              <p:cond delay="0"/>
                            </p:stCondLst>
                            <p:childTnLst>
                              <p:par>
                                <p:cTn id="23" presetID="3" presetClass="entr" presetSubtype="5"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vertical)">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strips(downRigh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P spid="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4"/>
          <p:cNvSpPr txBox="1">
            <a:spLocks noGrp="1"/>
          </p:cNvSpPr>
          <p:nvPr/>
        </p:nvSpPr>
        <p:spPr>
          <a:xfrm>
            <a:off x="6934200" y="6324600"/>
            <a:ext cx="1905000" cy="457200"/>
          </a:xfrm>
          <a:prstGeom prst="rect">
            <a:avLst/>
          </a:prstGeom>
          <a:noFill/>
          <a:ln w="9525">
            <a:noFill/>
          </a:ln>
        </p:spPr>
        <p:txBody>
          <a:bodyPr/>
          <a:lstStyle>
            <a:lvl1pPr marL="342900" lvl="0" indent="-342900" algn="l" defTabSz="91440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stStyle>
          <a:p>
            <a:pPr marL="0" lvl="0" indent="0" algn="r" eaLnBrk="1" hangingPunct="1">
              <a:spcBef>
                <a:spcPct val="50000"/>
              </a:spcBef>
              <a:buNone/>
            </a:pPr>
            <a:fld id="{9A0DB2DC-4C9A-4742-B13C-FB6460FD3503}" type="slidenum">
              <a:rPr lang="zh-CN" altLang="en-US" sz="1400" b="1" dirty="0"/>
              <a:t>41</a:t>
            </a:fld>
            <a:endParaRPr lang="zh-CN" altLang="en-US" sz="1400" b="1" dirty="0"/>
          </a:p>
        </p:txBody>
      </p:sp>
      <p:graphicFrame>
        <p:nvGraphicFramePr>
          <p:cNvPr id="73731" name="Object 4"/>
          <p:cNvGraphicFramePr>
            <a:graphicFrameLocks noGrp="1" noChangeAspect="1"/>
          </p:cNvGraphicFramePr>
          <p:nvPr>
            <p:ph idx="1"/>
          </p:nvPr>
        </p:nvGraphicFramePr>
        <p:xfrm>
          <a:off x="3348038" y="2640013"/>
          <a:ext cx="2376487" cy="2212975"/>
        </p:xfrm>
        <a:graphic>
          <a:graphicData uri="http://schemas.openxmlformats.org/presentationml/2006/ole">
            <mc:AlternateContent xmlns:mc="http://schemas.openxmlformats.org/markup-compatibility/2006">
              <mc:Choice xmlns:v="urn:schemas-microsoft-com:vml" Requires="v">
                <p:oleObj r:id="rId2" imgW="1132205" imgH="1054100" progId="">
                  <p:embed/>
                </p:oleObj>
              </mc:Choice>
              <mc:Fallback>
                <p:oleObj r:id="rId2" imgW="1132205" imgH="1054100" progId="">
                  <p:embed/>
                  <p:pic>
                    <p:nvPicPr>
                      <p:cNvPr id="0" name="图片 3141"/>
                      <p:cNvPicPr/>
                      <p:nvPr/>
                    </p:nvPicPr>
                    <p:blipFill>
                      <a:blip r:embed="rId3"/>
                      <a:stretch>
                        <a:fillRect/>
                      </a:stretch>
                    </p:blipFill>
                    <p:spPr>
                      <a:xfrm>
                        <a:off x="3348038" y="2640013"/>
                        <a:ext cx="2376487" cy="2212975"/>
                      </a:xfrm>
                      <a:prstGeom prst="rect">
                        <a:avLst/>
                      </a:prstGeom>
                      <a:noFill/>
                      <a:ln w="38100">
                        <a:miter/>
                      </a:ln>
                    </p:spPr>
                  </p:pic>
                </p:oleObj>
              </mc:Fallback>
            </mc:AlternateContent>
          </a:graphicData>
        </a:graphic>
      </p:graphicFrame>
    </p:spTree>
  </p:cSld>
  <p:clrMapOvr>
    <a:masterClrMapping/>
  </p:clrMapOvr>
  <p:transition/>
</p:sld>
</file>

<file path=ppt/theme/theme1.xml><?xml version="1.0" encoding="utf-8"?>
<a:theme xmlns:a="http://schemas.openxmlformats.org/drawingml/2006/main" name="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Char char="•"/>
          <a:defRPr kumimoji="1" 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Char char="•"/>
          <a:defRPr kumimoji="1" 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txDef>
      <a:spPr>
        <a:noFill/>
      </a:spPr>
      <a:bodyPr wrap="square" rtlCol="0">
        <a:spAutoFit/>
      </a:bodyPr>
      <a:lstStyle>
        <a:defPPr>
          <a:defRPr dirty="0" smtClean="0"/>
        </a:defPPr>
      </a:lstStyle>
    </a:tx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2172</TotalTime>
  <Words>3504</Words>
  <Application>Microsoft Office PowerPoint</Application>
  <PresentationFormat>全屏显示(4:3)</PresentationFormat>
  <Paragraphs>475</Paragraphs>
  <Slides>41</Slides>
  <Notes>8</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2" baseType="lpstr">
      <vt:lpstr>Arial Unicode MS</vt:lpstr>
      <vt:lpstr>Monotype Sorts</vt:lpstr>
      <vt:lpstr>楷体</vt:lpstr>
      <vt:lpstr>宋体</vt:lpstr>
      <vt:lpstr>新宋体</vt:lpstr>
      <vt:lpstr>Arial</vt:lpstr>
      <vt:lpstr>Consolas</vt:lpstr>
      <vt:lpstr>Times New Roman</vt:lpstr>
      <vt:lpstr>Wingdings</vt:lpstr>
      <vt:lpstr>经分互动规范介绍</vt:lpstr>
      <vt:lpstr>Equation.3</vt:lpstr>
      <vt:lpstr>PowerPoint 演示文稿</vt:lpstr>
      <vt:lpstr>6.5 数组的应用-数组元素的线性查找</vt:lpstr>
      <vt:lpstr>如何快速查找？</vt:lpstr>
      <vt:lpstr>PowerPoint 演示文稿</vt:lpstr>
      <vt:lpstr>6.5 数组的应用-数组元素的查找</vt:lpstr>
      <vt:lpstr>PowerPoint 演示文稿</vt:lpstr>
      <vt:lpstr>PowerPoint 演示文稿</vt:lpstr>
      <vt:lpstr>6.5 数组的应用-折半查找</vt:lpstr>
      <vt:lpstr>PowerPoint 演示文稿</vt:lpstr>
      <vt:lpstr>PowerPoint 演示文稿</vt:lpstr>
      <vt:lpstr>递归算法的二分查找</vt:lpstr>
      <vt:lpstr>PowerPoint 演示文稿</vt:lpstr>
      <vt:lpstr>PowerPoint 演示文稿</vt:lpstr>
      <vt:lpstr>6.5 交换排序思想</vt:lpstr>
      <vt:lpstr>整数数组逆置函数设计</vt:lpstr>
      <vt:lpstr>PowerPoint 演示文稿</vt:lpstr>
      <vt:lpstr>将数组划分为奇偶两部分</vt:lpstr>
      <vt:lpstr>PowerPoint 演示文稿</vt:lpstr>
      <vt:lpstr>PowerPoint 演示文稿</vt:lpstr>
      <vt:lpstr>PowerPoint 演示文稿</vt:lpstr>
      <vt:lpstr>PowerPoint 演示文稿</vt:lpstr>
      <vt:lpstr>PowerPoint 演示文稿</vt:lpstr>
      <vt:lpstr>冒泡排序算法</vt:lpstr>
      <vt:lpstr>PowerPoint 演示文稿</vt:lpstr>
      <vt:lpstr>冒泡排序算法改进-没有交换就终止</vt:lpstr>
      <vt:lpstr>PowerPoint 演示文稿</vt:lpstr>
      <vt:lpstr>用冒泡思想判定数组是否排好序</vt:lpstr>
      <vt:lpstr>PowerPoint 演示文稿</vt:lpstr>
      <vt:lpstr>PowerPoint 演示文稿</vt:lpstr>
      <vt:lpstr>6.5 数组的应用4-冒泡排序</vt:lpstr>
      <vt:lpstr>PowerPoint 演示文稿</vt:lpstr>
      <vt:lpstr>选择排序算法</vt:lpstr>
      <vt:lpstr>PowerPoint 演示文稿</vt:lpstr>
      <vt:lpstr>PowerPoint 演示文稿</vt:lpstr>
      <vt:lpstr>6.5 数组的应用-插入排序</vt:lpstr>
      <vt:lpstr>插入排序算法伪代码</vt:lpstr>
      <vt:lpstr>直接插入排序改进:从右开始比较</vt:lpstr>
      <vt:lpstr>直接插入排序算法</vt:lpstr>
      <vt:lpstr>PowerPoint 演示文稿</vt:lpstr>
      <vt:lpstr>PowerPoint 演示文稿</vt:lpstr>
      <vt:lpstr>PowerPoint 演示文稿</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PASCAL程序设计</dc:title>
  <dc:creator>cyzhou</dc:creator>
  <cp:lastModifiedBy>zhang yanmei</cp:lastModifiedBy>
  <cp:revision>2133</cp:revision>
  <dcterms:created xsi:type="dcterms:W3CDTF">2002-12-06T01:10:00Z</dcterms:created>
  <dcterms:modified xsi:type="dcterms:W3CDTF">2022-11-09T03:54:59Z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2052-11.1.0.8013</vt:lpwstr>
  </property>
</Properties>
</file>