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438" r:id="rId2"/>
    <p:sldId id="750" r:id="rId3"/>
    <p:sldId id="631" r:id="rId4"/>
    <p:sldId id="1694" r:id="rId5"/>
    <p:sldId id="1655" r:id="rId6"/>
    <p:sldId id="1695" r:id="rId7"/>
    <p:sldId id="685" r:id="rId8"/>
    <p:sldId id="1169" r:id="rId9"/>
    <p:sldId id="1693" r:id="rId10"/>
    <p:sldId id="270" r:id="rId11"/>
    <p:sldId id="1698" r:id="rId12"/>
    <p:sldId id="326" r:id="rId13"/>
    <p:sldId id="1697" r:id="rId14"/>
    <p:sldId id="1696" r:id="rId15"/>
    <p:sldId id="1651" r:id="rId16"/>
    <p:sldId id="1652" r:id="rId17"/>
    <p:sldId id="1653" r:id="rId18"/>
    <p:sldId id="1654" r:id="rId19"/>
    <p:sldId id="1656" r:id="rId20"/>
    <p:sldId id="1657" r:id="rId21"/>
    <p:sldId id="1595" r:id="rId22"/>
    <p:sldId id="1596" r:id="rId23"/>
    <p:sldId id="1658" r:id="rId24"/>
    <p:sldId id="963" r:id="rId25"/>
    <p:sldId id="1047" r:id="rId26"/>
    <p:sldId id="1048" r:id="rId27"/>
    <p:sldId id="1051" r:id="rId28"/>
    <p:sldId id="1052" r:id="rId29"/>
    <p:sldId id="1050" r:id="rId30"/>
    <p:sldId id="1089" r:id="rId31"/>
    <p:sldId id="1680" r:id="rId32"/>
    <p:sldId id="989" r:id="rId33"/>
    <p:sldId id="1623" r:id="rId34"/>
    <p:sldId id="972" r:id="rId35"/>
    <p:sldId id="1624" r:id="rId36"/>
    <p:sldId id="1630" r:id="rId37"/>
    <p:sldId id="1631" r:id="rId38"/>
    <p:sldId id="1632" r:id="rId39"/>
    <p:sldId id="1633" r:id="rId40"/>
    <p:sldId id="1625" r:id="rId41"/>
    <p:sldId id="1626" r:id="rId42"/>
    <p:sldId id="1627" r:id="rId43"/>
    <p:sldId id="1628" r:id="rId44"/>
    <p:sldId id="1634" r:id="rId45"/>
    <p:sldId id="747" r:id="rId46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6C24FA04-26DC-45FD-9F07-7B959A746147}">
          <p14:sldIdLst>
            <p14:sldId id="438"/>
            <p14:sldId id="750"/>
            <p14:sldId id="631"/>
            <p14:sldId id="1694"/>
            <p14:sldId id="1655"/>
            <p14:sldId id="1695"/>
            <p14:sldId id="685"/>
            <p14:sldId id="1169"/>
            <p14:sldId id="1693"/>
            <p14:sldId id="270"/>
            <p14:sldId id="1698"/>
            <p14:sldId id="326"/>
            <p14:sldId id="1697"/>
            <p14:sldId id="1696"/>
          </p14:sldIdLst>
        </p14:section>
        <p14:section name="二次方程根" id="{8D121D5A-A33F-4C44-AF5E-7498DE4BBDAA}">
          <p14:sldIdLst>
            <p14:sldId id="1651"/>
            <p14:sldId id="1652"/>
            <p14:sldId id="1653"/>
            <p14:sldId id="1654"/>
            <p14:sldId id="1656"/>
            <p14:sldId id="1657"/>
          </p14:sldIdLst>
        </p14:section>
        <p14:section name="意外退出函数" id="{F6568633-84F0-4B38-B7A5-A2CFF0CA4B9F}">
          <p14:sldIdLst>
            <p14:sldId id="1595"/>
            <p14:sldId id="1596"/>
            <p14:sldId id="1658"/>
          </p14:sldIdLst>
        </p14:section>
        <p14:section name="奇偶判断" id="{D1B59471-435D-41DB-A42F-DF106DE9BD6F}">
          <p14:sldIdLst>
            <p14:sldId id="963"/>
            <p14:sldId id="1047"/>
            <p14:sldId id="1048"/>
            <p14:sldId id="1051"/>
            <p14:sldId id="1052"/>
            <p14:sldId id="1050"/>
          </p14:sldIdLst>
        </p14:section>
        <p14:section name="闰年判断" id="{E4E1B038-B0AF-41BA-97F5-FE80EC8A1F12}">
          <p14:sldIdLst>
            <p14:sldId id="1089"/>
            <p14:sldId id="1680"/>
          </p14:sldIdLst>
        </p14:section>
        <p14:section name="字母大小写转换" id="{D7AAC66D-8BF7-4B06-90EE-24BA5C290164}">
          <p14:sldIdLst>
            <p14:sldId id="989"/>
            <p14:sldId id="1623"/>
            <p14:sldId id="972"/>
            <p14:sldId id="1624"/>
          </p14:sldIdLst>
        </p14:section>
        <p14:section name="识别数码" id="{8E3A7B46-9A0E-48D1-B0E5-C3125A318820}">
          <p14:sldIdLst>
            <p14:sldId id="1630"/>
            <p14:sldId id="1631"/>
            <p14:sldId id="1632"/>
            <p14:sldId id="1633"/>
          </p14:sldIdLst>
        </p14:section>
        <p14:section name="字符相邻" id="{F6EED9B3-E5D3-45FB-88CD-A383D16922D2}">
          <p14:sldIdLst>
            <p14:sldId id="1625"/>
            <p14:sldId id="1626"/>
            <p14:sldId id="1627"/>
            <p14:sldId id="1628"/>
            <p14:sldId id="1634"/>
          </p14:sldIdLst>
        </p14:section>
        <p14:section name="结束" id="{E85DF9AE-A606-4FAC-895A-BCDB76C38786}">
          <p14:sldIdLst>
            <p14:sldId id="7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2D35D3"/>
    <a:srgbClr val="3366FF"/>
    <a:srgbClr val="000000"/>
    <a:srgbClr val="9966FF"/>
    <a:srgbClr val="99CCFF"/>
    <a:srgbClr val="CCECFF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3826" autoAdjust="0"/>
  </p:normalViewPr>
  <p:slideViewPr>
    <p:cSldViewPr showGuides="1">
      <p:cViewPr varScale="1">
        <p:scale>
          <a:sx n="67" d="100"/>
          <a:sy n="67" d="100"/>
        </p:scale>
        <p:origin x="1280" y="52"/>
      </p:cViewPr>
      <p:guideLst>
        <p:guide orient="horz" pos="417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fontAlgn="base" hangingPunct="1"/>
            <a:endParaRPr lang="zh-CN" altLang="en-US" sz="1200" b="0" strike="noStrike" noProof="1"/>
          </a:p>
        </p:txBody>
      </p:sp>
      <p:sp>
        <p:nvSpPr>
          <p:cNvPr id="2051" name="Rectangle 3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en-US" altLang="x-none" sz="1200" b="0" strike="noStrike" noProof="1"/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单击此处编辑母版文本样式</a:t>
            </a:r>
          </a:p>
          <a:p>
            <a:pPr lvl="1" indent="0"/>
            <a:r>
              <a:rPr lang="zh-CN" altLang="en-US" dirty="0"/>
              <a:t>第二级</a:t>
            </a:r>
          </a:p>
          <a:p>
            <a:pPr lvl="2" indent="0"/>
            <a:r>
              <a:rPr lang="zh-CN" altLang="en-US" dirty="0"/>
              <a:t>第三级</a:t>
            </a:r>
          </a:p>
          <a:p>
            <a:pPr lvl="3" indent="0"/>
            <a:r>
              <a:rPr lang="zh-CN" altLang="en-US" dirty="0"/>
              <a:t>第四级</a:t>
            </a:r>
          </a:p>
          <a:p>
            <a:pPr lvl="4" indent="0"/>
            <a:r>
              <a:rPr lang="zh-CN" altLang="en-US" dirty="0"/>
              <a:t>第五级</a:t>
            </a:r>
          </a:p>
        </p:txBody>
      </p:sp>
      <p:sp>
        <p:nvSpPr>
          <p:cNvPr id="205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fontAlgn="base" hangingPunct="1"/>
            <a:endParaRPr lang="en-US" altLang="x-none" sz="1200" b="0" strike="noStrike" noProof="1"/>
          </a:p>
        </p:txBody>
      </p:sp>
      <p:sp>
        <p:nvSpPr>
          <p:cNvPr id="2055" name="Rectangle 7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zh-CN" altLang="en-US" sz="1200" b="0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b="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9273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08476" cy="46116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319213"/>
            <a:ext cx="3808476" cy="46116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92078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单击以编辑母版标题样式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319213"/>
            <a:ext cx="7772400" cy="461168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单击以编辑母版文本样式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/>
            </a:lvl1pPr>
          </a:lstStyle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/>
            </a:lvl1pPr>
          </a:lstStyle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grpSp>
        <p:nvGrpSpPr>
          <p:cNvPr id="1031" name="组合 1030"/>
          <p:cNvGrpSpPr/>
          <p:nvPr/>
        </p:nvGrpSpPr>
        <p:grpSpPr>
          <a:xfrm>
            <a:off x="0" y="6553200"/>
            <a:ext cx="9144000" cy="301625"/>
            <a:chOff x="0" y="0"/>
            <a:chExt cx="5760" cy="288"/>
          </a:xfrm>
        </p:grpSpPr>
        <p:sp>
          <p:nvSpPr>
            <p:cNvPr id="1032" name="Rectangle 8"/>
            <p:cNvSpPr/>
            <p:nvPr/>
          </p:nvSpPr>
          <p:spPr>
            <a:xfrm>
              <a:off x="0" y="0"/>
              <a:ext cx="5760" cy="288"/>
            </a:xfrm>
            <a:prstGeom prst="rect">
              <a:avLst/>
            </a:prstGeom>
            <a:solidFill>
              <a:srgbClr val="33CCCC"/>
            </a:solidFill>
            <a:ln w="9525" cap="flat" cmpd="sng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/>
              <a:r>
                <a:rPr lang="zh-CN" altLang="en-US" sz="2400" b="0">
                  <a:latin typeface="Times New Roman" panose="02020603050405020304" pitchFamily="2" charset="0"/>
                </a:rPr>
                <a:t>                  </a:t>
              </a:r>
              <a:endParaRPr lang="zh-CN" altLang="en-US" sz="2400" b="0" dirty="0">
                <a:latin typeface="Times New Roman" panose="02020603050405020304" pitchFamily="2" charset="0"/>
              </a:endParaRPr>
            </a:p>
          </p:txBody>
        </p:sp>
        <p:sp>
          <p:nvSpPr>
            <p:cNvPr id="1033" name="Line 9"/>
            <p:cNvSpPr/>
            <p:nvPr/>
          </p:nvSpPr>
          <p:spPr>
            <a:xfrm>
              <a:off x="4464" y="0"/>
              <a:ext cx="288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" name="Line 10"/>
            <p:cNvSpPr/>
            <p:nvPr/>
          </p:nvSpPr>
          <p:spPr>
            <a:xfrm>
              <a:off x="4176" y="0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5" name="Line 11"/>
            <p:cNvSpPr/>
            <p:nvPr/>
          </p:nvSpPr>
          <p:spPr>
            <a:xfrm>
              <a:off x="4704" y="0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6" name="Line 12"/>
            <p:cNvSpPr/>
            <p:nvPr/>
          </p:nvSpPr>
          <p:spPr>
            <a:xfrm>
              <a:off x="5376" y="0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7" name="Line 13"/>
            <p:cNvSpPr/>
            <p:nvPr/>
          </p:nvSpPr>
          <p:spPr>
            <a:xfrm>
              <a:off x="5184" y="0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8" name="Line 14"/>
            <p:cNvSpPr/>
            <p:nvPr/>
          </p:nvSpPr>
          <p:spPr>
            <a:xfrm>
              <a:off x="5568" y="0"/>
              <a:ext cx="192" cy="144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9" name="Line 15"/>
            <p:cNvSpPr/>
            <p:nvPr/>
          </p:nvSpPr>
          <p:spPr>
            <a:xfrm>
              <a:off x="4992" y="0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40" name="Line 16"/>
          <p:cNvSpPr/>
          <p:nvPr/>
        </p:nvSpPr>
        <p:spPr>
          <a:xfrm>
            <a:off x="468313" y="1176338"/>
            <a:ext cx="8458200" cy="0"/>
          </a:xfrm>
          <a:prstGeom prst="line">
            <a:avLst/>
          </a:prstGeom>
          <a:ln w="57150" cap="flat" cmpd="sng">
            <a:solidFill>
              <a:srgbClr val="33CCCC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1" name="Text Box 17"/>
          <p:cNvSpPr txBox="1"/>
          <p:nvPr/>
        </p:nvSpPr>
        <p:spPr>
          <a:xfrm>
            <a:off x="457200" y="2514600"/>
            <a:ext cx="8305800" cy="35067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</p:txBody>
      </p:sp>
      <p:pic>
        <p:nvPicPr>
          <p:cNvPr id="1042" name="Picture 18" descr="bup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56" r:id="rId6"/>
  </p:sldLayoutIdLst>
  <p:transition/>
  <p:hf sldNum="0" hdr="0" ftr="0" dt="0"/>
  <p:txStyles>
    <p:titleStyle>
      <a:lvl1pPr marL="0" lvl="0" indent="0" algn="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0" i="0" u="none" kern="1200" baseline="0">
          <a:solidFill>
            <a:srgbClr val="FF33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grpSp>
        <p:nvGrpSpPr>
          <p:cNvPr id="4098" name="组合 3074"/>
          <p:cNvGrpSpPr/>
          <p:nvPr/>
        </p:nvGrpSpPr>
        <p:grpSpPr>
          <a:xfrm>
            <a:off x="1547813" y="1628800"/>
            <a:ext cx="5903912" cy="1592428"/>
            <a:chOff x="0" y="0"/>
            <a:chExt cx="2736" cy="867"/>
          </a:xfrm>
        </p:grpSpPr>
        <p:sp>
          <p:nvSpPr>
            <p:cNvPr id="4099" name="Rectangle 6"/>
            <p:cNvSpPr/>
            <p:nvPr/>
          </p:nvSpPr>
          <p:spPr>
            <a:xfrm>
              <a:off x="0" y="0"/>
              <a:ext cx="2736" cy="867"/>
            </a:xfrm>
            <a:prstGeom prst="rect">
              <a:avLst/>
            </a:prstGeom>
            <a:gradFill rotWithShape="0">
              <a:gsLst>
                <a:gs pos="0">
                  <a:srgbClr val="CF0E30"/>
                </a:gs>
                <a:gs pos="50000">
                  <a:srgbClr val="3E040E"/>
                </a:gs>
                <a:gs pos="100000">
                  <a:srgbClr val="CF0E30"/>
                </a:gs>
              </a:gsLst>
              <a:lin ang="18900000" scaled="1"/>
              <a:tileRect/>
            </a:gradFill>
            <a:ln w="28575" cap="flat" cmpd="sng">
              <a:solidFill>
                <a:srgbClr val="F6829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4100" name="Text Box 7"/>
            <p:cNvSpPr txBox="1"/>
            <p:nvPr/>
          </p:nvSpPr>
          <p:spPr>
            <a:xfrm>
              <a:off x="48" y="48"/>
              <a:ext cx="2612" cy="8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3600" dirty="0">
                  <a:solidFill>
                    <a:schemeClr val="bg1"/>
                  </a:solidFill>
                  <a:latin typeface="Times New Roman" panose="02020603050405020304" pitchFamily="2" charset="0"/>
                </a:rPr>
                <a:t>程序设计语言初步</a:t>
              </a:r>
              <a:endParaRPr lang="en-US" altLang="zh-CN" sz="3600" dirty="0">
                <a:solidFill>
                  <a:schemeClr val="bg1"/>
                </a:solidFill>
                <a:latin typeface="Times New Roman" panose="02020603050405020304" pitchFamily="2" charset="0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3600" dirty="0">
                  <a:solidFill>
                    <a:schemeClr val="bg1"/>
                  </a:solidFill>
                  <a:latin typeface="Times New Roman" panose="02020603050405020304" pitchFamily="2" charset="0"/>
                </a:rPr>
                <a:t>-</a:t>
              </a:r>
              <a:r>
                <a:rPr lang="zh-CN" altLang="en-US" sz="3600" dirty="0">
                  <a:solidFill>
                    <a:schemeClr val="bg1"/>
                  </a:solidFill>
                  <a:latin typeface="Times New Roman" panose="02020603050405020304" pitchFamily="2" charset="0"/>
                </a:rPr>
                <a:t>关系运算和逻辑运算</a:t>
              </a:r>
            </a:p>
          </p:txBody>
        </p:sp>
      </p:grpSp>
      <p:pic>
        <p:nvPicPr>
          <p:cNvPr id="4101" name="Picture 8" descr="地球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663" y="4292600"/>
            <a:ext cx="1584325" cy="1514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2" name="Rectangle 12"/>
          <p:cNvSpPr/>
          <p:nvPr/>
        </p:nvSpPr>
        <p:spPr>
          <a:xfrm>
            <a:off x="828675" y="3862388"/>
            <a:ext cx="7848600" cy="2663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/>
          <a:lstStyle/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软件与</a:t>
            </a:r>
            <a:r>
              <a:rPr lang="zh-CN" altLang="en-US" sz="2800">
                <a:latin typeface="宋体" panose="02010600030101010101" pitchFamily="2" charset="-122"/>
              </a:rPr>
              <a:t>理论中心 </a:t>
            </a:r>
            <a:r>
              <a:rPr lang="zh-CN" altLang="en-US" sz="2800">
                <a:latin typeface="楷体_GB2312" pitchFamily="1" charset="-122"/>
                <a:ea typeface="楷体_GB2312" pitchFamily="1" charset="-122"/>
              </a:rPr>
              <a:t>张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艳梅</a:t>
            </a:r>
            <a:endParaRPr lang="en-US" altLang="zh-CN" sz="2800" dirty="0"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6">
            <a:extLst>
              <a:ext uri="{FF2B5EF4-FFF2-40B4-BE49-F238E27FC236}">
                <a16:creationId xmlns:a16="http://schemas.microsoft.com/office/drawing/2014/main" id="{294564A4-FB40-40FE-A597-08E4C14D765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F8677BC0-E4DE-4BB5-B139-4E840F3F3A00}" type="slidenum">
              <a:rPr lang="zh-CN" altLang="en-US" sz="1400"/>
              <a:pPr algn="r">
                <a:spcBef>
                  <a:spcPct val="50000"/>
                </a:spcBef>
              </a:pPr>
              <a:t>2</a:t>
            </a:fld>
            <a:endParaRPr lang="zh-CN" altLang="en-US" sz="1400"/>
          </a:p>
        </p:txBody>
      </p:sp>
      <p:sp>
        <p:nvSpPr>
          <p:cNvPr id="34818" name="Rectangle 9">
            <a:extLst>
              <a:ext uri="{FF2B5EF4-FFF2-40B4-BE49-F238E27FC236}">
                <a16:creationId xmlns:a16="http://schemas.microsoft.com/office/drawing/2014/main" id="{C9F05312-6CED-4BEF-A526-B24429C5AA3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关系表达式</a:t>
            </a:r>
          </a:p>
        </p:txBody>
      </p:sp>
      <p:sp>
        <p:nvSpPr>
          <p:cNvPr id="34819" name="Rectangle 4">
            <a:extLst>
              <a:ext uri="{FF2B5EF4-FFF2-40B4-BE49-F238E27FC236}">
                <a16:creationId xmlns:a16="http://schemas.microsoft.com/office/drawing/2014/main" id="{293113F8-686E-4617-864D-6AF3B1935CB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5800" y="1319213"/>
            <a:ext cx="8134350" cy="4989512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6600FF"/>
                </a:solidFill>
              </a:rPr>
              <a:t>二、关系运算符和关系表达式</a:t>
            </a:r>
          </a:p>
          <a:p>
            <a:pPr algn="just" eaLnBrk="1" hangingPunct="1"/>
            <a:r>
              <a:rPr lang="zh-CN" altLang="en-US" b="1" dirty="0">
                <a:latin typeface="宋体" panose="02010600030101010101" pitchFamily="2" charset="-122"/>
              </a:rPr>
              <a:t>关系运算符：用于比较两个数据的大小关系。</a:t>
            </a:r>
          </a:p>
          <a:p>
            <a:pPr algn="just" eaLnBrk="1" hangingPunct="1"/>
            <a:endParaRPr lang="zh-CN" altLang="en-US" b="1" dirty="0">
              <a:latin typeface="宋体" panose="02010600030101010101" pitchFamily="2" charset="-122"/>
            </a:endParaRPr>
          </a:p>
          <a:p>
            <a:pPr algn="just" eaLnBrk="1" hangingPunct="1"/>
            <a:endParaRPr lang="zh-CN" altLang="en-US" b="1" dirty="0">
              <a:latin typeface="宋体" panose="02010600030101010101" pitchFamily="2" charset="-122"/>
            </a:endParaRPr>
          </a:p>
          <a:p>
            <a:pPr algn="just" eaLnBrk="1" hangingPunct="1"/>
            <a:endParaRPr lang="zh-CN" altLang="en-US" b="1" dirty="0">
              <a:latin typeface="宋体" panose="02010600030101010101" pitchFamily="2" charset="-122"/>
            </a:endParaRPr>
          </a:p>
          <a:p>
            <a:pPr algn="just" eaLnBrk="1" hangingPunct="1"/>
            <a:r>
              <a:rPr lang="zh-CN" altLang="en-US" b="1" dirty="0">
                <a:latin typeface="宋体" panose="02010600030101010101" pitchFamily="2" charset="-122"/>
              </a:rPr>
              <a:t>关系表达式：用关系运算符将两个表达式连接起来构成的表达式，如</a:t>
            </a:r>
            <a:r>
              <a:rPr lang="en-US" altLang="zh-CN" b="1" dirty="0">
                <a:latin typeface="宋体" panose="02010600030101010101" pitchFamily="2" charset="-122"/>
              </a:rPr>
              <a:t>(7＋3)&lt;10 </a:t>
            </a:r>
            <a:r>
              <a:rPr lang="zh-CN" altLang="en-US" b="1" dirty="0">
                <a:latin typeface="宋体" panose="02010600030101010101" pitchFamily="2" charset="-122"/>
              </a:rPr>
              <a:t>；运算结果是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逻辑"真"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用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表示</a:t>
            </a:r>
            <a:r>
              <a:rPr lang="zh-CN" altLang="en-US" b="1" dirty="0">
                <a:latin typeface="宋体" panose="02010600030101010101" pitchFamily="2" charset="-122"/>
              </a:rPr>
              <a:t>或者"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假"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用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表示</a:t>
            </a:r>
            <a:r>
              <a:rPr lang="zh-CN" altLang="en-US" b="1" dirty="0">
                <a:latin typeface="宋体" panose="02010600030101010101" pitchFamily="2" charset="-122"/>
              </a:rPr>
              <a:t>。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/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思考：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18" charset="0"/>
              </a:rPr>
              <a:t>7+3&lt;10,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应如何解释？</a:t>
            </a:r>
            <a:endParaRPr lang="en-US" altLang="zh-CN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820" name="Text Box 5">
            <a:extLst>
              <a:ext uri="{FF2B5EF4-FFF2-40B4-BE49-F238E27FC236}">
                <a16:creationId xmlns:a16="http://schemas.microsoft.com/office/drawing/2014/main" id="{FE32FB47-E9E7-4713-8FCF-5C1CE5C86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352800"/>
            <a:ext cx="777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lang="en-US" altLang="zh-CN" sz="2800">
              <a:latin typeface="宋体" panose="02010600030101010101" pitchFamily="2" charset="-122"/>
            </a:endParaRPr>
          </a:p>
        </p:txBody>
      </p:sp>
      <p:graphicFrame>
        <p:nvGraphicFramePr>
          <p:cNvPr id="12294" name="内容占位符 12293">
            <a:extLst>
              <a:ext uri="{FF2B5EF4-FFF2-40B4-BE49-F238E27FC236}">
                <a16:creationId xmlns:a16="http://schemas.microsoft.com/office/drawing/2014/main" id="{3C3CF9DC-8426-4F21-85C1-9F0ECBB6EBA4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635327297"/>
              </p:ext>
            </p:extLst>
          </p:nvPr>
        </p:nvGraphicFramePr>
        <p:xfrm>
          <a:off x="2484438" y="2349500"/>
          <a:ext cx="5111750" cy="1371600"/>
        </p:xfrm>
        <a:graphic>
          <a:graphicData uri="http://schemas.openxmlformats.org/drawingml/2006/table">
            <a:tbl>
              <a:tblPr/>
              <a:tblGrid>
                <a:gridCol w="236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buNone/>
                      </a:pPr>
                      <a:r>
                        <a:rPr lang="en-US" altLang="x-none" sz="2400" b="1" dirty="0"/>
                        <a:t>&lt; </a:t>
                      </a:r>
                      <a:r>
                        <a:rPr lang="zh-CN" altLang="en-US" sz="2400" b="1" dirty="0"/>
                        <a:t>小于</a:t>
                      </a:r>
                      <a:endParaRPr lang="zh-CN" altLang="en-US" sz="24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66FF">
                            <a:alpha val="100000"/>
                          </a:srgbClr>
                        </a:gs>
                        <a:gs pos="100000">
                          <a:schemeClr val="bg1">
                            <a:alpha val="10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buNone/>
                      </a:pPr>
                      <a:r>
                        <a:rPr lang="en-US" altLang="x-none" sz="2400" b="1" dirty="0"/>
                        <a:t>&lt;= </a:t>
                      </a:r>
                      <a:r>
                        <a:rPr lang="zh-CN" altLang="en-US" sz="2400" b="1" dirty="0"/>
                        <a:t>小于等于</a:t>
                      </a:r>
                      <a:endParaRPr lang="zh-CN" altLang="en-US" sz="24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66FF">
                            <a:alpha val="100000"/>
                          </a:srgbClr>
                        </a:gs>
                        <a:gs pos="100000">
                          <a:schemeClr val="bg1">
                            <a:alpha val="10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buNone/>
                      </a:pPr>
                      <a:r>
                        <a:rPr lang="en-US" altLang="x-none" sz="2400" b="1" dirty="0"/>
                        <a:t>&gt; </a:t>
                      </a:r>
                      <a:r>
                        <a:rPr lang="zh-CN" altLang="en-US" sz="2400" b="1" dirty="0"/>
                        <a:t>大于</a:t>
                      </a:r>
                      <a:endParaRPr lang="en-US" altLang="x-none" sz="24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66FF">
                            <a:alpha val="100000"/>
                          </a:srgbClr>
                        </a:gs>
                        <a:gs pos="100000">
                          <a:schemeClr val="bg1">
                            <a:alpha val="10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buNone/>
                      </a:pPr>
                      <a:r>
                        <a:rPr lang="en-US" altLang="x-none" sz="2400" b="1" dirty="0"/>
                        <a:t>&gt;= </a:t>
                      </a:r>
                      <a:r>
                        <a:rPr lang="zh-CN" altLang="en-US" sz="2400" b="1" dirty="0"/>
                        <a:t>大于等于</a:t>
                      </a:r>
                      <a:endParaRPr lang="zh-CN" altLang="en-US" sz="24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66FF">
                            <a:alpha val="100000"/>
                          </a:srgbClr>
                        </a:gs>
                        <a:gs pos="100000">
                          <a:schemeClr val="bg1">
                            <a:alpha val="10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buNone/>
                      </a:pPr>
                      <a:r>
                        <a:rPr lang="zh-CN" altLang="en-US" sz="2400" b="1" dirty="0"/>
                        <a:t>＝＝ 等于</a:t>
                      </a:r>
                      <a:endParaRPr lang="zh-CN" altLang="en-US" sz="24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66FF">
                            <a:alpha val="100000"/>
                          </a:srgbClr>
                        </a:gs>
                        <a:gs pos="100000">
                          <a:schemeClr val="bg1">
                            <a:alpha val="10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buNone/>
                      </a:pPr>
                      <a:r>
                        <a:rPr lang="en-US" altLang="zh-CN" sz="2400" b="1" dirty="0"/>
                        <a:t>!</a:t>
                      </a:r>
                      <a:r>
                        <a:rPr lang="zh-CN" altLang="en-US" sz="2400" b="1" dirty="0"/>
                        <a:t>＝ 不等于</a:t>
                      </a:r>
                      <a:endParaRPr lang="zh-CN" altLang="en-US" sz="24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66FF">
                            <a:alpha val="100000"/>
                          </a:srgbClr>
                        </a:gs>
                        <a:gs pos="100000">
                          <a:schemeClr val="bg1">
                            <a:alpha val="10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矩形 761857">
            <a:extLst>
              <a:ext uri="{FF2B5EF4-FFF2-40B4-BE49-F238E27FC236}">
                <a16:creationId xmlns:a16="http://schemas.microsoft.com/office/drawing/2014/main" id="{6E61933C-FAC2-4D08-A566-4A92193EA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" y="1268760"/>
            <a:ext cx="4321076" cy="48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99"/>
                </a:solidFill>
                <a:latin typeface="宋体" panose="02010600030101010101" pitchFamily="2" charset="-122"/>
              </a:rPr>
              <a:t>编程语言规定了运算符的优先级和结合性。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在表达式求值时</a:t>
            </a: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,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算术运算高于关系运算，</a:t>
            </a:r>
            <a:endParaRPr lang="en-US" altLang="zh-CN" sz="2400" dirty="0">
              <a:solidFill>
                <a:srgbClr val="4D4D4D"/>
              </a:solidFill>
              <a:latin typeface="宋体" panose="02010600030101010101" pitchFamily="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小于、大于关系优先于相等和不等关系。</a:t>
            </a:r>
            <a:endParaRPr lang="en-US" altLang="zh-CN" sz="2400" dirty="0">
              <a:solidFill>
                <a:srgbClr val="4D4D4D"/>
              </a:solidFill>
              <a:latin typeface="宋体" panose="02010600030101010101" pitchFamily="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关系运算的结合性是左结合。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例：</a:t>
            </a: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3&gt;10/5-1,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a&lt;b&lt;c,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a==b&lt;=c,</a:t>
            </a:r>
          </a:p>
          <a:p>
            <a:pPr eaLnBrk="0" hangingPunct="0">
              <a:spcBef>
                <a:spcPct val="20000"/>
              </a:spcBef>
            </a:pPr>
            <a:endParaRPr lang="en-US" altLang="zh-CN" sz="2400" dirty="0">
              <a:solidFill>
                <a:srgbClr val="4D4D4D"/>
              </a:solidFill>
              <a:latin typeface="宋体" panose="02010600030101010101" pitchFamily="2" charset="-122"/>
            </a:endParaRPr>
          </a:p>
        </p:txBody>
      </p:sp>
      <p:sp>
        <p:nvSpPr>
          <p:cNvPr id="38914" name="标题 761858">
            <a:extLst>
              <a:ext uri="{FF2B5EF4-FFF2-40B4-BE49-F238E27FC236}">
                <a16:creationId xmlns:a16="http://schemas.microsoft.com/office/drawing/2014/main" id="{9492B755-277B-409B-9E1A-B6F3E2D2D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04813"/>
            <a:ext cx="9144000" cy="7397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关系运算的优先级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EAC827-161F-91C4-C1B1-05344AF3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52997"/>
            <a:ext cx="4381500" cy="4800600"/>
          </a:xfrm>
          <a:prstGeom prst="rect">
            <a:avLst/>
          </a:prstGeom>
        </p:spPr>
      </p:pic>
    </p:spTree>
  </p:cSld>
  <p:clrMapOvr>
    <a:masterClrMapping/>
  </p:clrMapOvr>
  <p:transition advClick="0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6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85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6">
            <a:extLst>
              <a:ext uri="{FF2B5EF4-FFF2-40B4-BE49-F238E27FC236}">
                <a16:creationId xmlns:a16="http://schemas.microsoft.com/office/drawing/2014/main" id="{294564A4-FB40-40FE-A597-08E4C14D765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F8677BC0-E4DE-4BB5-B139-4E840F3F3A00}" type="slidenum">
              <a:rPr lang="zh-CN" altLang="en-US" sz="1400"/>
              <a:pPr algn="r">
                <a:spcBef>
                  <a:spcPct val="50000"/>
                </a:spcBef>
              </a:pPr>
              <a:t>4</a:t>
            </a:fld>
            <a:endParaRPr lang="zh-CN" altLang="en-US" sz="1400"/>
          </a:p>
        </p:txBody>
      </p:sp>
      <p:sp>
        <p:nvSpPr>
          <p:cNvPr id="34818" name="Rectangle 9">
            <a:extLst>
              <a:ext uri="{FF2B5EF4-FFF2-40B4-BE49-F238E27FC236}">
                <a16:creationId xmlns:a16="http://schemas.microsoft.com/office/drawing/2014/main" id="{C9F05312-6CED-4BEF-A526-B24429C5AA3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浮点数相等比较</a:t>
            </a:r>
          </a:p>
        </p:txBody>
      </p:sp>
      <p:sp>
        <p:nvSpPr>
          <p:cNvPr id="34819" name="Rectangle 4">
            <a:extLst>
              <a:ext uri="{FF2B5EF4-FFF2-40B4-BE49-F238E27FC236}">
                <a16:creationId xmlns:a16="http://schemas.microsoft.com/office/drawing/2014/main" id="{293113F8-686E-4617-864D-6AF3B1935CB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4825" y="1230313"/>
            <a:ext cx="8134350" cy="4989512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6600FF"/>
                </a:solidFill>
              </a:rPr>
              <a:t>两个整数值相等是严格定义的，但计算机中浮点数类型表示的实数是有限精度，近似表示，因此应该避免对两个浮点数进行相等比较。</a:t>
            </a:r>
          </a:p>
          <a:p>
            <a:pPr algn="just" eaLnBrk="1" hangingPunct="1"/>
            <a:r>
              <a:rPr lang="zh-CN" altLang="en-US" b="1" dirty="0">
                <a:latin typeface="宋体" panose="02010600030101010101" pitchFamily="2" charset="-122"/>
              </a:rPr>
              <a:t>但是数学上，两小数的近似相等是有意义的，因此，两个浮点数只应作差的绝对值误差范围的比较，即</a:t>
            </a:r>
            <a:r>
              <a:rPr lang="en-US" altLang="zh-CN" b="1" dirty="0" err="1">
                <a:latin typeface="宋体" panose="02010600030101010101" pitchFamily="2" charset="-122"/>
              </a:rPr>
              <a:t>a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en-US" altLang="zh-CN" b="1" dirty="0" err="1">
                <a:latin typeface="宋体" panose="02010600030101010101" pitchFamily="2" charset="-122"/>
              </a:rPr>
              <a:t>b</a:t>
            </a:r>
            <a:r>
              <a:rPr lang="en-US" altLang="zh-CN" b="1" dirty="0">
                <a:latin typeface="宋体" panose="02010600030101010101" pitchFamily="2" charset="-122"/>
              </a:rPr>
              <a:t>,</a:t>
            </a:r>
            <a:r>
              <a:rPr lang="zh-CN" altLang="en-US" b="1" dirty="0">
                <a:latin typeface="宋体" panose="02010600030101010101" pitchFamily="2" charset="-122"/>
              </a:rPr>
              <a:t>在计算机中应表达为 </a:t>
            </a:r>
            <a:r>
              <a:rPr lang="en-US" altLang="zh-CN" b="1" dirty="0">
                <a:latin typeface="宋体" panose="02010600030101010101" pitchFamily="2" charset="-122"/>
              </a:rPr>
              <a:t>|a-b|&lt;=</a:t>
            </a:r>
            <a:r>
              <a:rPr lang="zh-CN" altLang="en-US" b="1" dirty="0">
                <a:latin typeface="宋体" panose="02010600030101010101" pitchFamily="2" charset="-122"/>
              </a:rPr>
              <a:t>误差值。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/>
            <a:r>
              <a:rPr lang="zh-CN" altLang="en-US" b="1" dirty="0">
                <a:latin typeface="宋体" panose="02010600030101010101" pitchFamily="2" charset="-122"/>
              </a:rPr>
              <a:t>例：判断</a:t>
            </a:r>
            <a:r>
              <a:rPr lang="en-US" altLang="zh-CN" b="1" dirty="0">
                <a:latin typeface="宋体" panose="02010600030101010101" pitchFamily="2" charset="-122"/>
              </a:rPr>
              <a:t>3.1415926</a:t>
            </a:r>
            <a:r>
              <a:rPr lang="zh-CN" altLang="en-US" b="1" dirty="0">
                <a:latin typeface="宋体" panose="02010600030101010101" pitchFamily="2" charset="-122"/>
              </a:rPr>
              <a:t>和三角函数计算值之间误差是否在小数点后</a:t>
            </a:r>
            <a:r>
              <a:rPr lang="en-US" altLang="zh-CN" b="1" dirty="0">
                <a:latin typeface="宋体" panose="02010600030101010101" pitchFamily="2" charset="-122"/>
              </a:rPr>
              <a:t>6</a:t>
            </a:r>
            <a:r>
              <a:rPr lang="zh-CN" altLang="en-US" b="1" dirty="0">
                <a:latin typeface="宋体" panose="02010600030101010101" pitchFamily="2" charset="-122"/>
              </a:rPr>
              <a:t>位。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0" indent="0" algn="just" eaLnBrk="1" hangingPunct="1"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	fabs(3.1415926-</a:t>
            </a:r>
            <a:r>
              <a:rPr lang="en-US" altLang="zh-CN" b="1" dirty="0" err="1">
                <a:latin typeface="宋体" panose="02010600030101010101" pitchFamily="2" charset="-122"/>
              </a:rPr>
              <a:t>acos</a:t>
            </a:r>
            <a:r>
              <a:rPr lang="en-US" altLang="zh-CN" b="1" dirty="0">
                <a:latin typeface="宋体" panose="02010600030101010101" pitchFamily="2" charset="-122"/>
              </a:rPr>
              <a:t>(-1))&lt;=</a:t>
            </a:r>
            <a:r>
              <a:rPr lang="en-US" altLang="zh-CN" b="1" dirty="0" err="1">
                <a:latin typeface="宋体" panose="02010600030101010101" pitchFamily="2" charset="-122"/>
              </a:rPr>
              <a:t>1e</a:t>
            </a:r>
            <a:r>
              <a:rPr lang="en-US" altLang="zh-CN" b="1" dirty="0">
                <a:latin typeface="宋体" panose="02010600030101010101" pitchFamily="2" charset="-122"/>
              </a:rPr>
              <a:t>-6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3145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268760"/>
            <a:ext cx="8083550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语法：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#include &lt;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math.h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&gt;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double fabs( double 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 );</a:t>
            </a:r>
          </a:p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功能： 函数返回参数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的绝对值。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绝对值函数</a:t>
            </a:r>
          </a:p>
        </p:txBody>
      </p:sp>
    </p:spTree>
    <p:extLst>
      <p:ext uri="{BB962C8B-B14F-4D97-AF65-F5344CB8AC3E}">
        <p14:creationId xmlns:p14="http://schemas.microsoft.com/office/powerpoint/2010/main" val="329083944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26737-76C1-E788-04EC-935AC76A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关系运算测试程序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89ECFA-F34D-F203-70F8-380683129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61381"/>
            <a:ext cx="8350250" cy="4611687"/>
          </a:xfrm>
        </p:spPr>
        <p:txBody>
          <a:bodyPr/>
          <a:lstStyle/>
          <a:p>
            <a:pPr marL="0" indent="0">
              <a:buNone/>
            </a:pPr>
            <a:r>
              <a:rPr lang="pt-BR" altLang="zh-CN" sz="2400" dirty="0"/>
              <a:t>#include&lt;stdio.h&gt;</a:t>
            </a:r>
          </a:p>
          <a:p>
            <a:pPr marL="0" indent="0">
              <a:buNone/>
            </a:pPr>
            <a:r>
              <a:rPr lang="pt-BR" altLang="zh-CN" sz="2400" dirty="0"/>
              <a:t>int main(void){</a:t>
            </a:r>
          </a:p>
          <a:p>
            <a:pPr marL="0" indent="0">
              <a:buNone/>
            </a:pPr>
            <a:r>
              <a:rPr lang="pt-BR" altLang="zh-CN" sz="2400" dirty="0"/>
              <a:t>	int a;</a:t>
            </a:r>
          </a:p>
          <a:p>
            <a:pPr marL="0" indent="0">
              <a:buNone/>
            </a:pPr>
            <a:r>
              <a:rPr lang="pt-BR" altLang="zh-CN" sz="2400" dirty="0"/>
              <a:t>	a=7+3&lt;10;</a:t>
            </a:r>
          </a:p>
          <a:p>
            <a:pPr marL="0" indent="0">
              <a:buNone/>
            </a:pPr>
            <a:r>
              <a:rPr lang="pt-BR" altLang="zh-CN" sz="2400" dirty="0"/>
              <a:t>	printf("7+3&lt;10 =%d\n",a);</a:t>
            </a:r>
          </a:p>
          <a:p>
            <a:pPr marL="0" indent="0">
              <a:buNone/>
            </a:pPr>
            <a:r>
              <a:rPr lang="pt-BR" altLang="zh-CN" sz="2400" dirty="0"/>
              <a:t>	printf("3&gt;10/5-1 =%d\n",3&gt;10/5-1);</a:t>
            </a:r>
          </a:p>
          <a:p>
            <a:pPr marL="0" indent="0">
              <a:buNone/>
            </a:pPr>
            <a:r>
              <a:rPr lang="pt-BR" altLang="zh-CN" sz="2400" dirty="0"/>
              <a:t>	printf("3&lt;2&lt;1 =%d\n",3&lt;2&lt;1);</a:t>
            </a:r>
          </a:p>
          <a:p>
            <a:pPr marL="0" indent="0">
              <a:buNone/>
            </a:pPr>
            <a:r>
              <a:rPr lang="pt-BR" altLang="zh-CN" sz="2400" dirty="0"/>
              <a:t>	printf("1==2&lt;=3 =%d\n",1==2&lt;=3);</a:t>
            </a:r>
          </a:p>
          <a:p>
            <a:pPr marL="0" indent="0">
              <a:buNone/>
            </a:pPr>
            <a:r>
              <a:rPr lang="pt-BR" altLang="zh-CN" sz="2400" dirty="0"/>
              <a:t>	a=fabs(3.1415926-acos(-1))&lt;=1e-6;</a:t>
            </a:r>
          </a:p>
          <a:p>
            <a:pPr marL="0" indent="0">
              <a:buNone/>
            </a:pPr>
            <a:r>
              <a:rPr lang="pt-BR" altLang="zh-CN" sz="2400" dirty="0"/>
              <a:t>	printf("pai difference judge is %d\n",a);</a:t>
            </a:r>
          </a:p>
          <a:p>
            <a:pPr marL="0" indent="0">
              <a:buNone/>
            </a:pPr>
            <a:r>
              <a:rPr lang="pt-BR" altLang="zh-CN" sz="2400" dirty="0"/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720703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灯片编号占位符 5">
            <a:extLst>
              <a:ext uri="{FF2B5EF4-FFF2-40B4-BE49-F238E27FC236}">
                <a16:creationId xmlns:a16="http://schemas.microsoft.com/office/drawing/2014/main" id="{2B58F103-9138-4188-9CAD-27516B1EB2B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87F3A46A-096F-46A2-B189-40D2190C5478}" type="slidenum">
              <a:rPr lang="zh-CN" altLang="en-US" sz="1400"/>
              <a:pPr algn="r">
                <a:spcBef>
                  <a:spcPct val="50000"/>
                </a:spcBef>
              </a:pPr>
              <a:t>7</a:t>
            </a:fld>
            <a:endParaRPr lang="zh-CN" altLang="en-US" sz="1400"/>
          </a:p>
        </p:txBody>
      </p:sp>
      <p:sp>
        <p:nvSpPr>
          <p:cNvPr id="62466" name="Rectangle 4">
            <a:extLst>
              <a:ext uri="{FF2B5EF4-FFF2-40B4-BE49-F238E27FC236}">
                <a16:creationId xmlns:a16="http://schemas.microsoft.com/office/drawing/2014/main" id="{04E472D4-8EB4-4CAC-AEFF-728D7E3673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95300" y="1371600"/>
            <a:ext cx="8305800" cy="6096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if-else </a:t>
            </a:r>
          </a:p>
          <a:p>
            <a:pPr eaLnBrk="1" hangingPunct="1">
              <a:buFontTx/>
              <a:buNone/>
            </a:pPr>
            <a:endParaRPr lang="zh-CN" altLang="en-US" b="1" dirty="0"/>
          </a:p>
        </p:txBody>
      </p:sp>
      <p:sp>
        <p:nvSpPr>
          <p:cNvPr id="62467" name="Text Box 5">
            <a:extLst>
              <a:ext uri="{FF2B5EF4-FFF2-40B4-BE49-F238E27FC236}">
                <a16:creationId xmlns:a16="http://schemas.microsoft.com/office/drawing/2014/main" id="{B4CA0619-EC1A-42D8-80F7-9C55B894E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1981200"/>
            <a:ext cx="76962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实现逻辑判断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62468" name="Text Box 7">
            <a:extLst>
              <a:ext uri="{FF2B5EF4-FFF2-40B4-BE49-F238E27FC236}">
                <a16:creationId xmlns:a16="http://schemas.microsoft.com/office/drawing/2014/main" id="{436E8CF4-F3A3-473C-8FE3-4877FF530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39" y="1981200"/>
            <a:ext cx="1827213" cy="24860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spcBef>
                <a:spcPct val="0"/>
              </a:spcBef>
            </a:pPr>
            <a:r>
              <a:rPr lang="en-US" altLang="zh-CN" sz="2800" dirty="0">
                <a:solidFill>
                  <a:srgbClr val="FF0000"/>
                </a:solidFill>
              </a:rPr>
              <a:t>if (</a:t>
            </a:r>
            <a:r>
              <a:rPr lang="zh-CN" altLang="en-US" sz="2800" dirty="0"/>
              <a:t>表达式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endParaRPr lang="en-US" altLang="zh-CN" sz="2800" dirty="0"/>
          </a:p>
          <a:p>
            <a:pPr algn="just" eaLnBrk="0" hangingPunct="0">
              <a:spcBef>
                <a:spcPct val="0"/>
              </a:spcBef>
            </a:pPr>
            <a:r>
              <a:rPr lang="zh-CN" altLang="en-US" sz="2800" dirty="0"/>
              <a:t>    语句</a:t>
            </a:r>
            <a:r>
              <a:rPr lang="en-US" altLang="zh-CN" sz="2800" dirty="0"/>
              <a:t>1</a:t>
            </a:r>
          </a:p>
          <a:p>
            <a:pPr algn="just" eaLnBrk="0" hangingPunct="0">
              <a:spcBef>
                <a:spcPct val="0"/>
              </a:spcBef>
            </a:pPr>
            <a:r>
              <a:rPr lang="en-US" altLang="zh-CN" sz="2800" dirty="0">
                <a:solidFill>
                  <a:srgbClr val="FF0000"/>
                </a:solidFill>
              </a:rPr>
              <a:t>else</a:t>
            </a:r>
            <a:endParaRPr lang="en-US" altLang="zh-CN" sz="2800" dirty="0"/>
          </a:p>
          <a:p>
            <a:pPr algn="just" eaLnBrk="0" hangingPunct="0">
              <a:spcBef>
                <a:spcPct val="0"/>
              </a:spcBef>
            </a:pPr>
            <a:r>
              <a:rPr lang="zh-CN" altLang="en-US" sz="2800" dirty="0"/>
              <a:t>     语句2</a:t>
            </a:r>
          </a:p>
        </p:txBody>
      </p:sp>
      <p:sp>
        <p:nvSpPr>
          <p:cNvPr id="62469" name="Text Box 8">
            <a:extLst>
              <a:ext uri="{FF2B5EF4-FFF2-40B4-BE49-F238E27FC236}">
                <a16:creationId xmlns:a16="http://schemas.microsoft.com/office/drawing/2014/main" id="{0D63ABB4-CB93-4BBF-8440-832EA2155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5445125"/>
            <a:ext cx="2057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0" hangingPunct="0">
              <a:spcBef>
                <a:spcPct val="0"/>
              </a:spcBef>
            </a:pPr>
            <a:r>
              <a:rPr lang="en-US" altLang="zh-CN" sz="2400" dirty="0" err="1"/>
              <a:t>b）C</a:t>
            </a:r>
            <a:r>
              <a:rPr lang="zh-CN" altLang="en-US" sz="2400" dirty="0"/>
              <a:t>语法</a:t>
            </a:r>
          </a:p>
        </p:txBody>
      </p:sp>
      <p:grpSp>
        <p:nvGrpSpPr>
          <p:cNvPr id="62470" name="组合 31750">
            <a:extLst>
              <a:ext uri="{FF2B5EF4-FFF2-40B4-BE49-F238E27FC236}">
                <a16:creationId xmlns:a16="http://schemas.microsoft.com/office/drawing/2014/main" id="{4B81EE9D-41DC-40D8-982A-81421A3C0677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514600"/>
            <a:ext cx="5029200" cy="3505200"/>
            <a:chOff x="0" y="0"/>
            <a:chExt cx="3600" cy="3120"/>
          </a:xfrm>
        </p:grpSpPr>
        <p:sp>
          <p:nvSpPr>
            <p:cNvPr id="62471" name="Text Box 10">
              <a:extLst>
                <a:ext uri="{FF2B5EF4-FFF2-40B4-BE49-F238E27FC236}">
                  <a16:creationId xmlns:a16="http://schemas.microsoft.com/office/drawing/2014/main" id="{BD49C702-B4DD-4446-9FDA-18C1C931B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" y="2652"/>
              <a:ext cx="198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>
                <a:spcBef>
                  <a:spcPct val="0"/>
                </a:spcBef>
              </a:pPr>
              <a:r>
                <a:rPr lang="en-US" altLang="zh-CN" sz="2000"/>
                <a:t>a) </a:t>
              </a:r>
              <a:r>
                <a:rPr lang="zh-CN" altLang="en-US" sz="2000"/>
                <a:t>流程图</a:t>
              </a:r>
            </a:p>
          </p:txBody>
        </p:sp>
        <p:grpSp>
          <p:nvGrpSpPr>
            <p:cNvPr id="62472" name="组合 31752">
              <a:extLst>
                <a:ext uri="{FF2B5EF4-FFF2-40B4-BE49-F238E27FC236}">
                  <a16:creationId xmlns:a16="http://schemas.microsoft.com/office/drawing/2014/main" id="{C61FA746-E25C-4BA1-8F14-14DC8088BF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600" cy="2652"/>
              <a:chOff x="0" y="0"/>
              <a:chExt cx="3600" cy="2652"/>
            </a:xfrm>
          </p:grpSpPr>
          <p:grpSp>
            <p:nvGrpSpPr>
              <p:cNvPr id="62473" name="组合 31753">
                <a:extLst>
                  <a:ext uri="{FF2B5EF4-FFF2-40B4-BE49-F238E27FC236}">
                    <a16:creationId xmlns:a16="http://schemas.microsoft.com/office/drawing/2014/main" id="{B6611525-CDDE-4432-BF2C-A4668DBC1C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" y="0"/>
                <a:ext cx="3420" cy="2652"/>
                <a:chOff x="0" y="0"/>
                <a:chExt cx="3420" cy="2652"/>
              </a:xfrm>
            </p:grpSpPr>
            <p:sp>
              <p:nvSpPr>
                <p:cNvPr id="62474" name="Line 13">
                  <a:extLst>
                    <a:ext uri="{FF2B5EF4-FFF2-40B4-BE49-F238E27FC236}">
                      <a16:creationId xmlns:a16="http://schemas.microsoft.com/office/drawing/2014/main" id="{F02CB4B1-53AB-4A40-A16E-F5D873460C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0" y="780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75" name="Line 14">
                  <a:extLst>
                    <a:ext uri="{FF2B5EF4-FFF2-40B4-BE49-F238E27FC236}">
                      <a16:creationId xmlns:a16="http://schemas.microsoft.com/office/drawing/2014/main" id="{A8D29ECF-9B32-4EF1-93DB-22965E8254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0" y="780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76" name="Line 15">
                  <a:extLst>
                    <a:ext uri="{FF2B5EF4-FFF2-40B4-BE49-F238E27FC236}">
                      <a16:creationId xmlns:a16="http://schemas.microsoft.com/office/drawing/2014/main" id="{D4F1BFA9-0012-4E78-B47F-796C108676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20" y="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77" name="AutoShape 16">
                  <a:extLst>
                    <a:ext uri="{FF2B5EF4-FFF2-40B4-BE49-F238E27FC236}">
                      <a16:creationId xmlns:a16="http://schemas.microsoft.com/office/drawing/2014/main" id="{F4492F34-428B-4930-9E8F-A70D3EC91F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" y="468"/>
                  <a:ext cx="1440" cy="624"/>
                </a:xfrm>
                <a:prstGeom prst="flowChartDecision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zh-CN" altLang="en-US" sz="2000"/>
                    <a:t>表达式</a:t>
                  </a:r>
                </a:p>
              </p:txBody>
            </p:sp>
            <p:sp>
              <p:nvSpPr>
                <p:cNvPr id="62478" name="Line 17">
                  <a:extLst>
                    <a:ext uri="{FF2B5EF4-FFF2-40B4-BE49-F238E27FC236}">
                      <a16:creationId xmlns:a16="http://schemas.microsoft.com/office/drawing/2014/main" id="{E2F96DB0-56BA-44F7-84B3-BCE2BDF6C7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0" y="780"/>
                  <a:ext cx="0" cy="62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79" name="Line 18">
                  <a:extLst>
                    <a:ext uri="{FF2B5EF4-FFF2-40B4-BE49-F238E27FC236}">
                      <a16:creationId xmlns:a16="http://schemas.microsoft.com/office/drawing/2014/main" id="{1572E881-4452-40B1-9137-FDDF2428CA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00" y="780"/>
                  <a:ext cx="0" cy="62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62480" name="组合 31760">
                  <a:extLst>
                    <a:ext uri="{FF2B5EF4-FFF2-40B4-BE49-F238E27FC236}">
                      <a16:creationId xmlns:a16="http://schemas.microsoft.com/office/drawing/2014/main" id="{53EE862F-2CD2-483A-AF82-10DF69863C7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0" y="1872"/>
                  <a:ext cx="2160" cy="780"/>
                  <a:chOff x="0" y="0"/>
                  <a:chExt cx="2160" cy="780"/>
                </a:xfrm>
              </p:grpSpPr>
              <p:sp>
                <p:nvSpPr>
                  <p:cNvPr id="62481" name="Line 20">
                    <a:extLst>
                      <a:ext uri="{FF2B5EF4-FFF2-40B4-BE49-F238E27FC236}">
                        <a16:creationId xmlns:a16="http://schemas.microsoft.com/office/drawing/2014/main" id="{3906FFA7-2E57-4EDB-B433-E7B8ADD2EF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0" y="0"/>
                    <a:ext cx="0" cy="31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2482" name="Line 21">
                    <a:extLst>
                      <a:ext uri="{FF2B5EF4-FFF2-40B4-BE49-F238E27FC236}">
                        <a16:creationId xmlns:a16="http://schemas.microsoft.com/office/drawing/2014/main" id="{6DE9913E-E97A-46E3-8366-8260D12AE4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60" y="0"/>
                    <a:ext cx="0" cy="31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62483" name="组合 31763">
                    <a:extLst>
                      <a:ext uri="{FF2B5EF4-FFF2-40B4-BE49-F238E27FC236}">
                        <a16:creationId xmlns:a16="http://schemas.microsoft.com/office/drawing/2014/main" id="{909620BF-393C-4240-88B9-3B325B42A21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312"/>
                    <a:ext cx="2160" cy="468"/>
                    <a:chOff x="0" y="0"/>
                    <a:chExt cx="2160" cy="468"/>
                  </a:xfrm>
                </p:grpSpPr>
                <p:sp>
                  <p:nvSpPr>
                    <p:cNvPr id="62484" name="Line 23">
                      <a:extLst>
                        <a:ext uri="{FF2B5EF4-FFF2-40B4-BE49-F238E27FC236}">
                          <a16:creationId xmlns:a16="http://schemas.microsoft.com/office/drawing/2014/main" id="{A8825C76-C869-4C46-A97D-1EECF7D5211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0"/>
                      <a:ext cx="10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2485" name="Line 24">
                      <a:extLst>
                        <a:ext uri="{FF2B5EF4-FFF2-40B4-BE49-F238E27FC236}">
                          <a16:creationId xmlns:a16="http://schemas.microsoft.com/office/drawing/2014/main" id="{C825DD9E-62DA-48F0-B424-6EBD7AFC507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080" y="0"/>
                      <a:ext cx="10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2486" name="Line 25">
                      <a:extLst>
                        <a:ext uri="{FF2B5EF4-FFF2-40B4-BE49-F238E27FC236}">
                          <a16:creationId xmlns:a16="http://schemas.microsoft.com/office/drawing/2014/main" id="{5C9ECFCD-521A-4AA5-991D-A0BAD690A9E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80" y="0"/>
                      <a:ext cx="0" cy="46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62487" name="Text Box 26">
                  <a:extLst>
                    <a:ext uri="{FF2B5EF4-FFF2-40B4-BE49-F238E27FC236}">
                      <a16:creationId xmlns:a16="http://schemas.microsoft.com/office/drawing/2014/main" id="{83C2E61A-ADA2-4AF3-A9C2-37A56D7719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1404"/>
                  <a:ext cx="108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zh-CN" altLang="en-US" sz="2000"/>
                    <a:t>      语句</a:t>
                  </a:r>
                  <a:r>
                    <a:rPr lang="en-US" altLang="zh-CN" sz="2000"/>
                    <a:t>1</a:t>
                  </a:r>
                </a:p>
              </p:txBody>
            </p:sp>
            <p:sp>
              <p:nvSpPr>
                <p:cNvPr id="62488" name="Text Box 27">
                  <a:extLst>
                    <a:ext uri="{FF2B5EF4-FFF2-40B4-BE49-F238E27FC236}">
                      <a16:creationId xmlns:a16="http://schemas.microsoft.com/office/drawing/2014/main" id="{6E5B4934-C3B5-49F9-BB47-AB5234452E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60" y="1404"/>
                  <a:ext cx="108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zh-CN" altLang="en-US" sz="2000"/>
                    <a:t>   语句2</a:t>
                  </a:r>
                </a:p>
              </p:txBody>
            </p:sp>
            <p:sp>
              <p:nvSpPr>
                <p:cNvPr id="62489" name="Text Box 28">
                  <a:extLst>
                    <a:ext uri="{FF2B5EF4-FFF2-40B4-BE49-F238E27FC236}">
                      <a16:creationId xmlns:a16="http://schemas.microsoft.com/office/drawing/2014/main" id="{77530797-8AD7-42F8-A2A4-14774422EC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" y="312"/>
                  <a:ext cx="1260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zh-CN" altLang="en-US" sz="2000"/>
                    <a:t>真（非0）</a:t>
                  </a:r>
                </a:p>
              </p:txBody>
            </p:sp>
            <p:sp>
              <p:nvSpPr>
                <p:cNvPr id="62490" name="Text Box 29">
                  <a:extLst>
                    <a:ext uri="{FF2B5EF4-FFF2-40B4-BE49-F238E27FC236}">
                      <a16:creationId xmlns:a16="http://schemas.microsoft.com/office/drawing/2014/main" id="{C2201948-B612-4658-B9FF-D247BA85BD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60" y="312"/>
                  <a:ext cx="1260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zh-CN" altLang="en-US" sz="2000"/>
                    <a:t>假（为0）</a:t>
                  </a:r>
                </a:p>
              </p:txBody>
            </p:sp>
          </p:grpSp>
          <p:sp>
            <p:nvSpPr>
              <p:cNvPr id="62491" name="Line 30">
                <a:extLst>
                  <a:ext uri="{FF2B5EF4-FFF2-40B4-BE49-F238E27FC236}">
                    <a16:creationId xmlns:a16="http://schemas.microsoft.com/office/drawing/2014/main" id="{A2C1547C-DDE7-4888-A5E7-5FCD71243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56"/>
                <a:ext cx="0" cy="21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92" name="Line 31">
                <a:extLst>
                  <a:ext uri="{FF2B5EF4-FFF2-40B4-BE49-F238E27FC236}">
                    <a16:creationId xmlns:a16="http://schemas.microsoft.com/office/drawing/2014/main" id="{22A442CA-FCDE-4790-ADB8-EE52F6D0E2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156"/>
                <a:ext cx="0" cy="21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93" name="Line 32">
                <a:extLst>
                  <a:ext uri="{FF2B5EF4-FFF2-40B4-BE49-F238E27FC236}">
                    <a16:creationId xmlns:a16="http://schemas.microsoft.com/office/drawing/2014/main" id="{B6BAC330-F6D0-4265-ACD1-16090648F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340"/>
                <a:ext cx="36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94" name="Line 33">
                <a:extLst>
                  <a:ext uri="{FF2B5EF4-FFF2-40B4-BE49-F238E27FC236}">
                    <a16:creationId xmlns:a16="http://schemas.microsoft.com/office/drawing/2014/main" id="{253CC508-CF43-4F38-B4D4-E4904D30B3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56"/>
                <a:ext cx="36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2495" name="Rectangle 36">
            <a:extLst>
              <a:ext uri="{FF2B5EF4-FFF2-40B4-BE49-F238E27FC236}">
                <a16:creationId xmlns:a16="http://schemas.microsoft.com/office/drawing/2014/main" id="{E44AFB20-93F3-46A8-9D51-6910AB17E74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404813"/>
            <a:ext cx="7772400" cy="720725"/>
          </a:xfrm>
        </p:spPr>
        <p:txBody>
          <a:bodyPr/>
          <a:lstStyle/>
          <a:p>
            <a:pPr eaLnBrk="1" hangingPunct="1"/>
            <a:r>
              <a:rPr lang="zh-CN" altLang="en-US" b="1"/>
              <a:t>是非选择结构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灯片编号占位符 5">
            <a:extLst>
              <a:ext uri="{FF2B5EF4-FFF2-40B4-BE49-F238E27FC236}">
                <a16:creationId xmlns:a16="http://schemas.microsoft.com/office/drawing/2014/main" id="{2B4978F3-6192-4051-A590-9533A34748B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26DD05C4-EE24-4720-B1EC-9F916B63D093}" type="slidenum">
              <a:rPr lang="zh-CN" altLang="en-US" sz="1400"/>
              <a:pPr algn="r">
                <a:spcBef>
                  <a:spcPct val="50000"/>
                </a:spcBef>
              </a:pPr>
              <a:t>8</a:t>
            </a:fld>
            <a:endParaRPr lang="zh-CN" altLang="en-US" sz="1400"/>
          </a:p>
        </p:txBody>
      </p:sp>
      <p:sp>
        <p:nvSpPr>
          <p:cNvPr id="49154" name="Text Box 5">
            <a:extLst>
              <a:ext uri="{FF2B5EF4-FFF2-40B4-BE49-F238E27FC236}">
                <a16:creationId xmlns:a16="http://schemas.microsoft.com/office/drawing/2014/main" id="{9CFF8A82-8BC6-47CC-86A1-A50F08EB8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1354138"/>
            <a:ext cx="7696200" cy="4745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自然语言中，简单表达只用一句话，复杂表述用段落。</a:t>
            </a:r>
            <a:r>
              <a:rPr lang="en-US" altLang="zh-CN" sz="2800" dirty="0">
                <a:latin typeface="宋体" panose="02010600030101010101" pitchFamily="2" charset="-122"/>
              </a:rPr>
              <a:t>C</a:t>
            </a:r>
            <a:r>
              <a:rPr lang="zh-CN" altLang="en-US" sz="2800" dirty="0">
                <a:latin typeface="宋体" panose="02010600030101010101" pitchFamily="2" charset="-122"/>
              </a:rPr>
              <a:t>语言规定，单条语句用</a:t>
            </a:r>
            <a:r>
              <a:rPr lang="en-US" altLang="zh-CN" sz="2800" dirty="0">
                <a:latin typeface="宋体" panose="02010600030101010101" pitchFamily="2" charset="-122"/>
              </a:rPr>
              <a:t>;</a:t>
            </a:r>
            <a:r>
              <a:rPr lang="zh-CN" altLang="en-US" sz="2800" dirty="0">
                <a:latin typeface="宋体" panose="02010600030101010101" pitchFamily="2" charset="-122"/>
              </a:rPr>
              <a:t>结束，复合语句由</a:t>
            </a:r>
            <a:r>
              <a:rPr lang="zh-CN" altLang="en-US" sz="2800" u="sng" dirty="0">
                <a:solidFill>
                  <a:srgbClr val="2D35D3"/>
                </a:solidFill>
                <a:latin typeface="宋体" panose="02010600030101010101" pitchFamily="2" charset="-122"/>
              </a:rPr>
              <a:t>大括号和语句段</a:t>
            </a:r>
            <a:r>
              <a:rPr lang="zh-CN" altLang="en-US" sz="2800" dirty="0">
                <a:latin typeface="宋体" panose="02010600030101010101" pitchFamily="2" charset="-122"/>
              </a:rPr>
              <a:t>组成。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例：</a:t>
            </a:r>
            <a:r>
              <a:rPr lang="en-US" altLang="zh-CN" sz="2800" dirty="0">
                <a:latin typeface="宋体" panose="02010600030101010101" pitchFamily="2" charset="-122"/>
              </a:rPr>
              <a:t>	if (n &gt;3)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	{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		</a:t>
            </a:r>
            <a:r>
              <a:rPr lang="en-US" altLang="zh-CN" sz="2800" dirty="0" err="1">
                <a:latin typeface="宋体" panose="02010600030101010101" pitchFamily="2" charset="-122"/>
              </a:rPr>
              <a:t>i</a:t>
            </a:r>
            <a:r>
              <a:rPr lang="en-US" altLang="zh-CN" sz="2800" dirty="0">
                <a:latin typeface="宋体" panose="02010600030101010101" pitchFamily="2" charset="-122"/>
              </a:rPr>
              <a:t> = 1;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		j = 2 * </a:t>
            </a:r>
            <a:r>
              <a:rPr lang="en-US" altLang="zh-CN" sz="2800" dirty="0" err="1">
                <a:latin typeface="宋体" panose="02010600030101010101" pitchFamily="2" charset="-122"/>
              </a:rPr>
              <a:t>i</a:t>
            </a:r>
            <a:r>
              <a:rPr lang="en-US" altLang="zh-CN" sz="2800" dirty="0">
                <a:latin typeface="宋体" panose="02010600030101010101" pitchFamily="2" charset="-122"/>
              </a:rPr>
              <a:t>;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    	}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	else 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	{	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		</a:t>
            </a:r>
            <a:r>
              <a:rPr lang="en-US" altLang="zh-CN" sz="2800" dirty="0" err="1">
                <a:latin typeface="宋体" panose="02010600030101010101" pitchFamily="2" charset="-122"/>
              </a:rPr>
              <a:t>i</a:t>
            </a:r>
            <a:r>
              <a:rPr lang="en-US" altLang="zh-CN" sz="2800" dirty="0">
                <a:latin typeface="宋体" panose="02010600030101010101" pitchFamily="2" charset="-122"/>
              </a:rPr>
              <a:t> = 0;	</a:t>
            </a:r>
            <a:r>
              <a:rPr lang="zh-CN" altLang="en-US" sz="2800" dirty="0">
                <a:latin typeface="宋体" panose="02010600030101010101" pitchFamily="2" charset="-122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</a:rPr>
              <a:t>j = 2*</a:t>
            </a:r>
            <a:r>
              <a:rPr lang="en-US" altLang="zh-CN" sz="2800" dirty="0" err="1">
                <a:latin typeface="宋体" panose="02010600030101010101" pitchFamily="2" charset="-122"/>
              </a:rPr>
              <a:t>i+1</a:t>
            </a:r>
            <a:r>
              <a:rPr lang="en-US" altLang="zh-CN" sz="2800" dirty="0">
                <a:latin typeface="宋体" panose="02010600030101010101" pitchFamily="2" charset="-122"/>
              </a:rPr>
              <a:t>;</a:t>
            </a:r>
          </a:p>
          <a:p>
            <a:pPr algn="just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	}</a:t>
            </a:r>
          </a:p>
        </p:txBody>
      </p:sp>
      <p:sp>
        <p:nvSpPr>
          <p:cNvPr id="49155" name="Rectangle 8">
            <a:extLst>
              <a:ext uri="{FF2B5EF4-FFF2-40B4-BE49-F238E27FC236}">
                <a16:creationId xmlns:a16="http://schemas.microsoft.com/office/drawing/2014/main" id="{91566AC2-4119-4DB0-8AEA-EA14CAFF31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使用大括号构造复合语句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6">
            <a:extLst>
              <a:ext uri="{FF2B5EF4-FFF2-40B4-BE49-F238E27FC236}">
                <a16:creationId xmlns:a16="http://schemas.microsoft.com/office/drawing/2014/main" id="{A2811255-271D-4EA8-BA88-007F0C94E8D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86A57B94-F203-439B-96B1-3E4E21F059E4}" type="slidenum">
              <a:rPr lang="zh-CN" altLang="en-US" sz="1400"/>
              <a:pPr algn="r">
                <a:spcBef>
                  <a:spcPct val="50000"/>
                </a:spcBef>
              </a:pPr>
              <a:t>9</a:t>
            </a:fld>
            <a:endParaRPr lang="zh-CN" altLang="en-US" sz="1400"/>
          </a:p>
        </p:txBody>
      </p:sp>
      <p:sp>
        <p:nvSpPr>
          <p:cNvPr id="37890" name="Rectangle 14">
            <a:extLst>
              <a:ext uri="{FF2B5EF4-FFF2-40B4-BE49-F238E27FC236}">
                <a16:creationId xmlns:a16="http://schemas.microsoft.com/office/drawing/2014/main" id="{35B15894-D86D-41D4-836E-493DE51EDD2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逻辑运算符</a:t>
            </a:r>
          </a:p>
        </p:txBody>
      </p:sp>
      <p:sp>
        <p:nvSpPr>
          <p:cNvPr id="37891" name="Rectangle 9">
            <a:extLst>
              <a:ext uri="{FF2B5EF4-FFF2-40B4-BE49-F238E27FC236}">
                <a16:creationId xmlns:a16="http://schemas.microsoft.com/office/drawing/2014/main" id="{8DA461D6-8CD8-4690-9951-1BF7B6F7697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5800" y="1319213"/>
            <a:ext cx="8207375" cy="4611687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b="1" dirty="0">
                <a:solidFill>
                  <a:srgbClr val="6600FF"/>
                </a:solidFill>
              </a:rPr>
              <a:t>三、逻辑运算符和逻辑表达式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逻辑运算符：与</a:t>
            </a:r>
            <a:r>
              <a:rPr lang="en-US" altLang="zh-CN" b="1" dirty="0">
                <a:latin typeface="宋体" panose="02010600030101010101" pitchFamily="2" charset="-122"/>
              </a:rPr>
              <a:t>and</a:t>
            </a:r>
            <a:r>
              <a:rPr lang="zh-CN" altLang="en-US" b="1" dirty="0">
                <a:latin typeface="宋体" panose="02010600030101010101" pitchFamily="2" charset="-122"/>
              </a:rPr>
              <a:t>、或</a:t>
            </a:r>
            <a:r>
              <a:rPr lang="en-US" altLang="zh-CN" b="1" dirty="0">
                <a:latin typeface="宋体" panose="02010600030101010101" pitchFamily="2" charset="-122"/>
              </a:rPr>
              <a:t>or</a:t>
            </a:r>
            <a:r>
              <a:rPr lang="zh-CN" altLang="en-US" b="1" dirty="0">
                <a:latin typeface="宋体" panose="02010600030101010101" pitchFamily="2" charset="-122"/>
              </a:rPr>
              <a:t>、非</a:t>
            </a:r>
            <a:r>
              <a:rPr lang="en-US" altLang="zh-CN" b="1" dirty="0">
                <a:latin typeface="宋体" panose="02010600030101010101" pitchFamily="2" charset="-122"/>
              </a:rPr>
              <a:t>not</a:t>
            </a:r>
            <a:r>
              <a:rPr lang="zh-CN" altLang="en-US" b="1" dirty="0"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注意</a:t>
            </a:r>
            <a:r>
              <a:rPr lang="en-US" altLang="zh-CN" b="1" dirty="0">
                <a:latin typeface="宋体" panose="02010600030101010101" pitchFamily="2" charset="-122"/>
              </a:rPr>
              <a:t>: </a:t>
            </a:r>
            <a:r>
              <a:rPr lang="zh-CN" altLang="en-US" b="1" dirty="0">
                <a:latin typeface="宋体" panose="02010600030101010101" pitchFamily="2" charset="-122"/>
              </a:rPr>
              <a:t>逻辑运算和关系运算、算术运算可以混合在一起运算。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37892" name="Text Box 10">
            <a:extLst>
              <a:ext uri="{FF2B5EF4-FFF2-40B4-BE49-F238E27FC236}">
                <a16:creationId xmlns:a16="http://schemas.microsoft.com/office/drawing/2014/main" id="{DD10F8A8-5FC3-4C49-BD7A-8073A274E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352800"/>
            <a:ext cx="777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lang="en-US" altLang="zh-CN" sz="2800">
              <a:latin typeface="宋体" panose="02010600030101010101" pitchFamily="2" charset="-122"/>
            </a:endParaRPr>
          </a:p>
        </p:txBody>
      </p:sp>
      <p:graphicFrame>
        <p:nvGraphicFramePr>
          <p:cNvPr id="14342" name="内容占位符 14341">
            <a:extLst>
              <a:ext uri="{FF2B5EF4-FFF2-40B4-BE49-F238E27FC236}">
                <a16:creationId xmlns:a16="http://schemas.microsoft.com/office/drawing/2014/main" id="{4B041643-0C8C-4C41-A20F-C847B3D8DCB2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162870426"/>
              </p:ext>
            </p:extLst>
          </p:nvPr>
        </p:nvGraphicFramePr>
        <p:xfrm>
          <a:off x="762000" y="2235200"/>
          <a:ext cx="7626350" cy="3287713"/>
        </p:xfrm>
        <a:graphic>
          <a:graphicData uri="http://schemas.openxmlformats.org/drawingml/2006/table">
            <a:tbl>
              <a:tblPr/>
              <a:tblGrid>
                <a:gridCol w="1718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7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9038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buNone/>
                      </a:pPr>
                      <a:r>
                        <a:rPr lang="en-US" altLang="x-none" sz="2400" b="1" dirty="0"/>
                        <a:t>&amp;&amp; </a:t>
                      </a:r>
                      <a:r>
                        <a:rPr lang="zh-CN" altLang="en-US" sz="2400" b="1" dirty="0"/>
                        <a:t>逻辑与</a:t>
                      </a:r>
                      <a:endParaRPr lang="en-US" altLang="x-none" sz="24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66FF">
                            <a:alpha val="100000"/>
                          </a:srgbClr>
                        </a:gs>
                        <a:gs pos="100000">
                          <a:schemeClr val="bg1">
                            <a:alpha val="10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buNone/>
                      </a:pPr>
                      <a:r>
                        <a:rPr lang="en-US" altLang="x-none" sz="2400" b="1" dirty="0"/>
                        <a:t>a&amp;&amp;b</a:t>
                      </a:r>
                      <a:r>
                        <a:rPr lang="zh-CN" altLang="en-US" sz="2400" b="1" dirty="0"/>
                        <a:t>：当且仅当操作数</a:t>
                      </a:r>
                      <a:r>
                        <a:rPr lang="en-US" altLang="x-none" sz="2400" b="1" dirty="0"/>
                        <a:t>a</a:t>
                      </a:r>
                      <a:r>
                        <a:rPr lang="zh-CN" altLang="en-US" sz="2400" b="1" dirty="0"/>
                        <a:t>和</a:t>
                      </a:r>
                      <a:r>
                        <a:rPr lang="en-US" altLang="x-none" sz="2400" b="1" dirty="0"/>
                        <a:t>b</a:t>
                      </a:r>
                      <a:r>
                        <a:rPr lang="zh-CN" altLang="en-US" sz="2400" b="1" dirty="0"/>
                        <a:t>的值都为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“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真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”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或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非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r>
                        <a:rPr lang="zh-CN" altLang="en-US" sz="2400" b="1" dirty="0"/>
                        <a:t>时，运算结果为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</a:rPr>
                        <a:t>"</a:t>
                      </a:r>
                      <a:r>
                        <a:rPr lang="zh-CN" altLang="en-US" sz="2400" b="1" dirty="0"/>
                        <a:t>真</a:t>
                      </a:r>
                      <a:r>
                        <a:rPr lang="en-US" altLang="zh-CN" sz="2400" b="1" dirty="0"/>
                        <a:t>1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</a:rPr>
                        <a:t>"</a:t>
                      </a:r>
                      <a:r>
                        <a:rPr lang="zh-CN" altLang="en-US" sz="2400" b="1" dirty="0"/>
                        <a:t>，否则为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</a:rPr>
                        <a:t>"</a:t>
                      </a:r>
                      <a:r>
                        <a:rPr lang="zh-CN" altLang="en-US" sz="2400" b="1" dirty="0"/>
                        <a:t>假</a:t>
                      </a:r>
                      <a:r>
                        <a:rPr lang="en-US" altLang="zh-CN" sz="2400" b="1" dirty="0"/>
                        <a:t>0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</a:rPr>
                        <a:t>"</a:t>
                      </a:r>
                      <a:endParaRPr lang="zh-CN" altLang="en-US" sz="24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66FF">
                            <a:alpha val="100000"/>
                          </a:srgbClr>
                        </a:gs>
                        <a:gs pos="100000">
                          <a:schemeClr val="bg1">
                            <a:alpha val="10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637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buNone/>
                      </a:pPr>
                      <a:r>
                        <a:rPr lang="en-US" altLang="x-none" sz="2400" b="1" dirty="0"/>
                        <a:t>|| </a:t>
                      </a:r>
                      <a:r>
                        <a:rPr lang="zh-CN" altLang="en-US" sz="2400" b="1" dirty="0"/>
                        <a:t>逻辑或</a:t>
                      </a:r>
                      <a:endParaRPr lang="en-US" altLang="x-none" sz="24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66FF">
                            <a:alpha val="100000"/>
                          </a:srgbClr>
                        </a:gs>
                        <a:gs pos="100000">
                          <a:schemeClr val="bg1">
                            <a:alpha val="10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buNone/>
                      </a:pPr>
                      <a:r>
                        <a:rPr lang="en-US" altLang="x-none" sz="2400" b="1" dirty="0"/>
                        <a:t>a||b</a:t>
                      </a:r>
                      <a:r>
                        <a:rPr lang="zh-CN" altLang="en-US" sz="2400" b="1" dirty="0"/>
                        <a:t>：当且仅当操作数</a:t>
                      </a:r>
                      <a:r>
                        <a:rPr lang="en-US" altLang="x-none" sz="2400" b="1" dirty="0"/>
                        <a:t>a</a:t>
                      </a:r>
                      <a:r>
                        <a:rPr lang="zh-CN" altLang="en-US" sz="2400" b="1" dirty="0"/>
                        <a:t>和</a:t>
                      </a:r>
                      <a:r>
                        <a:rPr lang="en-US" altLang="x-none" sz="2400" b="1" dirty="0"/>
                        <a:t>b</a:t>
                      </a:r>
                      <a:r>
                        <a:rPr lang="zh-CN" altLang="en-US" sz="2400" b="1" dirty="0"/>
                        <a:t>值都为</a:t>
                      </a:r>
                      <a:r>
                        <a:rPr lang="zh-CN" altLang="en-US" sz="2400" b="1" dirty="0">
                          <a:solidFill>
                            <a:srgbClr val="FF3300"/>
                          </a:solidFill>
                          <a:latin typeface="宋体" panose="02010600030101010101" pitchFamily="2" charset="-122"/>
                        </a:rPr>
                        <a:t>"</a:t>
                      </a:r>
                      <a:r>
                        <a:rPr lang="zh-CN" altLang="en-US" sz="2400" b="1" dirty="0">
                          <a:solidFill>
                            <a:srgbClr val="FF3300"/>
                          </a:solidFill>
                        </a:rPr>
                        <a:t>假</a:t>
                      </a:r>
                      <a:r>
                        <a:rPr lang="zh-CN" altLang="en-US" sz="2400" b="1" dirty="0">
                          <a:solidFill>
                            <a:srgbClr val="FF3300"/>
                          </a:solidFill>
                          <a:latin typeface="宋体" panose="02010600030101010101" pitchFamily="2" charset="-122"/>
                        </a:rPr>
                        <a:t>"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或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r>
                        <a:rPr lang="zh-CN" altLang="en-US" sz="2400" b="1" dirty="0"/>
                        <a:t>时，运算结果为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</a:rPr>
                        <a:t>"</a:t>
                      </a:r>
                      <a:r>
                        <a:rPr lang="zh-CN" altLang="en-US" sz="2400" b="1" dirty="0"/>
                        <a:t>假</a:t>
                      </a:r>
                      <a:r>
                        <a:rPr lang="en-US" altLang="zh-CN" sz="2400" b="1" dirty="0"/>
                        <a:t>0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</a:rPr>
                        <a:t>"</a:t>
                      </a:r>
                      <a:r>
                        <a:rPr lang="zh-CN" altLang="en-US" sz="2400" b="1" dirty="0"/>
                        <a:t>，否则为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</a:rPr>
                        <a:t>"</a:t>
                      </a:r>
                      <a:r>
                        <a:rPr lang="zh-CN" altLang="en-US" sz="2400" b="1" dirty="0"/>
                        <a:t>真</a:t>
                      </a:r>
                      <a:r>
                        <a:rPr lang="en-US" altLang="zh-CN" sz="2400" b="1" dirty="0"/>
                        <a:t>1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</a:rPr>
                        <a:t>"</a:t>
                      </a:r>
                      <a:r>
                        <a:rPr lang="zh-CN" altLang="en-US" sz="2400" b="1" dirty="0"/>
                        <a:t>。</a:t>
                      </a:r>
                      <a:endParaRPr lang="zh-CN" altLang="en-US" sz="24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66FF">
                            <a:alpha val="100000"/>
                          </a:srgbClr>
                        </a:gs>
                        <a:gs pos="100000">
                          <a:schemeClr val="bg1">
                            <a:alpha val="10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9038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buNone/>
                      </a:pPr>
                      <a:r>
                        <a:rPr lang="zh-CN" altLang="en-US" sz="2400" b="1" dirty="0"/>
                        <a:t>！逻辑非</a:t>
                      </a:r>
                      <a:endParaRPr lang="zh-CN" altLang="en-US" sz="24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66FF">
                            <a:alpha val="100000"/>
                          </a:srgbClr>
                        </a:gs>
                        <a:gs pos="100000">
                          <a:schemeClr val="bg1">
                            <a:alpha val="10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b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buChar char="n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40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buNone/>
                      </a:pPr>
                      <a:r>
                        <a:rPr lang="en-US" altLang="x-none" sz="2400" b="1" dirty="0"/>
                        <a:t>!a:</a:t>
                      </a:r>
                      <a:r>
                        <a:rPr lang="zh-CN" altLang="en-US" sz="2400" b="1" dirty="0"/>
                        <a:t>当操作数</a:t>
                      </a:r>
                      <a:r>
                        <a:rPr lang="en-US" altLang="x-none" sz="2400" b="1" dirty="0"/>
                        <a:t>a</a:t>
                      </a:r>
                      <a:r>
                        <a:rPr lang="zh-CN" altLang="en-US" sz="2400" b="1" dirty="0"/>
                        <a:t>的值为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“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真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”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或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非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r>
                        <a:rPr lang="zh-CN" altLang="en-US" sz="2400" b="1" dirty="0"/>
                        <a:t>时，运算结果为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</a:rPr>
                        <a:t>“</a:t>
                      </a:r>
                      <a:r>
                        <a:rPr lang="zh-CN" altLang="en-US" sz="2400" b="1" dirty="0"/>
                        <a:t>假</a:t>
                      </a:r>
                      <a:r>
                        <a:rPr lang="en-US" altLang="zh-CN" sz="2400" b="1" dirty="0"/>
                        <a:t>0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</a:rPr>
                        <a:t>”</a:t>
                      </a:r>
                      <a:r>
                        <a:rPr lang="zh-CN" altLang="en-US" sz="2400" b="1" dirty="0"/>
                        <a:t>；当操作数</a:t>
                      </a:r>
                      <a:r>
                        <a:rPr lang="en-US" altLang="x-none" sz="2400" b="1" dirty="0"/>
                        <a:t>a</a:t>
                      </a:r>
                      <a:r>
                        <a:rPr lang="zh-CN" altLang="en-US" sz="2400" b="1" dirty="0"/>
                        <a:t>的值为</a:t>
                      </a:r>
                      <a:r>
                        <a:rPr lang="zh-CN" altLang="en-US" sz="2400" b="1" dirty="0">
                          <a:solidFill>
                            <a:srgbClr val="FF3300"/>
                          </a:solidFill>
                          <a:latin typeface="宋体" panose="02010600030101010101" pitchFamily="2" charset="-122"/>
                        </a:rPr>
                        <a:t>“</a:t>
                      </a:r>
                      <a:r>
                        <a:rPr lang="zh-CN" altLang="en-US" sz="2400" b="1" dirty="0">
                          <a:solidFill>
                            <a:srgbClr val="FF3300"/>
                          </a:solidFill>
                        </a:rPr>
                        <a:t>假</a:t>
                      </a:r>
                      <a:r>
                        <a:rPr lang="zh-CN" altLang="en-US" sz="2400" b="1" dirty="0">
                          <a:solidFill>
                            <a:srgbClr val="FF3300"/>
                          </a:solidFill>
                          <a:latin typeface="宋体" panose="02010600030101010101" pitchFamily="2" charset="-122"/>
                        </a:rPr>
                        <a:t>”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或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r>
                        <a:rPr lang="zh-CN" altLang="en-US" sz="2400" b="1" dirty="0"/>
                        <a:t>时，运算结果为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</a:rPr>
                        <a:t>“</a:t>
                      </a:r>
                      <a:r>
                        <a:rPr lang="zh-CN" altLang="en-US" sz="2400" b="1" dirty="0"/>
                        <a:t>真</a:t>
                      </a:r>
                      <a:r>
                        <a:rPr lang="en-US" altLang="zh-CN" sz="2400" b="1" dirty="0"/>
                        <a:t>1</a:t>
                      </a:r>
                      <a:r>
                        <a:rPr lang="zh-CN" altLang="en-US" sz="2400" b="1" dirty="0">
                          <a:latin typeface="宋体" panose="02010600030101010101" pitchFamily="2" charset="-122"/>
                        </a:rPr>
                        <a:t>”。</a:t>
                      </a:r>
                      <a:endParaRPr lang="zh-CN" altLang="en-US" sz="24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9966FF">
                            <a:alpha val="100000"/>
                          </a:srgbClr>
                        </a:gs>
                        <a:gs pos="100000">
                          <a:schemeClr val="bg1">
                            <a:alpha val="10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64001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864096"/>
          </a:xfrm>
          <a:noFill/>
          <a:ln w="9525">
            <a:noFill/>
          </a:ln>
        </p:spPr>
        <p:txBody>
          <a:bodyPr anchor="ctr"/>
          <a:lstStyle/>
          <a:p>
            <a:pPr eaLnBrk="1" hangingPunct="1"/>
            <a:br>
              <a:rPr lang="en-US" b="1" dirty="0"/>
            </a:br>
            <a:r>
              <a:rPr lang="zh-CN" altLang="en-US" b="1" dirty="0"/>
              <a:t>自然语言中的或语义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46" y="1340768"/>
            <a:ext cx="8229600" cy="4389120"/>
          </a:xfrm>
        </p:spPr>
        <p:txBody>
          <a:bodyPr/>
          <a:lstStyle/>
          <a:p>
            <a:r>
              <a:rPr lang="zh-CN" altLang="en-US" sz="2400" dirty="0"/>
              <a:t>在自然语言中</a:t>
            </a:r>
            <a:r>
              <a:rPr lang="en-US" sz="2400" dirty="0"/>
              <a:t> “</a:t>
            </a:r>
            <a:r>
              <a:rPr lang="zh-CN" altLang="en-US" sz="2400" dirty="0"/>
              <a:t>或 </a:t>
            </a:r>
            <a:r>
              <a:rPr lang="en-US" sz="2400" dirty="0"/>
              <a:t>or” </a:t>
            </a:r>
            <a:r>
              <a:rPr lang="zh-CN" altLang="en-US" sz="2400" dirty="0"/>
              <a:t>有两种不同的含义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 “</a:t>
            </a:r>
            <a:r>
              <a:rPr lang="zh-CN" altLang="en-US" sz="2400" dirty="0"/>
              <a:t>兼容或</a:t>
            </a:r>
            <a:r>
              <a:rPr lang="en-US" sz="2400" dirty="0"/>
              <a:t>”  - </a:t>
            </a:r>
            <a:r>
              <a:rPr lang="zh-CN" altLang="en-US" sz="2400" dirty="0"/>
              <a:t>陈述句</a:t>
            </a:r>
            <a:r>
              <a:rPr lang="en-US" sz="2400" dirty="0"/>
              <a:t> “</a:t>
            </a:r>
            <a:r>
              <a:rPr lang="zh-CN" altLang="en-US" sz="2400" dirty="0"/>
              <a:t>计算机专业或数学专业的学生可以上离散数学课</a:t>
            </a:r>
            <a:r>
              <a:rPr lang="en-US" sz="2400" dirty="0"/>
              <a:t>,” </a:t>
            </a:r>
            <a:r>
              <a:rPr lang="zh-CN" altLang="en-US" sz="2400" dirty="0"/>
              <a:t>其含义是假设学生必须满足前提中的一种，当然两种都是更没问题</a:t>
            </a:r>
            <a:r>
              <a:rPr lang="en-US" sz="2400" dirty="0"/>
              <a:t>. </a:t>
            </a:r>
            <a:r>
              <a:rPr lang="zh-CN" altLang="en-US" sz="2400" dirty="0"/>
              <a:t>所以这里的含义和逻辑或是一致的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.</a:t>
            </a:r>
            <a:endParaRPr lang="en-US" sz="2400" dirty="0"/>
          </a:p>
          <a:p>
            <a:pPr lvl="1"/>
            <a:r>
              <a:rPr lang="en-US" sz="2400" dirty="0"/>
              <a:t>“</a:t>
            </a:r>
            <a:r>
              <a:rPr lang="zh-CN" altLang="en-US" sz="2400" dirty="0"/>
              <a:t>排他或</a:t>
            </a:r>
            <a:r>
              <a:rPr lang="en-US" altLang="zh-CN" sz="2400" dirty="0"/>
              <a:t>/</a:t>
            </a:r>
            <a:r>
              <a:rPr lang="zh-CN" altLang="en-US" sz="2400" dirty="0"/>
              <a:t>异或</a:t>
            </a:r>
            <a:r>
              <a:rPr lang="en-US" sz="2400" dirty="0"/>
              <a:t>”  -</a:t>
            </a:r>
            <a:r>
              <a:rPr lang="zh-CN" altLang="en-US" sz="2400" dirty="0"/>
              <a:t>当我们读到“饭后甜点可选咖啡或红茶”这句话时，意思是咖啡和红茶只能二选一。 这里的 或 是排他或</a:t>
            </a:r>
            <a:r>
              <a:rPr lang="en-US" altLang="zh-CN" sz="2400" dirty="0"/>
              <a:t>(XOR)</a:t>
            </a:r>
            <a:r>
              <a:rPr lang="zh-CN" altLang="en-US" sz="2400" dirty="0"/>
              <a:t>的含义。在两个选项中，只能有一个是真的，但不能两者都选。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矩形 761857">
            <a:extLst>
              <a:ext uri="{FF2B5EF4-FFF2-40B4-BE49-F238E27FC236}">
                <a16:creationId xmlns:a16="http://schemas.microsoft.com/office/drawing/2014/main" id="{6E61933C-FAC2-4D08-A566-4A92193EA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" y="1268760"/>
            <a:ext cx="4249068" cy="48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99"/>
                </a:solidFill>
                <a:latin typeface="宋体" panose="02010600030101010101" pitchFamily="2" charset="-122"/>
              </a:rPr>
              <a:t>编程语言规定了运算符的优先级和结合性。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在表达式求值时</a:t>
            </a: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,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逻辑非运算最高，</a:t>
            </a:r>
            <a:endParaRPr lang="en-US" altLang="zh-CN" sz="2400" dirty="0">
              <a:solidFill>
                <a:srgbClr val="4D4D4D"/>
              </a:solidFill>
              <a:latin typeface="宋体" panose="02010600030101010101" pitchFamily="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然后是算术运算和关系运算，</a:t>
            </a:r>
            <a:endParaRPr lang="en-US" altLang="zh-CN" sz="2400" dirty="0">
              <a:solidFill>
                <a:srgbClr val="4D4D4D"/>
              </a:solidFill>
              <a:latin typeface="宋体" panose="02010600030101010101" pitchFamily="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逻辑运算的优先级仅高于赋值运算。</a:t>
            </a:r>
            <a:endParaRPr lang="en-US" altLang="zh-CN" sz="2400" dirty="0">
              <a:solidFill>
                <a:srgbClr val="4D4D4D"/>
              </a:solidFill>
              <a:latin typeface="宋体" panose="02010600030101010101" pitchFamily="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逻辑运算的结合性默认是左结合，只有非运算是右结合。</a:t>
            </a:r>
          </a:p>
        </p:txBody>
      </p:sp>
      <p:sp>
        <p:nvSpPr>
          <p:cNvPr id="38914" name="标题 761858">
            <a:extLst>
              <a:ext uri="{FF2B5EF4-FFF2-40B4-BE49-F238E27FC236}">
                <a16:creationId xmlns:a16="http://schemas.microsoft.com/office/drawing/2014/main" id="{9492B755-277B-409B-9E1A-B6F3E2D2D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04813"/>
            <a:ext cx="9144000" cy="7397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逻辑运算的优先级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EAC827-161F-91C4-C1B1-05344AF3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52997"/>
            <a:ext cx="4381500" cy="480060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8D26F92-575D-8FE2-EF28-2D463EF6EFBE}"/>
              </a:ext>
            </a:extLst>
          </p:cNvPr>
          <p:cNvCxnSpPr/>
          <p:nvPr/>
        </p:nvCxnSpPr>
        <p:spPr>
          <a:xfrm>
            <a:off x="4788024" y="1916832"/>
            <a:ext cx="28803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7B823902-41CB-C041-64B8-01FCEBCF2CD9}"/>
              </a:ext>
            </a:extLst>
          </p:cNvPr>
          <p:cNvSpPr/>
          <p:nvPr/>
        </p:nvSpPr>
        <p:spPr>
          <a:xfrm>
            <a:off x="4788024" y="4797152"/>
            <a:ext cx="2520280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023040"/>
      </p:ext>
    </p:extLst>
  </p:cSld>
  <p:clrMapOvr>
    <a:masterClrMapping/>
  </p:clrMapOvr>
  <p:transition advClick="0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6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8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德</a:t>
            </a:r>
            <a:r>
              <a:rPr lang="zh-CN" altLang="en-US" dirty="0">
                <a:sym typeface="Symbol" panose="05050102010706020507" pitchFamily="18" charset="2"/>
              </a:rPr>
              <a:t></a:t>
            </a:r>
            <a:r>
              <a:rPr lang="zh-CN" altLang="en-US" dirty="0"/>
              <a:t>摩根律</a:t>
            </a:r>
            <a:endParaRPr lang="en-US" dirty="0"/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7791518"/>
              </p:ext>
            </p:extLst>
          </p:nvPr>
        </p:nvGraphicFramePr>
        <p:xfrm>
          <a:off x="441721" y="3595935"/>
          <a:ext cx="8424491" cy="200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1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65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4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r>
                        <a:rPr lang="en-US" b="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1" dirty="0">
                          <a:latin typeface="Cambria Math"/>
                          <a:ea typeface="Cambria Math"/>
                        </a:rPr>
                        <a:t> not </a:t>
                      </a:r>
                      <a:r>
                        <a:rPr lang="en-US" b="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1" dirty="0">
                          <a:latin typeface="Cambria Math"/>
                          <a:ea typeface="Cambria Math"/>
                        </a:rPr>
                        <a:t>not </a:t>
                      </a:r>
                      <a:r>
                        <a:rPr lang="en-US" b="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</a:t>
                      </a:r>
                      <a:r>
                        <a:rPr lang="en-US" b="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altLang="zh-CN" b="0" i="1" dirty="0">
                          <a:latin typeface="Cambria Math" pitchFamily="18" charset="0"/>
                          <a:ea typeface="Cambria Math" pitchFamily="18" charset="0"/>
                        </a:rPr>
                        <a:t>or </a:t>
                      </a:r>
                      <a:r>
                        <a:rPr lang="en-US" b="0" i="1" dirty="0">
                          <a:latin typeface="Cambria Math"/>
                          <a:ea typeface="Cambria Math"/>
                        </a:rPr>
                        <a:t>q)</a:t>
                      </a:r>
                      <a:endParaRPr lang="en-US" b="0" i="1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Cambria Math"/>
                          <a:ea typeface="Cambria Math"/>
                        </a:rPr>
                        <a:t>not </a:t>
                      </a:r>
                      <a:r>
                        <a:rPr lang="en-US" dirty="0"/>
                        <a:t>(</a:t>
                      </a:r>
                      <a:r>
                        <a:rPr lang="en-US" b="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altLang="zh-CN" b="0" i="1" dirty="0">
                          <a:latin typeface="Cambria Math" pitchFamily="18" charset="0"/>
                          <a:ea typeface="Cambria Math" pitchFamily="18" charset="0"/>
                        </a:rPr>
                        <a:t>or </a:t>
                      </a:r>
                      <a:r>
                        <a:rPr lang="en-US" b="0" i="1" dirty="0">
                          <a:latin typeface="Cambria Math"/>
                          <a:ea typeface="Cambria Math"/>
                        </a:rPr>
                        <a:t>q)</a:t>
                      </a:r>
                      <a:endParaRPr lang="en-US" b="0" i="1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i="1" dirty="0">
                          <a:latin typeface="Cambria Math"/>
                          <a:ea typeface="Cambria Math"/>
                        </a:rPr>
                        <a:t>not </a:t>
                      </a:r>
                      <a:r>
                        <a:rPr lang="en-US" b="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altLang="zh-CN" b="0" i="1" dirty="0">
                          <a:latin typeface="Cambria Math" pitchFamily="18" charset="0"/>
                          <a:ea typeface="Cambria Math" pitchFamily="18" charset="0"/>
                        </a:rPr>
                        <a:t>and not q</a:t>
                      </a:r>
                      <a:endParaRPr lang="en-US" b="0" i="1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 descr="010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92198" y="1141230"/>
            <a:ext cx="874014" cy="1021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9915" y="2126213"/>
            <a:ext cx="1667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奥古斯塔</a:t>
            </a:r>
            <a:r>
              <a:rPr lang="zh-CN" altLang="en-US" sz="1400" dirty="0">
                <a:sym typeface="Symbol" panose="05050102010706020507" pitchFamily="18" charset="2"/>
              </a:rPr>
              <a:t></a:t>
            </a:r>
            <a:r>
              <a:rPr lang="zh-CN" altLang="en-US" sz="1400" dirty="0"/>
              <a:t>德</a:t>
            </a:r>
            <a:r>
              <a:rPr lang="zh-CN" altLang="en-US" sz="1400" dirty="0">
                <a:sym typeface="Symbol" panose="05050102010706020507" pitchFamily="18" charset="2"/>
              </a:rPr>
              <a:t></a:t>
            </a:r>
            <a:r>
              <a:rPr lang="zh-CN" altLang="en-US" sz="1400" dirty="0"/>
              <a:t>摩根</a:t>
            </a:r>
            <a:endParaRPr lang="en-US" altLang="zh-CN" sz="1400" dirty="0"/>
          </a:p>
          <a:p>
            <a:r>
              <a:rPr lang="en-US" altLang="zh-CN" sz="1400" dirty="0"/>
              <a:t>(1806-1871)</a:t>
            </a:r>
            <a:endParaRPr lang="en-US" sz="140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7187576-51A7-7B0E-90A8-81DE88519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68760"/>
            <a:ext cx="7772400" cy="4611687"/>
          </a:xfrm>
        </p:spPr>
        <p:txBody>
          <a:bodyPr/>
          <a:lstStyle/>
          <a:p>
            <a:r>
              <a:rPr lang="zh-CN" altLang="en-US" sz="2400" dirty="0"/>
              <a:t>逻辑运算中与关系的否定运算律是</a:t>
            </a:r>
            <a:endParaRPr lang="en-US" altLang="zh-CN" sz="2400" dirty="0"/>
          </a:p>
          <a:p>
            <a:pPr lvl="1"/>
            <a:r>
              <a:rPr lang="en-US" altLang="zh-CN" sz="2400" dirty="0"/>
              <a:t>Not(p and q)</a:t>
            </a:r>
            <a:r>
              <a:rPr lang="zh-CN" altLang="en-US" sz="2400" dirty="0"/>
              <a:t>等价于</a:t>
            </a:r>
            <a:r>
              <a:rPr lang="en-US" altLang="zh-CN" sz="2400" dirty="0"/>
              <a:t>not p or not q</a:t>
            </a:r>
          </a:p>
          <a:p>
            <a:r>
              <a:rPr lang="zh-CN" altLang="en-US" sz="2400" dirty="0"/>
              <a:t>逻辑运算中或关系的否定运算律是</a:t>
            </a:r>
            <a:endParaRPr lang="en-US" altLang="zh-CN" sz="2400" dirty="0"/>
          </a:p>
          <a:p>
            <a:pPr lvl="1"/>
            <a:r>
              <a:rPr lang="en-US" altLang="zh-CN" sz="2400" dirty="0"/>
              <a:t>Not(p or q)</a:t>
            </a:r>
            <a:r>
              <a:rPr lang="zh-CN" altLang="en-US" sz="2400" dirty="0"/>
              <a:t>等价于</a:t>
            </a:r>
            <a:r>
              <a:rPr lang="en-US" altLang="zh-CN" sz="2400" dirty="0"/>
              <a:t>not p and not q</a:t>
            </a:r>
          </a:p>
          <a:p>
            <a:pPr lvl="1"/>
            <a:r>
              <a:rPr lang="zh-CN" altLang="en-US" sz="2400" dirty="0"/>
              <a:t>用真值表证明德摩根第二定律：</a:t>
            </a:r>
            <a:endParaRPr lang="en-US" altLang="zh-CN" sz="24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E2B2A-87B9-7992-CCF8-1111CC7D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德摩根律的练习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DCBAAC-C024-5D3D-064E-CF5E1113A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写出下列表达式的否定形式：</a:t>
            </a:r>
            <a:endParaRPr lang="en-US" altLang="zh-CN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1==3/2</a:t>
            </a:r>
            <a:r>
              <a:rPr lang="zh-CN" altLang="en-US" dirty="0"/>
              <a:t> </a:t>
            </a:r>
            <a:r>
              <a:rPr lang="en-US" altLang="zh-CN" dirty="0"/>
              <a:t>&amp;&amp; 3&gt;2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5/2&gt;2 || 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!(2&lt;3) || (3 &amp;&amp; 5)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/>
              <a:t>!a &amp;&amp; b || c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618598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2D02D-3609-AFA7-455A-DE7822055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逻辑运算练习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70D0A0-4D9D-0B60-FF6A-FBCFE44CC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已知边长</a:t>
            </a:r>
            <a:r>
              <a:rPr lang="en-US" altLang="zh-CN" dirty="0" err="1"/>
              <a:t>a,b,c</a:t>
            </a:r>
            <a:r>
              <a:rPr lang="en-US" altLang="zh-CN" dirty="0"/>
              <a:t>,</a:t>
            </a:r>
          </a:p>
          <a:p>
            <a:pPr lvl="1"/>
            <a:r>
              <a:rPr lang="zh-CN" altLang="en-US" dirty="0"/>
              <a:t>判断是否构成三角形。</a:t>
            </a:r>
            <a:endParaRPr lang="en-US" altLang="zh-CN" dirty="0"/>
          </a:p>
          <a:p>
            <a:pPr lvl="1"/>
            <a:r>
              <a:rPr lang="zh-CN" altLang="en-US" dirty="0"/>
              <a:t>判断是否直角三角形。</a:t>
            </a:r>
            <a:endParaRPr lang="en-US" altLang="zh-CN" dirty="0"/>
          </a:p>
          <a:p>
            <a:pPr lvl="1"/>
            <a:r>
              <a:rPr lang="zh-CN" altLang="en-US" dirty="0"/>
              <a:t>判断是否等边三角形。</a:t>
            </a:r>
            <a:endParaRPr lang="en-US" altLang="zh-CN" dirty="0"/>
          </a:p>
          <a:p>
            <a:pPr lvl="1"/>
            <a:r>
              <a:rPr lang="zh-CN" altLang="en-US" dirty="0"/>
              <a:t>判断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是相邻整数。反向判断呢？</a:t>
            </a:r>
            <a:endParaRPr lang="en-US" altLang="zh-CN" dirty="0"/>
          </a:p>
          <a:p>
            <a:pPr lvl="1"/>
            <a:r>
              <a:rPr lang="zh-CN" altLang="en-US" dirty="0"/>
              <a:t>判断</a:t>
            </a:r>
            <a:r>
              <a:rPr lang="en-US" altLang="zh-CN" dirty="0" err="1"/>
              <a:t>a,b,c</a:t>
            </a:r>
            <a:r>
              <a:rPr lang="zh-CN" altLang="en-US" dirty="0"/>
              <a:t>是等差数列。反向判断呢？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650823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0746" y="1268760"/>
            <a:ext cx="8362508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/>
              <a:t>问题描述：求</a:t>
            </a:r>
            <a:r>
              <a:rPr lang="en-US" altLang="zh-CN" sz="2800" dirty="0"/>
              <a:t>ax</a:t>
            </a:r>
            <a:r>
              <a:rPr lang="en-US" altLang="zh-CN" sz="2800" baseline="30000" dirty="0"/>
              <a:t>2</a:t>
            </a:r>
            <a:r>
              <a:rPr lang="zh-CN" altLang="en-US" sz="2800" dirty="0"/>
              <a:t>＋</a:t>
            </a:r>
            <a:r>
              <a:rPr lang="en-US" altLang="zh-CN" sz="2800" dirty="0"/>
              <a:t>bx</a:t>
            </a:r>
            <a:r>
              <a:rPr lang="zh-CN" altLang="en-US" sz="2800" dirty="0"/>
              <a:t>＋</a:t>
            </a:r>
            <a:r>
              <a:rPr lang="en-US" altLang="zh-CN" sz="2800" dirty="0"/>
              <a:t>c</a:t>
            </a:r>
            <a:r>
              <a:rPr lang="zh-CN" altLang="en-US" sz="2800" dirty="0"/>
              <a:t>＝</a:t>
            </a:r>
            <a:r>
              <a:rPr lang="en-US" altLang="zh-CN" sz="2800" dirty="0"/>
              <a:t>0</a:t>
            </a:r>
            <a:r>
              <a:rPr lang="zh-CN" altLang="en-US" sz="2800" dirty="0"/>
              <a:t>的根。若</a:t>
            </a:r>
            <a:r>
              <a:rPr lang="en-US" altLang="zh-CN" sz="2800" dirty="0"/>
              <a:t>a</a:t>
            </a:r>
            <a:r>
              <a:rPr lang="zh-CN" altLang="en-US" sz="2800" dirty="0"/>
              <a:t>为零，则不是二次方程不予计算；若</a:t>
            </a:r>
            <a:r>
              <a:rPr lang="en-US" altLang="zh-CN" sz="2800" dirty="0"/>
              <a:t>a</a:t>
            </a:r>
            <a:r>
              <a:rPr lang="zh-CN" altLang="en-US" sz="2800" dirty="0"/>
              <a:t>不为零，分别考虑</a:t>
            </a:r>
            <a:r>
              <a:rPr lang="en-US" altLang="zh-CN" sz="2800" dirty="0"/>
              <a:t>d</a:t>
            </a:r>
            <a:r>
              <a:rPr lang="zh-CN" altLang="en-US" sz="2800" dirty="0"/>
              <a:t>＝</a:t>
            </a:r>
            <a:r>
              <a:rPr lang="en-US" altLang="zh-CN" sz="2800" dirty="0"/>
              <a:t>b</a:t>
            </a:r>
            <a:r>
              <a:rPr lang="en-US" altLang="zh-CN" sz="2800" baseline="30000" dirty="0"/>
              <a:t>2</a:t>
            </a:r>
            <a:r>
              <a:rPr lang="zh-CN" altLang="en-US" sz="2800" dirty="0"/>
              <a:t>－</a:t>
            </a:r>
            <a:r>
              <a:rPr lang="en-US" altLang="zh-CN" sz="2800" dirty="0" err="1"/>
              <a:t>4ac</a:t>
            </a:r>
            <a:r>
              <a:rPr lang="zh-CN" altLang="en-US" sz="2800" dirty="0"/>
              <a:t>大于零，</a:t>
            </a:r>
            <a:r>
              <a:rPr lang="zh-CN" altLang="en-US" sz="2800" u="sng" dirty="0"/>
              <a:t>等于零</a:t>
            </a:r>
            <a:r>
              <a:rPr lang="zh-CN" altLang="en-US" sz="2800" dirty="0"/>
              <a:t>和小于零三种情况。</a:t>
            </a:r>
          </a:p>
          <a:p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  <a:r>
              <a:rPr lang="zh-CN" altLang="en-US" sz="2800" dirty="0"/>
              <a:t>要求是浮点单精度类型。</a:t>
            </a:r>
            <a:endParaRPr lang="en-US" altLang="zh-CN" sz="2800" dirty="0"/>
          </a:p>
          <a:p>
            <a:r>
              <a:rPr lang="en-US" altLang="zh-CN" sz="2800" b="0" dirty="0"/>
              <a:t>Sample 1:</a:t>
            </a:r>
          </a:p>
          <a:p>
            <a:r>
              <a:rPr lang="en-US" altLang="zh-CN" sz="2800" b="0" dirty="0"/>
              <a:t>Please input three float numbers: 2.1 -9 8↙</a:t>
            </a:r>
          </a:p>
          <a:p>
            <a:r>
              <a:rPr lang="en-US" altLang="zh-CN" sz="2800" b="0" dirty="0"/>
              <a:t>The equation has two distinct real roots: 3.0273 and 1.2584.</a:t>
            </a:r>
          </a:p>
          <a:p>
            <a:r>
              <a:rPr lang="en-US" altLang="zh-CN" sz="2800" b="0" dirty="0"/>
              <a:t>Sample 2:</a:t>
            </a:r>
          </a:p>
          <a:p>
            <a:r>
              <a:rPr lang="en-US" altLang="zh-CN" sz="2800" b="0" dirty="0"/>
              <a:t>Please input three float numbers: 3.5 3.6 8.0↙</a:t>
            </a:r>
          </a:p>
          <a:p>
            <a:r>
              <a:rPr lang="en-US" altLang="zh-CN" sz="2800" b="0" dirty="0"/>
              <a:t>The equation has two complex roots: -</a:t>
            </a:r>
            <a:r>
              <a:rPr lang="en-US" altLang="zh-CN" sz="2800" b="0" dirty="0" err="1"/>
              <a:t>0.5143+1.4217i</a:t>
            </a:r>
            <a:r>
              <a:rPr lang="en-US" altLang="zh-CN" sz="2800" b="0" dirty="0"/>
              <a:t> and -0.5143-</a:t>
            </a:r>
            <a:r>
              <a:rPr lang="en-US" altLang="zh-CN" sz="2800" b="0" dirty="0" err="1"/>
              <a:t>1.4217i</a:t>
            </a:r>
            <a:r>
              <a:rPr lang="en-US" altLang="zh-CN" sz="2800" b="0" dirty="0"/>
              <a:t>.</a:t>
            </a:r>
          </a:p>
        </p:txBody>
      </p:sp>
      <p:sp>
        <p:nvSpPr>
          <p:cNvPr id="73733" name="Rectangle 4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lIns="92064" tIns="46032" rIns="92064" bIns="46032" anchor="b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问题：解方程</a:t>
            </a:r>
          </a:p>
        </p:txBody>
      </p:sp>
    </p:spTree>
    <p:extLst>
      <p:ext uri="{BB962C8B-B14F-4D97-AF65-F5344CB8AC3E}">
        <p14:creationId xmlns:p14="http://schemas.microsoft.com/office/powerpoint/2010/main" val="289607555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7544" y="1108423"/>
            <a:ext cx="8083550" cy="5324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解方程的算法设计：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定义浮点数变量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a,b,c,d,x1,x2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从键盘接受输入的实数，存入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a,b,c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000" dirty="0"/>
              <a:t> if a</a:t>
            </a:r>
            <a:r>
              <a:rPr lang="zh-CN" altLang="en-US" sz="2000" dirty="0"/>
              <a:t>等于零</a:t>
            </a:r>
            <a:r>
              <a:rPr lang="en-US" altLang="zh-CN" sz="2000" dirty="0"/>
              <a:t>, </a:t>
            </a:r>
            <a:r>
              <a:rPr lang="zh-CN" altLang="en-US" sz="2000" dirty="0"/>
              <a:t>用 </a:t>
            </a:r>
            <a:r>
              <a:rPr lang="en-US" altLang="zh-CN" sz="2000" dirty="0"/>
              <a:t>a</a:t>
            </a:r>
            <a:r>
              <a:rPr lang="zh-CN" altLang="en-US" sz="2000" dirty="0"/>
              <a:t>的绝对值小于</a:t>
            </a:r>
            <a:r>
              <a:rPr lang="en-US" altLang="zh-CN" sz="2000" dirty="0" err="1"/>
              <a:t>1e</a:t>
            </a:r>
            <a:r>
              <a:rPr lang="en-US" altLang="zh-CN" sz="2000" dirty="0"/>
              <a:t>-6</a:t>
            </a:r>
            <a:r>
              <a:rPr lang="zh-CN" altLang="en-US" sz="2000" dirty="0"/>
              <a:t>来判断</a:t>
            </a:r>
            <a:endParaRPr lang="en-US" altLang="zh-CN" sz="2000" dirty="0"/>
          </a:p>
          <a:p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		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显示器打印非二次方程的提示信息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000" dirty="0"/>
              <a:t> else 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计算</a:t>
            </a:r>
            <a:r>
              <a:rPr lang="en-US" altLang="zh-CN" sz="2000" dirty="0"/>
              <a:t>d</a:t>
            </a:r>
            <a:r>
              <a:rPr lang="zh-CN" altLang="en-US" sz="2000" dirty="0"/>
              <a:t>＝</a:t>
            </a:r>
            <a:r>
              <a:rPr lang="en-US" altLang="zh-CN" sz="2000" dirty="0"/>
              <a:t>b</a:t>
            </a:r>
            <a:r>
              <a:rPr lang="en-US" altLang="zh-CN" sz="2000" baseline="30000" dirty="0"/>
              <a:t>2</a:t>
            </a:r>
            <a:r>
              <a:rPr lang="zh-CN" altLang="en-US" sz="2000" dirty="0"/>
              <a:t>－</a:t>
            </a:r>
            <a:r>
              <a:rPr lang="en-US" altLang="zh-CN" sz="2000" dirty="0" err="1"/>
              <a:t>4ac</a:t>
            </a:r>
            <a:r>
              <a:rPr lang="en-US" altLang="zh-CN" sz="2000" dirty="0"/>
              <a:t>, </a:t>
            </a:r>
          </a:p>
          <a:p>
            <a:r>
              <a:rPr lang="en-US" altLang="zh-CN" sz="2000" dirty="0"/>
              <a:t>	    if d</a:t>
            </a:r>
            <a:r>
              <a:rPr lang="zh-CN" altLang="en-US" sz="2000" dirty="0"/>
              <a:t>等于零</a:t>
            </a:r>
            <a:r>
              <a:rPr lang="en-US" altLang="zh-CN" sz="2000" dirty="0"/>
              <a:t>, </a:t>
            </a:r>
            <a:r>
              <a:rPr lang="zh-CN" altLang="en-US" sz="2000" dirty="0"/>
              <a:t>用 </a:t>
            </a:r>
            <a:r>
              <a:rPr lang="en-US" altLang="zh-CN" sz="2000" dirty="0"/>
              <a:t>d</a:t>
            </a:r>
            <a:r>
              <a:rPr lang="zh-CN" altLang="en-US" sz="2000" dirty="0"/>
              <a:t>的绝对值小于</a:t>
            </a:r>
            <a:r>
              <a:rPr lang="en-US" altLang="zh-CN" sz="2000" dirty="0" err="1"/>
              <a:t>1e</a:t>
            </a:r>
            <a:r>
              <a:rPr lang="en-US" altLang="zh-CN" sz="2000" dirty="0"/>
              <a:t>-6</a:t>
            </a:r>
            <a:r>
              <a:rPr lang="zh-CN" altLang="en-US" sz="2000" dirty="0"/>
              <a:t>来判断</a:t>
            </a:r>
            <a:endParaRPr lang="en-US" altLang="zh-CN" sz="2000" dirty="0"/>
          </a:p>
          <a:p>
            <a:r>
              <a:rPr lang="en-US" altLang="zh-CN" sz="2000" dirty="0"/>
              <a:t>		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显示器打印重根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x1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=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x2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=-b/(2*a);</a:t>
            </a:r>
            <a:endParaRPr lang="en-US" altLang="zh-CN" sz="2000" dirty="0"/>
          </a:p>
          <a:p>
            <a:r>
              <a:rPr lang="en-US" altLang="zh-CN" sz="2000" dirty="0"/>
              <a:t>	    else if d</a:t>
            </a:r>
            <a:r>
              <a:rPr lang="zh-CN" altLang="en-US" sz="2000" dirty="0"/>
              <a:t>大于零</a:t>
            </a:r>
            <a:r>
              <a:rPr lang="en-US" altLang="zh-CN" sz="2000" dirty="0"/>
              <a:t>,</a:t>
            </a:r>
            <a:r>
              <a:rPr lang="zh-CN" altLang="en-US" sz="2000" dirty="0"/>
              <a:t>用 </a:t>
            </a:r>
            <a:r>
              <a:rPr lang="en-US" altLang="zh-CN" sz="2000" dirty="0"/>
              <a:t>d&gt;</a:t>
            </a:r>
            <a:r>
              <a:rPr lang="en-US" altLang="zh-CN" sz="2000" dirty="0" err="1"/>
              <a:t>1e</a:t>
            </a:r>
            <a:r>
              <a:rPr lang="en-US" altLang="zh-CN" sz="2000" dirty="0"/>
              <a:t>-6</a:t>
            </a:r>
            <a:r>
              <a:rPr lang="zh-CN" altLang="en-US" sz="2000" dirty="0"/>
              <a:t>来判断</a:t>
            </a:r>
            <a:endParaRPr lang="en-US" altLang="zh-CN" sz="2000" dirty="0"/>
          </a:p>
          <a:p>
            <a:r>
              <a:rPr lang="en-US" altLang="zh-CN" sz="2000" dirty="0"/>
              <a:t>		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x1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=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(-</a:t>
            </a:r>
            <a:r>
              <a:rPr lang="en-US" altLang="zh-CN" sz="2000" b="1" kern="100" dirty="0" err="1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b+sqrt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(d))/(2*a)</a:t>
            </a:r>
            <a:r>
              <a:rPr lang="en-US" altLang="zh-CN" sz="20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000" b="0" kern="100" dirty="0">
              <a:effectLst/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dirty="0"/>
              <a:t>		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x2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=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(-b-sqrt(d))/(2*a);</a:t>
            </a:r>
            <a:endParaRPr lang="en-US" altLang="zh-CN" sz="2000" dirty="0"/>
          </a:p>
          <a:p>
            <a:r>
              <a:rPr lang="en-US" altLang="zh-CN" sz="2000" dirty="0"/>
              <a:t>		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显示器打印根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x1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x2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  <a:endParaRPr lang="en-US" altLang="zh-CN" sz="2000" dirty="0"/>
          </a:p>
          <a:p>
            <a:r>
              <a:rPr lang="en-US" altLang="zh-CN" sz="2000" dirty="0"/>
              <a:t>	    else </a:t>
            </a:r>
            <a:r>
              <a:rPr lang="zh-CN" altLang="en-US" sz="2000" dirty="0"/>
              <a:t>一定是</a:t>
            </a:r>
            <a:r>
              <a:rPr lang="en-US" altLang="zh-CN" sz="2000" dirty="0"/>
              <a:t>d</a:t>
            </a:r>
            <a:r>
              <a:rPr lang="zh-CN" altLang="en-US" sz="2000" dirty="0"/>
              <a:t>小于零</a:t>
            </a:r>
            <a:endParaRPr lang="en-US" altLang="zh-CN" sz="2000" dirty="0"/>
          </a:p>
          <a:p>
            <a:r>
              <a:rPr lang="en-US" altLang="zh-CN" sz="2000" dirty="0"/>
              <a:t>		</a:t>
            </a:r>
            <a:r>
              <a:rPr lang="en-US" altLang="zh-CN" sz="2000" dirty="0" err="1"/>
              <a:t>x1</a:t>
            </a:r>
            <a:r>
              <a:rPr lang="en-US" altLang="zh-CN" sz="2000" dirty="0"/>
              <a:t>=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-b/(2*a);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x2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=sqrt(-d)/(2*a);</a:t>
            </a:r>
            <a:endParaRPr lang="en-US" altLang="zh-CN" sz="2000" dirty="0"/>
          </a:p>
          <a:p>
            <a:pPr lvl="1"/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		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显示器打印</a:t>
            </a:r>
            <a:r>
              <a:rPr lang="pt-BR" altLang="zh-CN" sz="2000" dirty="0">
                <a:latin typeface="宋体" panose="02010600030101010101" pitchFamily="2" charset="-122"/>
                <a:cs typeface="微软雅黑" panose="020B0503020204020204" charset="-122"/>
              </a:rPr>
              <a:t>"%8.4f</a:t>
            </a:r>
            <a:r>
              <a:rPr lang="pt-BR" altLang="zh-CN" sz="2000" u="sng" dirty="0">
                <a:latin typeface="宋体" panose="02010600030101010101" pitchFamily="2" charset="-122"/>
                <a:cs typeface="微软雅黑" panose="020B0503020204020204" charset="-122"/>
              </a:rPr>
              <a:t>+</a:t>
            </a:r>
            <a:r>
              <a:rPr lang="pt-BR" altLang="zh-CN" sz="2000" dirty="0">
                <a:latin typeface="宋体" panose="02010600030101010101" pitchFamily="2" charset="-122"/>
                <a:cs typeface="微软雅黑" panose="020B0503020204020204" charset="-122"/>
              </a:rPr>
              <a:t>%8.4fi",x1,x2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解方程的算法设计</a:t>
            </a:r>
          </a:p>
        </p:txBody>
      </p:sp>
    </p:spTree>
    <p:extLst>
      <p:ext uri="{BB962C8B-B14F-4D97-AF65-F5344CB8AC3E}">
        <p14:creationId xmlns:p14="http://schemas.microsoft.com/office/powerpoint/2010/main" val="10016516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en-US" altLang="zh-CN" sz="1400" dirty="0">
                <a:latin typeface="Times New Roman" panose="02020603050405020304" pitchFamily="2" charset="0"/>
              </a:rPr>
              <a:t>17</a:t>
            </a:fld>
            <a:endParaRPr lang="en-US" altLang="zh-CN" sz="1400" dirty="0">
              <a:latin typeface="Times New Roman" panose="02020603050405020304" pitchFamily="2" charset="0"/>
            </a:endParaRPr>
          </a:p>
        </p:txBody>
      </p:sp>
      <p:sp>
        <p:nvSpPr>
          <p:cNvPr id="73730" name="灯片编号占位符 5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64" tIns="46032" rIns="92064" bIns="46032" anchor="ctr"/>
          <a:lstStyle/>
          <a:p>
            <a:pPr algn="r"/>
            <a:fld id="{9A0DB2DC-4C9A-4742-B13C-FB6460FD3503}" type="slidenum">
              <a:rPr lang="en-US" altLang="zh-CN" sz="1300" dirty="0">
                <a:latin typeface="Times New Roman" panose="02020603050405020304" pitchFamily="2" charset="0"/>
              </a:rPr>
              <a:t>17</a:t>
            </a:fld>
            <a:endParaRPr lang="en-US" altLang="zh-CN" sz="1300" dirty="0">
              <a:latin typeface="Times New Roman" panose="02020603050405020304" pitchFamily="2" charset="0"/>
            </a:endParaRPr>
          </a:p>
        </p:txBody>
      </p:sp>
      <p:sp>
        <p:nvSpPr>
          <p:cNvPr id="73731" name="Rectangle 5"/>
          <p:cNvSpPr/>
          <p:nvPr/>
        </p:nvSpPr>
        <p:spPr>
          <a:xfrm>
            <a:off x="6551613" y="5562600"/>
            <a:ext cx="1144587" cy="1295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1429" tIns="45714" rIns="91429" bIns="45714" anchor="ctr"/>
          <a:lstStyle/>
          <a:p>
            <a:endParaRPr lang="zh-CN" altLang="en-US" sz="2400" dirty="0">
              <a:latin typeface="Times New Roman" panose="02020603050405020304" pitchFamily="2" charset="0"/>
              <a:ea typeface="隶书" pitchFamily="1" charset="-122"/>
            </a:endParaRPr>
          </a:p>
        </p:txBody>
      </p:sp>
      <p:sp>
        <p:nvSpPr>
          <p:cNvPr id="73733" name="Rectangle 4"/>
          <p:cNvSpPr>
            <a:spLocks noGrp="1"/>
          </p:cNvSpPr>
          <p:nvPr>
            <p:ph type="title"/>
          </p:nvPr>
        </p:nvSpPr>
        <p:spPr/>
        <p:txBody>
          <a:bodyPr wrap="square" lIns="92064" tIns="46032" rIns="92064" bIns="46032" anchor="b"/>
          <a:lstStyle/>
          <a:p>
            <a:pPr>
              <a:lnSpc>
                <a:spcPct val="7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编写解方程的代码</a:t>
            </a:r>
          </a:p>
        </p:txBody>
      </p:sp>
      <p:sp>
        <p:nvSpPr>
          <p:cNvPr id="73732" name="Rectangle 3"/>
          <p:cNvSpPr>
            <a:spLocks noGrp="1"/>
          </p:cNvSpPr>
          <p:nvPr>
            <p:ph idx="1"/>
          </p:nvPr>
        </p:nvSpPr>
        <p:spPr>
          <a:xfrm>
            <a:off x="539552" y="1218531"/>
            <a:ext cx="7772400" cy="4611687"/>
          </a:xfrm>
        </p:spPr>
        <p:txBody>
          <a:bodyPr wrap="square" lIns="92064" tIns="46032" rIns="92064" bIns="46032" anchor="t"/>
          <a:lstStyle/>
          <a:p>
            <a:pPr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3366FF"/>
                </a:solidFill>
              </a:rPr>
              <a:t>#include &lt;</a:t>
            </a:r>
            <a:r>
              <a:rPr lang="en-US" altLang="zh-CN" sz="2000" dirty="0" err="1">
                <a:solidFill>
                  <a:srgbClr val="3366FF"/>
                </a:solidFill>
              </a:rPr>
              <a:t>math.h</a:t>
            </a:r>
            <a:r>
              <a:rPr lang="en-US" altLang="zh-CN" sz="2000" dirty="0">
                <a:solidFill>
                  <a:srgbClr val="3366FF"/>
                </a:solidFill>
              </a:rPr>
              <a:t>&gt;</a:t>
            </a:r>
          </a:p>
          <a:p>
            <a:pPr>
              <a:buNone/>
            </a:pPr>
            <a:r>
              <a:rPr lang="en-US" altLang="zh-CN" sz="2000" dirty="0">
                <a:solidFill>
                  <a:srgbClr val="3366FF"/>
                </a:solidFill>
              </a:rPr>
              <a:t>#define DIFF </a:t>
            </a:r>
            <a:r>
              <a:rPr lang="en-US" altLang="zh-CN" sz="2000" dirty="0" err="1">
                <a:solidFill>
                  <a:srgbClr val="3366FF"/>
                </a:solidFill>
              </a:rPr>
              <a:t>1e</a:t>
            </a:r>
            <a:r>
              <a:rPr lang="en-US" altLang="zh-CN" sz="2000" dirty="0">
                <a:solidFill>
                  <a:srgbClr val="3366FF"/>
                </a:solidFill>
              </a:rPr>
              <a:t>-6</a:t>
            </a:r>
          </a:p>
          <a:p>
            <a:pPr>
              <a:buNone/>
            </a:pPr>
            <a:r>
              <a:rPr lang="en-US" altLang="zh-CN" sz="2000" dirty="0"/>
              <a:t>int main(void){ </a:t>
            </a:r>
          </a:p>
          <a:p>
            <a:pPr>
              <a:buNone/>
            </a:pPr>
            <a:r>
              <a:rPr lang="en-US" altLang="zh-CN" sz="2000" dirty="0"/>
              <a:t>	float </a:t>
            </a:r>
            <a:r>
              <a:rPr lang="en-US" altLang="zh-CN" sz="2000" dirty="0" err="1"/>
              <a:t>a,b,c</a:t>
            </a:r>
            <a:r>
              <a:rPr lang="en-US" altLang="zh-CN" sz="2000" dirty="0"/>
              <a:t>; /*</a:t>
            </a:r>
            <a:r>
              <a:rPr lang="en-US" altLang="zh-CN" sz="2000" dirty="0" err="1"/>
              <a:t>ax2+bx+c</a:t>
            </a:r>
            <a:r>
              <a:rPr lang="en-US" altLang="zh-CN" sz="2000" dirty="0"/>
              <a:t>=0  </a:t>
            </a:r>
            <a:r>
              <a:rPr lang="zh-CN" altLang="en-US" sz="2000" dirty="0"/>
              <a:t>中的</a:t>
            </a:r>
            <a:r>
              <a:rPr lang="en-US" altLang="zh-CN" sz="2000" dirty="0" err="1"/>
              <a:t>a,b,c</a:t>
            </a:r>
            <a:r>
              <a:rPr lang="en-US" altLang="zh-CN" sz="2000" dirty="0"/>
              <a:t>*/</a:t>
            </a:r>
          </a:p>
          <a:p>
            <a:pPr>
              <a:buNone/>
            </a:pPr>
            <a:r>
              <a:rPr lang="en-US" altLang="zh-CN" sz="2000" dirty="0"/>
              <a:t>  	float d; /*d=b*b-4*a*c;*/ </a:t>
            </a:r>
          </a:p>
          <a:p>
            <a:pPr>
              <a:buNone/>
            </a:pPr>
            <a:r>
              <a:rPr lang="en-US" altLang="zh-CN" sz="2000" dirty="0"/>
              <a:t>   float </a:t>
            </a:r>
            <a:r>
              <a:rPr lang="en-US" altLang="zh-CN" sz="2000" dirty="0" err="1"/>
              <a:t>x1,x2</a:t>
            </a:r>
            <a:r>
              <a:rPr lang="en-US" altLang="zh-CN" sz="2000" dirty="0"/>
              <a:t>;/*</a:t>
            </a:r>
            <a:r>
              <a:rPr lang="zh-CN" altLang="en-US" sz="2000" dirty="0"/>
              <a:t>实根</a:t>
            </a:r>
            <a:r>
              <a:rPr lang="en-US" altLang="zh-CN" sz="2000" dirty="0"/>
              <a:t>,</a:t>
            </a:r>
            <a:r>
              <a:rPr lang="zh-CN" altLang="en-US" sz="2000" dirty="0"/>
              <a:t>或虚根的实数和复数部分*</a:t>
            </a:r>
            <a:r>
              <a:rPr lang="en-US" altLang="zh-CN" sz="2000" dirty="0"/>
              <a:t>/ </a:t>
            </a:r>
          </a:p>
          <a:p>
            <a:pPr>
              <a:buNone/>
            </a:pPr>
            <a:r>
              <a:rPr lang="en-US" altLang="zh-CN" sz="2000" dirty="0"/>
              <a:t>   /*input a</a:t>
            </a:r>
            <a:r>
              <a:rPr lang="zh-CN" altLang="en-US" sz="2000" dirty="0"/>
              <a:t>、</a:t>
            </a:r>
            <a:r>
              <a:rPr lang="en-US" altLang="zh-CN" sz="2000" dirty="0"/>
              <a:t>b</a:t>
            </a:r>
            <a:r>
              <a:rPr lang="zh-CN" altLang="en-US" sz="2000" dirty="0"/>
              <a:t>、</a:t>
            </a:r>
            <a:r>
              <a:rPr lang="en-US" altLang="zh-CN" sz="2000" dirty="0"/>
              <a:t>c*/</a:t>
            </a:r>
          </a:p>
          <a:p>
            <a:pPr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("Please input three float numbers: "); </a:t>
            </a:r>
          </a:p>
          <a:p>
            <a:pPr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("%</a:t>
            </a:r>
            <a:r>
              <a:rPr lang="en-US" altLang="zh-CN" sz="2000" dirty="0" err="1"/>
              <a:t>f%f%f</a:t>
            </a:r>
            <a:r>
              <a:rPr lang="en-US" altLang="zh-CN" sz="2000" dirty="0"/>
              <a:t>",&amp;</a:t>
            </a:r>
            <a:r>
              <a:rPr lang="en-US" altLang="zh-CN" sz="2000" dirty="0" err="1"/>
              <a:t>a,&amp;b,&amp;c</a:t>
            </a:r>
            <a:r>
              <a:rPr lang="en-US" altLang="zh-CN" sz="2000" dirty="0"/>
              <a:t>);</a:t>
            </a:r>
          </a:p>
          <a:p>
            <a:pPr>
              <a:buNone/>
            </a:pPr>
            <a:r>
              <a:rPr lang="en-US" altLang="zh-CN" sz="2000" dirty="0"/>
              <a:t>	/*process*/</a:t>
            </a:r>
          </a:p>
          <a:p>
            <a:pPr>
              <a:buNone/>
            </a:pPr>
            <a:r>
              <a:rPr lang="en-US" altLang="zh-CN" sz="2000" dirty="0"/>
              <a:t>  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("The equation ");</a:t>
            </a:r>
          </a:p>
          <a:p>
            <a:pPr>
              <a:buNone/>
            </a:pPr>
            <a:r>
              <a:rPr lang="en-US" altLang="zh-CN" sz="2000" dirty="0"/>
              <a:t>  	if (</a:t>
            </a:r>
            <a:r>
              <a:rPr lang="en-US" altLang="zh-CN" sz="2000" dirty="0">
                <a:solidFill>
                  <a:srgbClr val="3366FF"/>
                </a:solidFill>
              </a:rPr>
              <a:t>fabs(a)</a:t>
            </a:r>
            <a:r>
              <a:rPr lang="en-US" altLang="zh-CN" sz="2000" dirty="0"/>
              <a:t>&lt;DIFF)</a:t>
            </a:r>
          </a:p>
          <a:p>
            <a:pPr>
              <a:buNone/>
            </a:pPr>
            <a:r>
              <a:rPr lang="en-US" altLang="zh-CN" sz="2000" dirty="0"/>
              <a:t>      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("is not quadratic.\n");</a:t>
            </a:r>
          </a:p>
        </p:txBody>
      </p:sp>
    </p:spTree>
    <p:extLst>
      <p:ext uri="{BB962C8B-B14F-4D97-AF65-F5344CB8AC3E}">
        <p14:creationId xmlns:p14="http://schemas.microsoft.com/office/powerpoint/2010/main" val="404866640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en-US" altLang="zh-CN" sz="1400" dirty="0">
                <a:latin typeface="Times New Roman" panose="02020603050405020304" pitchFamily="2" charset="0"/>
              </a:rPr>
              <a:t>18</a:t>
            </a:fld>
            <a:endParaRPr lang="en-US" altLang="zh-CN" sz="1400" dirty="0">
              <a:latin typeface="Times New Roman" panose="02020603050405020304" pitchFamily="2" charset="0"/>
            </a:endParaRPr>
          </a:p>
        </p:txBody>
      </p:sp>
      <p:sp>
        <p:nvSpPr>
          <p:cNvPr id="73730" name="灯片编号占位符 5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64" tIns="46032" rIns="92064" bIns="46032" anchor="ctr"/>
          <a:lstStyle/>
          <a:p>
            <a:pPr algn="r"/>
            <a:fld id="{9A0DB2DC-4C9A-4742-B13C-FB6460FD3503}" type="slidenum">
              <a:rPr lang="en-US" altLang="zh-CN" sz="1300" dirty="0">
                <a:latin typeface="Times New Roman" panose="02020603050405020304" pitchFamily="2" charset="0"/>
              </a:rPr>
              <a:t>18</a:t>
            </a:fld>
            <a:endParaRPr lang="en-US" altLang="zh-CN" sz="1300" dirty="0">
              <a:latin typeface="Times New Roman" panose="02020603050405020304" pitchFamily="2" charset="0"/>
            </a:endParaRPr>
          </a:p>
        </p:txBody>
      </p:sp>
      <p:sp>
        <p:nvSpPr>
          <p:cNvPr id="73731" name="Rectangle 5"/>
          <p:cNvSpPr/>
          <p:nvPr/>
        </p:nvSpPr>
        <p:spPr>
          <a:xfrm>
            <a:off x="6551613" y="5562600"/>
            <a:ext cx="1144587" cy="1295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1429" tIns="45714" rIns="91429" bIns="45714" anchor="ctr"/>
          <a:lstStyle/>
          <a:p>
            <a:endParaRPr lang="zh-CN" altLang="en-US" sz="2400" dirty="0">
              <a:latin typeface="Times New Roman" panose="02020603050405020304" pitchFamily="2" charset="0"/>
              <a:ea typeface="隶书" pitchFamily="1" charset="-122"/>
            </a:endParaRPr>
          </a:p>
        </p:txBody>
      </p:sp>
      <p:sp>
        <p:nvSpPr>
          <p:cNvPr id="73733" name="Rectangle 4"/>
          <p:cNvSpPr>
            <a:spLocks noGrp="1"/>
          </p:cNvSpPr>
          <p:nvPr>
            <p:ph type="title"/>
          </p:nvPr>
        </p:nvSpPr>
        <p:spPr/>
        <p:txBody>
          <a:bodyPr wrap="square" lIns="92064" tIns="46032" rIns="92064" bIns="46032" anchor="b"/>
          <a:lstStyle/>
          <a:p>
            <a:pPr>
              <a:lnSpc>
                <a:spcPct val="7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编写解方程的代码</a:t>
            </a:r>
          </a:p>
        </p:txBody>
      </p:sp>
      <p:sp>
        <p:nvSpPr>
          <p:cNvPr id="73732" name="Rectangle 3"/>
          <p:cNvSpPr>
            <a:spLocks noGrp="1"/>
          </p:cNvSpPr>
          <p:nvPr>
            <p:ph idx="1"/>
          </p:nvPr>
        </p:nvSpPr>
        <p:spPr>
          <a:xfrm>
            <a:off x="539552" y="1218531"/>
            <a:ext cx="7772400" cy="4611687"/>
          </a:xfrm>
        </p:spPr>
        <p:txBody>
          <a:bodyPr wrap="square" lIns="92064" tIns="46032" rIns="92064" bIns="46032" anchor="t"/>
          <a:lstStyle/>
          <a:p>
            <a:pPr>
              <a:buNone/>
            </a:pPr>
            <a:r>
              <a:rPr lang="en-US" altLang="zh-CN" sz="2000" dirty="0"/>
              <a:t>	else{  </a:t>
            </a:r>
          </a:p>
          <a:p>
            <a:pPr>
              <a:buNone/>
            </a:pPr>
            <a:r>
              <a:rPr lang="en-US" altLang="zh-CN" sz="2000" dirty="0"/>
              <a:t>   	d=b*b-4*a*c;</a:t>
            </a:r>
          </a:p>
          <a:p>
            <a:pPr>
              <a:buNone/>
            </a:pPr>
            <a:r>
              <a:rPr lang="en-US" altLang="zh-CN" sz="2000" dirty="0"/>
              <a:t>     	if(fabs(d)&lt;DIFF)</a:t>
            </a:r>
          </a:p>
          <a:p>
            <a:pPr>
              <a:buNone/>
            </a:pPr>
            <a:r>
              <a:rPr lang="en-US" altLang="zh-CN" sz="2000" dirty="0"/>
              <a:t>      	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("has two equal roots: %.</a:t>
            </a:r>
            <a:r>
              <a:rPr lang="en-US" altLang="zh-CN" sz="2000" dirty="0" err="1"/>
              <a:t>4f</a:t>
            </a:r>
            <a:r>
              <a:rPr lang="en-US" altLang="zh-CN" sz="2000" dirty="0"/>
              <a:t>.\n",-b/(2*a));</a:t>
            </a:r>
          </a:p>
          <a:p>
            <a:pPr>
              <a:buNone/>
            </a:pPr>
            <a:r>
              <a:rPr lang="en-US" altLang="zh-CN" sz="2000" dirty="0"/>
              <a:t>        else if(d&gt;DIFF){ </a:t>
            </a:r>
          </a:p>
          <a:p>
            <a:pPr>
              <a:buNone/>
            </a:pPr>
            <a:r>
              <a:rPr lang="en-US" altLang="zh-CN" sz="2000" dirty="0"/>
              <a:t>      	    </a:t>
            </a:r>
            <a:r>
              <a:rPr lang="en-US" altLang="zh-CN" sz="2000" dirty="0" err="1"/>
              <a:t>x1</a:t>
            </a:r>
            <a:r>
              <a:rPr lang="en-US" altLang="zh-CN" sz="2000" dirty="0"/>
              <a:t>=(-</a:t>
            </a:r>
            <a:r>
              <a:rPr lang="en-US" altLang="zh-CN" sz="2000" dirty="0" err="1"/>
              <a:t>b+sqrt</a:t>
            </a:r>
            <a:r>
              <a:rPr lang="en-US" altLang="zh-CN" sz="2000" dirty="0"/>
              <a:t>(d))/(2*a);</a:t>
            </a:r>
          </a:p>
          <a:p>
            <a:pPr>
              <a:buNone/>
            </a:pPr>
            <a:r>
              <a:rPr lang="en-US" altLang="zh-CN" sz="2000" dirty="0"/>
              <a:t>           </a:t>
            </a:r>
            <a:r>
              <a:rPr lang="en-US" altLang="zh-CN" sz="2000" dirty="0" err="1"/>
              <a:t>x2</a:t>
            </a:r>
            <a:r>
              <a:rPr lang="en-US" altLang="zh-CN" sz="2000" dirty="0"/>
              <a:t>=(-b-sqrt(d))/(2*a);</a:t>
            </a:r>
          </a:p>
          <a:p>
            <a:pPr>
              <a:buNone/>
            </a:pPr>
            <a:r>
              <a:rPr lang="en-US" altLang="zh-CN" sz="2000" dirty="0"/>
              <a:t>           </a:t>
            </a:r>
            <a:r>
              <a:rPr lang="en-US" altLang="zh-CN" sz="2000" dirty="0">
                <a:solidFill>
                  <a:srgbClr val="3366FF"/>
                </a:solidFill>
              </a:rPr>
              <a:t>if (</a:t>
            </a:r>
            <a:r>
              <a:rPr lang="en-US" altLang="zh-CN" sz="2000" dirty="0" err="1">
                <a:solidFill>
                  <a:srgbClr val="3366FF"/>
                </a:solidFill>
              </a:rPr>
              <a:t>x1</a:t>
            </a:r>
            <a:r>
              <a:rPr lang="en-US" altLang="zh-CN" sz="2000" dirty="0">
                <a:solidFill>
                  <a:srgbClr val="3366FF"/>
                </a:solidFill>
              </a:rPr>
              <a:t>&gt;</a:t>
            </a:r>
            <a:r>
              <a:rPr lang="en-US" altLang="zh-CN" sz="2000" dirty="0" err="1">
                <a:solidFill>
                  <a:srgbClr val="3366FF"/>
                </a:solidFill>
              </a:rPr>
              <a:t>x2</a:t>
            </a:r>
            <a:r>
              <a:rPr lang="en-US" altLang="zh-CN" sz="2000" dirty="0">
                <a:solidFill>
                  <a:srgbClr val="3366FF"/>
                </a:solidFill>
              </a:rPr>
              <a:t>)</a:t>
            </a:r>
          </a:p>
          <a:p>
            <a:pPr>
              <a:buNone/>
            </a:pPr>
            <a:r>
              <a:rPr lang="en-US" altLang="zh-CN" sz="2000" dirty="0" err="1">
                <a:solidFill>
                  <a:srgbClr val="3366FF"/>
                </a:solidFill>
              </a:rPr>
              <a:t>printf</a:t>
            </a:r>
            <a:r>
              <a:rPr lang="en-US" altLang="zh-CN" sz="2000" dirty="0">
                <a:solidFill>
                  <a:srgbClr val="3366FF"/>
                </a:solidFill>
              </a:rPr>
              <a:t>("has two distinct real roots: %.</a:t>
            </a:r>
            <a:r>
              <a:rPr lang="en-US" altLang="zh-CN" sz="2000" dirty="0" err="1">
                <a:solidFill>
                  <a:srgbClr val="3366FF"/>
                </a:solidFill>
              </a:rPr>
              <a:t>4f</a:t>
            </a:r>
            <a:r>
              <a:rPr lang="en-US" altLang="zh-CN" sz="2000" dirty="0">
                <a:solidFill>
                  <a:srgbClr val="3366FF"/>
                </a:solidFill>
              </a:rPr>
              <a:t> and %.</a:t>
            </a:r>
            <a:r>
              <a:rPr lang="en-US" altLang="zh-CN" sz="2000" dirty="0" err="1">
                <a:solidFill>
                  <a:srgbClr val="3366FF"/>
                </a:solidFill>
              </a:rPr>
              <a:t>4f</a:t>
            </a:r>
            <a:r>
              <a:rPr lang="en-US" altLang="zh-CN" sz="2000" dirty="0">
                <a:solidFill>
                  <a:srgbClr val="3366FF"/>
                </a:solidFill>
              </a:rPr>
              <a:t>.\n",</a:t>
            </a:r>
            <a:r>
              <a:rPr lang="en-US" altLang="zh-CN" sz="2000" dirty="0" err="1">
                <a:solidFill>
                  <a:srgbClr val="3366FF"/>
                </a:solidFill>
              </a:rPr>
              <a:t>x1,x2</a:t>
            </a:r>
            <a:r>
              <a:rPr lang="en-US" altLang="zh-CN" sz="2000" dirty="0">
                <a:solidFill>
                  <a:srgbClr val="3366FF"/>
                </a:solidFill>
              </a:rPr>
              <a:t>);     </a:t>
            </a:r>
          </a:p>
          <a:p>
            <a:pPr>
              <a:buNone/>
            </a:pPr>
            <a:r>
              <a:rPr lang="en-US" altLang="zh-CN" sz="2000" dirty="0">
                <a:solidFill>
                  <a:srgbClr val="3366FF"/>
                </a:solidFill>
              </a:rPr>
              <a:t>           else</a:t>
            </a:r>
          </a:p>
          <a:p>
            <a:pPr>
              <a:buNone/>
            </a:pPr>
            <a:r>
              <a:rPr lang="en-US" altLang="zh-CN" sz="2000" dirty="0" err="1">
                <a:solidFill>
                  <a:srgbClr val="3366FF"/>
                </a:solidFill>
              </a:rPr>
              <a:t>printf</a:t>
            </a:r>
            <a:r>
              <a:rPr lang="en-US" altLang="zh-CN" sz="2000" dirty="0">
                <a:solidFill>
                  <a:srgbClr val="3366FF"/>
                </a:solidFill>
              </a:rPr>
              <a:t>("has two distinct real roots: %.</a:t>
            </a:r>
            <a:r>
              <a:rPr lang="en-US" altLang="zh-CN" sz="2000" dirty="0" err="1">
                <a:solidFill>
                  <a:srgbClr val="3366FF"/>
                </a:solidFill>
              </a:rPr>
              <a:t>4f</a:t>
            </a:r>
            <a:r>
              <a:rPr lang="en-US" altLang="zh-CN" sz="2000" dirty="0">
                <a:solidFill>
                  <a:srgbClr val="3366FF"/>
                </a:solidFill>
              </a:rPr>
              <a:t> and %.</a:t>
            </a:r>
            <a:r>
              <a:rPr lang="en-US" altLang="zh-CN" sz="2000" dirty="0" err="1">
                <a:solidFill>
                  <a:srgbClr val="3366FF"/>
                </a:solidFill>
              </a:rPr>
              <a:t>4f</a:t>
            </a:r>
            <a:r>
              <a:rPr lang="en-US" altLang="zh-CN" sz="2000" dirty="0">
                <a:solidFill>
                  <a:srgbClr val="3366FF"/>
                </a:solidFill>
              </a:rPr>
              <a:t>.\n",</a:t>
            </a:r>
            <a:r>
              <a:rPr lang="en-US" altLang="zh-CN" sz="2000" dirty="0" err="1">
                <a:solidFill>
                  <a:srgbClr val="3366FF"/>
                </a:solidFill>
              </a:rPr>
              <a:t>x2,x1</a:t>
            </a:r>
            <a:r>
              <a:rPr lang="en-US" altLang="zh-CN" sz="2000" dirty="0">
                <a:solidFill>
                  <a:srgbClr val="3366FF"/>
                </a:solidFill>
              </a:rPr>
              <a:t>);                  </a:t>
            </a:r>
            <a:r>
              <a:rPr lang="en-US" altLang="zh-CN" sz="2000" dirty="0"/>
              <a:t>	  </a:t>
            </a:r>
          </a:p>
          <a:p>
            <a:pPr>
              <a:buNone/>
            </a:pPr>
            <a:r>
              <a:rPr lang="en-US" altLang="zh-CN" sz="20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7985016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en-US" altLang="zh-CN" sz="1400" dirty="0">
                <a:latin typeface="Times New Roman" panose="02020603050405020304" pitchFamily="2" charset="0"/>
              </a:rPr>
              <a:t>19</a:t>
            </a:fld>
            <a:endParaRPr lang="en-US" altLang="zh-CN" sz="1400" dirty="0">
              <a:latin typeface="Times New Roman" panose="02020603050405020304" pitchFamily="2" charset="0"/>
            </a:endParaRPr>
          </a:p>
        </p:txBody>
      </p:sp>
      <p:sp>
        <p:nvSpPr>
          <p:cNvPr id="73730" name="灯片编号占位符 5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64" tIns="46032" rIns="92064" bIns="46032" anchor="ctr"/>
          <a:lstStyle/>
          <a:p>
            <a:pPr algn="r"/>
            <a:fld id="{9A0DB2DC-4C9A-4742-B13C-FB6460FD3503}" type="slidenum">
              <a:rPr lang="en-US" altLang="zh-CN" sz="1300" dirty="0">
                <a:latin typeface="Times New Roman" panose="02020603050405020304" pitchFamily="2" charset="0"/>
              </a:rPr>
              <a:t>19</a:t>
            </a:fld>
            <a:endParaRPr lang="en-US" altLang="zh-CN" sz="1300" dirty="0">
              <a:latin typeface="Times New Roman" panose="02020603050405020304" pitchFamily="2" charset="0"/>
            </a:endParaRPr>
          </a:p>
        </p:txBody>
      </p:sp>
      <p:sp>
        <p:nvSpPr>
          <p:cNvPr id="73731" name="Rectangle 5"/>
          <p:cNvSpPr/>
          <p:nvPr/>
        </p:nvSpPr>
        <p:spPr>
          <a:xfrm>
            <a:off x="6551613" y="5562600"/>
            <a:ext cx="1144587" cy="1295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1429" tIns="45714" rIns="91429" bIns="45714" anchor="ctr"/>
          <a:lstStyle/>
          <a:p>
            <a:endParaRPr lang="zh-CN" altLang="en-US" sz="2400" dirty="0">
              <a:latin typeface="Times New Roman" panose="02020603050405020304" pitchFamily="2" charset="0"/>
              <a:ea typeface="隶书" pitchFamily="1" charset="-122"/>
            </a:endParaRPr>
          </a:p>
        </p:txBody>
      </p:sp>
      <p:sp>
        <p:nvSpPr>
          <p:cNvPr id="73733" name="Rectangle 4"/>
          <p:cNvSpPr>
            <a:spLocks noGrp="1"/>
          </p:cNvSpPr>
          <p:nvPr>
            <p:ph type="title"/>
          </p:nvPr>
        </p:nvSpPr>
        <p:spPr/>
        <p:txBody>
          <a:bodyPr wrap="square" lIns="92064" tIns="46032" rIns="92064" bIns="46032" anchor="b"/>
          <a:lstStyle/>
          <a:p>
            <a:pPr>
              <a:lnSpc>
                <a:spcPct val="7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编写解方程的代码</a:t>
            </a:r>
          </a:p>
        </p:txBody>
      </p:sp>
      <p:sp>
        <p:nvSpPr>
          <p:cNvPr id="73732" name="Rectangle 3"/>
          <p:cNvSpPr>
            <a:spLocks noGrp="1"/>
          </p:cNvSpPr>
          <p:nvPr>
            <p:ph idx="1"/>
          </p:nvPr>
        </p:nvSpPr>
        <p:spPr>
          <a:xfrm>
            <a:off x="539552" y="1218531"/>
            <a:ext cx="7772400" cy="4611687"/>
          </a:xfrm>
        </p:spPr>
        <p:txBody>
          <a:bodyPr wrap="square" lIns="92064" tIns="46032" rIns="92064" bIns="46032" anchor="t"/>
          <a:lstStyle/>
          <a:p>
            <a:pPr>
              <a:buNone/>
            </a:pPr>
            <a:r>
              <a:rPr lang="en-US" altLang="zh-CN" sz="2000" dirty="0"/>
              <a:t>		else{ </a:t>
            </a:r>
          </a:p>
          <a:p>
            <a:pPr>
              <a:buNone/>
            </a:pPr>
            <a:r>
              <a:rPr lang="en-US" altLang="zh-CN" sz="2000" dirty="0"/>
              <a:t>           	</a:t>
            </a:r>
            <a:r>
              <a:rPr lang="en-US" altLang="zh-CN" sz="2000" dirty="0" err="1"/>
              <a:t>x1</a:t>
            </a:r>
            <a:r>
              <a:rPr lang="en-US" altLang="zh-CN" sz="2000" dirty="0"/>
              <a:t>=-b/(2*a);</a:t>
            </a:r>
          </a:p>
          <a:p>
            <a:pPr>
              <a:buNone/>
            </a:pPr>
            <a:r>
              <a:rPr lang="en-US" altLang="zh-CN" sz="2000" dirty="0"/>
              <a:t>           	</a:t>
            </a:r>
            <a:r>
              <a:rPr lang="en-US" altLang="zh-CN" sz="2000" dirty="0" err="1"/>
              <a:t>x2</a:t>
            </a:r>
            <a:r>
              <a:rPr lang="en-US" altLang="zh-CN" sz="2000" dirty="0"/>
              <a:t>=sqrt(-d)/(2*a);</a:t>
            </a:r>
          </a:p>
          <a:p>
            <a:pPr>
              <a:buNone/>
            </a:pPr>
            <a:r>
              <a:rPr lang="en-US" altLang="zh-CN" sz="2000" dirty="0"/>
              <a:t>           	if (a&gt;0)</a:t>
            </a:r>
          </a:p>
          <a:p>
            <a:pPr>
              <a:buNone/>
            </a:pPr>
            <a:r>
              <a:rPr lang="en-US" altLang="zh-CN" sz="2000" dirty="0"/>
              <a:t>       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("has two complex roots: %.</a:t>
            </a:r>
            <a:r>
              <a:rPr lang="en-US" altLang="zh-CN" sz="2000" dirty="0" err="1"/>
              <a:t>4f</a:t>
            </a:r>
            <a:r>
              <a:rPr lang="en-US" altLang="zh-CN" sz="2000" dirty="0"/>
              <a:t>+%.</a:t>
            </a:r>
            <a:r>
              <a:rPr lang="en-US" altLang="zh-CN" sz="2000" dirty="0" err="1"/>
              <a:t>4fi</a:t>
            </a:r>
            <a:r>
              <a:rPr lang="en-US" altLang="zh-CN" sz="2000" dirty="0"/>
              <a:t> and %.</a:t>
            </a:r>
            <a:r>
              <a:rPr lang="en-US" altLang="zh-CN" sz="2000" dirty="0" err="1"/>
              <a:t>4f</a:t>
            </a:r>
            <a:r>
              <a:rPr lang="en-US" altLang="zh-CN" sz="2000" dirty="0"/>
              <a:t>-%.</a:t>
            </a:r>
            <a:r>
              <a:rPr lang="en-US" altLang="zh-CN" sz="2000" dirty="0" err="1"/>
              <a:t>4fi</a:t>
            </a:r>
            <a:r>
              <a:rPr lang="en-US" altLang="zh-CN" sz="2000" dirty="0"/>
              <a:t>.\n",</a:t>
            </a:r>
            <a:r>
              <a:rPr lang="en-US" altLang="zh-CN" sz="2000" dirty="0" err="1"/>
              <a:t>x1,x2,x1,x2</a:t>
            </a:r>
            <a:r>
              <a:rPr lang="en-US" altLang="zh-CN" sz="2000" dirty="0"/>
              <a:t>);   </a:t>
            </a:r>
          </a:p>
          <a:p>
            <a:pPr>
              <a:buNone/>
            </a:pPr>
            <a:r>
              <a:rPr lang="en-US" altLang="zh-CN" sz="2000" dirty="0"/>
              <a:t>             else</a:t>
            </a:r>
          </a:p>
          <a:p>
            <a:pPr>
              <a:buNone/>
            </a:pPr>
            <a:r>
              <a:rPr lang="en-US" altLang="zh-CN" sz="2000" dirty="0"/>
              <a:t>       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("has two complex roots: %.</a:t>
            </a:r>
            <a:r>
              <a:rPr lang="en-US" altLang="zh-CN" sz="2000" dirty="0" err="1"/>
              <a:t>4f</a:t>
            </a:r>
            <a:r>
              <a:rPr lang="en-US" altLang="zh-CN" sz="2000" dirty="0"/>
              <a:t>+%.</a:t>
            </a:r>
            <a:r>
              <a:rPr lang="en-US" altLang="zh-CN" sz="2000" dirty="0" err="1"/>
              <a:t>4fi</a:t>
            </a:r>
            <a:r>
              <a:rPr lang="en-US" altLang="zh-CN" sz="2000" dirty="0"/>
              <a:t> and %.</a:t>
            </a:r>
            <a:r>
              <a:rPr lang="en-US" altLang="zh-CN" sz="2000" dirty="0" err="1"/>
              <a:t>4f</a:t>
            </a:r>
            <a:r>
              <a:rPr lang="en-US" altLang="zh-CN" sz="2000" dirty="0"/>
              <a:t>-%.</a:t>
            </a:r>
            <a:r>
              <a:rPr lang="en-US" altLang="zh-CN" sz="2000" dirty="0" err="1"/>
              <a:t>4fi</a:t>
            </a:r>
            <a:r>
              <a:rPr lang="en-US" altLang="zh-CN" sz="2000" dirty="0"/>
              <a:t>.\n",</a:t>
            </a:r>
            <a:r>
              <a:rPr lang="en-US" altLang="zh-CN" sz="2000" dirty="0" err="1"/>
              <a:t>x1</a:t>
            </a:r>
            <a:r>
              <a:rPr lang="en-US" altLang="zh-CN" sz="2000" dirty="0"/>
              <a:t>,-</a:t>
            </a:r>
            <a:r>
              <a:rPr lang="en-US" altLang="zh-CN" sz="2000" dirty="0" err="1"/>
              <a:t>x2,x1</a:t>
            </a:r>
            <a:r>
              <a:rPr lang="en-US" altLang="zh-CN" sz="2000" dirty="0"/>
              <a:t>,-</a:t>
            </a:r>
            <a:r>
              <a:rPr lang="en-US" altLang="zh-CN" sz="2000" dirty="0" err="1"/>
              <a:t>x2</a:t>
            </a:r>
            <a:r>
              <a:rPr lang="en-US" altLang="zh-CN" sz="2000" dirty="0"/>
              <a:t>);                     </a:t>
            </a:r>
          </a:p>
          <a:p>
            <a:pPr>
              <a:buNone/>
            </a:pPr>
            <a:r>
              <a:rPr lang="en-US" altLang="zh-CN" sz="2000" dirty="0"/>
              <a:t>        } </a:t>
            </a:r>
          </a:p>
          <a:p>
            <a:pPr>
              <a:buNone/>
            </a:pPr>
            <a:r>
              <a:rPr lang="en-US" altLang="zh-CN" sz="2000" dirty="0"/>
              <a:t>	}</a:t>
            </a:r>
          </a:p>
          <a:p>
            <a:pPr>
              <a:buNone/>
            </a:pPr>
            <a:r>
              <a:rPr lang="en-US" altLang="zh-CN" sz="2000" dirty="0"/>
              <a:t>  	return 0;</a:t>
            </a:r>
          </a:p>
          <a:p>
            <a:pPr>
              <a:buNone/>
            </a:pPr>
            <a:r>
              <a:rPr lang="en-US" altLang="zh-C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341518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u="sng" dirty="0">
                <a:latin typeface="宋体" panose="02010600030101010101" pitchFamily="2" charset="-122"/>
                <a:cs typeface="微软雅黑" panose="020B0503020204020204" charset="-122"/>
              </a:rPr>
              <a:t>测试各种情况，注意条件的边界一定要测，非正常情况也要测试。</a:t>
            </a:r>
            <a:endParaRPr lang="en-US" altLang="zh-CN" sz="2800" b="0" u="sng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0.4 1.2 0.9; 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重根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-1.5000.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-2 -8 -2; 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根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-0.2679,-3.7321.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1 2 3;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复根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-</a:t>
            </a:r>
            <a:r>
              <a:rPr lang="en-US" altLang="zh-CN" sz="2800" b="0" dirty="0" err="1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1.0000</a:t>
            </a:r>
            <a:r>
              <a:rPr lang="en-US" altLang="zh-CN" sz="2800" b="0" u="sng" dirty="0" err="1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+</a:t>
            </a:r>
            <a:r>
              <a:rPr lang="en-US" altLang="zh-CN" sz="2800" b="0" dirty="0" err="1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1.4142i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.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0 2 3 ;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非二次方程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.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5:-509.86 489.60 689.16;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根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1.7380,-0.7777.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361666060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文本占位符 75777">
            <a:extLst>
              <a:ext uri="{FF2B5EF4-FFF2-40B4-BE49-F238E27FC236}">
                <a16:creationId xmlns:a16="http://schemas.microsoft.com/office/drawing/2014/main" id="{D097B61D-C621-4586-88B0-FED9B15E5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13" y="1446213"/>
            <a:ext cx="8001000" cy="4221162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发生意外或错误，程序无法继续处理时，需要</a:t>
            </a:r>
            <a:r>
              <a:rPr lang="zh-CN" altLang="en-US" dirty="0">
                <a:sym typeface="宋体" panose="02010600030101010101" pitchFamily="2" charset="-122"/>
              </a:rPr>
              <a:t>终止</a:t>
            </a:r>
            <a:r>
              <a:rPr lang="zh-CN" altLang="en-US" dirty="0"/>
              <a:t>，操作系统提供了</a:t>
            </a:r>
            <a:r>
              <a:rPr lang="en-US" altLang="zh-CN" dirty="0"/>
              <a:t>exit()</a:t>
            </a:r>
            <a:r>
              <a:rPr lang="zh-CN" altLang="en-US" dirty="0"/>
              <a:t>函数。</a:t>
            </a:r>
          </a:p>
          <a:p>
            <a:pPr marL="457200" indent="-457200">
              <a:lnSpc>
                <a:spcPct val="90000"/>
              </a:lnSpc>
            </a:pPr>
            <a:r>
              <a:rPr lang="zh-CN" altLang="en-US" dirty="0"/>
              <a:t>函数名: </a:t>
            </a:r>
            <a:r>
              <a:rPr lang="zh-CN" altLang="en-US" dirty="0">
                <a:sym typeface="宋体" panose="02010600030101010101" pitchFamily="2" charset="-122"/>
              </a:rPr>
              <a:t>void exit(int status);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zh-CN" altLang="en-US" dirty="0">
                <a:sym typeface="宋体" panose="02010600030101010101" pitchFamily="2" charset="-122"/>
              </a:rPr>
              <a:t>//参 数status，程序退出的返回值</a:t>
            </a:r>
            <a:endParaRPr lang="zh-CN" altLang="en-US" dirty="0"/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zh-CN" altLang="en-US" dirty="0"/>
              <a:t>所在头文件：stdlib.h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zh-CN" altLang="en-US" dirty="0"/>
              <a:t>功 能: 关闭所有文件，终止正在执行的进程。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zh-CN" altLang="en-US" dirty="0"/>
              <a:t>exit(0)表示正常退出，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zh-CN" altLang="en-US" dirty="0"/>
              <a:t>exit(x)（x不为0）都表示异常退出，这个x是返回给操作系统（包括UNIX,Linux,和MS DOS）的，以供其他程序使用。</a:t>
            </a:r>
          </a:p>
        </p:txBody>
      </p:sp>
      <p:sp>
        <p:nvSpPr>
          <p:cNvPr id="106498" name="标题 75778">
            <a:extLst>
              <a:ext uri="{FF2B5EF4-FFF2-40B4-BE49-F238E27FC236}">
                <a16:creationId xmlns:a16="http://schemas.microsoft.com/office/drawing/2014/main" id="{324C22FB-E098-434E-90B5-2C320749FE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1413" y="333375"/>
            <a:ext cx="7772400" cy="720725"/>
          </a:xfrm>
        </p:spPr>
        <p:txBody>
          <a:bodyPr lIns="92075" tIns="46038" rIns="92075" bIns="46038"/>
          <a:lstStyle/>
          <a:p>
            <a:r>
              <a:rPr lang="zh-CN" altLang="en-US" b="1" dirty="0">
                <a:sym typeface="宋体" panose="02010600030101010101" pitchFamily="2" charset="-122"/>
              </a:rPr>
              <a:t>意外终止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37C60C1E-54F9-4F69-9CE3-4287335EBA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7522" name="内容占位符 2">
            <a:extLst>
              <a:ext uri="{FF2B5EF4-FFF2-40B4-BE49-F238E27FC236}">
                <a16:creationId xmlns:a16="http://schemas.microsoft.com/office/drawing/2014/main" id="{BC116306-8F46-4BBA-B473-6B1633AFD0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stdlib.h</a:t>
            </a:r>
            <a:r>
              <a:rPr lang="en-US" altLang="zh-CN" sz="2400" dirty="0"/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/>
              <a:t>int main(void)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/>
              <a:t>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("Start of the program....\n");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/>
              <a:t>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/>
              <a:t>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("Exiting the program....\n");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/>
              <a:t>   exit(0);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/>
              <a:t>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("End of the program....\n");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/>
              <a:t>   return(0);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/>
              <a:t>}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en-US" altLang="zh-CN" sz="1400" dirty="0">
                <a:latin typeface="Times New Roman" panose="02020603050405020304" pitchFamily="2" charset="0"/>
              </a:rPr>
              <a:t>23</a:t>
            </a:fld>
            <a:endParaRPr lang="en-US" altLang="zh-CN" sz="1400" dirty="0">
              <a:latin typeface="Times New Roman" panose="02020603050405020304" pitchFamily="2" charset="0"/>
            </a:endParaRPr>
          </a:p>
        </p:txBody>
      </p:sp>
      <p:sp>
        <p:nvSpPr>
          <p:cNvPr id="73730" name="灯片编号占位符 5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64" tIns="46032" rIns="92064" bIns="46032" anchor="ctr"/>
          <a:lstStyle/>
          <a:p>
            <a:pPr algn="r"/>
            <a:fld id="{9A0DB2DC-4C9A-4742-B13C-FB6460FD3503}" type="slidenum">
              <a:rPr lang="en-US" altLang="zh-CN" sz="1300" dirty="0">
                <a:latin typeface="Times New Roman" panose="02020603050405020304" pitchFamily="2" charset="0"/>
              </a:rPr>
              <a:t>23</a:t>
            </a:fld>
            <a:endParaRPr lang="en-US" altLang="zh-CN" sz="1300" dirty="0">
              <a:latin typeface="Times New Roman" panose="02020603050405020304" pitchFamily="2" charset="0"/>
            </a:endParaRPr>
          </a:p>
        </p:txBody>
      </p:sp>
      <p:sp>
        <p:nvSpPr>
          <p:cNvPr id="73731" name="Rectangle 5"/>
          <p:cNvSpPr/>
          <p:nvPr/>
        </p:nvSpPr>
        <p:spPr>
          <a:xfrm>
            <a:off x="6551613" y="5562600"/>
            <a:ext cx="1144587" cy="1295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1429" tIns="45714" rIns="91429" bIns="45714" anchor="ctr"/>
          <a:lstStyle/>
          <a:p>
            <a:endParaRPr lang="zh-CN" altLang="en-US" sz="2400" dirty="0">
              <a:latin typeface="Times New Roman" panose="02020603050405020304" pitchFamily="2" charset="0"/>
              <a:ea typeface="隶书" pitchFamily="1" charset="-122"/>
            </a:endParaRPr>
          </a:p>
        </p:txBody>
      </p:sp>
      <p:sp>
        <p:nvSpPr>
          <p:cNvPr id="73733" name="Rectangle 4"/>
          <p:cNvSpPr>
            <a:spLocks noGrp="1"/>
          </p:cNvSpPr>
          <p:nvPr>
            <p:ph type="title"/>
          </p:nvPr>
        </p:nvSpPr>
        <p:spPr/>
        <p:txBody>
          <a:bodyPr wrap="square" lIns="92064" tIns="46032" rIns="92064" bIns="46032" anchor="b"/>
          <a:lstStyle/>
          <a:p>
            <a:pPr>
              <a:lnSpc>
                <a:spcPct val="7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解方程代码添加</a:t>
            </a:r>
            <a:r>
              <a:rPr lang="en-US" altLang="zh-CN" b="1" dirty="0">
                <a:solidFill>
                  <a:srgbClr val="FF0000"/>
                </a:solidFill>
              </a:rPr>
              <a:t>exit</a:t>
            </a:r>
            <a:r>
              <a:rPr lang="zh-CN" altLang="en-US" b="1" dirty="0">
                <a:solidFill>
                  <a:srgbClr val="FF0000"/>
                </a:solidFill>
              </a:rPr>
              <a:t>后，结构较清晰</a:t>
            </a:r>
          </a:p>
        </p:txBody>
      </p:sp>
      <p:sp>
        <p:nvSpPr>
          <p:cNvPr id="73732" name="Rectangle 3"/>
          <p:cNvSpPr>
            <a:spLocks noGrp="1"/>
          </p:cNvSpPr>
          <p:nvPr>
            <p:ph idx="1"/>
          </p:nvPr>
        </p:nvSpPr>
        <p:spPr>
          <a:xfrm>
            <a:off x="539552" y="1218531"/>
            <a:ext cx="7772400" cy="4611687"/>
          </a:xfrm>
        </p:spPr>
        <p:txBody>
          <a:bodyPr wrap="square" lIns="92064" tIns="46032" rIns="92064" bIns="46032" anchor="t"/>
          <a:lstStyle/>
          <a:p>
            <a:pPr>
              <a:buNone/>
            </a:pPr>
            <a:r>
              <a:rPr lang="en-US" altLang="zh-CN" sz="2000" dirty="0"/>
              <a:t> 	/*process*/</a:t>
            </a:r>
          </a:p>
          <a:p>
            <a:pPr>
              <a:buNone/>
            </a:pPr>
            <a:r>
              <a:rPr lang="en-US" altLang="zh-CN" sz="2000" dirty="0"/>
              <a:t>	if(fabs(a)&lt;DIFF)</a:t>
            </a:r>
          </a:p>
          <a:p>
            <a:pPr>
              <a:buNone/>
            </a:pPr>
            <a:r>
              <a:rPr lang="en-US" altLang="zh-CN" sz="2000" dirty="0"/>
              <a:t>  	{</a:t>
            </a:r>
          </a:p>
          <a:p>
            <a:pPr>
              <a:buNone/>
            </a:pPr>
            <a:r>
              <a:rPr lang="en-US" altLang="zh-CN" sz="2000" dirty="0"/>
              <a:t>      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("is not quadratic.\n");</a:t>
            </a:r>
          </a:p>
          <a:p>
            <a:pPr>
              <a:buNone/>
            </a:pPr>
            <a:r>
              <a:rPr lang="en-US" altLang="zh-CN" sz="2000" dirty="0"/>
              <a:t>      	</a:t>
            </a:r>
            <a:r>
              <a:rPr lang="en-US" altLang="zh-CN" sz="2000" dirty="0">
                <a:solidFill>
                  <a:srgbClr val="3366FF"/>
                </a:solidFill>
              </a:rPr>
              <a:t>exit(1);</a:t>
            </a:r>
          </a:p>
          <a:p>
            <a:pPr>
              <a:buNone/>
            </a:pPr>
            <a:r>
              <a:rPr lang="en-US" altLang="zh-CN" sz="2000" dirty="0"/>
              <a:t>	}</a:t>
            </a:r>
          </a:p>
          <a:p>
            <a:pPr>
              <a:buNone/>
            </a:pPr>
            <a:r>
              <a:rPr lang="en-US" altLang="zh-CN" sz="2000" dirty="0"/>
              <a:t>	d=b*b-4*a*c;</a:t>
            </a:r>
          </a:p>
          <a:p>
            <a:pPr>
              <a:buNone/>
            </a:pP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rgbClr val="3366FF"/>
                </a:solidFill>
              </a:rPr>
              <a:t>if(fabs(d)&lt;DIFF)</a:t>
            </a:r>
          </a:p>
          <a:p>
            <a:pPr>
              <a:buNone/>
            </a:pPr>
            <a:r>
              <a:rPr lang="en-US" altLang="zh-CN" sz="2000" dirty="0"/>
              <a:t>    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("has two equal roots: %.</a:t>
            </a:r>
            <a:r>
              <a:rPr lang="en-US" altLang="zh-CN" sz="2000" dirty="0" err="1"/>
              <a:t>4f</a:t>
            </a:r>
            <a:r>
              <a:rPr lang="en-US" altLang="zh-CN" sz="2000" dirty="0"/>
              <a:t>.\n",-b/(2*a));</a:t>
            </a:r>
          </a:p>
          <a:p>
            <a:pPr>
              <a:buNone/>
            </a:pP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rgbClr val="3366FF"/>
                </a:solidFill>
              </a:rPr>
              <a:t>else if(d&gt;DIFF)</a:t>
            </a:r>
            <a:r>
              <a:rPr lang="en-US" altLang="zh-CN" sz="2000" dirty="0"/>
              <a:t>{ …</a:t>
            </a:r>
          </a:p>
          <a:p>
            <a:pPr>
              <a:buNone/>
            </a:pPr>
            <a:r>
              <a:rPr lang="en-US" altLang="zh-CN" sz="2000" dirty="0"/>
              <a:t>	    }</a:t>
            </a:r>
          </a:p>
          <a:p>
            <a:pPr>
              <a:buNone/>
            </a:pP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rgbClr val="3366FF"/>
                </a:solidFill>
              </a:rPr>
              <a:t>else{</a:t>
            </a:r>
            <a:r>
              <a:rPr lang="en-US" altLang="zh-CN" sz="2000" dirty="0"/>
              <a:t> …</a:t>
            </a:r>
          </a:p>
          <a:p>
            <a:pPr>
              <a:buNone/>
            </a:pPr>
            <a:r>
              <a:rPr lang="en-US" altLang="zh-CN" sz="2000" dirty="0"/>
              <a:t>	}</a:t>
            </a:r>
          </a:p>
          <a:p>
            <a:pPr>
              <a:buNone/>
            </a:pPr>
            <a:r>
              <a:rPr lang="en-US" altLang="zh-CN" sz="2000" dirty="0"/>
              <a:t>	…</a:t>
            </a:r>
          </a:p>
        </p:txBody>
      </p:sp>
    </p:spTree>
    <p:extLst>
      <p:ext uri="{BB962C8B-B14F-4D97-AF65-F5344CB8AC3E}">
        <p14:creationId xmlns:p14="http://schemas.microsoft.com/office/powerpoint/2010/main" val="52682175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取余运算的本质是计算两个整数不能整除的余数。因此，余数为</a:t>
            </a:r>
            <a:r>
              <a:rPr lang="en-US" altLang="zh-CN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可以作为整除关系的判断条件；余数不为</a:t>
            </a:r>
            <a:r>
              <a:rPr lang="en-US" altLang="zh-CN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可以作为不能整除的各类情况判断。</a:t>
            </a:r>
            <a:endParaRPr lang="en-US" altLang="zh-CN" sz="2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定义程序目标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问题：输入任意一个整数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，程序应输出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是奇数还是偶数的判断结果。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说明：明确程序需要哪些信息，进行什么计算，报告什么结果。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取余运算的用途</a:t>
            </a:r>
            <a:r>
              <a:rPr lang="en-US" altLang="zh-CN" b="1" dirty="0"/>
              <a:t>1</a:t>
            </a:r>
            <a:r>
              <a:rPr lang="zh-CN" altLang="en-US" b="1" dirty="0"/>
              <a:t>：整除判断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2.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设计程序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问题：程序用户是谁？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问题：有多久的开发时间？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问题：程序界面如何？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最简单的字符界面和键盘交互。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问题：如何表示数据？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整数。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问题：如何处理数据？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偶数是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2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的倍数，即除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2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余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0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；可用取余运算。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48987449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整数奇偶判断的算法设计：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定义一个整数变量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从键盘接受输入的一个整数，存入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if (</a:t>
            </a: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n%2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==0)</a:t>
            </a: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显示器输出打印“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是偶数”；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else</a:t>
            </a: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显示器输出打印“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是奇数”；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3013138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96752"/>
            <a:ext cx="8083550" cy="33738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3.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编写代码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首先：选择编程语言。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然后：根据算法，对应所选编程语言的编码规范；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算法需要整数变量表示和整数取余运算，选择语句，以及输入、输出操作。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3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4250156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28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1" name="Rectangle 9"/>
          <p:cNvSpPr/>
          <p:nvPr/>
        </p:nvSpPr>
        <p:spPr>
          <a:xfrm>
            <a:off x="4284414" y="1290315"/>
            <a:ext cx="4751636" cy="5041380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</a:ln>
        </p:spPr>
        <p:txBody>
          <a:bodyPr wrap="square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/*</a:t>
            </a:r>
            <a:r>
              <a:rPr lang="zh-CN" altLang="en-US" sz="2400" dirty="0">
                <a:solidFill>
                  <a:srgbClr val="002060"/>
                </a:solidFill>
              </a:rPr>
              <a:t>在</a:t>
            </a:r>
            <a:r>
              <a:rPr lang="en-US" altLang="zh-CN" sz="2400" dirty="0" err="1">
                <a:solidFill>
                  <a:srgbClr val="002060"/>
                </a:solidFill>
                <a:latin typeface="Times New Roman" panose="02020603050405020304" pitchFamily="2" charset="0"/>
              </a:rPr>
              <a:t>程序员自定义内容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区域敲代码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*/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    int n;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("Please input a integer :\n");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solidFill>
                  <a:srgbClr val="002060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solidFill>
                  <a:srgbClr val="002060"/>
                </a:solidFill>
                <a:latin typeface="Consolas" panose="020B0609020204030204" pitchFamily="49" charset="0"/>
              </a:rPr>
              <a:t>d",&amp;n</a:t>
            </a: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    if(</a:t>
            </a:r>
            <a:r>
              <a:rPr lang="en-US" altLang="zh-CN" sz="2400" dirty="0" err="1">
                <a:solidFill>
                  <a:srgbClr val="002060"/>
                </a:solidFill>
                <a:latin typeface="Consolas" panose="020B0609020204030204" pitchFamily="49" charset="0"/>
              </a:rPr>
              <a:t>n%2</a:t>
            </a: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==0)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("%d is even.\</a:t>
            </a:r>
            <a:r>
              <a:rPr lang="en-US" altLang="zh-CN" sz="2400" dirty="0" err="1">
                <a:latin typeface="Consolas" panose="020B0609020204030204" pitchFamily="49" charset="0"/>
              </a:rPr>
              <a:t>n",n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    else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("%d is odd.\</a:t>
            </a:r>
            <a:r>
              <a:rPr lang="en-US" altLang="zh-CN" sz="2400" dirty="0" err="1">
                <a:latin typeface="Consolas" panose="020B0609020204030204" pitchFamily="49" charset="0"/>
              </a:rPr>
              <a:t>n",n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2294" name="Rectangle 1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3-</a:t>
            </a:r>
            <a:r>
              <a:rPr lang="zh-CN" altLang="en-US" b="1" dirty="0"/>
              <a:t>编写代码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DE60A8-F5EB-4F62-AF19-4C930916D654}"/>
              </a:ext>
            </a:extLst>
          </p:cNvPr>
          <p:cNvSpPr txBox="1"/>
          <p:nvPr/>
        </p:nvSpPr>
        <p:spPr>
          <a:xfrm>
            <a:off x="323528" y="1267048"/>
            <a:ext cx="3751645" cy="48369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整数奇偶判断的算法设计：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定义一个整数变量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从键盘接受输入的一个整数，存入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	if (</a:t>
            </a:r>
            <a:r>
              <a:rPr lang="en-US" altLang="zh-CN" sz="2000" b="0" dirty="0" err="1">
                <a:latin typeface="宋体" panose="02010600030101010101" pitchFamily="2" charset="-122"/>
                <a:cs typeface="微软雅黑" panose="020B0503020204020204" charset="-122"/>
              </a:rPr>
              <a:t>n%2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==0)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显示器输出打印“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是偶数”；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	else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显示器输出打印“</a:t>
            </a: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000" b="0" dirty="0">
                <a:latin typeface="宋体" panose="02010600030101010101" pitchFamily="2" charset="-122"/>
                <a:cs typeface="微软雅黑" panose="020B0503020204020204" charset="-122"/>
              </a:rPr>
              <a:t>是奇数”；</a:t>
            </a:r>
            <a:endParaRPr lang="en-US" altLang="zh-CN" sz="20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565422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4.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编译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目的：检查程序有效性（符合编程语言语法）。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用测试数据运行程序，查看结果是否有错。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3;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12;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-8;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 -3;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410995442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FF17B-AAB3-4F0C-AB53-D3ECA3D9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332656"/>
            <a:ext cx="7772400" cy="720725"/>
          </a:xfrm>
        </p:spPr>
        <p:txBody>
          <a:bodyPr/>
          <a:lstStyle/>
          <a:p>
            <a:r>
              <a:rPr lang="zh-CN" altLang="en-US" sz="3200" dirty="0">
                <a:solidFill>
                  <a:srgbClr val="FF3300"/>
                </a:solidFill>
              </a:rPr>
              <a:t>日期问题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DB145B-E266-4CC6-BCE7-77A4E5996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40768"/>
            <a:ext cx="8062664" cy="4611687"/>
          </a:xfrm>
        </p:spPr>
        <p:txBody>
          <a:bodyPr/>
          <a:lstStyle/>
          <a:p>
            <a:r>
              <a:rPr lang="zh-CN" altLang="en-US" dirty="0"/>
              <a:t>问题：输入四位数的年份，判定该年有多少天？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算法设计：</a:t>
            </a:r>
            <a:endParaRPr lang="en-US" altLang="zh-CN" dirty="0"/>
          </a:p>
          <a:p>
            <a:pPr lvl="1"/>
            <a:r>
              <a:rPr lang="zh-CN" altLang="en-US" dirty="0"/>
              <a:t>每年的天数只有两种情况，闰年</a:t>
            </a:r>
            <a:r>
              <a:rPr lang="en-US" altLang="zh-CN" dirty="0"/>
              <a:t>366</a:t>
            </a:r>
            <a:r>
              <a:rPr lang="zh-CN" altLang="en-US" dirty="0"/>
              <a:t>天，非闰年</a:t>
            </a:r>
            <a:r>
              <a:rPr lang="en-US" altLang="zh-CN" dirty="0"/>
              <a:t>365</a:t>
            </a:r>
            <a:r>
              <a:rPr lang="zh-CN" altLang="en-US" dirty="0"/>
              <a:t>天。</a:t>
            </a:r>
            <a:endParaRPr lang="en-US" altLang="zh-CN" dirty="0"/>
          </a:p>
          <a:p>
            <a:pPr lvl="1"/>
            <a:r>
              <a:rPr lang="zh-CN" altLang="en-US" dirty="0"/>
              <a:t>闰年如何判断？</a:t>
            </a:r>
            <a:r>
              <a:rPr lang="en-US" altLang="zh-CN" dirty="0"/>
              <a:t>4</a:t>
            </a:r>
            <a:r>
              <a:rPr lang="zh-CN" altLang="en-US" dirty="0"/>
              <a:t>年一闰，</a:t>
            </a:r>
            <a:r>
              <a:rPr lang="en-US" altLang="zh-CN" dirty="0"/>
              <a:t>100</a:t>
            </a:r>
            <a:r>
              <a:rPr lang="zh-CN" altLang="en-US" dirty="0"/>
              <a:t>年不闰，</a:t>
            </a:r>
            <a:r>
              <a:rPr lang="en-US" altLang="zh-CN" dirty="0"/>
              <a:t>400</a:t>
            </a:r>
            <a:r>
              <a:rPr lang="zh-CN" altLang="en-US" dirty="0"/>
              <a:t>加一闰。</a:t>
            </a:r>
            <a:endParaRPr lang="en-US" altLang="zh-CN" dirty="0"/>
          </a:p>
          <a:p>
            <a:pPr lvl="1"/>
            <a:r>
              <a:rPr lang="zh-CN" altLang="en-US" dirty="0"/>
              <a:t>三个周期的整除关系组合判断。</a:t>
            </a:r>
            <a:endParaRPr lang="en-US" altLang="zh-CN" dirty="0"/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4767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灯片编号占位符 5">
            <a:extLst>
              <a:ext uri="{FF2B5EF4-FFF2-40B4-BE49-F238E27FC236}">
                <a16:creationId xmlns:a16="http://schemas.microsoft.com/office/drawing/2014/main" id="{BC2DB270-2ADC-4294-85A2-063D17384A5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2FC2523D-DB93-46D3-B4E4-B99BD2C2F60B}" type="slidenum">
              <a:rPr lang="zh-CN" altLang="en-US" sz="1400"/>
              <a:pPr algn="r">
                <a:spcBef>
                  <a:spcPct val="50000"/>
                </a:spcBef>
              </a:pPr>
              <a:t>31</a:t>
            </a:fld>
            <a:endParaRPr lang="zh-CN" altLang="en-US" sz="1400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4523FD25-1D53-4E40-82C4-E7DCE4D009F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判断一年的天数（闰年）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82EC95DC-A205-4773-9ACC-D2F7DF0E460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41325" y="1232882"/>
            <a:ext cx="8397875" cy="520541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#include &lt;</a:t>
            </a:r>
            <a:r>
              <a:rPr lang="en-US" altLang="zh-CN" sz="2200" dirty="0" err="1"/>
              <a:t>stdio.h</a:t>
            </a:r>
            <a:r>
              <a:rPr lang="en-US" altLang="zh-CN" sz="2200" dirty="0"/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int main(void){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int year;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</a:t>
            </a:r>
            <a:r>
              <a:rPr lang="en-US" altLang="zh-CN" sz="2200" dirty="0" err="1"/>
              <a:t>printf</a:t>
            </a:r>
            <a:r>
              <a:rPr lang="en-US" altLang="zh-CN" sz="2200" dirty="0"/>
              <a:t>("Enter the year :");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</a:t>
            </a:r>
            <a:r>
              <a:rPr lang="en-US" altLang="zh-CN" sz="2200" dirty="0" err="1"/>
              <a:t>scanf</a:t>
            </a:r>
            <a:r>
              <a:rPr lang="en-US" altLang="zh-CN" sz="2200" dirty="0"/>
              <a:t>("%</a:t>
            </a:r>
            <a:r>
              <a:rPr lang="en-US" altLang="zh-CN" sz="2200" dirty="0" err="1"/>
              <a:t>d",&amp;year</a:t>
            </a:r>
            <a:r>
              <a:rPr lang="en-US" altLang="zh-CN" sz="2200" dirty="0"/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	 if ((</a:t>
            </a:r>
            <a:r>
              <a:rPr lang="en-US" altLang="zh-CN" sz="2200" dirty="0" err="1"/>
              <a:t>year%4</a:t>
            </a:r>
            <a:r>
              <a:rPr lang="en-US" altLang="zh-CN" sz="2200" dirty="0"/>
              <a:t>==0 &amp;&amp; </a:t>
            </a:r>
            <a:r>
              <a:rPr lang="en-US" altLang="zh-CN" sz="2200" dirty="0" err="1"/>
              <a:t>year%100</a:t>
            </a:r>
            <a:r>
              <a:rPr lang="en-US" altLang="zh-CN" sz="2200" dirty="0"/>
              <a:t>!=0)||(</a:t>
            </a:r>
            <a:r>
              <a:rPr lang="en-US" altLang="zh-CN" sz="2200" dirty="0" err="1"/>
              <a:t>year%400</a:t>
            </a:r>
            <a:r>
              <a:rPr lang="en-US" altLang="zh-CN" sz="2200" dirty="0"/>
              <a:t>==0))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    </a:t>
            </a:r>
            <a:r>
              <a:rPr lang="en-US" altLang="zh-CN" sz="2200" dirty="0" err="1"/>
              <a:t>printf</a:t>
            </a:r>
            <a:r>
              <a:rPr lang="en-US" altLang="zh-CN" sz="2200" dirty="0"/>
              <a:t>("%d year has 366 days.\</a:t>
            </a:r>
            <a:r>
              <a:rPr lang="en-US" altLang="zh-CN" sz="2200" dirty="0" err="1"/>
              <a:t>n",year</a:t>
            </a:r>
            <a:r>
              <a:rPr lang="en-US" altLang="zh-CN" sz="2200" dirty="0"/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	 else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		</a:t>
            </a:r>
            <a:r>
              <a:rPr lang="en-US" altLang="zh-CN" sz="2200" dirty="0" err="1"/>
              <a:t>printf</a:t>
            </a:r>
            <a:r>
              <a:rPr lang="en-US" altLang="zh-CN" sz="2200" dirty="0"/>
              <a:t>("%d year has 365 days.\</a:t>
            </a:r>
            <a:r>
              <a:rPr lang="en-US" altLang="zh-CN" sz="2200" dirty="0" err="1"/>
              <a:t>n",year</a:t>
            </a:r>
            <a:r>
              <a:rPr lang="en-US" altLang="zh-CN" sz="2200" dirty="0"/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2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 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/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200" dirty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80158868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395730"/>
            <a:ext cx="7896225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/>
              <a:t>输入一个字符，判断是否为英文字母，若是，给出在字母表中的序号</a:t>
            </a:r>
            <a:r>
              <a:rPr lang="en-US" altLang="zh-CN" sz="2800" dirty="0"/>
              <a:t>(1~26); </a:t>
            </a:r>
            <a:r>
              <a:rPr lang="zh-CN" altLang="en-US" sz="2800" dirty="0"/>
              <a:t>再将大写变为小写，小写转为大写。</a:t>
            </a:r>
          </a:p>
          <a:p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样例输入： </a:t>
            </a:r>
            <a:r>
              <a:rPr lang="en-US" altLang="zh-CN" sz="2800" dirty="0"/>
              <a:t>C</a:t>
            </a:r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样例输出： </a:t>
            </a:r>
            <a:r>
              <a:rPr lang="en-US" altLang="zh-CN" sz="2800" dirty="0"/>
              <a:t>Yes 3 c</a:t>
            </a:r>
            <a:endParaRPr lang="zh-CN" altLang="en-US" sz="2800" dirty="0"/>
          </a:p>
          <a:p>
            <a:endParaRPr lang="zh-CN" altLang="en-US" sz="2800" dirty="0"/>
          </a:p>
        </p:txBody>
      </p:sp>
      <p:sp>
        <p:nvSpPr>
          <p:cNvPr id="73733" name="Rectangle 4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lIns="92064" tIns="46032" rIns="92064" bIns="46032" anchor="b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b="1">
                <a:solidFill>
                  <a:srgbClr val="FF0000"/>
                </a:solidFill>
              </a:rPr>
              <a:t>问题：字母的序号和大小写转换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66842"/>
            <a:ext cx="8083550" cy="56323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字母判断与大小写转换算法设计：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定义字符变量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从键盘接受输入的一个字符，存入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if(letter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是大写字母 或 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是小写字母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Yes;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    if(letter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是大写字母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显示器输出打印序号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(letter- 'A’ );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	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显示器输出打印对应小写字母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letter+32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  <a:endParaRPr lang="en-US" altLang="zh-CN" sz="240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   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else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if(letter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是小写字母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显示器输出打印序号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(letter- ‘a’ );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显示器输出打印对应大写字母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letter-32;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else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No;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字母判定与大小写转换</a:t>
            </a:r>
          </a:p>
        </p:txBody>
      </p:sp>
    </p:spTree>
    <p:extLst>
      <p:ext uri="{BB962C8B-B14F-4D97-AF65-F5344CB8AC3E}">
        <p14:creationId xmlns:p14="http://schemas.microsoft.com/office/powerpoint/2010/main" val="167502563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34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23554" name="Rectangle 4"/>
          <p:cNvSpPr/>
          <p:nvPr/>
        </p:nvSpPr>
        <p:spPr>
          <a:xfrm>
            <a:off x="323850" y="1196975"/>
            <a:ext cx="8820150" cy="5472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#include &lt;</a:t>
            </a:r>
            <a:r>
              <a:rPr lang="en-US" altLang="zh-CN" sz="2400" b="0" dirty="0" err="1">
                <a:latin typeface="+mn-lt"/>
              </a:rPr>
              <a:t>stdio.h</a:t>
            </a:r>
            <a:r>
              <a:rPr lang="en-US" altLang="zh-CN" sz="2400" b="0" dirty="0">
                <a:latin typeface="+mn-lt"/>
              </a:rPr>
              <a:t>&gt;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int main(void){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char </a:t>
            </a:r>
            <a:r>
              <a:rPr lang="en-US" altLang="zh-CN" sz="2400" b="0" dirty="0" err="1">
                <a:latin typeface="+mn-lt"/>
              </a:rPr>
              <a:t>ch</a:t>
            </a:r>
            <a:r>
              <a:rPr lang="en-US" altLang="zh-CN" sz="2400" b="0" dirty="0">
                <a:latin typeface="+mn-lt"/>
              </a:rPr>
              <a:t>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</a:t>
            </a:r>
            <a:r>
              <a:rPr lang="en-US" altLang="zh-CN" sz="2400" b="0" dirty="0" err="1">
                <a:latin typeface="+mn-lt"/>
              </a:rPr>
              <a:t>printf</a:t>
            </a:r>
            <a:r>
              <a:rPr lang="en-US" altLang="zh-CN" sz="2400" b="0" dirty="0">
                <a:latin typeface="+mn-lt"/>
              </a:rPr>
              <a:t>("Enter a character: ");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</a:t>
            </a:r>
            <a:r>
              <a:rPr lang="en-US" altLang="zh-CN" sz="2400" b="0" dirty="0" err="1">
                <a:latin typeface="+mn-lt"/>
              </a:rPr>
              <a:t>ch</a:t>
            </a:r>
            <a:r>
              <a:rPr lang="en-US" altLang="zh-CN" sz="2400" b="0" dirty="0">
                <a:latin typeface="+mn-lt"/>
              </a:rPr>
              <a:t> = </a:t>
            </a:r>
            <a:r>
              <a:rPr lang="en-US" altLang="zh-CN" sz="2400" b="0" dirty="0" err="1">
                <a:latin typeface="+mn-lt"/>
              </a:rPr>
              <a:t>getchar</a:t>
            </a:r>
            <a:r>
              <a:rPr lang="en-US" altLang="zh-CN" sz="2400" b="0" dirty="0">
                <a:latin typeface="+mn-lt"/>
              </a:rPr>
              <a:t>();</a:t>
            </a:r>
          </a:p>
          <a:p>
            <a:pPr marL="342900" indent="-342900">
              <a:lnSpc>
                <a:spcPct val="80000"/>
              </a:lnSpc>
            </a:pPr>
            <a:endParaRPr lang="en-US" altLang="zh-CN" sz="2400" b="0" dirty="0">
              <a:latin typeface="+mn-lt"/>
            </a:endParaRP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if (</a:t>
            </a:r>
            <a:r>
              <a:rPr lang="en-US" altLang="zh-CN" sz="2400" b="0" dirty="0" err="1">
                <a:latin typeface="+mn-lt"/>
              </a:rPr>
              <a:t>ch</a:t>
            </a:r>
            <a:r>
              <a:rPr lang="en-US" altLang="zh-CN" sz="2400" b="0" dirty="0">
                <a:latin typeface="+mn-lt"/>
              </a:rPr>
              <a:t> &gt;= 'A' &amp;&amp; </a:t>
            </a:r>
            <a:r>
              <a:rPr lang="en-US" altLang="zh-CN" sz="2400" b="0" dirty="0" err="1">
                <a:latin typeface="+mn-lt"/>
              </a:rPr>
              <a:t>ch</a:t>
            </a:r>
            <a:r>
              <a:rPr lang="en-US" altLang="zh-CN" sz="2400" b="0" dirty="0">
                <a:latin typeface="+mn-lt"/>
              </a:rPr>
              <a:t> &lt;='Z') {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	</a:t>
            </a:r>
            <a:r>
              <a:rPr lang="en-US" altLang="zh-CN" sz="2400" b="0" dirty="0" err="1">
                <a:latin typeface="+mn-lt"/>
              </a:rPr>
              <a:t>ch</a:t>
            </a:r>
            <a:r>
              <a:rPr lang="en-US" altLang="zh-CN" sz="2400" b="0" dirty="0">
                <a:latin typeface="+mn-lt"/>
              </a:rPr>
              <a:t> += 32;	//</a:t>
            </a:r>
            <a:r>
              <a:rPr lang="zh-CN" altLang="en-US" sz="2400" b="0" dirty="0">
                <a:latin typeface="+mn-lt"/>
              </a:rPr>
              <a:t>等效于</a:t>
            </a:r>
            <a:r>
              <a:rPr lang="en-US" altLang="zh-CN" sz="2400" b="0" dirty="0" err="1">
                <a:latin typeface="+mn-lt"/>
              </a:rPr>
              <a:t>ch</a:t>
            </a:r>
            <a:r>
              <a:rPr lang="en-US" altLang="zh-CN" sz="2400" b="0" dirty="0">
                <a:latin typeface="+mn-lt"/>
              </a:rPr>
              <a:t> += 'a'- 'A';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	</a:t>
            </a:r>
            <a:r>
              <a:rPr lang="en-US" altLang="zh-CN" sz="2400" b="0" dirty="0" err="1">
                <a:latin typeface="+mn-lt"/>
              </a:rPr>
              <a:t>printf</a:t>
            </a:r>
            <a:r>
              <a:rPr lang="en-US" altLang="zh-CN" sz="2400" b="0" dirty="0">
                <a:latin typeface="+mn-lt"/>
              </a:rPr>
              <a:t>("Yes %d %c\n",</a:t>
            </a:r>
            <a:r>
              <a:rPr lang="en-US" altLang="zh-CN" sz="2400" b="0" dirty="0" err="1">
                <a:latin typeface="+mn-lt"/>
              </a:rPr>
              <a:t>ch</a:t>
            </a:r>
            <a:r>
              <a:rPr lang="en-US" altLang="zh-CN" sz="2400" b="0" dirty="0">
                <a:latin typeface="+mn-lt"/>
              </a:rPr>
              <a:t>-'a'+</a:t>
            </a:r>
            <a:r>
              <a:rPr lang="en-US" altLang="zh-CN" sz="2400" b="0" dirty="0" err="1">
                <a:latin typeface="+mn-lt"/>
              </a:rPr>
              <a:t>1,ch</a:t>
            </a:r>
            <a:r>
              <a:rPr lang="en-US" altLang="zh-CN" sz="2400" b="0" dirty="0">
                <a:latin typeface="+mn-lt"/>
              </a:rPr>
              <a:t>);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}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else if (</a:t>
            </a:r>
            <a:r>
              <a:rPr lang="en-US" altLang="zh-CN" sz="2400" b="0" dirty="0" err="1">
                <a:latin typeface="+mn-lt"/>
              </a:rPr>
              <a:t>ch</a:t>
            </a:r>
            <a:r>
              <a:rPr lang="en-US" altLang="zh-CN" sz="2400" b="0" dirty="0">
                <a:latin typeface="+mn-lt"/>
              </a:rPr>
              <a:t> &gt;= 'a' &amp;&amp; </a:t>
            </a:r>
            <a:r>
              <a:rPr lang="en-US" altLang="zh-CN" sz="2400" b="0" dirty="0" err="1">
                <a:latin typeface="+mn-lt"/>
              </a:rPr>
              <a:t>ch</a:t>
            </a:r>
            <a:r>
              <a:rPr lang="en-US" altLang="zh-CN" sz="2400" b="0" dirty="0">
                <a:latin typeface="+mn-lt"/>
              </a:rPr>
              <a:t> &lt;= 'z'){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	</a:t>
            </a:r>
            <a:r>
              <a:rPr lang="en-US" altLang="zh-CN" sz="2400" b="0" dirty="0" err="1">
                <a:latin typeface="+mn-lt"/>
              </a:rPr>
              <a:t>ch</a:t>
            </a:r>
            <a:r>
              <a:rPr lang="en-US" altLang="zh-CN" sz="2400" b="0" dirty="0">
                <a:latin typeface="+mn-lt"/>
              </a:rPr>
              <a:t> -= 32; //</a:t>
            </a:r>
            <a:r>
              <a:rPr lang="zh-CN" altLang="en-US" sz="2400" b="0" dirty="0">
                <a:latin typeface="+mn-lt"/>
              </a:rPr>
              <a:t>等效于</a:t>
            </a:r>
            <a:r>
              <a:rPr lang="en-US" altLang="zh-CN" sz="2400" b="0" dirty="0" err="1">
                <a:latin typeface="+mn-lt"/>
              </a:rPr>
              <a:t>ch</a:t>
            </a:r>
            <a:r>
              <a:rPr lang="en-US" altLang="zh-CN" sz="2400" b="0" dirty="0">
                <a:latin typeface="+mn-lt"/>
              </a:rPr>
              <a:t> -= 'a'- 'A';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	</a:t>
            </a:r>
            <a:r>
              <a:rPr lang="en-US" altLang="zh-CN" sz="2400" b="0" dirty="0" err="1">
                <a:latin typeface="+mn-lt"/>
              </a:rPr>
              <a:t>printf</a:t>
            </a:r>
            <a:r>
              <a:rPr lang="en-US" altLang="zh-CN" sz="2400" b="0" dirty="0">
                <a:latin typeface="+mn-lt"/>
              </a:rPr>
              <a:t>("Yes %d %c\n",</a:t>
            </a:r>
            <a:r>
              <a:rPr lang="en-US" altLang="zh-CN" sz="2400" b="0" dirty="0" err="1">
                <a:latin typeface="+mn-lt"/>
              </a:rPr>
              <a:t>ch</a:t>
            </a:r>
            <a:r>
              <a:rPr lang="en-US" altLang="zh-CN" sz="2400" b="0" dirty="0">
                <a:latin typeface="+mn-lt"/>
              </a:rPr>
              <a:t>-'A'+</a:t>
            </a:r>
            <a:r>
              <a:rPr lang="en-US" altLang="zh-CN" sz="2400" b="0" dirty="0" err="1">
                <a:latin typeface="+mn-lt"/>
              </a:rPr>
              <a:t>1,ch</a:t>
            </a:r>
            <a:r>
              <a:rPr lang="en-US" altLang="zh-CN" sz="2400" b="0" dirty="0">
                <a:latin typeface="+mn-lt"/>
              </a:rPr>
              <a:t>);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}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else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    </a:t>
            </a:r>
            <a:r>
              <a:rPr lang="en-US" altLang="zh-CN" sz="2400" b="0" dirty="0" err="1">
                <a:latin typeface="+mn-lt"/>
              </a:rPr>
              <a:t>printf</a:t>
            </a:r>
            <a:r>
              <a:rPr lang="en-US" altLang="zh-CN" sz="2400" b="0" dirty="0">
                <a:latin typeface="+mn-lt"/>
              </a:rPr>
              <a:t>("No\n");</a:t>
            </a:r>
          </a:p>
          <a:p>
            <a:pPr marL="342900" indent="-342900">
              <a:lnSpc>
                <a:spcPct val="80000"/>
              </a:lnSpc>
            </a:pPr>
            <a:endParaRPr lang="en-US" altLang="zh-CN" sz="2400" b="0" dirty="0">
              <a:latin typeface="+mn-lt"/>
            </a:endParaRP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return 0;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}</a:t>
            </a:r>
          </a:p>
        </p:txBody>
      </p:sp>
      <p:sp>
        <p:nvSpPr>
          <p:cNvPr id="23555" name="Rectangle 8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zh-CN" altLang="en-US" dirty="0">
                <a:sym typeface="+mn-ea"/>
              </a:rPr>
              <a:t>字母大小写转换程序</a:t>
            </a:r>
            <a:endParaRPr lang="zh-CN" altLang="en-US" b="1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4.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编译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目的：检查程序有效性（符合编程语言语法）。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u="sng" dirty="0">
                <a:latin typeface="宋体" panose="02010600030101010101" pitchFamily="2" charset="-122"/>
                <a:cs typeface="微软雅黑" panose="020B0503020204020204" charset="-122"/>
              </a:rPr>
              <a:t>测试各种情况，注意条件的边界一定要测，非正常情况也要测试。</a:t>
            </a:r>
            <a:endParaRPr lang="en-US" altLang="zh-CN" sz="2800" b="0" u="sng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Q;	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Z;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a;	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m;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 3;	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6: #;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7: Hi!;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68409866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395730"/>
            <a:ext cx="7896225" cy="3539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/>
              <a:t>输入一个字符，判断是否为阿拉伯数字符号。若是，则输出</a:t>
            </a:r>
            <a:r>
              <a:rPr lang="en-US" altLang="zh-CN" sz="2800" dirty="0"/>
              <a:t>Yes</a:t>
            </a:r>
            <a:r>
              <a:rPr lang="zh-CN" altLang="en-US" sz="2800" dirty="0"/>
              <a:t>和对应的八进制数值</a:t>
            </a:r>
            <a:r>
              <a:rPr lang="en-US" altLang="zh-CN" sz="2800" dirty="0"/>
              <a:t>;</a:t>
            </a:r>
            <a:r>
              <a:rPr lang="zh-CN" altLang="en-US" sz="2800" dirty="0"/>
              <a:t>否则输出</a:t>
            </a:r>
            <a:r>
              <a:rPr lang="en-US" altLang="zh-CN" sz="2800" dirty="0"/>
              <a:t>No</a:t>
            </a:r>
            <a:r>
              <a:rPr lang="zh-CN" altLang="en-US" sz="2800" dirty="0"/>
              <a:t>。</a:t>
            </a:r>
          </a:p>
          <a:p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样例输入： </a:t>
            </a:r>
            <a:r>
              <a:rPr lang="en-US" altLang="zh-CN" sz="2800" dirty="0"/>
              <a:t>8</a:t>
            </a:r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样例输出： </a:t>
            </a:r>
            <a:r>
              <a:rPr lang="en-US" altLang="zh-CN" sz="2800" dirty="0"/>
              <a:t>Yes,</a:t>
            </a:r>
            <a:r>
              <a:rPr lang="zh-CN" altLang="en-US" sz="2800" dirty="0"/>
              <a:t> </a:t>
            </a:r>
            <a:r>
              <a:rPr lang="en-US" altLang="zh-CN" sz="2800" dirty="0"/>
              <a:t>10.</a:t>
            </a:r>
            <a:endParaRPr lang="zh-CN" altLang="en-US" sz="2800" dirty="0"/>
          </a:p>
          <a:p>
            <a:endParaRPr lang="en-US" altLang="zh-CN" sz="2800" dirty="0"/>
          </a:p>
          <a:p>
            <a:r>
              <a:rPr lang="zh-CN" altLang="en-US" sz="2800" dirty="0"/>
              <a:t>样例输入： </a:t>
            </a:r>
            <a:r>
              <a:rPr lang="en-US" altLang="zh-CN" sz="2800" dirty="0"/>
              <a:t>b</a:t>
            </a:r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样例输出： </a:t>
            </a:r>
            <a:r>
              <a:rPr lang="en-US" altLang="zh-CN" sz="2800" dirty="0"/>
              <a:t>No</a:t>
            </a:r>
            <a:endParaRPr lang="zh-CN" altLang="en-US" sz="2800" dirty="0"/>
          </a:p>
        </p:txBody>
      </p:sp>
      <p:sp>
        <p:nvSpPr>
          <p:cNvPr id="73733" name="Rectangle 4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lIns="92064" tIns="46032" rIns="92064" bIns="46032" anchor="b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问题：识别数码</a:t>
            </a:r>
          </a:p>
        </p:txBody>
      </p:sp>
    </p:spTree>
    <p:extLst>
      <p:ext uri="{BB962C8B-B14F-4D97-AF65-F5344CB8AC3E}">
        <p14:creationId xmlns:p14="http://schemas.microsoft.com/office/powerpoint/2010/main" val="307275939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66842"/>
            <a:ext cx="8083550" cy="489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字符相邻的算法设计：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定义字符变量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从键盘接受输入的字符，存入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if(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在数码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’0’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到‘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9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’的范围内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Yes;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定义整数变量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num;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计算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的数值存入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num;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显示器按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8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进制格式输出打印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num;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else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No;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完善：数码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letter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的数值计算表达式。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(letter –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‘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0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’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识别数码的算法设计</a:t>
            </a:r>
          </a:p>
        </p:txBody>
      </p:sp>
    </p:spTree>
    <p:extLst>
      <p:ext uri="{BB962C8B-B14F-4D97-AF65-F5344CB8AC3E}">
        <p14:creationId xmlns:p14="http://schemas.microsoft.com/office/powerpoint/2010/main" val="2012788552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38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23554" name="Rectangle 4"/>
          <p:cNvSpPr/>
          <p:nvPr/>
        </p:nvSpPr>
        <p:spPr>
          <a:xfrm>
            <a:off x="323850" y="1196975"/>
            <a:ext cx="8820150" cy="5472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#include &lt;</a:t>
            </a:r>
            <a:r>
              <a:rPr lang="en-US" altLang="zh-CN" sz="2400" b="0" dirty="0" err="1">
                <a:latin typeface="+mn-lt"/>
              </a:rPr>
              <a:t>stdio.h</a:t>
            </a:r>
            <a:r>
              <a:rPr lang="en-US" altLang="zh-CN" sz="2400" b="0" dirty="0">
                <a:latin typeface="+mn-lt"/>
              </a:rPr>
              <a:t>&gt;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int main(void){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char letter;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  int num;</a:t>
            </a:r>
          </a:p>
          <a:p>
            <a:pPr marL="342900" indent="-342900">
              <a:lnSpc>
                <a:spcPct val="80000"/>
              </a:lnSpc>
            </a:pPr>
            <a:endParaRPr lang="en-US" altLang="zh-CN" sz="2400" b="0" dirty="0">
              <a:latin typeface="+mn-lt"/>
            </a:endParaRP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</a:t>
            </a:r>
            <a:r>
              <a:rPr lang="en-US" altLang="zh-CN" sz="2400" b="0" dirty="0" err="1">
                <a:latin typeface="+mn-lt"/>
              </a:rPr>
              <a:t>printf</a:t>
            </a:r>
            <a:r>
              <a:rPr lang="en-US" altLang="zh-CN" sz="2400" b="0" dirty="0">
                <a:latin typeface="+mn-lt"/>
              </a:rPr>
              <a:t>("Enter a digit character: ");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letter = </a:t>
            </a:r>
            <a:r>
              <a:rPr lang="en-US" altLang="zh-CN" sz="2400" b="0" dirty="0" err="1">
                <a:latin typeface="+mn-lt"/>
              </a:rPr>
              <a:t>getchar</a:t>
            </a:r>
            <a:r>
              <a:rPr lang="en-US" altLang="zh-CN" sz="2400" b="0" dirty="0">
                <a:latin typeface="+mn-lt"/>
              </a:rPr>
              <a:t>();</a:t>
            </a:r>
          </a:p>
          <a:p>
            <a:pPr marL="342900" indent="-342900">
              <a:lnSpc>
                <a:spcPct val="80000"/>
              </a:lnSpc>
            </a:pPr>
            <a:endParaRPr lang="en-US" altLang="zh-CN" sz="2400" b="0" dirty="0">
              <a:latin typeface="+mn-lt"/>
            </a:endParaRP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if (letter &gt;= '0' &amp;&amp; letter &lt;= '9')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{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	num = letter - '0';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	</a:t>
            </a:r>
            <a:r>
              <a:rPr lang="en-US" altLang="zh-CN" sz="2400" b="0" dirty="0" err="1">
                <a:latin typeface="+mn-lt"/>
              </a:rPr>
              <a:t>printf</a:t>
            </a:r>
            <a:r>
              <a:rPr lang="en-US" altLang="zh-CN" sz="2400" b="0" dirty="0">
                <a:latin typeface="+mn-lt"/>
              </a:rPr>
              <a:t>("</a:t>
            </a:r>
            <a:r>
              <a:rPr lang="en-US" altLang="zh-CN" sz="2400" b="0" dirty="0" err="1">
                <a:latin typeface="+mn-lt"/>
              </a:rPr>
              <a:t>Yes,%o</a:t>
            </a:r>
            <a:r>
              <a:rPr lang="en-US" altLang="zh-CN" sz="2400" b="0" dirty="0">
                <a:latin typeface="+mn-lt"/>
              </a:rPr>
              <a:t>.\n", num);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}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else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    </a:t>
            </a:r>
            <a:r>
              <a:rPr lang="en-US" altLang="zh-CN" sz="2400" b="0" dirty="0" err="1">
                <a:latin typeface="+mn-lt"/>
              </a:rPr>
              <a:t>printf</a:t>
            </a:r>
            <a:r>
              <a:rPr lang="en-US" altLang="zh-CN" sz="2400" b="0" dirty="0">
                <a:latin typeface="+mn-lt"/>
              </a:rPr>
              <a:t>("No\n");</a:t>
            </a:r>
          </a:p>
          <a:p>
            <a:pPr marL="342900" indent="-342900">
              <a:lnSpc>
                <a:spcPct val="80000"/>
              </a:lnSpc>
            </a:pPr>
            <a:endParaRPr lang="en-US" altLang="zh-CN" sz="2400" b="0" dirty="0">
              <a:latin typeface="+mn-lt"/>
            </a:endParaRP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return 0;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}</a:t>
            </a:r>
          </a:p>
        </p:txBody>
      </p:sp>
      <p:sp>
        <p:nvSpPr>
          <p:cNvPr id="23555" name="Rectangle 8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zh-CN" altLang="en-US" dirty="0">
                <a:sym typeface="+mn-ea"/>
              </a:rPr>
              <a:t>编写识别数码的程序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242854925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4.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编译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目的：检查程序有效性（符合编程语言语法）。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u="sng" dirty="0">
                <a:latin typeface="宋体" panose="02010600030101010101" pitchFamily="2" charset="-122"/>
                <a:cs typeface="微软雅黑" panose="020B0503020204020204" charset="-122"/>
              </a:rPr>
              <a:t>测试各种情况，注意条件的边界一定要测，非正常情况也要测试。</a:t>
            </a:r>
            <a:endParaRPr lang="en-US" altLang="zh-CN" sz="2800" b="0" u="sng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0;	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8;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9;	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A;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 w;	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6: #;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7: 19;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9836754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395730"/>
            <a:ext cx="7896225" cy="3539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/>
              <a:t>输入两个字符，判断是否在</a:t>
            </a:r>
            <a:r>
              <a:rPr lang="en-US" altLang="zh-CN" sz="2800" dirty="0"/>
              <a:t>ASCII</a:t>
            </a:r>
            <a:r>
              <a:rPr lang="zh-CN" altLang="en-US" sz="2800" dirty="0"/>
              <a:t>编码表中相邻。若相邻，输出</a:t>
            </a:r>
            <a:r>
              <a:rPr lang="en-US" altLang="zh-CN" sz="2800" dirty="0"/>
              <a:t>Yes;</a:t>
            </a:r>
            <a:r>
              <a:rPr lang="zh-CN" altLang="en-US" sz="2800" dirty="0"/>
              <a:t>否则输出</a:t>
            </a:r>
            <a:r>
              <a:rPr lang="en-US" altLang="zh-CN" sz="2800" dirty="0"/>
              <a:t>No</a:t>
            </a:r>
            <a:r>
              <a:rPr lang="zh-CN" altLang="en-US" sz="2800" dirty="0"/>
              <a:t>。</a:t>
            </a:r>
          </a:p>
          <a:p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样例输入： </a:t>
            </a:r>
            <a:r>
              <a:rPr lang="en-US" altLang="zh-CN" sz="2800" dirty="0"/>
              <a:t>hi</a:t>
            </a:r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样例输出： </a:t>
            </a:r>
            <a:r>
              <a:rPr lang="en-US" altLang="zh-CN" sz="2800" dirty="0"/>
              <a:t>Yes</a:t>
            </a:r>
            <a:endParaRPr lang="zh-CN" altLang="en-US" sz="2800" dirty="0"/>
          </a:p>
          <a:p>
            <a:endParaRPr lang="en-US" altLang="zh-CN" sz="2800" dirty="0"/>
          </a:p>
          <a:p>
            <a:r>
              <a:rPr lang="zh-CN" altLang="en-US" sz="2800" dirty="0"/>
              <a:t>样例输入： </a:t>
            </a:r>
            <a:r>
              <a:rPr lang="en-US" altLang="zh-CN" sz="2800" dirty="0" err="1"/>
              <a:t>Cb</a:t>
            </a:r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样例输出： </a:t>
            </a:r>
            <a:r>
              <a:rPr lang="en-US" altLang="zh-CN" sz="2800" dirty="0"/>
              <a:t>No</a:t>
            </a:r>
            <a:endParaRPr lang="zh-CN" altLang="en-US" sz="2800" dirty="0"/>
          </a:p>
        </p:txBody>
      </p:sp>
      <p:sp>
        <p:nvSpPr>
          <p:cNvPr id="73733" name="Rectangle 4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lIns="92064" tIns="46032" rIns="92064" bIns="46032" anchor="b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问题：字符相邻判断</a:t>
            </a:r>
          </a:p>
        </p:txBody>
      </p:sp>
    </p:spTree>
    <p:extLst>
      <p:ext uri="{BB962C8B-B14F-4D97-AF65-F5344CB8AC3E}">
        <p14:creationId xmlns:p14="http://schemas.microsoft.com/office/powerpoint/2010/main" val="25999699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66842"/>
            <a:ext cx="8083550" cy="489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字符相邻的算法设计：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定义字符变量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letterA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letterB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从键盘接受输入的两个字符，存入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letterA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letterB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if(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letterA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letterB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的数值仅差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   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Yes;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else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No;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完善：字符值仅差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的表达式书写。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情况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letterA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-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letterB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== 1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情况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2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letterB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– 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letterA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== 1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两种情况是 或 关系。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字符相邻算法设计</a:t>
            </a:r>
          </a:p>
        </p:txBody>
      </p:sp>
    </p:spTree>
    <p:extLst>
      <p:ext uri="{BB962C8B-B14F-4D97-AF65-F5344CB8AC3E}">
        <p14:creationId xmlns:p14="http://schemas.microsoft.com/office/powerpoint/2010/main" val="153842295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42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23554" name="Rectangle 4"/>
          <p:cNvSpPr/>
          <p:nvPr/>
        </p:nvSpPr>
        <p:spPr>
          <a:xfrm>
            <a:off x="323850" y="1196975"/>
            <a:ext cx="8820150" cy="547211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#include &lt;</a:t>
            </a:r>
            <a:r>
              <a:rPr lang="en-US" altLang="zh-CN" sz="2400" b="0" dirty="0" err="1">
                <a:latin typeface="+mn-lt"/>
              </a:rPr>
              <a:t>stdio.h</a:t>
            </a:r>
            <a:r>
              <a:rPr lang="en-US" altLang="zh-CN" sz="2400" b="0" dirty="0">
                <a:latin typeface="+mn-lt"/>
              </a:rPr>
              <a:t>&gt;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int main(void){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char </a:t>
            </a:r>
            <a:r>
              <a:rPr lang="en-US" altLang="zh-CN" sz="2400" b="0" dirty="0" err="1">
                <a:latin typeface="+mn-lt"/>
              </a:rPr>
              <a:t>letterA,letterB</a:t>
            </a:r>
            <a:r>
              <a:rPr lang="en-US" altLang="zh-CN" sz="2400" b="0" dirty="0">
                <a:latin typeface="+mn-lt"/>
              </a:rPr>
              <a:t>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</a:t>
            </a:r>
            <a:r>
              <a:rPr lang="en-US" altLang="zh-CN" sz="2400" b="0" dirty="0" err="1">
                <a:latin typeface="+mn-lt"/>
              </a:rPr>
              <a:t>printf</a:t>
            </a:r>
            <a:r>
              <a:rPr lang="en-US" altLang="zh-CN" sz="2400" b="0" dirty="0">
                <a:latin typeface="+mn-lt"/>
              </a:rPr>
              <a:t>("Enter two character: ");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</a:t>
            </a:r>
            <a:r>
              <a:rPr lang="en-US" altLang="zh-CN" sz="2400" b="0" dirty="0" err="1">
                <a:latin typeface="+mn-lt"/>
              </a:rPr>
              <a:t>letterA</a:t>
            </a:r>
            <a:r>
              <a:rPr lang="en-US" altLang="zh-CN" sz="2400" b="0" dirty="0">
                <a:latin typeface="+mn-lt"/>
              </a:rPr>
              <a:t> = </a:t>
            </a:r>
            <a:r>
              <a:rPr lang="en-US" altLang="zh-CN" sz="2400" b="0" dirty="0" err="1">
                <a:latin typeface="+mn-lt"/>
              </a:rPr>
              <a:t>getchar</a:t>
            </a:r>
            <a:r>
              <a:rPr lang="en-US" altLang="zh-CN" sz="2400" b="0" dirty="0">
                <a:latin typeface="+mn-lt"/>
              </a:rPr>
              <a:t>();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</a:t>
            </a:r>
            <a:r>
              <a:rPr lang="en-US" altLang="zh-CN" sz="2400" b="0" dirty="0" err="1">
                <a:latin typeface="+mn-lt"/>
              </a:rPr>
              <a:t>letterB</a:t>
            </a:r>
            <a:r>
              <a:rPr lang="en-US" altLang="zh-CN" sz="2400" b="0" dirty="0">
                <a:latin typeface="+mn-lt"/>
              </a:rPr>
              <a:t> = </a:t>
            </a:r>
            <a:r>
              <a:rPr lang="en-US" altLang="zh-CN" sz="2400" b="0" dirty="0" err="1">
                <a:latin typeface="+mn-lt"/>
              </a:rPr>
              <a:t>getchar</a:t>
            </a:r>
            <a:r>
              <a:rPr lang="en-US" altLang="zh-CN" sz="2400" b="0" dirty="0">
                <a:latin typeface="+mn-lt"/>
              </a:rPr>
              <a:t>();    </a:t>
            </a:r>
          </a:p>
          <a:p>
            <a:pPr marL="342900" indent="-342900">
              <a:lnSpc>
                <a:spcPct val="80000"/>
              </a:lnSpc>
            </a:pPr>
            <a:endParaRPr lang="en-US" altLang="zh-CN" sz="2400" b="0" dirty="0">
              <a:latin typeface="+mn-lt"/>
            </a:endParaRP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if ((</a:t>
            </a:r>
            <a:r>
              <a:rPr lang="en-US" altLang="zh-CN" sz="2400" b="0" dirty="0" err="1">
                <a:latin typeface="+mn-lt"/>
              </a:rPr>
              <a:t>letterA</a:t>
            </a:r>
            <a:r>
              <a:rPr lang="en-US" altLang="zh-CN" sz="2400" b="0" dirty="0">
                <a:latin typeface="+mn-lt"/>
              </a:rPr>
              <a:t> - </a:t>
            </a:r>
            <a:r>
              <a:rPr lang="en-US" altLang="zh-CN" sz="2400" b="0" dirty="0" err="1">
                <a:latin typeface="+mn-lt"/>
              </a:rPr>
              <a:t>letterB</a:t>
            </a:r>
            <a:r>
              <a:rPr lang="en-US" altLang="zh-CN" sz="2400" b="0" dirty="0">
                <a:latin typeface="+mn-lt"/>
              </a:rPr>
              <a:t> == 1)||(</a:t>
            </a:r>
            <a:r>
              <a:rPr lang="en-US" altLang="zh-CN" sz="2400" b="0" dirty="0" err="1">
                <a:latin typeface="+mn-lt"/>
              </a:rPr>
              <a:t>letterB</a:t>
            </a:r>
            <a:r>
              <a:rPr lang="en-US" altLang="zh-CN" sz="2400" b="0" dirty="0">
                <a:latin typeface="+mn-lt"/>
              </a:rPr>
              <a:t> - </a:t>
            </a:r>
            <a:r>
              <a:rPr lang="en-US" altLang="zh-CN" sz="2400" b="0" dirty="0" err="1">
                <a:latin typeface="+mn-lt"/>
              </a:rPr>
              <a:t>letterA</a:t>
            </a:r>
            <a:r>
              <a:rPr lang="en-US" altLang="zh-CN" sz="2400" b="0" dirty="0">
                <a:latin typeface="+mn-lt"/>
              </a:rPr>
              <a:t> == 1))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{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	</a:t>
            </a:r>
            <a:r>
              <a:rPr lang="en-US" altLang="zh-CN" sz="2400" b="0" dirty="0" err="1">
                <a:latin typeface="+mn-lt"/>
              </a:rPr>
              <a:t>printf</a:t>
            </a:r>
            <a:r>
              <a:rPr lang="en-US" altLang="zh-CN" sz="2400" b="0" dirty="0">
                <a:latin typeface="+mn-lt"/>
              </a:rPr>
              <a:t>("Yes\n");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}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else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	    </a:t>
            </a:r>
            <a:r>
              <a:rPr lang="en-US" altLang="zh-CN" sz="2400" b="0" dirty="0" err="1">
                <a:latin typeface="+mn-lt"/>
              </a:rPr>
              <a:t>printf</a:t>
            </a:r>
            <a:r>
              <a:rPr lang="en-US" altLang="zh-CN" sz="2400" b="0" dirty="0">
                <a:latin typeface="+mn-lt"/>
              </a:rPr>
              <a:t>("No\n");</a:t>
            </a:r>
          </a:p>
          <a:p>
            <a:pPr marL="342900" indent="-342900">
              <a:lnSpc>
                <a:spcPct val="80000"/>
              </a:lnSpc>
            </a:pPr>
            <a:endParaRPr lang="en-US" altLang="zh-CN" sz="2400" b="0" dirty="0">
              <a:latin typeface="+mn-lt"/>
            </a:endParaRP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    return 0;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sz="2400" b="0" dirty="0">
                <a:latin typeface="+mn-lt"/>
              </a:rPr>
              <a:t>}</a:t>
            </a:r>
          </a:p>
        </p:txBody>
      </p:sp>
      <p:sp>
        <p:nvSpPr>
          <p:cNvPr id="23555" name="Rectangle 8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lang="zh-CN" altLang="en-US" dirty="0">
                <a:sym typeface="+mn-ea"/>
              </a:rPr>
              <a:t>编写字符相邻程序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057513631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4.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编译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目的：检查程序有效性（符合编程语言语法）。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u="sng" dirty="0">
                <a:latin typeface="宋体" panose="02010600030101010101" pitchFamily="2" charset="-122"/>
                <a:cs typeface="微软雅黑" panose="020B0503020204020204" charset="-122"/>
              </a:rPr>
              <a:t>测试各种情况，注意条件的边界一定要测，非正常情况也要测试。</a:t>
            </a:r>
            <a:endParaRPr lang="en-US" altLang="zh-CN" sz="2800" b="0" u="sng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hi;	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po;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AB;	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ZA;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 32;	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6: 01;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7: Hi;	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6: </a:t>
            </a:r>
            <a:r>
              <a:rPr lang="en-US" altLang="zh-CN" sz="2800" b="0" dirty="0" err="1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U8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;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1517594089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39339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思考：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如果要判断连续</a:t>
            </a: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xyz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三个字符是否前后相邻呢？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if (abs(x-y)==1 &amp;&amp; abs(y-z)==1)</a:t>
            </a:r>
          </a:p>
          <a:p>
            <a:pPr>
              <a:lnSpc>
                <a:spcPct val="130000"/>
              </a:lnSpc>
            </a:pP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if ((x-y==1 || x-y==-1)&amp;&amp;(y-z==1 || y-z==-1))</a:t>
            </a:r>
          </a:p>
          <a:p>
            <a:pPr>
              <a:lnSpc>
                <a:spcPct val="130000"/>
              </a:lnSpc>
            </a:pP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算法的扩展</a:t>
            </a:r>
          </a:p>
        </p:txBody>
      </p:sp>
    </p:spTree>
    <p:extLst>
      <p:ext uri="{BB962C8B-B14F-4D97-AF65-F5344CB8AC3E}">
        <p14:creationId xmlns:p14="http://schemas.microsoft.com/office/powerpoint/2010/main" val="3570987199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灯片编号占位符 4">
            <a:extLst>
              <a:ext uri="{FF2B5EF4-FFF2-40B4-BE49-F238E27FC236}">
                <a16:creationId xmlns:a16="http://schemas.microsoft.com/office/drawing/2014/main" id="{E39B7316-A921-44E5-8332-BC336BF8C69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29322AFE-0645-4074-8228-4C82C7DA87E3}" type="slidenum">
              <a:rPr lang="zh-CN" altLang="en-US" sz="1400"/>
              <a:pPr algn="r">
                <a:spcBef>
                  <a:spcPct val="50000"/>
                </a:spcBef>
              </a:pPr>
              <a:t>45</a:t>
            </a:fld>
            <a:endParaRPr lang="zh-CN" altLang="en-US" sz="1400"/>
          </a:p>
        </p:txBody>
      </p:sp>
      <p:graphicFrame>
        <p:nvGraphicFramePr>
          <p:cNvPr id="114690" name="Object 4">
            <a:extLst>
              <a:ext uri="{FF2B5EF4-FFF2-40B4-BE49-F238E27FC236}">
                <a16:creationId xmlns:a16="http://schemas.microsoft.com/office/drawing/2014/main" id="{4C3EEBC7-981C-473B-9BB2-3E6A15A3DA66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3635375" y="2420938"/>
          <a:ext cx="2232025" cy="20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027" imgH="1054303" progId="">
                  <p:embed/>
                </p:oleObj>
              </mc:Choice>
              <mc:Fallback>
                <p:oleObj r:id="rId2" imgW="1132027" imgH="1054303" progId="">
                  <p:embed/>
                  <p:pic>
                    <p:nvPicPr>
                      <p:cNvPr id="114690" name="Object 4">
                        <a:extLst>
                          <a:ext uri="{FF2B5EF4-FFF2-40B4-BE49-F238E27FC236}">
                            <a16:creationId xmlns:a16="http://schemas.microsoft.com/office/drawing/2014/main" id="{4C3EEBC7-981C-473B-9BB2-3E6A15A3DA6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420938"/>
                        <a:ext cx="2232025" cy="20780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numdgm"/>
</p:tagLst>
</file>

<file path=ppt/theme/theme1.xml><?xml version="1.0" encoding="utf-8"?>
<a:theme xmlns:a="http://schemas.openxmlformats.org/drawingml/2006/main" name="经分互动规范介绍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编程类讲义字体">
      <a:majorFont>
        <a:latin typeface="Consolas"/>
        <a:ea typeface="宋体"/>
        <a:cs typeface=""/>
      </a:majorFont>
      <a:minorFont>
        <a:latin typeface="Consola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33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78787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005BE5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2741</TotalTime>
  <Words>3860</Words>
  <Application>Microsoft Office PowerPoint</Application>
  <PresentationFormat>全屏显示(4:3)</PresentationFormat>
  <Paragraphs>534</Paragraphs>
  <Slides>45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45</vt:i4>
      </vt:variant>
    </vt:vector>
  </HeadingPairs>
  <TitlesOfParts>
    <vt:vector size="57" baseType="lpstr">
      <vt:lpstr>Monotype Sorts</vt:lpstr>
      <vt:lpstr>仿宋</vt:lpstr>
      <vt:lpstr>华文中宋</vt:lpstr>
      <vt:lpstr>楷体_GB2312</vt:lpstr>
      <vt:lpstr>宋体</vt:lpstr>
      <vt:lpstr>微软雅黑</vt:lpstr>
      <vt:lpstr>Arial</vt:lpstr>
      <vt:lpstr>Cambria Math</vt:lpstr>
      <vt:lpstr>Consolas</vt:lpstr>
      <vt:lpstr>Times New Roman</vt:lpstr>
      <vt:lpstr>Wingdings</vt:lpstr>
      <vt:lpstr>经分互动规范介绍</vt:lpstr>
      <vt:lpstr>PowerPoint 演示文稿</vt:lpstr>
      <vt:lpstr>关系表达式</vt:lpstr>
      <vt:lpstr>关系运算的优先级</vt:lpstr>
      <vt:lpstr>浮点数相等比较</vt:lpstr>
      <vt:lpstr>PowerPoint 演示文稿</vt:lpstr>
      <vt:lpstr>关系运算测试程序</vt:lpstr>
      <vt:lpstr>是非选择结构</vt:lpstr>
      <vt:lpstr>使用大括号构造复合语句</vt:lpstr>
      <vt:lpstr>逻辑运算符</vt:lpstr>
      <vt:lpstr> 自然语言中的或语义</vt:lpstr>
      <vt:lpstr>逻辑运算的优先级</vt:lpstr>
      <vt:lpstr>德摩根律</vt:lpstr>
      <vt:lpstr>德摩根律的练习</vt:lpstr>
      <vt:lpstr>逻辑运算练习</vt:lpstr>
      <vt:lpstr>PowerPoint 演示文稿</vt:lpstr>
      <vt:lpstr>PowerPoint 演示文稿</vt:lpstr>
      <vt:lpstr>编写解方程的代码</vt:lpstr>
      <vt:lpstr>编写解方程的代码</vt:lpstr>
      <vt:lpstr>编写解方程的代码</vt:lpstr>
      <vt:lpstr>PowerPoint 演示文稿</vt:lpstr>
      <vt:lpstr>意外终止</vt:lpstr>
      <vt:lpstr>PowerPoint 演示文稿</vt:lpstr>
      <vt:lpstr>解方程代码添加exit后，结构较清晰</vt:lpstr>
      <vt:lpstr>PowerPoint 演示文稿</vt:lpstr>
      <vt:lpstr>PowerPoint 演示文稿</vt:lpstr>
      <vt:lpstr>PowerPoint 演示文稿</vt:lpstr>
      <vt:lpstr>PowerPoint 演示文稿</vt:lpstr>
      <vt:lpstr>编程活动步骤3-编写代码</vt:lpstr>
      <vt:lpstr>PowerPoint 演示文稿</vt:lpstr>
      <vt:lpstr>日期问题</vt:lpstr>
      <vt:lpstr>判断一年的天数（闰年）</vt:lpstr>
      <vt:lpstr>PowerPoint 演示文稿</vt:lpstr>
      <vt:lpstr>PowerPoint 演示文稿</vt:lpstr>
      <vt:lpstr>字母大小写转换程序</vt:lpstr>
      <vt:lpstr>PowerPoint 演示文稿</vt:lpstr>
      <vt:lpstr>PowerPoint 演示文稿</vt:lpstr>
      <vt:lpstr>PowerPoint 演示文稿</vt:lpstr>
      <vt:lpstr>编写识别数码的程序</vt:lpstr>
      <vt:lpstr>PowerPoint 演示文稿</vt:lpstr>
      <vt:lpstr>PowerPoint 演示文稿</vt:lpstr>
      <vt:lpstr>PowerPoint 演示文稿</vt:lpstr>
      <vt:lpstr>编写字符相邻程序</vt:lpstr>
      <vt:lpstr>PowerPoint 演示文稿</vt:lpstr>
      <vt:lpstr>PowerPoint 演示文稿</vt:lpstr>
      <vt:lpstr>PowerPoint 演示文稿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计算机导轮与程序设计</dc:title>
  <dc:creator>zhang yanmei</dc:creator>
  <cp:lastModifiedBy>zhang yanmei</cp:lastModifiedBy>
  <cp:revision>1098</cp:revision>
  <dcterms:created xsi:type="dcterms:W3CDTF">2001-07-15T23:49:00Z</dcterms:created>
  <dcterms:modified xsi:type="dcterms:W3CDTF">2023-09-13T08:13:34Z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