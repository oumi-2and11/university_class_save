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54" r:id="rId2"/>
    <p:sldMasterId id="2147484291" r:id="rId3"/>
  </p:sldMasterIdLst>
  <p:notesMasterIdLst>
    <p:notesMasterId r:id="rId23"/>
  </p:notesMasterIdLst>
  <p:handoutMasterIdLst>
    <p:handoutMasterId r:id="rId24"/>
  </p:handoutMasterIdLst>
  <p:sldIdLst>
    <p:sldId id="256" r:id="rId4"/>
    <p:sldId id="1261" r:id="rId5"/>
    <p:sldId id="1262" r:id="rId6"/>
    <p:sldId id="1256" r:id="rId7"/>
    <p:sldId id="1260" r:id="rId8"/>
    <p:sldId id="1083" r:id="rId9"/>
    <p:sldId id="1652" r:id="rId10"/>
    <p:sldId id="258" r:id="rId11"/>
    <p:sldId id="297" r:id="rId12"/>
    <p:sldId id="289" r:id="rId13"/>
    <p:sldId id="265" r:id="rId14"/>
    <p:sldId id="1654" r:id="rId15"/>
    <p:sldId id="301" r:id="rId16"/>
    <p:sldId id="1651" r:id="rId17"/>
    <p:sldId id="746" r:id="rId18"/>
    <p:sldId id="748" r:id="rId19"/>
    <p:sldId id="1990" r:id="rId20"/>
    <p:sldId id="1655" r:id="rId21"/>
    <p:sldId id="747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66229EA-518C-408D-91C8-3ECF54DA186E}">
          <p14:sldIdLst>
            <p14:sldId id="256"/>
          </p14:sldIdLst>
        </p14:section>
        <p14:section name="伪代码描述" id="{A0F78D57-AA33-4805-83C5-7DE3CC54E928}">
          <p14:sldIdLst>
            <p14:sldId id="1261"/>
            <p14:sldId id="1262"/>
          </p14:sldIdLst>
        </p14:section>
        <p14:section name="流程图" id="{5BE02C31-943C-476B-BF0F-8683D354B201}">
          <p14:sldIdLst>
            <p14:sldId id="1256"/>
            <p14:sldId id="1260"/>
          </p14:sldIdLst>
        </p14:section>
        <p14:section name="NS图" id="{EC4047B9-1D34-44CD-B4E9-6E56D59FA302}">
          <p14:sldIdLst>
            <p14:sldId id="1083"/>
            <p14:sldId id="1652"/>
          </p14:sldIdLst>
        </p14:section>
        <p14:section name="结构化设计方法" id="{0E9D1DF4-6ADB-4E1B-BD38-09F35687F9E6}">
          <p14:sldIdLst>
            <p14:sldId id="258"/>
            <p14:sldId id="297"/>
            <p14:sldId id="289"/>
          </p14:sldIdLst>
        </p14:section>
        <p14:section name="求整数长度" id="{A00493F6-537C-45B0-99B2-8C5C6BB44197}">
          <p14:sldIdLst>
            <p14:sldId id="265"/>
            <p14:sldId id="1654"/>
            <p14:sldId id="301"/>
          </p14:sldIdLst>
        </p14:section>
        <p14:section name="回文数" id="{8088E00C-5697-4802-96C0-484166B12807}">
          <p14:sldIdLst>
            <p14:sldId id="1651"/>
            <p14:sldId id="746"/>
            <p14:sldId id="748"/>
          </p14:sldIdLst>
        </p14:section>
        <p14:section name="状态机示例" id="{44F429F5-D848-4ECC-BBCB-32CB372560E4}">
          <p14:sldIdLst>
            <p14:sldId id="1990"/>
            <p14:sldId id="1655"/>
          </p14:sldIdLst>
        </p14:section>
        <p14:section name="结束" id="{F6568633-84F0-4B38-B7A5-A2CFF0CA4B9F}">
          <p14:sldIdLst>
            <p14:sldId id="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410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66FF"/>
    <a:srgbClr val="FF3300"/>
    <a:srgbClr val="9966FF"/>
    <a:srgbClr val="2D35D3"/>
    <a:srgbClr val="99CCFF"/>
    <a:srgbClr val="FF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544" autoAdjust="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4410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03DB1B8-83C9-4A04-94DF-25E6CCAD53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FEBA77-58EB-4A64-8709-4146E53C2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latin typeface="Times New Roman" panose="02020603050405020304" pitchFamily="2" charset="0"/>
              </a:defRPr>
            </a:lvl1pPr>
          </a:lstStyle>
          <a:p>
            <a:fld id="{0F9B84EA-7D68-4D60-9CB1-D50884785D1C}" type="datetimeFigureOut">
              <a:rPr lang="zh-CN" altLang="en-US"/>
              <a:pPr/>
              <a:t>2023/11/6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358BFB-D437-4820-8AAE-40F8D91E38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194ED5-BC1E-447D-A3D0-9C3FC1933F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32790B-E5BE-49A5-B1ED-8663EEEB1D4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336647A-EF9F-4843-AAE3-52621A41AF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0"/>
              </a:spcBef>
              <a:defRPr sz="1200" noProof="1" dirty="0"/>
            </a:lvl1pPr>
          </a:lstStyle>
          <a:p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9D48B94-6B0D-40B5-8B69-1DCFDAA27D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spcBef>
                <a:spcPct val="0"/>
              </a:spcBef>
              <a:defRPr sz="1200" noProof="1" dirty="0"/>
            </a:lvl1pPr>
          </a:lstStyle>
          <a:p>
            <a:endParaRPr lang="en-US" altLang="x-none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4A04AC2A-C46F-4CE7-B23B-E519EFC79407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925513" y="685800"/>
            <a:ext cx="500856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A5A1E3AA-CCE6-47DE-A281-B35241472CA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2813" y="4343400"/>
            <a:ext cx="5030787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9F18E6E-F74D-4C96-B7CD-7E89669659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spcBef>
                <a:spcPct val="0"/>
              </a:spcBef>
              <a:defRPr sz="1200" noProof="1" dirty="0"/>
            </a:lvl1pPr>
          </a:lstStyle>
          <a:p>
            <a:endParaRPr lang="en-US" altLang="x-non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BA66A81-BBCE-43E5-A596-978B4393F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0844B4C9-984D-4999-8321-D9E8D75CD4D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F886357-E3BC-40A9-B08D-8863CA1FF8B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>
              <a:spcBef>
                <a:spcPct val="0"/>
              </a:spcBef>
            </a:pPr>
            <a:fld id="{4294F1FD-79D9-449F-9F69-031123C5FB73}" type="slidenum">
              <a:rPr lang="zh-CN" altLang="en-US" sz="1200"/>
              <a:pPr algn="r">
                <a:spcBef>
                  <a:spcPct val="0"/>
                </a:spcBef>
              </a:pPr>
              <a:t>1</a:t>
            </a:fld>
            <a:endParaRPr lang="zh-CN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4C5DCA3-3A25-427A-AE33-9FD90346025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3000" y="685800"/>
            <a:ext cx="4573588" cy="3429000"/>
          </a:xfrm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2330C21-390D-4D21-B3F0-C4E904BB55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 anchor="t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8229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5220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eaLnBrk="1" hangingPunct="1">
              <a:buNone/>
            </a:pPr>
            <a:r>
              <a:rPr lang="en-US" altLang="x-none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自顶向下</a:t>
            </a:r>
            <a:r>
              <a:rPr lang="en-US" altLang="x-none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逐步求精；</a:t>
            </a:r>
            <a:endParaRPr lang="zh-CN" altLang="en-US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lvl="0" indent="-342900" eaLnBrk="1" hangingPunct="1"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   采用分而治之的方法，将一个复杂问题分解为相对简单的一些子问题，然后针对这些子问题进行求解。如果某个子问题仍然是比较复杂的，再进一步分解为子</a:t>
            </a:r>
            <a:r>
              <a:rPr lang="en-US" altLang="x-none" b="1" dirty="0">
                <a:latin typeface="楷体_GB2312" pitchFamily="1" charset="-122"/>
                <a:ea typeface="楷体_GB2312" pitchFamily="1" charset="-122"/>
                <a:sym typeface="+mn-ea"/>
              </a:rPr>
              <a:t>-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子问题，直到所有问题都能够求解。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marL="342900" lvl="0" indent="-342900" eaLnBrk="1" hangingPunct="1">
              <a:buNone/>
            </a:pPr>
            <a:endParaRPr lang="en-US" altLang="x-none" b="1" dirty="0">
              <a:latin typeface="楷体_GB2312" pitchFamily="1" charset="-122"/>
              <a:ea typeface="楷体_GB2312" pitchFamily="1" charset="-122"/>
            </a:endParaRPr>
          </a:p>
          <a:p>
            <a:pPr marL="342900" lvl="0" indent="-342900" eaLnBrk="1" hangingPunct="1">
              <a:buNone/>
            </a:pPr>
            <a:r>
              <a:rPr lang="en-US" altLang="x-none" dirty="0">
                <a:latin typeface="Times New Roman" pitchFamily="18" charset="0"/>
                <a:ea typeface="宋体" charset="-122"/>
                <a:sym typeface="+mn-ea"/>
              </a:rPr>
              <a:t>     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优点：先全局后局部、先整体后细节、先抽象后具体，有助于控制问题的复杂性，利于问题的解决。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fontAlgn="base"/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20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世纪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60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年代末和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70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年代，有些人不加限制地使用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goto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语句，使得程序结构难于理解；</a:t>
            </a:r>
            <a:endParaRPr lang="en-US" altLang="x-none" strike="noStrike" noProof="1">
              <a:latin typeface="楷体_GB2312" pitchFamily="1" charset="-122"/>
              <a:ea typeface="楷体_GB2312" pitchFamily="1" charset="-122"/>
            </a:endParaRPr>
          </a:p>
          <a:p>
            <a:pPr lvl="0" fontAlgn="base"/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能否消除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goto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语句？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 1966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年，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G.Jacopini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和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C.Bohm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从理论上证明了：任何程序都可以用顺序结构、条件结构和循环结构表示出来。</a:t>
            </a:r>
            <a:endParaRPr lang="en-US" altLang="x-none" strike="noStrike" noProof="1">
              <a:latin typeface="楷体_GB2312" pitchFamily="1" charset="-122"/>
              <a:ea typeface="楷体_GB2312" pitchFamily="1" charset="-122"/>
            </a:endParaRPr>
          </a:p>
          <a:p>
            <a:pPr marL="342900" lvl="1" indent="-342900" fontAlgn="base">
              <a:buChar char="•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结构化程序设计方法：</a:t>
            </a:r>
            <a:r>
              <a:rPr lang="en-US" altLang="x-none" dirty="0">
                <a:latin typeface="楷体_GB2312" pitchFamily="1" charset="-122"/>
                <a:sym typeface="+mn-ea"/>
              </a:rPr>
              <a:t> E.W.dijkstra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在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1969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年提出，在当时是一种新的程序设计方法和风格，关注程序结构的好坏，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强调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  <a:sym typeface="+mn-ea"/>
              </a:rPr>
              <a:t>程序设计风格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和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  <a:sym typeface="+mn-ea"/>
              </a:rPr>
              <a:t>程序结构的规范化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，提倡清晰的结构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7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3F540B-B316-4748-95D8-BCB31CC0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2654A7-E333-4C42-B555-159151B85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389F12-673A-4F48-BC85-E607563A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A3F06D-196B-4A12-B154-21B4D4B61F8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3411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DAE190-0497-48E5-A04E-61CD3368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194D47-329A-41E5-84C1-78609006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5F842E-83D9-489B-8ED1-BB8C2208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D946C-0629-4AF7-8795-FE81C4E5029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3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B46C12-181D-468E-A3BF-898553E7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A9E627-9862-4D56-A8CB-240499A0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B46417-D60B-4B0B-9B0F-14A16DA8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419AF-FFF1-4115-B227-BE2DF63C90D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5550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E95AC-BA42-40A8-AA13-111CE3D9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8EF6A-987D-45EC-9DC2-F5DB2145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5B9B7-1758-45F9-AB71-11C18AFF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4AA0D5-DE54-441C-9B9B-28189BC71ED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9936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BAC9D5-CF80-4E84-97D2-D882C7CC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CACF796-3419-40F7-82EA-FD13FCE00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35E2BC-A961-4E20-83B0-A290EA3C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6FF689-283B-4091-9EA8-B006BD14723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6474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C5FEED4-1551-4664-820C-C5765D4E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6236E3-1472-4327-B30B-73D5129B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1FC7F0-DAD0-4744-94CC-0564EB75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7AF721-20F0-480A-AEED-8D5C4B35E84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9494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725458-15A7-4F52-BFC3-87959F03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BFD0184-AC97-4EC7-AE9F-C11B4C3C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37381B4-23AE-4422-AE4D-DE26E0CB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7AD67-2426-4D48-9A20-0B071BC9322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90232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87DDA7-DA6E-4A1E-AA3E-BC576841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4C4C4-9397-46A4-A86C-3A9DBB10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B9B5E-3882-49E4-AF61-F7106B2B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62E80-A98B-4A0F-A31B-3974E9559F8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40009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34274-224C-4C27-92CA-A2661F87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11DF5-2F8E-48B5-BDF0-80086E3C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66221-6278-4F1B-974D-51C8A372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29346-9A7B-438E-94BF-C696561E2D6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68965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49B02B-FDFB-4076-BA5F-D5AD7074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2CB6E7-2B89-42F7-84D7-F5861D6A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FBEE1B-C800-4D12-8834-57A62389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157B0C-394E-4FE9-951C-3F4728F74A3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82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3A4B9B-2626-4F4B-82B8-61F1B06C98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E2AD21-0CFE-4F9C-8998-AFA20621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DDCC7D-6E06-4628-B441-AEE4E437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26C846-8872-4EAB-834E-0B5C6E936C0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14774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391ABF-6AED-47C0-A05E-CF356F75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D33694-5E6E-4437-90D1-57FA023C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13064B-75A5-4068-996C-A704DB32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FB8C-1B64-4CAE-9A15-7CF2598E26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42017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B3859B-8EF1-4415-AACB-2061AD88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1F7806-EA94-4FDA-AF57-7B57D3C3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7228C2-B0E7-407F-B4F7-48A85149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A80AF-6C3B-4DE6-85E5-3C165491FEF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2866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BA0D29-C083-40F0-BA12-B2EF8C0A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3D577F-1FCB-4425-A6C8-6F32D441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17D74-99D3-477E-93E6-0076E0D5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AE7B95-D9AB-490C-8275-D8626D8411D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4381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06314-3623-4EE4-97B4-5B6357FC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7BDD7-7A5B-4A43-8CB7-07A6BAFE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AE018-B08D-49AA-84B5-EE5DC7C3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EC8532-4542-4A98-9F37-2F1CD902599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5617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7A77620-F1D7-4D66-A938-9A0A1EA5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38A52C-DF29-46FF-9583-BE066914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295D432-DC84-43D9-80B9-4CBD93A5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BB724A-1DAA-4F29-B7D9-D5DE0F22A54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191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991F0EF-F7D7-4A36-B248-DE8A7D06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E57495-623D-4A75-8B15-8A455784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E43F63-AFC5-426D-B54C-DE994D04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83D841-7DB3-4D18-84D4-3366A51A61F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131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B0B0904-8A7B-418D-BF6D-104870D5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13445E0-E5CF-4950-A7FB-9955072B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88D586-61EC-4B64-A0DE-DF55D518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805F62-74FC-4773-956D-059398D038B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94954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D93CF-AC5C-4AA0-8294-C69817BF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019EA5-4D98-4AFC-85A0-FF84C536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26F86-2123-4926-A193-B42EBC84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83750E-2990-44C4-B83E-131774F8008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24687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10D1C-088A-4DAD-B7DB-8AEDD2B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FAE6A-3226-4511-A9A8-67AA3951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5D5BDB-86C1-4E67-B135-39A8E0B3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6B3EF-D3D1-41CA-848E-EFF9DF7C8C2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8369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C84890-9AC5-4929-A2FD-8D7285D8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851A0-5998-4EFC-A7FF-1D2F612A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69593D-2B5A-49AF-AA09-2B1F2A06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5F9CFB-055C-4049-B1F1-86C563CAEF5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7553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1D8DCF-5922-4B7F-A198-EC7E9073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39CEFE-F15B-42DD-8E3B-D83AEAAF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8D8D1B-B8BD-4BEA-B6C2-FEC73D819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235CC9-8A72-4792-86D3-B6DA819A3B9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38875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DA5F33-2A5F-4562-ADAC-85517A3F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764966-C6E7-446D-A74F-507B9110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7BB1F5-BF13-445B-B091-115E859C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9ED79-D1E6-47A4-AC2E-BB4C9CDF806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35699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4E8A7F-28BC-4D83-AD49-C372CBA9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262924-B6FC-4350-8427-253A6565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C4C9D2-32CC-47CA-A779-44DF9A18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5A90C8-2F6E-4E00-8CA1-36411FD417C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81748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30C43D-AE33-452A-B1FC-7E627C8B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572927-A0FB-4240-983C-87E92E8F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3C92C1-8FDF-4D13-B9DA-6AECBDFF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B68561-AF3C-48E5-AD00-FD4D0BB93E4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311461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23E1E-862B-44EC-801F-5009BDA9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9EFBF-ABB2-4C7A-9C65-6879AA10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10615-1E1F-437E-AA36-CAE87FB0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ADD750-F78D-414B-8C56-33121A10B9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44968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4B79BE-DEA1-4F5E-8772-0CAC9A7F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C786AD0-F317-4C68-A6AC-449AD40E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D9E5485-D261-46DB-B8A7-F4EA9FF2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D5B8E1-D7DF-4162-BC61-D497AE03A03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3073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3A7C82-2A1C-43C4-9A00-ED75F034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16335D-3005-4A53-A96E-D3CF30DF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1DC309-C29D-4F5B-8B31-FB5E3BBB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B747D9-0262-430C-8116-6469EBDC6E4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83993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05F380-7C0F-48BF-9CE5-68B2E619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43657B-8D6D-479D-BB1B-CF2425F9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505760-430D-462F-B73A-570D198C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6747F-00A8-4FC2-BB87-93492E9597A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5775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18D8C-ECF9-44F3-83CA-F4E0C708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489D0-6BA4-4D2F-92C0-D2C67DED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0FF4D-2D15-4D57-B836-7290800A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3F4B6A-86EA-4B5A-99FA-0ACEB2013CC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36048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A210C-5329-4F88-ADAA-456F302B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EA1CBF-23EB-4FE8-ADBE-D7A00A29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4B221-3E7F-4633-9D59-CE7065A6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8E4E8B-4EEB-4686-8E3E-C743792928F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45669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09A81E-9011-45B7-BB8B-E4280F91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90EE58-2F2C-486E-A0A1-F457A5AD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F4DB63-2264-4532-8BEA-A1993001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1416AB-D73D-4E2B-B232-51E157CD622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1372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713A64-2943-4F38-9005-5F44DA36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FC91CA-21FA-4526-872F-24CEBA8D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E7E5C8-5271-4029-AE58-30863704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D5B573-3B7D-4677-8E56-699584566AB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6111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4"/>
            <a:ext cx="7772400" cy="7207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4"/>
            <a:ext cx="3810000" cy="223043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4"/>
            <a:ext cx="3810000" cy="223043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85800">
              <a:defRPr/>
            </a:pPr>
            <a:endParaRPr kumimoji="1" lang="en-US" altLang="zh-CN" sz="1050" b="0" noProof="0">
              <a:latin typeface="Times New Roman" pitchFamily="18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z="1050" b="1" strike="noStrike" noProof="1" dirty="0">
                <a:latin typeface="Times New Roman" pitchFamily="18" charset="0"/>
                <a:ea typeface="宋体" pitchFamily="2" charset="-122"/>
                <a:cs typeface="+mn-ea"/>
              </a:rPr>
              <a:t>‹#›</a:t>
            </a:fld>
            <a:endParaRPr lang="en-US" altLang="zh-CN" sz="1050" b="1" strike="noStrike" noProof="1"/>
          </a:p>
        </p:txBody>
      </p:sp>
    </p:spTree>
    <p:extLst>
      <p:ext uri="{BB962C8B-B14F-4D97-AF65-F5344CB8AC3E}">
        <p14:creationId xmlns:p14="http://schemas.microsoft.com/office/powerpoint/2010/main" val="41090673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569413-C6DB-41E8-A40B-47ADB3A89FF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262A0B-B4EE-4F39-AF33-6E86B169D4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502088-740A-46B3-AB50-B5C77C762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6AA32C-A5CA-442C-A591-12596C663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en-US" altLang="x-non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D4E4030-7B64-4322-9C75-6F4096D2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0E0D2185-FDC0-4BF3-A99B-655E0E0EF47E}" type="slidenum">
              <a:rPr lang="zh-CN" altLang="en-US"/>
              <a:pPr/>
              <a:t>‹#›</a:t>
            </a:fld>
            <a:endParaRPr lang="zh-CN" altLang="en-US"/>
          </a:p>
        </p:txBody>
      </p:sp>
      <p:grpSp>
        <p:nvGrpSpPr>
          <p:cNvPr id="1031" name="组合 1030">
            <a:extLst>
              <a:ext uri="{FF2B5EF4-FFF2-40B4-BE49-F238E27FC236}">
                <a16:creationId xmlns:a16="http://schemas.microsoft.com/office/drawing/2014/main" id="{A076EE4D-A9C6-4DC5-B611-6DBE799261C6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id="{4BEFC0FD-08D5-4ED4-96A1-A2FD11940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3" name="Line 9">
              <a:extLst>
                <a:ext uri="{FF2B5EF4-FFF2-40B4-BE49-F238E27FC236}">
                  <a16:creationId xmlns:a16="http://schemas.microsoft.com/office/drawing/2014/main" id="{DC7890DF-5890-46A2-9933-B7F13C3FA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Line 10">
              <a:extLst>
                <a:ext uri="{FF2B5EF4-FFF2-40B4-BE49-F238E27FC236}">
                  <a16:creationId xmlns:a16="http://schemas.microsoft.com/office/drawing/2014/main" id="{1C748971-E249-4C22-961D-CC1C4725C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11">
              <a:extLst>
                <a:ext uri="{FF2B5EF4-FFF2-40B4-BE49-F238E27FC236}">
                  <a16:creationId xmlns:a16="http://schemas.microsoft.com/office/drawing/2014/main" id="{260E3213-B1E8-43FC-BF63-5D456DF50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Line 12">
              <a:extLst>
                <a:ext uri="{FF2B5EF4-FFF2-40B4-BE49-F238E27FC236}">
                  <a16:creationId xmlns:a16="http://schemas.microsoft.com/office/drawing/2014/main" id="{A536626C-5F73-4488-AB7C-097C9D0A9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13">
              <a:extLst>
                <a:ext uri="{FF2B5EF4-FFF2-40B4-BE49-F238E27FC236}">
                  <a16:creationId xmlns:a16="http://schemas.microsoft.com/office/drawing/2014/main" id="{FBC9154F-1C36-48F0-A85D-88389649E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Line 14">
              <a:extLst>
                <a:ext uri="{FF2B5EF4-FFF2-40B4-BE49-F238E27FC236}">
                  <a16:creationId xmlns:a16="http://schemas.microsoft.com/office/drawing/2014/main" id="{7EF58E7E-26A7-44CF-B9EA-F18BD20C4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Line 15">
              <a:extLst>
                <a:ext uri="{FF2B5EF4-FFF2-40B4-BE49-F238E27FC236}">
                  <a16:creationId xmlns:a16="http://schemas.microsoft.com/office/drawing/2014/main" id="{D4D4B573-B7BA-4B9E-923E-6FD5189D9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40" name="Line 16">
            <a:extLst>
              <a:ext uri="{FF2B5EF4-FFF2-40B4-BE49-F238E27FC236}">
                <a16:creationId xmlns:a16="http://schemas.microsoft.com/office/drawing/2014/main" id="{E7BB452A-CE77-4FE3-9FB4-D2BA43242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Text Box 17">
            <a:extLst>
              <a:ext uri="{FF2B5EF4-FFF2-40B4-BE49-F238E27FC236}">
                <a16:creationId xmlns:a16="http://schemas.microsoft.com/office/drawing/2014/main" id="{64E0B0FC-837A-492D-81F7-F0D9FF3F1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</p:txBody>
      </p:sp>
      <p:pic>
        <p:nvPicPr>
          <p:cNvPr id="1042" name="Picture 18" descr="bupt">
            <a:extLst>
              <a:ext uri="{FF2B5EF4-FFF2-40B4-BE49-F238E27FC236}">
                <a16:creationId xmlns:a16="http://schemas.microsoft.com/office/drawing/2014/main" id="{DBE029C6-6486-44B8-89BD-5A2C26075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03" r:id="rId1"/>
    <p:sldLayoutId id="2147485102" r:id="rId2"/>
    <p:sldLayoutId id="2147485101" r:id="rId3"/>
    <p:sldLayoutId id="2147485100" r:id="rId4"/>
    <p:sldLayoutId id="2147485099" r:id="rId5"/>
    <p:sldLayoutId id="2147485098" r:id="rId6"/>
    <p:sldLayoutId id="2147485097" r:id="rId7"/>
    <p:sldLayoutId id="2147485096" r:id="rId8"/>
    <p:sldLayoutId id="2147485095" r:id="rId9"/>
    <p:sldLayoutId id="2147485094" r:id="rId10"/>
    <p:sldLayoutId id="2147485093" r:id="rId11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A98AABA-7238-421D-92B1-F0B25C729C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D9B9664-27E3-4DBE-897D-75CF4E2D88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81EE9DC-8CE2-4C3B-A9BF-43347B97D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C603450-FDFE-4C64-B0E1-F8936A7D3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en-US" altLang="x-none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D2C5147-E5F8-4F19-BF41-6511EEF59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08CC586C-F44A-4140-81E6-4F5E2A25881A}" type="slidenum">
              <a:rPr lang="zh-CN" altLang="en-US"/>
              <a:pPr/>
              <a:t>‹#›</a:t>
            </a:fld>
            <a:endParaRPr lang="zh-CN" altLang="en-US"/>
          </a:p>
        </p:txBody>
      </p:sp>
      <p:grpSp>
        <p:nvGrpSpPr>
          <p:cNvPr id="2055" name="组合 2054">
            <a:extLst>
              <a:ext uri="{FF2B5EF4-FFF2-40B4-BE49-F238E27FC236}">
                <a16:creationId xmlns:a16="http://schemas.microsoft.com/office/drawing/2014/main" id="{0445F8F2-BEC3-4FF5-84B1-D23395D62B68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2056" name="Rectangle 8">
              <a:extLst>
                <a:ext uri="{FF2B5EF4-FFF2-40B4-BE49-F238E27FC236}">
                  <a16:creationId xmlns:a16="http://schemas.microsoft.com/office/drawing/2014/main" id="{4D9913EA-1BDC-4D3A-83CB-13AF14B86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2057" name="Line 9">
              <a:extLst>
                <a:ext uri="{FF2B5EF4-FFF2-40B4-BE49-F238E27FC236}">
                  <a16:creationId xmlns:a16="http://schemas.microsoft.com/office/drawing/2014/main" id="{5972B522-AF2A-407E-9354-BEDDBA017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Line 10">
              <a:extLst>
                <a:ext uri="{FF2B5EF4-FFF2-40B4-BE49-F238E27FC236}">
                  <a16:creationId xmlns:a16="http://schemas.microsoft.com/office/drawing/2014/main" id="{F955E154-5812-410B-BF1E-2D78D2DB0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Line 11">
              <a:extLst>
                <a:ext uri="{FF2B5EF4-FFF2-40B4-BE49-F238E27FC236}">
                  <a16:creationId xmlns:a16="http://schemas.microsoft.com/office/drawing/2014/main" id="{9F5CECD6-18DE-4DFE-894E-866319590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Line 12">
              <a:extLst>
                <a:ext uri="{FF2B5EF4-FFF2-40B4-BE49-F238E27FC236}">
                  <a16:creationId xmlns:a16="http://schemas.microsoft.com/office/drawing/2014/main" id="{A44C5A83-2CE1-49FB-8051-EBBE47164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Line 13">
              <a:extLst>
                <a:ext uri="{FF2B5EF4-FFF2-40B4-BE49-F238E27FC236}">
                  <a16:creationId xmlns:a16="http://schemas.microsoft.com/office/drawing/2014/main" id="{541C3E32-5392-4FA9-9207-7A9592A30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Line 14">
              <a:extLst>
                <a:ext uri="{FF2B5EF4-FFF2-40B4-BE49-F238E27FC236}">
                  <a16:creationId xmlns:a16="http://schemas.microsoft.com/office/drawing/2014/main" id="{160943CE-BA7C-4310-886A-830AD202D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Line 15">
              <a:extLst>
                <a:ext uri="{FF2B5EF4-FFF2-40B4-BE49-F238E27FC236}">
                  <a16:creationId xmlns:a16="http://schemas.microsoft.com/office/drawing/2014/main" id="{B4553729-168F-4D1D-8B7B-F5234AC92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4" name="Line 16">
            <a:extLst>
              <a:ext uri="{FF2B5EF4-FFF2-40B4-BE49-F238E27FC236}">
                <a16:creationId xmlns:a16="http://schemas.microsoft.com/office/drawing/2014/main" id="{66F1EF91-62B2-433D-860D-F7A1FC690C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5" name="Text Box 17">
            <a:extLst>
              <a:ext uri="{FF2B5EF4-FFF2-40B4-BE49-F238E27FC236}">
                <a16:creationId xmlns:a16="http://schemas.microsoft.com/office/drawing/2014/main" id="{3C33021A-0D11-449B-AE5E-A8133EA34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</p:txBody>
      </p:sp>
      <p:pic>
        <p:nvPicPr>
          <p:cNvPr id="2066" name="Picture 18" descr="bupt">
            <a:extLst>
              <a:ext uri="{FF2B5EF4-FFF2-40B4-BE49-F238E27FC236}">
                <a16:creationId xmlns:a16="http://schemas.microsoft.com/office/drawing/2014/main" id="{E181B0E8-7F32-4022-A03C-C95882502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14" r:id="rId1"/>
    <p:sldLayoutId id="2147485113" r:id="rId2"/>
    <p:sldLayoutId id="2147485112" r:id="rId3"/>
    <p:sldLayoutId id="2147485111" r:id="rId4"/>
    <p:sldLayoutId id="2147485110" r:id="rId5"/>
    <p:sldLayoutId id="2147485109" r:id="rId6"/>
    <p:sldLayoutId id="2147485108" r:id="rId7"/>
    <p:sldLayoutId id="2147485107" r:id="rId8"/>
    <p:sldLayoutId id="2147485106" r:id="rId9"/>
    <p:sldLayoutId id="2147485105" r:id="rId10"/>
    <p:sldLayoutId id="2147485104" r:id="rId11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6C1566-3C96-49BC-B3D8-11CB0DB5C1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BA10C89-7724-45F9-BCD7-CC147551B1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4DA9FF7-3177-40CC-8A74-E901F4BE5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7F4F4DD-CBA5-4D33-8CC9-FC80E48DD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en-US" altLang="x-non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EC7EC2-3C89-4262-BC76-E872A8235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55EA5764-6275-4FDF-909C-A188084BBC1A}" type="slidenum">
              <a:rPr lang="zh-CN" altLang="en-US"/>
              <a:pPr/>
              <a:t>‹#›</a:t>
            </a:fld>
            <a:endParaRPr lang="zh-CN" altLang="en-US"/>
          </a:p>
        </p:txBody>
      </p:sp>
      <p:grpSp>
        <p:nvGrpSpPr>
          <p:cNvPr id="9223" name="组合 1030">
            <a:extLst>
              <a:ext uri="{FF2B5EF4-FFF2-40B4-BE49-F238E27FC236}">
                <a16:creationId xmlns:a16="http://schemas.microsoft.com/office/drawing/2014/main" id="{84A8623D-137E-4B73-85AB-CD5821F1FC2D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9224" name="Rectangle 8">
              <a:extLst>
                <a:ext uri="{FF2B5EF4-FFF2-40B4-BE49-F238E27FC236}">
                  <a16:creationId xmlns:a16="http://schemas.microsoft.com/office/drawing/2014/main" id="{DC1EB17B-6F66-4F5F-BAF0-DF69FD0E9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9225" name="Line 9">
              <a:extLst>
                <a:ext uri="{FF2B5EF4-FFF2-40B4-BE49-F238E27FC236}">
                  <a16:creationId xmlns:a16="http://schemas.microsoft.com/office/drawing/2014/main" id="{011DB303-389C-4EAA-81CD-C3F622E3C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" name="Line 10">
              <a:extLst>
                <a:ext uri="{FF2B5EF4-FFF2-40B4-BE49-F238E27FC236}">
                  <a16:creationId xmlns:a16="http://schemas.microsoft.com/office/drawing/2014/main" id="{369CD847-C21D-4451-88C2-30CFE63DE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" name="Line 11">
              <a:extLst>
                <a:ext uri="{FF2B5EF4-FFF2-40B4-BE49-F238E27FC236}">
                  <a16:creationId xmlns:a16="http://schemas.microsoft.com/office/drawing/2014/main" id="{D7501CB9-B4B9-42C4-953A-AEAB29DB4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Line 12">
              <a:extLst>
                <a:ext uri="{FF2B5EF4-FFF2-40B4-BE49-F238E27FC236}">
                  <a16:creationId xmlns:a16="http://schemas.microsoft.com/office/drawing/2014/main" id="{95B773CE-AB1F-4376-9ADB-26BE9DB72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" name="Line 13">
              <a:extLst>
                <a:ext uri="{FF2B5EF4-FFF2-40B4-BE49-F238E27FC236}">
                  <a16:creationId xmlns:a16="http://schemas.microsoft.com/office/drawing/2014/main" id="{867EFC4F-8682-4C59-B706-2BE9FA9CE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Line 14">
              <a:extLst>
                <a:ext uri="{FF2B5EF4-FFF2-40B4-BE49-F238E27FC236}">
                  <a16:creationId xmlns:a16="http://schemas.microsoft.com/office/drawing/2014/main" id="{A3DADC38-0E53-4E3C-AD24-7AA6CC8DD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Line 15">
              <a:extLst>
                <a:ext uri="{FF2B5EF4-FFF2-40B4-BE49-F238E27FC236}">
                  <a16:creationId xmlns:a16="http://schemas.microsoft.com/office/drawing/2014/main" id="{6EF0BC4A-17EB-48E6-952E-C4A824273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2" name="Line 16">
            <a:extLst>
              <a:ext uri="{FF2B5EF4-FFF2-40B4-BE49-F238E27FC236}">
                <a16:creationId xmlns:a16="http://schemas.microsoft.com/office/drawing/2014/main" id="{E455581F-A6DA-45F3-BCBA-D2F6A29BE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Text Box 17">
            <a:extLst>
              <a:ext uri="{FF2B5EF4-FFF2-40B4-BE49-F238E27FC236}">
                <a16:creationId xmlns:a16="http://schemas.microsoft.com/office/drawing/2014/main" id="{8E6BB1AF-7DFE-48EE-8E5A-E7955F9C9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</p:txBody>
      </p:sp>
      <p:pic>
        <p:nvPicPr>
          <p:cNvPr id="9234" name="Picture 18" descr="bupt">
            <a:extLst>
              <a:ext uri="{FF2B5EF4-FFF2-40B4-BE49-F238E27FC236}">
                <a16:creationId xmlns:a16="http://schemas.microsoft.com/office/drawing/2014/main" id="{B98FE21E-8E36-46B9-AC7F-CAB3CDA99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91" r:id="rId1"/>
    <p:sldLayoutId id="2147485190" r:id="rId2"/>
    <p:sldLayoutId id="2147485189" r:id="rId3"/>
    <p:sldLayoutId id="2147485188" r:id="rId4"/>
    <p:sldLayoutId id="2147485187" r:id="rId5"/>
    <p:sldLayoutId id="2147485186" r:id="rId6"/>
    <p:sldLayoutId id="2147485185" r:id="rId7"/>
    <p:sldLayoutId id="2147485184" r:id="rId8"/>
    <p:sldLayoutId id="2147485183" r:id="rId9"/>
    <p:sldLayoutId id="2147485182" r:id="rId10"/>
    <p:sldLayoutId id="2147485181" r:id="rId11"/>
    <p:sldLayoutId id="2147485271" r:id="rId12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>
            <a:extLst>
              <a:ext uri="{FF2B5EF4-FFF2-40B4-BE49-F238E27FC236}">
                <a16:creationId xmlns:a16="http://schemas.microsoft.com/office/drawing/2014/main" id="{F20E07D6-E37A-4F68-B641-03AE1C3AF6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7EFDEBF7-1EC7-4D23-B0C6-747974B02F37}" type="slidenum">
              <a:rPr lang="zh-CN" altLang="en-US" sz="1400"/>
              <a:pPr algn="r">
                <a:spcBef>
                  <a:spcPct val="50000"/>
                </a:spcBef>
              </a:pPr>
              <a:t>1</a:t>
            </a:fld>
            <a:endParaRPr lang="zh-CN" altLang="en-US" sz="1400"/>
          </a:p>
        </p:txBody>
      </p:sp>
      <p:grpSp>
        <p:nvGrpSpPr>
          <p:cNvPr id="20482" name="组合 4098">
            <a:extLst>
              <a:ext uri="{FF2B5EF4-FFF2-40B4-BE49-F238E27FC236}">
                <a16:creationId xmlns:a16="http://schemas.microsoft.com/office/drawing/2014/main" id="{53660186-C509-4AB2-921F-098B437E2137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989138"/>
            <a:ext cx="6313488" cy="1617330"/>
            <a:chOff x="0" y="0"/>
            <a:chExt cx="2736" cy="1274"/>
          </a:xfrm>
        </p:grpSpPr>
        <p:sp>
          <p:nvSpPr>
            <p:cNvPr id="20483" name="Rectangle 2062">
              <a:extLst>
                <a:ext uri="{FF2B5EF4-FFF2-40B4-BE49-F238E27FC236}">
                  <a16:creationId xmlns:a16="http://schemas.microsoft.com/office/drawing/2014/main" id="{7918F6C9-8FB0-443F-91C1-66209B4E9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736" cy="1274"/>
            </a:xfrm>
            <a:prstGeom prst="rect">
              <a:avLst/>
            </a:prstGeom>
            <a:gradFill rotWithShape="0">
              <a:gsLst>
                <a:gs pos="0">
                  <a:srgbClr val="CF0E30"/>
                </a:gs>
                <a:gs pos="50000">
                  <a:srgbClr val="3E040E"/>
                </a:gs>
                <a:gs pos="100000">
                  <a:srgbClr val="CF0E30"/>
                </a:gs>
              </a:gsLst>
              <a:lin ang="189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4" name="Text Box 2063">
              <a:extLst>
                <a:ext uri="{FF2B5EF4-FFF2-40B4-BE49-F238E27FC236}">
                  <a16:creationId xmlns:a16="http://schemas.microsoft.com/office/drawing/2014/main" id="{658D0E3D-A540-4754-B462-94A87CAFD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48"/>
              <a:ext cx="2612" cy="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</a:rPr>
                <a:t>结构化程序设计</a:t>
              </a:r>
              <a:endParaRPr lang="en-US" altLang="zh-CN" sz="3600" dirty="0">
                <a:solidFill>
                  <a:schemeClr val="bg1"/>
                </a:solidFill>
              </a:endParaRPr>
            </a:p>
            <a:p>
              <a:pPr algn="ctr" eaLnBrk="0" hangingPunct="0">
                <a:spcBef>
                  <a:spcPct val="50000"/>
                </a:spcBef>
              </a:pP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0485" name="Picture 2064" descr="地球">
            <a:extLst>
              <a:ext uri="{FF2B5EF4-FFF2-40B4-BE49-F238E27FC236}">
                <a16:creationId xmlns:a16="http://schemas.microsoft.com/office/drawing/2014/main" id="{B11294A8-5001-49EC-B49A-66B43452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005263"/>
            <a:ext cx="1752600" cy="167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12">
            <a:extLst>
              <a:ext uri="{FF2B5EF4-FFF2-40B4-BE49-F238E27FC236}">
                <a16:creationId xmlns:a16="http://schemas.microsoft.com/office/drawing/2014/main" id="{4352FF52-E0E6-47B9-8F5E-3A724D039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862388"/>
            <a:ext cx="78486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北京邮电大学计算机学院</a:t>
            </a:r>
          </a:p>
          <a:p>
            <a:pPr algn="ctr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软件与理论中心 </a:t>
            </a:r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张艳梅</a:t>
            </a:r>
            <a:endParaRPr lang="en-US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2</a:t>
            </a:fld>
            <a:endParaRPr lang="zh-CN" altLang="en-US" sz="1050" dirty="0"/>
          </a:p>
        </p:txBody>
      </p:sp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伪代码表示的算法结构</a:t>
            </a:r>
          </a:p>
        </p:txBody>
      </p:sp>
      <p:sp>
        <p:nvSpPr>
          <p:cNvPr id="9229" name="Text Box 25"/>
          <p:cNvSpPr txBox="1"/>
          <p:nvPr/>
        </p:nvSpPr>
        <p:spPr>
          <a:xfrm>
            <a:off x="1793081" y="3121819"/>
            <a:ext cx="4924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57175" indent="-257175"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结构化程序设计方法 基本思想</a:t>
            </a:r>
            <a:endParaRPr lang="en-US" altLang="x-none" b="1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395536" y="1317308"/>
            <a:ext cx="8556308" cy="4992012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400050" indent="-400050" eaLnBrk="1" hangingPunct="1">
              <a:buNone/>
            </a:pPr>
            <a:r>
              <a:rPr lang="zh-CN" altLang="en-US" sz="2400" b="1" dirty="0"/>
              <a:t>伪代码是介于过程步骤的自然语言算法描述，和用实际编程语言描述过程之间的中间体。伪代码的基本结构类似于编程语言的控制结构，但比编程语言规范更自由，允许自然语言的步骤描述。</a:t>
            </a: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r>
              <a:rPr lang="zh-CN" altLang="en-US" sz="2400" b="1" dirty="0"/>
              <a:t>大括号</a:t>
            </a:r>
            <a:r>
              <a:rPr lang="en-US" altLang="zh-CN" sz="2400" b="1" dirty="0"/>
              <a:t>{}</a:t>
            </a:r>
            <a:r>
              <a:rPr lang="zh-CN" altLang="en-US" sz="2400" b="1" dirty="0"/>
              <a:t>在伪代码中表示注释，而用缩进表示嵌套的关系。</a:t>
            </a:r>
            <a:endParaRPr lang="en-US" altLang="zh-CN" sz="2400" b="1" dirty="0"/>
          </a:p>
          <a:p>
            <a:pPr lvl="1" indent="-400050" eaLnBrk="1" hangingPunct="1">
              <a:buClr>
                <a:srgbClr val="FF3300"/>
              </a:buClr>
            </a:pPr>
            <a:endParaRPr lang="en-US" altLang="zh-CN" b="1" dirty="0">
              <a:latin typeface="Arial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073AFA6-F5B6-4C4E-B390-F66F04FCE4A4}"/>
              </a:ext>
            </a:extLst>
          </p:cNvPr>
          <p:cNvSpPr txBox="1"/>
          <p:nvPr/>
        </p:nvSpPr>
        <p:spPr>
          <a:xfrm>
            <a:off x="981100" y="2996952"/>
            <a:ext cx="7263308" cy="244827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 fontScale="92500"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lang="en-US" sz="2600" b="1" dirty="0"/>
              <a:t>procedure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….,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integers)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600" i="1" dirty="0"/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</a:t>
            </a:r>
            <a:r>
              <a:rPr kumimoji="0" lang="en-US" sz="26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</a:t>
            </a:r>
            <a:r>
              <a:rPr lang="en-US" sz="2600" i="1" dirty="0"/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endParaRPr kumimoji="0" lang="en-US" sz="2600" b="0" i="1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return </a:t>
            </a:r>
            <a:r>
              <a:rPr lang="en-US" sz="2600" i="1" dirty="0"/>
              <a:t>max</a:t>
            </a:r>
            <a:r>
              <a:rPr lang="en-US" sz="2600" dirty="0"/>
              <a:t>{</a:t>
            </a:r>
            <a:r>
              <a:rPr lang="en-US" sz="2600" i="1" dirty="0"/>
              <a:t>max </a:t>
            </a:r>
            <a:r>
              <a:rPr lang="en-US" sz="2600" dirty="0"/>
              <a:t>is the largest element}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428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3</a:t>
            </a:fld>
            <a:endParaRPr lang="zh-CN" altLang="en-US" sz="1050" dirty="0"/>
          </a:p>
        </p:txBody>
      </p:sp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伪代码的语句</a:t>
            </a:r>
          </a:p>
        </p:txBody>
      </p:sp>
      <p:sp>
        <p:nvSpPr>
          <p:cNvPr id="9229" name="Text Box 25"/>
          <p:cNvSpPr txBox="1"/>
          <p:nvPr/>
        </p:nvSpPr>
        <p:spPr>
          <a:xfrm>
            <a:off x="1793081" y="3121819"/>
            <a:ext cx="4924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57175" indent="-257175"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结构化程序设计方法 基本思想</a:t>
            </a:r>
            <a:endParaRPr lang="en-US" altLang="x-none" b="1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639356F-B12D-492E-9CD0-F79030550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首先定义算法的名称（功能），列出输入数据及对应的数据类型。</a:t>
            </a:r>
            <a:endParaRPr lang="en-US" altLang="zh-CN" dirty="0"/>
          </a:p>
          <a:p>
            <a:r>
              <a:rPr lang="zh-CN" altLang="en-US" dirty="0"/>
              <a:t>赋值运算语句，可以包含任何良定义的运算，即使它复杂到用许多编程语句才能实现。例：</a:t>
            </a:r>
            <a:r>
              <a:rPr lang="en-US" altLang="zh-CN" dirty="0"/>
              <a:t>x := </a:t>
            </a:r>
            <a:r>
              <a:rPr lang="zh-CN" altLang="en-US" dirty="0"/>
              <a:t>列表</a:t>
            </a:r>
            <a:r>
              <a:rPr lang="en-US" altLang="zh-CN" dirty="0"/>
              <a:t>L</a:t>
            </a:r>
            <a:r>
              <a:rPr lang="zh-CN" altLang="en-US" dirty="0"/>
              <a:t>中的最大整数。</a:t>
            </a:r>
            <a:endParaRPr lang="en-US" altLang="zh-CN" dirty="0"/>
          </a:p>
          <a:p>
            <a:r>
              <a:rPr lang="zh-CN" altLang="en-US" dirty="0"/>
              <a:t>控制结构使用：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最后使用</a:t>
            </a:r>
            <a:r>
              <a:rPr lang="en-US" altLang="zh-CN" dirty="0"/>
              <a:t>return</a:t>
            </a:r>
            <a:r>
              <a:rPr lang="zh-CN" altLang="en-US" dirty="0"/>
              <a:t>语句说明何时输出什么内容。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31B414-E51A-47CB-8C1D-8A920DB7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49" y="4130000"/>
            <a:ext cx="2348813" cy="9551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2E0470-F0CE-43EF-8CDD-318244972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629" y="4094512"/>
            <a:ext cx="2486498" cy="9906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E63C2B-CAB2-4A55-8A20-85F0C7A10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937" y="4066009"/>
            <a:ext cx="16986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380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>
            <a:extLst>
              <a:ext uri="{FF2B5EF4-FFF2-40B4-BE49-F238E27FC236}">
                <a16:creationId xmlns:a16="http://schemas.microsoft.com/office/drawing/2014/main" id="{8BF93FD0-178A-40B5-9DAB-D014D6C719B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CCDE246F-06C7-4F03-806C-D640C44979A9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4</a:t>
            </a:fld>
            <a:endParaRPr lang="zh-CN" altLang="en-US" sz="1400" b="1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D824C58-0F6F-4F9A-A7A7-BF185E4F08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程序的结构描述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578A0E9-D1ED-419C-A64C-3DA55E187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268413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 流程图的基本元素（</a:t>
            </a:r>
            <a:r>
              <a:rPr lang="en-US" altLang="zh-CN" b="1">
                <a:latin typeface="宋体" panose="02010600030101010101" pitchFamily="2" charset="-122"/>
              </a:rPr>
              <a:t>ANSI</a:t>
            </a:r>
            <a:r>
              <a:rPr lang="zh-CN" altLang="en-US" b="1">
                <a:latin typeface="宋体" panose="02010600030101010101" pitchFamily="2" charset="-122"/>
              </a:rPr>
              <a:t>规定）</a:t>
            </a:r>
            <a:r>
              <a:rPr lang="zh-CN" altLang="en-US"/>
              <a:t> </a:t>
            </a:r>
          </a:p>
        </p:txBody>
      </p:sp>
      <p:sp>
        <p:nvSpPr>
          <p:cNvPr id="17413" name="AutoShape 4">
            <a:extLst>
              <a:ext uri="{FF2B5EF4-FFF2-40B4-BE49-F238E27FC236}">
                <a16:creationId xmlns:a16="http://schemas.microsoft.com/office/drawing/2014/main" id="{56BF67BB-0075-4C33-8100-669862D9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438400"/>
            <a:ext cx="685800" cy="396875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4" name="AutoShape 5">
            <a:extLst>
              <a:ext uri="{FF2B5EF4-FFF2-40B4-BE49-F238E27FC236}">
                <a16:creationId xmlns:a16="http://schemas.microsoft.com/office/drawing/2014/main" id="{83A6F32A-9C02-41E0-BD59-B371DC8BF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800100" cy="396875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5" name="AutoShape 6">
            <a:extLst>
              <a:ext uri="{FF2B5EF4-FFF2-40B4-BE49-F238E27FC236}">
                <a16:creationId xmlns:a16="http://schemas.microsoft.com/office/drawing/2014/main" id="{22C3A32B-8C34-4B2B-B87C-98743B29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38400"/>
            <a:ext cx="914400" cy="3968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6" name="AutoShape 7">
            <a:extLst>
              <a:ext uri="{FF2B5EF4-FFF2-40B4-BE49-F238E27FC236}">
                <a16:creationId xmlns:a16="http://schemas.microsoft.com/office/drawing/2014/main" id="{EED987B6-EDD0-4DFF-9804-150EE4586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438400"/>
            <a:ext cx="685800" cy="39687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7" name="Line 8">
            <a:extLst>
              <a:ext uri="{FF2B5EF4-FFF2-40B4-BE49-F238E27FC236}">
                <a16:creationId xmlns:a16="http://schemas.microsoft.com/office/drawing/2014/main" id="{15C88DB7-0283-43A2-8B15-02C415A94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733800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8" name="Line 9">
            <a:extLst>
              <a:ext uri="{FF2B5EF4-FFF2-40B4-BE49-F238E27FC236}">
                <a16:creationId xmlns:a16="http://schemas.microsoft.com/office/drawing/2014/main" id="{58730D58-7B93-4877-B593-AD226FC86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03860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Oval 10">
            <a:extLst>
              <a:ext uri="{FF2B5EF4-FFF2-40B4-BE49-F238E27FC236}">
                <a16:creationId xmlns:a16="http://schemas.microsoft.com/office/drawing/2014/main" id="{FC8B8542-2AE2-45E7-A76F-20BBB35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86200"/>
            <a:ext cx="228600" cy="1984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20" name="Line 11">
            <a:extLst>
              <a:ext uri="{FF2B5EF4-FFF2-40B4-BE49-F238E27FC236}">
                <a16:creationId xmlns:a16="http://schemas.microsoft.com/office/drawing/2014/main" id="{2293BA14-2717-4AE7-B656-A8947426E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810000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1" name="Line 12">
            <a:extLst>
              <a:ext uri="{FF2B5EF4-FFF2-40B4-BE49-F238E27FC236}">
                <a16:creationId xmlns:a16="http://schemas.microsoft.com/office/drawing/2014/main" id="{37278AE7-522B-4C44-B063-F0EF14670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810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2" name="Line 13">
            <a:extLst>
              <a:ext uri="{FF2B5EF4-FFF2-40B4-BE49-F238E27FC236}">
                <a16:creationId xmlns:a16="http://schemas.microsoft.com/office/drawing/2014/main" id="{CF3D44F5-DAB0-423A-B58F-47E47AD56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191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3" name="Line 14">
            <a:extLst>
              <a:ext uri="{FF2B5EF4-FFF2-40B4-BE49-F238E27FC236}">
                <a16:creationId xmlns:a16="http://schemas.microsoft.com/office/drawing/2014/main" id="{859FF7B5-EC94-4244-94D7-894C1606C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9624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4" name="Text Box 15">
            <a:extLst>
              <a:ext uri="{FF2B5EF4-FFF2-40B4-BE49-F238E27FC236}">
                <a16:creationId xmlns:a16="http://schemas.microsoft.com/office/drawing/2014/main" id="{8E64B10A-E9BC-48A3-9454-7C049E752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起止框</a:t>
            </a:r>
          </a:p>
        </p:txBody>
      </p:sp>
      <p:sp>
        <p:nvSpPr>
          <p:cNvPr id="17425" name="Text Box 16">
            <a:extLst>
              <a:ext uri="{FF2B5EF4-FFF2-40B4-BE49-F238E27FC236}">
                <a16:creationId xmlns:a16="http://schemas.microsoft.com/office/drawing/2014/main" id="{76F5971E-76AF-4163-AC83-DB7CA5333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7426" name="Text Box 17">
            <a:extLst>
              <a:ext uri="{FF2B5EF4-FFF2-40B4-BE49-F238E27FC236}">
                <a16:creationId xmlns:a16="http://schemas.microsoft.com/office/drawing/2014/main" id="{EE271643-FC64-42EB-B248-0284CC77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0480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读入/出框</a:t>
            </a:r>
          </a:p>
        </p:txBody>
      </p:sp>
      <p:sp>
        <p:nvSpPr>
          <p:cNvPr id="17427" name="Text Box 18">
            <a:extLst>
              <a:ext uri="{FF2B5EF4-FFF2-40B4-BE49-F238E27FC236}">
                <a16:creationId xmlns:a16="http://schemas.microsoft.com/office/drawing/2014/main" id="{464551DB-AD7A-4ED1-93AA-6AC1E4426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8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判断框</a:t>
            </a:r>
          </a:p>
        </p:txBody>
      </p:sp>
      <p:sp>
        <p:nvSpPr>
          <p:cNvPr id="17428" name="Text Box 19">
            <a:extLst>
              <a:ext uri="{FF2B5EF4-FFF2-40B4-BE49-F238E27FC236}">
                <a16:creationId xmlns:a16="http://schemas.microsoft.com/office/drawing/2014/main" id="{7E697A22-3370-4F76-AD0B-C929DB13B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0480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处理框</a:t>
            </a:r>
          </a:p>
        </p:txBody>
      </p:sp>
      <p:sp>
        <p:nvSpPr>
          <p:cNvPr id="17429" name="Text Box 20">
            <a:extLst>
              <a:ext uri="{FF2B5EF4-FFF2-40B4-BE49-F238E27FC236}">
                <a16:creationId xmlns:a16="http://schemas.microsoft.com/office/drawing/2014/main" id="{1EDC8A5C-5CFF-4305-A36D-F1BC0BAE5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572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流程线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30" name="Text Box 21">
            <a:extLst>
              <a:ext uri="{FF2B5EF4-FFF2-40B4-BE49-F238E27FC236}">
                <a16:creationId xmlns:a16="http://schemas.microsoft.com/office/drawing/2014/main" id="{41C553E8-11E4-4272-82AC-B870E5EBD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72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连接点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31" name="Text Box 22">
            <a:extLst>
              <a:ext uri="{FF2B5EF4-FFF2-40B4-BE49-F238E27FC236}">
                <a16:creationId xmlns:a16="http://schemas.microsoft.com/office/drawing/2014/main" id="{D1D6C13F-BD97-4871-91C2-CAE27897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572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注释框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>
            <a:extLst>
              <a:ext uri="{FF2B5EF4-FFF2-40B4-BE49-F238E27FC236}">
                <a16:creationId xmlns:a16="http://schemas.microsoft.com/office/drawing/2014/main" id="{59CD88A9-8687-41DC-AF86-8135A8FC24D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19C6946-B245-42E6-9BEA-3EC02F982EF4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5</a:t>
            </a:fld>
            <a:endParaRPr lang="zh-CN" altLang="en-US" sz="1400" b="1"/>
          </a:p>
        </p:txBody>
      </p:sp>
      <p:sp>
        <p:nvSpPr>
          <p:cNvPr id="21507" name="Text Box 21">
            <a:extLst>
              <a:ext uri="{FF2B5EF4-FFF2-40B4-BE49-F238E27FC236}">
                <a16:creationId xmlns:a16="http://schemas.microsoft.com/office/drawing/2014/main" id="{08C0FFBC-E7D0-4E8E-9253-6EAE52C24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96975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求</a:t>
            </a:r>
            <a:r>
              <a:rPr lang="en-US" altLang="zh-CN" b="1"/>
              <a:t>10</a:t>
            </a:r>
            <a:r>
              <a:rPr lang="zh-CN" altLang="en-US" b="1"/>
              <a:t>！流程图</a:t>
            </a:r>
          </a:p>
        </p:txBody>
      </p:sp>
      <p:graphicFrame>
        <p:nvGraphicFramePr>
          <p:cNvPr id="21508" name="Object 30">
            <a:extLst>
              <a:ext uri="{FF2B5EF4-FFF2-40B4-BE49-F238E27FC236}">
                <a16:creationId xmlns:a16="http://schemas.microsoft.com/office/drawing/2014/main" id="{26CE0EF2-F5B0-44BA-8711-4E12C9F7B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8100"/>
          <a:ext cx="6732587" cy="598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14120" imgH="7701840" progId="">
                  <p:embed/>
                </p:oleObj>
              </mc:Choice>
              <mc:Fallback>
                <p:oleObj r:id="rId2" imgW="6414120" imgH="7701840" progId="">
                  <p:embed/>
                  <p:pic>
                    <p:nvPicPr>
                      <p:cNvPr id="21508" name="Object 30">
                        <a:extLst>
                          <a:ext uri="{FF2B5EF4-FFF2-40B4-BE49-F238E27FC236}">
                            <a16:creationId xmlns:a16="http://schemas.microsoft.com/office/drawing/2014/main" id="{26CE0EF2-F5B0-44BA-8711-4E12C9F7B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8100"/>
                        <a:ext cx="6732587" cy="598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34">
            <a:extLst>
              <a:ext uri="{FF2B5EF4-FFF2-40B4-BE49-F238E27FC236}">
                <a16:creationId xmlns:a16="http://schemas.microsoft.com/office/drawing/2014/main" id="{AD319A46-2364-4768-9545-CB9A95452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420938"/>
            <a:ext cx="2232025" cy="94615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66"/>
                </a:solidFill>
              </a:rPr>
              <a:t>使用当型循环结构描述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>
            <a:extLst>
              <a:ext uri="{FF2B5EF4-FFF2-40B4-BE49-F238E27FC236}">
                <a16:creationId xmlns:a16="http://schemas.microsoft.com/office/drawing/2014/main" id="{87D9A860-2C50-4E08-9DF6-FE7E2D245E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fld id="{06B5B1F9-5671-4BAC-BF0B-7E16901DDC9A}" type="slidenum">
              <a:rPr altLang="en-US" sz="1400"/>
              <a:pPr>
                <a:spcBef>
                  <a:spcPct val="50000"/>
                </a:spcBef>
                <a:buFontTx/>
                <a:buChar char="•"/>
              </a:pPr>
              <a:t>6</a:t>
            </a:fld>
            <a:endParaRPr lang="zh-CN" altLang="en-US" sz="1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EE9D764-4BC0-470A-8CDF-AC53AC18C7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/>
              <a:t>   </a:t>
            </a:r>
            <a:r>
              <a:rPr lang="zh-CN" altLang="en-US" b="1"/>
              <a:t>基本结构</a:t>
            </a:r>
            <a:endParaRPr lang="en-US" altLang="zh-CN" b="1"/>
          </a:p>
        </p:txBody>
      </p:sp>
      <p:sp>
        <p:nvSpPr>
          <p:cNvPr id="24580" name="Rectangle 33">
            <a:extLst>
              <a:ext uri="{FF2B5EF4-FFF2-40B4-BE49-F238E27FC236}">
                <a16:creationId xmlns:a16="http://schemas.microsoft.com/office/drawing/2014/main" id="{D0CC7A2B-6CF3-469F-960F-81804D5A9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2495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1" name="Rectangle 35">
            <a:extLst>
              <a:ext uri="{FF2B5EF4-FFF2-40B4-BE49-F238E27FC236}">
                <a16:creationId xmlns:a16="http://schemas.microsoft.com/office/drawing/2014/main" id="{63A75F2E-080A-464F-8A51-D3F9C190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2652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2" name="Rectangle 37">
            <a:extLst>
              <a:ext uri="{FF2B5EF4-FFF2-40B4-BE49-F238E27FC236}">
                <a16:creationId xmlns:a16="http://schemas.microsoft.com/office/drawing/2014/main" id="{C14353BA-AA82-4962-9840-8FC88E2CA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US" b="1" dirty="0"/>
              <a:t>程序的结构描述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en-US" altLang="zh-CN" sz="3600" b="1" dirty="0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graphicFrame>
        <p:nvGraphicFramePr>
          <p:cNvPr id="24583" name="Object 39">
            <a:extLst>
              <a:ext uri="{FF2B5EF4-FFF2-40B4-BE49-F238E27FC236}">
                <a16:creationId xmlns:a16="http://schemas.microsoft.com/office/drawing/2014/main" id="{DA81C8EE-6176-4275-B253-C360F079C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773238"/>
          <a:ext cx="550862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95920" imgH="2485080" progId="Visio.Drawing.11">
                  <p:embed/>
                </p:oleObj>
              </mc:Choice>
              <mc:Fallback>
                <p:oleObj r:id="rId2" imgW="5695920" imgH="2485080" progId="Visio.Drawing.11">
                  <p:embed/>
                  <p:pic>
                    <p:nvPicPr>
                      <p:cNvPr id="24583" name="Object 39">
                        <a:extLst>
                          <a:ext uri="{FF2B5EF4-FFF2-40B4-BE49-F238E27FC236}">
                            <a16:creationId xmlns:a16="http://schemas.microsoft.com/office/drawing/2014/main" id="{DA81C8EE-6176-4275-B253-C360F079C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773238"/>
                        <a:ext cx="5508625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38">
            <a:extLst>
              <a:ext uri="{FF2B5EF4-FFF2-40B4-BE49-F238E27FC236}">
                <a16:creationId xmlns:a16="http://schemas.microsoft.com/office/drawing/2014/main" id="{5FC0DA2C-9AE1-43A0-A1B1-E0110C617C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725" y="3886200"/>
          <a:ext cx="5938838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568480" imgH="2081880" progId="Visio.Drawing.11">
                  <p:embed/>
                </p:oleObj>
              </mc:Choice>
              <mc:Fallback>
                <p:oleObj r:id="rId4" imgW="5568480" imgH="2081880" progId="Visio.Drawing.11">
                  <p:embed/>
                  <p:pic>
                    <p:nvPicPr>
                      <p:cNvPr id="24584" name="Object 38">
                        <a:extLst>
                          <a:ext uri="{FF2B5EF4-FFF2-40B4-BE49-F238E27FC236}">
                            <a16:creationId xmlns:a16="http://schemas.microsoft.com/office/drawing/2014/main" id="{5FC0DA2C-9AE1-43A0-A1B1-E0110C617C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3886200"/>
                        <a:ext cx="5938838" cy="216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2" name="Rectangle 40">
            <a:extLst>
              <a:ext uri="{FF2B5EF4-FFF2-40B4-BE49-F238E27FC236}">
                <a16:creationId xmlns:a16="http://schemas.microsoft.com/office/drawing/2014/main" id="{C2451702-C08A-43BA-851A-16F0C091E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6388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kumimoji="1" lang="zh-CN" altLang="en-US"/>
          </a:p>
        </p:txBody>
      </p:sp>
      <p:sp>
        <p:nvSpPr>
          <p:cNvPr id="120873" name="Rectangle 41">
            <a:extLst>
              <a:ext uri="{FF2B5EF4-FFF2-40B4-BE49-F238E27FC236}">
                <a16:creationId xmlns:a16="http://schemas.microsoft.com/office/drawing/2014/main" id="{4F0D9919-8950-4229-BE48-76FE0D88C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120874" name="Rectangle 42">
            <a:extLst>
              <a:ext uri="{FF2B5EF4-FFF2-40B4-BE49-F238E27FC236}">
                <a16:creationId xmlns:a16="http://schemas.microsoft.com/office/drawing/2014/main" id="{34DFB22E-9627-4E5D-ACC6-610F5A156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53013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24588" name="Text Box 45">
            <a:extLst>
              <a:ext uri="{FF2B5EF4-FFF2-40B4-BE49-F238E27FC236}">
                <a16:creationId xmlns:a16="http://schemas.microsoft.com/office/drawing/2014/main" id="{A15266CA-F539-4BEB-B86B-77A089D43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844675"/>
            <a:ext cx="2447925" cy="39354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p</a:t>
            </a:r>
            <a:r>
              <a:rPr lang="zh-CN" altLang="en-US" sz="2400" b="1"/>
              <a:t>、</a:t>
            </a:r>
            <a:r>
              <a:rPr lang="en-US" altLang="zh-CN" sz="2400" b="1"/>
              <a:t>p1</a:t>
            </a:r>
            <a:r>
              <a:rPr lang="zh-CN" altLang="en-US" sz="2400" b="1"/>
              <a:t>表示的是判断条件；</a:t>
            </a:r>
            <a:r>
              <a:rPr lang="en-US" altLang="zh-CN" sz="2400" b="1"/>
              <a:t>A</a:t>
            </a:r>
            <a:r>
              <a:rPr lang="zh-CN" altLang="en-US" sz="2400" b="1"/>
              <a:t>、</a:t>
            </a:r>
            <a:r>
              <a:rPr lang="en-US" altLang="zh-CN" sz="2400" b="1"/>
              <a:t>B</a:t>
            </a:r>
            <a:r>
              <a:rPr lang="zh-CN" altLang="en-US" sz="2400" b="1"/>
              <a:t>框是操作；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注意：</a:t>
            </a:r>
            <a:r>
              <a:rPr lang="en-US" altLang="zh-CN" sz="2400" b="1"/>
              <a:t>A</a:t>
            </a:r>
            <a:r>
              <a:rPr lang="zh-CN" altLang="en-US" sz="2400" b="1"/>
              <a:t>、</a:t>
            </a:r>
            <a:r>
              <a:rPr lang="en-US" altLang="zh-CN" sz="2400" b="1"/>
              <a:t>B</a:t>
            </a:r>
            <a:r>
              <a:rPr lang="zh-CN" altLang="en-US" sz="2400" b="1"/>
              <a:t>框可以是一个简单的操作（如读入数据或打印打印等），也可以是三种基本结构之一</a:t>
            </a:r>
          </a:p>
        </p:txBody>
      </p:sp>
      <p:sp>
        <p:nvSpPr>
          <p:cNvPr id="24589" name="Text Box 46">
            <a:extLst>
              <a:ext uri="{FF2B5EF4-FFF2-40B4-BE49-F238E27FC236}">
                <a16:creationId xmlns:a16="http://schemas.microsoft.com/office/drawing/2014/main" id="{8F02D54C-4143-481E-9135-1FA4F8244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429000"/>
            <a:ext cx="18732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顺序结构</a:t>
            </a:r>
          </a:p>
        </p:txBody>
      </p:sp>
      <p:sp>
        <p:nvSpPr>
          <p:cNvPr id="24590" name="Text Box 47">
            <a:extLst>
              <a:ext uri="{FF2B5EF4-FFF2-40B4-BE49-F238E27FC236}">
                <a16:creationId xmlns:a16="http://schemas.microsoft.com/office/drawing/2014/main" id="{D4897B89-0BFC-4559-A72B-B2B17EB86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429000"/>
            <a:ext cx="18732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选择结构</a:t>
            </a:r>
          </a:p>
        </p:txBody>
      </p:sp>
      <p:sp>
        <p:nvSpPr>
          <p:cNvPr id="24591" name="Text Box 48">
            <a:extLst>
              <a:ext uri="{FF2B5EF4-FFF2-40B4-BE49-F238E27FC236}">
                <a16:creationId xmlns:a16="http://schemas.microsoft.com/office/drawing/2014/main" id="{77CD3A4C-50CE-4041-99CD-559695740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300663"/>
            <a:ext cx="2376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当型循环结构</a:t>
            </a:r>
          </a:p>
        </p:txBody>
      </p:sp>
      <p:sp>
        <p:nvSpPr>
          <p:cNvPr id="24592" name="Text Box 49">
            <a:extLst>
              <a:ext uri="{FF2B5EF4-FFF2-40B4-BE49-F238E27FC236}">
                <a16:creationId xmlns:a16="http://schemas.microsoft.com/office/drawing/2014/main" id="{44C922A4-7BAE-4A4E-A516-5C54E6DE2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300663"/>
            <a:ext cx="23764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直到型循环结构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67356-EBA5-4C8A-AA7F-5D2B726C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487D43-7108-4CCC-927F-6A82E3D06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96752"/>
            <a:ext cx="6264696" cy="554461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int n,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, </a:t>
            </a:r>
            <a:r>
              <a:rPr lang="en-US" altLang="zh-CN" sz="1800" dirty="0" err="1">
                <a:latin typeface="Consolas" panose="020B0609020204030204" pitchFamily="49" charset="0"/>
              </a:rPr>
              <a:t>j,line</a:t>
            </a:r>
            <a:r>
              <a:rPr lang="en-US" altLang="zh-CN" sz="1800" dirty="0">
                <a:latin typeface="Consolas" panose="020B0609020204030204" pitchFamily="49" charset="0"/>
              </a:rPr>
              <a:t>;  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scanf</a:t>
            </a:r>
            <a:r>
              <a:rPr lang="en-US" altLang="zh-CN" sz="1800" dirty="0">
                <a:latin typeface="Consolas" panose="020B0609020204030204" pitchFamily="49" charset="0"/>
              </a:rPr>
              <a:t>("%</a:t>
            </a:r>
            <a:r>
              <a:rPr lang="en-US" altLang="zh-CN" sz="1800" dirty="0" err="1">
                <a:latin typeface="Consolas" panose="020B0609020204030204" pitchFamily="49" charset="0"/>
              </a:rPr>
              <a:t>d",&amp;n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for 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=1;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 &lt;=2*n-1;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  if 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 &gt; n) line= 2*n-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; else line=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for (j=1; j &lt;= n-line ; </a:t>
            </a:r>
            <a:r>
              <a:rPr lang="en-US" altLang="zh-CN" sz="1800" dirty="0" err="1">
                <a:latin typeface="Consolas" panose="020B0609020204030204" pitchFamily="49" charset="0"/>
              </a:rPr>
              <a:t>j++</a:t>
            </a:r>
            <a:r>
              <a:rPr lang="en-US" altLang="zh-CN" sz="1800" dirty="0">
                <a:latin typeface="Consolas" panose="020B0609020204030204" pitchFamily="49" charset="0"/>
              </a:rPr>
              <a:t>)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 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for (j=1; j&lt;=2*line-1; </a:t>
            </a:r>
            <a:r>
              <a:rPr lang="en-US" altLang="zh-CN" sz="1800" dirty="0" err="1">
                <a:latin typeface="Consolas" panose="020B0609020204030204" pitchFamily="49" charset="0"/>
              </a:rPr>
              <a:t>j++</a:t>
            </a:r>
            <a:r>
              <a:rPr lang="en-US" altLang="zh-CN" sz="18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if (j==1 || j==2*line-1)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("*");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else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 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("\n");  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}//end for(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}//end main()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205BAD-AA9B-4DD9-9429-FB39FFE9D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0"/>
            <a:ext cx="277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386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8</a:t>
            </a:fld>
            <a:endParaRPr lang="zh-CN" altLang="en-US" sz="1050" dirty="0"/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433627" y="1332786"/>
            <a:ext cx="3078956" cy="4427934"/>
          </a:xfrm>
          <a:solidFill>
            <a:srgbClr val="CCFFFF"/>
          </a:solidFill>
          <a:ln cmpd="sng">
            <a:solidFill>
              <a:srgbClr val="339966"/>
            </a:solidFill>
            <a:miter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#include &lt;stdio.h&gt;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#include &lt;stdlib.h&gt;</a:t>
            </a:r>
            <a:endParaRPr lang="en-US" altLang="zh-CN" sz="6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main()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int count=1;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600" b="1" dirty="0"/>
              <a:t> 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start: //</a:t>
            </a:r>
            <a:r>
              <a:rPr lang="zh-CN" altLang="en-US" sz="1500" b="1" dirty="0"/>
              <a:t>标号</a:t>
            </a:r>
            <a:r>
              <a:rPr lang="en-US" altLang="zh-CN" sz="1500" b="1" dirty="0"/>
              <a:t>,</a:t>
            </a:r>
            <a:r>
              <a:rPr lang="zh-CN" altLang="en-US" sz="1500" b="1" dirty="0"/>
              <a:t>是跟有冒号的标识符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if (count&gt;10)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   goto end;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printf("%d ",count);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count=count+1;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goto start;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600" b="1" dirty="0"/>
              <a:t> 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end: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printf("\n");  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6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system("pause");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return 0;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}</a:t>
            </a:r>
            <a:endParaRPr lang="zh-CN" altLang="en-US" sz="1500" b="1" dirty="0"/>
          </a:p>
        </p:txBody>
      </p:sp>
      <p:sp>
        <p:nvSpPr>
          <p:cNvPr id="70659" name="Text Box 4"/>
          <p:cNvSpPr txBox="1"/>
          <p:nvPr/>
        </p:nvSpPr>
        <p:spPr>
          <a:xfrm>
            <a:off x="3751422" y="1719157"/>
            <a:ext cx="2321719" cy="701731"/>
          </a:xfrm>
          <a:prstGeom prst="rect">
            <a:avLst/>
          </a:prstGeom>
          <a:solidFill>
            <a:srgbClr val="003300"/>
          </a:solidFill>
          <a:ln w="952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257175" indent="-257175"/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1 2 3 4 5 6 7 8 9 10</a:t>
            </a:r>
          </a:p>
          <a:p>
            <a:pPr marL="257175" indent="-257175"/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请按任意键继续</a:t>
            </a: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. . .</a:t>
            </a:r>
            <a:endParaRPr lang="zh-CN" altLang="en-US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0660" name="Text Box 5"/>
          <p:cNvSpPr txBox="1"/>
          <p:nvPr/>
        </p:nvSpPr>
        <p:spPr>
          <a:xfrm>
            <a:off x="3643075" y="1232191"/>
            <a:ext cx="1999059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257175" indent="-257175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宋体" charset="-122"/>
              </a:rPr>
              <a:t>运行效果：</a:t>
            </a:r>
          </a:p>
        </p:txBody>
      </p:sp>
      <p:sp>
        <p:nvSpPr>
          <p:cNvPr id="50177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r"/>
            <a:r>
              <a:rPr lang="zh-CN" altLang="en-US" b="1" u="sng">
                <a:sym typeface="+mn-ea"/>
              </a:rPr>
              <a:t>结构化程序设计方法的起源</a:t>
            </a:r>
            <a:r>
              <a:rPr lang="en-US" altLang="zh-CN"/>
              <a:t>     </a:t>
            </a:r>
            <a:endParaRPr lang="zh-CN" altLang="en-US"/>
          </a:p>
        </p:txBody>
      </p:sp>
      <p:graphicFrame>
        <p:nvGraphicFramePr>
          <p:cNvPr id="50178" name="对象 3"/>
          <p:cNvGraphicFramePr/>
          <p:nvPr>
            <p:extLst>
              <p:ext uri="{D42A27DB-BD31-4B8C-83A1-F6EECF244321}">
                <p14:modId xmlns:p14="http://schemas.microsoft.com/office/powerpoint/2010/main" val="4085522521"/>
              </p:ext>
            </p:extLst>
          </p:nvPr>
        </p:nvGraphicFramePr>
        <p:xfrm>
          <a:off x="4572000" y="2561754"/>
          <a:ext cx="3931444" cy="3593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741420" imgH="1752600" progId="Paint.Picture">
                  <p:embed/>
                </p:oleObj>
              </mc:Choice>
              <mc:Fallback>
                <p:oleObj r:id="rId2" imgW="3741420" imgH="1752600" progId="Paint.Picture">
                  <p:embed/>
                  <p:pic>
                    <p:nvPicPr>
                      <p:cNvPr id="50178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0" y="2561754"/>
                        <a:ext cx="3931444" cy="359378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nimBg="1"/>
      <p:bldP spid="706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9</a:t>
            </a:fld>
            <a:endParaRPr lang="zh-CN" altLang="en-US" sz="1050" dirty="0"/>
          </a:p>
        </p:txBody>
      </p:sp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结构化程序设计思想</a:t>
            </a:r>
          </a:p>
        </p:txBody>
      </p:sp>
      <p:pic>
        <p:nvPicPr>
          <p:cNvPr id="6156" name="Picture 11" descr="D:\图标库\编辑的元素\房子2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334" y="1871425"/>
            <a:ext cx="1485900" cy="119657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50" name="组合 6149"/>
          <p:cNvGrpSpPr/>
          <p:nvPr/>
        </p:nvGrpSpPr>
        <p:grpSpPr>
          <a:xfrm>
            <a:off x="2056448" y="1821180"/>
            <a:ext cx="6493669" cy="995363"/>
            <a:chOff x="0" y="0"/>
            <a:chExt cx="5454" cy="1043"/>
          </a:xfrm>
        </p:grpSpPr>
        <p:sp>
          <p:nvSpPr>
            <p:cNvPr id="6151" name="Rectangle 33"/>
            <p:cNvSpPr>
              <a:spLocks noChangeAspect="1"/>
            </p:cNvSpPr>
            <p:nvPr/>
          </p:nvSpPr>
          <p:spPr>
            <a:xfrm>
              <a:off x="184" y="0"/>
              <a:ext cx="5268" cy="1043"/>
            </a:xfrm>
            <a:prstGeom prst="rect">
              <a:avLst/>
            </a:prstGeom>
            <a:gradFill rotWithShape="0">
              <a:gsLst>
                <a:gs pos="0">
                  <a:srgbClr val="EAEAEA"/>
                </a:gs>
                <a:gs pos="50000">
                  <a:srgbClr val="D2D2D2"/>
                </a:gs>
                <a:gs pos="100000">
                  <a:srgbClr val="EAEAEA"/>
                </a:gs>
              </a:gsLst>
              <a:lin ang="18900000" scaled="1"/>
              <a:tileRect/>
            </a:gradFill>
            <a:ln w="25400" cap="flat" cmpd="sng">
              <a:solidFill>
                <a:srgbClr val="B2B2B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  <a:buNone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6152" name="Text Box 34"/>
            <p:cNvSpPr txBox="1"/>
            <p:nvPr/>
          </p:nvSpPr>
          <p:spPr>
            <a:xfrm>
              <a:off x="184" y="90"/>
              <a:ext cx="527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257175" indent="-257175">
                <a:spcBef>
                  <a:spcPct val="50000"/>
                </a:spcBef>
              </a:pPr>
              <a:r>
                <a:rPr lang="zh-CN" altLang="en-US" dirty="0">
                  <a:ea typeface="楷体_GB2312" pitchFamily="1" charset="-122"/>
                </a:rPr>
                <a:t>    建筑物需要有良好的结构来抵御外界风险。</a:t>
              </a:r>
              <a:endParaRPr lang="en-US" altLang="x-none" dirty="0">
                <a:ea typeface="楷体_GB2312" pitchFamily="1" charset="-122"/>
              </a:endParaRPr>
            </a:p>
            <a:p>
              <a:pPr marL="257175" indent="-257175">
                <a:spcBef>
                  <a:spcPct val="50000"/>
                </a:spcBef>
              </a:pPr>
              <a:r>
                <a:rPr lang="en-US" altLang="x-none" dirty="0">
                  <a:ea typeface="楷体_GB2312" pitchFamily="1" charset="-122"/>
                </a:rPr>
                <a:t>     </a:t>
              </a:r>
              <a:r>
                <a:rPr lang="zh-CN" altLang="en-US" dirty="0">
                  <a:ea typeface="楷体_GB2312" pitchFamily="1" charset="-122"/>
                </a:rPr>
                <a:t>同样，</a:t>
              </a:r>
              <a:r>
                <a:rPr lang="zh-CN" altLang="en-US" dirty="0">
                  <a:ea typeface="宋体" charset="-122"/>
                </a:rPr>
                <a:t>一个程序也应该具有</a:t>
              </a:r>
              <a:r>
                <a:rPr lang="zh-CN" altLang="en-US" dirty="0">
                  <a:ea typeface="楷体_GB2312" pitchFamily="1" charset="-122"/>
                  <a:sym typeface="+mn-ea"/>
                </a:rPr>
                <a:t>良好的</a:t>
              </a:r>
              <a:r>
                <a:rPr lang="zh-CN" altLang="en-US" dirty="0">
                  <a:ea typeface="宋体" charset="-122"/>
                </a:rPr>
                <a:t>结构，易于理解和维护。</a:t>
              </a:r>
              <a:endParaRPr lang="en-US" altLang="x-none" dirty="0">
                <a:ea typeface="宋体" charset="-122"/>
              </a:endParaRPr>
            </a:p>
          </p:txBody>
        </p:sp>
        <p:grpSp>
          <p:nvGrpSpPr>
            <p:cNvPr id="6153" name="组合 6152"/>
            <p:cNvGrpSpPr/>
            <p:nvPr/>
          </p:nvGrpSpPr>
          <p:grpSpPr>
            <a:xfrm>
              <a:off x="0" y="0"/>
              <a:ext cx="388" cy="1043"/>
              <a:chOff x="0" y="0"/>
              <a:chExt cx="388" cy="1043"/>
            </a:xfrm>
          </p:grpSpPr>
          <p:sp>
            <p:nvSpPr>
              <p:cNvPr id="6154" name="Rectangle 37"/>
              <p:cNvSpPr/>
              <p:nvPr/>
            </p:nvSpPr>
            <p:spPr>
              <a:xfrm>
                <a:off x="3" y="0"/>
                <a:ext cx="363" cy="1043"/>
              </a:xfrm>
              <a:prstGeom prst="rect">
                <a:avLst/>
              </a:prstGeom>
              <a:gradFill rotWithShape="0">
                <a:gsLst>
                  <a:gs pos="0">
                    <a:srgbClr val="006C88"/>
                  </a:gs>
                  <a:gs pos="50000">
                    <a:srgbClr val="002029"/>
                  </a:gs>
                  <a:gs pos="100000">
                    <a:srgbClr val="006C88"/>
                  </a:gs>
                </a:gsLst>
                <a:lin ang="18900000" scaled="1"/>
                <a:tileRect/>
              </a:gradFill>
              <a:ln w="28575" cap="flat" cmpd="sng">
                <a:solidFill>
                  <a:srgbClr val="03C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algn="ctr" eaLnBrk="1" hangingPunct="1">
                  <a:spcBef>
                    <a:spcPct val="0"/>
                  </a:spcBef>
                  <a:buNone/>
                </a:pPr>
                <a:endParaRPr lang="zh-CN" altLang="en-US" dirty="0">
                  <a:ea typeface="宋体" charset="-122"/>
                </a:endParaRPr>
              </a:p>
            </p:txBody>
          </p:sp>
          <p:sp>
            <p:nvSpPr>
              <p:cNvPr id="6155" name="Text Box 38"/>
              <p:cNvSpPr txBox="1"/>
              <p:nvPr/>
            </p:nvSpPr>
            <p:spPr>
              <a:xfrm>
                <a:off x="0" y="181"/>
                <a:ext cx="388" cy="5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 marL="257175" indent="-257175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bg1"/>
                    </a:solidFill>
                    <a:latin typeface="Times New Roman" pitchFamily="18" charset="0"/>
                    <a:ea typeface="宋体" charset="-122"/>
                  </a:rPr>
                  <a:t>引言</a:t>
                </a:r>
              </a:p>
            </p:txBody>
          </p:sp>
        </p:grpSp>
      </p:grpSp>
      <p:sp>
        <p:nvSpPr>
          <p:cNvPr id="9229" name="Text Box 25"/>
          <p:cNvSpPr txBox="1"/>
          <p:nvPr/>
        </p:nvSpPr>
        <p:spPr>
          <a:xfrm>
            <a:off x="1793081" y="3121819"/>
            <a:ext cx="4924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57175" indent="-257175"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结构化程序设计方法 基本思想</a:t>
            </a:r>
            <a:endParaRPr lang="en-US" altLang="x-none" b="1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414337" y="3300413"/>
            <a:ext cx="8556308" cy="1804511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400050" indent="-400050" eaLnBrk="1" hangingPunct="1">
              <a:buNone/>
            </a:pPr>
            <a:r>
              <a:rPr lang="en-US" altLang="zh-CN" sz="2400" b="1" dirty="0"/>
              <a:t>结构化程序设计方法(Structured programming method)</a:t>
            </a: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自顶向下 (Top-down)</a:t>
            </a: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逐步求精 (Progressive refinement)</a:t>
            </a:r>
            <a:r>
              <a:rPr lang="en-US" altLang="zh-CN" dirty="0">
                <a:latin typeface="Arial" pitchFamily="34" charset="0"/>
              </a:rPr>
              <a:t> </a:t>
            </a:r>
            <a:endParaRPr lang="zh-CN" altLang="en-US" b="1" dirty="0">
              <a:latin typeface="Arial" pitchFamily="34" charset="0"/>
            </a:endParaRP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模块化 (Module)</a:t>
            </a: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结构化编码 (Structured coding:three basic structure)</a:t>
            </a:r>
            <a:endParaRPr lang="zh-CN" altLang="en-US" b="1" dirty="0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70" decel="1000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770" decel="1000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4" dur="77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70" decel="1000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770" decel="1000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5" dur="77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7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70" decel="1000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770" decel="1000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4" dur="77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6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70" decel="1000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770" decel="1000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1" dur="77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3" dur="77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>
                <a:sym typeface="+mn-ea"/>
              </a:rPr>
              <a:t>结构化编码：单入单出的</a:t>
            </a:r>
            <a:r>
              <a:rPr lang="en-US" altLang="zh-CN" b="1" dirty="0" err="1">
                <a:sym typeface="+mn-ea"/>
              </a:rPr>
              <a:t>三种控制结构</a:t>
            </a:r>
            <a:endParaRPr lang="zh-CN" altLang="en-US" b="1" dirty="0"/>
          </a:p>
        </p:txBody>
      </p:sp>
      <p:graphicFrame>
        <p:nvGraphicFramePr>
          <p:cNvPr id="54278" name="Object 39"/>
          <p:cNvGraphicFramePr>
            <a:graphicFrameLocks noChangeAspect="1"/>
          </p:cNvGraphicFramePr>
          <p:nvPr/>
        </p:nvGraphicFramePr>
        <p:xfrm>
          <a:off x="395764" y="1261993"/>
          <a:ext cx="4131469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723255" imgH="2506345" progId="Visio.Drawing.11">
                  <p:embed/>
                </p:oleObj>
              </mc:Choice>
              <mc:Fallback>
                <p:oleObj r:id="rId3" imgW="5723255" imgH="2506345" progId="Visio.Drawing.11">
                  <p:embed/>
                  <p:pic>
                    <p:nvPicPr>
                      <p:cNvPr id="54278" name="Object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764" y="1261993"/>
                        <a:ext cx="4131469" cy="180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38"/>
          <p:cNvGraphicFramePr>
            <a:graphicFrameLocks noChangeAspect="1"/>
          </p:cNvGraphicFramePr>
          <p:nvPr/>
        </p:nvGraphicFramePr>
        <p:xfrm>
          <a:off x="4577001" y="1273661"/>
          <a:ext cx="4454128" cy="166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599430" imgH="2099945" progId="Visio.Drawing.11">
                  <p:embed/>
                </p:oleObj>
              </mc:Choice>
              <mc:Fallback>
                <p:oleObj r:id="rId5" imgW="5599430" imgH="2099945" progId="Visio.Drawing.11">
                  <p:embed/>
                  <p:pic>
                    <p:nvPicPr>
                      <p:cNvPr id="54279" name="Object 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7001" y="1273661"/>
                        <a:ext cx="4454128" cy="166449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Rectangle 4"/>
          <p:cNvSpPr>
            <a:spLocks noGrp="1"/>
          </p:cNvSpPr>
          <p:nvPr>
            <p:ph idx="1"/>
          </p:nvPr>
        </p:nvSpPr>
        <p:spPr>
          <a:xfrm>
            <a:off x="738664" y="2961491"/>
            <a:ext cx="7772400" cy="2051685"/>
          </a:xfrm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None/>
            </a:pPr>
            <a:r>
              <a:rPr lang="zh-CN" altLang="en-US" b="1" dirty="0">
                <a:latin typeface="宋体" pitchFamily="2" charset="-122"/>
              </a:rPr>
              <a:t>三种控制结构的共同点</a:t>
            </a:r>
            <a:endParaRPr lang="zh-CN" altLang="en-US" dirty="0">
              <a:latin typeface="宋体" pitchFamily="2" charset="-122"/>
              <a:ea typeface="Times New Roman" pitchFamily="18" charset="0"/>
            </a:endParaRP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>
                <a:solidFill>
                  <a:srgbClr val="000066"/>
                </a:solidFill>
              </a:rPr>
              <a:t>只有一个入口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66"/>
                </a:solidFill>
              </a:rPr>
              <a:t> 只有一个出口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66"/>
                </a:solidFill>
              </a:rPr>
              <a:t> 结构内的每一个部分都有机会被执行到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66"/>
                </a:solidFill>
              </a:rPr>
              <a:t> 结构内不存在“死循环”（无终止的循环）</a:t>
            </a:r>
          </a:p>
          <a:p>
            <a:pPr algn="just" eaLnBrk="1" hangingPunct="1">
              <a:buFont typeface="Wingdings" pitchFamily="2" charset="2"/>
              <a:buNone/>
            </a:pPr>
            <a:endParaRPr lang="zh-CN" altLang="en-US" b="1" dirty="0">
              <a:solidFill>
                <a:srgbClr val="000066"/>
              </a:solidFill>
            </a:endParaRPr>
          </a:p>
        </p:txBody>
      </p:sp>
      <p:sp>
        <p:nvSpPr>
          <p:cNvPr id="145417" name="Text Box 9"/>
          <p:cNvSpPr txBox="1">
            <a:spLocks noChangeArrowheads="1"/>
          </p:cNvSpPr>
          <p:nvPr/>
        </p:nvSpPr>
        <p:spPr bwMode="auto">
          <a:xfrm>
            <a:off x="732164" y="5610071"/>
            <a:ext cx="7126560" cy="46166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+mn-ea"/>
              </a:rPr>
              <a:t>提倡 清晰的 结构</a:t>
            </a:r>
            <a:endParaRPr kumimoji="1"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4152784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11</a:t>
            </a:fld>
            <a:endParaRPr lang="zh-CN" altLang="en-US" sz="1050" dirty="0"/>
          </a:p>
        </p:txBody>
      </p:sp>
      <p:sp>
        <p:nvSpPr>
          <p:cNvPr id="778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>
                <a:sym typeface="+mn-ea"/>
              </a:rPr>
              <a:t>例</a:t>
            </a:r>
            <a:r>
              <a:rPr lang="en-US" altLang="zh-CN" b="1" dirty="0">
                <a:sym typeface="+mn-ea"/>
              </a:rPr>
              <a:t>4.14 求整数长度</a:t>
            </a:r>
          </a:p>
        </p:txBody>
      </p:sp>
      <p:sp>
        <p:nvSpPr>
          <p:cNvPr id="96260" name="Rectangle 3"/>
          <p:cNvSpPr>
            <a:spLocks noGrp="1"/>
          </p:cNvSpPr>
          <p:nvPr>
            <p:ph idx="1"/>
          </p:nvPr>
        </p:nvSpPr>
        <p:spPr>
          <a:xfrm>
            <a:off x="539552" y="1268760"/>
            <a:ext cx="8424936" cy="3960440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练习</a:t>
            </a:r>
            <a:r>
              <a:rPr lang="en-US" altLang="zh-CN" b="1" dirty="0"/>
              <a:t>3</a:t>
            </a:r>
            <a:r>
              <a:rPr lang="zh-CN" altLang="en-US" b="1" dirty="0"/>
              <a:t>：设计算法，求一个非负整数的长度。</a:t>
            </a:r>
          </a:p>
          <a:p>
            <a:pPr eaLnBrk="1" hangingPunct="1"/>
            <a:r>
              <a:rPr lang="zh-CN" altLang="en-US" b="1" dirty="0"/>
              <a:t>算法</a:t>
            </a:r>
            <a:r>
              <a:rPr lang="en-US" altLang="zh-CN" b="1" dirty="0"/>
              <a:t>1</a:t>
            </a:r>
            <a:r>
              <a:rPr lang="zh-CN" altLang="en-US" b="1" dirty="0"/>
              <a:t>：例如</a:t>
            </a:r>
            <a:r>
              <a:rPr lang="en-US" altLang="zh-CN" b="1" dirty="0"/>
              <a:t>num=12345</a:t>
            </a:r>
            <a:r>
              <a:rPr lang="zh-CN" altLang="en-US" b="1" dirty="0"/>
              <a:t>，求</a:t>
            </a:r>
            <a:r>
              <a:rPr lang="en-US" altLang="zh-CN" b="1" dirty="0"/>
              <a:t>num</a:t>
            </a:r>
            <a:r>
              <a:rPr lang="zh-CN" altLang="en-US" b="1" dirty="0"/>
              <a:t>的长度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num=1234</a:t>
            </a:r>
            <a:r>
              <a:rPr lang="zh-CN" altLang="en-US" b="1" dirty="0"/>
              <a:t>，长度</a:t>
            </a:r>
            <a:r>
              <a:rPr lang="en-US" altLang="zh-CN" b="1" dirty="0"/>
              <a:t>len=1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num=123</a:t>
            </a:r>
            <a:r>
              <a:rPr lang="zh-CN" altLang="en-US" b="1" dirty="0"/>
              <a:t>，长度</a:t>
            </a:r>
            <a:r>
              <a:rPr lang="en-US" altLang="zh-CN" b="1" dirty="0"/>
              <a:t>len=2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num=12</a:t>
            </a:r>
            <a:r>
              <a:rPr lang="zh-CN" altLang="en-US" b="1" dirty="0"/>
              <a:t>，长度</a:t>
            </a:r>
            <a:r>
              <a:rPr lang="en-US" altLang="zh-CN" b="1" dirty="0"/>
              <a:t>len=3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</a:t>
            </a:r>
            <a:r>
              <a:rPr lang="zh-CN" altLang="en-US" b="1" dirty="0"/>
              <a:t>，长度</a:t>
            </a:r>
            <a:r>
              <a:rPr lang="en-US" altLang="zh-CN" b="1" dirty="0"/>
              <a:t>len=4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num=0</a:t>
            </a:r>
            <a:r>
              <a:rPr lang="zh-CN" altLang="en-US" b="1" dirty="0"/>
              <a:t>，长度</a:t>
            </a:r>
            <a:r>
              <a:rPr lang="en-US" altLang="zh-CN" b="1" dirty="0"/>
              <a:t>len=5</a:t>
            </a:r>
          </a:p>
          <a:p>
            <a:pPr lvl="1" eaLnBrk="1" hangingPunct="1"/>
            <a:endParaRPr lang="en-US" altLang="zh-CN" b="1" dirty="0"/>
          </a:p>
          <a:p>
            <a:pPr eaLnBrk="1" hangingPunct="1">
              <a:buNone/>
            </a:pPr>
            <a:endParaRPr lang="zh-CN" altLang="en-US" sz="1800" b="1" dirty="0"/>
          </a:p>
        </p:txBody>
      </p:sp>
      <p:sp>
        <p:nvSpPr>
          <p:cNvPr id="398340" name="Text Box 4"/>
          <p:cNvSpPr txBox="1"/>
          <p:nvPr/>
        </p:nvSpPr>
        <p:spPr>
          <a:xfrm>
            <a:off x="1269474" y="5196800"/>
            <a:ext cx="5509022" cy="646331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257175" indent="-257175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宋体" charset="-122"/>
              </a:rPr>
              <a:t>算法中每一步的核心操作是从</a:t>
            </a: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num</a:t>
            </a:r>
            <a:r>
              <a:rPr lang="zh-CN" altLang="en-US" b="1" dirty="0">
                <a:latin typeface="Times New Roman" pitchFamily="18" charset="0"/>
                <a:ea typeface="宋体" charset="-122"/>
              </a:rPr>
              <a:t>中去掉最低位，长度</a:t>
            </a: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len</a:t>
            </a:r>
            <a:r>
              <a:rPr lang="zh-CN" altLang="en-US" b="1" dirty="0">
                <a:latin typeface="Times New Roman" pitchFamily="18" charset="0"/>
                <a:ea typeface="宋体" charset="-122"/>
              </a:rPr>
              <a:t>加</a:t>
            </a: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12</a:t>
            </a:fld>
            <a:endParaRPr lang="zh-CN" altLang="en-US" sz="1050" dirty="0"/>
          </a:p>
        </p:txBody>
      </p:sp>
      <p:sp>
        <p:nvSpPr>
          <p:cNvPr id="78850" name="Rectangle 13"/>
          <p:cNvSpPr>
            <a:spLocks noGrp="1"/>
          </p:cNvSpPr>
          <p:nvPr>
            <p:ph type="title" sz="quarter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自顶向下、逐步求精：简化计算</a:t>
            </a:r>
          </a:p>
        </p:txBody>
      </p:sp>
      <p:graphicFrame>
        <p:nvGraphicFramePr>
          <p:cNvPr id="78851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43000" y="1326177"/>
          <a:ext cx="3158729" cy="984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91485" imgH="937260" progId="Visio.Drawing.11">
                  <p:embed/>
                </p:oleObj>
              </mc:Choice>
              <mc:Fallback>
                <p:oleObj r:id="rId2" imgW="2991485" imgH="937260" progId="Visio.Drawing.11">
                  <p:embed/>
                  <p:pic>
                    <p:nvPicPr>
                      <p:cNvPr id="78851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1326177"/>
                        <a:ext cx="3158729" cy="98464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254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43000" y="2320825"/>
          <a:ext cx="2163366" cy="226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18970" imgH="2009140" progId="Visio.Drawing.11">
                  <p:embed/>
                </p:oleObj>
              </mc:Choice>
              <mc:Fallback>
                <p:oleObj r:id="rId4" imgW="1918970" imgH="2009140" progId="Visio.Drawing.11">
                  <p:embed/>
                  <p:pic>
                    <p:nvPicPr>
                      <p:cNvPr id="437254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3000" y="2320825"/>
                        <a:ext cx="2163366" cy="226814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257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75410" y="2427981"/>
          <a:ext cx="2917031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49830" imgH="1129030" progId="Visio.Drawing.11">
                  <p:embed/>
                </p:oleObj>
              </mc:Choice>
              <mc:Fallback>
                <p:oleObj r:id="rId6" imgW="2449830" imgH="1129030" progId="Visio.Drawing.11">
                  <p:embed/>
                  <p:pic>
                    <p:nvPicPr>
                      <p:cNvPr id="437257" name="Object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5410" y="2427981"/>
                        <a:ext cx="2917031" cy="1333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505915" y="3726953"/>
          <a:ext cx="4049315" cy="2294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747770" imgH="2133600" progId="Visio.Drawing.11">
                  <p:embed/>
                </p:oleObj>
              </mc:Choice>
              <mc:Fallback>
                <p:oleObj r:id="rId8" imgW="3747770" imgH="2133600" progId="Visio.Drawing.11">
                  <p:embed/>
                  <p:pic>
                    <p:nvPicPr>
                      <p:cNvPr id="22533" name="Object 1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5915" y="3726953"/>
                        <a:ext cx="4049315" cy="229433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33570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43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 b="1" dirty="0"/>
              <a:t>按去低位迭代的</a:t>
            </a:r>
            <a:r>
              <a:rPr lang="en-US" altLang="zh-CN" b="1" dirty="0" err="1"/>
              <a:t>求整数长度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78619" y="1268760"/>
            <a:ext cx="8537734" cy="52565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zh-CN" altLang="en-US" sz="2000" dirty="0">
                <a:latin typeface="Consolas" panose="020B0609020204030204" pitchFamily="49" charset="0"/>
              </a:rPr>
              <a:t>main(){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int num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  <a:sym typeface="+mn-ea"/>
              </a:rPr>
              <a:t>length</a:t>
            </a:r>
            <a:r>
              <a:rPr lang="en-US" altLang="zh-CN" sz="2000" dirty="0">
                <a:latin typeface="Consolas" panose="020B0609020204030204" pitchFamily="49" charset="0"/>
                <a:sym typeface="+mn-ea"/>
              </a:rPr>
              <a:t>,m;</a:t>
            </a:r>
            <a:r>
              <a:rPr lang="zh-CN" altLang="en-US" sz="2000" dirty="0">
                <a:latin typeface="Consolas" panose="020B0609020204030204" pitchFamily="49" charset="0"/>
              </a:rPr>
              <a:t>//输入的数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记录整数长度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末尾数</a:t>
            </a:r>
            <a:r>
              <a:rPr lang="en-US" altLang="zh-CN" sz="2000" dirty="0">
                <a:latin typeface="Consolas" panose="020B0609020204030204" pitchFamily="49" charset="0"/>
              </a:rPr>
              <a:t>.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printf("</a:t>
            </a:r>
            <a:r>
              <a:rPr lang="en-US" altLang="zh-CN" sz="2000" dirty="0">
                <a:latin typeface="Consolas" panose="020B0609020204030204" pitchFamily="49" charset="0"/>
              </a:rPr>
              <a:t>Enter a integer:</a:t>
            </a:r>
            <a:r>
              <a:rPr lang="zh-CN" altLang="en-US" sz="2000" dirty="0">
                <a:latin typeface="Consolas" panose="020B0609020204030204" pitchFamily="49" charset="0"/>
              </a:rPr>
              <a:t>");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zh-CN" altLang="en-US" sz="2000" dirty="0">
                <a:latin typeface="Consolas" panose="020B0609020204030204" pitchFamily="49" charset="0"/>
              </a:rPr>
              <a:t> scanf("%d",&amp;num);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length=0;   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=num;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zh-CN" altLang="en-US" sz="2000" dirty="0">
                <a:latin typeface="Consolas" panose="020B0609020204030204" pitchFamily="49" charset="0"/>
              </a:rPr>
              <a:t>//从最低位开始，依次从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中砍掉各位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while (</a:t>
            </a:r>
            <a:r>
              <a:rPr lang="en-US" altLang="zh-CN" sz="2000" dirty="0">
                <a:latin typeface="Consolas" panose="020B0609020204030204" pitchFamily="49" charset="0"/>
              </a:rPr>
              <a:t>m != </a:t>
            </a:r>
            <a:r>
              <a:rPr lang="zh-CN" altLang="en-US" sz="2000" dirty="0">
                <a:latin typeface="Consolas" panose="020B0609020204030204" pitchFamily="49" charset="0"/>
              </a:rPr>
              <a:t>0){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	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/10;//去掉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的最低位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	length++; /*从num中分解出一位数字，length加1*/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printf("</a:t>
            </a:r>
            <a:r>
              <a:rPr lang="en-US" altLang="zh-CN" sz="2000" dirty="0">
                <a:latin typeface="Consolas" panose="020B0609020204030204" pitchFamily="49" charset="0"/>
              </a:rPr>
              <a:t>length of </a:t>
            </a:r>
            <a:r>
              <a:rPr lang="zh-CN" altLang="en-US" sz="2000" dirty="0">
                <a:latin typeface="Consolas" panose="020B0609020204030204" pitchFamily="49" charset="0"/>
              </a:rPr>
              <a:t>%d </a:t>
            </a:r>
            <a:r>
              <a:rPr lang="en-US" altLang="zh-CN" sz="2000" dirty="0">
                <a:latin typeface="Consolas" panose="020B0609020204030204" pitchFamily="49" charset="0"/>
              </a:rPr>
              <a:t>is </a:t>
            </a:r>
            <a:r>
              <a:rPr lang="zh-CN" altLang="en-US" sz="2000" dirty="0">
                <a:latin typeface="Consolas" panose="020B0609020204030204" pitchFamily="49" charset="0"/>
              </a:rPr>
              <a:t>%d</a:t>
            </a:r>
            <a:r>
              <a:rPr lang="en-US" altLang="zh-CN" sz="2000" dirty="0">
                <a:latin typeface="Consolas" panose="020B0609020204030204" pitchFamily="49" charset="0"/>
              </a:rPr>
              <a:t>\n</a:t>
            </a:r>
            <a:r>
              <a:rPr lang="zh-CN" altLang="en-US" sz="2000" dirty="0">
                <a:latin typeface="Consolas" panose="020B0609020204030204" pitchFamily="49" charset="0"/>
              </a:rPr>
              <a:t>",num,length);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A47D04-4E2A-7058-164C-E99B0AF49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060" y="1268760"/>
            <a:ext cx="2808312" cy="45811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4">
            <a:extLst>
              <a:ext uri="{FF2B5EF4-FFF2-40B4-BE49-F238E27FC236}">
                <a16:creationId xmlns:a16="http://schemas.microsoft.com/office/drawing/2014/main" id="{639AAC9E-B5B1-4828-BEC4-024AE6F0BD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B8014E31-8D11-4EC2-9D4F-F502D04A29D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14</a:t>
            </a:fld>
            <a:endParaRPr lang="zh-CN" altLang="en-US" sz="14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B58D468F-6F8C-4DCB-A6AB-92363A666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5</a:t>
            </a:r>
            <a:r>
              <a:rPr lang="zh-CN" altLang="en-US"/>
              <a:t>：判断回文数</a:t>
            </a:r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0AC4447A-B847-41E2-ADC5-C870B5E24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练习</a:t>
            </a:r>
            <a:r>
              <a:rPr lang="en-US" altLang="zh-CN" b="1"/>
              <a:t>5</a:t>
            </a:r>
            <a:r>
              <a:rPr lang="zh-CN" altLang="en-US" b="1"/>
              <a:t>：设计算法，判断一个正整数是否是回文数。回文数是指正读和反读都一样的数。如</a:t>
            </a:r>
            <a:r>
              <a:rPr lang="en-US" altLang="zh-CN" b="1"/>
              <a:t>121</a:t>
            </a:r>
            <a:r>
              <a:rPr lang="zh-CN" altLang="en-US" b="1"/>
              <a:t>、</a:t>
            </a:r>
            <a:r>
              <a:rPr lang="en-US" altLang="zh-CN" b="1"/>
              <a:t>1221</a:t>
            </a:r>
            <a:r>
              <a:rPr lang="zh-CN" altLang="en-US" b="1"/>
              <a:t>就是回文数。</a:t>
            </a:r>
          </a:p>
          <a:p>
            <a:pPr eaLnBrk="1" hangingPunct="1"/>
            <a:r>
              <a:rPr lang="zh-CN" altLang="en-US" b="1">
                <a:solidFill>
                  <a:srgbClr val="CC0000"/>
                </a:solidFill>
              </a:rPr>
              <a:t>算法</a:t>
            </a:r>
            <a:r>
              <a:rPr lang="en-US" altLang="zh-CN" b="1">
                <a:solidFill>
                  <a:srgbClr val="CC0000"/>
                </a:solidFill>
              </a:rPr>
              <a:t>1</a:t>
            </a:r>
            <a:r>
              <a:rPr lang="zh-CN" altLang="en-US" b="1"/>
              <a:t>：回文数的第</a:t>
            </a:r>
            <a:r>
              <a:rPr lang="en-US" altLang="zh-CN" b="1"/>
              <a:t>i</a:t>
            </a:r>
            <a:r>
              <a:rPr lang="zh-CN" altLang="en-US" b="1"/>
              <a:t>位和倒数第</a:t>
            </a:r>
            <a:r>
              <a:rPr lang="en-US" altLang="zh-CN" b="1"/>
              <a:t>i</a:t>
            </a:r>
            <a:r>
              <a:rPr lang="zh-CN" altLang="en-US" b="1"/>
              <a:t>位肯定相等</a:t>
            </a: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f(n)={ if (n/10e(len-1)==n%10)</a:t>
            </a:r>
          </a:p>
          <a:p>
            <a:pPr marL="914400" lvl="2" indent="0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0000"/>
                </a:solidFill>
              </a:rPr>
              <a:t>f((n%10e(len-1))/10),n!=0	}</a:t>
            </a:r>
            <a:endParaRPr lang="zh-CN" altLang="en-US" b="1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b="1"/>
              <a:t>比较第</a:t>
            </a:r>
            <a:r>
              <a:rPr lang="en-US" altLang="zh-CN" b="1"/>
              <a:t>1</a:t>
            </a:r>
            <a:r>
              <a:rPr lang="zh-CN" altLang="en-US" b="1"/>
              <a:t>位和倒数第</a:t>
            </a:r>
            <a:r>
              <a:rPr lang="en-US" altLang="zh-CN" b="1"/>
              <a:t>1</a:t>
            </a:r>
            <a:r>
              <a:rPr lang="zh-CN" altLang="en-US" b="1"/>
              <a:t>位</a:t>
            </a:r>
          </a:p>
          <a:p>
            <a:pPr lvl="1" eaLnBrk="1" hangingPunct="1"/>
            <a:r>
              <a:rPr lang="zh-CN" altLang="en-US" b="1"/>
              <a:t>比较第</a:t>
            </a:r>
            <a:r>
              <a:rPr lang="en-US" altLang="zh-CN" b="1"/>
              <a:t>2</a:t>
            </a:r>
            <a:r>
              <a:rPr lang="zh-CN" altLang="en-US" b="1"/>
              <a:t>位和倒数第</a:t>
            </a:r>
            <a:r>
              <a:rPr lang="en-US" altLang="zh-CN" b="1"/>
              <a:t>2</a:t>
            </a:r>
            <a:r>
              <a:rPr lang="zh-CN" altLang="en-US" b="1"/>
              <a:t>位</a:t>
            </a:r>
          </a:p>
          <a:p>
            <a:pPr lvl="1" eaLnBrk="1" hangingPunct="1"/>
            <a:r>
              <a:rPr lang="en-US" altLang="zh-CN" b="1">
                <a:latin typeface="宋体" panose="02010600030101010101" pitchFamily="2" charset="-122"/>
              </a:rPr>
              <a:t>…</a:t>
            </a:r>
            <a:endParaRPr lang="zh-CN" altLang="en-US" b="1"/>
          </a:p>
          <a:p>
            <a:pPr eaLnBrk="1" hangingPunct="1"/>
            <a:r>
              <a:rPr lang="zh-CN" altLang="en-US" b="1">
                <a:solidFill>
                  <a:srgbClr val="CC0000"/>
                </a:solidFill>
              </a:rPr>
              <a:t>算法</a:t>
            </a:r>
            <a:r>
              <a:rPr lang="en-US" altLang="zh-CN" b="1">
                <a:solidFill>
                  <a:srgbClr val="CC0000"/>
                </a:solidFill>
              </a:rPr>
              <a:t>2</a:t>
            </a:r>
            <a:r>
              <a:rPr lang="zh-CN" altLang="en-US" b="1"/>
              <a:t>：反着读，假设读得的数为</a:t>
            </a:r>
            <a:r>
              <a:rPr lang="en-US" altLang="zh-CN" b="1"/>
              <a:t>reverseNum</a:t>
            </a:r>
            <a:r>
              <a:rPr lang="zh-CN" altLang="en-US" b="1"/>
              <a:t>，判断</a:t>
            </a:r>
            <a:r>
              <a:rPr lang="en-US" altLang="zh-CN" b="1"/>
              <a:t>num</a:t>
            </a:r>
            <a:r>
              <a:rPr lang="zh-CN" altLang="en-US" b="1"/>
              <a:t>和</a:t>
            </a:r>
            <a:r>
              <a:rPr lang="en-US" altLang="zh-CN" b="1"/>
              <a:t>reverseNum</a:t>
            </a:r>
            <a:r>
              <a:rPr lang="zh-CN" altLang="en-US" b="1"/>
              <a:t>是否相等</a:t>
            </a:r>
          </a:p>
          <a:p>
            <a:pPr eaLnBrk="1" hangingPunct="1"/>
            <a:endParaRPr lang="zh-CN" altLang="en-US" b="1"/>
          </a:p>
          <a:p>
            <a:pPr lvl="1" eaLnBrk="1" hangingPunct="1"/>
            <a:endParaRPr lang="en-US" altLang="zh-CN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77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8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10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103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9332">
                                            <p:txEl>
                                              <p:charRg st="103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4">
            <a:extLst>
              <a:ext uri="{FF2B5EF4-FFF2-40B4-BE49-F238E27FC236}">
                <a16:creationId xmlns:a16="http://schemas.microsoft.com/office/drawing/2014/main" id="{3B7F69C2-1C1B-4DB5-9533-0B3DD3B215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35FBD4AE-7899-427E-A948-3A0C6079DF64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15</a:t>
            </a:fld>
            <a:endParaRPr lang="zh-CN" altLang="en-US" sz="1400"/>
          </a:p>
        </p:txBody>
      </p:sp>
      <p:sp>
        <p:nvSpPr>
          <p:cNvPr id="96259" name="Rectangle 5">
            <a:extLst>
              <a:ext uri="{FF2B5EF4-FFF2-40B4-BE49-F238E27FC236}">
                <a16:creationId xmlns:a16="http://schemas.microsoft.com/office/drawing/2014/main" id="{FF2EC7C9-AFC5-4933-A132-D5F652580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判断回文数</a:t>
            </a:r>
            <a:r>
              <a:rPr lang="en-US" altLang="zh-CN" b="1"/>
              <a:t>-</a:t>
            </a:r>
            <a:r>
              <a:rPr lang="zh-CN" altLang="en-US" b="1"/>
              <a:t>算法</a:t>
            </a:r>
            <a:r>
              <a:rPr lang="en-US" altLang="zh-CN" b="1"/>
              <a:t>1</a:t>
            </a:r>
          </a:p>
        </p:txBody>
      </p:sp>
      <p:graphicFrame>
        <p:nvGraphicFramePr>
          <p:cNvPr id="96260" name="Object 4">
            <a:extLst>
              <a:ext uri="{FF2B5EF4-FFF2-40B4-BE49-F238E27FC236}">
                <a16:creationId xmlns:a16="http://schemas.microsoft.com/office/drawing/2014/main" id="{C99F155D-21D9-418A-838E-06DACC074F8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54163" y="188913"/>
          <a:ext cx="4095750" cy="583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32880" imgH="2186280" progId="Visio.Drawing.11">
                  <p:embed/>
                </p:oleObj>
              </mc:Choice>
              <mc:Fallback>
                <p:oleObj r:id="rId2" imgW="1532880" imgH="2186280" progId="Visio.Drawing.11">
                  <p:embed/>
                  <p:pic>
                    <p:nvPicPr>
                      <p:cNvPr id="96260" name="Object 4">
                        <a:extLst>
                          <a:ext uri="{FF2B5EF4-FFF2-40B4-BE49-F238E27FC236}">
                            <a16:creationId xmlns:a16="http://schemas.microsoft.com/office/drawing/2014/main" id="{C99F155D-21D9-418A-838E-06DACC074F8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188913"/>
                        <a:ext cx="4095750" cy="583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7">
            <a:extLst>
              <a:ext uri="{FF2B5EF4-FFF2-40B4-BE49-F238E27FC236}">
                <a16:creationId xmlns:a16="http://schemas.microsoft.com/office/drawing/2014/main" id="{AC5DBFC7-E956-4C0F-B114-4004FEB42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060575"/>
            <a:ext cx="2951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left=num/10</a:t>
            </a:r>
            <a:r>
              <a:rPr lang="zh-CN" altLang="en-US" sz="2000" b="1"/>
              <a:t>的</a:t>
            </a:r>
            <a:r>
              <a:rPr lang="en-US" altLang="zh-CN" sz="2000" b="1"/>
              <a:t>len-1</a:t>
            </a:r>
            <a:r>
              <a:rPr lang="zh-CN" altLang="en-US" sz="2000" b="1"/>
              <a:t>次方</a:t>
            </a:r>
          </a:p>
        </p:txBody>
      </p:sp>
      <p:sp>
        <p:nvSpPr>
          <p:cNvPr id="25606" name="Text Box 8">
            <a:extLst>
              <a:ext uri="{FF2B5EF4-FFF2-40B4-BE49-F238E27FC236}">
                <a16:creationId xmlns:a16="http://schemas.microsoft.com/office/drawing/2014/main" id="{68411E14-4DD4-4F84-8860-C78A4ECBC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455863"/>
            <a:ext cx="295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right=num%10</a:t>
            </a:r>
            <a:endParaRPr lang="zh-CN" altLang="en-US" sz="2000" b="1"/>
          </a:p>
        </p:txBody>
      </p:sp>
      <p:sp>
        <p:nvSpPr>
          <p:cNvPr id="96263" name="AutoShape 9">
            <a:extLst>
              <a:ext uri="{FF2B5EF4-FFF2-40B4-BE49-F238E27FC236}">
                <a16:creationId xmlns:a16="http://schemas.microsoft.com/office/drawing/2014/main" id="{BEBFFA8F-875C-4BEE-9E2E-AF052262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205038"/>
            <a:ext cx="360363" cy="144462"/>
          </a:xfrm>
          <a:prstGeom prst="rightArrow">
            <a:avLst>
              <a:gd name="adj1" fmla="val 50000"/>
              <a:gd name="adj2" fmla="val 6191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96264" name="AutoShape 10">
            <a:extLst>
              <a:ext uri="{FF2B5EF4-FFF2-40B4-BE49-F238E27FC236}">
                <a16:creationId xmlns:a16="http://schemas.microsoft.com/office/drawing/2014/main" id="{276042B3-6E08-4245-A6D8-14FCF2456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205038"/>
            <a:ext cx="215900" cy="144462"/>
          </a:xfrm>
          <a:prstGeom prst="rightArrow">
            <a:avLst>
              <a:gd name="adj1" fmla="val 50000"/>
              <a:gd name="adj2" fmla="val 37093"/>
            </a:avLst>
          </a:prstGeom>
          <a:solidFill>
            <a:srgbClr val="00FF00"/>
          </a:solidFill>
          <a:ln w="9525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5" name="AutoShape 11">
            <a:extLst>
              <a:ext uri="{FF2B5EF4-FFF2-40B4-BE49-F238E27FC236}">
                <a16:creationId xmlns:a16="http://schemas.microsoft.com/office/drawing/2014/main" id="{40B29568-C151-4205-BC4A-E8C71B68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636838"/>
            <a:ext cx="215900" cy="144462"/>
          </a:xfrm>
          <a:prstGeom prst="rightArrow">
            <a:avLst>
              <a:gd name="adj1" fmla="val 50000"/>
              <a:gd name="adj2" fmla="val 37093"/>
            </a:avLst>
          </a:prstGeom>
          <a:solidFill>
            <a:srgbClr val="00FF00"/>
          </a:solidFill>
          <a:ln w="9525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6" name="AutoShape 12">
            <a:extLst>
              <a:ext uri="{FF2B5EF4-FFF2-40B4-BE49-F238E27FC236}">
                <a16:creationId xmlns:a16="http://schemas.microsoft.com/office/drawing/2014/main" id="{1F986B65-0AA4-47FD-BD6B-8BBBF545E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716338"/>
            <a:ext cx="215900" cy="144462"/>
          </a:xfrm>
          <a:prstGeom prst="rightArrow">
            <a:avLst>
              <a:gd name="adj1" fmla="val 50000"/>
              <a:gd name="adj2" fmla="val 37093"/>
            </a:avLst>
          </a:prstGeom>
          <a:solidFill>
            <a:srgbClr val="00FF00"/>
          </a:solidFill>
          <a:ln w="9525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1" name="Text Box 13">
            <a:extLst>
              <a:ext uri="{FF2B5EF4-FFF2-40B4-BE49-F238E27FC236}">
                <a16:creationId xmlns:a16="http://schemas.microsoft.com/office/drawing/2014/main" id="{4335F33E-992F-46FC-AFDC-6464261AD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644900"/>
            <a:ext cx="3276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num=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    num%10</a:t>
            </a:r>
            <a:r>
              <a:rPr lang="zh-CN" altLang="en-US" sz="2000" b="1"/>
              <a:t>的</a:t>
            </a:r>
            <a:r>
              <a:rPr lang="en-US" altLang="zh-CN" sz="2000" b="1"/>
              <a:t>len-1</a:t>
            </a:r>
            <a:r>
              <a:rPr lang="zh-CN" altLang="en-US" sz="2000" b="1"/>
              <a:t>次方</a:t>
            </a:r>
            <a:r>
              <a:rPr lang="en-US" altLang="zh-CN" sz="2000" b="1"/>
              <a:t>/10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  <p:bldP spid="25606" grpId="0"/>
      <p:bldP spid="256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4">
            <a:extLst>
              <a:ext uri="{FF2B5EF4-FFF2-40B4-BE49-F238E27FC236}">
                <a16:creationId xmlns:a16="http://schemas.microsoft.com/office/drawing/2014/main" id="{1C1D7D6B-5597-419D-9716-5839CE73C9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AC7DADC8-0CD3-4F4B-8504-968496981F7D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16</a:t>
            </a:fld>
            <a:endParaRPr lang="zh-CN" altLang="en-US" sz="1400"/>
          </a:p>
        </p:txBody>
      </p:sp>
      <p:sp>
        <p:nvSpPr>
          <p:cNvPr id="99331" name="Rectangle 5">
            <a:extLst>
              <a:ext uri="{FF2B5EF4-FFF2-40B4-BE49-F238E27FC236}">
                <a16:creationId xmlns:a16="http://schemas.microsoft.com/office/drawing/2014/main" id="{ADB50F61-64C3-4957-91F6-59F8E4773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判断回文数</a:t>
            </a:r>
            <a:r>
              <a:rPr lang="en-US" altLang="zh-CN" b="1"/>
              <a:t>-</a:t>
            </a:r>
            <a:r>
              <a:rPr lang="zh-CN" altLang="en-US" b="1"/>
              <a:t>算法</a:t>
            </a:r>
            <a:r>
              <a:rPr lang="en-US" altLang="zh-CN" b="1"/>
              <a:t>2</a:t>
            </a:r>
            <a:endParaRPr lang="zh-CN" altLang="en-US" b="1"/>
          </a:p>
        </p:txBody>
      </p:sp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134E5514-95A7-4CC0-9370-EE1F2F74E83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58913" y="1420813"/>
          <a:ext cx="4032250" cy="401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38920" imgH="2328120" progId="Visio.Drawing.11">
                  <p:embed/>
                </p:oleObj>
              </mc:Choice>
              <mc:Fallback>
                <p:oleObj r:id="rId2" imgW="2338920" imgH="2328120" progId="Visio.Drawing.11">
                  <p:embed/>
                  <p:pic>
                    <p:nvPicPr>
                      <p:cNvPr id="99332" name="Object 4">
                        <a:extLst>
                          <a:ext uri="{FF2B5EF4-FFF2-40B4-BE49-F238E27FC236}">
                            <a16:creationId xmlns:a16="http://schemas.microsoft.com/office/drawing/2014/main" id="{134E5514-95A7-4CC0-9370-EE1F2F74E83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420813"/>
                        <a:ext cx="4032250" cy="401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灯片编号占位符 5">
            <a:extLst>
              <a:ext uri="{FF2B5EF4-FFF2-40B4-BE49-F238E27FC236}">
                <a16:creationId xmlns:a16="http://schemas.microsoft.com/office/drawing/2014/main" id="{7517DBA6-60D1-4F7F-B0C4-BC5603C745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A2C780E9-86BA-4334-B3EB-866B8905D5C8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17</a:t>
            </a:fld>
            <a:endParaRPr lang="zh-CN" altLang="en-US" sz="1400" b="1"/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E2245797-3118-4ADD-A5F7-1466EFC39B4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3850" y="1319213"/>
            <a:ext cx="7920038" cy="46116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/>
              <a:t>练习：读入多行字符串，将其中的行注释和段注释去掉并打印其余字符</a:t>
            </a:r>
            <a:r>
              <a:rPr lang="zh-CN" altLang="zh-CN" b="1" dirty="0"/>
              <a:t>。</a:t>
            </a:r>
            <a:endParaRPr lang="en-US" altLang="zh-CN" b="1" dirty="0"/>
          </a:p>
          <a:p>
            <a:pPr eaLnBrk="1" hangingPunct="1">
              <a:buFontTx/>
              <a:buNone/>
            </a:pPr>
            <a:endParaRPr lang="en-US" altLang="zh-CN" b="1" dirty="0"/>
          </a:p>
        </p:txBody>
      </p:sp>
      <p:sp>
        <p:nvSpPr>
          <p:cNvPr id="171012" name="Rectangle 6">
            <a:extLst>
              <a:ext uri="{FF2B5EF4-FFF2-40B4-BE49-F238E27FC236}">
                <a16:creationId xmlns:a16="http://schemas.microsoft.com/office/drawing/2014/main" id="{301C953C-C0ED-45A1-939C-F898AB069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24050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b="1"/>
          </a:p>
        </p:txBody>
      </p:sp>
      <p:sp>
        <p:nvSpPr>
          <p:cNvPr id="171013" name="Rectangle 10">
            <a:extLst>
              <a:ext uri="{FF2B5EF4-FFF2-40B4-BE49-F238E27FC236}">
                <a16:creationId xmlns:a16="http://schemas.microsoft.com/office/drawing/2014/main" id="{B819D1C8-6F1B-4F4E-9270-C0702BF0F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b="1"/>
          </a:p>
        </p:txBody>
      </p:sp>
      <p:sp>
        <p:nvSpPr>
          <p:cNvPr id="171014" name="Rectangle 8">
            <a:extLst>
              <a:ext uri="{FF2B5EF4-FFF2-40B4-BE49-F238E27FC236}">
                <a16:creationId xmlns:a16="http://schemas.microsoft.com/office/drawing/2014/main" id="{C8728CBE-3174-4A3D-9FAB-0F3F333FF790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3300"/>
                </a:solidFill>
              </a:rPr>
              <a:t>去除注释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A86CA0-F8E5-5A6F-B538-2C51A9F1F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650" y="2405063"/>
            <a:ext cx="6980238" cy="37623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46B21-8AFF-4192-0915-DA1F6E4E0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6F4C3E5-5640-1B77-6EE4-173E9440A3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16632"/>
            <a:ext cx="6948264" cy="6741368"/>
          </a:xfrm>
        </p:spPr>
      </p:pic>
    </p:spTree>
    <p:extLst>
      <p:ext uri="{BB962C8B-B14F-4D97-AF65-F5344CB8AC3E}">
        <p14:creationId xmlns:p14="http://schemas.microsoft.com/office/powerpoint/2010/main" val="239996546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4">
            <a:extLst>
              <a:ext uri="{FF2B5EF4-FFF2-40B4-BE49-F238E27FC236}">
                <a16:creationId xmlns:a16="http://schemas.microsoft.com/office/drawing/2014/main" id="{E39B7316-A921-44E5-8332-BC336BF8C6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9322AFE-0645-4074-8228-4C82C7DA87E3}" type="slidenum">
              <a:rPr lang="zh-CN" altLang="en-US" sz="1400"/>
              <a:pPr algn="r">
                <a:spcBef>
                  <a:spcPct val="50000"/>
                </a:spcBef>
              </a:pPr>
              <a:t>19</a:t>
            </a:fld>
            <a:endParaRPr lang="zh-CN" altLang="en-US" sz="1400"/>
          </a:p>
        </p:txBody>
      </p:sp>
      <p:graphicFrame>
        <p:nvGraphicFramePr>
          <p:cNvPr id="114690" name="Object 4">
            <a:extLst>
              <a:ext uri="{FF2B5EF4-FFF2-40B4-BE49-F238E27FC236}">
                <a16:creationId xmlns:a16="http://schemas.microsoft.com/office/drawing/2014/main" id="{4C3EEBC7-981C-473B-9BB2-3E6A15A3DA66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027" imgH="1054303" progId="">
                  <p:embed/>
                </p:oleObj>
              </mc:Choice>
              <mc:Fallback>
                <p:oleObj r:id="rId2" imgW="1132027" imgH="1054303" progId="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经分互动规范介绍_2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经分互动规范介绍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_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7_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558</TotalTime>
  <Pages>0</Pages>
  <Words>1323</Words>
  <Characters>0</Characters>
  <Application>Microsoft Office PowerPoint</Application>
  <PresentationFormat>全屏显示(4:3)</PresentationFormat>
  <Lines>0</Lines>
  <Paragraphs>165</Paragraphs>
  <Slides>19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华文中宋</vt:lpstr>
      <vt:lpstr>楷体_GB2312</vt:lpstr>
      <vt:lpstr>宋体</vt:lpstr>
      <vt:lpstr>Arial</vt:lpstr>
      <vt:lpstr>Cambria Math</vt:lpstr>
      <vt:lpstr>Consolas</vt:lpstr>
      <vt:lpstr>Times New Roman</vt:lpstr>
      <vt:lpstr>Wingdings</vt:lpstr>
      <vt:lpstr>Wingdings 2</vt:lpstr>
      <vt:lpstr>经分互动规范介绍</vt:lpstr>
      <vt:lpstr>经分互动规范介绍_2</vt:lpstr>
      <vt:lpstr>7_经分互动规范介绍</vt:lpstr>
      <vt:lpstr>Visio.Drawing.11</vt:lpstr>
      <vt:lpstr>Bitmap Image</vt:lpstr>
      <vt:lpstr>PowerPoint 演示文稿</vt:lpstr>
      <vt:lpstr>伪代码表示的算法结构</vt:lpstr>
      <vt:lpstr>伪代码的语句</vt:lpstr>
      <vt:lpstr>程序的结构描述－流程图</vt:lpstr>
      <vt:lpstr>PowerPoint 演示文稿</vt:lpstr>
      <vt:lpstr>程序的结构描述－N-S流程图</vt:lpstr>
      <vt:lpstr>PowerPoint 演示文稿</vt:lpstr>
      <vt:lpstr>结构化程序设计方法的起源     </vt:lpstr>
      <vt:lpstr>结构化程序设计思想</vt:lpstr>
      <vt:lpstr>结构化编码：单入单出的三种控制结构</vt:lpstr>
      <vt:lpstr>例4.14 求整数长度</vt:lpstr>
      <vt:lpstr>自顶向下、逐步求精：简化计算</vt:lpstr>
      <vt:lpstr>按去低位迭代的求整数长度</vt:lpstr>
      <vt:lpstr>练习5：判断回文数</vt:lpstr>
      <vt:lpstr>判断回文数-算法1</vt:lpstr>
      <vt:lpstr>判断回文数-算法2</vt:lpstr>
      <vt:lpstr>PowerPoint 演示文稿</vt:lpstr>
      <vt:lpstr>PowerPoint 演示文稿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subject/>
  <dc:creator>cyzhou</dc:creator>
  <cp:keywords/>
  <dc:description/>
  <cp:lastModifiedBy>yanmei zhang</cp:lastModifiedBy>
  <cp:revision>2262</cp:revision>
  <dcterms:created xsi:type="dcterms:W3CDTF">2001-07-15T23:49:29Z</dcterms:created>
  <dcterms:modified xsi:type="dcterms:W3CDTF">2023-11-06T11:21:21Z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