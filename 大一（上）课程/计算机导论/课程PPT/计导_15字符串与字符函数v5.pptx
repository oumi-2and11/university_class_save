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256" r:id="rId2"/>
    <p:sldId id="302" r:id="rId3"/>
    <p:sldId id="339" r:id="rId4"/>
    <p:sldId id="1997" r:id="rId5"/>
    <p:sldId id="340" r:id="rId6"/>
    <p:sldId id="440" r:id="rId7"/>
    <p:sldId id="1987" r:id="rId8"/>
    <p:sldId id="414" r:id="rId9"/>
    <p:sldId id="1988" r:id="rId10"/>
    <p:sldId id="1989" r:id="rId11"/>
    <p:sldId id="1990" r:id="rId12"/>
    <p:sldId id="1991" r:id="rId13"/>
    <p:sldId id="1992" r:id="rId14"/>
    <p:sldId id="412" r:id="rId15"/>
    <p:sldId id="411" r:id="rId16"/>
    <p:sldId id="1993" r:id="rId17"/>
    <p:sldId id="1994" r:id="rId18"/>
    <p:sldId id="1995" r:id="rId19"/>
    <p:sldId id="1996" r:id="rId20"/>
    <p:sldId id="838" r:id="rId21"/>
    <p:sldId id="1143" r:id="rId22"/>
    <p:sldId id="2000" r:id="rId23"/>
    <p:sldId id="864" r:id="rId24"/>
    <p:sldId id="1998" r:id="rId25"/>
    <p:sldId id="2002" r:id="rId26"/>
    <p:sldId id="2003" r:id="rId27"/>
    <p:sldId id="1999" r:id="rId28"/>
    <p:sldId id="2001" r:id="rId29"/>
    <p:sldId id="1984" r:id="rId30"/>
    <p:sldId id="2004" r:id="rId31"/>
    <p:sldId id="2005" r:id="rId32"/>
    <p:sldId id="1986" r:id="rId33"/>
    <p:sldId id="458" r:id="rId34"/>
    <p:sldId id="972" r:id="rId35"/>
    <p:sldId id="1476" r:id="rId36"/>
    <p:sldId id="1985" r:id="rId37"/>
    <p:sldId id="1478" r:id="rId38"/>
    <p:sldId id="1477" r:id="rId39"/>
    <p:sldId id="1480" r:id="rId40"/>
    <p:sldId id="1481" r:id="rId41"/>
    <p:sldId id="454" r:id="rId42"/>
    <p:sldId id="600" r:id="rId43"/>
    <p:sldId id="840" r:id="rId44"/>
    <p:sldId id="281" r:id="rId45"/>
    <p:sldId id="473" r:id="rId46"/>
    <p:sldId id="475" r:id="rId47"/>
    <p:sldId id="403" r:id="rId48"/>
    <p:sldId id="337" r:id="rId49"/>
    <p:sldId id="2006" r:id="rId50"/>
    <p:sldId id="898" r:id="rId51"/>
    <p:sldId id="906" r:id="rId52"/>
    <p:sldId id="907" r:id="rId53"/>
    <p:sldId id="908" r:id="rId54"/>
    <p:sldId id="909" r:id="rId55"/>
    <p:sldId id="910" r:id="rId56"/>
    <p:sldId id="1147" r:id="rId57"/>
    <p:sldId id="292" r:id="rId58"/>
    <p:sldId id="708" r:id="rId59"/>
    <p:sldId id="707" r:id="rId60"/>
    <p:sldId id="354" r:id="rId61"/>
    <p:sldId id="357" r:id="rId62"/>
    <p:sldId id="355" r:id="rId63"/>
    <p:sldId id="353" r:id="rId64"/>
    <p:sldId id="968" r:id="rId65"/>
    <p:sldId id="969" r:id="rId66"/>
    <p:sldId id="970" r:id="rId67"/>
    <p:sldId id="973" r:id="rId68"/>
    <p:sldId id="974" r:id="rId69"/>
    <p:sldId id="356" r:id="rId70"/>
    <p:sldId id="358" r:id="rId71"/>
    <p:sldId id="359" r:id="rId72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har char="•"/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3F6B4C7-8CC0-427F-BF86-ACC9BDA8EE70}">
          <p14:sldIdLst>
            <p14:sldId id="256"/>
          </p14:sldIdLst>
        </p14:section>
        <p14:section name="字符数组的便捷特性" id="{72B22DBC-0EE7-4CD1-9DEA-56CED9F37D38}">
          <p14:sldIdLst>
            <p14:sldId id="302"/>
            <p14:sldId id="339"/>
            <p14:sldId id="1997"/>
          </p14:sldIdLst>
        </p14:section>
        <p14:section name="字符串输入输出" id="{06E2450B-B1C0-4D94-A1EB-4B79FEB4BBF8}">
          <p14:sldIdLst>
            <p14:sldId id="340"/>
            <p14:sldId id="440"/>
            <p14:sldId id="1987"/>
            <p14:sldId id="414"/>
          </p14:sldIdLst>
        </p14:section>
        <p14:section name="gets和puts" id="{8BA4CBA1-C473-4410-8F45-A3523EC2E63B}">
          <p14:sldIdLst>
            <p14:sldId id="1988"/>
            <p14:sldId id="1989"/>
            <p14:sldId id="1990"/>
            <p14:sldId id="1991"/>
            <p14:sldId id="1992"/>
          </p14:sldIdLst>
        </p14:section>
        <p14:section name="fgets" id="{8C627A05-3EEA-4A52-AA34-3C5FF361EE66}">
          <p14:sldIdLst>
            <p14:sldId id="412"/>
            <p14:sldId id="411"/>
            <p14:sldId id="1993"/>
            <p14:sldId id="1994"/>
            <p14:sldId id="1995"/>
            <p14:sldId id="1996"/>
          </p14:sldIdLst>
        </p14:section>
        <p14:section name="字符串函数" id="{3044352D-F397-4393-80C3-4BBC1234B0BB}">
          <p14:sldIdLst>
            <p14:sldId id="838"/>
            <p14:sldId id="1143"/>
            <p14:sldId id="2000"/>
            <p14:sldId id="864"/>
            <p14:sldId id="1998"/>
            <p14:sldId id="2002"/>
            <p14:sldId id="2003"/>
            <p14:sldId id="1999"/>
            <p14:sldId id="2001"/>
            <p14:sldId id="1984"/>
            <p14:sldId id="2004"/>
            <p14:sldId id="2005"/>
            <p14:sldId id="1986"/>
            <p14:sldId id="458"/>
            <p14:sldId id="972"/>
          </p14:sldIdLst>
        </p14:section>
        <p14:section name="分词" id="{8F3E37D5-10A8-4EDE-9DE6-C23B549133AF}">
          <p14:sldIdLst>
            <p14:sldId id="1476"/>
            <p14:sldId id="1985"/>
            <p14:sldId id="1478"/>
            <p14:sldId id="1477"/>
          </p14:sldIdLst>
        </p14:section>
        <p14:section name="逆置" id="{EAB89FBF-D04D-48BC-979B-E9F1AE2CCEAA}">
          <p14:sldIdLst>
            <p14:sldId id="1480"/>
            <p14:sldId id="1481"/>
          </p14:sldIdLst>
        </p14:section>
        <p14:section name="指针与字符串常量" id="{B29E9EEC-1FEE-497A-9E8B-9D65AADE1B89}">
          <p14:sldIdLst>
            <p14:sldId id="454"/>
            <p14:sldId id="600"/>
          </p14:sldIdLst>
        </p14:section>
        <p14:section name="字符串排序" id="{D7BED85F-B186-426E-9D13-9FFD2C09BB94}">
          <p14:sldIdLst>
            <p14:sldId id="840"/>
            <p14:sldId id="281"/>
            <p14:sldId id="473"/>
            <p14:sldId id="475"/>
            <p14:sldId id="403"/>
            <p14:sldId id="337"/>
            <p14:sldId id="2006"/>
          </p14:sldIdLst>
        </p14:section>
        <p14:section name="指针数组应用实例" id="{E7AADCE1-12B1-4539-9357-997EF224EF9D}">
          <p14:sldIdLst>
            <p14:sldId id="898"/>
            <p14:sldId id="906"/>
            <p14:sldId id="907"/>
            <p14:sldId id="908"/>
            <p14:sldId id="909"/>
            <p14:sldId id="910"/>
          </p14:sldIdLst>
        </p14:section>
        <p14:section name="end" id="{0F1CE82B-344B-469F-8E37-104E8C18FC70}">
          <p14:sldIdLst>
            <p14:sldId id="1147"/>
          </p14:sldIdLst>
        </p14:section>
        <p14:section name="函数指针" id="{10C28928-0BD9-4946-B328-7797A1154134}">
          <p14:sldIdLst>
            <p14:sldId id="292"/>
            <p14:sldId id="708"/>
            <p14:sldId id="707"/>
            <p14:sldId id="354"/>
            <p14:sldId id="357"/>
            <p14:sldId id="355"/>
            <p14:sldId id="353"/>
            <p14:sldId id="968"/>
            <p14:sldId id="969"/>
            <p14:sldId id="970"/>
            <p14:sldId id="973"/>
            <p14:sldId id="974"/>
            <p14:sldId id="356"/>
            <p14:sldId id="358"/>
            <p14:sldId id="3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83">
          <p15:clr>
            <a:srgbClr val="A4A3A4"/>
          </p15:clr>
        </p15:guide>
        <p15:guide id="2" pos="29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2">
          <p15:clr>
            <a:srgbClr val="A4A3A4"/>
          </p15:clr>
        </p15:guide>
        <p15:guide id="2" pos="22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CCFFFF"/>
    <a:srgbClr val="003399"/>
    <a:srgbClr val="FFFF66"/>
    <a:srgbClr val="FF66CC"/>
    <a:srgbClr val="9900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57" autoAdjust="0"/>
    <p:restoredTop sz="93826" autoAdjust="0"/>
  </p:normalViewPr>
  <p:slideViewPr>
    <p:cSldViewPr>
      <p:cViewPr varScale="1">
        <p:scale>
          <a:sx n="67" d="100"/>
          <a:sy n="67" d="100"/>
        </p:scale>
        <p:origin x="1140" y="52"/>
      </p:cViewPr>
      <p:guideLst>
        <p:guide orient="horz" pos="2283"/>
        <p:guide pos="29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598"/>
    </p:cViewPr>
  </p:sorterViewPr>
  <p:notesViewPr>
    <p:cSldViewPr>
      <p:cViewPr varScale="1">
        <p:scale>
          <a:sx n="62" d="100"/>
          <a:sy n="62" d="100"/>
        </p:scale>
        <p:origin x="-2436" y="-90"/>
      </p:cViewPr>
      <p:guideLst>
        <p:guide orient="horz" pos="2882"/>
        <p:guide pos="22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0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3A1D5920-E781-45E2-AC47-9045A780A24A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45D2F3F-009E-4C69-B954-65C8D576346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6706353-0EDA-4BC7-80C2-5A7BFEFF0BDC}" type="slidenum">
              <a:rPr lang="zh-CN" altLang="en-US" smtClean="0"/>
              <a:t>1</a:t>
            </a:fld>
            <a:endParaRPr lang="en-US" altLang="zh-CN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字符串子程序，库函数为什么采用指针形式？原因在于节省编译工作，并对变量指针做保护。</a:t>
            </a:r>
            <a:endParaRPr lang="en-US" altLang="zh-CN" dirty="0"/>
          </a:p>
          <a:p>
            <a:r>
              <a:rPr lang="zh-CN" altLang="en-US" dirty="0"/>
              <a:t>另外，字符串处理时，经常用指针做代码简化。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6DBB7-05C9-4290-9B43-D3B315C4BD41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779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78849">
            <a:extLst>
              <a:ext uri="{FF2B5EF4-FFF2-40B4-BE49-F238E27FC236}">
                <a16:creationId xmlns:a16="http://schemas.microsoft.com/office/drawing/2014/main" id="{16498A4E-9D9F-4BF9-A1C5-572483030CB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22338" y="742950"/>
            <a:ext cx="4968875" cy="3727450"/>
          </a:xfrm>
          <a:ln w="1"/>
        </p:spPr>
      </p:sp>
      <p:sp>
        <p:nvSpPr>
          <p:cNvPr id="26627" name="文本占位符 78850">
            <a:extLst>
              <a:ext uri="{FF2B5EF4-FFF2-40B4-BE49-F238E27FC236}">
                <a16:creationId xmlns:a16="http://schemas.microsoft.com/office/drawing/2014/main" id="{7574BFF0-829E-45F8-87CA-1D6DEB8F23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04875" y="4721225"/>
            <a:ext cx="4999038" cy="4473575"/>
          </a:xfrm>
          <a:ln/>
          <a:extLs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/>
              <a:t>如果写成</a:t>
            </a:r>
          </a:p>
          <a:p>
            <a:r>
              <a:rPr lang="zh-CN" altLang="en-US"/>
              <a:t>   char *ａ＝″Ｉ am  a  teacher </a:t>
            </a:r>
            <a:r>
              <a:rPr lang="zh-CN" altLang="en-US" b="1"/>
              <a:t>.</a:t>
            </a:r>
            <a:r>
              <a:rPr lang="zh-CN" altLang="en-US"/>
              <a:t>″；</a:t>
            </a:r>
          </a:p>
          <a:p>
            <a:r>
              <a:rPr lang="zh-CN" altLang="en-US"/>
              <a:t>   char *ｂ＝″you are a student ．″；</a:t>
            </a:r>
          </a:p>
          <a:p>
            <a:r>
              <a:rPr lang="zh-CN" altLang="en-US"/>
              <a:t>会出错!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FD76EE4D-6890-488F-8D7A-3FC06840F9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B7E9C92-1BB5-4A6F-8218-A230DA6B5476}" type="slidenum">
              <a:rPr lang="zh-CN" altLang="en-US" sz="1800" smtClean="0"/>
              <a:pPr/>
              <a:t>44</a:t>
            </a:fld>
            <a:endParaRPr lang="zh-CN" altLang="en-US" sz="180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C961C2ED-E775-4349-A06B-D6E5E3D7411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A9B0300-2697-4D1D-B639-3B01BB3F169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 (2，指针数组的重要性体现在下述三个方面：</a:t>
            </a:r>
          </a:p>
          <a:p>
            <a:pPr eaLnBrk="1" hangingPunct="1"/>
            <a:r>
              <a:rPr lang="zh-CN" altLang="en-US"/>
              <a:t>    1、灵活高效地处理多个不等长的字符串．且使内存占用少，排序交换数据少-</a:t>
            </a:r>
          </a:p>
          <a:p>
            <a:pPr eaLnBrk="1" hangingPunct="1"/>
            <a:r>
              <a:rPr lang="zh-CN" altLang="en-US"/>
              <a:t>    2、指向指针的指针指向的往往是指针数组．这样可以处理较多的对象-</a:t>
            </a:r>
          </a:p>
          <a:p>
            <a:pPr eaLnBrk="1" hangingPunct="1"/>
            <a:r>
              <a:rPr lang="zh-CN" altLang="en-US"/>
              <a:t>    3、指针数组做</a:t>
            </a:r>
            <a:r>
              <a:rPr lang="en-US" altLang="zh-CN"/>
              <a:t>main</a:t>
            </a:r>
            <a:r>
              <a:rPr lang="zh-CN" altLang="en-US"/>
              <a:t>函数的形参．可使程序带参数，运行更灵活-</a:t>
            </a: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C69FB356-D5E6-4CA6-AB62-3B03130307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fld id="{0D12B38E-DE78-47B9-A34C-332BCE72C0C7}" type="slidenum">
              <a:rPr lang="zh-CN" altLang="en-US" smtClean="0"/>
              <a:pPr algn="l"/>
              <a:t>50</a:t>
            </a:fld>
            <a:endParaRPr lang="zh-CN" altLang="en-US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CCD2BA71-4C4D-48FC-BE96-B9B9C3B0A45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A829AFD8-F750-4BA9-86CB-57D03A3F3E8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1、</a:t>
            </a:r>
            <a:r>
              <a:rPr lang="zh-CN" altLang="en-US"/>
              <a:t>介绍</a:t>
            </a:r>
            <a:r>
              <a:rPr lang="en-US" altLang="zh-CN"/>
              <a:t>suit、face</a:t>
            </a:r>
            <a:r>
              <a:rPr lang="zh-CN" altLang="en-US"/>
              <a:t>的含义；</a:t>
            </a:r>
          </a:p>
          <a:p>
            <a:pPr eaLnBrk="1" hangingPunct="1"/>
            <a:r>
              <a:rPr lang="zh-CN" altLang="en-US"/>
              <a:t>2、用具体的实例（如</a:t>
            </a:r>
            <a:r>
              <a:rPr lang="en-US" altLang="zh-CN"/>
              <a:t>deck[1][2]=1）</a:t>
            </a:r>
            <a:r>
              <a:rPr lang="zh-CN" altLang="en-US"/>
              <a:t>介绍</a:t>
            </a:r>
            <a:r>
              <a:rPr lang="en-US" altLang="zh-CN"/>
              <a:t>deck</a:t>
            </a:r>
            <a:r>
              <a:rPr lang="zh-CN" altLang="en-US"/>
              <a:t>的含义;</a:t>
            </a:r>
          </a:p>
          <a:p>
            <a:pPr eaLnBrk="1" hangingPunct="1"/>
            <a:r>
              <a:rPr lang="zh-CN" altLang="en-US"/>
              <a:t>3、介绍调用随机函数模拟产生牌的过程；</a:t>
            </a:r>
          </a:p>
          <a:p>
            <a:pPr eaLnBrk="1" hangingPunct="1"/>
            <a:r>
              <a:rPr lang="zh-CN" altLang="en-US"/>
              <a:t>4、介绍发牌的过程，以及书上算法的缺陷（纠正：用</a:t>
            </a:r>
            <a:r>
              <a:rPr lang="en-US" altLang="zh-CN"/>
              <a:t>while</a:t>
            </a:r>
            <a:r>
              <a:rPr lang="zh-CN" altLang="en-US"/>
              <a:t>语句，并且将</a:t>
            </a:r>
            <a:r>
              <a:rPr lang="en-US" altLang="zh-CN"/>
              <a:t>flag</a:t>
            </a:r>
            <a:r>
              <a:rPr lang="zh-CN" altLang="en-US"/>
              <a:t>作为</a:t>
            </a:r>
            <a:r>
              <a:rPr lang="en-US" altLang="zh-CN"/>
              <a:t>while</a:t>
            </a:r>
            <a:r>
              <a:rPr lang="zh-CN" altLang="en-US"/>
              <a:t>的条件之一。只要找到当前要发的那张牌，</a:t>
            </a:r>
            <a:r>
              <a:rPr lang="en-US" altLang="zh-CN"/>
              <a:t>flag</a:t>
            </a:r>
            <a:r>
              <a:rPr lang="zh-CN" altLang="en-US"/>
              <a:t>就设成</a:t>
            </a:r>
            <a:r>
              <a:rPr lang="en-US" altLang="zh-CN"/>
              <a:t>false，</a:t>
            </a:r>
            <a:r>
              <a:rPr lang="zh-CN" altLang="en-US"/>
              <a:t>从而退出循环）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CD573-0D49-40E5-93E7-DC3FCED26C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CF81A-63DF-425F-8382-179C6EBDE7B5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5B4C6-FA0B-43F5-9B36-C09E90DCCB5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816D3-0A73-4BB0-AF78-3AE6E035861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DCD31-C104-402E-B1B7-C115A793F45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71CB8-5422-4627-929F-D04EDEDC549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ED743-0921-459D-BB2C-FAFFDF8127E6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/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64085B2-07B1-4AC7-8A57-ABF44D9CE7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62148-6E9E-4041-A432-4F2AE13AA9D9}" type="datetime1">
              <a:rPr lang="zh-CN" altLang="en-US"/>
              <a:pPr>
                <a:defRPr/>
              </a:pPr>
              <a:t>2023/3/16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379A64-ABD5-407E-A2BE-44B49FD2FA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605DE3-7461-4606-8206-75B60751D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9B592A-2BA3-4D8C-8F82-2ADDD33B0C0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8384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单击以编辑</a:t>
            </a:r>
            <a:r>
              <a:rPr lang="zh-CN" altLang="en-US"/>
              <a:t>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buFontTx/>
              <a:buNone/>
              <a:defRPr sz="1400" b="1"/>
            </a:lvl1pPr>
          </a:lstStyle>
          <a:p>
            <a:pPr>
              <a:defRPr/>
            </a:pPr>
            <a:fld id="{528C3BB1-4401-40CC-883B-BDFB3B36ED38}" type="slidenum">
              <a:rPr lang="zh-CN" altLang="en-US"/>
              <a:t>‹#›</a:t>
            </a:fld>
            <a:endParaRPr lang="en-US" altLang="zh-CN"/>
          </a:p>
        </p:txBody>
      </p:sp>
      <p:grpSp>
        <p:nvGrpSpPr>
          <p:cNvPr id="1030" name="Group 7"/>
          <p:cNvGrpSpPr/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/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5" name="Line 9"/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" name="Line 10"/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" name="Line 11"/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Line 12"/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9" name="Line 13"/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0" name="Line 14"/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1" name="Line 15"/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31" name="Line 16"/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032" name="Text Box 17"/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33" name="Picture 18" descr="bupt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</p:sldLayoutIdLst>
  <p:transition/>
  <p:hf sldNum="0" hdr="0" ftr="0"/>
  <p:txStyles>
    <p:titleStyle>
      <a:lvl1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1" name="Group 4"/>
          <p:cNvGrpSpPr/>
          <p:nvPr/>
        </p:nvGrpSpPr>
        <p:grpSpPr bwMode="auto">
          <a:xfrm>
            <a:off x="1619250" y="1917700"/>
            <a:ext cx="5903913" cy="863600"/>
            <a:chOff x="1488" y="1152"/>
            <a:chExt cx="2736" cy="624"/>
          </a:xfrm>
        </p:grpSpPr>
        <p:sp>
          <p:nvSpPr>
            <p:cNvPr id="2053" name="Rectangle 5"/>
            <p:cNvSpPr>
              <a:spLocks noChangeArrowheads="1"/>
            </p:cNvSpPr>
            <p:nvPr/>
          </p:nvSpPr>
          <p:spPr bwMode="auto">
            <a:xfrm>
              <a:off x="1488" y="1152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2054" name="Text Box 6"/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4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zh-CN" altLang="en-US" sz="3600" b="1" dirty="0">
                  <a:solidFill>
                    <a:schemeClr val="bg1"/>
                  </a:solidFill>
                </a:rPr>
                <a:t>字符串与字符函数</a:t>
              </a:r>
            </a:p>
          </p:txBody>
        </p:sp>
      </p:grpSp>
      <p:pic>
        <p:nvPicPr>
          <p:cNvPr id="2052" name="Picture 7" descr="地球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363" y="4940300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015365" y="3980815"/>
            <a:ext cx="7084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zh-CN" altLang="en-US" sz="2400" b="1" dirty="0"/>
              <a:t>内容取自：《</a:t>
            </a:r>
            <a:r>
              <a:rPr lang="en-US" altLang="zh-CN" sz="2400" b="1" dirty="0"/>
              <a:t>C Primer Plus</a:t>
            </a:r>
            <a:r>
              <a:rPr lang="zh-CN" altLang="en-US" sz="2400" b="1" dirty="0"/>
              <a:t>中文版</a:t>
            </a:r>
            <a:r>
              <a:rPr lang="en-US" altLang="zh-CN" sz="2400" b="1" dirty="0"/>
              <a:t>》</a:t>
            </a:r>
            <a:endParaRPr lang="zh-CN" altLang="en-US" sz="2400" b="1" dirty="0"/>
          </a:p>
          <a:p>
            <a:r>
              <a:rPr lang="en-US" altLang="zh-CN" sz="2400" b="1" dirty="0"/>
              <a:t>11</a:t>
            </a:r>
            <a:r>
              <a:rPr lang="zh-CN" altLang="en-US" sz="2400" b="1" dirty="0"/>
              <a:t>章</a:t>
            </a:r>
            <a:r>
              <a:rPr lang="en-US" altLang="zh-CN" sz="2400" b="1" dirty="0"/>
              <a:t> </a:t>
            </a:r>
            <a:r>
              <a:rPr lang="zh-CN" altLang="en-US" sz="2400" b="1"/>
              <a:t>字符串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685800" y="1295400"/>
            <a:ext cx="7989888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609600" indent="-609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600" b="1" dirty="0"/>
              <a:t> </a:t>
            </a:r>
            <a:r>
              <a:rPr lang="zh-CN" altLang="en-US" sz="2600" b="1" dirty="0"/>
              <a:t>四、字符数组（字符串）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+mn-ea"/>
                <a:ea typeface="+mn-ea"/>
              </a:rPr>
              <a:t>假设有一个字符串"</a:t>
            </a:r>
            <a:r>
              <a:rPr lang="en-US" altLang="zh-CN" sz="2600" b="1" dirty="0">
                <a:latin typeface="+mn-ea"/>
                <a:ea typeface="+mn-ea"/>
              </a:rPr>
              <a:t>first"</a:t>
            </a:r>
            <a:r>
              <a:rPr lang="zh-CN" altLang="en-US" sz="2600" b="1" dirty="0">
                <a:latin typeface="+mn-ea"/>
                <a:ea typeface="+mn-ea"/>
              </a:rPr>
              <a:t>，能否用一个变量存放？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600" b="1" dirty="0">
                <a:latin typeface="+mn-ea"/>
                <a:ea typeface="+mn-ea"/>
              </a:rPr>
              <a:t>在Ｃ语言中没有专门的字符串变量。通常用一个字符数组来存放一个字符串,并</a:t>
            </a:r>
            <a:r>
              <a:rPr lang="zh-CN" altLang="en-US" sz="2600" b="1" u="sng" dirty="0">
                <a:latin typeface="+mn-ea"/>
                <a:ea typeface="+mn-ea"/>
              </a:rPr>
              <a:t>以字符‘</a:t>
            </a:r>
            <a:r>
              <a:rPr lang="en-US" altLang="zh-CN" sz="2600" b="1" u="sng" dirty="0">
                <a:latin typeface="+mn-ea"/>
                <a:ea typeface="+mn-ea"/>
              </a:rPr>
              <a:t>\0’</a:t>
            </a:r>
            <a:r>
              <a:rPr lang="zh-CN" altLang="en-US" sz="2600" b="1" u="sng" dirty="0">
                <a:latin typeface="+mn-ea"/>
                <a:ea typeface="+mn-ea"/>
              </a:rPr>
              <a:t>作为字符串的结束符</a:t>
            </a:r>
            <a:r>
              <a:rPr lang="zh-CN" altLang="en-US" sz="2600" b="1" dirty="0">
                <a:latin typeface="+mn-ea"/>
                <a:ea typeface="+mn-ea"/>
              </a:rPr>
              <a:t>。</a:t>
            </a:r>
            <a:r>
              <a:rPr lang="en-US" altLang="zh-CN" sz="2600" b="1" dirty="0">
                <a:latin typeface="+mn-ea"/>
                <a:ea typeface="+mn-ea"/>
              </a:rPr>
              <a:t>‘\0’</a:t>
            </a:r>
            <a:r>
              <a:rPr lang="zh-CN" altLang="en-US" sz="2600" b="1" dirty="0">
                <a:latin typeface="+mn-ea"/>
                <a:ea typeface="+mn-ea"/>
              </a:rPr>
              <a:t>对应的</a:t>
            </a:r>
            <a:r>
              <a:rPr lang="en-US" altLang="zh-CN" sz="2600" b="1" dirty="0">
                <a:latin typeface="+mn-ea"/>
                <a:ea typeface="+mn-ea"/>
              </a:rPr>
              <a:t>ASCII</a:t>
            </a:r>
            <a:r>
              <a:rPr lang="zh-CN" altLang="en-US" sz="2600" b="1" dirty="0">
                <a:latin typeface="+mn-ea"/>
                <a:ea typeface="+mn-ea"/>
              </a:rPr>
              <a:t>码为</a:t>
            </a:r>
            <a:r>
              <a:rPr lang="en-US" altLang="zh-CN" sz="2600" b="1" dirty="0">
                <a:latin typeface="+mn-ea"/>
                <a:ea typeface="+mn-ea"/>
              </a:rPr>
              <a:t>0</a:t>
            </a:r>
            <a:r>
              <a:rPr lang="zh-CN" altLang="en-US" sz="2600" b="1" dirty="0">
                <a:latin typeface="+mn-ea"/>
                <a:ea typeface="+mn-ea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600" b="1" dirty="0">
              <a:latin typeface="+mn-ea"/>
              <a:ea typeface="+mn-ea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600" b="1" dirty="0">
              <a:latin typeface="+mn-ea"/>
              <a:ea typeface="+mn-ea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600" b="1" dirty="0">
              <a:latin typeface="+mn-ea"/>
              <a:ea typeface="+mn-ea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FF0000"/>
                </a:solidFill>
                <a:latin typeface="+mn-ea"/>
                <a:ea typeface="+mn-ea"/>
              </a:rPr>
              <a:t>在声明一个容纳字符串的字符数组时，数组的大小应足以容纳字符串中的字符以及字符串结束符‘</a:t>
            </a:r>
            <a:r>
              <a:rPr lang="en-US" altLang="zh-CN" sz="2600" b="1" dirty="0">
                <a:solidFill>
                  <a:srgbClr val="FF0000"/>
                </a:solidFill>
                <a:latin typeface="+mn-ea"/>
                <a:ea typeface="+mn-ea"/>
              </a:rPr>
              <a:t>\0’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  <a:ea typeface="+mn-ea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zh-CN" altLang="en-US" sz="2600" b="1" dirty="0">
              <a:latin typeface="System" charset="-122"/>
              <a:ea typeface="System" charset="-122"/>
            </a:endParaRPr>
          </a:p>
        </p:txBody>
      </p:sp>
      <p:graphicFrame>
        <p:nvGraphicFramePr>
          <p:cNvPr id="389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343141"/>
              </p:ext>
            </p:extLst>
          </p:nvPr>
        </p:nvGraphicFramePr>
        <p:xfrm>
          <a:off x="2051720" y="3573016"/>
          <a:ext cx="37433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1666875" imgH="428625" progId="Paint.Picture">
                  <p:embed/>
                </p:oleObj>
              </mc:Choice>
              <mc:Fallback>
                <p:oleObj name="位图图像" r:id="rId2" imgW="1666875" imgH="428625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573016"/>
                        <a:ext cx="37433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Rectangle 7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FF3300"/>
                </a:solidFill>
              </a:rPr>
              <a:t>6.3.4</a:t>
            </a:r>
            <a:r>
              <a:rPr lang="zh-CN" altLang="en-US" sz="3200" b="1">
                <a:solidFill>
                  <a:srgbClr val="FF3300"/>
                </a:solidFill>
              </a:rPr>
              <a:t> </a:t>
            </a:r>
            <a:r>
              <a:rPr lang="zh-CN" altLang="en-US" sz="3200" b="1" u="sng">
                <a:solidFill>
                  <a:srgbClr val="FF3300"/>
                </a:solidFill>
              </a:rPr>
              <a:t>字符数组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8278813" cy="4989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+mn-ea"/>
              </a:rPr>
              <a:t>字符数组初始化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600" b="1" dirty="0">
                <a:latin typeface="+mn-ea"/>
              </a:rPr>
              <a:t>  三种方式：   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600" b="1" dirty="0">
                <a:latin typeface="+mn-ea"/>
              </a:rPr>
              <a:t>   </a:t>
            </a:r>
            <a:r>
              <a:rPr lang="en-US" altLang="zh-CN" sz="26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char a[]={‘f’, ‘</a:t>
            </a:r>
            <a:r>
              <a:rPr lang="en-US" altLang="zh-CN" sz="2600" b="1" dirty="0" err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i</a:t>
            </a:r>
            <a:r>
              <a:rPr lang="en-US" altLang="zh-CN" sz="26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’, ‘r’, 			        ‘</a:t>
            </a:r>
            <a:r>
              <a:rPr lang="en-US" altLang="zh-CN" sz="2600" b="1" dirty="0" err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s’,‘t</a:t>
            </a:r>
            <a:r>
              <a:rPr lang="en-US" altLang="zh-CN" sz="26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’, ‘\0’}; 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600" b="1" dirty="0">
                <a:latin typeface="+mn-ea"/>
              </a:rPr>
              <a:t>  也可写为：</a:t>
            </a:r>
            <a:r>
              <a:rPr lang="en-US" altLang="zh-CN" sz="26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char a[]={"first"};</a:t>
            </a:r>
            <a:r>
              <a:rPr lang="en-US" altLang="zh-CN" sz="2600" b="1" dirty="0">
                <a:latin typeface="+mn-ea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600" b="1" dirty="0">
                <a:latin typeface="+mn-ea"/>
              </a:rPr>
              <a:t>  或去掉{}写为：</a:t>
            </a:r>
            <a:r>
              <a:rPr lang="en-US" altLang="zh-CN" sz="2600" b="1" dirty="0">
                <a:latin typeface="+mn-ea"/>
              </a:rPr>
              <a:t>	</a:t>
            </a:r>
            <a:r>
              <a:rPr lang="en-US" altLang="zh-CN" sz="26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char a[]="first";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600" b="1" dirty="0">
                <a:latin typeface="+mn-ea"/>
              </a:rPr>
              <a:t>内存中存放形式为：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zh-CN" altLang="en-US" sz="2600" b="1" dirty="0">
              <a:latin typeface="+mn-ea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en-US" altLang="zh-CN" sz="2600" b="1" dirty="0">
              <a:latin typeface="+mn-ea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600" b="1" dirty="0">
                <a:latin typeface="+mn-ea"/>
              </a:rPr>
              <a:t>后两种初始化情况中，‘</a:t>
            </a:r>
            <a:r>
              <a:rPr lang="en-US" altLang="zh-CN" sz="2600" b="1" dirty="0">
                <a:latin typeface="+mn-ea"/>
              </a:rPr>
              <a:t>\0’</a:t>
            </a:r>
            <a:r>
              <a:rPr lang="zh-CN" altLang="en-US" sz="2600" b="1" dirty="0">
                <a:latin typeface="+mn-ea"/>
              </a:rPr>
              <a:t>是系统自动加上的。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600" b="1" dirty="0">
                <a:latin typeface="+mn-ea"/>
              </a:rPr>
              <a:t>上述声明中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</a:rPr>
              <a:t>不用指定字符数组的长度，编译器会根据字符串的长度来确定数组的长度（字符串长度</a:t>
            </a:r>
            <a:r>
              <a:rPr lang="en-US" altLang="zh-CN" sz="2600" b="1" dirty="0">
                <a:solidFill>
                  <a:srgbClr val="FF0000"/>
                </a:solidFill>
                <a:latin typeface="+mn-ea"/>
              </a:rPr>
              <a:t>+1</a:t>
            </a:r>
            <a:r>
              <a:rPr lang="zh-CN" altLang="en-US" sz="2600" b="1" dirty="0">
                <a:solidFill>
                  <a:srgbClr val="FF0000"/>
                </a:solidFill>
                <a:latin typeface="+mn-ea"/>
              </a:rPr>
              <a:t>）</a:t>
            </a:r>
            <a:r>
              <a:rPr lang="zh-CN" altLang="en-US" sz="2600" b="1" dirty="0">
                <a:latin typeface="+mn-ea"/>
              </a:rPr>
              <a:t>。</a:t>
            </a:r>
            <a:endParaRPr lang="en-US" altLang="zh-CN" sz="2600" b="1" dirty="0">
              <a:latin typeface="+mn-ea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endParaRPr lang="zh-CN" altLang="en-US" sz="2600" dirty="0">
              <a:latin typeface="+mn-ea"/>
            </a:endParaRPr>
          </a:p>
        </p:txBody>
      </p:sp>
      <p:pic>
        <p:nvPicPr>
          <p:cNvPr id="20070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3789363"/>
            <a:ext cx="3743325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1"/>
              <a:t>6.3.4</a:t>
            </a:r>
            <a:r>
              <a:rPr lang="zh-CN" altLang="en-US" b="1"/>
              <a:t> </a:t>
            </a:r>
            <a:r>
              <a:rPr lang="zh-CN" altLang="en-US" b="1" u="sng"/>
              <a:t>字符数组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0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0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Text Box 2"/>
          <p:cNvSpPr txBox="1">
            <a:spLocks noChangeArrowheads="1"/>
          </p:cNvSpPr>
          <p:nvPr/>
        </p:nvSpPr>
        <p:spPr bwMode="auto">
          <a:xfrm>
            <a:off x="539750" y="1196975"/>
            <a:ext cx="82804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字符数组的特点总结：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1、字符数组用来存放字符串，以</a:t>
            </a:r>
            <a:r>
              <a:rPr lang="en-US" altLang="zh-CN" sz="2400" b="1" dirty="0"/>
              <a:t>'</a:t>
            </a:r>
            <a:r>
              <a:rPr lang="zh-CN" altLang="en-US" sz="2400" b="1" dirty="0"/>
              <a:t>\0</a:t>
            </a:r>
            <a:r>
              <a:rPr lang="en-US" altLang="zh-CN" sz="2400" b="1" dirty="0"/>
              <a:t>' </a:t>
            </a:r>
            <a:r>
              <a:rPr lang="zh-CN" altLang="en-US" sz="2400" b="1" dirty="0"/>
              <a:t>作为字符串的结束字符。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2、由于</a:t>
            </a:r>
            <a:r>
              <a:rPr lang="en-US" altLang="zh-CN" sz="2400" b="1" dirty="0"/>
              <a:t>'</a:t>
            </a:r>
            <a:r>
              <a:rPr lang="zh-CN" altLang="en-US" sz="2400" b="1" dirty="0"/>
              <a:t>\0</a:t>
            </a:r>
            <a:r>
              <a:rPr lang="en-US" altLang="zh-CN" sz="2400" b="1" dirty="0"/>
              <a:t>' </a:t>
            </a:r>
            <a:r>
              <a:rPr lang="zh-CN" altLang="en-US" sz="2400" b="1" dirty="0"/>
              <a:t>，字符数组实际能存放的其他字符个数比数组长度少1；而且在处理字符数组时，一般不用数组实际长度，</a:t>
            </a:r>
            <a:r>
              <a:rPr lang="zh-CN" altLang="en-US" sz="2400" b="1" dirty="0">
                <a:solidFill>
                  <a:schemeClr val="accent2"/>
                </a:solidFill>
              </a:rPr>
              <a:t>而是</a:t>
            </a:r>
            <a:r>
              <a:rPr lang="zh-CN" altLang="en-US" sz="2400" b="1" dirty="0">
                <a:solidFill>
                  <a:srgbClr val="000099"/>
                </a:solidFill>
              </a:rPr>
              <a:t>用</a:t>
            </a:r>
            <a:r>
              <a:rPr lang="en-US" altLang="zh-CN" sz="2400" b="1" dirty="0">
                <a:solidFill>
                  <a:srgbClr val="000099"/>
                </a:solidFill>
              </a:rPr>
              <a:t>'</a:t>
            </a:r>
            <a:r>
              <a:rPr lang="zh-CN" altLang="en-US" sz="2400" b="1" dirty="0">
                <a:solidFill>
                  <a:srgbClr val="000099"/>
                </a:solidFill>
              </a:rPr>
              <a:t>\0</a:t>
            </a:r>
            <a:r>
              <a:rPr lang="en-US" altLang="zh-CN" sz="2400" b="1" dirty="0">
                <a:solidFill>
                  <a:srgbClr val="000099"/>
                </a:solidFill>
              </a:rPr>
              <a:t>' </a:t>
            </a:r>
            <a:r>
              <a:rPr lang="zh-CN" altLang="en-US" sz="2400" b="1" dirty="0">
                <a:solidFill>
                  <a:srgbClr val="000099"/>
                </a:solidFill>
              </a:rPr>
              <a:t>来判断字符串是否结束</a:t>
            </a:r>
            <a:r>
              <a:rPr lang="zh-CN" altLang="en-US" sz="2400" b="1" dirty="0"/>
              <a:t>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、对字符数组输入输出时，一般不用循环语句逐个字符地进行输入输出，而是用字符串输入输出函数</a:t>
            </a:r>
            <a:r>
              <a:rPr lang="zh-CN" altLang="en-US" sz="2400" dirty="0"/>
              <a:t>整体输入输出</a:t>
            </a:r>
            <a:r>
              <a:rPr lang="en-US" altLang="zh-CN" sz="2400" b="1" dirty="0"/>
              <a:t>；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、字符串修改时，如果是逐个字符地赋值，当赋值结束时，程序必须将</a:t>
            </a:r>
            <a:r>
              <a:rPr lang="en-US" altLang="zh-CN" sz="2400" b="1" dirty="0"/>
              <a:t>'</a:t>
            </a:r>
            <a:r>
              <a:rPr lang="zh-CN" altLang="en-US" sz="2400" b="1" dirty="0"/>
              <a:t>\0</a:t>
            </a:r>
            <a:r>
              <a:rPr lang="en-US" altLang="zh-CN" sz="2400" b="1" dirty="0"/>
              <a:t>'</a:t>
            </a:r>
            <a:r>
              <a:rPr lang="zh-CN" altLang="en-US" sz="2400" b="1" dirty="0"/>
              <a:t>赋值给字符数组末尾，否则后续读取或打印时会因找不到结束标志而越界访问。</a:t>
            </a:r>
          </a:p>
        </p:txBody>
      </p:sp>
      <p:sp>
        <p:nvSpPr>
          <p:cNvPr id="50180" name="Rectangle 5"/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zh-CN" sz="3200" b="1">
                <a:solidFill>
                  <a:srgbClr val="FF3300"/>
                </a:solidFill>
              </a:rPr>
              <a:t>6.3.4</a:t>
            </a:r>
            <a:r>
              <a:rPr lang="zh-CN" altLang="en-US" sz="3200" b="1">
                <a:solidFill>
                  <a:srgbClr val="FF3300"/>
                </a:solidFill>
              </a:rPr>
              <a:t> </a:t>
            </a:r>
            <a:r>
              <a:rPr lang="zh-CN" altLang="en-US" sz="3200" b="1" u="sng">
                <a:solidFill>
                  <a:srgbClr val="FF3300"/>
                </a:solidFill>
              </a:rPr>
              <a:t>字符数组</a:t>
            </a:r>
          </a:p>
        </p:txBody>
      </p:sp>
    </p:spTree>
    <p:extLst>
      <p:ext uri="{BB962C8B-B14F-4D97-AF65-F5344CB8AC3E}">
        <p14:creationId xmlns:p14="http://schemas.microsoft.com/office/powerpoint/2010/main" val="185110737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3923928" y="311150"/>
            <a:ext cx="4891931" cy="720725"/>
          </a:xfrm>
        </p:spPr>
        <p:txBody>
          <a:bodyPr/>
          <a:lstStyle/>
          <a:p>
            <a:pPr algn="l" eaLnBrk="1" hangingPunct="1"/>
            <a:r>
              <a:rPr lang="en-US" altLang="zh-CN" sz="2800" b="1" dirty="0" err="1">
                <a:latin typeface="+mj-ea"/>
              </a:rPr>
              <a:t>scanf</a:t>
            </a:r>
            <a:r>
              <a:rPr lang="en-US" altLang="zh-CN" sz="2800" dirty="0">
                <a:latin typeface="Consolas" panose="020B0609020204030204" pitchFamily="49" charset="0"/>
                <a:ea typeface="System" charset="-122"/>
              </a:rPr>
              <a:t>(“</a:t>
            </a:r>
            <a:r>
              <a:rPr lang="en-US" altLang="zh-CN" sz="2800" dirty="0">
                <a:solidFill>
                  <a:srgbClr val="003399"/>
                </a:solidFill>
                <a:latin typeface="Consolas" panose="020B0609020204030204" pitchFamily="49" charset="0"/>
                <a:ea typeface="System" charset="-122"/>
              </a:rPr>
              <a:t>%s</a:t>
            </a:r>
            <a:r>
              <a:rPr lang="en-US" altLang="zh-CN" sz="2800" dirty="0">
                <a:latin typeface="Consolas" panose="020B0609020204030204" pitchFamily="49" charset="0"/>
                <a:ea typeface="System" charset="-122"/>
              </a:rPr>
              <a:t>”</a:t>
            </a:r>
            <a:r>
              <a:rPr lang="en-US" altLang="zh-CN" sz="2800" b="1" dirty="0">
                <a:latin typeface="+mj-ea"/>
              </a:rPr>
              <a:t>)</a:t>
            </a:r>
            <a:r>
              <a:rPr lang="zh-CN" altLang="en-US" sz="2800" b="1" dirty="0">
                <a:latin typeface="+mj-ea"/>
              </a:rPr>
              <a:t>只能读一个单词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7056" y="1340768"/>
            <a:ext cx="7989887" cy="50403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200" dirty="0" err="1">
                <a:latin typeface="Consolas" panose="020B0609020204030204" pitchFamily="49" charset="0"/>
                <a:ea typeface="System" charset="-122"/>
              </a:rPr>
              <a:t>stdio.h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#define </a:t>
            </a:r>
            <a:r>
              <a:rPr lang="en-US" altLang="zh-CN" sz="22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 201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int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  char </a:t>
            </a:r>
            <a:r>
              <a:rPr lang="en-US" altLang="zh-CN" sz="2200" dirty="0" err="1">
                <a:latin typeface="Consolas" panose="020B0609020204030204" pitchFamily="49" charset="0"/>
                <a:ea typeface="System" charset="-122"/>
              </a:rPr>
              <a:t>st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[</a:t>
            </a:r>
            <a:r>
              <a:rPr lang="en-US" altLang="zh-CN" sz="22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  </a:t>
            </a:r>
            <a:r>
              <a:rPr lang="en-US" altLang="zh-CN" sz="2200" dirty="0" err="1">
                <a:latin typeface="Consolas" panose="020B0609020204030204" pitchFamily="49" charset="0"/>
                <a:ea typeface="System" charset="-122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("input string:\n");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  </a:t>
            </a:r>
            <a:r>
              <a:rPr lang="en-US" altLang="zh-CN" sz="2200" dirty="0" err="1">
                <a:latin typeface="Consolas" panose="020B0609020204030204" pitchFamily="49" charset="0"/>
                <a:ea typeface="System" charset="-122"/>
              </a:rPr>
              <a:t>scanf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("</a:t>
            </a:r>
            <a:r>
              <a:rPr lang="en-US" altLang="zh-CN" sz="2200" dirty="0">
                <a:solidFill>
                  <a:srgbClr val="003399"/>
                </a:solidFill>
                <a:latin typeface="Consolas" panose="020B0609020204030204" pitchFamily="49" charset="0"/>
                <a:ea typeface="System" charset="-122"/>
              </a:rPr>
              <a:t>%</a:t>
            </a:r>
            <a:r>
              <a:rPr lang="en-US" altLang="zh-CN" sz="2200" dirty="0" err="1">
                <a:solidFill>
                  <a:srgbClr val="003399"/>
                </a:solidFill>
                <a:latin typeface="Consolas" panose="020B0609020204030204" pitchFamily="49" charset="0"/>
                <a:ea typeface="System" charset="-122"/>
              </a:rPr>
              <a:t>200s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",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  <a:ea typeface="System" charset="-122"/>
              </a:rPr>
              <a:t>st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  <a:endParaRPr lang="en-US" altLang="zh-CN" sz="2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  </a:t>
            </a:r>
            <a:r>
              <a:rPr lang="en-US" altLang="zh-CN" sz="2200" dirty="0" err="1">
                <a:latin typeface="Consolas" panose="020B0609020204030204" pitchFamily="49" charset="0"/>
                <a:ea typeface="System" charset="-122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("</a:t>
            </a:r>
            <a:r>
              <a:rPr lang="en-US" altLang="zh-CN" sz="2200" dirty="0">
                <a:solidFill>
                  <a:srgbClr val="003399"/>
                </a:solidFill>
                <a:latin typeface="Consolas" panose="020B0609020204030204" pitchFamily="49" charset="0"/>
                <a:ea typeface="System" charset="-122"/>
              </a:rPr>
              <a:t>%s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",</a:t>
            </a:r>
            <a:r>
              <a:rPr lang="en-US" altLang="zh-CN" sz="2200" dirty="0" err="1">
                <a:solidFill>
                  <a:srgbClr val="FF0000"/>
                </a:solidFill>
                <a:latin typeface="Consolas" panose="020B0609020204030204" pitchFamily="49" charset="0"/>
                <a:ea typeface="System" charset="-122"/>
              </a:rPr>
              <a:t>st</a:t>
            </a: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);</a:t>
            </a:r>
            <a:endParaRPr lang="en-US" altLang="zh-CN" sz="2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}    </a:t>
            </a:r>
            <a:endParaRPr lang="zh-CN" altLang="en-US" sz="2200" dirty="0">
              <a:latin typeface="Consolas" panose="020B0609020204030204" pitchFamily="49" charset="0"/>
              <a:ea typeface="System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200" b="1" dirty="0" err="1">
                <a:latin typeface="+mn-ea"/>
              </a:rPr>
              <a:t>scanf</a:t>
            </a:r>
            <a:r>
              <a:rPr lang="zh-CN" altLang="en-US" sz="2200" b="1" dirty="0">
                <a:latin typeface="+mn-ea"/>
              </a:rPr>
              <a:t>函数读取用户键入的字符到字符数组，直到遇到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空格、回车、或文件结束符</a:t>
            </a:r>
            <a:r>
              <a:rPr lang="zh-CN" altLang="en-US" sz="2200" b="1" dirty="0">
                <a:latin typeface="+mn-ea"/>
              </a:rPr>
              <a:t>为止。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空格、回车、或文件结束符被丢弃，最后一个字符读入后往字符数组中写入结束符‘</a:t>
            </a:r>
            <a:r>
              <a:rPr lang="en-US" altLang="zh-CN" sz="2200" b="1" dirty="0">
                <a:solidFill>
                  <a:srgbClr val="FF0000"/>
                </a:solidFill>
                <a:latin typeface="+mn-ea"/>
              </a:rPr>
              <a:t>\0’</a:t>
            </a:r>
            <a:r>
              <a:rPr lang="zh-CN" altLang="en-US" sz="2200" b="1" dirty="0">
                <a:solidFill>
                  <a:srgbClr val="FF0000"/>
                </a:solidFill>
                <a:latin typeface="+mn-ea"/>
              </a:rPr>
              <a:t>。 </a:t>
            </a:r>
            <a:endParaRPr lang="en-US" altLang="zh-CN" sz="2200" b="1" dirty="0">
              <a:solidFill>
                <a:srgbClr val="FF0000"/>
              </a:solidFill>
              <a:latin typeface="+mn-e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200" b="1" dirty="0">
                <a:latin typeface="+mn-ea"/>
              </a:rPr>
              <a:t>注意：</a:t>
            </a:r>
            <a:r>
              <a:rPr lang="en-US" altLang="zh-CN" sz="2200" b="1" dirty="0" err="1">
                <a:latin typeface="+mn-ea"/>
              </a:rPr>
              <a:t>scanf</a:t>
            </a:r>
            <a:r>
              <a:rPr lang="zh-CN" altLang="en-US" sz="2200" b="1" dirty="0">
                <a:latin typeface="+mn-ea"/>
              </a:rPr>
              <a:t>不关心字符数组的大小，所以它往数组中写字符时，所写入的字符可能超出数组的范围。程序员必须自己控制。</a:t>
            </a:r>
            <a:endParaRPr lang="en-US" altLang="zh-CN" sz="2200" b="1" dirty="0">
              <a:latin typeface="+mn-ea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2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Text Box 4"/>
          <p:cNvSpPr txBox="1">
            <a:spLocks noChangeArrowheads="1"/>
          </p:cNvSpPr>
          <p:nvPr/>
        </p:nvSpPr>
        <p:spPr bwMode="auto">
          <a:xfrm>
            <a:off x="1258888" y="1522413"/>
            <a:ext cx="7200900" cy="122396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input string: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aaaaa  aaaaaaaaaaaaaaaaaaaaaaaaaaaaaaaaaaaaaaaaaaaa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aaaaa</a:t>
            </a:r>
            <a:r>
              <a:rPr lang="zh-CN" altLang="en-US" sz="2400">
                <a:solidFill>
                  <a:schemeClr val="bg1"/>
                </a:solidFill>
              </a:rPr>
              <a:t>请按任意键继续</a:t>
            </a:r>
            <a:r>
              <a:rPr lang="en-US" altLang="zh-CN" sz="2400">
                <a:solidFill>
                  <a:schemeClr val="bg1"/>
                </a:solidFill>
              </a:rPr>
              <a:t>. . .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3012" name="Text Box 5"/>
          <p:cNvSpPr txBox="1">
            <a:spLocks noChangeArrowheads="1"/>
          </p:cNvSpPr>
          <p:nvPr/>
        </p:nvSpPr>
        <p:spPr bwMode="auto">
          <a:xfrm>
            <a:off x="-180975" y="1412875"/>
            <a:ext cx="140335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latin typeface="+mn-ea"/>
                <a:ea typeface="+mn-ea"/>
              </a:rPr>
              <a:t>  遇空格结束读取</a:t>
            </a:r>
          </a:p>
        </p:txBody>
      </p:sp>
      <p:grpSp>
        <p:nvGrpSpPr>
          <p:cNvPr id="43013" name="Group 6"/>
          <p:cNvGrpSpPr/>
          <p:nvPr/>
        </p:nvGrpSpPr>
        <p:grpSpPr bwMode="auto">
          <a:xfrm>
            <a:off x="1116013" y="3035300"/>
            <a:ext cx="5472112" cy="504825"/>
            <a:chOff x="612" y="3475"/>
            <a:chExt cx="3447" cy="318"/>
          </a:xfrm>
        </p:grpSpPr>
        <p:sp>
          <p:nvSpPr>
            <p:cNvPr id="43019" name="Rectangle 7"/>
            <p:cNvSpPr>
              <a:spLocks noChangeArrowheads="1"/>
            </p:cNvSpPr>
            <p:nvPr/>
          </p:nvSpPr>
          <p:spPr bwMode="auto">
            <a:xfrm>
              <a:off x="703" y="3475"/>
              <a:ext cx="3356" cy="31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/>
            </a:p>
          </p:txBody>
        </p:sp>
        <p:sp>
          <p:nvSpPr>
            <p:cNvPr id="43020" name="Line 8"/>
            <p:cNvSpPr>
              <a:spLocks noChangeShapeType="1"/>
            </p:cNvSpPr>
            <p:nvPr/>
          </p:nvSpPr>
          <p:spPr bwMode="auto">
            <a:xfrm>
              <a:off x="1111" y="347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1" name="Line 9"/>
            <p:cNvSpPr>
              <a:spLocks noChangeShapeType="1"/>
            </p:cNvSpPr>
            <p:nvPr/>
          </p:nvSpPr>
          <p:spPr bwMode="auto">
            <a:xfrm>
              <a:off x="1474" y="347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2" name="Line 10"/>
            <p:cNvSpPr>
              <a:spLocks noChangeShapeType="1"/>
            </p:cNvSpPr>
            <p:nvPr/>
          </p:nvSpPr>
          <p:spPr bwMode="auto">
            <a:xfrm>
              <a:off x="1837" y="347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3" name="Line 11"/>
            <p:cNvSpPr>
              <a:spLocks noChangeShapeType="1"/>
            </p:cNvSpPr>
            <p:nvPr/>
          </p:nvSpPr>
          <p:spPr bwMode="auto">
            <a:xfrm>
              <a:off x="2200" y="347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Line 12"/>
            <p:cNvSpPr>
              <a:spLocks noChangeShapeType="1"/>
            </p:cNvSpPr>
            <p:nvPr/>
          </p:nvSpPr>
          <p:spPr bwMode="auto">
            <a:xfrm>
              <a:off x="2562" y="347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Text Box 13"/>
            <p:cNvSpPr txBox="1">
              <a:spLocks noChangeArrowheads="1"/>
            </p:cNvSpPr>
            <p:nvPr/>
          </p:nvSpPr>
          <p:spPr bwMode="auto">
            <a:xfrm>
              <a:off x="612" y="3475"/>
              <a:ext cx="59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</a:rPr>
                <a:t>‘</a:t>
              </a:r>
              <a:r>
                <a:rPr lang="en-US" altLang="zh-CN" sz="2400"/>
                <a:t>a</a:t>
              </a:r>
              <a:r>
                <a:rPr lang="en-US" altLang="zh-CN" sz="2400">
                  <a:latin typeface="宋体" panose="02010600030101010101" pitchFamily="2" charset="-122"/>
                </a:rPr>
                <a:t>’</a:t>
              </a:r>
              <a:endParaRPr lang="en-US" altLang="zh-CN" sz="2400"/>
            </a:p>
          </p:txBody>
        </p:sp>
        <p:sp>
          <p:nvSpPr>
            <p:cNvPr id="43026" name="Text Box 14"/>
            <p:cNvSpPr txBox="1">
              <a:spLocks noChangeArrowheads="1"/>
            </p:cNvSpPr>
            <p:nvPr/>
          </p:nvSpPr>
          <p:spPr bwMode="auto">
            <a:xfrm>
              <a:off x="1020" y="3475"/>
              <a:ext cx="59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</a:rPr>
                <a:t>‘</a:t>
              </a:r>
              <a:r>
                <a:rPr lang="en-US" altLang="zh-CN" sz="2400"/>
                <a:t>a</a:t>
              </a:r>
              <a:r>
                <a:rPr lang="en-US" altLang="zh-CN" sz="2400">
                  <a:latin typeface="宋体" panose="02010600030101010101" pitchFamily="2" charset="-122"/>
                </a:rPr>
                <a:t>’</a:t>
              </a:r>
              <a:endParaRPr lang="en-US" altLang="zh-CN" sz="2400"/>
            </a:p>
          </p:txBody>
        </p:sp>
        <p:sp>
          <p:nvSpPr>
            <p:cNvPr id="43027" name="Text Box 15"/>
            <p:cNvSpPr txBox="1">
              <a:spLocks noChangeArrowheads="1"/>
            </p:cNvSpPr>
            <p:nvPr/>
          </p:nvSpPr>
          <p:spPr bwMode="auto">
            <a:xfrm>
              <a:off x="1338" y="3475"/>
              <a:ext cx="59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</a:rPr>
                <a:t>‘</a:t>
              </a:r>
              <a:r>
                <a:rPr lang="en-US" altLang="zh-CN" sz="2400"/>
                <a:t>a</a:t>
              </a:r>
              <a:r>
                <a:rPr lang="en-US" altLang="zh-CN" sz="2400">
                  <a:latin typeface="宋体" panose="02010600030101010101" pitchFamily="2" charset="-122"/>
                </a:rPr>
                <a:t>’</a:t>
              </a:r>
              <a:endParaRPr lang="en-US" altLang="zh-CN" sz="2400"/>
            </a:p>
          </p:txBody>
        </p:sp>
        <p:sp>
          <p:nvSpPr>
            <p:cNvPr id="43028" name="Text Box 16"/>
            <p:cNvSpPr txBox="1">
              <a:spLocks noChangeArrowheads="1"/>
            </p:cNvSpPr>
            <p:nvPr/>
          </p:nvSpPr>
          <p:spPr bwMode="auto">
            <a:xfrm>
              <a:off x="1701" y="3483"/>
              <a:ext cx="59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</a:rPr>
                <a:t>‘</a:t>
              </a:r>
              <a:r>
                <a:rPr lang="en-US" altLang="zh-CN" sz="2400"/>
                <a:t>a</a:t>
              </a:r>
              <a:r>
                <a:rPr lang="en-US" altLang="zh-CN" sz="2400">
                  <a:latin typeface="宋体" panose="02010600030101010101" pitchFamily="2" charset="-122"/>
                </a:rPr>
                <a:t>’</a:t>
              </a:r>
              <a:endParaRPr lang="en-US" altLang="zh-CN" sz="2400"/>
            </a:p>
          </p:txBody>
        </p:sp>
        <p:sp>
          <p:nvSpPr>
            <p:cNvPr id="43029" name="Text Box 17"/>
            <p:cNvSpPr txBox="1">
              <a:spLocks noChangeArrowheads="1"/>
            </p:cNvSpPr>
            <p:nvPr/>
          </p:nvSpPr>
          <p:spPr bwMode="auto">
            <a:xfrm>
              <a:off x="2109" y="3475"/>
              <a:ext cx="59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</a:rPr>
                <a:t>‘</a:t>
              </a:r>
              <a:r>
                <a:rPr lang="en-US" altLang="zh-CN" sz="2400"/>
                <a:t>a</a:t>
              </a:r>
              <a:r>
                <a:rPr lang="en-US" altLang="zh-CN" sz="2400">
                  <a:latin typeface="宋体" panose="02010600030101010101" pitchFamily="2" charset="-122"/>
                </a:rPr>
                <a:t>’</a:t>
              </a:r>
              <a:endParaRPr lang="en-US" altLang="zh-CN" sz="2400"/>
            </a:p>
          </p:txBody>
        </p:sp>
        <p:sp>
          <p:nvSpPr>
            <p:cNvPr id="43030" name="Line 18"/>
            <p:cNvSpPr>
              <a:spLocks noChangeShapeType="1"/>
            </p:cNvSpPr>
            <p:nvPr/>
          </p:nvSpPr>
          <p:spPr bwMode="auto">
            <a:xfrm>
              <a:off x="2880" y="3475"/>
              <a:ext cx="0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1" name="Text Box 19"/>
            <p:cNvSpPr txBox="1">
              <a:spLocks noChangeArrowheads="1"/>
            </p:cNvSpPr>
            <p:nvPr/>
          </p:nvSpPr>
          <p:spPr bwMode="auto">
            <a:xfrm>
              <a:off x="2381" y="3475"/>
              <a:ext cx="681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>
                  <a:latin typeface="宋体" panose="02010600030101010101" pitchFamily="2" charset="-122"/>
                </a:rPr>
                <a:t>‘</a:t>
              </a:r>
              <a:r>
                <a:rPr lang="en-US" altLang="zh-CN" sz="2400"/>
                <a:t>\0</a:t>
              </a:r>
              <a:r>
                <a:rPr lang="en-US" altLang="zh-CN" sz="2400">
                  <a:latin typeface="宋体" panose="02010600030101010101" pitchFamily="2" charset="-122"/>
                </a:rPr>
                <a:t>’</a:t>
              </a:r>
              <a:endParaRPr lang="en-US" altLang="zh-CN" sz="2400"/>
            </a:p>
          </p:txBody>
        </p:sp>
        <p:sp>
          <p:nvSpPr>
            <p:cNvPr id="43032" name="Text Box 20"/>
            <p:cNvSpPr txBox="1">
              <a:spLocks noChangeArrowheads="1"/>
            </p:cNvSpPr>
            <p:nvPr/>
          </p:nvSpPr>
          <p:spPr bwMode="auto">
            <a:xfrm>
              <a:off x="2971" y="3517"/>
              <a:ext cx="77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latin typeface="宋体" panose="02010600030101010101" pitchFamily="2" charset="-122"/>
                </a:rPr>
                <a:t>……</a:t>
              </a:r>
              <a:endParaRPr lang="en-US" altLang="zh-CN" sz="2000" b="1"/>
            </a:p>
          </p:txBody>
        </p:sp>
      </p:grpSp>
      <p:sp>
        <p:nvSpPr>
          <p:cNvPr id="314389" name="Text Box 21"/>
          <p:cNvSpPr txBox="1">
            <a:spLocks noChangeArrowheads="1"/>
          </p:cNvSpPr>
          <p:nvPr/>
        </p:nvSpPr>
        <p:spPr bwMode="auto">
          <a:xfrm>
            <a:off x="1258888" y="3922713"/>
            <a:ext cx="7200900" cy="202723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input string: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aaaaaaaaaaaaaaaaaaaaaaaaaaaaaaaaaaaaaaaaaaaaaaaaaaaa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aaaaaaaaaaaaa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aaaaaaaaaaaaaaaaaaaaaaaaaaaaaaaaaaaaaaaaaaaaaaaaaaaa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chemeClr val="bg1"/>
                </a:solidFill>
              </a:rPr>
              <a:t>aaaaaaaaaaaaa</a:t>
            </a:r>
            <a:r>
              <a:rPr lang="zh-CN" altLang="en-US" sz="2400">
                <a:solidFill>
                  <a:schemeClr val="bg1"/>
                </a:solidFill>
              </a:rPr>
              <a:t>请按任意键继续</a:t>
            </a:r>
            <a:r>
              <a:rPr lang="en-US" altLang="zh-CN" sz="2400">
                <a:solidFill>
                  <a:schemeClr val="bg1"/>
                </a:solidFill>
              </a:rPr>
              <a:t>. . .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314390" name="Text Box 22"/>
          <p:cNvSpPr txBox="1">
            <a:spLocks noChangeArrowheads="1"/>
          </p:cNvSpPr>
          <p:nvPr/>
        </p:nvSpPr>
        <p:spPr bwMode="auto">
          <a:xfrm>
            <a:off x="-179388" y="4067175"/>
            <a:ext cx="1403351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marL="342900" indent="-342900" eaLnBrk="1" hangingPunct="1">
              <a:spcBef>
                <a:spcPct val="50000"/>
              </a:spcBef>
              <a:buFontTx/>
              <a:buNone/>
              <a:defRPr sz="2800" b="1">
                <a:latin typeface="+mn-ea"/>
                <a:ea typeface="+mn-ea"/>
              </a:defRPr>
            </a:lvl1pPr>
            <a:lvl2pPr marL="742950" indent="-285750" eaLnBrk="0" hangingPunct="0">
              <a:buChar char="–"/>
              <a:defRPr sz="2800"/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sz="2800"/>
            </a:lvl3pPr>
            <a:lvl4pPr marL="1600200" indent="-228600" eaLnBrk="0" hangingPunct="0">
              <a:buChar char="–"/>
              <a:defRPr sz="2800"/>
            </a:lvl4pPr>
            <a:lvl5pPr marL="2057400" indent="-228600" eaLnBrk="0" hangingPunct="0">
              <a:buChar char="»"/>
              <a:defRPr sz="28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/>
            </a:lvl9pPr>
          </a:lstStyle>
          <a:p>
            <a:r>
              <a:rPr lang="zh-CN" altLang="en-US" dirty="0"/>
              <a:t>  遇回车结束读取</a:t>
            </a:r>
          </a:p>
        </p:txBody>
      </p:sp>
      <p:sp>
        <p:nvSpPr>
          <p:cNvPr id="43016" name="Rectangle 2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1"/>
              <a:t>6.3.4</a:t>
            </a:r>
            <a:r>
              <a:rPr lang="zh-CN" altLang="en-US" b="1"/>
              <a:t> </a:t>
            </a:r>
            <a:r>
              <a:rPr lang="zh-CN" altLang="en-US" b="1" u="sng"/>
              <a:t>字符数组</a:t>
            </a:r>
          </a:p>
        </p:txBody>
      </p:sp>
      <p:sp>
        <p:nvSpPr>
          <p:cNvPr id="43017" name="Line 24"/>
          <p:cNvSpPr>
            <a:spLocks noChangeShapeType="1"/>
          </p:cNvSpPr>
          <p:nvPr/>
        </p:nvSpPr>
        <p:spPr bwMode="auto">
          <a:xfrm flipH="1">
            <a:off x="8172450" y="1989138"/>
            <a:ext cx="144463" cy="28892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4393" name="Line 25"/>
          <p:cNvSpPr>
            <a:spLocks noChangeShapeType="1"/>
          </p:cNvSpPr>
          <p:nvPr/>
        </p:nvSpPr>
        <p:spPr bwMode="auto">
          <a:xfrm flipH="1">
            <a:off x="3132138" y="4797425"/>
            <a:ext cx="144462" cy="28892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89" grpId="0" animBg="1"/>
      <p:bldP spid="314390" grpId="0"/>
      <p:bldP spid="31439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3491880" y="311150"/>
            <a:ext cx="5323979" cy="720725"/>
          </a:xfrm>
        </p:spPr>
        <p:txBody>
          <a:bodyPr/>
          <a:lstStyle/>
          <a:p>
            <a:pPr algn="l" eaLnBrk="1" hangingPunct="1"/>
            <a:r>
              <a:rPr lang="en-US" altLang="zh-CN" sz="2800" b="1" dirty="0" err="1">
                <a:latin typeface="+mj-ea"/>
              </a:rPr>
              <a:t>printf</a:t>
            </a:r>
            <a:r>
              <a:rPr lang="en-US" altLang="zh-CN" sz="2800" dirty="0">
                <a:latin typeface="Consolas" panose="020B0609020204030204" pitchFamily="49" charset="0"/>
                <a:ea typeface="System" charset="-122"/>
              </a:rPr>
              <a:t>(“</a:t>
            </a:r>
            <a:r>
              <a:rPr lang="en-US" altLang="zh-CN" sz="2800" dirty="0">
                <a:solidFill>
                  <a:srgbClr val="003399"/>
                </a:solidFill>
                <a:latin typeface="Consolas" panose="020B0609020204030204" pitchFamily="49" charset="0"/>
                <a:ea typeface="System" charset="-122"/>
              </a:rPr>
              <a:t>%s</a:t>
            </a:r>
            <a:r>
              <a:rPr lang="en-US" altLang="zh-CN" sz="2800" dirty="0">
                <a:latin typeface="Consolas" panose="020B0609020204030204" pitchFamily="49" charset="0"/>
                <a:ea typeface="System" charset="-122"/>
              </a:rPr>
              <a:t>”</a:t>
            </a:r>
            <a:r>
              <a:rPr lang="en-US" altLang="zh-CN" sz="2800" b="1" dirty="0">
                <a:latin typeface="+mj-ea"/>
              </a:rPr>
              <a:t>)</a:t>
            </a:r>
            <a:r>
              <a:rPr lang="zh-CN" altLang="en-US" sz="2800" b="1" dirty="0">
                <a:latin typeface="+mj-ea"/>
              </a:rPr>
              <a:t>可输出任何字符串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96975"/>
            <a:ext cx="7989887" cy="53498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#define 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201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int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 char 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]="one string\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nHa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ha.\n";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("%s",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 err="1">
                <a:latin typeface="+mn-ea"/>
              </a:rPr>
              <a:t>printf</a:t>
            </a:r>
            <a:r>
              <a:rPr lang="zh-CN" altLang="en-US" sz="2400" b="1" dirty="0">
                <a:latin typeface="+mn-ea"/>
              </a:rPr>
              <a:t>输出字符串时，会将字符数组中所有内容输出，直到‘</a:t>
            </a:r>
            <a:r>
              <a:rPr lang="en-US" altLang="zh-CN" sz="2400" b="1" dirty="0">
                <a:latin typeface="+mn-ea"/>
              </a:rPr>
              <a:t>\0’</a:t>
            </a:r>
            <a:r>
              <a:rPr lang="zh-CN" altLang="en-US" sz="2400" b="1" dirty="0">
                <a:latin typeface="+mn-ea"/>
              </a:rPr>
              <a:t>，但‘</a:t>
            </a:r>
            <a:r>
              <a:rPr lang="en-US" altLang="zh-CN" sz="2400" b="1" dirty="0">
                <a:latin typeface="+mn-ea"/>
              </a:rPr>
              <a:t>\0’</a:t>
            </a:r>
            <a:r>
              <a:rPr lang="zh-CN" altLang="en-US" sz="2400" b="1" dirty="0">
                <a:latin typeface="+mn-ea"/>
              </a:rPr>
              <a:t>不输出。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3756784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err="1"/>
              <a:t>s</a:t>
            </a:r>
            <a:r>
              <a:rPr lang="en-US" altLang="zh-CN" sz="3200" b="1" dirty="0" err="1"/>
              <a:t>canf</a:t>
            </a:r>
            <a:r>
              <a:rPr lang="en-US" altLang="zh-CN" sz="3200" b="1" dirty="0"/>
              <a:t>(“%s”)</a:t>
            </a:r>
            <a:r>
              <a:rPr lang="zh-CN" altLang="en-US" sz="3200" b="1" dirty="0"/>
              <a:t>无法实现空行的读取</a:t>
            </a:r>
            <a:endParaRPr lang="zh-CN" altLang="en-US" b="1" u="sng" dirty="0"/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520" y="1140059"/>
            <a:ext cx="4678361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  <a:ea typeface="System" charset="-122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System" charset="-122"/>
              </a:rPr>
              <a:t>#define </a:t>
            </a:r>
            <a:r>
              <a:rPr lang="en-US" altLang="zh-CN" sz="20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000" dirty="0">
                <a:latin typeface="Consolas" panose="020B0609020204030204" pitchFamily="49" charset="0"/>
                <a:ea typeface="System" charset="-122"/>
              </a:rPr>
              <a:t> 201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int main()</a:t>
            </a:r>
          </a:p>
          <a:p>
            <a:pPr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  <a:ea typeface="System" charset="-122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char str[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200" dirty="0">
                <a:latin typeface="Consolas" panose="020B0609020204030204" pitchFamily="49" charset="0"/>
              </a:rPr>
              <a:t>]; </a:t>
            </a:r>
          </a:p>
          <a:p>
            <a:pPr lvl="1"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</a:t>
            </a:r>
            <a:r>
              <a:rPr lang="en-US" altLang="zh-CN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200" dirty="0">
                <a:solidFill>
                  <a:schemeClr val="accent2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200" dirty="0" err="1">
                <a:solidFill>
                  <a:schemeClr val="accent2"/>
                </a:solidFill>
                <a:latin typeface="Consolas" panose="020B0609020204030204" pitchFamily="49" charset="0"/>
              </a:rPr>
              <a:t>s",str</a:t>
            </a:r>
            <a:r>
              <a:rPr lang="en-US" altLang="zh-CN" sz="2200" dirty="0">
                <a:solidFill>
                  <a:schemeClr val="accent2"/>
                </a:solidFill>
                <a:latin typeface="Consolas" panose="020B0609020204030204" pitchFamily="49" charset="0"/>
              </a:rPr>
              <a:t>); </a:t>
            </a:r>
          </a:p>
          <a:p>
            <a:pPr lvl="1"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if (str[0]=='\n')</a:t>
            </a:r>
          </a:p>
          <a:p>
            <a:pPr lvl="1"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("is enter");</a:t>
            </a:r>
          </a:p>
          <a:p>
            <a:pPr lvl="1"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else if (str[0]=='\0')</a:t>
            </a:r>
          </a:p>
          <a:p>
            <a:pPr lvl="1"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       </a:t>
            </a:r>
            <a:r>
              <a:rPr lang="en-US" altLang="zh-CN" sz="2200" dirty="0" err="1">
                <a:latin typeface="Consolas" panose="020B0609020204030204" pitchFamily="49" charset="0"/>
              </a:rPr>
              <a:t>printf</a:t>
            </a:r>
            <a:r>
              <a:rPr lang="en-US" altLang="zh-CN" sz="2200" dirty="0">
                <a:latin typeface="Consolas" panose="020B0609020204030204" pitchFamily="49" charset="0"/>
              </a:rPr>
              <a:t>("is null");</a:t>
            </a:r>
          </a:p>
          <a:p>
            <a:pPr lvl="1" eaLnBrk="1" hangingPunct="1">
              <a:buFontTx/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return 0;</a:t>
            </a:r>
          </a:p>
          <a:p>
            <a:pPr eaLnBrk="1" hangingPunct="1">
              <a:buNone/>
            </a:pPr>
            <a:r>
              <a:rPr lang="en-US" altLang="zh-CN" sz="2200" dirty="0">
                <a:latin typeface="Consolas" panose="020B0609020204030204" pitchFamily="49" charset="0"/>
              </a:rPr>
              <a:t>}</a:t>
            </a:r>
          </a:p>
          <a:p>
            <a:pPr eaLnBrk="1" hangingPunct="1"/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48133" name="Text Box 8"/>
          <p:cNvSpPr txBox="1">
            <a:spLocks noChangeArrowheads="1"/>
          </p:cNvSpPr>
          <p:nvPr/>
        </p:nvSpPr>
        <p:spPr bwMode="auto">
          <a:xfrm>
            <a:off x="4787900" y="3644900"/>
            <a:ext cx="4356100" cy="227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buSzPct val="6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   使用</a:t>
            </a:r>
            <a:r>
              <a:rPr lang="en-US" altLang="zh-CN" sz="2400" b="1" dirty="0" err="1"/>
              <a:t>scanf</a:t>
            </a:r>
            <a:r>
              <a:rPr lang="zh-CN" altLang="en-US" sz="2400" b="1" dirty="0"/>
              <a:t>，若只是输入回车或者空格，则程序一直在等待，直到输入一个非回车、非空格字符。</a:t>
            </a:r>
            <a:endParaRPr lang="en-US" altLang="zh-CN" sz="2400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  </a:t>
            </a:r>
            <a:r>
              <a:rPr lang="zh-CN" altLang="en-US" sz="2400" b="1" dirty="0"/>
              <a:t>即：</a:t>
            </a:r>
            <a:r>
              <a:rPr lang="en-US" altLang="zh-CN" sz="2400" b="1" dirty="0" err="1"/>
              <a:t>scanf</a:t>
            </a:r>
            <a:r>
              <a:rPr lang="zh-CN" altLang="en-US" sz="2400" b="1" dirty="0"/>
              <a:t>无法实现空行的读取！</a:t>
            </a:r>
          </a:p>
        </p:txBody>
      </p:sp>
      <p:grpSp>
        <p:nvGrpSpPr>
          <p:cNvPr id="48134" name="Group 14"/>
          <p:cNvGrpSpPr/>
          <p:nvPr/>
        </p:nvGrpSpPr>
        <p:grpSpPr bwMode="auto">
          <a:xfrm>
            <a:off x="4932363" y="1484313"/>
            <a:ext cx="3744912" cy="1558925"/>
            <a:chOff x="3107" y="935"/>
            <a:chExt cx="2359" cy="982"/>
          </a:xfrm>
        </p:grpSpPr>
        <p:sp>
          <p:nvSpPr>
            <p:cNvPr id="48135" name="Rectangle 4"/>
            <p:cNvSpPr>
              <a:spLocks noChangeArrowheads="1"/>
            </p:cNvSpPr>
            <p:nvPr/>
          </p:nvSpPr>
          <p:spPr bwMode="auto">
            <a:xfrm>
              <a:off x="3107" y="935"/>
              <a:ext cx="2359" cy="9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buSzPct val="6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endParaRPr lang="zh-CN" altLang="en-US" sz="2400">
                <a:solidFill>
                  <a:schemeClr val="bg1"/>
                </a:solidFill>
              </a:endParaRPr>
            </a:p>
            <a:p>
              <a:pPr eaLnBrk="1" hangingPunct="1">
                <a:buFontTx/>
                <a:buNone/>
              </a:pPr>
              <a:endParaRPr lang="zh-CN" altLang="en-US" sz="2400">
                <a:solidFill>
                  <a:schemeClr val="bg1"/>
                </a:solidFill>
              </a:endParaRPr>
            </a:p>
            <a:p>
              <a:pPr eaLnBrk="1" hangingPunct="1">
                <a:buFontTx/>
                <a:buNone/>
              </a:pPr>
              <a:r>
                <a:rPr lang="en-US" altLang="zh-CN" sz="2000">
                  <a:solidFill>
                    <a:schemeClr val="bg1"/>
                  </a:solidFill>
                </a:rPr>
                <a:t>W</a:t>
              </a:r>
            </a:p>
            <a:p>
              <a:pPr eaLnBrk="1" hangingPunct="1">
                <a:buFontTx/>
                <a:buNone/>
              </a:pPr>
              <a:r>
                <a:rPr lang="zh-CN" altLang="en-US" sz="2400">
                  <a:solidFill>
                    <a:schemeClr val="bg1"/>
                  </a:solidFill>
                </a:rPr>
                <a:t>请按任意键继续</a:t>
              </a:r>
              <a:r>
                <a:rPr lang="en-US" altLang="zh-CN" sz="2400">
                  <a:solidFill>
                    <a:schemeClr val="bg1"/>
                  </a:solidFill>
                </a:rPr>
                <a:t>. . .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  <p:sp>
          <p:nvSpPr>
            <p:cNvPr id="48136" name="Line 5"/>
            <p:cNvSpPr>
              <a:spLocks noChangeShapeType="1"/>
            </p:cNvSpPr>
            <p:nvPr/>
          </p:nvSpPr>
          <p:spPr bwMode="auto">
            <a:xfrm flipH="1">
              <a:off x="3288" y="1524"/>
              <a:ext cx="136" cy="18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7" name="Line 6"/>
            <p:cNvSpPr>
              <a:spLocks noChangeShapeType="1"/>
            </p:cNvSpPr>
            <p:nvPr/>
          </p:nvSpPr>
          <p:spPr bwMode="auto">
            <a:xfrm flipH="1">
              <a:off x="3469" y="1298"/>
              <a:ext cx="136" cy="18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8" name="Line 7"/>
            <p:cNvSpPr>
              <a:spLocks noChangeShapeType="1"/>
            </p:cNvSpPr>
            <p:nvPr/>
          </p:nvSpPr>
          <p:spPr bwMode="auto">
            <a:xfrm flipH="1">
              <a:off x="3197" y="1025"/>
              <a:ext cx="136" cy="18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39" name="Group 12"/>
            <p:cNvGrpSpPr/>
            <p:nvPr/>
          </p:nvGrpSpPr>
          <p:grpSpPr bwMode="auto">
            <a:xfrm>
              <a:off x="3198" y="1343"/>
              <a:ext cx="181" cy="136"/>
              <a:chOff x="1338" y="3884"/>
              <a:chExt cx="181" cy="136"/>
            </a:xfrm>
          </p:grpSpPr>
          <p:sp>
            <p:nvSpPr>
              <p:cNvPr id="48140" name="Line 9"/>
              <p:cNvSpPr>
                <a:spLocks noChangeShapeType="1"/>
              </p:cNvSpPr>
              <p:nvPr/>
            </p:nvSpPr>
            <p:spPr bwMode="auto">
              <a:xfrm>
                <a:off x="1338" y="388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41" name="Line 10"/>
              <p:cNvSpPr>
                <a:spLocks noChangeShapeType="1"/>
              </p:cNvSpPr>
              <p:nvPr/>
            </p:nvSpPr>
            <p:spPr bwMode="auto">
              <a:xfrm>
                <a:off x="1338" y="402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42" name="Line 11"/>
              <p:cNvSpPr>
                <a:spLocks noChangeShapeType="1"/>
              </p:cNvSpPr>
              <p:nvPr/>
            </p:nvSpPr>
            <p:spPr bwMode="auto">
              <a:xfrm>
                <a:off x="1519" y="3884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093598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gets()</a:t>
            </a:r>
            <a:r>
              <a:rPr lang="zh-CN" altLang="en-US" b="1" dirty="0"/>
              <a:t>读取一行字符串</a:t>
            </a:r>
            <a:endParaRPr lang="zh-CN" altLang="en-US" b="1" u="sng" dirty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180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600" b="1" dirty="0"/>
              <a:t>常用的文本读取是按行进行字符串读取、打印。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600" b="1" dirty="0"/>
              <a:t>char * gets(char * str);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600" b="1" dirty="0"/>
              <a:t>gets()</a:t>
            </a:r>
            <a:r>
              <a:rPr lang="zh-CN" altLang="en-US" sz="2600" b="1" dirty="0"/>
              <a:t>函数简单易用，它</a:t>
            </a:r>
            <a:r>
              <a:rPr lang="zh-CN" altLang="en-US" sz="2600" b="1" dirty="0">
                <a:solidFill>
                  <a:srgbClr val="FF0000"/>
                </a:solidFill>
              </a:rPr>
              <a:t>读取整行输入</a:t>
            </a:r>
            <a:r>
              <a:rPr lang="zh-CN" altLang="en-US" sz="2600" b="1" dirty="0"/>
              <a:t>，直至遇到换行符，然后</a:t>
            </a:r>
            <a:r>
              <a:rPr lang="zh-CN" altLang="en-US" sz="2600" b="1" dirty="0">
                <a:solidFill>
                  <a:srgbClr val="FF0000"/>
                </a:solidFill>
              </a:rPr>
              <a:t>丢弃换行符</a:t>
            </a:r>
            <a:r>
              <a:rPr lang="zh-CN" altLang="en-US" sz="2600" b="1" dirty="0"/>
              <a:t>，存储其余字符，并在这些字符的末尾添加一个空字符使其成为一个</a:t>
            </a:r>
            <a:r>
              <a:rPr lang="en-US" altLang="zh-CN" sz="2600" b="1" dirty="0"/>
              <a:t>C</a:t>
            </a:r>
            <a:r>
              <a:rPr lang="zh-CN" altLang="en-US" sz="2600" b="1" dirty="0"/>
              <a:t>字符串。它经常和</a:t>
            </a:r>
            <a:r>
              <a:rPr lang="en-US" altLang="zh-CN" sz="2600" b="1" dirty="0"/>
              <a:t>puts()</a:t>
            </a:r>
            <a:r>
              <a:rPr lang="zh-CN" altLang="en-US" sz="2600" b="1" dirty="0"/>
              <a:t>函数配对使用，该函数用于显示字符串，并在末尾添加换行符。</a:t>
            </a:r>
            <a:endParaRPr lang="en-US" altLang="zh-CN" sz="26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b="1" dirty="0"/>
              <a:t>	</a:t>
            </a:r>
            <a:r>
              <a:rPr lang="zh-CN" altLang="en-US" sz="2600" b="1" dirty="0"/>
              <a:t>成功则返回所读字符串指针，失败返回空指针</a:t>
            </a:r>
            <a:r>
              <a:rPr lang="en-US" altLang="zh-CN" sz="2600" b="1" dirty="0"/>
              <a:t>.</a:t>
            </a:r>
            <a:endParaRPr lang="zh-CN" altLang="en-US" sz="2600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600" b="1" dirty="0"/>
              <a:t>int puts(const char * str);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600" b="1" dirty="0"/>
              <a:t>	</a:t>
            </a:r>
            <a:r>
              <a:rPr lang="zh-CN" altLang="en-US" sz="2600" b="1" dirty="0"/>
              <a:t>将</a:t>
            </a:r>
            <a:r>
              <a:rPr lang="en-US" altLang="zh-CN" sz="2600" b="1" dirty="0"/>
              <a:t>str</a:t>
            </a:r>
            <a:r>
              <a:rPr lang="zh-CN" altLang="en-US" sz="2600" b="1" dirty="0"/>
              <a:t>所指向的字符串输出到文件或显示器上，字符串结束标记</a:t>
            </a:r>
            <a:r>
              <a:rPr lang="en-US" altLang="zh-CN" sz="2600" b="1" dirty="0"/>
              <a:t>‘\0’ </a:t>
            </a:r>
            <a:r>
              <a:rPr lang="zh-CN" altLang="en-US" sz="2600" b="1" dirty="0"/>
              <a:t>不会被输出。</a:t>
            </a:r>
            <a:endParaRPr lang="en-US" altLang="zh-CN" sz="26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600" b="1" dirty="0"/>
              <a:t>	</a:t>
            </a:r>
            <a:r>
              <a:rPr lang="zh-CN" altLang="en-US" sz="2600" b="1" dirty="0"/>
              <a:t>成功则返回字符长度，失败返回</a:t>
            </a:r>
            <a:r>
              <a:rPr lang="en-US" altLang="zh-CN" sz="2600" b="1" dirty="0"/>
              <a:t>-1.</a:t>
            </a:r>
            <a:endParaRPr lang="zh-CN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48308563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gets(char</a:t>
            </a:r>
            <a:r>
              <a:rPr lang="zh-CN" altLang="en-US" b="1" dirty="0"/>
              <a:t> </a:t>
            </a:r>
            <a:r>
              <a:rPr lang="en-US" altLang="zh-CN" b="1" dirty="0"/>
              <a:t>*)</a:t>
            </a:r>
            <a:r>
              <a:rPr lang="zh-CN" altLang="en-US" b="1" dirty="0"/>
              <a:t>使用示例</a:t>
            </a:r>
            <a:endParaRPr lang="zh-CN" altLang="en-US" b="1" u="sng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89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string.h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&gt;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ea typeface="System" charset="-122"/>
              </a:rPr>
              <a:t>//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  <a:ea typeface="System" charset="-122"/>
              </a:rPr>
              <a:t>strlen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ea typeface="System" charset="-122"/>
              </a:rPr>
              <a:t>()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  <a:ea typeface="System" charset="-122"/>
              </a:rPr>
              <a:t>计算串长度</a:t>
            </a:r>
            <a:endParaRPr lang="en-US" altLang="zh-CN" sz="2400" dirty="0">
              <a:solidFill>
                <a:srgbClr val="FF0000"/>
              </a:solidFill>
              <a:latin typeface="Consolas" panose="020B0609020204030204" pitchFamily="49" charset="0"/>
              <a:ea typeface="System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#define 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201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char 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("input string:\n");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gets(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puts(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("string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=%d\n",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strlen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测试：可读取空行、多单词一行</a:t>
            </a:r>
            <a:r>
              <a:rPr lang="en-US" altLang="zh-CN" sz="2400" dirty="0"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latin typeface="Consolas" panose="020B0609020204030204" pitchFamily="49" charset="0"/>
              </a:rPr>
              <a:t>丢弃</a:t>
            </a:r>
            <a:r>
              <a:rPr lang="en-US" altLang="zh-CN" sz="2400" dirty="0">
                <a:latin typeface="Consolas" panose="020B0609020204030204" pitchFamily="49" charset="0"/>
              </a:rPr>
              <a:t>\n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 flipH="1">
            <a:off x="6372225" y="3068638"/>
            <a:ext cx="144463" cy="288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13373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2339752" y="311150"/>
            <a:ext cx="6476107" cy="720725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latin typeface="+mj-ea"/>
              </a:rPr>
              <a:t>puts</a:t>
            </a:r>
            <a:r>
              <a:rPr lang="en-US" altLang="zh-CN" sz="2800" dirty="0">
                <a:latin typeface="Consolas" panose="020B0609020204030204" pitchFamily="49" charset="0"/>
                <a:ea typeface="System" charset="-122"/>
              </a:rPr>
              <a:t>(char *</a:t>
            </a:r>
            <a:r>
              <a:rPr lang="en-US" altLang="zh-CN" sz="2800" b="1" dirty="0">
                <a:latin typeface="+mj-ea"/>
              </a:rPr>
              <a:t>)</a:t>
            </a:r>
            <a:r>
              <a:rPr lang="zh-CN" altLang="en-US" sz="2800" b="1" dirty="0">
                <a:latin typeface="+mj-ea"/>
              </a:rPr>
              <a:t>可输出包含多行的字符串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96975"/>
            <a:ext cx="7989887" cy="53498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#define 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201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int main()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   char 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]="one string\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nHa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ha.\n";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  puts(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 dirty="0">
                <a:latin typeface="+mn-ea"/>
              </a:rPr>
              <a:t>puts</a:t>
            </a:r>
            <a:r>
              <a:rPr lang="zh-CN" altLang="en-US" sz="2400" b="1" dirty="0">
                <a:latin typeface="+mn-ea"/>
              </a:rPr>
              <a:t>输出字符串时，会将字符数组中所有内容输出，直到‘</a:t>
            </a:r>
            <a:r>
              <a:rPr lang="en-US" altLang="zh-CN" sz="2400" b="1" dirty="0">
                <a:latin typeface="+mn-ea"/>
              </a:rPr>
              <a:t>\0’</a:t>
            </a:r>
            <a:r>
              <a:rPr lang="zh-CN" altLang="en-US" sz="2400" b="1" dirty="0">
                <a:latin typeface="+mn-ea"/>
              </a:rPr>
              <a:t>，但会在末尾自动追加输出‘</a:t>
            </a:r>
            <a:r>
              <a:rPr lang="en-US" altLang="zh-CN" sz="2400" b="1" dirty="0">
                <a:latin typeface="+mn-ea"/>
              </a:rPr>
              <a:t>\n’</a:t>
            </a:r>
            <a:r>
              <a:rPr lang="zh-CN" altLang="en-US" sz="2400" b="1" dirty="0">
                <a:latin typeface="+mn-ea"/>
              </a:rPr>
              <a:t> 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758888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不幸的</a:t>
            </a:r>
            <a:r>
              <a:rPr lang="en-US" altLang="zh-CN" b="1" dirty="0"/>
              <a:t>gets()</a:t>
            </a:r>
            <a:endParaRPr lang="zh-CN" altLang="en-US" b="1" u="sng" dirty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180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latin typeface="+mn-ea"/>
              </a:rPr>
              <a:t>因为不安全，</a:t>
            </a:r>
            <a:r>
              <a:rPr lang="en-US" altLang="zh-CN" sz="2800" b="1" dirty="0">
                <a:latin typeface="+mn-ea"/>
              </a:rPr>
              <a:t>gets()</a:t>
            </a:r>
            <a:r>
              <a:rPr lang="zh-CN" altLang="en-US" sz="2800" b="1" dirty="0">
                <a:latin typeface="+mn-ea"/>
              </a:rPr>
              <a:t>从</a:t>
            </a:r>
            <a:r>
              <a:rPr lang="en-US" altLang="zh-CN" sz="2800" b="1" dirty="0" err="1">
                <a:latin typeface="+mn-ea"/>
              </a:rPr>
              <a:t>C11</a:t>
            </a:r>
            <a:r>
              <a:rPr lang="zh-CN" altLang="en-US" sz="2800" b="1" dirty="0">
                <a:latin typeface="+mn-ea"/>
              </a:rPr>
              <a:t>标准中被废除了！</a:t>
            </a:r>
            <a:endParaRPr lang="en-US" altLang="zh-CN" sz="2800" b="1" dirty="0">
              <a:latin typeface="+mn-ea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latin typeface="+mn-ea"/>
              </a:rPr>
              <a:t>问题出在</a:t>
            </a:r>
            <a:r>
              <a:rPr lang="en-US" altLang="zh-CN" sz="2800" b="1" dirty="0">
                <a:latin typeface="+mn-ea"/>
              </a:rPr>
              <a:t>gets()</a:t>
            </a:r>
            <a:r>
              <a:rPr lang="zh-CN" altLang="en-US" sz="2800" b="1" dirty="0">
                <a:latin typeface="+mn-ea"/>
              </a:rPr>
              <a:t>唯一的参数是字符串地址，它无法检查数组是否装得下输入行。</a:t>
            </a:r>
            <a:r>
              <a:rPr lang="en-US" altLang="zh-CN" sz="2800" b="1" dirty="0">
                <a:latin typeface="+mn-ea"/>
              </a:rPr>
              <a:t>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600" b="1" dirty="0">
                <a:latin typeface="+mn-ea"/>
              </a:rPr>
              <a:t>如果输入的字符串过长，会导致缓冲区溢出（</a:t>
            </a:r>
            <a:r>
              <a:rPr lang="en-US" altLang="zh-CN" sz="2600" b="1" dirty="0">
                <a:latin typeface="+mn-ea"/>
              </a:rPr>
              <a:t>buffer overflow</a:t>
            </a:r>
            <a:r>
              <a:rPr lang="zh-CN" altLang="en-US" sz="2600" b="1" dirty="0">
                <a:latin typeface="+mn-ea"/>
              </a:rPr>
              <a:t>），即多余的字符超出了指定的目标空间。如果这些多余的字符只是占用了尚未使用的内存，就不会立即出现问题；如果它们擦写掉程序中的其他数据，会导致程序异常中止；或者还有其他情况。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46849735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gets(char</a:t>
            </a:r>
            <a:r>
              <a:rPr lang="zh-CN" altLang="en-US" b="1" dirty="0"/>
              <a:t> </a:t>
            </a:r>
            <a:r>
              <a:rPr lang="en-US" altLang="zh-CN" b="1" dirty="0"/>
              <a:t>*)</a:t>
            </a:r>
            <a:r>
              <a:rPr lang="zh-CN" altLang="en-US" b="1" dirty="0"/>
              <a:t>溢出示例</a:t>
            </a:r>
            <a:endParaRPr lang="zh-CN" altLang="en-US" b="1" u="sng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89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string.h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#define 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6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char 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("input string:\n");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gets(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>
                <a:latin typeface="Consolas" panose="020B0609020204030204" pitchFamily="49" charset="0"/>
              </a:rPr>
              <a:t>puts(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("string 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=%d\n",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strlen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 flipH="1">
            <a:off x="6372225" y="3068638"/>
            <a:ext cx="144463" cy="288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95669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err="1"/>
              <a:t>fgets</a:t>
            </a:r>
            <a:r>
              <a:rPr lang="en-US" altLang="zh-CN" b="1" dirty="0"/>
              <a:t>()</a:t>
            </a:r>
            <a:r>
              <a:rPr lang="zh-CN" altLang="en-US" b="1" dirty="0"/>
              <a:t>从文件读取一行字符串</a:t>
            </a:r>
            <a:endParaRPr lang="zh-CN" altLang="en-US" b="1" u="sng" dirty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9180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600" b="1" dirty="0" err="1"/>
              <a:t>fgets</a:t>
            </a:r>
            <a:r>
              <a:rPr lang="en-US" altLang="zh-CN" sz="2600" b="1" dirty="0"/>
              <a:t>()</a:t>
            </a:r>
            <a:r>
              <a:rPr lang="zh-CN" altLang="en-US" sz="2600" b="1" dirty="0"/>
              <a:t>函数通过第</a:t>
            </a:r>
            <a:r>
              <a:rPr lang="en-US" altLang="zh-CN" sz="2600" b="1" dirty="0"/>
              <a:t>2</a:t>
            </a:r>
            <a:r>
              <a:rPr lang="zh-CN" altLang="en-US" sz="2600" b="1" dirty="0"/>
              <a:t>个参数限制读入的字符数来解决溢出的问题。该函数专门设计用于处理文件输入，所以仅从键盘读串时会觉得参数太多。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600" b="1" dirty="0"/>
              <a:t>char * </a:t>
            </a:r>
            <a:r>
              <a:rPr lang="en-US" altLang="zh-CN" sz="2600" b="1" dirty="0" err="1"/>
              <a:t>fgets</a:t>
            </a:r>
            <a:r>
              <a:rPr lang="en-US" altLang="zh-CN" sz="2600" b="1" dirty="0"/>
              <a:t>(char *str, int n, FILE *stream);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600" b="1" dirty="0"/>
              <a:t>    从文件或键盘读取字符到</a:t>
            </a:r>
            <a:r>
              <a:rPr lang="en-US" altLang="zh-CN" sz="2600" b="1" dirty="0"/>
              <a:t>str</a:t>
            </a:r>
            <a:r>
              <a:rPr lang="zh-CN" altLang="en-US" sz="2600" b="1" dirty="0"/>
              <a:t>所指向的数组中，直到读够</a:t>
            </a:r>
            <a:r>
              <a:rPr lang="en-US" altLang="zh-CN" sz="2600" b="1" dirty="0"/>
              <a:t>n-1</a:t>
            </a:r>
            <a:r>
              <a:rPr lang="zh-CN" altLang="en-US" sz="2600" b="1" dirty="0"/>
              <a:t>个字符，或读到换行符</a:t>
            </a:r>
            <a:r>
              <a:rPr lang="en-US" altLang="zh-CN" sz="2600" b="1" dirty="0"/>
              <a:t>‘\n’ </a:t>
            </a:r>
            <a:r>
              <a:rPr lang="zh-CN" altLang="en-US" sz="2600" b="1" dirty="0">
                <a:latin typeface="宋体" panose="02010600030101010101" pitchFamily="2" charset="-122"/>
              </a:rPr>
              <a:t>，但</a:t>
            </a:r>
            <a:r>
              <a:rPr lang="zh-CN" altLang="en-US" sz="2600" b="1" dirty="0">
                <a:solidFill>
                  <a:srgbClr val="FF0000"/>
                </a:solidFill>
                <a:latin typeface="宋体" panose="02010600030101010101" pitchFamily="2" charset="-122"/>
              </a:rPr>
              <a:t>不会丢弃换行符</a:t>
            </a:r>
            <a:r>
              <a:rPr lang="zh-CN" altLang="en-US" sz="2600" b="1" dirty="0">
                <a:latin typeface="宋体" panose="02010600030101010101" pitchFamily="2" charset="-122"/>
              </a:rPr>
              <a:t>，</a:t>
            </a:r>
            <a:r>
              <a:rPr lang="zh-CN" altLang="en-US" sz="2600" b="1" dirty="0"/>
              <a:t>或者读到文件末尾。最后一个字符读入后自动写入一个 </a:t>
            </a:r>
            <a:r>
              <a:rPr lang="en-US" altLang="zh-CN" sz="2600" b="1" dirty="0"/>
              <a:t>'\0' </a:t>
            </a:r>
            <a:r>
              <a:rPr lang="zh-CN" altLang="en-US" sz="2600" b="1" dirty="0"/>
              <a:t>。若成功则返回</a:t>
            </a:r>
            <a:r>
              <a:rPr lang="en-US" altLang="zh-CN" sz="2600" b="1" dirty="0"/>
              <a:t>str</a:t>
            </a:r>
            <a:r>
              <a:rPr lang="zh-CN" altLang="en-US" sz="2600" b="1" dirty="0"/>
              <a:t>，若无字符读入数组或者读取失败返回空指针</a:t>
            </a:r>
            <a:r>
              <a:rPr lang="en-US" altLang="zh-CN" sz="2600" b="1" dirty="0"/>
              <a:t>NULL</a:t>
            </a:r>
            <a:r>
              <a:rPr lang="zh-CN" altLang="en-US" sz="2600" b="1" dirty="0"/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600" b="1" dirty="0"/>
              <a:t>int </a:t>
            </a:r>
            <a:r>
              <a:rPr lang="en-US" altLang="zh-CN" sz="2600" b="1" dirty="0" err="1"/>
              <a:t>fputs</a:t>
            </a:r>
            <a:r>
              <a:rPr lang="en-US" altLang="zh-CN" sz="2600" b="1" dirty="0"/>
              <a:t>(const char * str, FILE *stream);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600" b="1" dirty="0"/>
              <a:t>	</a:t>
            </a:r>
            <a:r>
              <a:rPr lang="zh-CN" altLang="en-US" sz="2600" b="1" dirty="0"/>
              <a:t>将</a:t>
            </a:r>
            <a:r>
              <a:rPr lang="en-US" altLang="zh-CN" sz="2600" b="1" dirty="0"/>
              <a:t>str</a:t>
            </a:r>
            <a:r>
              <a:rPr lang="zh-CN" altLang="en-US" sz="2600" b="1" dirty="0"/>
              <a:t>所指向的字符串输出到文件或显示器上，字符串结束标记</a:t>
            </a:r>
            <a:r>
              <a:rPr lang="en-US" altLang="zh-CN" sz="2600" b="1" dirty="0"/>
              <a:t>‘\0’ </a:t>
            </a:r>
            <a:r>
              <a:rPr lang="zh-CN" altLang="en-US" sz="2600" b="1" dirty="0"/>
              <a:t>不会被输出。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 err="1"/>
              <a:t>fgets</a:t>
            </a:r>
            <a:r>
              <a:rPr lang="en-US" altLang="zh-CN" b="1" dirty="0"/>
              <a:t>(char *,</a:t>
            </a:r>
            <a:r>
              <a:rPr lang="en-US" altLang="zh-CN" b="1" dirty="0" err="1"/>
              <a:t>len,stdin</a:t>
            </a:r>
            <a:r>
              <a:rPr lang="en-US" altLang="zh-CN" b="1" dirty="0"/>
              <a:t>)</a:t>
            </a:r>
            <a:r>
              <a:rPr lang="zh-CN" altLang="en-US" b="1" dirty="0"/>
              <a:t>三个参数使用</a:t>
            </a:r>
            <a:endParaRPr lang="zh-CN" altLang="en-US" b="1" u="sng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8352928" cy="49895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#include&lt;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#define 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  <a:ea typeface="System" charset="-122"/>
              </a:rPr>
              <a:t> 202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char 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en-US" altLang="zh-CN" sz="2400" dirty="0">
                <a:latin typeface="Consolas" panose="020B0609020204030204" pitchFamily="49" charset="0"/>
              </a:rPr>
              <a:t>[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("input string:\n");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fgets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st,</a:t>
            </a:r>
            <a:r>
              <a:rPr lang="en-US" altLang="zh-CN" sz="2400" dirty="0" err="1">
                <a:latin typeface="Consolas" panose="020B0609020204030204" pitchFamily="49" charset="0"/>
                <a:ea typeface="System" charset="-122"/>
              </a:rPr>
              <a:t>STLEN</a:t>
            </a:r>
            <a:r>
              <a:rPr lang="en-US" altLang="zh-CN" sz="2400" dirty="0" err="1">
                <a:latin typeface="Consolas" panose="020B0609020204030204" pitchFamily="49" charset="0"/>
              </a:rPr>
              <a:t>,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stdin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fputs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st,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stdout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fgets</a:t>
            </a:r>
            <a:r>
              <a:rPr lang="en-US" altLang="zh-CN" sz="2400" dirty="0">
                <a:latin typeface="Consolas" panose="020B0609020204030204" pitchFamily="49" charset="0"/>
              </a:rPr>
              <a:t>()</a:t>
            </a:r>
            <a:r>
              <a:rPr lang="zh-CN" altLang="en-US" sz="2400" dirty="0">
                <a:latin typeface="Consolas" panose="020B0609020204030204" pitchFamily="49" charset="0"/>
              </a:rPr>
              <a:t>不丢弃换行符，好处是若串太长超出数组长度，通过检查读入的</a:t>
            </a:r>
            <a:r>
              <a:rPr lang="en-US" altLang="zh-CN" sz="2400" dirty="0" err="1">
                <a:latin typeface="Consolas" panose="020B0609020204030204" pitchFamily="49" charset="0"/>
              </a:rPr>
              <a:t>st</a:t>
            </a:r>
            <a:r>
              <a:rPr lang="zh-CN" altLang="en-US" sz="2400" dirty="0">
                <a:latin typeface="Consolas" panose="020B0609020204030204" pitchFamily="49" charset="0"/>
              </a:rPr>
              <a:t>是否有</a:t>
            </a:r>
            <a:r>
              <a:rPr lang="en-US" altLang="zh-CN" sz="2400" dirty="0">
                <a:latin typeface="Consolas" panose="020B0609020204030204" pitchFamily="49" charset="0"/>
              </a:rPr>
              <a:t>\n</a:t>
            </a:r>
            <a:r>
              <a:rPr lang="zh-CN" altLang="en-US" sz="2400" dirty="0">
                <a:latin typeface="Consolas" panose="020B0609020204030204" pitchFamily="49" charset="0"/>
              </a:rPr>
              <a:t>就可知道读取不完整。</a:t>
            </a:r>
            <a:endParaRPr lang="en-US" altLang="zh-CN" sz="2400" dirty="0">
              <a:latin typeface="Consolas" panose="020B0609020204030204" pitchFamily="49" charset="0"/>
            </a:endParaRPr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 flipH="1">
            <a:off x="6372225" y="3068638"/>
            <a:ext cx="144463" cy="288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404813"/>
            <a:ext cx="6768306" cy="720725"/>
          </a:xfrm>
        </p:spPr>
        <p:txBody>
          <a:bodyPr/>
          <a:lstStyle/>
          <a:p>
            <a:pPr eaLnBrk="1" hangingPunct="1"/>
            <a:r>
              <a:rPr lang="zh-CN" altLang="en-US" b="1" dirty="0"/>
              <a:t>检查读取一行字符串时所读不完整</a:t>
            </a:r>
            <a:endParaRPr lang="zh-CN" altLang="en-US" b="1" u="sng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484784"/>
            <a:ext cx="8352928" cy="470148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isLine</a:t>
            </a:r>
            <a:r>
              <a:rPr lang="en-US" altLang="zh-CN" sz="2000" dirty="0">
                <a:latin typeface="Consolas" panose="020B0609020204030204" pitchFamily="49" charset="0"/>
              </a:rPr>
              <a:t>(char * str)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i,line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0,line</a:t>
            </a:r>
            <a:r>
              <a:rPr lang="en-US" altLang="zh-CN" sz="2000" dirty="0">
                <a:latin typeface="Consolas" panose="020B0609020204030204" pitchFamily="49" charset="0"/>
              </a:rPr>
              <a:t>=0; str[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]!='\0' &amp;&amp; !line;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if (str[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]=='\n')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line=1;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line;//</a:t>
            </a:r>
            <a:r>
              <a:rPr lang="zh-CN" altLang="en-US" sz="2000" dirty="0">
                <a:latin typeface="Consolas" panose="020B0609020204030204" pitchFamily="49" charset="0"/>
              </a:rPr>
              <a:t>返回</a:t>
            </a:r>
            <a:r>
              <a:rPr lang="en-US" altLang="zh-CN" sz="2000" dirty="0">
                <a:latin typeface="Consolas" panose="020B0609020204030204" pitchFamily="49" charset="0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</a:rPr>
              <a:t>是不完整，返回</a:t>
            </a:r>
            <a:r>
              <a:rPr lang="en-US" altLang="zh-CN" sz="2000" dirty="0"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</a:rPr>
              <a:t>则是整行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 flipH="1">
            <a:off x="6372225" y="3068638"/>
            <a:ext cx="144463" cy="288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43545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测试主程序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8352928" cy="49895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</a:t>
            </a:r>
            <a:r>
              <a:rPr lang="en-US" altLang="zh-CN" sz="2000" dirty="0" err="1">
                <a:latin typeface="Consolas" panose="020B0609020204030204" pitchFamily="49" charset="0"/>
              </a:rPr>
              <a:t>STLEN</a:t>
            </a:r>
            <a:r>
              <a:rPr lang="en-US" altLang="zh-CN" sz="2000" dirty="0">
                <a:latin typeface="Consolas" panose="020B0609020204030204" pitchFamily="49" charset="0"/>
              </a:rPr>
              <a:t> 12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isLine</a:t>
            </a:r>
            <a:r>
              <a:rPr lang="en-US" altLang="zh-CN" sz="2000" dirty="0">
                <a:latin typeface="Consolas" panose="020B0609020204030204" pitchFamily="49" charset="0"/>
              </a:rPr>
              <a:t>(char * str);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char </a:t>
            </a:r>
            <a:r>
              <a:rPr lang="en-US" altLang="zh-CN" sz="2000" dirty="0" err="1">
                <a:latin typeface="Consolas" panose="020B0609020204030204" pitchFamily="49" charset="0"/>
              </a:rPr>
              <a:t>st</a:t>
            </a:r>
            <a:r>
              <a:rPr lang="en-US" altLang="zh-CN" sz="2000" dirty="0">
                <a:latin typeface="Consolas" panose="020B0609020204030204" pitchFamily="49" charset="0"/>
              </a:rPr>
              <a:t>[</a:t>
            </a:r>
            <a:r>
              <a:rPr lang="en-US" altLang="zh-CN" sz="2000" dirty="0" err="1">
                <a:latin typeface="Consolas" panose="020B0609020204030204" pitchFamily="49" charset="0"/>
              </a:rPr>
              <a:t>STLEN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("input string:\n");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fgets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st,STLEN,stdin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("string </a:t>
            </a:r>
            <a:r>
              <a:rPr lang="en-US" altLang="zh-CN" sz="2000" dirty="0" err="1">
                <a:latin typeface="Consolas" panose="020B0609020204030204" pitchFamily="49" charset="0"/>
              </a:rPr>
              <a:t>len</a:t>
            </a:r>
            <a:r>
              <a:rPr lang="en-US" altLang="zh-CN" sz="2000" dirty="0">
                <a:latin typeface="Consolas" panose="020B0609020204030204" pitchFamily="49" charset="0"/>
              </a:rPr>
              <a:t>=%d\n",</a:t>
            </a:r>
            <a:r>
              <a:rPr lang="en-US" altLang="zh-CN" sz="2000" dirty="0" err="1">
                <a:latin typeface="Consolas" panose="020B0609020204030204" pitchFamily="49" charset="0"/>
              </a:rPr>
              <a:t>strlen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fputs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st,stdout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if (</a:t>
            </a:r>
            <a:r>
              <a:rPr lang="en-US" altLang="zh-CN" sz="2000" dirty="0" err="1">
                <a:latin typeface="Consolas" panose="020B0609020204030204" pitchFamily="49" charset="0"/>
              </a:rPr>
              <a:t>isLine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</a:t>
            </a:r>
            <a:r>
              <a:rPr lang="en-US" altLang="zh-CN" sz="2000" dirty="0">
                <a:latin typeface="Consolas" panose="020B0609020204030204" pitchFamily="49" charset="0"/>
              </a:rPr>
              <a:t>)==0)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puts("read string not complete.");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</a:rPr>
              <a:t>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latin typeface="Consolas" panose="020B0609020204030204" pitchFamily="49" charset="0"/>
              </a:rPr>
              <a:t>测试输入：</a:t>
            </a:r>
            <a:r>
              <a:rPr lang="en-US" altLang="zh-CN" sz="2000" dirty="0">
                <a:latin typeface="Consolas" panose="020B0609020204030204" pitchFamily="49" charset="0"/>
              </a:rPr>
              <a:t>1234567890 hi words.</a:t>
            </a:r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 flipH="1">
            <a:off x="6372225" y="3068638"/>
            <a:ext cx="144463" cy="288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722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2267744" y="404813"/>
            <a:ext cx="6768306" cy="720725"/>
          </a:xfrm>
        </p:spPr>
        <p:txBody>
          <a:bodyPr/>
          <a:lstStyle/>
          <a:p>
            <a:pPr eaLnBrk="1" hangingPunct="1"/>
            <a:r>
              <a:rPr lang="zh-CN" altLang="en-US" b="1" dirty="0"/>
              <a:t>若行串完整则丢弃换行符</a:t>
            </a:r>
            <a:endParaRPr lang="zh-CN" altLang="en-US" b="1" u="sng" dirty="0"/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340768"/>
            <a:ext cx="8352928" cy="470148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isLineCutN</a:t>
            </a:r>
            <a:r>
              <a:rPr lang="en-US" altLang="zh-CN" sz="2000" dirty="0">
                <a:latin typeface="Consolas" panose="020B0609020204030204" pitchFamily="49" charset="0"/>
              </a:rPr>
              <a:t>(char * str)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i,line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0,line</a:t>
            </a:r>
            <a:r>
              <a:rPr lang="en-US" altLang="zh-CN" sz="2000" dirty="0">
                <a:latin typeface="Consolas" panose="020B0609020204030204" pitchFamily="49" charset="0"/>
              </a:rPr>
              <a:t>=0; str[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]!='\0' &amp;&amp; !line;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if (str[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]=='\n'){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str[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]='\0';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line=1;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line;//</a:t>
            </a:r>
            <a:r>
              <a:rPr lang="zh-CN" altLang="en-US" sz="2000" dirty="0">
                <a:latin typeface="Consolas" panose="020B0609020204030204" pitchFamily="49" charset="0"/>
              </a:rPr>
              <a:t>返回</a:t>
            </a:r>
            <a:r>
              <a:rPr lang="en-US" altLang="zh-CN" sz="2000" dirty="0">
                <a:latin typeface="Consolas" panose="020B0609020204030204" pitchFamily="49" charset="0"/>
              </a:rPr>
              <a:t>0</a:t>
            </a:r>
            <a:r>
              <a:rPr lang="zh-CN" altLang="en-US" sz="2000" dirty="0">
                <a:latin typeface="Consolas" panose="020B0609020204030204" pitchFamily="49" charset="0"/>
              </a:rPr>
              <a:t>为不完整，返回</a:t>
            </a:r>
            <a:r>
              <a:rPr lang="en-US" altLang="zh-CN" sz="2000" dirty="0"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latin typeface="Consolas" panose="020B0609020204030204" pitchFamily="49" charset="0"/>
              </a:rPr>
              <a:t>则丢弃换行符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 flipH="1">
            <a:off x="6372225" y="3068638"/>
            <a:ext cx="144463" cy="288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8999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测试主程序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196752"/>
            <a:ext cx="8352928" cy="49895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#define </a:t>
            </a:r>
            <a:r>
              <a:rPr lang="en-US" altLang="zh-CN" sz="1800" dirty="0" err="1">
                <a:latin typeface="Consolas" panose="020B0609020204030204" pitchFamily="49" charset="0"/>
              </a:rPr>
              <a:t>STLEN</a:t>
            </a:r>
            <a:r>
              <a:rPr lang="en-US" altLang="zh-CN" sz="1800" dirty="0">
                <a:latin typeface="Consolas" panose="020B0609020204030204" pitchFamily="49" charset="0"/>
              </a:rPr>
              <a:t> 12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</a:t>
            </a:r>
            <a:r>
              <a:rPr lang="en-US" altLang="zh-CN" sz="1800" dirty="0" err="1">
                <a:latin typeface="Consolas" panose="020B0609020204030204" pitchFamily="49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</a:rPr>
              <a:t>(char * str);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char </a:t>
            </a:r>
            <a:r>
              <a:rPr lang="en-US" altLang="zh-CN" sz="1800" dirty="0" err="1">
                <a:latin typeface="Consolas" panose="020B0609020204030204" pitchFamily="49" charset="0"/>
              </a:rPr>
              <a:t>st</a:t>
            </a:r>
            <a:r>
              <a:rPr lang="en-US" altLang="zh-CN" sz="1800" dirty="0">
                <a:latin typeface="Consolas" panose="020B0609020204030204" pitchFamily="49" charset="0"/>
              </a:rPr>
              <a:t>[</a:t>
            </a:r>
            <a:r>
              <a:rPr lang="en-US" altLang="zh-CN" sz="1800" dirty="0" err="1">
                <a:latin typeface="Consolas" panose="020B0609020204030204" pitchFamily="49" charset="0"/>
              </a:rPr>
              <a:t>STLEN</a:t>
            </a:r>
            <a:r>
              <a:rPr lang="en-US" altLang="zh-CN" sz="18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("input string:\n");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st,STLEN,stdin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</a:t>
            </a:r>
            <a:r>
              <a:rPr lang="en-US" altLang="zh-CN" sz="1800" dirty="0" err="1">
                <a:latin typeface="Consolas" panose="020B0609020204030204" pitchFamily="49" charset="0"/>
              </a:rPr>
              <a:t>orig</a:t>
            </a:r>
            <a:r>
              <a:rPr lang="en-US" altLang="zh-CN" sz="1800" dirty="0"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</a:rPr>
              <a:t>len</a:t>
            </a:r>
            <a:r>
              <a:rPr lang="en-US" altLang="zh-CN" sz="1800" dirty="0">
                <a:latin typeface="Consolas" panose="020B0609020204030204" pitchFamily="49" charset="0"/>
              </a:rPr>
              <a:t>=%d\n",</a:t>
            </a:r>
            <a:r>
              <a:rPr lang="en-US" altLang="zh-CN" sz="1800" dirty="0" err="1">
                <a:latin typeface="Consolas" panose="020B0609020204030204" pitchFamily="49" charset="0"/>
              </a:rPr>
              <a:t>strlen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</a:t>
            </a:r>
            <a:r>
              <a:rPr lang="en-US" altLang="zh-CN" sz="1800" dirty="0">
                <a:latin typeface="Consolas" panose="020B0609020204030204" pitchFamily="49" charset="0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if (</a:t>
            </a:r>
            <a:r>
              <a:rPr lang="en-US" altLang="zh-CN" sz="1800" dirty="0" err="1">
                <a:latin typeface="Consolas" panose="020B0609020204030204" pitchFamily="49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</a:t>
            </a:r>
            <a:r>
              <a:rPr lang="en-US" altLang="zh-CN" sz="1800" dirty="0">
                <a:latin typeface="Consolas" panose="020B0609020204030204" pitchFamily="49" charset="0"/>
              </a:rPr>
              <a:t>)==0)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puts("read string not complete.");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puts("removed string tail \\n.");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("now </a:t>
            </a:r>
            <a:r>
              <a:rPr lang="en-US" altLang="zh-CN" sz="1800" dirty="0" err="1">
                <a:latin typeface="Consolas" panose="020B0609020204030204" pitchFamily="49" charset="0"/>
              </a:rPr>
              <a:t>len</a:t>
            </a:r>
            <a:r>
              <a:rPr lang="en-US" altLang="zh-CN" sz="1800" dirty="0">
                <a:latin typeface="Consolas" panose="020B0609020204030204" pitchFamily="49" charset="0"/>
              </a:rPr>
              <a:t>=%d\n",</a:t>
            </a:r>
            <a:r>
              <a:rPr lang="en-US" altLang="zh-CN" sz="1800" dirty="0" err="1">
                <a:latin typeface="Consolas" panose="020B0609020204030204" pitchFamily="49" charset="0"/>
              </a:rPr>
              <a:t>strlen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</a:t>
            </a:r>
            <a:r>
              <a:rPr lang="en-US" altLang="zh-CN" sz="1800" dirty="0">
                <a:latin typeface="Consolas" panose="020B0609020204030204" pitchFamily="49" charset="0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fputs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st,stdout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//</a:t>
            </a:r>
            <a:r>
              <a:rPr lang="zh-CN" altLang="en-US" sz="1800" dirty="0">
                <a:latin typeface="Consolas" panose="020B0609020204030204" pitchFamily="49" charset="0"/>
              </a:rPr>
              <a:t>测试输入</a:t>
            </a:r>
            <a:r>
              <a:rPr lang="en-US" altLang="zh-CN" sz="1800" dirty="0">
                <a:latin typeface="Consolas" panose="020B0609020204030204" pitchFamily="49" charset="0"/>
              </a:rPr>
              <a:t>1</a:t>
            </a:r>
            <a:r>
              <a:rPr lang="zh-CN" altLang="en-US" sz="1800" dirty="0">
                <a:latin typeface="Consolas" panose="020B0609020204030204" pitchFamily="49" charset="0"/>
              </a:rPr>
              <a:t>：</a:t>
            </a:r>
            <a:r>
              <a:rPr lang="en-US" altLang="zh-CN" sz="1800" dirty="0">
                <a:latin typeface="Consolas" panose="020B0609020204030204" pitchFamily="49" charset="0"/>
              </a:rPr>
              <a:t>1234567890 hi words.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//</a:t>
            </a:r>
            <a:r>
              <a:rPr lang="zh-CN" altLang="en-US" sz="1800" dirty="0">
                <a:latin typeface="Consolas" panose="020B0609020204030204" pitchFamily="49" charset="0"/>
              </a:rPr>
              <a:t>测试输入</a:t>
            </a:r>
            <a:r>
              <a:rPr lang="en-US" altLang="zh-CN" sz="1800" dirty="0">
                <a:latin typeface="Consolas" panose="020B0609020204030204" pitchFamily="49" charset="0"/>
              </a:rPr>
              <a:t>2</a:t>
            </a:r>
            <a:r>
              <a:rPr lang="zh-CN" altLang="en-US" sz="1800" dirty="0">
                <a:latin typeface="Consolas" panose="020B0609020204030204" pitchFamily="49" charset="0"/>
              </a:rPr>
              <a:t>：</a:t>
            </a:r>
            <a:r>
              <a:rPr lang="en-US" altLang="zh-CN" sz="1800" dirty="0">
                <a:latin typeface="Consolas" panose="020B0609020204030204" pitchFamily="49" charset="0"/>
              </a:rPr>
              <a:t>words</a:t>
            </a:r>
          </a:p>
        </p:txBody>
      </p:sp>
      <p:sp>
        <p:nvSpPr>
          <p:cNvPr id="46086" name="Line 5"/>
          <p:cNvSpPr>
            <a:spLocks noChangeShapeType="1"/>
          </p:cNvSpPr>
          <p:nvPr/>
        </p:nvSpPr>
        <p:spPr bwMode="auto">
          <a:xfrm flipH="1">
            <a:off x="6372225" y="3068638"/>
            <a:ext cx="144463" cy="288925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03805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>
            <a:extLst>
              <a:ext uri="{FF2B5EF4-FFF2-40B4-BE49-F238E27FC236}">
                <a16:creationId xmlns:a16="http://schemas.microsoft.com/office/drawing/2014/main" id="{1BAE42CB-BEFC-4C52-8D26-9F293CB180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44DBBC51-0E19-4A81-AABF-FFE77A568F12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4192320B-A1DB-42BD-846B-2C2B52EBE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字符串函数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9180ED4-BD9A-413E-9FB8-4BE5DD6CA1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4041" y="1190626"/>
            <a:ext cx="8515350" cy="5133974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&lt;</a:t>
            </a:r>
            <a:r>
              <a:rPr lang="en-US" altLang="zh-CN" sz="2400" dirty="0" err="1">
                <a:latin typeface="Consolas" panose="020B0609020204030204" pitchFamily="49" charset="0"/>
              </a:rPr>
              <a:t>string.h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  <a:r>
              <a:rPr lang="zh-CN" altLang="en-US" sz="2400" dirty="0">
                <a:latin typeface="Consolas" panose="020B0609020204030204" pitchFamily="49" charset="0"/>
              </a:rPr>
              <a:t>中常用库函数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i="0" dirty="0" err="1">
                <a:effectLst/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strlen</a:t>
            </a:r>
            <a:r>
              <a:rPr lang="en-US" altLang="zh-CN" sz="2400" dirty="0">
                <a:latin typeface="Consolas" panose="020B0609020204030204" pitchFamily="49" charset="0"/>
              </a:rPr>
              <a:t>(const char * str);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strlen</a:t>
            </a:r>
            <a:r>
              <a:rPr lang="zh-CN" altLang="en-US" sz="2400" dirty="0">
                <a:latin typeface="Consolas" panose="020B0609020204030204" pitchFamily="49" charset="0"/>
              </a:rPr>
              <a:t>是测试字符串长度的函数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zh-CN" altLang="en-US" sz="2400" dirty="0">
                <a:latin typeface="Consolas" panose="020B0609020204030204" pitchFamily="49" charset="0"/>
              </a:rPr>
              <a:t>返回值为字符串的实际长度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zh-CN" altLang="en-US" sz="2400" dirty="0">
                <a:latin typeface="Consolas" panose="020B0609020204030204" pitchFamily="49" charset="0"/>
              </a:rPr>
              <a:t>不包括</a:t>
            </a:r>
            <a:r>
              <a:rPr lang="en-US" altLang="zh-CN" sz="2400" dirty="0">
                <a:latin typeface="Consolas" panose="020B0609020204030204" pitchFamily="49" charset="0"/>
              </a:rPr>
              <a:t>′</a:t>
            </a:r>
            <a:r>
              <a:rPr lang="zh-CN" altLang="en-US" sz="2400" dirty="0">
                <a:latin typeface="Consolas" panose="020B0609020204030204" pitchFamily="49" charset="0"/>
              </a:rPr>
              <a:t>＼</a:t>
            </a:r>
            <a:r>
              <a:rPr lang="en-US" altLang="zh-CN" sz="2400" dirty="0">
                <a:latin typeface="Consolas" panose="020B0609020204030204" pitchFamily="49" charset="0"/>
              </a:rPr>
              <a:t>0′</a:t>
            </a:r>
            <a:r>
              <a:rPr lang="zh-CN" altLang="en-US" sz="2400" dirty="0">
                <a:latin typeface="Consolas" panose="020B0609020204030204" pitchFamily="49" charset="0"/>
              </a:rPr>
              <a:t>在内</a:t>
            </a:r>
            <a:r>
              <a:rPr lang="en-US" altLang="zh-CN" sz="2400" dirty="0">
                <a:latin typeface="Consolas" panose="020B0609020204030204" pitchFamily="49" charset="0"/>
              </a:rPr>
              <a:t>)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char * strcat(char *str1, const char *str2);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将串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zh-CN" altLang="en-US" sz="2400" dirty="0">
                <a:latin typeface="Consolas" panose="020B0609020204030204" pitchFamily="49" charset="0"/>
              </a:rPr>
              <a:t>拼接到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zh-CN" altLang="en-US" sz="2400" dirty="0">
                <a:latin typeface="Consolas" panose="020B0609020204030204" pitchFamily="49" charset="0"/>
              </a:rPr>
              <a:t>串末尾，返回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zh-CN" altLang="en-US" sz="2400" dirty="0">
                <a:latin typeface="Consolas" panose="020B0609020204030204" pitchFamily="49" charset="0"/>
              </a:rPr>
              <a:t>指针。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char *str</a:t>
            </a:r>
            <a:r>
              <a:rPr lang="en-US" altLang="zh-CN" sz="2400" dirty="0">
                <a:latin typeface="Consolas" panose="020B0609020204030204" pitchFamily="49" charset="0"/>
              </a:rPr>
              <a:t>n</a:t>
            </a:r>
            <a:r>
              <a:rPr lang="zh-CN" altLang="en-US" sz="2400" dirty="0">
                <a:latin typeface="Consolas" panose="020B0609020204030204" pitchFamily="49" charset="0"/>
              </a:rPr>
              <a:t>cat(char *str1, const char *str2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latin typeface="Consolas" panose="020B0609020204030204" pitchFamily="49" charset="0"/>
              </a:rPr>
              <a:t> count</a:t>
            </a:r>
            <a:r>
              <a:rPr lang="zh-CN" altLang="en-US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将串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zh-CN" altLang="en-US" sz="2400" dirty="0">
                <a:latin typeface="Consolas" panose="020B0609020204030204" pitchFamily="49" charset="0"/>
              </a:rPr>
              <a:t>中拼接到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zh-CN" altLang="en-US" sz="2400" dirty="0">
                <a:latin typeface="Consolas" panose="020B0609020204030204" pitchFamily="49" charset="0"/>
              </a:rPr>
              <a:t>串末尾，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限定拼接字符数不超过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count</a:t>
            </a:r>
            <a:r>
              <a:rPr lang="zh-CN" altLang="en-US" sz="2400" dirty="0">
                <a:latin typeface="Consolas" panose="020B0609020204030204" pitchFamily="49" charset="0"/>
              </a:rPr>
              <a:t>，返回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zh-CN" altLang="en-US" sz="2400" dirty="0">
                <a:latin typeface="Consolas" panose="020B0609020204030204" pitchFamily="49" charset="0"/>
              </a:rPr>
              <a:t>指针。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6" name="文本框 1004545"/>
          <p:cNvSpPr txBox="1"/>
          <p:nvPr/>
        </p:nvSpPr>
        <p:spPr>
          <a:xfrm>
            <a:off x="245110" y="1205865"/>
            <a:ext cx="8839200" cy="550920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#include&lt;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#include&lt;</a:t>
            </a:r>
            <a:r>
              <a:rPr lang="en-US" altLang="zh-CN" dirty="0" err="1">
                <a:latin typeface="Consolas" panose="020B0609020204030204" pitchFamily="49" charset="0"/>
              </a:rPr>
              <a:t>string.h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#define SIZE 82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isLineCutN</a:t>
            </a:r>
            <a:r>
              <a:rPr lang="en-US" altLang="zh-CN" dirty="0">
                <a:latin typeface="Consolas" panose="020B0609020204030204" pitchFamily="49" charset="0"/>
              </a:rPr>
              <a:t>(char * str);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main(void)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{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char flower[SIZE];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char addon[]="s smell like old shoes.";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puts("What is your favorite flower?");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fgets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flower,SIZE,stdin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isLineCutN</a:t>
            </a:r>
            <a:r>
              <a:rPr lang="en-US" altLang="zh-CN" dirty="0">
                <a:latin typeface="Consolas" panose="020B0609020204030204" pitchFamily="49" charset="0"/>
              </a:rPr>
              <a:t>(flower);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strcat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flower,addon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puts(flower);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	return 0;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B84C74-40D0-4977-9FA4-4A4D63F5F2BA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b="1" kern="0" dirty="0"/>
              <a:t>字符串拼接函数示例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6" name="文本框 1004545"/>
          <p:cNvSpPr txBox="1"/>
          <p:nvPr/>
        </p:nvSpPr>
        <p:spPr>
          <a:xfrm>
            <a:off x="245110" y="1205865"/>
            <a:ext cx="8839200" cy="5303888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</a:rPr>
              <a:t>string.h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#define SIZE 12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</a:t>
            </a:r>
            <a:r>
              <a:rPr lang="en-US" altLang="zh-CN" sz="1800" dirty="0" err="1">
                <a:latin typeface="Consolas" panose="020B0609020204030204" pitchFamily="49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</a:rPr>
              <a:t>(char * str);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main(void)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char flower[SIZE];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char addon[]="s smell like old shoes.";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puts("What is your favorite flower?");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flower,SIZE,stdin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</a:rPr>
              <a:t>(flower);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maxn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=SIZE-1-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strlen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(flower);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strncat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flower,addon,maxn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puts(flower);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return 0;</a:t>
            </a:r>
          </a:p>
          <a:p>
            <a:pPr lvl="0">
              <a:lnSpc>
                <a:spcPct val="8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  <a:endParaRPr lang="zh-CN" altLang="en-US" sz="1800" dirty="0">
              <a:latin typeface="Consolas" panose="020B0609020204030204" pitchFamily="49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EB84C74-40D0-4977-9FA4-4A4D63F5F2BA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b="1" kern="0" dirty="0"/>
              <a:t>安全的</a:t>
            </a:r>
            <a:r>
              <a:rPr lang="en-US" altLang="zh-CN" b="1" kern="0" dirty="0" err="1"/>
              <a:t>strncat</a:t>
            </a:r>
            <a:r>
              <a:rPr lang="en-US" altLang="zh-CN" b="1" kern="0" dirty="0"/>
              <a:t>()</a:t>
            </a:r>
            <a:r>
              <a:rPr lang="zh-CN" altLang="en-US" b="1" kern="0" dirty="0"/>
              <a:t>示例</a:t>
            </a:r>
          </a:p>
        </p:txBody>
      </p:sp>
    </p:spTree>
    <p:extLst>
      <p:ext uri="{BB962C8B-B14F-4D97-AF65-F5344CB8AC3E}">
        <p14:creationId xmlns:p14="http://schemas.microsoft.com/office/powerpoint/2010/main" val="4070609454"/>
      </p:ext>
    </p:extLst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文本框 1006593"/>
          <p:cNvSpPr txBox="1"/>
          <p:nvPr/>
        </p:nvSpPr>
        <p:spPr>
          <a:xfrm>
            <a:off x="326073" y="1399858"/>
            <a:ext cx="8305800" cy="5115246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&lt;</a:t>
            </a:r>
            <a:r>
              <a:rPr lang="en-US" altLang="zh-CN" sz="2400" dirty="0" err="1">
                <a:latin typeface="Consolas" panose="020B0609020204030204" pitchFamily="49" charset="0"/>
              </a:rPr>
              <a:t>string.h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  <a:r>
              <a:rPr lang="zh-CN" altLang="en-US" sz="2400" dirty="0">
                <a:latin typeface="Consolas" panose="020B0609020204030204" pitchFamily="49" charset="0"/>
              </a:rPr>
              <a:t>中常用库函数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char * strc</a:t>
            </a:r>
            <a:r>
              <a:rPr lang="en-US" altLang="zh-CN" sz="2400" dirty="0" err="1">
                <a:latin typeface="Consolas" panose="020B0609020204030204" pitchFamily="49" charset="0"/>
              </a:rPr>
              <a:t>py</a:t>
            </a:r>
            <a:r>
              <a:rPr lang="zh-CN" altLang="en-US" sz="2400" dirty="0">
                <a:latin typeface="Consolas" panose="020B0609020204030204" pitchFamily="49" charset="0"/>
              </a:rPr>
              <a:t>(char * </a:t>
            </a:r>
            <a:r>
              <a:rPr lang="en-US" altLang="zh-CN" sz="2400" dirty="0">
                <a:latin typeface="Consolas" panose="020B0609020204030204" pitchFamily="49" charset="0"/>
              </a:rPr>
              <a:t>to</a:t>
            </a:r>
            <a:r>
              <a:rPr lang="zh-CN" altLang="en-US" sz="2400" dirty="0">
                <a:latin typeface="Consolas" panose="020B0609020204030204" pitchFamily="49" charset="0"/>
              </a:rPr>
              <a:t>, const char * </a:t>
            </a:r>
            <a:r>
              <a:rPr lang="en-US" altLang="zh-CN" sz="2400" dirty="0">
                <a:latin typeface="Consolas" panose="020B0609020204030204" pitchFamily="49" charset="0"/>
              </a:rPr>
              <a:t>form</a:t>
            </a:r>
            <a:r>
              <a:rPr lang="zh-CN" altLang="en-US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将串</a:t>
            </a:r>
            <a:r>
              <a:rPr lang="en-US" altLang="zh-CN" sz="2400" dirty="0">
                <a:latin typeface="Consolas" panose="020B0609020204030204" pitchFamily="49" charset="0"/>
              </a:rPr>
              <a:t>from</a:t>
            </a:r>
            <a:r>
              <a:rPr lang="zh-CN" altLang="en-US" sz="2400" dirty="0">
                <a:latin typeface="Consolas" panose="020B0609020204030204" pitchFamily="49" charset="0"/>
              </a:rPr>
              <a:t>整个复制到</a:t>
            </a:r>
            <a:r>
              <a:rPr lang="en-US" altLang="zh-CN" sz="2400" dirty="0">
                <a:latin typeface="Consolas" panose="020B0609020204030204" pitchFamily="49" charset="0"/>
              </a:rPr>
              <a:t>to</a:t>
            </a:r>
            <a:r>
              <a:rPr lang="zh-CN" altLang="en-US" sz="2400" dirty="0">
                <a:latin typeface="Consolas" panose="020B0609020204030204" pitchFamily="49" charset="0"/>
              </a:rPr>
              <a:t>数组，返回复制字符的首地址。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例： </a:t>
            </a:r>
            <a:r>
              <a:rPr lang="en-US" altLang="zh-CN" sz="2400" dirty="0">
                <a:latin typeface="Consolas" panose="020B0609020204030204" pitchFamily="49" charset="0"/>
              </a:rPr>
              <a:t>char 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en-US" altLang="zh-CN" sz="2400" dirty="0">
                <a:latin typeface="Consolas" panose="020B0609020204030204" pitchFamily="49" charset="0"/>
              </a:rPr>
              <a:t>[100],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en-US" altLang="zh-CN" sz="2400" dirty="0">
                <a:latin typeface="Consolas" panose="020B0609020204030204" pitchFamily="49" charset="0"/>
              </a:rPr>
              <a:t>[100]="Have a rest.";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strcpy</a:t>
            </a:r>
            <a:r>
              <a:rPr lang="en-US" altLang="zh-CN" sz="2400" dirty="0">
                <a:latin typeface="Consolas" panose="020B0609020204030204" pitchFamily="49" charset="0"/>
              </a:rPr>
              <a:t>(</a:t>
            </a:r>
            <a:r>
              <a:rPr lang="en-US" altLang="zh-CN" sz="2400" dirty="0" err="1">
                <a:latin typeface="Consolas" panose="020B0609020204030204" pitchFamily="49" charset="0"/>
              </a:rPr>
              <a:t>str1,str2</a:t>
            </a:r>
            <a:r>
              <a:rPr lang="en-US" altLang="zh-CN" sz="2400" dirty="0">
                <a:latin typeface="Consolas" panose="020B0609020204030204" pitchFamily="49" charset="0"/>
              </a:rPr>
              <a:t>);//</a:t>
            </a:r>
            <a:r>
              <a:rPr lang="zh-CN" altLang="en-US" sz="2400" dirty="0">
                <a:latin typeface="Consolas" panose="020B0609020204030204" pitchFamily="49" charset="0"/>
              </a:rPr>
              <a:t>不能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zh-CN" altLang="en-US" sz="2400" dirty="0">
                <a:latin typeface="Consolas" panose="020B0609020204030204" pitchFamily="49" charset="0"/>
              </a:rPr>
              <a:t>复制串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char *str</a:t>
            </a:r>
            <a:r>
              <a:rPr lang="en-US" altLang="zh-CN" sz="2400" dirty="0" err="1">
                <a:latin typeface="Consolas" panose="020B0609020204030204" pitchFamily="49" charset="0"/>
              </a:rPr>
              <a:t>ncpy</a:t>
            </a:r>
            <a:r>
              <a:rPr lang="zh-CN" altLang="en-US" sz="2400" dirty="0">
                <a:latin typeface="Consolas" panose="020B0609020204030204" pitchFamily="49" charset="0"/>
              </a:rPr>
              <a:t>(char * </a:t>
            </a:r>
            <a:r>
              <a:rPr lang="en-US" altLang="zh-CN" sz="2400" dirty="0">
                <a:latin typeface="Consolas" panose="020B0609020204030204" pitchFamily="49" charset="0"/>
              </a:rPr>
              <a:t>to</a:t>
            </a:r>
            <a:r>
              <a:rPr lang="zh-CN" altLang="en-US" sz="2400" dirty="0">
                <a:latin typeface="Consolas" panose="020B0609020204030204" pitchFamily="49" charset="0"/>
              </a:rPr>
              <a:t>, const char * </a:t>
            </a:r>
            <a:r>
              <a:rPr lang="en-US" altLang="zh-CN" sz="2400" dirty="0">
                <a:latin typeface="Consolas" panose="020B0609020204030204" pitchFamily="49" charset="0"/>
              </a:rPr>
              <a:t>from, </a:t>
            </a:r>
            <a:r>
              <a:rPr lang="en-US" altLang="zh-CN" sz="2400" dirty="0" err="1"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latin typeface="Consolas" panose="020B0609020204030204" pitchFamily="49" charset="0"/>
              </a:rPr>
              <a:t> count</a:t>
            </a:r>
            <a:r>
              <a:rPr lang="zh-CN" altLang="en-US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将串</a:t>
            </a:r>
            <a:r>
              <a:rPr lang="en-US" altLang="zh-CN" sz="2400" dirty="0">
                <a:latin typeface="Consolas" panose="020B0609020204030204" pitchFamily="49" charset="0"/>
              </a:rPr>
              <a:t>from</a:t>
            </a:r>
            <a:r>
              <a:rPr lang="zh-CN" altLang="en-US" sz="2400" dirty="0">
                <a:latin typeface="Consolas" panose="020B0609020204030204" pitchFamily="49" charset="0"/>
              </a:rPr>
              <a:t>复制到</a:t>
            </a:r>
            <a:r>
              <a:rPr lang="en-US" altLang="zh-CN" sz="2400" dirty="0">
                <a:latin typeface="Consolas" panose="020B0609020204030204" pitchFamily="49" charset="0"/>
              </a:rPr>
              <a:t>to</a:t>
            </a:r>
            <a:r>
              <a:rPr lang="zh-CN" altLang="en-US" sz="2400" dirty="0">
                <a:latin typeface="Consolas" panose="020B0609020204030204" pitchFamily="49" charset="0"/>
              </a:rPr>
              <a:t>数组，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限定复制字符数不超过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count</a:t>
            </a:r>
            <a:r>
              <a:rPr lang="zh-CN" altLang="en-US" sz="2400" dirty="0">
                <a:latin typeface="Consolas" panose="020B0609020204030204" pitchFamily="49" charset="0"/>
              </a:rPr>
              <a:t>，返回复制字符的首地址。</a:t>
            </a:r>
            <a:r>
              <a:rPr lang="zh-CN" altLang="en-US" sz="2400" b="1" dirty="0">
                <a:latin typeface="Consolas" panose="020B0609020204030204" pitchFamily="49" charset="0"/>
              </a:rPr>
              <a:t>注意：如果拷贝到第</a:t>
            </a:r>
            <a:r>
              <a:rPr lang="en-US" altLang="zh-CN" sz="2400" b="1" dirty="0">
                <a:latin typeface="Consolas" panose="020B0609020204030204" pitchFamily="49" charset="0"/>
              </a:rPr>
              <a:t>n</a:t>
            </a:r>
            <a:r>
              <a:rPr lang="zh-CN" altLang="en-US" sz="2400" b="1" dirty="0">
                <a:latin typeface="Consolas" panose="020B0609020204030204" pitchFamily="49" charset="0"/>
              </a:rPr>
              <a:t>个字符时还未拷贝完整个源字符串，就不会拷贝</a:t>
            </a:r>
            <a:r>
              <a:rPr lang="en-US" altLang="zh-CN" sz="2400" b="1" dirty="0">
                <a:latin typeface="Consolas" panose="020B0609020204030204" pitchFamily="49" charset="0"/>
              </a:rPr>
              <a:t>’\0’</a:t>
            </a:r>
            <a:r>
              <a:rPr lang="zh-CN" altLang="en-US" sz="2400" b="1" dirty="0">
                <a:latin typeface="Consolas" panose="020B0609020204030204" pitchFamily="49" charset="0"/>
              </a:rPr>
              <a:t>空字符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3CD082-471F-49E0-8329-28F8528CE20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b="1" kern="0" dirty="0"/>
              <a:t>字符串拷贝函数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文本框 1006593"/>
          <p:cNvSpPr txBox="1"/>
          <p:nvPr/>
        </p:nvSpPr>
        <p:spPr>
          <a:xfrm>
            <a:off x="419100" y="1125538"/>
            <a:ext cx="8305800" cy="5022914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string.h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#define SIZE 42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#define WORDS "beast"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int main(void){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const char *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orig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= WORDS;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char copy[SIZE] = "Be the best that you can be.";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char *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ps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puts(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orig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);	puts(copy);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ps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=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strcpy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 copy + 7,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orig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puts(copy);//</a:t>
            </a:r>
            <a:r>
              <a:rPr lang="zh-CN" alt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查看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copy</a:t>
            </a:r>
            <a:r>
              <a:rPr lang="zh-CN" alt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结果</a:t>
            </a:r>
            <a:endParaRPr lang="en-US" altLang="zh-CN" sz="18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puts(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ps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);//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ps</a:t>
            </a:r>
            <a:r>
              <a:rPr lang="zh-CN" alt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不是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copy</a:t>
            </a:r>
            <a:r>
              <a:rPr lang="zh-CN" alt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的首地址</a:t>
            </a:r>
            <a:endParaRPr lang="en-US" altLang="zh-CN" sz="18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return 0;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en-US" altLang="zh-CN" sz="1800" dirty="0">
              <a:solidFill>
                <a:srgbClr val="CC33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3CD082-471F-49E0-8329-28F8528CE20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b="1" kern="0" dirty="0"/>
              <a:t>字符串拷贝函数分析示例</a:t>
            </a:r>
          </a:p>
        </p:txBody>
      </p:sp>
    </p:spTree>
    <p:extLst>
      <p:ext uri="{BB962C8B-B14F-4D97-AF65-F5344CB8AC3E}">
        <p14:creationId xmlns:p14="http://schemas.microsoft.com/office/powerpoint/2010/main" val="2711920217"/>
      </p:ext>
    </p:extLst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文本框 1006593"/>
          <p:cNvSpPr txBox="1"/>
          <p:nvPr/>
        </p:nvSpPr>
        <p:spPr>
          <a:xfrm>
            <a:off x="419100" y="1125538"/>
            <a:ext cx="8305800" cy="5022914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string.h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#define SIZE 40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#define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TARGSIZE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7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#define LIM 5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int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(char * str);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int main(void){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char qwords[LIM][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TARGSIZE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];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char temp[SIZE];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int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= 0;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("Enter %d words beginning with q:\n", LIM);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temp,SIZE,stdin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);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(temp);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endParaRPr lang="en-US" altLang="zh-CN" sz="18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3CD082-471F-49E0-8329-28F8528CE20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US" altLang="zh-CN" b="1" kern="0" dirty="0" err="1"/>
              <a:t>strncpy</a:t>
            </a:r>
            <a:r>
              <a:rPr lang="en-US" altLang="zh-CN" b="1" kern="0" dirty="0"/>
              <a:t>()</a:t>
            </a:r>
            <a:r>
              <a:rPr lang="zh-CN" altLang="en-US" b="1" kern="0" dirty="0"/>
              <a:t>示例</a:t>
            </a:r>
            <a:r>
              <a:rPr lang="en-US" altLang="zh-CN" b="1" kern="0" dirty="0"/>
              <a:t>(1)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1931643443"/>
      </p:ext>
    </p:extLst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文本框 1006593"/>
          <p:cNvSpPr txBox="1"/>
          <p:nvPr/>
        </p:nvSpPr>
        <p:spPr>
          <a:xfrm>
            <a:off x="323528" y="1136651"/>
            <a:ext cx="8305800" cy="5798510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while 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&lt; LIM &amp;&amp; temp[0]!='\0'){ //</a:t>
            </a:r>
            <a:r>
              <a:rPr lang="zh-CN" altLang="en-US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空行表示输入结束 </a:t>
            </a:r>
            <a:endParaRPr lang="en-US" altLang="zh-CN" sz="1800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if (temp[0] != 'q')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("%s doesn't begin with q!\n", temp);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else{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	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strncpy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(qwords[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], temp,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TARGSIZE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-1);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			qwords[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][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TARGSIZE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Times New Roman" panose="02020603050405020304" pitchFamily="18" charset="0"/>
              </a:rPr>
              <a:t>-1]='\0';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++; 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}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temp,SIZE,stdin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);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(temp);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}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puts("Here are the words accepted:");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for 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= 0;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&lt; LIM;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++)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puts(qwords[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]);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return 0;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en-US" altLang="zh-CN" sz="1800" dirty="0">
              <a:solidFill>
                <a:srgbClr val="CC33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3CD082-471F-49E0-8329-28F8528CE20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en-US" altLang="zh-CN" b="1" kern="0" dirty="0" err="1"/>
              <a:t>strncpy</a:t>
            </a:r>
            <a:r>
              <a:rPr lang="en-US" altLang="zh-CN" b="1" kern="0" dirty="0"/>
              <a:t>()</a:t>
            </a:r>
            <a:r>
              <a:rPr lang="zh-CN" altLang="en-US" b="1" kern="0" dirty="0"/>
              <a:t>示例</a:t>
            </a:r>
            <a:r>
              <a:rPr lang="en-US" altLang="zh-CN" b="1" kern="0" dirty="0"/>
              <a:t>(2)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2202897752"/>
      </p:ext>
    </p:extLst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文本框 1006593"/>
          <p:cNvSpPr txBox="1"/>
          <p:nvPr/>
        </p:nvSpPr>
        <p:spPr>
          <a:xfrm>
            <a:off x="326073" y="1399858"/>
            <a:ext cx="8305800" cy="4598182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&lt;</a:t>
            </a:r>
            <a:r>
              <a:rPr lang="en-US" altLang="zh-CN" sz="2400" dirty="0" err="1">
                <a:latin typeface="Consolas" panose="020B0609020204030204" pitchFamily="49" charset="0"/>
              </a:rPr>
              <a:t>string.h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  <a:r>
              <a:rPr lang="zh-CN" altLang="en-US" sz="2400" dirty="0">
                <a:latin typeface="Consolas" panose="020B0609020204030204" pitchFamily="49" charset="0"/>
              </a:rPr>
              <a:t>中常用库函数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</a:t>
            </a:r>
            <a:r>
              <a:rPr lang="zh-CN" altLang="en-US" sz="2400" dirty="0">
                <a:latin typeface="Consolas" panose="020B0609020204030204" pitchFamily="49" charset="0"/>
              </a:rPr>
              <a:t> strc</a:t>
            </a:r>
            <a:r>
              <a:rPr lang="en-US" altLang="zh-CN" sz="2400" dirty="0" err="1">
                <a:latin typeface="Consolas" panose="020B0609020204030204" pitchFamily="49" charset="0"/>
              </a:rPr>
              <a:t>mp</a:t>
            </a:r>
            <a:r>
              <a:rPr lang="zh-CN" altLang="en-US" sz="2400" dirty="0">
                <a:latin typeface="Consolas" panose="020B0609020204030204" pitchFamily="49" charset="0"/>
              </a:rPr>
              <a:t>(const char * 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zh-CN" altLang="en-US" sz="2400" dirty="0">
                <a:latin typeface="Consolas" panose="020B0609020204030204" pitchFamily="49" charset="0"/>
              </a:rPr>
              <a:t>, const char * 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zh-CN" altLang="en-U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buNone/>
            </a:pPr>
            <a:r>
              <a:rPr lang="zh-CN" altLang="en-US" sz="2400" dirty="0">
                <a:latin typeface="+mn-ea"/>
              </a:rPr>
              <a:t>比较字符串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和串</a:t>
            </a:r>
            <a:r>
              <a:rPr lang="en-US" altLang="zh-CN" sz="2400" dirty="0">
                <a:latin typeface="+mn-ea"/>
              </a:rPr>
              <a:t>2</a:t>
            </a:r>
            <a:r>
              <a:rPr lang="zh-CN" altLang="en-US" sz="2400" dirty="0">
                <a:latin typeface="+mn-ea"/>
              </a:rPr>
              <a:t>的字典序排序；若</a:t>
            </a:r>
            <a:r>
              <a:rPr lang="en-US" altLang="zh-CN" sz="2400" dirty="0" err="1">
                <a:latin typeface="+mn-ea"/>
              </a:rPr>
              <a:t>str1</a:t>
            </a:r>
            <a:r>
              <a:rPr lang="zh-CN" altLang="en-US" sz="2400" dirty="0">
                <a:latin typeface="+mn-ea"/>
              </a:rPr>
              <a:t>排在前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返回负数</a:t>
            </a:r>
            <a:r>
              <a:rPr lang="zh-CN" altLang="en-US" sz="2400" dirty="0">
                <a:latin typeface="+mn-ea"/>
              </a:rPr>
              <a:t>；若</a:t>
            </a:r>
            <a:r>
              <a:rPr lang="en-US" altLang="zh-CN" sz="2400" dirty="0" err="1">
                <a:latin typeface="+mn-ea"/>
              </a:rPr>
              <a:t>str1</a:t>
            </a:r>
            <a:r>
              <a:rPr lang="en-US" altLang="zh-CN" sz="2400" dirty="0">
                <a:latin typeface="+mn-ea"/>
              </a:rPr>
              <a:t>==</a:t>
            </a:r>
            <a:r>
              <a:rPr lang="en-US" altLang="zh-CN" sz="2400" dirty="0" err="1">
                <a:latin typeface="+mn-ea"/>
              </a:rPr>
              <a:t>str2</a:t>
            </a:r>
            <a:r>
              <a:rPr lang="zh-CN" altLang="en-US" sz="2400" dirty="0">
                <a:latin typeface="+mn-ea"/>
              </a:rPr>
              <a:t>则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返回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2400" dirty="0">
                <a:latin typeface="+mn-ea"/>
              </a:rPr>
              <a:t>；若</a:t>
            </a:r>
            <a:r>
              <a:rPr lang="en-US" altLang="zh-CN" sz="2400" dirty="0" err="1">
                <a:latin typeface="+mn-ea"/>
              </a:rPr>
              <a:t>str1</a:t>
            </a:r>
            <a:r>
              <a:rPr lang="zh-CN" altLang="en-US" sz="2400" dirty="0">
                <a:latin typeface="+mn-ea"/>
              </a:rPr>
              <a:t>排在后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返回正数</a:t>
            </a:r>
            <a:r>
              <a:rPr lang="zh-CN" altLang="en-US" sz="2400" dirty="0">
                <a:latin typeface="+mn-ea"/>
              </a:rPr>
              <a:t>。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zh-CN" altLang="en-US" sz="2400" dirty="0">
                <a:latin typeface="Consolas" panose="020B0609020204030204" pitchFamily="49" charset="0"/>
              </a:rPr>
              <a:t>str</a:t>
            </a:r>
            <a:r>
              <a:rPr lang="en-US" altLang="zh-CN" sz="2400" dirty="0" err="1">
                <a:latin typeface="Consolas" panose="020B0609020204030204" pitchFamily="49" charset="0"/>
              </a:rPr>
              <a:t>ncmp</a:t>
            </a:r>
            <a:r>
              <a:rPr lang="zh-CN" altLang="en-US" sz="2400" dirty="0">
                <a:latin typeface="Consolas" panose="020B0609020204030204" pitchFamily="49" charset="0"/>
              </a:rPr>
              <a:t>(const char * 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zh-CN" altLang="en-US" sz="2400" dirty="0">
                <a:latin typeface="Consolas" panose="020B0609020204030204" pitchFamily="49" charset="0"/>
              </a:rPr>
              <a:t>, const char * 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en-US" altLang="zh-CN" sz="2400" dirty="0"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latin typeface="Consolas" panose="020B0609020204030204" pitchFamily="49" charset="0"/>
              </a:rPr>
              <a:t> count</a:t>
            </a:r>
            <a:r>
              <a:rPr lang="zh-CN" altLang="en-US" sz="2400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buNone/>
            </a:pPr>
            <a:r>
              <a:rPr lang="zh-CN" altLang="en-US" sz="2400" dirty="0">
                <a:latin typeface="+mn-ea"/>
              </a:rPr>
              <a:t>比较字符串</a:t>
            </a:r>
            <a:r>
              <a:rPr lang="en-US" altLang="zh-CN" sz="2400" dirty="0">
                <a:latin typeface="+mn-ea"/>
              </a:rPr>
              <a:t>1</a:t>
            </a:r>
            <a:r>
              <a:rPr lang="zh-CN" altLang="en-US" sz="2400" dirty="0">
                <a:latin typeface="+mn-ea"/>
              </a:rPr>
              <a:t>和串</a:t>
            </a:r>
            <a:r>
              <a:rPr lang="en-US" altLang="zh-CN" sz="2400" dirty="0">
                <a:latin typeface="+mn-ea"/>
              </a:rPr>
              <a:t>2 </a:t>
            </a:r>
            <a:r>
              <a:rPr lang="zh-CN" altLang="en-US" sz="2400" b="1" dirty="0">
                <a:latin typeface="+mn-ea"/>
              </a:rPr>
              <a:t>前</a:t>
            </a:r>
            <a:r>
              <a:rPr lang="en-US" altLang="zh-CN" sz="2400" b="1" dirty="0">
                <a:latin typeface="+mn-ea"/>
              </a:rPr>
              <a:t>count</a:t>
            </a:r>
            <a:r>
              <a:rPr lang="zh-CN" altLang="en-US" sz="2400" b="1" dirty="0">
                <a:latin typeface="+mn-ea"/>
              </a:rPr>
              <a:t>字符</a:t>
            </a:r>
            <a:r>
              <a:rPr lang="zh-CN" altLang="en-US" sz="2400" dirty="0">
                <a:latin typeface="+mn-ea"/>
              </a:rPr>
              <a:t>的字典序；若</a:t>
            </a:r>
            <a:r>
              <a:rPr lang="en-US" altLang="zh-CN" sz="2400" dirty="0" err="1">
                <a:latin typeface="+mn-ea"/>
              </a:rPr>
              <a:t>str1</a:t>
            </a:r>
            <a:r>
              <a:rPr lang="zh-CN" altLang="en-US" sz="2400" dirty="0">
                <a:latin typeface="+mn-ea"/>
              </a:rPr>
              <a:t>子串排在前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latin typeface="+mn-ea"/>
              </a:rPr>
              <a:t>返回负数；若两串前</a:t>
            </a:r>
            <a:r>
              <a:rPr lang="en-US" altLang="zh-CN" sz="2400" dirty="0">
                <a:latin typeface="+mn-ea"/>
              </a:rPr>
              <a:t>count</a:t>
            </a:r>
            <a:r>
              <a:rPr lang="zh-CN" altLang="en-US" sz="2400" dirty="0">
                <a:latin typeface="+mn-ea"/>
              </a:rPr>
              <a:t>字符都相等则返回</a:t>
            </a:r>
            <a:r>
              <a:rPr lang="en-US" altLang="zh-CN" sz="2400" dirty="0">
                <a:latin typeface="+mn-ea"/>
              </a:rPr>
              <a:t>0</a:t>
            </a:r>
            <a:r>
              <a:rPr lang="zh-CN" altLang="en-US" sz="2400" dirty="0">
                <a:latin typeface="+mn-ea"/>
              </a:rPr>
              <a:t>；若</a:t>
            </a:r>
            <a:r>
              <a:rPr lang="en-US" altLang="zh-CN" sz="2400" dirty="0" err="1">
                <a:latin typeface="+mn-ea"/>
              </a:rPr>
              <a:t>str1</a:t>
            </a:r>
            <a:r>
              <a:rPr lang="zh-CN" altLang="en-US" sz="2400" dirty="0">
                <a:latin typeface="+mn-ea"/>
              </a:rPr>
              <a:t>子串排在后</a:t>
            </a:r>
            <a:r>
              <a:rPr lang="en-US" altLang="zh-CN" sz="2400" dirty="0">
                <a:latin typeface="+mn-ea"/>
              </a:rPr>
              <a:t>,</a:t>
            </a:r>
            <a:r>
              <a:rPr lang="zh-CN" altLang="en-US" sz="2400" dirty="0">
                <a:latin typeface="+mn-ea"/>
              </a:rPr>
              <a:t>返回正数。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3CD082-471F-49E0-8329-28F8528CE20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b="1" kern="0" dirty="0"/>
              <a:t>字符串比较函数</a:t>
            </a:r>
          </a:p>
        </p:txBody>
      </p:sp>
    </p:spTree>
    <p:extLst>
      <p:ext uri="{BB962C8B-B14F-4D97-AF65-F5344CB8AC3E}">
        <p14:creationId xmlns:p14="http://schemas.microsoft.com/office/powerpoint/2010/main" val="1856964698"/>
      </p:ext>
    </p:extLst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文本框 1006593"/>
          <p:cNvSpPr txBox="1"/>
          <p:nvPr/>
        </p:nvSpPr>
        <p:spPr>
          <a:xfrm>
            <a:off x="419100" y="765175"/>
            <a:ext cx="8305800" cy="6186309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#include&lt;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string.h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&gt;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#define SIZE 12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#define ANSWER "Grant"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int 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(char * str);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int main(void){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char try[SIZE];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puts("Who is buried in Grant's tomb?");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try,SIZE,stdin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);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(try);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while 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strcmp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try,ANSWER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 != 0){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puts("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No,that's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 wrong. Try again.");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try,SIZE,stdin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);	</a:t>
            </a:r>
            <a:r>
              <a:rPr lang="en-US" altLang="zh-CN" sz="1800" dirty="0" err="1">
                <a:latin typeface="Consolas" panose="020B0609020204030204" pitchFamily="49" charset="0"/>
                <a:ea typeface="Times New Roman" panose="02020603050405020304" pitchFamily="18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(try);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}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puts("That's right!");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	return 0;</a:t>
            </a:r>
          </a:p>
          <a:p>
            <a:pPr lvl="0">
              <a:lnSpc>
                <a:spcPct val="100000"/>
              </a:lnSpc>
              <a:spcAft>
                <a:spcPct val="20000"/>
              </a:spcAft>
              <a:buNone/>
            </a:pPr>
            <a:r>
              <a:rPr lang="en-US" altLang="zh-CN" sz="1800" dirty="0">
                <a:latin typeface="Consolas" panose="020B0609020204030204" pitchFamily="49" charset="0"/>
                <a:ea typeface="Times New Roman" panose="02020603050405020304" pitchFamily="18" charset="0"/>
              </a:rPr>
              <a:t>}</a:t>
            </a:r>
            <a:endParaRPr lang="en-US" altLang="zh-CN" sz="1800" dirty="0">
              <a:solidFill>
                <a:srgbClr val="CC33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3CD082-471F-49E0-8329-28F8528CE20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b="1" kern="0" dirty="0"/>
              <a:t>字符串比较函数示例</a:t>
            </a:r>
            <a:r>
              <a:rPr lang="en-US" altLang="zh-CN" b="1" kern="0" dirty="0"/>
              <a:t>1</a:t>
            </a:r>
            <a:endParaRPr lang="zh-CN" altLang="en-US" b="1" kern="0" dirty="0"/>
          </a:p>
        </p:txBody>
      </p:sp>
    </p:spTree>
    <p:extLst>
      <p:ext uri="{BB962C8B-B14F-4D97-AF65-F5344CB8AC3E}">
        <p14:creationId xmlns:p14="http://schemas.microsoft.com/office/powerpoint/2010/main" val="728187085"/>
      </p:ext>
    </p:extLst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5B612-2B06-49B7-AED5-9B594C17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kern="0" dirty="0"/>
              <a:t>字符串比较函数示例</a:t>
            </a:r>
            <a:r>
              <a:rPr lang="en-US" altLang="zh-CN" b="1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967A8C-3861-4349-810C-084D3D648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42331"/>
            <a:ext cx="8496944" cy="552702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string.h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#define SIZE 202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char </a:t>
            </a:r>
            <a:r>
              <a:rPr lang="en-US" altLang="zh-CN" sz="1800" dirty="0" err="1">
                <a:latin typeface="Consolas" panose="020B0609020204030204" pitchFamily="49" charset="0"/>
              </a:rPr>
              <a:t>str1</a:t>
            </a:r>
            <a:r>
              <a:rPr lang="en-US" altLang="zh-CN" sz="1800" dirty="0">
                <a:latin typeface="Consolas" panose="020B0609020204030204" pitchFamily="49" charset="0"/>
              </a:rPr>
              <a:t>[SIZE],</a:t>
            </a:r>
            <a:r>
              <a:rPr lang="en-US" altLang="zh-CN" sz="1800" dirty="0" err="1">
                <a:latin typeface="Consolas" panose="020B0609020204030204" pitchFamily="49" charset="0"/>
              </a:rPr>
              <a:t>str2</a:t>
            </a:r>
            <a:r>
              <a:rPr lang="en-US" altLang="zh-CN" sz="1800" dirty="0">
                <a:latin typeface="Consolas" panose="020B0609020204030204" pitchFamily="49" charset="0"/>
              </a:rPr>
              <a:t>[SIZE];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("input </a:t>
            </a:r>
            <a:r>
              <a:rPr lang="en-US" altLang="zh-CN" sz="1800" dirty="0" err="1">
                <a:latin typeface="Consolas" panose="020B0609020204030204" pitchFamily="49" charset="0"/>
              </a:rPr>
              <a:t>string1</a:t>
            </a:r>
            <a:r>
              <a:rPr lang="en-US" altLang="zh-CN" sz="1800" dirty="0">
                <a:latin typeface="Consolas" panose="020B0609020204030204" pitchFamily="49" charset="0"/>
              </a:rPr>
              <a:t>:\n");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</a:t>
            </a:r>
            <a:r>
              <a:rPr lang="en-US" altLang="zh-CN" sz="1800" dirty="0" err="1"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str1,SIZE,stdin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("reinput </a:t>
            </a:r>
            <a:r>
              <a:rPr lang="en-US" altLang="zh-CN" sz="1800" dirty="0" err="1">
                <a:latin typeface="Consolas" panose="020B0609020204030204" pitchFamily="49" charset="0"/>
              </a:rPr>
              <a:t>string2</a:t>
            </a:r>
            <a:r>
              <a:rPr lang="en-US" altLang="zh-CN" sz="1800" dirty="0">
                <a:latin typeface="Consolas" panose="020B0609020204030204" pitchFamily="49" charset="0"/>
              </a:rPr>
              <a:t>:\n");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</a:t>
            </a:r>
            <a:r>
              <a:rPr lang="en-US" altLang="zh-CN" sz="1800" dirty="0" err="1"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str2,SIZE,stdin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if (</a:t>
            </a:r>
            <a:r>
              <a:rPr lang="en-US" altLang="zh-CN" sz="1800" dirty="0" err="1">
                <a:latin typeface="Consolas" panose="020B0609020204030204" pitchFamily="49" charset="0"/>
              </a:rPr>
              <a:t>strcmp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str1,str2</a:t>
            </a:r>
            <a:r>
              <a:rPr lang="en-US" altLang="zh-CN" sz="1800" dirty="0">
                <a:latin typeface="Consolas" panose="020B0609020204030204" pitchFamily="49" charset="0"/>
              </a:rPr>
              <a:t>)==0)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("be same.");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else if (</a:t>
            </a:r>
            <a:r>
              <a:rPr lang="en-US" altLang="zh-CN" sz="1800" dirty="0" err="1">
                <a:latin typeface="Consolas" panose="020B0609020204030204" pitchFamily="49" charset="0"/>
              </a:rPr>
              <a:t>strcmp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str1,str2</a:t>
            </a:r>
            <a:r>
              <a:rPr lang="en-US" altLang="zh-CN" sz="1800" dirty="0">
                <a:latin typeface="Consolas" panose="020B0609020204030204" pitchFamily="49" charset="0"/>
              </a:rPr>
              <a:t>)&gt;0)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("%s &gt; %s",</a:t>
            </a:r>
            <a:r>
              <a:rPr lang="en-US" altLang="zh-CN" sz="1800" dirty="0" err="1">
                <a:latin typeface="Consolas" panose="020B0609020204030204" pitchFamily="49" charset="0"/>
              </a:rPr>
              <a:t>str1,str2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else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("%s &lt; %s",</a:t>
            </a:r>
            <a:r>
              <a:rPr lang="en-US" altLang="zh-CN" sz="1800" dirty="0" err="1">
                <a:latin typeface="Consolas" panose="020B0609020204030204" pitchFamily="49" charset="0"/>
              </a:rPr>
              <a:t>str1,str2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40016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5B612-2B06-49B7-AED5-9B594C174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/>
              <a:t>s</a:t>
            </a:r>
            <a:r>
              <a:rPr lang="en-US" altLang="zh-CN" b="1" kern="0" dirty="0" err="1"/>
              <a:t>trncmp</a:t>
            </a:r>
            <a:r>
              <a:rPr lang="en-US" altLang="zh-CN" b="1" kern="0" dirty="0"/>
              <a:t>()</a:t>
            </a:r>
            <a:r>
              <a:rPr lang="zh-CN" altLang="en-US" b="1" dirty="0"/>
              <a:t>前</a:t>
            </a:r>
            <a:r>
              <a:rPr lang="en-US" altLang="zh-CN" b="1" dirty="0"/>
              <a:t>n</a:t>
            </a:r>
            <a:r>
              <a:rPr lang="zh-CN" altLang="en-US" b="1" dirty="0"/>
              <a:t>字符比较</a:t>
            </a:r>
            <a:r>
              <a:rPr lang="zh-CN" altLang="en-US" b="1" kern="0" dirty="0"/>
              <a:t>示例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967A8C-3861-4349-810C-084D3D648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42331"/>
            <a:ext cx="8496944" cy="552702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string.h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#define </a:t>
            </a:r>
            <a:r>
              <a:rPr lang="en-US" altLang="zh-CN" sz="1800" dirty="0" err="1">
                <a:latin typeface="Consolas" panose="020B0609020204030204" pitchFamily="49" charset="0"/>
              </a:rPr>
              <a:t>LISTSIZE</a:t>
            </a:r>
            <a:r>
              <a:rPr lang="en-US" altLang="zh-CN" sz="1800" dirty="0">
                <a:latin typeface="Consolas" panose="020B0609020204030204" pitchFamily="49" charset="0"/>
              </a:rPr>
              <a:t> 6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const char * list[</a:t>
            </a:r>
            <a:r>
              <a:rPr lang="en-US" altLang="zh-CN" sz="1800" dirty="0" err="1">
                <a:latin typeface="Consolas" panose="020B0609020204030204" pitchFamily="49" charset="0"/>
              </a:rPr>
              <a:t>LISTSIZE</a:t>
            </a:r>
            <a:r>
              <a:rPr lang="en-US" altLang="zh-CN" sz="1800" dirty="0">
                <a:latin typeface="Consolas" panose="020B0609020204030204" pitchFamily="49" charset="0"/>
              </a:rPr>
              <a:t>]={"astronomy", "astounding", "astrophysics", "ostracize", "asterism", "</a:t>
            </a:r>
            <a:r>
              <a:rPr lang="en-US" altLang="zh-CN" sz="1800" dirty="0" err="1">
                <a:latin typeface="Consolas" panose="020B0609020204030204" pitchFamily="49" charset="0"/>
              </a:rPr>
              <a:t>astrophobia</a:t>
            </a:r>
            <a:r>
              <a:rPr lang="en-US" altLang="zh-CN" sz="1800" dirty="0">
                <a:latin typeface="Consolas" panose="020B0609020204030204" pitchFamily="49" charset="0"/>
              </a:rPr>
              <a:t>"};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int count = 0;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int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for (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 = 0;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 &lt; </a:t>
            </a:r>
            <a:r>
              <a:rPr lang="en-US" altLang="zh-CN" sz="1800" dirty="0" err="1">
                <a:latin typeface="Consolas" panose="020B0609020204030204" pitchFamily="49" charset="0"/>
              </a:rPr>
              <a:t>LISTSIZE</a:t>
            </a:r>
            <a:r>
              <a:rPr lang="en-US" altLang="zh-CN" sz="1800" dirty="0">
                <a:latin typeface="Consolas" panose="020B0609020204030204" pitchFamily="49" charset="0"/>
              </a:rPr>
              <a:t>;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if (</a:t>
            </a:r>
            <a:r>
              <a:rPr lang="en-US" altLang="zh-CN" sz="1800" dirty="0" err="1">
                <a:latin typeface="Consolas" panose="020B0609020204030204" pitchFamily="49" charset="0"/>
              </a:rPr>
              <a:t>strncmp</a:t>
            </a:r>
            <a:r>
              <a:rPr lang="en-US" altLang="zh-CN" sz="1800" dirty="0">
                <a:latin typeface="Consolas" panose="020B0609020204030204" pitchFamily="49" charset="0"/>
              </a:rPr>
              <a:t>(list[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],"</a:t>
            </a:r>
            <a:r>
              <a:rPr lang="en-US" altLang="zh-CN" sz="1800" dirty="0" err="1">
                <a:latin typeface="Consolas" panose="020B0609020204030204" pitchFamily="49" charset="0"/>
              </a:rPr>
              <a:t>astro</a:t>
            </a:r>
            <a:r>
              <a:rPr lang="en-US" altLang="zh-CN" sz="1800" dirty="0">
                <a:latin typeface="Consolas" panose="020B0609020204030204" pitchFamily="49" charset="0"/>
              </a:rPr>
              <a:t>",5) ==0){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	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("Found: %s\n", list[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	count++;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("The list contained %d words beginning" " with </a:t>
            </a:r>
            <a:r>
              <a:rPr lang="en-US" altLang="zh-CN" sz="1800" dirty="0" err="1">
                <a:latin typeface="Consolas" panose="020B0609020204030204" pitchFamily="49" charset="0"/>
              </a:rPr>
              <a:t>astro</a:t>
            </a:r>
            <a:r>
              <a:rPr lang="en-US" altLang="zh-CN" sz="1800" dirty="0">
                <a:latin typeface="Consolas" panose="020B0609020204030204" pitchFamily="49" charset="0"/>
              </a:rPr>
              <a:t>.\n", count);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540852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文本框 1006593"/>
          <p:cNvSpPr txBox="1"/>
          <p:nvPr/>
        </p:nvSpPr>
        <p:spPr>
          <a:xfrm>
            <a:off x="326073" y="1399858"/>
            <a:ext cx="8305800" cy="2973122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sz="2400" dirty="0">
                <a:latin typeface="+mn-ea"/>
              </a:rPr>
              <a:t>在文本中寻找某个模式出现的位置称为字符串匹配</a:t>
            </a:r>
            <a:r>
              <a:rPr lang="en-US" altLang="zh-CN" sz="2400" dirty="0">
                <a:latin typeface="+mn-ea"/>
              </a:rPr>
              <a:t>.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&lt;</a:t>
            </a:r>
            <a:r>
              <a:rPr lang="en-US" altLang="zh-CN" sz="2400" dirty="0" err="1">
                <a:latin typeface="Consolas" panose="020B0609020204030204" pitchFamily="49" charset="0"/>
              </a:rPr>
              <a:t>string.h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  <a:r>
              <a:rPr lang="zh-CN" altLang="en-US" sz="2400" dirty="0">
                <a:latin typeface="Consolas" panose="020B0609020204030204" pitchFamily="49" charset="0"/>
              </a:rPr>
              <a:t>中常用库函数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char *</a:t>
            </a:r>
            <a:r>
              <a:rPr lang="en-US" altLang="zh-CN" sz="2400" dirty="0" err="1">
                <a:latin typeface="Consolas" panose="020B0609020204030204" pitchFamily="49" charset="0"/>
              </a:rPr>
              <a:t>strstr</a:t>
            </a:r>
            <a:r>
              <a:rPr lang="en-US" altLang="zh-CN" sz="2400" dirty="0">
                <a:latin typeface="Consolas" panose="020B0609020204030204" pitchFamily="49" charset="0"/>
              </a:rPr>
              <a:t>( const char *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en-US" altLang="zh-CN" sz="2400" dirty="0">
                <a:latin typeface="Consolas" panose="020B0609020204030204" pitchFamily="49" charset="0"/>
              </a:rPr>
              <a:t>, const char *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en-US" altLang="zh-CN" sz="2400" dirty="0">
                <a:latin typeface="Consolas" panose="020B0609020204030204" pitchFamily="49" charset="0"/>
              </a:rPr>
              <a:t> );</a:t>
            </a:r>
          </a:p>
          <a:p>
            <a:pPr eaLnBrk="1" hangingPunct="1">
              <a:lnSpc>
                <a:spcPct val="10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串匹配函数，返回一个指针，指向字符串</a:t>
            </a:r>
            <a:r>
              <a:rPr lang="en-US" altLang="zh-CN" sz="2400" dirty="0" err="1">
                <a:latin typeface="Consolas" panose="020B0609020204030204" pitchFamily="49" charset="0"/>
              </a:rPr>
              <a:t>str2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zh-CN" altLang="en-US" sz="2400" dirty="0">
                <a:latin typeface="Consolas" panose="020B0609020204030204" pitchFamily="49" charset="0"/>
              </a:rPr>
              <a:t>首次出现于字符串</a:t>
            </a:r>
            <a:r>
              <a:rPr lang="en-US" altLang="zh-CN" sz="2400" dirty="0" err="1">
                <a:latin typeface="Consolas" panose="020B0609020204030204" pitchFamily="49" charset="0"/>
              </a:rPr>
              <a:t>str1</a:t>
            </a:r>
            <a:r>
              <a:rPr lang="zh-CN" altLang="en-US" sz="2400" dirty="0">
                <a:latin typeface="Consolas" panose="020B0609020204030204" pitchFamily="49" charset="0"/>
              </a:rPr>
              <a:t>中的位置，如果没有找到，返回</a:t>
            </a:r>
            <a:r>
              <a:rPr lang="en-US" altLang="zh-CN" sz="2400" dirty="0">
                <a:latin typeface="Consolas" panose="020B0609020204030204" pitchFamily="49" charset="0"/>
              </a:rPr>
              <a:t>NULL</a:t>
            </a:r>
            <a:r>
              <a:rPr lang="zh-CN" altLang="en-US" sz="2400" dirty="0">
                <a:latin typeface="Consolas" panose="020B0609020204030204" pitchFamily="49" charset="0"/>
              </a:rPr>
              <a:t>。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3CD082-471F-49E0-8329-28F8528CE207}"/>
              </a:ext>
            </a:extLst>
          </p:cNvPr>
          <p:cNvSpPr txBox="1">
            <a:spLocks noChangeArrowheads="1"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None/>
            </a:pPr>
            <a:r>
              <a:rPr lang="zh-CN" altLang="en-US" b="1" kern="0" dirty="0"/>
              <a:t>字符串匹配函数</a:t>
            </a:r>
          </a:p>
        </p:txBody>
      </p:sp>
    </p:spTree>
    <p:extLst>
      <p:ext uri="{BB962C8B-B14F-4D97-AF65-F5344CB8AC3E}">
        <p14:creationId xmlns:p14="http://schemas.microsoft.com/office/powerpoint/2010/main" val="1405121031"/>
      </p:ext>
    </p:extLst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6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659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58D8A-90E5-463F-AB8A-9A946A5B4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strstr</a:t>
            </a:r>
            <a:r>
              <a:rPr lang="en-US" altLang="zh-CN" dirty="0"/>
              <a:t>()</a:t>
            </a:r>
            <a:r>
              <a:rPr lang="zh-CN" altLang="en-US" dirty="0"/>
              <a:t>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BA0ECE-A855-4EE4-9D20-AB09E4846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23156"/>
            <a:ext cx="8424936" cy="54741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string.h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#define SIZE 256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</a:t>
            </a:r>
            <a:r>
              <a:rPr lang="en-US" altLang="zh-CN" sz="1800" dirty="0" err="1">
                <a:latin typeface="Consolas" panose="020B0609020204030204" pitchFamily="49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</a:rPr>
              <a:t>(char *);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char </a:t>
            </a:r>
            <a:r>
              <a:rPr lang="en-US" altLang="zh-CN" sz="1800" dirty="0" err="1">
                <a:latin typeface="Consolas" panose="020B0609020204030204" pitchFamily="49" charset="0"/>
              </a:rPr>
              <a:t>s1</a:t>
            </a:r>
            <a:r>
              <a:rPr lang="en-US" altLang="zh-CN" sz="1800" dirty="0">
                <a:latin typeface="Consolas" panose="020B0609020204030204" pitchFamily="49" charset="0"/>
              </a:rPr>
              <a:t>[SIZE],</a:t>
            </a:r>
            <a:r>
              <a:rPr lang="en-US" altLang="zh-CN" sz="1800" dirty="0" err="1">
                <a:latin typeface="Consolas" panose="020B0609020204030204" pitchFamily="49" charset="0"/>
              </a:rPr>
              <a:t>s2</a:t>
            </a:r>
            <a:r>
              <a:rPr lang="en-US" altLang="zh-CN" sz="1800" dirty="0">
                <a:latin typeface="Consolas" panose="020B0609020204030204" pitchFamily="49" charset="0"/>
              </a:rPr>
              <a:t>[SIZE];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int loc;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s1,SIZE,stdin</a:t>
            </a:r>
            <a:r>
              <a:rPr lang="en-US" altLang="zh-CN" sz="1800" dirty="0">
                <a:latin typeface="Consolas" panose="020B0609020204030204" pitchFamily="49" charset="0"/>
              </a:rPr>
              <a:t>); </a:t>
            </a:r>
            <a:r>
              <a:rPr lang="en-US" altLang="zh-CN" sz="1800" dirty="0" err="1">
                <a:latin typeface="Consolas" panose="020B0609020204030204" pitchFamily="49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s1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</a:t>
            </a:r>
            <a:r>
              <a:rPr lang="en-US" altLang="zh-CN" sz="1800" dirty="0" err="1"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s2,SIZE,stdin</a:t>
            </a:r>
            <a:r>
              <a:rPr lang="en-US" altLang="zh-CN" sz="1800" dirty="0">
                <a:latin typeface="Consolas" panose="020B0609020204030204" pitchFamily="49" charset="0"/>
              </a:rPr>
              <a:t>); </a:t>
            </a:r>
            <a:r>
              <a:rPr lang="en-US" altLang="zh-CN" sz="1800" dirty="0" err="1">
                <a:latin typeface="Consolas" panose="020B0609020204030204" pitchFamily="49" charset="0"/>
              </a:rPr>
              <a:t>isLineCutN</a:t>
            </a:r>
            <a:r>
              <a:rPr lang="en-US" altLang="zh-CN" sz="1800" dirty="0"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latin typeface="Consolas" panose="020B0609020204030204" pitchFamily="49" charset="0"/>
              </a:rPr>
              <a:t>s2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char * pm =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strstr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s1,s2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if (pm!=NULL){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puts(pm);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int loc=pm-</a:t>
            </a:r>
            <a:r>
              <a:rPr lang="en-US" altLang="zh-CN" sz="1800" dirty="0" err="1">
                <a:latin typeface="Consolas" panose="020B0609020204030204" pitchFamily="49" charset="0"/>
              </a:rPr>
              <a:t>s1</a:t>
            </a:r>
            <a:r>
              <a:rPr lang="en-US" altLang="zh-C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("match loc=%d\</a:t>
            </a:r>
            <a:r>
              <a:rPr lang="en-US" altLang="zh-CN" sz="1800" dirty="0" err="1">
                <a:latin typeface="Consolas" panose="020B0609020204030204" pitchFamily="49" charset="0"/>
              </a:rPr>
              <a:t>n",loc</a:t>
            </a:r>
            <a:r>
              <a:rPr lang="en-US" altLang="zh-CN" sz="1800" dirty="0">
                <a:latin typeface="Consolas" panose="020B0609020204030204" pitchFamily="49" charset="0"/>
              </a:rPr>
              <a:t>);		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} else puts("Not found.");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685614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字符串匹配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i="1" dirty="0"/>
              <a:t>在文本中寻找某个模式出现的位置称为字符串匹配</a:t>
            </a:r>
            <a:r>
              <a:rPr lang="en-US" altLang="zh-CN" sz="2400" i="1" dirty="0"/>
              <a:t>.</a:t>
            </a:r>
            <a:r>
              <a:rPr lang="en-US" sz="2400" i="1" dirty="0"/>
              <a:t> </a:t>
            </a:r>
            <a:r>
              <a:rPr lang="zh-CN" altLang="en-US" sz="2400" dirty="0"/>
              <a:t>我们介绍一种蛮力算法</a:t>
            </a:r>
            <a:r>
              <a:rPr lang="en-US" sz="2400" dirty="0"/>
              <a:t>, </a:t>
            </a:r>
            <a:r>
              <a:rPr lang="zh-CN" altLang="en-US" sz="2400" dirty="0"/>
              <a:t>解决字符串匹配问题</a:t>
            </a:r>
            <a:r>
              <a:rPr lang="en-US" sz="2400" dirty="0"/>
              <a:t>, </a:t>
            </a:r>
            <a:r>
              <a:rPr lang="zh-CN" altLang="en-US" sz="2400" dirty="0"/>
              <a:t>也叫朴素字符串匹配器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1043608" y="2492896"/>
            <a:ext cx="6781800" cy="318211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>
            <a:normAutofit fontScale="32500" lnSpcReduction="2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lang="en-US" sz="8000" b="1" dirty="0"/>
              <a:t>procedure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string</a:t>
            </a:r>
            <a:r>
              <a:rPr kumimoji="0" lang="en-US" sz="80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match</a:t>
            </a:r>
            <a:r>
              <a:rPr lang="en-US" sz="8000" i="1" dirty="0"/>
              <a:t>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n,m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positive integers, m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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n, </a:t>
            </a:r>
            <a:r>
              <a:rPr kumimoji="0" lang="en-US" sz="8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80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8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altLang="zh-CN" sz="80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…,</a:t>
            </a:r>
            <a:r>
              <a:rPr kumimoji="0" lang="en-US" sz="8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80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altLang="zh-CN" sz="8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80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8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8000" b="0" i="0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,…,</a:t>
            </a:r>
            <a:r>
              <a:rPr kumimoji="0" lang="en-US" altLang="zh-CN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altLang="zh-CN" sz="80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</a:t>
            </a: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characters)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for </a:t>
            </a:r>
            <a:r>
              <a:rPr kumimoji="0" lang="en-US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</a:t>
            </a:r>
            <a:r>
              <a:rPr kumimoji="0" lang="en-US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n-m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(j</a:t>
            </a: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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and </a:t>
            </a:r>
            <a:r>
              <a:rPr kumimoji="0" lang="en-US" sz="8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sz="80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s+j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sz="80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en-US" sz="80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altLang="zh-CN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)</a:t>
            </a:r>
            <a:endParaRPr kumimoji="0" lang="en-US" sz="80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</a:t>
            </a:r>
            <a:r>
              <a:rPr kumimoji="0" lang="en-US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80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j&gt;m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lang="en-US" sz="8000" b="1" dirty="0"/>
              <a:t>then print </a:t>
            </a: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“s is a valid shift”  </a:t>
            </a:r>
          </a:p>
        </p:txBody>
      </p:sp>
    </p:spTree>
    <p:extLst>
      <p:ext uri="{BB962C8B-B14F-4D97-AF65-F5344CB8AC3E}">
        <p14:creationId xmlns:p14="http://schemas.microsoft.com/office/powerpoint/2010/main" val="30219734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45F77-84D0-4EF1-98B7-C43F2B8DE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896" y="404813"/>
            <a:ext cx="5400154" cy="720725"/>
          </a:xfrm>
        </p:spPr>
        <p:txBody>
          <a:bodyPr/>
          <a:lstStyle/>
          <a:p>
            <a:r>
              <a:rPr lang="zh-CN" altLang="en-US" b="1" dirty="0"/>
              <a:t>字符</a:t>
            </a:r>
            <a:r>
              <a:rPr lang="zh-CN" altLang="en-US" sz="3200" b="1" dirty="0">
                <a:solidFill>
                  <a:srgbClr val="FF3300"/>
                </a:solidFill>
              </a:rPr>
              <a:t>串匹配</a:t>
            </a:r>
            <a:r>
              <a:rPr lang="en-US" altLang="zh-CN" sz="3200" b="1" dirty="0">
                <a:solidFill>
                  <a:srgbClr val="FF3300"/>
                </a:solidFill>
              </a:rPr>
              <a:t>-</a:t>
            </a:r>
            <a:r>
              <a:rPr lang="zh-CN" altLang="en-US" sz="3200" b="1" dirty="0">
                <a:solidFill>
                  <a:srgbClr val="FF3300"/>
                </a:solidFill>
              </a:rPr>
              <a:t>仿写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1D2178-20F2-4F75-9D8E-6B983F361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60" y="1412776"/>
            <a:ext cx="820668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char * match(char * text, char * </a:t>
            </a:r>
            <a:r>
              <a:rPr lang="en-US" altLang="zh-CN" sz="2000" dirty="0" err="1">
                <a:latin typeface="Consolas" panose="020B0609020204030204" pitchFamily="49" charset="0"/>
              </a:rPr>
              <a:t>pattern,int</a:t>
            </a:r>
            <a:r>
              <a:rPr lang="en-US" altLang="zh-CN" sz="2000" dirty="0">
                <a:latin typeface="Consolas" panose="020B0609020204030204" pitchFamily="49" charset="0"/>
              </a:rPr>
              <a:t> n, int m){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char * </a:t>
            </a:r>
            <a:r>
              <a:rPr lang="en-US" altLang="zh-CN" sz="2000" dirty="0" err="1">
                <a:latin typeface="Consolas" panose="020B0609020204030204" pitchFamily="49" charset="0"/>
              </a:rPr>
              <a:t>ps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for(</a:t>
            </a:r>
            <a:r>
              <a:rPr lang="en-US" altLang="zh-CN" sz="2000" dirty="0" err="1">
                <a:latin typeface="Consolas" panose="020B0609020204030204" pitchFamily="49" charset="0"/>
              </a:rPr>
              <a:t>ps</a:t>
            </a:r>
            <a:r>
              <a:rPr lang="en-US" altLang="zh-CN" sz="2000" dirty="0">
                <a:latin typeface="Consolas" panose="020B0609020204030204" pitchFamily="49" charset="0"/>
              </a:rPr>
              <a:t>=text; *</a:t>
            </a:r>
            <a:r>
              <a:rPr lang="en-US" altLang="zh-CN" sz="2000" dirty="0" err="1">
                <a:latin typeface="Consolas" panose="020B0609020204030204" pitchFamily="49" charset="0"/>
              </a:rPr>
              <a:t>ps</a:t>
            </a:r>
            <a:r>
              <a:rPr lang="en-US" altLang="zh-CN" sz="2000" dirty="0">
                <a:latin typeface="Consolas" panose="020B0609020204030204" pitchFamily="49" charset="0"/>
              </a:rPr>
              <a:t>!='\0'; </a:t>
            </a:r>
            <a:r>
              <a:rPr lang="en-US" altLang="zh-CN" sz="2000" dirty="0" err="1">
                <a:latin typeface="Consolas" panose="020B0609020204030204" pitchFamily="49" charset="0"/>
              </a:rPr>
              <a:t>ps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if (</a:t>
            </a:r>
            <a:r>
              <a:rPr lang="en-US" altLang="zh-CN" sz="2000" dirty="0" err="1">
                <a:latin typeface="Consolas" panose="020B0609020204030204" pitchFamily="49" charset="0"/>
              </a:rPr>
              <a:t>strncmp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ps,pattern,m</a:t>
            </a:r>
            <a:r>
              <a:rPr lang="en-US" altLang="zh-CN" sz="2000" dirty="0">
                <a:latin typeface="Consolas" panose="020B0609020204030204" pitchFamily="49" charset="0"/>
              </a:rPr>
              <a:t>)==0)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		return </a:t>
            </a:r>
            <a:r>
              <a:rPr lang="en-US" altLang="zh-CN" sz="2000" dirty="0" err="1">
                <a:latin typeface="Consolas" panose="020B0609020204030204" pitchFamily="49" charset="0"/>
              </a:rPr>
              <a:t>ps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}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return NULL;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393409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D53B1AF-3EDA-4BC1-B9BB-B808AAEC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英文分词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450322-C3ED-4E3A-8719-A15E08355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l"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练习：输入一行字符串，统计其中有多少个单词，单词之间用空格分隔开，但允许多个空格。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dirty="0"/>
          </a:p>
          <a:p>
            <a:r>
              <a:rPr lang="zh-CN" altLang="en-US" dirty="0"/>
              <a:t>思路：可用</a:t>
            </a:r>
            <a:r>
              <a:rPr lang="en-US" altLang="zh-CN" dirty="0" err="1"/>
              <a:t>scanf</a:t>
            </a:r>
            <a:r>
              <a:rPr lang="zh-CN" altLang="en-US" dirty="0"/>
              <a:t>函数特点来逐词读取；或者跟踪判断空格来统计。</a:t>
            </a:r>
            <a:endParaRPr lang="en-US" altLang="zh-CN" dirty="0"/>
          </a:p>
          <a:p>
            <a:r>
              <a:rPr lang="zh-CN" altLang="en-US" dirty="0"/>
              <a:t>难点：多空格如何避免重复计数</a:t>
            </a:r>
            <a:r>
              <a:rPr lang="en-US" altLang="zh-CN" dirty="0"/>
              <a:t>?</a:t>
            </a:r>
          </a:p>
          <a:p>
            <a:pPr lvl="1"/>
            <a:r>
              <a:rPr lang="zh-CN" altLang="en-US" dirty="0"/>
              <a:t>跟踪 从 字母到空格或换行符 的状态变化</a:t>
            </a:r>
            <a:endParaRPr lang="en-US" altLang="zh-CN" dirty="0"/>
          </a:p>
          <a:p>
            <a:pPr lvl="1"/>
            <a:r>
              <a:rPr lang="zh-CN" altLang="en-US" dirty="0"/>
              <a:t>每次变化肯定对应一个新词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>
    <p:strips dir="r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D91609-37B2-49FC-A7C5-532BB89A2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版本</a:t>
            </a:r>
            <a:r>
              <a:rPr lang="en-US" altLang="zh-CN" dirty="0"/>
              <a:t>1-</a:t>
            </a:r>
            <a:r>
              <a:rPr lang="zh-CN" altLang="en-US" dirty="0"/>
              <a:t>用</a:t>
            </a:r>
            <a:r>
              <a:rPr lang="en-US" altLang="zh-CN" dirty="0" err="1"/>
              <a:t>scanf</a:t>
            </a:r>
            <a:r>
              <a:rPr lang="zh-CN" altLang="en-US" dirty="0"/>
              <a:t>分词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EAFE6-2AAD-4217-A5B2-A1E857BB4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SIZE 256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char str[SIZE],</a:t>
            </a:r>
            <a:r>
              <a:rPr lang="en-US" altLang="zh-CN" sz="2000" dirty="0" err="1">
                <a:latin typeface="Consolas" panose="020B0609020204030204" pitchFamily="49" charset="0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puts("input string:");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int count=0;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do{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s",str</a:t>
            </a:r>
            <a:r>
              <a:rPr lang="en-US" altLang="zh-CN" sz="2000" dirty="0">
                <a:latin typeface="Consolas" panose="020B0609020204030204" pitchFamily="49" charset="0"/>
              </a:rPr>
              <a:t>);    count++;    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}while((</a:t>
            </a:r>
            <a:r>
              <a:rPr lang="en-US" altLang="zh-CN" sz="2000" dirty="0" err="1">
                <a:latin typeface="Consolas" panose="020B0609020204030204" pitchFamily="49" charset="0"/>
              </a:rPr>
              <a:t>ch</a:t>
            </a:r>
            <a:r>
              <a:rPr lang="en-US" altLang="zh-CN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 err="1">
                <a:latin typeface="Consolas" panose="020B0609020204030204" pitchFamily="49" charset="0"/>
              </a:rPr>
              <a:t>getchar</a:t>
            </a:r>
            <a:r>
              <a:rPr lang="en-US" altLang="zh-CN" sz="2000" dirty="0">
                <a:latin typeface="Consolas" panose="020B0609020204030204" pitchFamily="49" charset="0"/>
              </a:rPr>
              <a:t>())!='\n');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("word num=%d\</a:t>
            </a:r>
            <a:r>
              <a:rPr lang="en-US" altLang="zh-CN" sz="2000" dirty="0" err="1">
                <a:latin typeface="Consolas" panose="020B0609020204030204" pitchFamily="49" charset="0"/>
              </a:rPr>
              <a:t>n",count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缺点：至少输入一个单词</a:t>
            </a:r>
          </a:p>
        </p:txBody>
      </p:sp>
    </p:spTree>
    <p:extLst>
      <p:ext uri="{BB962C8B-B14F-4D97-AF65-F5344CB8AC3E}">
        <p14:creationId xmlns:p14="http://schemas.microsoft.com/office/powerpoint/2010/main" val="1717383094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834" name="矩形 1016833"/>
          <p:cNvSpPr/>
          <p:nvPr/>
        </p:nvSpPr>
        <p:spPr>
          <a:xfrm>
            <a:off x="463227" y="1268760"/>
            <a:ext cx="8357245" cy="4678204"/>
          </a:xfrm>
          <a:prstGeom prst="rect">
            <a:avLst/>
          </a:prstGeom>
          <a:noFill/>
          <a:ln w="28575">
            <a:noFill/>
            <a:miter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wordsNum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(char str[]){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int 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i,num,flag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;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for (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i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=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0,num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=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0,flag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=0; str[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i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]!='\0'; 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i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++){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    if (str[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i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]!=' ' &amp;&amp; str[</a:t>
            </a:r>
            <a:r>
              <a:rPr lang="en-US" altLang="zh-CN" dirty="0" err="1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i</a:t>
            </a: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]!='\n')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        flag=1;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    else if (flag==1){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        num++; flag=0;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    }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}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    return num;</a:t>
            </a:r>
          </a:p>
          <a:p>
            <a:pPr lvl="0">
              <a:spcBef>
                <a:spcPct val="50000"/>
              </a:spcBef>
              <a:buNone/>
            </a:pPr>
            <a:r>
              <a:rPr lang="en-US" altLang="zh-CN" dirty="0">
                <a:latin typeface="Consolas" panose="020B0609020204030204" pitchFamily="49" charset="0"/>
                <a:ea typeface="Courier New" panose="02070309020205020404" pitchFamily="49" charset="0"/>
                <a:sym typeface="+mn-ea"/>
              </a:rPr>
              <a:t>}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BF95269-8906-21CF-D21B-9EECF760802F}"/>
              </a:ext>
            </a:extLst>
          </p:cNvPr>
          <p:cNvSpPr txBox="1">
            <a:spLocks/>
          </p:cNvSpPr>
          <p:nvPr/>
        </p:nvSpPr>
        <p:spPr>
          <a:xfrm>
            <a:off x="3779912" y="404813"/>
            <a:ext cx="5256138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zh-CN" altLang="en-US" kern="0" dirty="0"/>
              <a:t>版本</a:t>
            </a:r>
            <a:r>
              <a:rPr lang="en-US" altLang="zh-CN" kern="0" dirty="0"/>
              <a:t>2-</a:t>
            </a:r>
            <a:r>
              <a:rPr lang="zh-CN" altLang="en-US" kern="0" dirty="0"/>
              <a:t>用算法解决</a:t>
            </a:r>
            <a:r>
              <a:rPr lang="en-US" altLang="zh-CN" kern="0" dirty="0"/>
              <a:t>-</a:t>
            </a:r>
            <a:r>
              <a:rPr lang="zh-CN" altLang="en-US" kern="0" dirty="0"/>
              <a:t>子程序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1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6834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10" name="文本框 1015809"/>
          <p:cNvSpPr txBox="1"/>
          <p:nvPr/>
        </p:nvSpPr>
        <p:spPr>
          <a:xfrm>
            <a:off x="611560" y="1205374"/>
            <a:ext cx="7561263" cy="4462760"/>
          </a:xfrm>
          <a:prstGeom prst="rect">
            <a:avLst/>
          </a:prstGeom>
          <a:noFill/>
          <a:ln w="28575">
            <a:noFill/>
            <a:miter/>
          </a:ln>
        </p:spPr>
        <p:txBody>
          <a:bodyPr>
            <a:spAutoFit/>
          </a:bodyPr>
          <a:lstStyle/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string.h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#define SIZE 256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wordsNum</a:t>
            </a:r>
            <a:r>
              <a:rPr lang="en-US" altLang="zh-CN" dirty="0">
                <a:latin typeface="Consolas" panose="020B0609020204030204" pitchFamily="49" charset="0"/>
              </a:rPr>
              <a:t>(char str[]);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main(){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char string[SIZE];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int num=0;</a:t>
            </a:r>
          </a:p>
          <a:p>
            <a:pPr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fgets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string,SIZE,stdin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num=</a:t>
            </a:r>
            <a:r>
              <a:rPr lang="en-US" altLang="zh-CN" dirty="0" err="1">
                <a:latin typeface="Consolas" panose="020B0609020204030204" pitchFamily="49" charset="0"/>
              </a:rPr>
              <a:t>wordsNum</a:t>
            </a:r>
            <a:r>
              <a:rPr lang="en-US" altLang="zh-CN" dirty="0">
                <a:latin typeface="Consolas" panose="020B0609020204030204" pitchFamily="49" charset="0"/>
              </a:rPr>
              <a:t>(string);//string</a:t>
            </a:r>
            <a:r>
              <a:rPr lang="zh-CN" altLang="en-US" dirty="0">
                <a:latin typeface="Consolas" panose="020B0609020204030204" pitchFamily="49" charset="0"/>
              </a:rPr>
              <a:t>末尾</a:t>
            </a:r>
            <a:r>
              <a:rPr lang="en-US" altLang="zh-CN" dirty="0">
                <a:latin typeface="Consolas" panose="020B0609020204030204" pitchFamily="49" charset="0"/>
              </a:rPr>
              <a:t>\n</a:t>
            </a:r>
            <a:r>
              <a:rPr lang="zh-CN" altLang="en-US" dirty="0">
                <a:latin typeface="Consolas" panose="020B0609020204030204" pitchFamily="49" charset="0"/>
              </a:rPr>
              <a:t>不要去掉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("the words is %d\</a:t>
            </a:r>
            <a:r>
              <a:rPr lang="en-US" altLang="zh-CN" dirty="0" err="1">
                <a:latin typeface="Consolas" panose="020B0609020204030204" pitchFamily="49" charset="0"/>
              </a:rPr>
              <a:t>n",num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	return 0;</a:t>
            </a:r>
          </a:p>
          <a:p>
            <a:pPr lvl="0">
              <a:lnSpc>
                <a:spcPct val="10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chemeClr val="tx1"/>
              </a:solidFill>
              <a:latin typeface="Consolas" panose="020B0609020204030204" pitchFamily="49" charset="0"/>
              <a:ea typeface="Courier New" panose="02070309020205020404" pitchFamily="49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123F57E-82C8-4D6A-875C-6870DFC0CF73}"/>
              </a:ext>
            </a:extLst>
          </p:cNvPr>
          <p:cNvSpPr txBox="1">
            <a:spLocks/>
          </p:cNvSpPr>
          <p:nvPr/>
        </p:nvSpPr>
        <p:spPr>
          <a:xfrm>
            <a:off x="1263650" y="404813"/>
            <a:ext cx="7772400" cy="720725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zh-CN" altLang="en-US" kern="0" dirty="0"/>
              <a:t>版本</a:t>
            </a:r>
            <a:r>
              <a:rPr lang="en-US" altLang="zh-CN" kern="0" dirty="0"/>
              <a:t>2-</a:t>
            </a:r>
            <a:r>
              <a:rPr lang="zh-CN" altLang="en-US" kern="0" dirty="0"/>
              <a:t>用算法解决</a:t>
            </a:r>
            <a:r>
              <a:rPr lang="en-US" altLang="zh-CN" kern="0" dirty="0"/>
              <a:t>-</a:t>
            </a:r>
            <a:r>
              <a:rPr lang="zh-CN" altLang="en-US" kern="0" dirty="0"/>
              <a:t>主程序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810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字符数组逆序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7772400" cy="48466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SIZE 256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isLineCutN</a:t>
            </a:r>
            <a:r>
              <a:rPr lang="en-US" altLang="zh-CN" sz="2000" dirty="0">
                <a:latin typeface="Consolas" panose="020B0609020204030204" pitchFamily="49" charset="0"/>
              </a:rPr>
              <a:t>(char *);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reverseStr</a:t>
            </a:r>
            <a:r>
              <a:rPr lang="en-US" altLang="zh-CN" sz="2000" dirty="0">
                <a:latin typeface="Consolas" panose="020B0609020204030204" pitchFamily="49" charset="0"/>
              </a:rPr>
              <a:t>(char s[]);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char string[SIZE];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fgets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string,SIZE,stdin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isLineCutN</a:t>
            </a:r>
            <a:r>
              <a:rPr lang="en-US" altLang="zh-CN" sz="2000" dirty="0">
                <a:latin typeface="Consolas" panose="020B0609020204030204" pitchFamily="49" charset="0"/>
              </a:rPr>
              <a:t>(string);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reverseStr</a:t>
            </a:r>
            <a:r>
              <a:rPr lang="en-US" altLang="zh-CN" sz="2000" dirty="0">
                <a:latin typeface="Consolas" panose="020B0609020204030204" pitchFamily="49" charset="0"/>
              </a:rPr>
              <a:t>(string);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fputs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string,stdout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	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字符数组逆序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19213"/>
            <a:ext cx="8206680" cy="513397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  <a:sym typeface="+mn-ea"/>
              </a:rPr>
              <a:t>reverseStr</a:t>
            </a: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(char s[])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400" dirty="0">
                <a:solidFill>
                  <a:srgbClr val="003399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solidFill>
                  <a:srgbClr val="003399"/>
                </a:solidFill>
                <a:latin typeface="Consolas" panose="020B0609020204030204" pitchFamily="49" charset="0"/>
              </a:rPr>
              <a:t>将字符元素逆序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3399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</a:rPr>
              <a:t>len,i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  char </a:t>
            </a:r>
            <a:r>
              <a:rPr lang="en-US" altLang="zh-CN" sz="2400" dirty="0" err="1">
                <a:solidFill>
                  <a:schemeClr val="tx1"/>
                </a:solidFill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  <a:sym typeface="+mn-ea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  <a:sym typeface="+mn-ea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 = </a:t>
            </a:r>
            <a:r>
              <a:rPr lang="en-US" altLang="zh-CN" sz="2400" dirty="0" err="1">
                <a:latin typeface="Consolas" panose="020B0609020204030204" pitchFamily="49" charset="0"/>
                <a:sym typeface="+mn-ea"/>
              </a:rPr>
              <a:t>strlen</a:t>
            </a:r>
            <a:r>
              <a:rPr lang="en-US" altLang="zh-CN" sz="2400" dirty="0">
                <a:latin typeface="Consolas" panose="020B0609020204030204" pitchFamily="49" charset="0"/>
                <a:sym typeface="+mn-ea"/>
              </a:rPr>
              <a:t>(s);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for(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0;i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2-1;i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++)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  <a:endParaRPr lang="en-US" altLang="zh-CN" sz="2400" dirty="0">
              <a:solidFill>
                <a:srgbClr val="003399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=s[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s[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]=s[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-1-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s[</a:t>
            </a:r>
            <a:r>
              <a:rPr lang="en-US" altLang="zh-CN" sz="2400" dirty="0" err="1">
                <a:latin typeface="Consolas" panose="020B0609020204030204" pitchFamily="49" charset="0"/>
              </a:rPr>
              <a:t>len</a:t>
            </a:r>
            <a:r>
              <a:rPr lang="en-US" altLang="zh-CN" sz="2400" dirty="0">
                <a:latin typeface="Consolas" panose="020B0609020204030204" pitchFamily="49" charset="0"/>
              </a:rPr>
              <a:t>-1-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]=</a:t>
            </a:r>
            <a:r>
              <a:rPr lang="en-US" altLang="zh-CN" sz="2400" dirty="0" err="1">
                <a:latin typeface="Consolas" panose="020B0609020204030204" pitchFamily="49" charset="0"/>
              </a:rPr>
              <a:t>ch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}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>
            <a:extLst>
              <a:ext uri="{FF2B5EF4-FFF2-40B4-BE49-F238E27FC236}">
                <a16:creationId xmlns:a16="http://schemas.microsoft.com/office/drawing/2014/main" id="{4E0FC75F-E75B-4D5D-8452-71034714AF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24578" name="Rectangle 4">
            <a:extLst>
              <a:ext uri="{FF2B5EF4-FFF2-40B4-BE49-F238E27FC236}">
                <a16:creationId xmlns:a16="http://schemas.microsoft.com/office/drawing/2014/main" id="{0F89FB19-A951-45BF-9BC0-EAC7D14E2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3288" y="404813"/>
            <a:ext cx="7772400" cy="720725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指针和</a:t>
            </a:r>
            <a:r>
              <a:rPr lang="zh-CN" altLang="en-US" b="1" dirty="0"/>
              <a:t>字符串常量</a:t>
            </a:r>
            <a:endParaRPr lang="en-US" altLang="zh-CN" b="1" dirty="0"/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CEFC013C-C9FC-4701-B768-1F65DDE998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02063" y="1311275"/>
            <a:ext cx="5292725" cy="2646363"/>
          </a:xfrm>
          <a:solidFill>
            <a:srgbClr val="FFFF99"/>
          </a:solidFill>
          <a:ln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</a:t>
            </a:r>
            <a:r>
              <a:rPr lang="zh-CN" altLang="en-US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latin typeface="Consolas" panose="020B0609020204030204" pitchFamily="49" charset="0"/>
              </a:rPr>
              <a:t>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char </a:t>
            </a:r>
            <a:r>
              <a:rPr lang="en-US" altLang="zh-CN" sz="2400" dirty="0" err="1">
                <a:latin typeface="Consolas" panose="020B0609020204030204" pitchFamily="49" charset="0"/>
              </a:rPr>
              <a:t>string1</a:t>
            </a:r>
            <a:r>
              <a:rPr lang="en-US" altLang="zh-CN" sz="2400" dirty="0">
                <a:latin typeface="Consolas" panose="020B0609020204030204" pitchFamily="49" charset="0"/>
              </a:rPr>
              <a:t>[10], </a:t>
            </a:r>
            <a:r>
              <a:rPr lang="en-US" altLang="zh-CN" sz="2400" dirty="0" err="1">
                <a:latin typeface="Consolas" panose="020B0609020204030204" pitchFamily="49" charset="0"/>
              </a:rPr>
              <a:t>string3</a:t>
            </a:r>
            <a:r>
              <a:rPr lang="en-US" altLang="zh-CN" sz="2400" dirty="0">
                <a:latin typeface="Consolas" panose="020B0609020204030204" pitchFamily="49" charset="0"/>
              </a:rPr>
              <a:t>[10];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const char * </a:t>
            </a:r>
            <a:r>
              <a:rPr lang="en-US" altLang="zh-CN" sz="2400" dirty="0" err="1">
                <a:latin typeface="Consolas" panose="020B0609020204030204" pitchFamily="49" charset="0"/>
              </a:rPr>
              <a:t>string2</a:t>
            </a:r>
            <a:r>
              <a:rPr lang="en-US" altLang="zh-CN" sz="2400" dirty="0">
                <a:latin typeface="Consolas" panose="020B0609020204030204" pitchFamily="49" charset="0"/>
              </a:rPr>
              <a:t> ="Hello";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char </a:t>
            </a:r>
            <a:r>
              <a:rPr lang="en-US" altLang="zh-CN" sz="2400" dirty="0" err="1">
                <a:latin typeface="Consolas" panose="020B0609020204030204" pitchFamily="49" charset="0"/>
              </a:rPr>
              <a:t>string4</a:t>
            </a:r>
            <a:r>
              <a:rPr lang="en-US" altLang="zh-CN" sz="2400" dirty="0">
                <a:latin typeface="Consolas" panose="020B0609020204030204" pitchFamily="49" charset="0"/>
              </a:rPr>
              <a:t>[]="Good Bye";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……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4580" name="Text Box 18">
            <a:extLst>
              <a:ext uri="{FF2B5EF4-FFF2-40B4-BE49-F238E27FC236}">
                <a16:creationId xmlns:a16="http://schemas.microsoft.com/office/drawing/2014/main" id="{6A2CDC7D-344E-4EB9-8122-23EC103FE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84313"/>
            <a:ext cx="4176713" cy="4302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b="1" dirty="0"/>
              <a:t>在内存的常量区里保存"</a:t>
            </a:r>
            <a:r>
              <a:rPr lang="en-US" altLang="zh-CN" sz="2200" b="1" dirty="0"/>
              <a:t>Hello"</a:t>
            </a:r>
          </a:p>
        </p:txBody>
      </p:sp>
      <p:sp>
        <p:nvSpPr>
          <p:cNvPr id="24581" name="Text Box 19">
            <a:extLst>
              <a:ext uri="{FF2B5EF4-FFF2-40B4-BE49-F238E27FC236}">
                <a16:creationId xmlns:a16="http://schemas.microsoft.com/office/drawing/2014/main" id="{795BC4DE-13F9-4DA9-864E-D5A57066B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443538"/>
            <a:ext cx="2592387" cy="398462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数组</a:t>
            </a:r>
            <a:r>
              <a:rPr lang="en-US" altLang="zh-CN" sz="2000" b="1"/>
              <a:t>string1</a:t>
            </a:r>
          </a:p>
        </p:txBody>
      </p:sp>
      <p:sp>
        <p:nvSpPr>
          <p:cNvPr id="24582" name="Text Box 20">
            <a:extLst>
              <a:ext uri="{FF2B5EF4-FFF2-40B4-BE49-F238E27FC236}">
                <a16:creationId xmlns:a16="http://schemas.microsoft.com/office/drawing/2014/main" id="{AEC78347-15F7-4B57-90B1-5B5DF2853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026025"/>
            <a:ext cx="2592387" cy="39846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/>
              <a:t>指针</a:t>
            </a:r>
            <a:r>
              <a:rPr lang="en-US" altLang="zh-CN" sz="2000" b="1" dirty="0" err="1"/>
              <a:t>string2</a:t>
            </a:r>
            <a:endParaRPr lang="en-US" altLang="zh-CN" sz="2000" b="1" dirty="0"/>
          </a:p>
        </p:txBody>
      </p:sp>
      <p:sp>
        <p:nvSpPr>
          <p:cNvPr id="24583" name="Text Box 21">
            <a:extLst>
              <a:ext uri="{FF2B5EF4-FFF2-40B4-BE49-F238E27FC236}">
                <a16:creationId xmlns:a16="http://schemas.microsoft.com/office/drawing/2014/main" id="{D145CA42-103F-44E7-8AE5-1B3509F38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445125"/>
            <a:ext cx="2160588" cy="3968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10</a:t>
            </a:r>
            <a:r>
              <a:rPr lang="zh-CN" altLang="en-US" sz="2000" b="1"/>
              <a:t>字节</a:t>
            </a:r>
          </a:p>
        </p:txBody>
      </p:sp>
      <p:sp>
        <p:nvSpPr>
          <p:cNvPr id="24584" name="Text Box 22">
            <a:extLst>
              <a:ext uri="{FF2B5EF4-FFF2-40B4-BE49-F238E27FC236}">
                <a16:creationId xmlns:a16="http://schemas.microsoft.com/office/drawing/2014/main" id="{3C836E42-CF7E-44DE-8279-A4FD48F1C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488" y="4981873"/>
            <a:ext cx="3743670" cy="92333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dirty="0"/>
              <a:t>8</a:t>
            </a:r>
            <a:r>
              <a:rPr lang="zh-CN" altLang="en-US" sz="2000" b="1" dirty="0"/>
              <a:t>字节（</a:t>
            </a:r>
            <a:r>
              <a:rPr lang="en-US" altLang="zh-CN" sz="2000" b="1" dirty="0" err="1"/>
              <a:t>sizeof</a:t>
            </a:r>
            <a:r>
              <a:rPr lang="en-US" altLang="zh-CN" sz="2000" b="1" dirty="0"/>
              <a:t>(char *)</a:t>
            </a:r>
            <a:r>
              <a:rPr lang="zh-CN" altLang="en-US" sz="2000" b="1" dirty="0"/>
              <a:t>值为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）指针的字节数和计算机字长一致</a:t>
            </a:r>
            <a:r>
              <a:rPr lang="en-US" altLang="zh-CN" sz="2000" b="1" dirty="0"/>
              <a:t>.</a:t>
            </a:r>
            <a:endParaRPr lang="zh-CN" altLang="en-US" sz="2000" b="1" dirty="0"/>
          </a:p>
        </p:txBody>
      </p:sp>
      <p:sp>
        <p:nvSpPr>
          <p:cNvPr id="24585" name="Text Box 23">
            <a:extLst>
              <a:ext uri="{FF2B5EF4-FFF2-40B4-BE49-F238E27FC236}">
                <a16:creationId xmlns:a16="http://schemas.microsoft.com/office/drawing/2014/main" id="{2D30B8C8-FE8A-41D7-A86B-FF992B903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622800"/>
            <a:ext cx="2592387" cy="398463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数组</a:t>
            </a:r>
            <a:r>
              <a:rPr lang="en-US" altLang="zh-CN" sz="2000" b="1"/>
              <a:t>string3</a:t>
            </a:r>
          </a:p>
        </p:txBody>
      </p:sp>
      <p:sp>
        <p:nvSpPr>
          <p:cNvPr id="24586" name="Text Box 24">
            <a:extLst>
              <a:ext uri="{FF2B5EF4-FFF2-40B4-BE49-F238E27FC236}">
                <a16:creationId xmlns:a16="http://schemas.microsoft.com/office/drawing/2014/main" id="{4E192BCC-2191-4843-9A42-B3FBFBBCE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219575"/>
            <a:ext cx="2592387" cy="398463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数组</a:t>
            </a:r>
            <a:r>
              <a:rPr lang="en-US" altLang="zh-CN" sz="2000" b="1"/>
              <a:t>string4</a:t>
            </a:r>
          </a:p>
        </p:txBody>
      </p:sp>
      <p:sp>
        <p:nvSpPr>
          <p:cNvPr id="24587" name="Text Box 25">
            <a:extLst>
              <a:ext uri="{FF2B5EF4-FFF2-40B4-BE49-F238E27FC236}">
                <a16:creationId xmlns:a16="http://schemas.microsoft.com/office/drawing/2014/main" id="{F6A9DAF1-62B1-4982-89F8-A2C19DB88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148138"/>
            <a:ext cx="2160588" cy="3968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9</a:t>
            </a:r>
            <a:r>
              <a:rPr lang="zh-CN" altLang="en-US" sz="2000" b="1"/>
              <a:t>字节</a:t>
            </a:r>
          </a:p>
        </p:txBody>
      </p:sp>
      <p:sp>
        <p:nvSpPr>
          <p:cNvPr id="24588" name="Text Box 26">
            <a:extLst>
              <a:ext uri="{FF2B5EF4-FFF2-40B4-BE49-F238E27FC236}">
                <a16:creationId xmlns:a16="http://schemas.microsoft.com/office/drawing/2014/main" id="{1A9810E7-A8C9-4411-AE60-69F86CB76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581525"/>
            <a:ext cx="2160588" cy="3968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/>
              <a:t>10</a:t>
            </a:r>
            <a:r>
              <a:rPr lang="zh-CN" altLang="en-US" sz="2000" b="1"/>
              <a:t>字节</a:t>
            </a:r>
          </a:p>
        </p:txBody>
      </p:sp>
      <p:sp>
        <p:nvSpPr>
          <p:cNvPr id="355355" name="Line 27">
            <a:extLst>
              <a:ext uri="{FF2B5EF4-FFF2-40B4-BE49-F238E27FC236}">
                <a16:creationId xmlns:a16="http://schemas.microsoft.com/office/drawing/2014/main" id="{748450CF-68B4-4E64-B366-D360F19E3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3" y="2132013"/>
            <a:ext cx="0" cy="216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355356" name="Line 28">
            <a:extLst>
              <a:ext uri="{FF2B5EF4-FFF2-40B4-BE49-F238E27FC236}">
                <a16:creationId xmlns:a16="http://schemas.microsoft.com/office/drawing/2014/main" id="{A630277D-3DC7-4954-AADE-C02E7D59D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058988"/>
            <a:ext cx="0" cy="2160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4591" name="Text Box 29">
            <a:extLst>
              <a:ext uri="{FF2B5EF4-FFF2-40B4-BE49-F238E27FC236}">
                <a16:creationId xmlns:a16="http://schemas.microsoft.com/office/drawing/2014/main" id="{AFBFDF17-6BE8-47CB-A718-7C955EE48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92375"/>
            <a:ext cx="2592387" cy="398463"/>
          </a:xfrm>
          <a:prstGeom prst="rect">
            <a:avLst/>
          </a:prstGeom>
          <a:solidFill>
            <a:srgbClr val="66FFCC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"</a:t>
            </a:r>
            <a:r>
              <a:rPr lang="en-US" altLang="zh-CN" sz="2000" b="1"/>
              <a:t>Hello"</a:t>
            </a:r>
          </a:p>
        </p:txBody>
      </p:sp>
      <p:sp>
        <p:nvSpPr>
          <p:cNvPr id="355361" name="Line 33">
            <a:extLst>
              <a:ext uri="{FF2B5EF4-FFF2-40B4-BE49-F238E27FC236}">
                <a16:creationId xmlns:a16="http://schemas.microsoft.com/office/drawing/2014/main" id="{5544AE3E-1312-4BA2-BD74-E026B1827A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288" y="5227638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355362" name="Line 34">
            <a:extLst>
              <a:ext uri="{FF2B5EF4-FFF2-40B4-BE49-F238E27FC236}">
                <a16:creationId xmlns:a16="http://schemas.microsoft.com/office/drawing/2014/main" id="{1EF33CF5-D907-4BF0-BA57-33062D035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2635250"/>
            <a:ext cx="0" cy="259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355363" name="Line 35">
            <a:extLst>
              <a:ext uri="{FF2B5EF4-FFF2-40B4-BE49-F238E27FC236}">
                <a16:creationId xmlns:a16="http://schemas.microsoft.com/office/drawing/2014/main" id="{DD0C7137-ABB9-4BD6-AB7B-6E7F5757F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288" y="2635250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文本框 77825">
            <a:extLst>
              <a:ext uri="{FF2B5EF4-FFF2-40B4-BE49-F238E27FC236}">
                <a16:creationId xmlns:a16="http://schemas.microsoft.com/office/drawing/2014/main" id="{05CF70CF-F03C-4AE2-97FF-882214824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206" y="549275"/>
            <a:ext cx="505298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字符常量指针 不是 字符数组！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7827" name="文本框 77826">
            <a:extLst>
              <a:ext uri="{FF2B5EF4-FFF2-40B4-BE49-F238E27FC236}">
                <a16:creationId xmlns:a16="http://schemas.microsoft.com/office/drawing/2014/main" id="{215C16FB-5CF1-4622-9952-3A32AF53B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1268413"/>
            <a:ext cx="8496300" cy="448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int main()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{ 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char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* 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p1="I am a teacher.";</a:t>
            </a:r>
          </a:p>
          <a:p>
            <a:pPr eaLnBrk="0" hangingPunct="0">
              <a:buNone/>
            </a:pP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const 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char 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* 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p2="you are a student.";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printf("string a=%s\nstring b=%s\n",p1,p2);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printf("copy string a to string b:\n");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py(p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,p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//error</a:t>
            </a:r>
            <a:endParaRPr lang="zh-CN" alt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printf("\nstring a=%s\nstring b=%s\n",p1,p2);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if (str</a:t>
            </a:r>
            <a:r>
              <a:rPr lang="en-US" altLang="zh-CN" sz="2400" dirty="0">
                <a:latin typeface="Consolas" panose="020B0609020204030204" pitchFamily="49" charset="0"/>
              </a:rPr>
              <a:t>c</a:t>
            </a:r>
            <a:r>
              <a:rPr lang="zh-CN" altLang="en-US" sz="2400" dirty="0">
                <a:latin typeface="Consolas" panose="020B0609020204030204" pitchFamily="49" charset="0"/>
              </a:rPr>
              <a:t>mp(p1,p2)==0)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		printf("p1==p2\n");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else printf("p1!=p2\n");</a:t>
            </a:r>
          </a:p>
          <a:p>
            <a:pPr eaLnBrk="0" hangingPunc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 bldLvl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>
            <a:extLst>
              <a:ext uri="{FF2B5EF4-FFF2-40B4-BE49-F238E27FC236}">
                <a16:creationId xmlns:a16="http://schemas.microsoft.com/office/drawing/2014/main" id="{925A1FEC-1D42-4B96-BC6C-4C0AFC8358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44DBBC51-0E19-4A81-AABF-FFE77A568F12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89AB8B02-099E-4A76-9976-519EF4CE3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404813"/>
            <a:ext cx="7772400" cy="7207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7.4 指针数组</a:t>
            </a:r>
            <a:endParaRPr lang="zh-CN" altLang="en-US" b="1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4883D81-72D6-49BD-BBD2-E9AD9924B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【例</a:t>
            </a:r>
            <a:r>
              <a:rPr lang="en-US" altLang="zh-CN" b="1"/>
              <a:t>9】</a:t>
            </a:r>
            <a:r>
              <a:rPr lang="zh-CN" altLang="en-US" b="1"/>
              <a:t>有若干计算机图书，请按字母顺序，从小到大输出书名。</a:t>
            </a:r>
          </a:p>
          <a:p>
            <a:pPr eaLnBrk="1" hangingPunct="1">
              <a:buFontTx/>
              <a:buNone/>
            </a:pPr>
            <a:r>
              <a:rPr lang="zh-CN" altLang="en-US" b="1"/>
              <a:t>     解题要求：使用排序函数完成排序，在主函数中进行输入输出。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E443E71-E873-4D25-9255-29E4D913CEEA}"/>
              </a:ext>
            </a:extLst>
          </p:cNvPr>
          <p:cNvGrpSpPr>
            <a:grpSpLocks/>
          </p:cNvGrpSpPr>
          <p:nvPr/>
        </p:nvGrpSpPr>
        <p:grpSpPr bwMode="auto">
          <a:xfrm>
            <a:off x="3679825" y="2852738"/>
            <a:ext cx="3660775" cy="2936875"/>
            <a:chOff x="3216" y="1169"/>
            <a:chExt cx="2306" cy="1850"/>
          </a:xfrm>
        </p:grpSpPr>
        <p:sp>
          <p:nvSpPr>
            <p:cNvPr id="51205" name="Rectangle 5">
              <a:extLst>
                <a:ext uri="{FF2B5EF4-FFF2-40B4-BE49-F238E27FC236}">
                  <a16:creationId xmlns:a16="http://schemas.microsoft.com/office/drawing/2014/main" id="{32DCB964-6174-42CC-9534-19884F436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394"/>
              <a:ext cx="901" cy="155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206" name="Line 6">
              <a:extLst>
                <a:ext uri="{FF2B5EF4-FFF2-40B4-BE49-F238E27FC236}">
                  <a16:creationId xmlns:a16="http://schemas.microsoft.com/office/drawing/2014/main" id="{D5307935-9C3F-4BF5-AB97-17A1347AF3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16" y="1672"/>
              <a:ext cx="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07" name="Line 7">
              <a:extLst>
                <a:ext uri="{FF2B5EF4-FFF2-40B4-BE49-F238E27FC236}">
                  <a16:creationId xmlns:a16="http://schemas.microsoft.com/office/drawing/2014/main" id="{4109280F-0738-42DC-ACE5-6CB5B9D36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939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08" name="Line 8">
              <a:extLst>
                <a:ext uri="{FF2B5EF4-FFF2-40B4-BE49-F238E27FC236}">
                  <a16:creationId xmlns:a16="http://schemas.microsoft.com/office/drawing/2014/main" id="{BD3B0FD7-7B5F-457A-9006-2C603CE1E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195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09" name="Line 9">
              <a:extLst>
                <a:ext uri="{FF2B5EF4-FFF2-40B4-BE49-F238E27FC236}">
                  <a16:creationId xmlns:a16="http://schemas.microsoft.com/office/drawing/2014/main" id="{5AFE0FFC-BA61-417F-9464-E986BD286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61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0" name="Text Box 10">
              <a:extLst>
                <a:ext uri="{FF2B5EF4-FFF2-40B4-BE49-F238E27FC236}">
                  <a16:creationId xmlns:a16="http://schemas.microsoft.com/office/drawing/2014/main" id="{83C08F88-01F6-4491-B8A8-EBCFE429B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1414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name[0]</a:t>
              </a:r>
            </a:p>
          </p:txBody>
        </p:sp>
        <p:sp>
          <p:nvSpPr>
            <p:cNvPr id="51211" name="Text Box 11">
              <a:extLst>
                <a:ext uri="{FF2B5EF4-FFF2-40B4-BE49-F238E27FC236}">
                  <a16:creationId xmlns:a16="http://schemas.microsoft.com/office/drawing/2014/main" id="{A59CF9C5-754F-459D-9562-811C70AA9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1680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name[1]</a:t>
              </a:r>
            </a:p>
          </p:txBody>
        </p:sp>
        <p:sp>
          <p:nvSpPr>
            <p:cNvPr id="51212" name="Text Box 12">
              <a:extLst>
                <a:ext uri="{FF2B5EF4-FFF2-40B4-BE49-F238E27FC236}">
                  <a16:creationId xmlns:a16="http://schemas.microsoft.com/office/drawing/2014/main" id="{1BC1E40E-E311-4469-A731-48830818E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1936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name[2]</a:t>
              </a:r>
            </a:p>
          </p:txBody>
        </p:sp>
        <p:sp>
          <p:nvSpPr>
            <p:cNvPr id="51213" name="Text Box 13">
              <a:extLst>
                <a:ext uri="{FF2B5EF4-FFF2-40B4-BE49-F238E27FC236}">
                  <a16:creationId xmlns:a16="http://schemas.microsoft.com/office/drawing/2014/main" id="{F5C836F9-64D0-477E-906E-EB56296B7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2214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name[3]</a:t>
              </a:r>
            </a:p>
          </p:txBody>
        </p:sp>
        <p:sp>
          <p:nvSpPr>
            <p:cNvPr id="51214" name="Text Box 14">
              <a:extLst>
                <a:ext uri="{FF2B5EF4-FFF2-40B4-BE49-F238E27FC236}">
                  <a16:creationId xmlns:a16="http://schemas.microsoft.com/office/drawing/2014/main" id="{06AA38D7-E4B6-4436-8344-5CDC1F06E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2480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name[4]</a:t>
              </a:r>
            </a:p>
          </p:txBody>
        </p:sp>
        <p:sp>
          <p:nvSpPr>
            <p:cNvPr id="51215" name="Text Box 15">
              <a:extLst>
                <a:ext uri="{FF2B5EF4-FFF2-40B4-BE49-F238E27FC236}">
                  <a16:creationId xmlns:a16="http://schemas.microsoft.com/office/drawing/2014/main" id="{30AFAA3F-5CD8-4DD0-AE2E-A0B37E06D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4" y="1169"/>
              <a:ext cx="4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>
                  <a:solidFill>
                    <a:srgbClr val="0000FF"/>
                  </a:solidFill>
                </a:rPr>
                <a:t>name</a:t>
              </a:r>
            </a:p>
          </p:txBody>
        </p:sp>
        <p:sp>
          <p:nvSpPr>
            <p:cNvPr id="51216" name="Text Box 16">
              <a:extLst>
                <a:ext uri="{FF2B5EF4-FFF2-40B4-BE49-F238E27FC236}">
                  <a16:creationId xmlns:a16="http://schemas.microsoft.com/office/drawing/2014/main" id="{C2E098E2-AEC7-4471-8A10-30679B352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7" y="1922"/>
              <a:ext cx="655" cy="25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/>
                <a:t>"</a:t>
              </a:r>
              <a:r>
                <a:rPr lang="en-US" altLang="zh-CN" sz="2000"/>
                <a:t>Pascal"</a:t>
              </a:r>
            </a:p>
          </p:txBody>
        </p:sp>
        <p:sp>
          <p:nvSpPr>
            <p:cNvPr id="51217" name="Text Box 17">
              <a:extLst>
                <a:ext uri="{FF2B5EF4-FFF2-40B4-BE49-F238E27FC236}">
                  <a16:creationId xmlns:a16="http://schemas.microsoft.com/office/drawing/2014/main" id="{AF9EE260-BA34-4EF3-8EE3-85BAB9D4D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5" y="2210"/>
              <a:ext cx="652" cy="25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/>
                <a:t>"</a:t>
              </a:r>
              <a:r>
                <a:rPr lang="en-US" altLang="zh-CN" sz="2000"/>
                <a:t>BASIC</a:t>
              </a:r>
            </a:p>
          </p:txBody>
        </p:sp>
        <p:sp>
          <p:nvSpPr>
            <p:cNvPr id="51218" name="Text Box 18">
              <a:extLst>
                <a:ext uri="{FF2B5EF4-FFF2-40B4-BE49-F238E27FC236}">
                  <a16:creationId xmlns:a16="http://schemas.microsoft.com/office/drawing/2014/main" id="{A125D5AF-7C7F-446B-9234-015EFA56A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496"/>
              <a:ext cx="371" cy="25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/>
                <a:t>"</a:t>
              </a:r>
              <a:r>
                <a:rPr lang="en-US" altLang="zh-CN" sz="2000"/>
                <a:t>C"</a:t>
              </a:r>
            </a:p>
          </p:txBody>
        </p:sp>
        <p:sp>
          <p:nvSpPr>
            <p:cNvPr id="51219" name="Rectangle 19">
              <a:extLst>
                <a:ext uri="{FF2B5EF4-FFF2-40B4-BE49-F238E27FC236}">
                  <a16:creationId xmlns:a16="http://schemas.microsoft.com/office/drawing/2014/main" id="{72C00C69-E090-415B-BB5B-3F850DD3D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" y="1406"/>
              <a:ext cx="531" cy="23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/>
                <a:t>"</a:t>
              </a:r>
              <a:r>
                <a:rPr lang="en-US" altLang="zh-CN" sz="2000"/>
                <a:t>Ada"</a:t>
              </a:r>
            </a:p>
          </p:txBody>
        </p:sp>
        <p:sp>
          <p:nvSpPr>
            <p:cNvPr id="51220" name="Text Box 20">
              <a:extLst>
                <a:ext uri="{FF2B5EF4-FFF2-40B4-BE49-F238E27FC236}">
                  <a16:creationId xmlns:a16="http://schemas.microsoft.com/office/drawing/2014/main" id="{B597DCC0-5E89-4FAC-B517-40998FAE6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5" y="1661"/>
              <a:ext cx="917" cy="25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zh-CN" altLang="en-US" sz="2000"/>
                <a:t>"</a:t>
              </a:r>
              <a:r>
                <a:rPr lang="en-US" altLang="zh-CN" sz="2000"/>
                <a:t>FORTRAN</a:t>
              </a:r>
            </a:p>
          </p:txBody>
        </p:sp>
        <p:sp>
          <p:nvSpPr>
            <p:cNvPr id="51221" name="Line 21">
              <a:extLst>
                <a:ext uri="{FF2B5EF4-FFF2-40B4-BE49-F238E27FC236}">
                  <a16:creationId xmlns:a16="http://schemas.microsoft.com/office/drawing/2014/main" id="{AF28EF0A-A47B-4F8B-B2FE-91109EA9C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708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2" name="Text Box 22">
              <a:extLst>
                <a:ext uri="{FF2B5EF4-FFF2-40B4-BE49-F238E27FC236}">
                  <a16:creationId xmlns:a16="http://schemas.microsoft.com/office/drawing/2014/main" id="{ED52025F-6E52-4EFF-A42B-5F3111AD7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717"/>
              <a:ext cx="6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name[5]</a:t>
              </a:r>
            </a:p>
          </p:txBody>
        </p:sp>
        <p:sp>
          <p:nvSpPr>
            <p:cNvPr id="51223" name="Text Box 23">
              <a:extLst>
                <a:ext uri="{FF2B5EF4-FFF2-40B4-BE49-F238E27FC236}">
                  <a16:creationId xmlns:a16="http://schemas.microsoft.com/office/drawing/2014/main" id="{3093D439-C322-4E15-B5A9-80903B800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8" y="2768"/>
              <a:ext cx="903" cy="25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2000"/>
                <a:t>"</a:t>
              </a:r>
              <a:r>
                <a:rPr lang="en-US" altLang="zh-CN" sz="2000"/>
                <a:t>FoxBASE"</a:t>
              </a:r>
            </a:p>
          </p:txBody>
        </p:sp>
      </p:grpSp>
      <p:grpSp>
        <p:nvGrpSpPr>
          <p:cNvPr id="3" name="Group 24">
            <a:extLst>
              <a:ext uri="{FF2B5EF4-FFF2-40B4-BE49-F238E27FC236}">
                <a16:creationId xmlns:a16="http://schemas.microsoft.com/office/drawing/2014/main" id="{0645F9DC-2719-48FF-A8EB-51983C3F7CA2}"/>
              </a:ext>
            </a:extLst>
          </p:cNvPr>
          <p:cNvGrpSpPr>
            <a:grpSpLocks/>
          </p:cNvGrpSpPr>
          <p:nvPr/>
        </p:nvGrpSpPr>
        <p:grpSpPr bwMode="auto">
          <a:xfrm>
            <a:off x="5127625" y="3478213"/>
            <a:ext cx="762000" cy="2057400"/>
            <a:chOff x="4128" y="1536"/>
            <a:chExt cx="480" cy="1296"/>
          </a:xfrm>
        </p:grpSpPr>
        <p:sp>
          <p:nvSpPr>
            <p:cNvPr id="51225" name="Line 25">
              <a:extLst>
                <a:ext uri="{FF2B5EF4-FFF2-40B4-BE49-F238E27FC236}">
                  <a16:creationId xmlns:a16="http://schemas.microsoft.com/office/drawing/2014/main" id="{A2779EDD-6E64-4D1D-933C-6F53EE980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536"/>
              <a:ext cx="48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6" name="Line 26">
              <a:extLst>
                <a:ext uri="{FF2B5EF4-FFF2-40B4-BE49-F238E27FC236}">
                  <a16:creationId xmlns:a16="http://schemas.microsoft.com/office/drawing/2014/main" id="{A7D47EC1-4880-4FCF-B954-0D489FD16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824"/>
              <a:ext cx="480" cy="48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7" name="Line 27">
              <a:extLst>
                <a:ext uri="{FF2B5EF4-FFF2-40B4-BE49-F238E27FC236}">
                  <a16:creationId xmlns:a16="http://schemas.microsoft.com/office/drawing/2014/main" id="{82872BCC-CD16-4AEE-B6FF-7F4E29518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064"/>
              <a:ext cx="480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8" name="Line 28">
              <a:extLst>
                <a:ext uri="{FF2B5EF4-FFF2-40B4-BE49-F238E27FC236}">
                  <a16:creationId xmlns:a16="http://schemas.microsoft.com/office/drawing/2014/main" id="{B4BE5638-8ADE-43C7-8FCD-1FAF264E5A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824"/>
              <a:ext cx="480" cy="48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9" name="Line 29">
              <a:extLst>
                <a:ext uri="{FF2B5EF4-FFF2-40B4-BE49-F238E27FC236}">
                  <a16:creationId xmlns:a16="http://schemas.microsoft.com/office/drawing/2014/main" id="{B707763E-2B7A-4246-866F-51C6E4F13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592"/>
              <a:ext cx="48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0" name="Line 30">
              <a:extLst>
                <a:ext uri="{FF2B5EF4-FFF2-40B4-BE49-F238E27FC236}">
                  <a16:creationId xmlns:a16="http://schemas.microsoft.com/office/drawing/2014/main" id="{26743C36-4CE8-4B74-99BE-C4F5D3977D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064"/>
              <a:ext cx="480" cy="76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66EE723D-7E59-4CBE-AA33-82B6C587A398}"/>
              </a:ext>
            </a:extLst>
          </p:cNvPr>
          <p:cNvGrpSpPr>
            <a:grpSpLocks/>
          </p:cNvGrpSpPr>
          <p:nvPr/>
        </p:nvGrpSpPr>
        <p:grpSpPr bwMode="auto">
          <a:xfrm>
            <a:off x="5127625" y="3432175"/>
            <a:ext cx="762000" cy="2163763"/>
            <a:chOff x="2832" y="2544"/>
            <a:chExt cx="480" cy="1363"/>
          </a:xfrm>
        </p:grpSpPr>
        <p:sp>
          <p:nvSpPr>
            <p:cNvPr id="51232" name="Line 32">
              <a:extLst>
                <a:ext uri="{FF2B5EF4-FFF2-40B4-BE49-F238E27FC236}">
                  <a16:creationId xmlns:a16="http://schemas.microsoft.com/office/drawing/2014/main" id="{A52953D7-FE74-4C8A-A632-6B581E7E6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85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3" name="Line 33">
              <a:extLst>
                <a:ext uri="{FF2B5EF4-FFF2-40B4-BE49-F238E27FC236}">
                  <a16:creationId xmlns:a16="http://schemas.microsoft.com/office/drawing/2014/main" id="{D6B4BE4D-875A-444C-A1B8-D880E73DA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09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4" name="Line 34">
              <a:extLst>
                <a:ext uri="{FF2B5EF4-FFF2-40B4-BE49-F238E27FC236}">
                  <a16:creationId xmlns:a16="http://schemas.microsoft.com/office/drawing/2014/main" id="{2216C230-60FF-4245-AB44-90DC69171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37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5" name="Line 35">
              <a:extLst>
                <a:ext uri="{FF2B5EF4-FFF2-40B4-BE49-F238E27FC236}">
                  <a16:creationId xmlns:a16="http://schemas.microsoft.com/office/drawing/2014/main" id="{9F635EF0-BE60-4E97-A225-6F2DB6A3D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61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6" name="Line 36">
              <a:extLst>
                <a:ext uri="{FF2B5EF4-FFF2-40B4-BE49-F238E27FC236}">
                  <a16:creationId xmlns:a16="http://schemas.microsoft.com/office/drawing/2014/main" id="{DB6F4736-36D5-4B3A-956F-C46B27B60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907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37" name="Line 37">
              <a:extLst>
                <a:ext uri="{FF2B5EF4-FFF2-40B4-BE49-F238E27FC236}">
                  <a16:creationId xmlns:a16="http://schemas.microsoft.com/office/drawing/2014/main" id="{6BE6E0E4-3D11-4F27-A93D-17E1A528D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54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>
            <a:extLst>
              <a:ext uri="{FF2B5EF4-FFF2-40B4-BE49-F238E27FC236}">
                <a16:creationId xmlns:a16="http://schemas.microsoft.com/office/drawing/2014/main" id="{AA12FB2C-FEBC-4C14-9F11-0C0D62EB08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52226" name="Rectangle 5">
            <a:extLst>
              <a:ext uri="{FF2B5EF4-FFF2-40B4-BE49-F238E27FC236}">
                <a16:creationId xmlns:a16="http://schemas.microsoft.com/office/drawing/2014/main" id="{5D47A328-0A95-435D-B217-B462C71732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6725" y="1295400"/>
            <a:ext cx="8677275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00FF"/>
              </a:buClr>
              <a:buFont typeface="Wingdings" panose="05000000000000000000" pitchFamily="2" charset="2"/>
              <a:buChar char="q"/>
            </a:pPr>
            <a:r>
              <a:rPr lang="zh-CN" altLang="en-US" b="1"/>
              <a:t>指针数组</a:t>
            </a:r>
            <a:endParaRPr lang="zh-CN" altLang="en-US" b="1">
              <a:solidFill>
                <a:srgbClr val="FF66CC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FF00FF"/>
              </a:buClr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FF66CC"/>
                </a:solidFill>
                <a:ea typeface="楷体_GB2312" pitchFamily="49" charset="-122"/>
              </a:rPr>
              <a:t>  </a:t>
            </a:r>
            <a:r>
              <a:rPr lang="zh-CN" altLang="en-US" b="1"/>
              <a:t>数组中的元素为指针变量。常用于处理多个字符串。</a:t>
            </a:r>
          </a:p>
          <a:p>
            <a:pPr eaLnBrk="1" hangingPunct="1">
              <a:lnSpc>
                <a:spcPct val="90000"/>
              </a:lnSpc>
              <a:buClr>
                <a:srgbClr val="FF00FF"/>
              </a:buClr>
              <a:buFont typeface="Wingdings" panose="05000000000000000000" pitchFamily="2" charset="2"/>
              <a:buNone/>
            </a:pPr>
            <a:endParaRPr lang="zh-CN" altLang="en-US" sz="900">
              <a:ea typeface="楷体_GB2312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solidFill>
                  <a:schemeClr val="accent2"/>
                </a:solidFill>
              </a:rPr>
              <a:t>数据类型 * 数组名[数组长度]；</a:t>
            </a:r>
            <a:endParaRPr lang="zh-CN" altLang="en-US">
              <a:solidFill>
                <a:schemeClr val="accent2"/>
              </a:solidFill>
              <a:ea typeface="楷体_GB2312" pitchFamily="49" charset="-122"/>
            </a:endParaRPr>
          </a:p>
          <a:p>
            <a:pPr lvl="1" algn="just" eaLnBrk="1" hangingPunct="1">
              <a:lnSpc>
                <a:spcPct val="90000"/>
              </a:lnSpc>
            </a:pPr>
            <a:endParaRPr lang="zh-CN" altLang="en-US">
              <a:solidFill>
                <a:schemeClr val="accent2"/>
              </a:solidFill>
              <a:ea typeface="楷体_GB2312" pitchFamily="49" charset="-122"/>
            </a:endParaRPr>
          </a:p>
        </p:txBody>
      </p:sp>
      <p:sp>
        <p:nvSpPr>
          <p:cNvPr id="52227" name="Text Box 7">
            <a:extLst>
              <a:ext uri="{FF2B5EF4-FFF2-40B4-BE49-F238E27FC236}">
                <a16:creationId xmlns:a16="http://schemas.microsoft.com/office/drawing/2014/main" id="{EC37B62D-F9D7-4798-87F8-C60BAA299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997200"/>
            <a:ext cx="7704138" cy="492125"/>
          </a:xfrm>
          <a:prstGeom prst="rect">
            <a:avLst/>
          </a:prstGeom>
          <a:solidFill>
            <a:srgbClr val="CCFFCC"/>
          </a:solidFill>
          <a:ln w="38100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600" b="1"/>
              <a:t>char * name[SIZE]; </a:t>
            </a:r>
            <a:endParaRPr lang="zh-CN" altLang="en-US" sz="2600" b="1">
              <a:ea typeface="楷体_GB2312" pitchFamily="49" charset="-122"/>
            </a:endParaRPr>
          </a:p>
        </p:txBody>
      </p:sp>
      <p:sp>
        <p:nvSpPr>
          <p:cNvPr id="52228" name="Rectangle 9">
            <a:extLst>
              <a:ext uri="{FF2B5EF4-FFF2-40B4-BE49-F238E27FC236}">
                <a16:creationId xmlns:a16="http://schemas.microsoft.com/office/drawing/2014/main" id="{0BAA36A7-1965-4684-A0A4-F9F901D40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/>
              <a:t>指针数组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>
            <a:extLst>
              <a:ext uri="{FF2B5EF4-FFF2-40B4-BE49-F238E27FC236}">
                <a16:creationId xmlns:a16="http://schemas.microsoft.com/office/drawing/2014/main" id="{D1623991-8B46-4FDF-A4E7-4331695879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4E46B028-7DFA-4D80-949B-88DD99BE9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7.4 指针数组</a:t>
            </a:r>
            <a:endParaRPr lang="zh-CN" altLang="en-US" dirty="0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AA2C86B-A898-45D1-BD1B-5C2E2071DB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4500" y="1125538"/>
            <a:ext cx="8394700" cy="503976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stdlib.h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SIZE 1000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#define LEN 256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latin typeface="Consolas" panose="020B0609020204030204" pitchFamily="49" charset="0"/>
              </a:rPr>
              <a:t>strSort</a:t>
            </a:r>
            <a:r>
              <a:rPr lang="en-US" altLang="zh-CN" sz="2000" dirty="0">
                <a:latin typeface="Consolas" panose="020B0609020204030204" pitchFamily="49" charset="0"/>
              </a:rPr>
              <a:t>(char * a[], int n);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 int </a:t>
            </a:r>
            <a:r>
              <a:rPr lang="en-US" altLang="zh-CN" sz="2000" dirty="0" err="1">
                <a:latin typeface="Consolas" panose="020B0609020204030204" pitchFamily="49" charset="0"/>
              </a:rPr>
              <a:t>n,i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 char * name[SIZE];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 input lines number:");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 err="1">
                <a:latin typeface="Consolas" panose="020B0609020204030204" pitchFamily="49" charset="0"/>
              </a:rPr>
              <a:t>getchar</a:t>
            </a:r>
            <a:r>
              <a:rPr lang="en-US" altLang="zh-CN" sz="2000" dirty="0">
                <a:latin typeface="Consolas" panose="020B0609020204030204" pitchFamily="49" charset="0"/>
              </a:rPr>
              <a:t>();//</a:t>
            </a:r>
            <a:r>
              <a:rPr lang="zh-CN" altLang="en-US" sz="2000" dirty="0">
                <a:latin typeface="Consolas" panose="020B0609020204030204" pitchFamily="49" charset="0"/>
              </a:rPr>
              <a:t>读取回车符，否则系统会认为输入的第一个串会是空串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&lt;= n-1;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       name[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] =(char *) malloc(LEN);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if ( name[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]==NULL)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 %d string malloc failed\n",i+1);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else  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fgets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(name[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LEN,stdin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sz="2000" dirty="0">
                <a:latin typeface="Consolas" panose="020B0609020204030204" pitchFamily="49" charset="0"/>
              </a:rPr>
              <a:t> //</a:t>
            </a:r>
            <a:r>
              <a:rPr lang="zh-CN" altLang="en-US" sz="2000" dirty="0">
                <a:latin typeface="Consolas" panose="020B0609020204030204" pitchFamily="49" charset="0"/>
              </a:rPr>
              <a:t>读取字符串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</a:t>
            </a: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灯片编号占位符 5">
            <a:extLst>
              <a:ext uri="{FF2B5EF4-FFF2-40B4-BE49-F238E27FC236}">
                <a16:creationId xmlns:a16="http://schemas.microsoft.com/office/drawing/2014/main" id="{9E231F99-9569-4ECE-89A8-4ADDBAF4FA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068B2045-BE83-43D5-B4E8-5337298A53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7.4 指针数组</a:t>
            </a:r>
            <a:endParaRPr lang="zh-CN" altLang="en-US" dirty="0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98A3CF3-D4AE-4D9D-AB38-689A194169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2750" y="1268760"/>
            <a:ext cx="8318500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 err="1">
                <a:latin typeface="Consolas" panose="020B0609020204030204" pitchFamily="49" charset="0"/>
              </a:rPr>
              <a:t>strSort</a:t>
            </a:r>
            <a:r>
              <a:rPr lang="en-US" altLang="zh-CN" sz="2000" dirty="0">
                <a:latin typeface="Consolas" panose="020B0609020204030204" pitchFamily="49" charset="0"/>
              </a:rPr>
              <a:t>(name, n); /*n</a:t>
            </a:r>
            <a:r>
              <a:rPr lang="zh-CN" altLang="en-US" sz="2000" dirty="0">
                <a:latin typeface="Consolas" panose="020B0609020204030204" pitchFamily="49" charset="0"/>
              </a:rPr>
              <a:t>书名按字典序升序排序</a:t>
            </a:r>
            <a:r>
              <a:rPr lang="en-US" altLang="zh-CN" sz="2000" dirty="0">
                <a:latin typeface="Consolas" panose="020B0609020204030204" pitchFamily="49" charset="0"/>
              </a:rPr>
              <a:t>*/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 sorted strings :\n");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&lt;= n-1;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</a:t>
            </a:r>
            <a:r>
              <a:rPr lang="en-US" altLang="zh-CN" sz="2000" dirty="0" err="1">
                <a:latin typeface="Consolas" panose="020B0609020204030204" pitchFamily="49" charset="0"/>
              </a:rPr>
              <a:t>fputs</a:t>
            </a:r>
            <a:r>
              <a:rPr lang="en-US" altLang="zh-CN" sz="2000" dirty="0">
                <a:latin typeface="Consolas" panose="020B0609020204030204" pitchFamily="49" charset="0"/>
              </a:rPr>
              <a:t>(name[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],</a:t>
            </a:r>
            <a:r>
              <a:rPr lang="en-US" altLang="zh-CN" sz="2000" dirty="0" err="1">
                <a:latin typeface="Consolas" panose="020B0609020204030204" pitchFamily="49" charset="0"/>
              </a:rPr>
              <a:t>stdout</a:t>
            </a:r>
            <a:r>
              <a:rPr lang="en-US" altLang="zh-CN" sz="2000" dirty="0">
                <a:latin typeface="Consolas" panose="020B0609020204030204" pitchFamily="49" charset="0"/>
              </a:rPr>
              <a:t>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//</a:t>
            </a:r>
            <a:r>
              <a:rPr lang="zh-CN" altLang="en-US" sz="2000" dirty="0">
                <a:latin typeface="Consolas" panose="020B0609020204030204" pitchFamily="49" charset="0"/>
              </a:rPr>
              <a:t>内存释放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先释放字符串再释放指针数组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 </a:t>
            </a:r>
            <a:r>
              <a:rPr lang="en-US" altLang="zh-CN" sz="2000" dirty="0">
                <a:latin typeface="Consolas" panose="020B0609020204030204" pitchFamily="49" charset="0"/>
              </a:rPr>
              <a:t>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&lt;= n-1;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free(name[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	    name[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 = NULL;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  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return 0;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 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4">
            <a:extLst>
              <a:ext uri="{FF2B5EF4-FFF2-40B4-BE49-F238E27FC236}">
                <a16:creationId xmlns:a16="http://schemas.microsoft.com/office/drawing/2014/main" id="{D34FE99C-98E3-4FCC-B408-D7685996C6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A28DB56-EEEE-437C-AAFB-1B12E27D9FB1}" type="slidenum">
              <a:rPr lang="zh-CN" altLang="en-US" smtClean="0"/>
              <a:pPr/>
              <a:t>47</a:t>
            </a:fld>
            <a:endParaRPr lang="zh-CN" altLang="en-US"/>
          </a:p>
        </p:txBody>
      </p:sp>
      <p:graphicFrame>
        <p:nvGraphicFramePr>
          <p:cNvPr id="56322" name="Object 4">
            <a:extLst>
              <a:ext uri="{FF2B5EF4-FFF2-40B4-BE49-F238E27FC236}">
                <a16:creationId xmlns:a16="http://schemas.microsoft.com/office/drawing/2014/main" id="{60C5E291-5B8D-4253-93FE-DFF99EE2A19E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468313" y="1196975"/>
          <a:ext cx="8426450" cy="512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200560" imgH="3273120" progId="Visio.Drawing.11">
                  <p:embed/>
                </p:oleObj>
              </mc:Choice>
              <mc:Fallback>
                <p:oleObj r:id="rId2" imgW="5200560" imgH="3273120" progId="Visio.Drawing.11">
                  <p:embed/>
                  <p:pic>
                    <p:nvPicPr>
                      <p:cNvPr id="56322" name="Object 4">
                        <a:extLst>
                          <a:ext uri="{FF2B5EF4-FFF2-40B4-BE49-F238E27FC236}">
                            <a16:creationId xmlns:a16="http://schemas.microsoft.com/office/drawing/2014/main" id="{60C5E291-5B8D-4253-93FE-DFF99EE2A19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196975"/>
                        <a:ext cx="8426450" cy="51212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Text Box 6">
            <a:extLst>
              <a:ext uri="{FF2B5EF4-FFF2-40B4-BE49-F238E27FC236}">
                <a16:creationId xmlns:a16="http://schemas.microsoft.com/office/drawing/2014/main" id="{113901F0-04D3-4B3D-9497-C622D61E2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832" y="360470"/>
            <a:ext cx="5300240" cy="75713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void  sort(char * a[], int n);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对指针数组中各字符串进行字典排序</a:t>
            </a:r>
          </a:p>
        </p:txBody>
      </p:sp>
      <p:grpSp>
        <p:nvGrpSpPr>
          <p:cNvPr id="56324" name="Group 58">
            <a:extLst>
              <a:ext uri="{FF2B5EF4-FFF2-40B4-BE49-F238E27FC236}">
                <a16:creationId xmlns:a16="http://schemas.microsoft.com/office/drawing/2014/main" id="{4B3D7907-0404-419D-A3EE-DC625465144F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149725"/>
            <a:ext cx="4321175" cy="2232025"/>
            <a:chOff x="113" y="2568"/>
            <a:chExt cx="2722" cy="1406"/>
          </a:xfrm>
        </p:grpSpPr>
        <p:sp>
          <p:nvSpPr>
            <p:cNvPr id="56325" name="Rectangle 36">
              <a:extLst>
                <a:ext uri="{FF2B5EF4-FFF2-40B4-BE49-F238E27FC236}">
                  <a16:creationId xmlns:a16="http://schemas.microsoft.com/office/drawing/2014/main" id="{0E9E5CCD-A95B-43D5-878A-997E05A1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812"/>
              <a:ext cx="901" cy="10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326" name="Line 37">
              <a:extLst>
                <a:ext uri="{FF2B5EF4-FFF2-40B4-BE49-F238E27FC236}">
                  <a16:creationId xmlns:a16="http://schemas.microsoft.com/office/drawing/2014/main" id="{D20B7311-72F4-4CE4-9086-F39BF11F08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" y="3090"/>
              <a:ext cx="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7" name="Line 38">
              <a:extLst>
                <a:ext uri="{FF2B5EF4-FFF2-40B4-BE49-F238E27FC236}">
                  <a16:creationId xmlns:a16="http://schemas.microsoft.com/office/drawing/2014/main" id="{96DC90B9-B3AF-4CBB-B9E9-47A8CB0BF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3357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8" name="Line 39">
              <a:extLst>
                <a:ext uri="{FF2B5EF4-FFF2-40B4-BE49-F238E27FC236}">
                  <a16:creationId xmlns:a16="http://schemas.microsoft.com/office/drawing/2014/main" id="{9B0333CB-80DD-4483-8FF3-AA78A7CC6A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" y="3613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29" name="Text Box 40">
              <a:extLst>
                <a:ext uri="{FF2B5EF4-FFF2-40B4-BE49-F238E27FC236}">
                  <a16:creationId xmlns:a16="http://schemas.microsoft.com/office/drawing/2014/main" id="{41A8AAB1-C5F8-49AF-BD77-C5618B5F4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" y="2832"/>
              <a:ext cx="37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a[0]</a:t>
              </a:r>
            </a:p>
          </p:txBody>
        </p:sp>
        <p:sp>
          <p:nvSpPr>
            <p:cNvPr id="56330" name="Text Box 41">
              <a:extLst>
                <a:ext uri="{FF2B5EF4-FFF2-40B4-BE49-F238E27FC236}">
                  <a16:creationId xmlns:a16="http://schemas.microsoft.com/office/drawing/2014/main" id="{94AED51C-7165-44CA-9DF3-8FCD95C36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98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…</a:t>
              </a:r>
            </a:p>
          </p:txBody>
        </p:sp>
        <p:sp>
          <p:nvSpPr>
            <p:cNvPr id="56331" name="Text Box 42">
              <a:extLst>
                <a:ext uri="{FF2B5EF4-FFF2-40B4-BE49-F238E27FC236}">
                  <a16:creationId xmlns:a16="http://schemas.microsoft.com/office/drawing/2014/main" id="{639D5467-B36E-4B9B-B6C8-A0CE599BD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" y="3354"/>
              <a:ext cx="6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a[size-2]</a:t>
              </a:r>
            </a:p>
          </p:txBody>
        </p:sp>
        <p:sp>
          <p:nvSpPr>
            <p:cNvPr id="56332" name="Text Box 43">
              <a:extLst>
                <a:ext uri="{FF2B5EF4-FFF2-40B4-BE49-F238E27FC236}">
                  <a16:creationId xmlns:a16="http://schemas.microsoft.com/office/drawing/2014/main" id="{A64EDB44-AF30-4DAB-BA5D-BD4A9185D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" y="3632"/>
              <a:ext cx="6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000"/>
                <a:t>a[size-1]</a:t>
              </a:r>
            </a:p>
          </p:txBody>
        </p:sp>
        <p:sp>
          <p:nvSpPr>
            <p:cNvPr id="56333" name="Text Box 44">
              <a:extLst>
                <a:ext uri="{FF2B5EF4-FFF2-40B4-BE49-F238E27FC236}">
                  <a16:creationId xmlns:a16="http://schemas.microsoft.com/office/drawing/2014/main" id="{A5AA4980-8737-47A1-8CB5-3D0081F22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" y="256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400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56334" name="Line 45">
              <a:extLst>
                <a:ext uri="{FF2B5EF4-FFF2-40B4-BE49-F238E27FC236}">
                  <a16:creationId xmlns:a16="http://schemas.microsoft.com/office/drawing/2014/main" id="{8146AF7C-1A65-45B9-A541-C6B84DAB1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3257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Line 46">
              <a:extLst>
                <a:ext uri="{FF2B5EF4-FFF2-40B4-BE49-F238E27FC236}">
                  <a16:creationId xmlns:a16="http://schemas.microsoft.com/office/drawing/2014/main" id="{31C6CC73-3981-4D59-96FF-753A252D3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3497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6" name="Line 47">
              <a:extLst>
                <a:ext uri="{FF2B5EF4-FFF2-40B4-BE49-F238E27FC236}">
                  <a16:creationId xmlns:a16="http://schemas.microsoft.com/office/drawing/2014/main" id="{68963C64-A777-4A42-BB64-EB3873B3B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3785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7" name="Line 48">
              <a:extLst>
                <a:ext uri="{FF2B5EF4-FFF2-40B4-BE49-F238E27FC236}">
                  <a16:creationId xmlns:a16="http://schemas.microsoft.com/office/drawing/2014/main" id="{9637804E-8FE1-4463-80FB-6E13C2F08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5" y="295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56338" name="Picture 54">
              <a:extLst>
                <a:ext uri="{FF2B5EF4-FFF2-40B4-BE49-F238E27FC236}">
                  <a16:creationId xmlns:a16="http://schemas.microsoft.com/office/drawing/2014/main" id="{1D450D1A-B91D-4968-9EFD-E6C407802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5" y="2795"/>
              <a:ext cx="134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39" name="Picture 55">
              <a:extLst>
                <a:ext uri="{FF2B5EF4-FFF2-40B4-BE49-F238E27FC236}">
                  <a16:creationId xmlns:a16="http://schemas.microsoft.com/office/drawing/2014/main" id="{845C21E8-BD1F-435F-A41D-E799F56C33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5" y="3115"/>
              <a:ext cx="134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40" name="Picture 56">
              <a:extLst>
                <a:ext uri="{FF2B5EF4-FFF2-40B4-BE49-F238E27FC236}">
                  <a16:creationId xmlns:a16="http://schemas.microsoft.com/office/drawing/2014/main" id="{812486C3-F7E4-427A-89BF-6A919A6706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5" y="3385"/>
              <a:ext cx="134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341" name="Picture 57">
              <a:extLst>
                <a:ext uri="{FF2B5EF4-FFF2-40B4-BE49-F238E27FC236}">
                  <a16:creationId xmlns:a16="http://schemas.microsoft.com/office/drawing/2014/main" id="{59F853BE-6481-4EDF-B3BF-190A9BB1A8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5" y="3704"/>
              <a:ext cx="134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灯片编号占位符 5">
            <a:extLst>
              <a:ext uri="{FF2B5EF4-FFF2-40B4-BE49-F238E27FC236}">
                <a16:creationId xmlns:a16="http://schemas.microsoft.com/office/drawing/2014/main" id="{5A3F2E26-6D4C-4F67-80C6-F9B7BE332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57346" name="Rectangle 4">
            <a:extLst>
              <a:ext uri="{FF2B5EF4-FFF2-40B4-BE49-F238E27FC236}">
                <a16:creationId xmlns:a16="http://schemas.microsoft.com/office/drawing/2014/main" id="{083770B2-DE54-4154-8D07-FE38B11C72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8615" y="1209092"/>
            <a:ext cx="8458200" cy="538826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 </a:t>
            </a:r>
            <a:r>
              <a:rPr lang="en-US" altLang="zh-CN" sz="2000" dirty="0" err="1">
                <a:latin typeface="Consolas" panose="020B0609020204030204" pitchFamily="49" charset="0"/>
              </a:rPr>
              <a:t>strSort</a:t>
            </a:r>
            <a:r>
              <a:rPr lang="en-US" altLang="zh-CN" sz="2000" dirty="0">
                <a:latin typeface="Consolas" panose="020B0609020204030204" pitchFamily="49" charset="0"/>
              </a:rPr>
              <a:t>(char * a[], int n){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	char * </a:t>
            </a:r>
            <a:r>
              <a:rPr lang="en-US" altLang="zh-CN" sz="2000" dirty="0" err="1">
                <a:latin typeface="Consolas" panose="020B0609020204030204" pitchFamily="49" charset="0"/>
              </a:rPr>
              <a:t>pt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, j, min;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/*</a:t>
            </a:r>
            <a:r>
              <a:rPr lang="zh-CN" altLang="en-US" sz="2000" dirty="0">
                <a:latin typeface="Consolas" panose="020B0609020204030204" pitchFamily="49" charset="0"/>
              </a:rPr>
              <a:t>使用选择排序</a:t>
            </a:r>
            <a:r>
              <a:rPr lang="en-US" altLang="zh-CN" sz="2000" dirty="0">
                <a:latin typeface="Consolas" panose="020B0609020204030204" pitchFamily="49" charset="0"/>
              </a:rPr>
              <a:t>, </a:t>
            </a:r>
            <a:r>
              <a:rPr lang="zh-CN" altLang="en-US" sz="2000" dirty="0">
                <a:latin typeface="Consolas" panose="020B0609020204030204" pitchFamily="49" charset="0"/>
              </a:rPr>
              <a:t>外循环每循环一次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确定</a:t>
            </a:r>
            <a:r>
              <a:rPr lang="en-US" altLang="zh-CN" sz="2000" dirty="0">
                <a:latin typeface="Consolas" panose="020B0609020204030204" pitchFamily="49" charset="0"/>
              </a:rPr>
              <a:t>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</a:t>
            </a:r>
            <a:r>
              <a:rPr lang="zh-CN" altLang="en-US" sz="2000" dirty="0">
                <a:latin typeface="Consolas" panose="020B0609020204030204" pitchFamily="49" charset="0"/>
              </a:rPr>
              <a:t>的值*</a:t>
            </a:r>
            <a:r>
              <a:rPr lang="en-US" altLang="zh-CN" sz="2000" dirty="0">
                <a:latin typeface="Consolas" panose="020B0609020204030204" pitchFamily="49" charset="0"/>
              </a:rPr>
              <a:t>/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for(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=0;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&lt;n-1;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++){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min=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; 			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for(j=</a:t>
            </a:r>
            <a:r>
              <a:rPr lang="en-US" altLang="zh-CN" sz="2000" dirty="0" err="1">
                <a:latin typeface="Consolas" panose="020B0609020204030204" pitchFamily="49" charset="0"/>
              </a:rPr>
              <a:t>i+1</a:t>
            </a:r>
            <a:r>
              <a:rPr lang="en-US" altLang="zh-CN" sz="2000" dirty="0">
                <a:latin typeface="Consolas" panose="020B0609020204030204" pitchFamily="49" charset="0"/>
              </a:rPr>
              <a:t>; j&lt;n; </a:t>
            </a:r>
            <a:r>
              <a:rPr lang="en-US" altLang="zh-CN" sz="2000" dirty="0" err="1">
                <a:latin typeface="Consolas" panose="020B0609020204030204" pitchFamily="49" charset="0"/>
              </a:rPr>
              <a:t>j++</a:t>
            </a:r>
            <a:r>
              <a:rPr lang="en-US" altLang="zh-CN" sz="2000" dirty="0">
                <a:latin typeface="Consolas" panose="020B0609020204030204" pitchFamily="49" charset="0"/>
              </a:rPr>
              <a:t>) 	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if(</a:t>
            </a:r>
            <a:r>
              <a:rPr lang="en-US" altLang="zh-CN" sz="2000" dirty="0" err="1">
                <a:latin typeface="Consolas" panose="020B0609020204030204" pitchFamily="49" charset="0"/>
              </a:rPr>
              <a:t>strcmp</a:t>
            </a:r>
            <a:r>
              <a:rPr lang="en-US" altLang="zh-CN" sz="2000" dirty="0">
                <a:latin typeface="Consolas" panose="020B0609020204030204" pitchFamily="49" charset="0"/>
              </a:rPr>
              <a:t>(a[min],a[j])&gt;0)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     min=j; 	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 	if(min!=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){ 		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 err="1">
                <a:latin typeface="Consolas" panose="020B0609020204030204" pitchFamily="49" charset="0"/>
              </a:rPr>
              <a:t>pt</a:t>
            </a:r>
            <a:r>
              <a:rPr lang="en-US" altLang="zh-CN" sz="2000" dirty="0">
                <a:latin typeface="Consolas" panose="020B0609020204030204" pitchFamily="49" charset="0"/>
              </a:rPr>
              <a:t>=a[min];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a[min]=a[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a[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]=</a:t>
            </a:r>
            <a:r>
              <a:rPr lang="en-US" altLang="zh-CN" sz="2000" dirty="0" err="1">
                <a:latin typeface="Consolas" panose="020B0609020204030204" pitchFamily="49" charset="0"/>
              </a:rPr>
              <a:t>pt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}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}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0B104A2-8DA6-9FB1-35F3-EC9975F09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7784" y="404813"/>
            <a:ext cx="6408266" cy="7207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字符串排序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灯片编号占位符 5">
            <a:extLst>
              <a:ext uri="{FF2B5EF4-FFF2-40B4-BE49-F238E27FC236}">
                <a16:creationId xmlns:a16="http://schemas.microsoft.com/office/drawing/2014/main" id="{5A3F2E26-6D4C-4F67-80C6-F9B7BE3329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57346" name="Rectangle 4">
            <a:extLst>
              <a:ext uri="{FF2B5EF4-FFF2-40B4-BE49-F238E27FC236}">
                <a16:creationId xmlns:a16="http://schemas.microsoft.com/office/drawing/2014/main" id="{083770B2-DE54-4154-8D07-FE38B11C72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8615" y="1209092"/>
            <a:ext cx="8458200" cy="538826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main(void){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char input[SIZE][LEN];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char *name[SIZE]; </a:t>
            </a:r>
            <a:r>
              <a:rPr lang="en-US" altLang="zh-CN" sz="1800" dirty="0">
                <a:latin typeface="Consolas" panose="020B0609020204030204" pitchFamily="49" charset="0"/>
              </a:rPr>
              <a:t>/* array of pointer variables */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int </a:t>
            </a:r>
            <a:r>
              <a:rPr lang="en-US" altLang="zh-CN" sz="1800" dirty="0" err="1"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latin typeface="Consolas" panose="020B0609020204030204" pitchFamily="49" charset="0"/>
              </a:rPr>
              <a:t> = 0;       /* input count*/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int k;            /* output count*/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("Input up to %d lines, and I will sort them.\</a:t>
            </a:r>
            <a:r>
              <a:rPr lang="en-US" altLang="zh-CN" sz="1800" dirty="0" err="1">
                <a:latin typeface="Consolas" panose="020B0609020204030204" pitchFamily="49" charset="0"/>
              </a:rPr>
              <a:t>n",SIZE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("To stop, press the Enter key at a line's start.\n");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(input[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LEN,stdin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while (</a:t>
            </a:r>
            <a:r>
              <a:rPr lang="en-US" altLang="zh-CN" sz="1800" dirty="0" err="1"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latin typeface="Consolas" panose="020B0609020204030204" pitchFamily="49" charset="0"/>
              </a:rPr>
              <a:t> &lt; SIZE &amp;&amp; input[</a:t>
            </a:r>
            <a:r>
              <a:rPr lang="en-US" altLang="zh-CN" sz="1800" dirty="0" err="1"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latin typeface="Consolas" panose="020B0609020204030204" pitchFamily="49" charset="0"/>
              </a:rPr>
              <a:t>][0] != '\0'){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name[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] = input[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];  </a:t>
            </a:r>
            <a:r>
              <a:rPr lang="en-US" altLang="zh-CN" sz="1800" dirty="0">
                <a:latin typeface="Consolas" panose="020B0609020204030204" pitchFamily="49" charset="0"/>
              </a:rPr>
              <a:t>/*set </a:t>
            </a:r>
            <a:r>
              <a:rPr lang="en-US" altLang="zh-CN" sz="1800" dirty="0" err="1">
                <a:latin typeface="Consolas" panose="020B0609020204030204" pitchFamily="49" charset="0"/>
              </a:rPr>
              <a:t>ptrs</a:t>
            </a:r>
            <a:r>
              <a:rPr lang="en-US" altLang="zh-CN" sz="1800" dirty="0">
                <a:latin typeface="Consolas" panose="020B0609020204030204" pitchFamily="49" charset="0"/>
              </a:rPr>
              <a:t> to strings*/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</a:t>
            </a:r>
            <a:r>
              <a:rPr lang="en-US" altLang="zh-CN" sz="1800" dirty="0" err="1"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latin typeface="Consolas" panose="020B0609020204030204" pitchFamily="49" charset="0"/>
              </a:rPr>
              <a:t>++;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	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fgets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(input[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],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LEN,stdin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}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strSort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name,ct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);   </a:t>
            </a:r>
            <a:r>
              <a:rPr lang="en-US" altLang="zh-CN" sz="1800" dirty="0">
                <a:latin typeface="Consolas" panose="020B0609020204030204" pitchFamily="49" charset="0"/>
              </a:rPr>
              <a:t>	/* string sorter */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puts("\</a:t>
            </a:r>
            <a:r>
              <a:rPr lang="en-US" altLang="zh-CN" sz="1800" dirty="0" err="1">
                <a:latin typeface="Consolas" panose="020B0609020204030204" pitchFamily="49" charset="0"/>
              </a:rPr>
              <a:t>nHere's</a:t>
            </a:r>
            <a:r>
              <a:rPr lang="en-US" altLang="zh-CN" sz="1800" dirty="0">
                <a:latin typeface="Consolas" panose="020B0609020204030204" pitchFamily="49" charset="0"/>
              </a:rPr>
              <a:t> the sorted list:\n");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for (k = 0; k &lt; </a:t>
            </a:r>
            <a:r>
              <a:rPr lang="en-US" altLang="zh-CN" sz="1800" dirty="0" err="1">
                <a:latin typeface="Consolas" panose="020B0609020204030204" pitchFamily="49" charset="0"/>
              </a:rPr>
              <a:t>ct</a:t>
            </a:r>
            <a:r>
              <a:rPr lang="en-US" altLang="zh-CN" sz="1800" dirty="0">
                <a:latin typeface="Consolas" panose="020B0609020204030204" pitchFamily="49" charset="0"/>
              </a:rPr>
              <a:t>; k++)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fputs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(name[k],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stdout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800" dirty="0">
                <a:latin typeface="Consolas" panose="020B0609020204030204" pitchFamily="49" charset="0"/>
              </a:rPr>
              <a:t>; 	/* sorted pointers */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return 0;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0B104A2-8DA6-9FB1-35F3-EC9975F09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7784" y="404813"/>
            <a:ext cx="6408266" cy="7207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二维数组排序多字符串方案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901351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5">
            <a:extLst>
              <a:ext uri="{FF2B5EF4-FFF2-40B4-BE49-F238E27FC236}">
                <a16:creationId xmlns:a16="http://schemas.microsoft.com/office/drawing/2014/main" id="{0BFF5984-C15F-46A7-A5F7-2F414AC121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6BE0FE11-4ED6-4C9D-810C-8168DCACC7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268413"/>
            <a:ext cx="7772400" cy="5105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dirty="0"/>
              <a:t>  </a:t>
            </a:r>
            <a:r>
              <a:rPr lang="zh-CN" altLang="en-US" b="1" dirty="0">
                <a:solidFill>
                  <a:schemeClr val="accent2"/>
                </a:solidFill>
              </a:rPr>
              <a:t>问题描述</a:t>
            </a: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</a:rPr>
              <a:t>       每一付牌共有</a:t>
            </a:r>
            <a:r>
              <a:rPr lang="en-US" altLang="zh-CN" b="1" dirty="0">
                <a:solidFill>
                  <a:schemeClr val="accent2"/>
                </a:solidFill>
              </a:rPr>
              <a:t>52</a:t>
            </a:r>
            <a:r>
              <a:rPr lang="zh-CN" altLang="en-US" b="1" dirty="0">
                <a:solidFill>
                  <a:schemeClr val="accent2"/>
                </a:solidFill>
              </a:rPr>
              <a:t>张（不考虑大小王），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	   </a:t>
            </a:r>
            <a:r>
              <a:rPr lang="zh-CN" altLang="en-US" b="1" dirty="0">
                <a:solidFill>
                  <a:schemeClr val="accent2"/>
                </a:solidFill>
              </a:rPr>
              <a:t>有</a:t>
            </a:r>
            <a:r>
              <a:rPr lang="en-US" altLang="zh-CN" b="1" dirty="0">
                <a:solidFill>
                  <a:schemeClr val="accent2"/>
                </a:solidFill>
              </a:rPr>
              <a:t>13</a:t>
            </a:r>
            <a:r>
              <a:rPr lang="zh-CN" altLang="en-US" b="1" dirty="0">
                <a:solidFill>
                  <a:schemeClr val="accent2"/>
                </a:solidFill>
              </a:rPr>
              <a:t>种面值，每</a:t>
            </a:r>
            <a:r>
              <a:rPr lang="en-US" altLang="zh-CN" b="1" dirty="0">
                <a:solidFill>
                  <a:schemeClr val="accent2"/>
                </a:solidFill>
              </a:rPr>
              <a:t>1</a:t>
            </a:r>
            <a:r>
              <a:rPr lang="zh-CN" altLang="en-US" b="1" dirty="0">
                <a:solidFill>
                  <a:schemeClr val="accent2"/>
                </a:solidFill>
              </a:rPr>
              <a:t>种面值 有</a:t>
            </a:r>
            <a:r>
              <a:rPr lang="en-US" altLang="zh-CN" b="1" dirty="0">
                <a:solidFill>
                  <a:schemeClr val="accent2"/>
                </a:solidFill>
              </a:rPr>
              <a:t>4</a:t>
            </a:r>
            <a:r>
              <a:rPr lang="zh-CN" altLang="en-US" b="1" dirty="0">
                <a:solidFill>
                  <a:schemeClr val="accent2"/>
                </a:solidFill>
              </a:rPr>
              <a:t>种花色。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Tx/>
              <a:buNone/>
            </a:pPr>
            <a:endParaRPr lang="en-US" altLang="zh-CN" b="1" dirty="0">
              <a:solidFill>
                <a:schemeClr val="accent2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accent2"/>
                </a:solidFill>
              </a:rPr>
              <a:t>思考：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971550" lvl="1" indent="-514350" eaLnBrk="1" hangingPunct="1">
              <a:buFont typeface="宋体" panose="02010600030101010101" pitchFamily="2" charset="-122"/>
              <a:buAutoNum type="arabicPeriod"/>
            </a:pPr>
            <a:r>
              <a:rPr lang="zh-CN" altLang="en-US" b="1" dirty="0">
                <a:solidFill>
                  <a:schemeClr val="accent2"/>
                </a:solidFill>
              </a:rPr>
              <a:t>计算机如何表示？（抽象）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971550" lvl="1" indent="-514350" eaLnBrk="1" hangingPunct="1">
              <a:buFont typeface="宋体" panose="02010600030101010101" pitchFamily="2" charset="-122"/>
              <a:buAutoNum type="arabicPeriod"/>
            </a:pPr>
            <a:r>
              <a:rPr lang="zh-CN" altLang="en-US" b="1" dirty="0">
                <a:solidFill>
                  <a:schemeClr val="accent2"/>
                </a:solidFill>
              </a:rPr>
              <a:t>如何存储？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marL="971550" lvl="1" indent="-514350" eaLnBrk="1" hangingPunct="1">
              <a:buFont typeface="宋体" panose="02010600030101010101" pitchFamily="2" charset="-122"/>
              <a:buAutoNum type="arabicPeriod"/>
            </a:pPr>
            <a:r>
              <a:rPr lang="zh-CN" altLang="en-US" b="1" dirty="0">
                <a:solidFill>
                  <a:schemeClr val="accent2"/>
                </a:solidFill>
              </a:rPr>
              <a:t>如何模拟洗牌与发牌？</a:t>
            </a:r>
          </a:p>
          <a:p>
            <a:pPr eaLnBrk="1" hangingPunct="1">
              <a:buFontTx/>
              <a:buNone/>
            </a:pPr>
            <a:r>
              <a:rPr lang="zh-CN" altLang="en-US" dirty="0"/>
              <a:t>        </a:t>
            </a:r>
            <a:endParaRPr lang="en-US" altLang="zh-CN" b="1" dirty="0"/>
          </a:p>
        </p:txBody>
      </p:sp>
      <p:sp>
        <p:nvSpPr>
          <p:cNvPr id="60419" name="Rectangle 5">
            <a:extLst>
              <a:ext uri="{FF2B5EF4-FFF2-40B4-BE49-F238E27FC236}">
                <a16:creationId xmlns:a16="http://schemas.microsoft.com/office/drawing/2014/main" id="{A243ABF7-CF97-4FB6-A14F-CB8959E4D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  </a:t>
            </a:r>
            <a:r>
              <a:rPr lang="zh-CN" altLang="en-US" b="1"/>
              <a:t>实例研究一：（模拟发牌和洗牌）</a:t>
            </a:r>
          </a:p>
        </p:txBody>
      </p:sp>
      <p:pic>
        <p:nvPicPr>
          <p:cNvPr id="60420" name="Picture 6">
            <a:extLst>
              <a:ext uri="{FF2B5EF4-FFF2-40B4-BE49-F238E27FC236}">
                <a16:creationId xmlns:a16="http://schemas.microsoft.com/office/drawing/2014/main" id="{FB8AE304-6259-4449-B690-188786AFA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75" y="2852738"/>
            <a:ext cx="4500563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4">
            <a:extLst>
              <a:ext uri="{FF2B5EF4-FFF2-40B4-BE49-F238E27FC236}">
                <a16:creationId xmlns:a16="http://schemas.microsoft.com/office/drawing/2014/main" id="{975D31B8-02DA-40B2-A4F9-586EE3EC73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fld id="{184253C2-A1F9-42F1-81C8-0D63D8B02D10}" type="slidenum">
              <a:rPr lang="zh-CN" altLang="en-US" smtClean="0"/>
              <a:pPr>
                <a:spcBef>
                  <a:spcPct val="0"/>
                </a:spcBef>
              </a:pPr>
              <a:t>51</a:t>
            </a:fld>
            <a:endParaRPr lang="zh-CN" altLang="en-US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274AD106-9EC7-4068-9BFB-AFF6CD0B6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麻烦的显示牌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72EE71D-898E-4AA5-9A79-4210298B31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65086"/>
            <a:ext cx="3619128" cy="5494337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void </a:t>
            </a:r>
            <a:r>
              <a:rPr lang="en-US" altLang="zh-CN" sz="1800" dirty="0" err="1">
                <a:latin typeface="Consolas" panose="020B0609020204030204" pitchFamily="49" charset="0"/>
              </a:rPr>
              <a:t>outputCard</a:t>
            </a:r>
            <a:r>
              <a:rPr lang="en-US" altLang="zh-CN" sz="1800" dirty="0">
                <a:latin typeface="Consolas" panose="020B0609020204030204" pitchFamily="49" charset="0"/>
              </a:rPr>
              <a:t>(int </a:t>
            </a:r>
            <a:r>
              <a:rPr lang="en-US" altLang="zh-CN" sz="1800" dirty="0" err="1">
                <a:latin typeface="Consolas" panose="020B0609020204030204" pitchFamily="49" charset="0"/>
              </a:rPr>
              <a:t>i,int</a:t>
            </a:r>
            <a:r>
              <a:rPr lang="en-US" altLang="zh-CN" sz="1800" dirty="0"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</a:rPr>
              <a:t>row,int</a:t>
            </a:r>
            <a:r>
              <a:rPr lang="en-US" altLang="zh-CN" sz="1800" dirty="0">
                <a:latin typeface="Consolas" panose="020B0609020204030204" pitchFamily="49" charset="0"/>
              </a:rPr>
              <a:t> col)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</a:t>
            </a:r>
            <a:r>
              <a:rPr lang="zh-CN" altLang="en-US" sz="1800" dirty="0">
                <a:latin typeface="Consolas" panose="020B0609020204030204" pitchFamily="49" charset="0"/>
              </a:rPr>
              <a:t>第</a:t>
            </a:r>
            <a:r>
              <a:rPr lang="en-US" altLang="zh-CN" sz="1800" dirty="0">
                <a:latin typeface="Consolas" panose="020B0609020204030204" pitchFamily="49" charset="0"/>
              </a:rPr>
              <a:t>%d</a:t>
            </a:r>
            <a:r>
              <a:rPr lang="zh-CN" altLang="en-US" sz="1800" dirty="0">
                <a:latin typeface="Consolas" panose="020B0609020204030204" pitchFamily="49" charset="0"/>
              </a:rPr>
              <a:t>张牌：</a:t>
            </a:r>
            <a:r>
              <a:rPr lang="en-US" altLang="zh-CN" sz="1800" dirty="0">
                <a:latin typeface="Consolas" panose="020B0609020204030204" pitchFamily="49" charset="0"/>
              </a:rPr>
              <a:t>",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switch (col){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0:printf("Acer");break;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1:printf("Deuce");break;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2:printf("Three");break;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3:printf("Four");break;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4:printf("Five");break;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5:printf("Six");break;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6:printf("Seven");break;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case 7:printf("Eight");break;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C4C8A7-5A93-4F5C-929A-E765BFD6C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1265085"/>
            <a:ext cx="4555232" cy="549433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defRPr sz="2000" b="1">
                <a:latin typeface="+mn-lt"/>
                <a:ea typeface="+mn-ea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8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800">
                <a:latin typeface="+mn-lt"/>
                <a:ea typeface="+mn-ea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latin typeface="+mn-lt"/>
                <a:ea typeface="+mn-ea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latin typeface="+mn-lt"/>
                <a:ea typeface="+mn-ea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latin typeface="+mn-lt"/>
                <a:ea typeface="+mn-ea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latin typeface="+mn-lt"/>
                <a:ea typeface="+mn-ea"/>
              </a:defRPr>
            </a:lvl9pPr>
          </a:lstStyle>
          <a:p>
            <a:r>
              <a:rPr lang="en-US" altLang="zh-CN" sz="1800" b="0" dirty="0">
                <a:latin typeface="Consolas" panose="020B0609020204030204" pitchFamily="49" charset="0"/>
              </a:rPr>
              <a:t>case 8:printf("Nine");break;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9:printf("Ten");break;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10:printf("Jack");break;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11:printf("Queen");break;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12:printf("King");break;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</a:t>
            </a:r>
            <a:r>
              <a:rPr lang="en-US" altLang="zh-CN" sz="1800" b="0" dirty="0" err="1">
                <a:latin typeface="Consolas" panose="020B0609020204030204" pitchFamily="49" charset="0"/>
              </a:rPr>
              <a:t>default:printf</a:t>
            </a:r>
            <a:r>
              <a:rPr lang="en-US" altLang="zh-CN" sz="1800" b="0" dirty="0">
                <a:latin typeface="Consolas" panose="020B0609020204030204" pitchFamily="49" charset="0"/>
              </a:rPr>
              <a:t>("</a:t>
            </a:r>
            <a:r>
              <a:rPr lang="zh-CN" altLang="en-US" sz="1800" b="0" dirty="0">
                <a:latin typeface="Consolas" panose="020B0609020204030204" pitchFamily="49" charset="0"/>
              </a:rPr>
              <a:t>无效的面值 </a:t>
            </a:r>
            <a:r>
              <a:rPr lang="en-US" altLang="zh-CN" sz="1800" b="0" dirty="0">
                <a:latin typeface="Consolas" panose="020B0609020204030204" pitchFamily="49" charset="0"/>
              </a:rPr>
              <a:t>!");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}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</a:t>
            </a:r>
            <a:r>
              <a:rPr lang="en-US" altLang="zh-CN" sz="1800" b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b="0" dirty="0">
                <a:latin typeface="Consolas" panose="020B0609020204030204" pitchFamily="49" charset="0"/>
              </a:rPr>
              <a:t>(" of ");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switch (row){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0:printf("Hearts");break;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1:printf("diamonds");break;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2:printf("Clubs");break;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case 3:printf("Spades");break;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   </a:t>
            </a:r>
            <a:r>
              <a:rPr lang="en-US" altLang="zh-CN" sz="1800" b="0" dirty="0" err="1">
                <a:latin typeface="Consolas" panose="020B0609020204030204" pitchFamily="49" charset="0"/>
              </a:rPr>
              <a:t>default:printf</a:t>
            </a:r>
            <a:r>
              <a:rPr lang="en-US" altLang="zh-CN" sz="1800" b="0" dirty="0">
                <a:latin typeface="Consolas" panose="020B0609020204030204" pitchFamily="49" charset="0"/>
              </a:rPr>
              <a:t>("</a:t>
            </a:r>
            <a:r>
              <a:rPr lang="zh-CN" altLang="en-US" sz="1800" b="0" dirty="0">
                <a:latin typeface="Consolas" panose="020B0609020204030204" pitchFamily="49" charset="0"/>
              </a:rPr>
              <a:t>无效的花色 </a:t>
            </a:r>
            <a:r>
              <a:rPr lang="en-US" altLang="zh-CN" sz="1800" b="0" dirty="0">
                <a:latin typeface="Consolas" panose="020B0609020204030204" pitchFamily="49" charset="0"/>
              </a:rPr>
              <a:t>!");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}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   </a:t>
            </a:r>
            <a:r>
              <a:rPr lang="en-US" altLang="zh-CN" sz="1800" b="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b="0" dirty="0">
                <a:latin typeface="Consolas" panose="020B0609020204030204" pitchFamily="49" charset="0"/>
              </a:rPr>
              <a:t>("\n");</a:t>
            </a:r>
          </a:p>
          <a:p>
            <a:r>
              <a:rPr lang="en-US" altLang="zh-CN" sz="1800" b="0" dirty="0">
                <a:latin typeface="Consolas" panose="020B0609020204030204" pitchFamily="49" charset="0"/>
              </a:rPr>
              <a:t>}</a:t>
            </a:r>
            <a:endParaRPr lang="zh-CN" altLang="en-US" sz="1800" b="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标题 1">
            <a:extLst>
              <a:ext uri="{FF2B5EF4-FFF2-40B4-BE49-F238E27FC236}">
                <a16:creationId xmlns:a16="http://schemas.microsoft.com/office/drawing/2014/main" id="{D856AA00-FAE9-4E55-8934-501DDFD27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0658" name="内容占位符 2">
            <a:extLst>
              <a:ext uri="{FF2B5EF4-FFF2-40B4-BE49-F238E27FC236}">
                <a16:creationId xmlns:a16="http://schemas.microsoft.com/office/drawing/2014/main" id="{58AFC604-79B8-46E2-BE11-F8790E3EE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2565400"/>
            <a:ext cx="7773987" cy="1295400"/>
          </a:xfrm>
        </p:spPr>
        <p:txBody>
          <a:bodyPr/>
          <a:lstStyle/>
          <a:p>
            <a:r>
              <a:rPr lang="zh-CN" altLang="en-US" sz="3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也可采用指针数组输出字符串的方式</a:t>
            </a:r>
          </a:p>
        </p:txBody>
      </p:sp>
      <p:sp>
        <p:nvSpPr>
          <p:cNvPr id="70659" name="灯片编号占位符 3">
            <a:extLst>
              <a:ext uri="{FF2B5EF4-FFF2-40B4-BE49-F238E27FC236}">
                <a16:creationId xmlns:a16="http://schemas.microsoft.com/office/drawing/2014/main" id="{4D622A98-52B0-4807-9DFE-2AA3A03859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fld id="{184253C2-A1F9-42F1-81C8-0D63D8B02D10}" type="slidenum">
              <a:rPr lang="zh-CN" altLang="en-US" smtClean="0"/>
              <a:pPr>
                <a:spcBef>
                  <a:spcPct val="0"/>
                </a:spcBef>
              </a:pPr>
              <a:t>52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5">
            <a:extLst>
              <a:ext uri="{FF2B5EF4-FFF2-40B4-BE49-F238E27FC236}">
                <a16:creationId xmlns:a16="http://schemas.microsoft.com/office/drawing/2014/main" id="{D37526F0-FA60-491D-A08D-8ADD489325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fld id="{184253C2-A1F9-42F1-81C8-0D63D8B02D10}" type="slidenum">
              <a:rPr lang="zh-CN" altLang="en-US" smtClean="0"/>
              <a:pPr>
                <a:spcBef>
                  <a:spcPct val="0"/>
                </a:spcBef>
              </a:pPr>
              <a:t>53</a:t>
            </a:fld>
            <a:endParaRPr lang="zh-CN" altLang="en-US"/>
          </a:p>
        </p:txBody>
      </p:sp>
      <p:grpSp>
        <p:nvGrpSpPr>
          <p:cNvPr id="71682" name="Group 47">
            <a:extLst>
              <a:ext uri="{FF2B5EF4-FFF2-40B4-BE49-F238E27FC236}">
                <a16:creationId xmlns:a16="http://schemas.microsoft.com/office/drawing/2014/main" id="{E5014DEF-3475-48AB-90D8-D7FF7896D3F8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196975"/>
            <a:ext cx="5618162" cy="2209800"/>
            <a:chOff x="521" y="754"/>
            <a:chExt cx="3539" cy="1392"/>
          </a:xfrm>
        </p:grpSpPr>
        <p:sp>
          <p:nvSpPr>
            <p:cNvPr id="71683" name="Rectangle 5">
              <a:extLst>
                <a:ext uri="{FF2B5EF4-FFF2-40B4-BE49-F238E27FC236}">
                  <a16:creationId xmlns:a16="http://schemas.microsoft.com/office/drawing/2014/main" id="{930BB75D-AF63-46C4-BAF2-2C63755F0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043"/>
              <a:ext cx="901" cy="10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84" name="Line 6">
              <a:extLst>
                <a:ext uri="{FF2B5EF4-FFF2-40B4-BE49-F238E27FC236}">
                  <a16:creationId xmlns:a16="http://schemas.microsoft.com/office/drawing/2014/main" id="{56D5779B-7367-4254-9F19-B2580D5E0C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1321"/>
              <a:ext cx="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85" name="Line 7">
              <a:extLst>
                <a:ext uri="{FF2B5EF4-FFF2-40B4-BE49-F238E27FC236}">
                  <a16:creationId xmlns:a16="http://schemas.microsoft.com/office/drawing/2014/main" id="{A74DE4E6-0CFF-4D29-8256-BF0732207E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1588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542FC36C-4175-4FB0-9FBA-1385F5DA3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1844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87" name="Text Box 13">
              <a:extLst>
                <a:ext uri="{FF2B5EF4-FFF2-40B4-BE49-F238E27FC236}">
                  <a16:creationId xmlns:a16="http://schemas.microsoft.com/office/drawing/2014/main" id="{F8BC0A2D-6A63-4A4B-B0D9-E903707E4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754"/>
              <a:ext cx="4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400">
                  <a:solidFill>
                    <a:srgbClr val="0000FF"/>
                  </a:solidFill>
                </a:rPr>
                <a:t>suit</a:t>
              </a:r>
            </a:p>
          </p:txBody>
        </p:sp>
        <p:pic>
          <p:nvPicPr>
            <p:cNvPr id="71688" name="Picture 22">
              <a:extLst>
                <a:ext uri="{FF2B5EF4-FFF2-40B4-BE49-F238E27FC236}">
                  <a16:creationId xmlns:a16="http://schemas.microsoft.com/office/drawing/2014/main" id="{4F3EDC01-5DEB-4C55-8937-304B09FAB6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981"/>
              <a:ext cx="190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689" name="Picture 23">
              <a:extLst>
                <a:ext uri="{FF2B5EF4-FFF2-40B4-BE49-F238E27FC236}">
                  <a16:creationId xmlns:a16="http://schemas.microsoft.com/office/drawing/2014/main" id="{60700EE6-625F-4DB6-88E9-7EB77FF31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1298"/>
              <a:ext cx="249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690" name="Picture 26">
              <a:extLst>
                <a:ext uri="{FF2B5EF4-FFF2-40B4-BE49-F238E27FC236}">
                  <a16:creationId xmlns:a16="http://schemas.microsoft.com/office/drawing/2014/main" id="{AB4CCDB7-D3DC-4315-8A96-819B95B399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1596"/>
              <a:ext cx="1436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691" name="Picture 27">
              <a:extLst>
                <a:ext uri="{FF2B5EF4-FFF2-40B4-BE49-F238E27FC236}">
                  <a16:creationId xmlns:a16="http://schemas.microsoft.com/office/drawing/2014/main" id="{A3DCC7F0-7774-4E7D-91CC-72A389940B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5" y="1888"/>
              <a:ext cx="195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692" name="Line 28">
              <a:extLst>
                <a:ext uri="{FF2B5EF4-FFF2-40B4-BE49-F238E27FC236}">
                  <a16:creationId xmlns:a16="http://schemas.microsoft.com/office/drawing/2014/main" id="{EC98C077-8C97-4863-9FCF-099A10A76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48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93" name="Line 29">
              <a:extLst>
                <a:ext uri="{FF2B5EF4-FFF2-40B4-BE49-F238E27FC236}">
                  <a16:creationId xmlns:a16="http://schemas.microsoft.com/office/drawing/2014/main" id="{9A177977-283A-4E63-AD44-DC26DE8C2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7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94" name="Line 30">
              <a:extLst>
                <a:ext uri="{FF2B5EF4-FFF2-40B4-BE49-F238E27FC236}">
                  <a16:creationId xmlns:a16="http://schemas.microsoft.com/office/drawing/2014/main" id="{67985A9F-3E0C-412B-BA41-F1CC98E6E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95" name="Line 31">
              <a:extLst>
                <a:ext uri="{FF2B5EF4-FFF2-40B4-BE49-F238E27FC236}">
                  <a16:creationId xmlns:a16="http://schemas.microsoft.com/office/drawing/2014/main" id="{0CF4FC0E-B5CA-489B-AD44-8014C1253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1181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71696" name="Text Box 32">
            <a:extLst>
              <a:ext uri="{FF2B5EF4-FFF2-40B4-BE49-F238E27FC236}">
                <a16:creationId xmlns:a16="http://schemas.microsoft.com/office/drawing/2014/main" id="{FD4E3E9A-A06C-41FC-AD12-04CC5C171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60350"/>
            <a:ext cx="6948487" cy="82232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定义两个指针数组</a:t>
            </a:r>
            <a:r>
              <a:rPr lang="en-US" altLang="zh-CN" sz="2400"/>
              <a:t>suit</a:t>
            </a:r>
            <a:r>
              <a:rPr lang="zh-CN" altLang="en-US" sz="2400"/>
              <a:t>和</a:t>
            </a:r>
            <a:r>
              <a:rPr lang="en-US" altLang="zh-CN" sz="2400"/>
              <a:t>face</a:t>
            </a:r>
            <a:r>
              <a:rPr lang="zh-CN" altLang="en-US" sz="2400"/>
              <a:t>，分别用来翻译</a:t>
            </a:r>
            <a:r>
              <a:rPr lang="en-US" altLang="zh-CN" sz="2400"/>
              <a:t>deck</a:t>
            </a:r>
            <a:r>
              <a:rPr lang="zh-CN" altLang="en-US" sz="2400"/>
              <a:t>的行下标到花色的对应、列下表到面值的对应。</a:t>
            </a:r>
          </a:p>
        </p:txBody>
      </p:sp>
      <p:grpSp>
        <p:nvGrpSpPr>
          <p:cNvPr id="71697" name="Group 46">
            <a:extLst>
              <a:ext uri="{FF2B5EF4-FFF2-40B4-BE49-F238E27FC236}">
                <a16:creationId xmlns:a16="http://schemas.microsoft.com/office/drawing/2014/main" id="{B7439CA0-A311-499F-B5DC-C986BCA9FEFF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3759200"/>
            <a:ext cx="4103687" cy="2178050"/>
            <a:chOff x="567" y="2368"/>
            <a:chExt cx="2585" cy="1372"/>
          </a:xfrm>
        </p:grpSpPr>
        <p:sp>
          <p:nvSpPr>
            <p:cNvPr id="71698" name="Rectangle 33">
              <a:extLst>
                <a:ext uri="{FF2B5EF4-FFF2-40B4-BE49-F238E27FC236}">
                  <a16:creationId xmlns:a16="http://schemas.microsoft.com/office/drawing/2014/main" id="{52672587-16AB-4530-8415-FBE89A0E7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2657"/>
              <a:ext cx="901" cy="104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699" name="Line 34">
              <a:extLst>
                <a:ext uri="{FF2B5EF4-FFF2-40B4-BE49-F238E27FC236}">
                  <a16:creationId xmlns:a16="http://schemas.microsoft.com/office/drawing/2014/main" id="{DF57BDA5-8F9B-4E92-BE78-6C90B72C65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" y="2935"/>
              <a:ext cx="9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700" name="Line 35">
              <a:extLst>
                <a:ext uri="{FF2B5EF4-FFF2-40B4-BE49-F238E27FC236}">
                  <a16:creationId xmlns:a16="http://schemas.microsoft.com/office/drawing/2014/main" id="{25D0562C-92FD-4869-9C58-F22410E12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3202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701" name="Line 36">
              <a:extLst>
                <a:ext uri="{FF2B5EF4-FFF2-40B4-BE49-F238E27FC236}">
                  <a16:creationId xmlns:a16="http://schemas.microsoft.com/office/drawing/2014/main" id="{6434140B-350B-4DB9-BE9D-7CB3316D0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3458"/>
              <a:ext cx="9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702" name="Text Box 37">
              <a:extLst>
                <a:ext uri="{FF2B5EF4-FFF2-40B4-BE49-F238E27FC236}">
                  <a16:creationId xmlns:a16="http://schemas.microsoft.com/office/drawing/2014/main" id="{CEF169BF-A80B-4889-81D5-B91EFCD73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2368"/>
              <a:ext cx="4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400">
                  <a:solidFill>
                    <a:srgbClr val="0000FF"/>
                  </a:solidFill>
                </a:rPr>
                <a:t>face</a:t>
              </a:r>
            </a:p>
          </p:txBody>
        </p:sp>
        <p:sp>
          <p:nvSpPr>
            <p:cNvPr id="71703" name="Line 39">
              <a:extLst>
                <a:ext uri="{FF2B5EF4-FFF2-40B4-BE49-F238E27FC236}">
                  <a16:creationId xmlns:a16="http://schemas.microsoft.com/office/drawing/2014/main" id="{E5BA8BFF-5C9E-4700-84F3-DD3F6C41F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3297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704" name="Line 40">
              <a:extLst>
                <a:ext uri="{FF2B5EF4-FFF2-40B4-BE49-F238E27FC236}">
                  <a16:creationId xmlns:a16="http://schemas.microsoft.com/office/drawing/2014/main" id="{E41243CD-2D4C-455B-A5D4-71B26B2C5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3585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705" name="Line 41">
              <a:extLst>
                <a:ext uri="{FF2B5EF4-FFF2-40B4-BE49-F238E27FC236}">
                  <a16:creationId xmlns:a16="http://schemas.microsoft.com/office/drawing/2014/main" id="{0CC4F3E9-6A6F-4BFE-B997-5F1D0C6D4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1" y="275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706" name="Text Box 42">
              <a:extLst>
                <a:ext uri="{FF2B5EF4-FFF2-40B4-BE49-F238E27FC236}">
                  <a16:creationId xmlns:a16="http://schemas.microsoft.com/office/drawing/2014/main" id="{E04BBAAB-A69E-41D6-AF9C-C923F7A8F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" y="2931"/>
              <a:ext cx="589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/>
                <a:t>……</a:t>
              </a:r>
            </a:p>
          </p:txBody>
        </p:sp>
        <p:pic>
          <p:nvPicPr>
            <p:cNvPr id="71707" name="Picture 43">
              <a:extLst>
                <a:ext uri="{FF2B5EF4-FFF2-40B4-BE49-F238E27FC236}">
                  <a16:creationId xmlns:a16="http://schemas.microsoft.com/office/drawing/2014/main" id="{A417DA3E-55A2-430B-927D-3EDBBF71D7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2659"/>
              <a:ext cx="104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708" name="Picture 44">
              <a:extLst>
                <a:ext uri="{FF2B5EF4-FFF2-40B4-BE49-F238E27FC236}">
                  <a16:creationId xmlns:a16="http://schemas.microsoft.com/office/drawing/2014/main" id="{2D990169-D4C3-49D9-B6CB-F2D36C2AC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3129"/>
              <a:ext cx="154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709" name="Picture 45">
              <a:extLst>
                <a:ext uri="{FF2B5EF4-FFF2-40B4-BE49-F238E27FC236}">
                  <a16:creationId xmlns:a16="http://schemas.microsoft.com/office/drawing/2014/main" id="{8FC3B3CC-1DE9-461D-AEC9-4E06060371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0" y="3475"/>
              <a:ext cx="1270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710" name="Text Box 48">
            <a:extLst>
              <a:ext uri="{FF2B5EF4-FFF2-40B4-BE49-F238E27FC236}">
                <a16:creationId xmlns:a16="http://schemas.microsoft.com/office/drawing/2014/main" id="{7EF32C2F-539E-45F0-8C8C-BBAB6C84B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00213"/>
            <a:ext cx="1081088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suit[0]</a:t>
            </a:r>
          </a:p>
        </p:txBody>
      </p:sp>
      <p:sp>
        <p:nvSpPr>
          <p:cNvPr id="71711" name="Text Box 49">
            <a:extLst>
              <a:ext uri="{FF2B5EF4-FFF2-40B4-BE49-F238E27FC236}">
                <a16:creationId xmlns:a16="http://schemas.microsoft.com/office/drawing/2014/main" id="{ABCACF0D-C72B-4998-8D85-79A23D636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060575"/>
            <a:ext cx="1081088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suit[1]</a:t>
            </a:r>
          </a:p>
        </p:txBody>
      </p:sp>
      <p:sp>
        <p:nvSpPr>
          <p:cNvPr id="71712" name="Text Box 50">
            <a:extLst>
              <a:ext uri="{FF2B5EF4-FFF2-40B4-BE49-F238E27FC236}">
                <a16:creationId xmlns:a16="http://schemas.microsoft.com/office/drawing/2014/main" id="{532B1342-3933-4D76-95EF-E2CDF8054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92375"/>
            <a:ext cx="1081088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suit[2]</a:t>
            </a:r>
          </a:p>
        </p:txBody>
      </p:sp>
      <p:sp>
        <p:nvSpPr>
          <p:cNvPr id="71713" name="Text Box 51">
            <a:extLst>
              <a:ext uri="{FF2B5EF4-FFF2-40B4-BE49-F238E27FC236}">
                <a16:creationId xmlns:a16="http://schemas.microsoft.com/office/drawing/2014/main" id="{35D6A105-2CD5-497F-97BA-4FAA179F7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2924175"/>
            <a:ext cx="1081088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suit[3]</a:t>
            </a:r>
          </a:p>
        </p:txBody>
      </p:sp>
      <p:sp>
        <p:nvSpPr>
          <p:cNvPr id="71714" name="Text Box 52">
            <a:extLst>
              <a:ext uri="{FF2B5EF4-FFF2-40B4-BE49-F238E27FC236}">
                <a16:creationId xmlns:a16="http://schemas.microsoft.com/office/drawing/2014/main" id="{BBB71C69-2B95-4E6B-9AD7-645747C02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292600"/>
            <a:ext cx="1081088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face[0]</a:t>
            </a:r>
          </a:p>
        </p:txBody>
      </p:sp>
      <p:sp>
        <p:nvSpPr>
          <p:cNvPr id="71715" name="Text Box 53">
            <a:extLst>
              <a:ext uri="{FF2B5EF4-FFF2-40B4-BE49-F238E27FC236}">
                <a16:creationId xmlns:a16="http://schemas.microsoft.com/office/drawing/2014/main" id="{609CFB62-5BD2-42F1-B4CD-9434D4AA2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5078413"/>
            <a:ext cx="1081088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face[11]</a:t>
            </a:r>
          </a:p>
        </p:txBody>
      </p:sp>
      <p:sp>
        <p:nvSpPr>
          <p:cNvPr id="71716" name="Text Box 54">
            <a:extLst>
              <a:ext uri="{FF2B5EF4-FFF2-40B4-BE49-F238E27FC236}">
                <a16:creationId xmlns:a16="http://schemas.microsoft.com/office/drawing/2014/main" id="{2BCE9763-7DC6-4643-BEC4-CFC9C677F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5510213"/>
            <a:ext cx="1081088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/>
              <a:t>face[12]</a:t>
            </a:r>
          </a:p>
        </p:txBody>
      </p:sp>
      <p:sp>
        <p:nvSpPr>
          <p:cNvPr id="71717" name="Text Box 55">
            <a:extLst>
              <a:ext uri="{FF2B5EF4-FFF2-40B4-BE49-F238E27FC236}">
                <a16:creationId xmlns:a16="http://schemas.microsoft.com/office/drawing/2014/main" id="{84F0CC71-C970-4BED-933C-77F9570A9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076700"/>
            <a:ext cx="3600450" cy="12604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/>
              <a:t>如果</a:t>
            </a:r>
            <a:r>
              <a:rPr lang="en-US" altLang="zh-CN" sz="2800"/>
              <a:t>deck</a:t>
            </a:r>
            <a:r>
              <a:rPr lang="zh-CN" altLang="en-US" sz="2800"/>
              <a:t>中第</a:t>
            </a:r>
            <a:r>
              <a:rPr lang="en-US" altLang="zh-CN" sz="2800"/>
              <a:t>0</a:t>
            </a:r>
            <a:r>
              <a:rPr lang="zh-CN" altLang="en-US" sz="2800"/>
              <a:t>行第</a:t>
            </a:r>
            <a:r>
              <a:rPr lang="en-US" altLang="zh-CN" sz="2800"/>
              <a:t>0</a:t>
            </a:r>
            <a:r>
              <a:rPr lang="zh-CN" altLang="en-US" sz="2800"/>
              <a:t>列的值是</a:t>
            </a:r>
            <a:r>
              <a:rPr lang="en-US" altLang="zh-CN" sz="2800"/>
              <a:t>10</a:t>
            </a:r>
            <a:r>
              <a:rPr lang="zh-CN" altLang="en-US" sz="2800"/>
              <a:t>，表示第</a:t>
            </a:r>
            <a:r>
              <a:rPr lang="en-US" altLang="zh-CN" sz="2800"/>
              <a:t>10</a:t>
            </a:r>
            <a:r>
              <a:rPr lang="zh-CN" altLang="en-US" sz="2800"/>
              <a:t>张牌是</a:t>
            </a:r>
            <a:r>
              <a:rPr lang="en-US" altLang="zh-CN" sz="2800"/>
              <a:t>heart A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5">
            <a:extLst>
              <a:ext uri="{FF2B5EF4-FFF2-40B4-BE49-F238E27FC236}">
                <a16:creationId xmlns:a16="http://schemas.microsoft.com/office/drawing/2014/main" id="{BE37866C-C616-4379-842D-91C6E1489E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fld id="{184253C2-A1F9-42F1-81C8-0D63D8B02D10}" type="slidenum">
              <a:rPr lang="zh-CN" altLang="en-US" smtClean="0"/>
              <a:pPr>
                <a:spcBef>
                  <a:spcPct val="0"/>
                </a:spcBef>
              </a:pPr>
              <a:t>54</a:t>
            </a:fld>
            <a:endParaRPr lang="zh-CN" altLang="en-US"/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28993A5A-3A19-4BA1-9731-E5BB1518F6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836613"/>
            <a:ext cx="8763000" cy="6021387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/*发牌程序*/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stdlib.h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time.h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shuffle (int [][13]);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deal(const int [][13],const char *[],const char *[]);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const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char * suit[4]={"Hearts", "diamonds", "Clubs", "Spades"};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    const char * face[13]={"Acer", "Deuce", "Three", "Four", "Five", 		                  "Six", "Seven", "Eight", "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Nine","Ten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",  		                 "Jack", "Queen", "King"};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deck[4][13]={0};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srand</a:t>
            </a:r>
            <a:r>
              <a:rPr lang="en-US" altLang="zh-CN" sz="2000" dirty="0">
                <a:latin typeface="Consolas" panose="020B0609020204030204" pitchFamily="49" charset="0"/>
              </a:rPr>
              <a:t>((unsigned)time(NULL));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shuffle(deck);//</a:t>
            </a:r>
            <a:r>
              <a:rPr lang="zh-CN" altLang="en-US" sz="2000" dirty="0">
                <a:latin typeface="Consolas" panose="020B0609020204030204" pitchFamily="49" charset="0"/>
              </a:rPr>
              <a:t>洗牌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deal(deck,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face, suit</a:t>
            </a:r>
            <a:r>
              <a:rPr lang="en-US" altLang="zh-CN" sz="2000" dirty="0">
                <a:latin typeface="Consolas" panose="020B0609020204030204" pitchFamily="49" charset="0"/>
              </a:rPr>
              <a:t>);//</a:t>
            </a:r>
            <a:r>
              <a:rPr lang="zh-CN" altLang="en-US" sz="2000" dirty="0">
                <a:latin typeface="Consolas" panose="020B0609020204030204" pitchFamily="49" charset="0"/>
              </a:rPr>
              <a:t>发牌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2707" name="Group 53">
            <a:extLst>
              <a:ext uri="{FF2B5EF4-FFF2-40B4-BE49-F238E27FC236}">
                <a16:creationId xmlns:a16="http://schemas.microsoft.com/office/drawing/2014/main" id="{FF595E1F-CD2E-4AD4-B2F7-E7A813BC4543}"/>
              </a:ext>
            </a:extLst>
          </p:cNvPr>
          <p:cNvGrpSpPr>
            <a:grpSpLocks/>
          </p:cNvGrpSpPr>
          <p:nvPr/>
        </p:nvGrpSpPr>
        <p:grpSpPr bwMode="auto">
          <a:xfrm>
            <a:off x="2627313" y="-26988"/>
            <a:ext cx="5475287" cy="1316038"/>
            <a:chOff x="1655" y="164"/>
            <a:chExt cx="3449" cy="829"/>
          </a:xfrm>
        </p:grpSpPr>
        <p:sp>
          <p:nvSpPr>
            <p:cNvPr id="72708" name="Rectangle 3">
              <a:extLst>
                <a:ext uri="{FF2B5EF4-FFF2-40B4-BE49-F238E27FC236}">
                  <a16:creationId xmlns:a16="http://schemas.microsoft.com/office/drawing/2014/main" id="{69CBC854-3647-417B-AC74-3CD76B027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239"/>
              <a:ext cx="398" cy="71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09" name="Text Box 7">
              <a:extLst>
                <a:ext uri="{FF2B5EF4-FFF2-40B4-BE49-F238E27FC236}">
                  <a16:creationId xmlns:a16="http://schemas.microsoft.com/office/drawing/2014/main" id="{55EDADD9-44FF-4BA1-B573-EC7223A4F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164"/>
              <a:ext cx="6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400">
                  <a:solidFill>
                    <a:srgbClr val="0000FF"/>
                  </a:solidFill>
                </a:rPr>
                <a:t>suit</a:t>
              </a:r>
            </a:p>
          </p:txBody>
        </p:sp>
        <p:pic>
          <p:nvPicPr>
            <p:cNvPr id="72710" name="Picture 8">
              <a:extLst>
                <a:ext uri="{FF2B5EF4-FFF2-40B4-BE49-F238E27FC236}">
                  <a16:creationId xmlns:a16="http://schemas.microsoft.com/office/drawing/2014/main" id="{7E0E9E08-AC3B-4B06-B457-EE467B25AD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8" y="196"/>
              <a:ext cx="1417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11" name="Picture 9">
              <a:extLst>
                <a:ext uri="{FF2B5EF4-FFF2-40B4-BE49-F238E27FC236}">
                  <a16:creationId xmlns:a16="http://schemas.microsoft.com/office/drawing/2014/main" id="{E39AF36D-C19C-4D37-ACAC-AB8B9C460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8" y="413"/>
              <a:ext cx="1856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12" name="Picture 10">
              <a:extLst>
                <a:ext uri="{FF2B5EF4-FFF2-40B4-BE49-F238E27FC236}">
                  <a16:creationId xmlns:a16="http://schemas.microsoft.com/office/drawing/2014/main" id="{25256620-70AC-4B71-95C0-1EB36D05D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8" y="617"/>
              <a:ext cx="1068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13" name="Picture 11">
              <a:extLst>
                <a:ext uri="{FF2B5EF4-FFF2-40B4-BE49-F238E27FC236}">
                  <a16:creationId xmlns:a16="http://schemas.microsoft.com/office/drawing/2014/main" id="{F83A9B80-1998-4D37-B87E-5A8C53ED5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8" y="817"/>
              <a:ext cx="1451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14" name="Line 12">
              <a:extLst>
                <a:ext uri="{FF2B5EF4-FFF2-40B4-BE49-F238E27FC236}">
                  <a16:creationId xmlns:a16="http://schemas.microsoft.com/office/drawing/2014/main" id="{76E91256-5EE2-49BF-A79A-1CA0C80CC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543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15" name="Line 13">
              <a:extLst>
                <a:ext uri="{FF2B5EF4-FFF2-40B4-BE49-F238E27FC236}">
                  <a16:creationId xmlns:a16="http://schemas.microsoft.com/office/drawing/2014/main" id="{A141FE57-97A4-43B3-87AA-CB326DC57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707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16" name="Line 14">
              <a:extLst>
                <a:ext uri="{FF2B5EF4-FFF2-40B4-BE49-F238E27FC236}">
                  <a16:creationId xmlns:a16="http://schemas.microsoft.com/office/drawing/2014/main" id="{825A8186-0D47-4FB9-84F7-D841812D6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904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17" name="Line 15">
              <a:extLst>
                <a:ext uri="{FF2B5EF4-FFF2-40B4-BE49-F238E27FC236}">
                  <a16:creationId xmlns:a16="http://schemas.microsoft.com/office/drawing/2014/main" id="{9E274C5C-2F8C-451A-8C19-363981EF2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1" y="333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18" name="Line 16">
              <a:extLst>
                <a:ext uri="{FF2B5EF4-FFF2-40B4-BE49-F238E27FC236}">
                  <a16:creationId xmlns:a16="http://schemas.microsoft.com/office/drawing/2014/main" id="{AF7F8D77-8239-407A-B604-70FDB3FDE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453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19" name="Line 17">
              <a:extLst>
                <a:ext uri="{FF2B5EF4-FFF2-40B4-BE49-F238E27FC236}">
                  <a16:creationId xmlns:a16="http://schemas.microsoft.com/office/drawing/2014/main" id="{65AED042-E3F2-4997-9B30-360BD127D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635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20" name="Line 18">
              <a:extLst>
                <a:ext uri="{FF2B5EF4-FFF2-40B4-BE49-F238E27FC236}">
                  <a16:creationId xmlns:a16="http://schemas.microsoft.com/office/drawing/2014/main" id="{7F34E585-CD20-4D41-B611-DA8CC4DEB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816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21" name="Rectangle 19">
              <a:extLst>
                <a:ext uri="{FF2B5EF4-FFF2-40B4-BE49-F238E27FC236}">
                  <a16:creationId xmlns:a16="http://schemas.microsoft.com/office/drawing/2014/main" id="{7B1E34CE-450E-4142-8759-962EF217E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27"/>
              <a:ext cx="307" cy="21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22" name="Line 21">
              <a:extLst>
                <a:ext uri="{FF2B5EF4-FFF2-40B4-BE49-F238E27FC236}">
                  <a16:creationId xmlns:a16="http://schemas.microsoft.com/office/drawing/2014/main" id="{4E21002E-8BF0-4EEF-9180-1F5A858DD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317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2723" name="Group 55">
            <a:extLst>
              <a:ext uri="{FF2B5EF4-FFF2-40B4-BE49-F238E27FC236}">
                <a16:creationId xmlns:a16="http://schemas.microsoft.com/office/drawing/2014/main" id="{67723C12-8EA5-44E1-BACE-1B81D981A5DA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268413"/>
            <a:ext cx="3816350" cy="1295400"/>
            <a:chOff x="2789" y="981"/>
            <a:chExt cx="2404" cy="816"/>
          </a:xfrm>
        </p:grpSpPr>
        <p:sp>
          <p:nvSpPr>
            <p:cNvPr id="72724" name="Rectangle 37">
              <a:extLst>
                <a:ext uri="{FF2B5EF4-FFF2-40B4-BE49-F238E27FC236}">
                  <a16:creationId xmlns:a16="http://schemas.microsoft.com/office/drawing/2014/main" id="{E1E07F72-C2D4-4FC5-A5A5-387A3E64A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1026"/>
              <a:ext cx="258" cy="75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25" name="Line 38">
              <a:extLst>
                <a:ext uri="{FF2B5EF4-FFF2-40B4-BE49-F238E27FC236}">
                  <a16:creationId xmlns:a16="http://schemas.microsoft.com/office/drawing/2014/main" id="{95DB9D84-90F1-46F6-8AB3-4F8A410FC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1227"/>
              <a:ext cx="2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26" name="Line 40">
              <a:extLst>
                <a:ext uri="{FF2B5EF4-FFF2-40B4-BE49-F238E27FC236}">
                  <a16:creationId xmlns:a16="http://schemas.microsoft.com/office/drawing/2014/main" id="{0EAEBD91-10F7-48CE-ACC0-A544353B6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1604"/>
              <a:ext cx="26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27" name="Line 43">
              <a:extLst>
                <a:ext uri="{FF2B5EF4-FFF2-40B4-BE49-F238E27FC236}">
                  <a16:creationId xmlns:a16="http://schemas.microsoft.com/office/drawing/2014/main" id="{D0F648A3-56B9-4A95-9A67-0B302308F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685"/>
              <a:ext cx="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28" name="Line 44">
              <a:extLst>
                <a:ext uri="{FF2B5EF4-FFF2-40B4-BE49-F238E27FC236}">
                  <a16:creationId xmlns:a16="http://schemas.microsoft.com/office/drawing/2014/main" id="{98C25FBF-0B51-440B-8DA7-E7A1E4693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140"/>
              <a:ext cx="3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pic>
          <p:nvPicPr>
            <p:cNvPr id="72729" name="Picture 46">
              <a:extLst>
                <a:ext uri="{FF2B5EF4-FFF2-40B4-BE49-F238E27FC236}">
                  <a16:creationId xmlns:a16="http://schemas.microsoft.com/office/drawing/2014/main" id="{BA3814A4-6332-4520-BAC0-B0988DC102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1" y="1075"/>
              <a:ext cx="695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30" name="Picture 48">
              <a:extLst>
                <a:ext uri="{FF2B5EF4-FFF2-40B4-BE49-F238E27FC236}">
                  <a16:creationId xmlns:a16="http://schemas.microsoft.com/office/drawing/2014/main" id="{EF2247CD-1470-42D6-83E2-37FCA8FBA3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6" y="1606"/>
              <a:ext cx="847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1" name="Text Box 49">
              <a:extLst>
                <a:ext uri="{FF2B5EF4-FFF2-40B4-BE49-F238E27FC236}">
                  <a16:creationId xmlns:a16="http://schemas.microsoft.com/office/drawing/2014/main" id="{46994FDA-3394-41E7-BDE7-AFFE9F106B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981"/>
              <a:ext cx="6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2400">
                  <a:solidFill>
                    <a:srgbClr val="0000FF"/>
                  </a:solidFill>
                </a:rPr>
                <a:t>face</a:t>
              </a:r>
            </a:p>
          </p:txBody>
        </p:sp>
        <p:sp>
          <p:nvSpPr>
            <p:cNvPr id="72732" name="Rectangle 50">
              <a:extLst>
                <a:ext uri="{FF2B5EF4-FFF2-40B4-BE49-F238E27FC236}">
                  <a16:creationId xmlns:a16="http://schemas.microsoft.com/office/drawing/2014/main" id="{981FCC12-0187-4EF1-9AF1-09E4FCBD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027"/>
              <a:ext cx="307" cy="21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33" name="Line 51">
              <a:extLst>
                <a:ext uri="{FF2B5EF4-FFF2-40B4-BE49-F238E27FC236}">
                  <a16:creationId xmlns:a16="http://schemas.microsoft.com/office/drawing/2014/main" id="{DC947189-31F4-4E65-8991-4ED2ACAFA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6" y="1118"/>
              <a:ext cx="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734" name="Text Box 54">
              <a:extLst>
                <a:ext uri="{FF2B5EF4-FFF2-40B4-BE49-F238E27FC236}">
                  <a16:creationId xmlns:a16="http://schemas.microsoft.com/office/drawing/2014/main" id="{F5A031AB-2F1D-4387-AB74-B1D7381A6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" y="1298"/>
              <a:ext cx="408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/>
                <a:t>……</a:t>
              </a:r>
            </a:p>
          </p:txBody>
        </p:sp>
      </p:grp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">
            <a:extLst>
              <a:ext uri="{FF2B5EF4-FFF2-40B4-BE49-F238E27FC236}">
                <a16:creationId xmlns:a16="http://schemas.microsoft.com/office/drawing/2014/main" id="{E0CEDAF8-5B72-43A8-A60A-31B28C286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3730" name="灯片编号占位符 3">
            <a:extLst>
              <a:ext uri="{FF2B5EF4-FFF2-40B4-BE49-F238E27FC236}">
                <a16:creationId xmlns:a16="http://schemas.microsoft.com/office/drawing/2014/main" id="{3778137C-7280-470A-B943-A86F02FEA7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fld id="{184253C2-A1F9-42F1-81C8-0D63D8B02D10}" type="slidenum">
              <a:rPr lang="zh-CN" altLang="en-US" smtClean="0"/>
              <a:pPr>
                <a:spcBef>
                  <a:spcPct val="0"/>
                </a:spcBef>
              </a:pPr>
              <a:t>55</a:t>
            </a:fld>
            <a:endParaRPr lang="zh-CN" alt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34898B9C-DC93-4460-9099-CBAF0AD9E9E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34144" y="1340768"/>
            <a:ext cx="8515350" cy="461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void deal (const int *</a:t>
            </a:r>
            <a:r>
              <a:rPr lang="en-US" altLang="zh-CN" sz="1800" dirty="0" err="1">
                <a:latin typeface="Consolas" panose="020B0609020204030204" pitchFamily="49" charset="0"/>
              </a:rPr>
              <a:t>wdeck</a:t>
            </a:r>
            <a:r>
              <a:rPr lang="en-US" altLang="zh-CN" sz="1800" dirty="0">
                <a:latin typeface="Consolas" panose="020B0609020204030204" pitchFamily="49" charset="0"/>
              </a:rPr>
              <a:t>, char *</a:t>
            </a:r>
            <a:r>
              <a:rPr lang="en-US" altLang="zh-CN" sz="1800" dirty="0" err="1">
                <a:latin typeface="Consolas" panose="020B0609020204030204" pitchFamily="49" charset="0"/>
              </a:rPr>
              <a:t>wface</a:t>
            </a:r>
            <a:r>
              <a:rPr lang="en-US" altLang="zh-CN" sz="1800" dirty="0">
                <a:latin typeface="Consolas" panose="020B0609020204030204" pitchFamily="49" charset="0"/>
              </a:rPr>
              <a:t>, char * </a:t>
            </a:r>
            <a:r>
              <a:rPr lang="en-US" altLang="zh-CN" sz="1800" dirty="0" err="1">
                <a:latin typeface="Consolas" panose="020B0609020204030204" pitchFamily="49" charset="0"/>
              </a:rPr>
              <a:t>wsuit</a:t>
            </a:r>
            <a:r>
              <a:rPr lang="en-US" altLang="zh-CN" sz="1800" dirty="0">
                <a:latin typeface="Consolas" panose="020B0609020204030204" pitchFamily="49" charset="0"/>
              </a:rPr>
              <a:t>) //</a:t>
            </a:r>
            <a:r>
              <a:rPr lang="zh-CN" altLang="en-US" sz="1800" dirty="0">
                <a:latin typeface="Consolas" panose="020B0609020204030204" pitchFamily="49" charset="0"/>
              </a:rPr>
              <a:t>发牌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int </a:t>
            </a:r>
            <a:r>
              <a:rPr lang="en-US" altLang="zh-CN" sz="1800" dirty="0" err="1">
                <a:latin typeface="Consolas" panose="020B0609020204030204" pitchFamily="49" charset="0"/>
              </a:rPr>
              <a:t>card,row,column,found</a:t>
            </a:r>
            <a:r>
              <a:rPr lang="en-US" altLang="zh-C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endParaRPr lang="en-US" altLang="zh-CN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for (card = </a:t>
            </a:r>
            <a:r>
              <a:rPr lang="en-US" altLang="zh-CN" sz="1800" dirty="0" err="1">
                <a:latin typeface="Consolas" panose="020B0609020204030204" pitchFamily="49" charset="0"/>
              </a:rPr>
              <a:t>1;card</a:t>
            </a:r>
            <a:r>
              <a:rPr lang="en-US" altLang="zh-CN" sz="1800" dirty="0">
                <a:latin typeface="Consolas" panose="020B0609020204030204" pitchFamily="49" charset="0"/>
              </a:rPr>
              <a:t> &lt;= </a:t>
            </a:r>
            <a:r>
              <a:rPr lang="en-US" altLang="zh-CN" sz="1800" dirty="0" err="1">
                <a:latin typeface="Consolas" panose="020B0609020204030204" pitchFamily="49" charset="0"/>
              </a:rPr>
              <a:t>52;card</a:t>
            </a:r>
            <a:r>
              <a:rPr lang="en-US" altLang="zh-CN" sz="18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</a:t>
            </a:r>
            <a:r>
              <a:rPr lang="en-US" altLang="zh-CN" sz="1800" dirty="0">
                <a:solidFill>
                  <a:srgbClr val="003399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800" dirty="0">
                <a:solidFill>
                  <a:srgbClr val="003399"/>
                </a:solidFill>
                <a:latin typeface="Consolas" panose="020B0609020204030204" pitchFamily="49" charset="0"/>
              </a:rPr>
              <a:t>遍历二维数组，查找值为</a:t>
            </a:r>
            <a:r>
              <a:rPr lang="en-US" altLang="zh-CN" sz="1800" dirty="0">
                <a:solidFill>
                  <a:srgbClr val="003399"/>
                </a:solidFill>
                <a:latin typeface="Consolas" panose="020B0609020204030204" pitchFamily="49" charset="0"/>
              </a:rPr>
              <a:t>card</a:t>
            </a:r>
            <a:r>
              <a:rPr lang="zh-CN" altLang="en-US" sz="1800" dirty="0">
                <a:solidFill>
                  <a:srgbClr val="003399"/>
                </a:solidFill>
                <a:latin typeface="Consolas" panose="020B0609020204030204" pitchFamily="49" charset="0"/>
              </a:rPr>
              <a:t>的元素，输出对应的花色和面值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zh-CN" altLang="en-US" sz="1800" dirty="0">
                <a:latin typeface="Consolas" panose="020B0609020204030204" pitchFamily="49" charset="0"/>
              </a:rPr>
              <a:t>         </a:t>
            </a:r>
            <a:r>
              <a:rPr lang="en-US" altLang="zh-CN" sz="1800" dirty="0">
                <a:latin typeface="Consolas" panose="020B0609020204030204" pitchFamily="49" charset="0"/>
              </a:rPr>
              <a:t>found = 0;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for (row=0; row &lt;= 3 &amp;&amp; !found; row++)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for (column=0; column &lt;= 12 &amp;&amp; !found; column++)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   if (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*(</a:t>
            </a: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wdeck+row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*</a:t>
            </a:r>
            <a:r>
              <a:rPr lang="en-US" altLang="zh-CN" sz="1800" dirty="0" err="1">
                <a:solidFill>
                  <a:srgbClr val="0070C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13+column</a:t>
            </a:r>
            <a:r>
              <a:rPr lang="en-US" altLang="zh-CN" sz="1800" dirty="0">
                <a:solidFill>
                  <a:srgbClr val="0070C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)</a:t>
            </a:r>
            <a:r>
              <a:rPr lang="en-US" altLang="zh-CN" sz="1800" dirty="0">
                <a:latin typeface="Consolas" panose="020B0609020204030204" pitchFamily="49" charset="0"/>
              </a:rPr>
              <a:t>==card){</a:t>
            </a:r>
            <a:endParaRPr lang="en-US" altLang="zh-CN" sz="1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       found = 1;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       </a:t>
            </a:r>
            <a:r>
              <a:rPr lang="en-US" altLang="zh-CN" sz="1800" dirty="0" err="1">
                <a:latin typeface="Consolas" panose="020B0609020204030204" pitchFamily="49" charset="0"/>
                <a:sym typeface="宋体" panose="02010600030101010101" pitchFamily="2" charset="-122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sym typeface="宋体" panose="02010600030101010101" pitchFamily="2" charset="-122"/>
              </a:rPr>
              <a:t>("%5s of %-			 </a:t>
            </a:r>
            <a:r>
              <a:rPr lang="en-US" altLang="zh-CN" sz="1800" dirty="0" err="1">
                <a:latin typeface="Consolas" panose="020B0609020204030204" pitchFamily="49" charset="0"/>
                <a:sym typeface="宋体" panose="02010600030101010101" pitchFamily="2" charset="-122"/>
              </a:rPr>
              <a:t>8s%c</a:t>
            </a:r>
            <a:r>
              <a:rPr lang="en-US" altLang="zh-CN" sz="1800" dirty="0">
                <a:latin typeface="Consolas" panose="020B0609020204030204" pitchFamily="49" charset="0"/>
                <a:sym typeface="宋体" panose="02010600030101010101" pitchFamily="2" charset="-122"/>
              </a:rPr>
              <a:t>",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wface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[column],</a:t>
            </a:r>
            <a:r>
              <a:rPr lang="en-US" altLang="zh-CN" sz="1800" dirty="0" err="1">
                <a:solidFill>
                  <a:srgbClr val="FF000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wsuit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sym typeface="宋体" panose="02010600030101010101" pitchFamily="2" charset="-122"/>
              </a:rPr>
              <a:t>[row],</a:t>
            </a:r>
            <a:r>
              <a:rPr lang="en-US" altLang="zh-CN" sz="1800" dirty="0">
                <a:latin typeface="Consolas" panose="020B0609020204030204" pitchFamily="49" charset="0"/>
                <a:sym typeface="宋体" panose="02010600030101010101" pitchFamily="2" charset="-122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sym typeface="宋体" panose="02010600030101010101" pitchFamily="2" charset="-122"/>
              </a:rPr>
              <a:t>card%2</a:t>
            </a:r>
            <a:r>
              <a:rPr lang="en-US" altLang="zh-CN" sz="1800" dirty="0">
                <a:latin typeface="Consolas" panose="020B0609020204030204" pitchFamily="49" charset="0"/>
                <a:sym typeface="宋体" panose="02010600030101010101" pitchFamily="2" charset="-122"/>
              </a:rPr>
              <a:t>==0? '\n':'\t');</a:t>
            </a:r>
            <a:endParaRPr lang="zh-CN" altLang="en-US" sz="1800" dirty="0">
              <a:solidFill>
                <a:srgbClr val="003399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  }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4"/>
          <p:cNvSpPr txBox="1">
            <a:spLocks noGrp="1"/>
          </p:cNvSpPr>
          <p:nvPr/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56</a:t>
            </a:fld>
            <a:endParaRPr lang="zh-CN" altLang="en-US" sz="1400" b="1" dirty="0"/>
          </a:p>
        </p:txBody>
      </p:sp>
      <p:graphicFrame>
        <p:nvGraphicFramePr>
          <p:cNvPr id="73731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3348038" y="2640013"/>
          <a:ext cx="2376487" cy="22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">
                  <p:embed/>
                </p:oleObj>
              </mc:Choice>
              <mc:Fallback>
                <p:oleObj r:id="rId2" imgW="1132205" imgH="1054100" progId="">
                  <p:embed/>
                  <p:pic>
                    <p:nvPicPr>
                      <p:cNvPr id="73731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8038" y="2640013"/>
                        <a:ext cx="2376487" cy="2212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5">
            <a:extLst>
              <a:ext uri="{FF2B5EF4-FFF2-40B4-BE49-F238E27FC236}">
                <a16:creationId xmlns:a16="http://schemas.microsoft.com/office/drawing/2014/main" id="{DE12F970-C51A-46D3-AA0F-922FDBAF9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57</a:t>
            </a:fld>
            <a:endParaRPr lang="zh-CN" altLang="en-US"/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C7CBF4D1-8210-4B51-89E4-11676FEC1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371600"/>
            <a:ext cx="8443664" cy="4114800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400" dirty="0"/>
              <a:t> </a:t>
            </a:r>
            <a:r>
              <a:rPr kumimoji="1" lang="zh-CN" altLang="en-US" sz="2400" b="1" dirty="0"/>
              <a:t>什么是函数指针？</a:t>
            </a:r>
          </a:p>
          <a:p>
            <a:pPr eaLnBrk="1" hangingPunct="1">
              <a:buFontTx/>
              <a:buNone/>
              <a:defRPr/>
            </a:pPr>
            <a:r>
              <a:rPr kumimoji="1" lang="zh-CN" altLang="en-US" sz="2400" b="1" dirty="0">
                <a:solidFill>
                  <a:schemeClr val="folHlink"/>
                </a:solidFill>
              </a:rPr>
              <a:t>    </a:t>
            </a:r>
            <a:r>
              <a:rPr kumimoji="1"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是指向函数的指针，值为函数代码在内存中的起始地址。</a:t>
            </a:r>
          </a:p>
          <a:p>
            <a:pPr eaLnBrk="1" hangingPunct="1">
              <a:buFontTx/>
              <a:buNone/>
              <a:defRPr/>
            </a:pPr>
            <a:r>
              <a:rPr kumimoji="1"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</a:t>
            </a:r>
            <a:r>
              <a:rPr kumimoji="1" lang="zh-CN" altLang="en-US" sz="2400" b="1" u="sng" dirty="0">
                <a:solidFill>
                  <a:schemeClr val="accent2"/>
                </a:solidFill>
              </a:rPr>
              <a:t>函数名</a:t>
            </a:r>
            <a:r>
              <a:rPr kumimoji="1"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实际上是该函数代码在内存存储区域的起始地址。</a:t>
            </a:r>
          </a:p>
          <a:p>
            <a:pPr eaLnBrk="1" hangingPunct="1">
              <a:defRPr/>
            </a:pPr>
            <a:r>
              <a:rPr kumimoji="1" lang="zh-CN" altLang="en-US" sz="2400" b="1" dirty="0"/>
              <a:t> 定义形式</a:t>
            </a:r>
          </a:p>
          <a:p>
            <a:pPr lvl="1" eaLnBrk="1" hangingPunct="1">
              <a:buFontTx/>
              <a:buNone/>
              <a:defRPr/>
            </a:pPr>
            <a:r>
              <a:rPr kumimoji="1" lang="zh-CN" altLang="en-US" sz="2400" b="1" dirty="0">
                <a:solidFill>
                  <a:schemeClr val="accent2"/>
                </a:solidFill>
              </a:rPr>
              <a:t>数据类型   (*指针变量名)(参数类型);</a:t>
            </a:r>
          </a:p>
          <a:p>
            <a:pPr lvl="1"/>
            <a:r>
              <a:rPr lang="en-US" altLang="zh-CN" sz="2400" dirty="0">
                <a:ea typeface="楷体_GB2312" pitchFamily="49" charset="-122"/>
              </a:rPr>
              <a:t>int </a:t>
            </a:r>
            <a:r>
              <a:rPr lang="en-US" altLang="zh-CN" sz="2400" dirty="0" err="1">
                <a:ea typeface="楷体_GB2312" pitchFamily="49" charset="-122"/>
              </a:rPr>
              <a:t>f1</a:t>
            </a:r>
            <a:r>
              <a:rPr lang="en-US" altLang="zh-CN" sz="2400" dirty="0">
                <a:ea typeface="楷体_GB2312" pitchFamily="49" charset="-122"/>
              </a:rPr>
              <a:t>(int, int);    //</a:t>
            </a:r>
            <a:r>
              <a:rPr lang="zh-CN" altLang="en-US" sz="2400" dirty="0">
                <a:ea typeface="楷体_GB2312" pitchFamily="49" charset="-122"/>
              </a:rPr>
              <a:t>普通函数的原型声明。</a:t>
            </a:r>
          </a:p>
          <a:p>
            <a:pPr lvl="1"/>
            <a:r>
              <a:rPr lang="en-US" altLang="zh-CN" sz="2400" dirty="0">
                <a:ea typeface="楷体_GB2312" pitchFamily="49" charset="-122"/>
              </a:rPr>
              <a:t>int * </a:t>
            </a:r>
            <a:r>
              <a:rPr lang="en-US" altLang="zh-CN" sz="2400" dirty="0" err="1">
                <a:ea typeface="楷体_GB2312" pitchFamily="49" charset="-122"/>
              </a:rPr>
              <a:t>f2</a:t>
            </a:r>
            <a:r>
              <a:rPr lang="en-US" altLang="zh-CN" sz="2400" dirty="0">
                <a:ea typeface="楷体_GB2312" pitchFamily="49" charset="-122"/>
              </a:rPr>
              <a:t>(int, int); /*</a:t>
            </a:r>
            <a:r>
              <a:rPr lang="zh-CN" altLang="en-US" sz="2400" dirty="0">
                <a:ea typeface="楷体_GB2312" pitchFamily="49" charset="-122"/>
              </a:rPr>
              <a:t>返回值为指向</a:t>
            </a:r>
            <a:r>
              <a:rPr lang="en-US" altLang="zh-CN" sz="2400" dirty="0">
                <a:ea typeface="楷体_GB2312" pitchFamily="49" charset="-122"/>
              </a:rPr>
              <a:t>int</a:t>
            </a:r>
            <a:r>
              <a:rPr lang="zh-CN" altLang="en-US" sz="2400" dirty="0">
                <a:ea typeface="楷体_GB2312" pitchFamily="49" charset="-122"/>
              </a:rPr>
              <a:t>数据指针的函数原型*</a:t>
            </a:r>
            <a:r>
              <a:rPr lang="en-US" altLang="zh-CN" sz="2400" dirty="0">
                <a:ea typeface="楷体_GB2312" pitchFamily="49" charset="-122"/>
              </a:rPr>
              <a:t>/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int   (* </a:t>
            </a:r>
            <a:r>
              <a:rPr lang="en-US" altLang="zh-CN" sz="2400" dirty="0" err="1">
                <a:solidFill>
                  <a:srgbClr val="FF0000"/>
                </a:solidFill>
                <a:ea typeface="楷体_GB2312" pitchFamily="49" charset="-122"/>
              </a:rPr>
              <a:t>f3</a:t>
            </a:r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)(int</a:t>
            </a:r>
            <a:r>
              <a:rPr lang="zh-CN" altLang="en-US" sz="2400" dirty="0">
                <a:solidFill>
                  <a:srgbClr val="FF0000"/>
                </a:solidFill>
                <a:ea typeface="楷体_GB2312" pitchFamily="49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ea typeface="楷体_GB2312" pitchFamily="49" charset="-122"/>
              </a:rPr>
              <a:t>int);  </a:t>
            </a:r>
            <a:r>
              <a:rPr lang="en-US" altLang="zh-CN" sz="2400" dirty="0">
                <a:ea typeface="楷体_GB2312" pitchFamily="49" charset="-122"/>
              </a:rPr>
              <a:t>/*</a:t>
            </a:r>
            <a:r>
              <a:rPr lang="zh-CN" altLang="en-US" sz="2400" dirty="0">
                <a:ea typeface="楷体_GB2312" pitchFamily="49" charset="-122"/>
              </a:rPr>
              <a:t>函数指针的定义，可指向返回值为整型，有两个整型参数的函数*</a:t>
            </a:r>
            <a:r>
              <a:rPr lang="en-US" altLang="zh-CN" sz="2400" dirty="0">
                <a:ea typeface="楷体_GB2312" pitchFamily="49" charset="-122"/>
              </a:rPr>
              <a:t>/</a:t>
            </a:r>
          </a:p>
          <a:p>
            <a:pPr lvl="1" eaLnBrk="1" hangingPunct="1">
              <a:defRPr/>
            </a:pPr>
            <a:endParaRPr kumimoji="1"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672382BA-8972-490E-93E0-A8B6A12AF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buNone/>
            </a:pPr>
            <a:r>
              <a:rPr lang="zh-CN" altLang="en-US" sz="3200" b="1" dirty="0">
                <a:solidFill>
                  <a:srgbClr val="FF3300"/>
                </a:solidFill>
              </a:rPr>
              <a:t>7.5     指向函数的指针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文本框 84993">
            <a:extLst>
              <a:ext uri="{FF2B5EF4-FFF2-40B4-BE49-F238E27FC236}">
                <a16:creationId xmlns:a16="http://schemas.microsoft.com/office/drawing/2014/main" id="{FD013426-DE05-459C-8115-DB74162F1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268760"/>
            <a:ext cx="8064500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max(</a:t>
            </a:r>
            <a:r>
              <a:rPr lang="en-US" altLang="zh-CN" dirty="0" err="1">
                <a:latin typeface="Consolas" panose="020B0609020204030204" pitchFamily="49" charset="0"/>
              </a:rPr>
              <a:t>int,int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main(){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　 </a:t>
            </a:r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a,b,c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　 </a:t>
            </a:r>
            <a:r>
              <a:rPr lang="en-US" altLang="zh-CN" dirty="0" err="1">
                <a:latin typeface="Consolas" panose="020B0609020204030204" pitchFamily="49" charset="0"/>
              </a:rPr>
              <a:t>scanf</a:t>
            </a:r>
            <a:r>
              <a:rPr lang="en-US" altLang="zh-CN" dirty="0">
                <a:latin typeface="Consolas" panose="020B0609020204030204" pitchFamily="49" charset="0"/>
              </a:rPr>
              <a:t>(″%</a:t>
            </a:r>
            <a:r>
              <a:rPr lang="en-US" altLang="zh-CN" dirty="0" err="1">
                <a:latin typeface="Consolas" panose="020B0609020204030204" pitchFamily="49" charset="0"/>
              </a:rPr>
              <a:t>d,%d</a:t>
            </a:r>
            <a:r>
              <a:rPr lang="en-US" altLang="zh-CN" dirty="0">
                <a:latin typeface="Consolas" panose="020B0609020204030204" pitchFamily="49" charset="0"/>
              </a:rPr>
              <a:t>″,&amp;</a:t>
            </a:r>
            <a:r>
              <a:rPr lang="en-US" altLang="zh-CN" dirty="0" err="1">
                <a:latin typeface="Consolas" panose="020B0609020204030204" pitchFamily="49" charset="0"/>
              </a:rPr>
              <a:t>a,&amp;b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c=max(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);//</a:t>
            </a:r>
            <a:r>
              <a:rPr lang="zh-CN" alt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函数名调用可以改为函数指针调用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　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(″a=%</a:t>
            </a:r>
            <a:r>
              <a:rPr lang="en-US" altLang="zh-CN" dirty="0" err="1">
                <a:latin typeface="Consolas" panose="020B0609020204030204" pitchFamily="49" charset="0"/>
              </a:rPr>
              <a:t>d,b</a:t>
            </a:r>
            <a:r>
              <a:rPr lang="en-US" altLang="zh-CN" dirty="0">
                <a:latin typeface="Consolas" panose="020B0609020204030204" pitchFamily="49" charset="0"/>
              </a:rPr>
              <a:t>=%</a:t>
            </a:r>
            <a:r>
              <a:rPr lang="en-US" altLang="zh-CN" dirty="0" err="1">
                <a:latin typeface="Consolas" panose="020B0609020204030204" pitchFamily="49" charset="0"/>
              </a:rPr>
              <a:t>d,max</a:t>
            </a:r>
            <a:r>
              <a:rPr lang="en-US" altLang="zh-CN" dirty="0">
                <a:latin typeface="Consolas" panose="020B0609020204030204" pitchFamily="49" charset="0"/>
              </a:rPr>
              <a:t>=%d″,</a:t>
            </a:r>
            <a:r>
              <a:rPr lang="en-US" altLang="zh-CN" dirty="0" err="1">
                <a:latin typeface="Consolas" panose="020B0609020204030204" pitchFamily="49" charset="0"/>
              </a:rPr>
              <a:t>a,b,c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int  max(int x, int y){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  </a:t>
            </a:r>
            <a:r>
              <a:rPr lang="en-US" altLang="zh-CN" dirty="0">
                <a:latin typeface="Consolas" panose="020B0609020204030204" pitchFamily="49" charset="0"/>
              </a:rPr>
              <a:t>int z;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if(x&lt;y) z=x;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　</a:t>
            </a:r>
            <a:r>
              <a:rPr lang="en-US" altLang="zh-CN" dirty="0">
                <a:latin typeface="Consolas" panose="020B0609020204030204" pitchFamily="49" charset="0"/>
              </a:rPr>
              <a:t>else z=y;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dirty="0">
                <a:latin typeface="Consolas" panose="020B0609020204030204" pitchFamily="49" charset="0"/>
              </a:rPr>
              <a:t>    </a:t>
            </a:r>
            <a:r>
              <a:rPr lang="en-US" altLang="zh-CN" dirty="0">
                <a:latin typeface="Consolas" panose="020B0609020204030204" pitchFamily="49" charset="0"/>
              </a:rPr>
              <a:t>return(z);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B4AD3AA-0564-A3E1-589D-386C0B803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buNone/>
            </a:pPr>
            <a:r>
              <a:rPr lang="zh-CN" altLang="en-US" sz="3200" b="1" dirty="0">
                <a:solidFill>
                  <a:srgbClr val="FF3300"/>
                </a:solidFill>
              </a:rPr>
              <a:t>普通函数调用示例</a:t>
            </a:r>
          </a:p>
        </p:txBody>
      </p:sp>
    </p:spTree>
  </p:cSld>
  <p:clrMapOvr>
    <a:masterClrMapping/>
  </p:clrMapOvr>
  <p:transition>
    <p:strips dir="r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文本框 86017">
            <a:extLst>
              <a:ext uri="{FF2B5EF4-FFF2-40B4-BE49-F238E27FC236}">
                <a16:creationId xmlns:a16="http://schemas.microsoft.com/office/drawing/2014/main" id="{91C64EA3-1294-4A0E-BF4B-3E08BA3C3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1363663"/>
            <a:ext cx="7993062" cy="4487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//</a:t>
            </a:r>
            <a:r>
              <a:rPr lang="zh-CN" altLang="en-US" sz="2400" dirty="0">
                <a:latin typeface="Consolas" panose="020B0609020204030204" pitchFamily="49" charset="0"/>
              </a:rPr>
              <a:t>将上例的</a:t>
            </a:r>
            <a:r>
              <a:rPr lang="en-US" altLang="zh-CN" sz="2400" b="1" dirty="0">
                <a:latin typeface="Consolas" panose="020B0609020204030204" pitchFamily="49" charset="0"/>
              </a:rPr>
              <a:t>main</a:t>
            </a:r>
            <a:r>
              <a:rPr lang="zh-CN" altLang="en-US" sz="2400" dirty="0">
                <a:latin typeface="Consolas" panose="020B0609020204030204" pitchFamily="49" charset="0"/>
              </a:rPr>
              <a:t>函数改写为</a:t>
            </a:r>
          </a:p>
          <a:p>
            <a:pPr eaLnBrk="0" hangingPunc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0" hangingPunc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max(</a:t>
            </a:r>
            <a:r>
              <a:rPr lang="en-US" altLang="zh-CN" sz="2400" dirty="0" err="1">
                <a:latin typeface="Consolas" panose="020B0609020204030204" pitchFamily="49" charset="0"/>
              </a:rPr>
              <a:t>int,int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main(){</a:t>
            </a:r>
            <a:r>
              <a:rPr lang="zh-CN" altLang="en-US" sz="2400" dirty="0">
                <a:latin typeface="Consolas" panose="020B0609020204030204" pitchFamily="49" charset="0"/>
              </a:rPr>
              <a:t>  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int (*p)(</a:t>
            </a:r>
            <a:r>
              <a:rPr lang="en-US" altLang="zh-CN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int,int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　 </a:t>
            </a: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a,b,c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　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(″%</a:t>
            </a:r>
            <a:r>
              <a:rPr lang="en-US" altLang="zh-CN" sz="2400" dirty="0" err="1">
                <a:latin typeface="Consolas" panose="020B0609020204030204" pitchFamily="49" charset="0"/>
              </a:rPr>
              <a:t>d,%d</a:t>
            </a:r>
            <a:r>
              <a:rPr lang="en-US" altLang="zh-CN" sz="2400" dirty="0">
                <a:latin typeface="Consolas" panose="020B0609020204030204" pitchFamily="49" charset="0"/>
              </a:rPr>
              <a:t>″,&amp;</a:t>
            </a:r>
            <a:r>
              <a:rPr lang="en-US" altLang="zh-CN" sz="2400" dirty="0" err="1">
                <a:latin typeface="Consolas" panose="020B0609020204030204" pitchFamily="49" charset="0"/>
              </a:rPr>
              <a:t>a,&amp;b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p=max;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    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c=(*p)(</a:t>
            </a:r>
            <a:r>
              <a:rPr lang="en-US" altLang="zh-CN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);//</a:t>
            </a:r>
            <a:r>
              <a:rPr lang="zh-CN" alt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函数名调用改为函数指针调用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　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(″a=%</a:t>
            </a:r>
            <a:r>
              <a:rPr lang="en-US" altLang="zh-CN" sz="2400" dirty="0" err="1">
                <a:latin typeface="Consolas" panose="020B0609020204030204" pitchFamily="49" charset="0"/>
              </a:rPr>
              <a:t>d,b</a:t>
            </a:r>
            <a:r>
              <a:rPr lang="en-US" altLang="zh-CN" sz="2400" dirty="0">
                <a:latin typeface="Consolas" panose="020B0609020204030204" pitchFamily="49" charset="0"/>
              </a:rPr>
              <a:t>=%</a:t>
            </a:r>
            <a:r>
              <a:rPr lang="en-US" altLang="zh-CN" sz="2400" dirty="0" err="1">
                <a:latin typeface="Consolas" panose="020B0609020204030204" pitchFamily="49" charset="0"/>
              </a:rPr>
              <a:t>d,max</a:t>
            </a:r>
            <a:r>
              <a:rPr lang="en-US" altLang="zh-CN" sz="2400" dirty="0">
                <a:latin typeface="Consolas" panose="020B0609020204030204" pitchFamily="49" charset="0"/>
              </a:rPr>
              <a:t>=%d″,</a:t>
            </a:r>
            <a:r>
              <a:rPr lang="en-US" altLang="zh-CN" sz="2400" dirty="0" err="1">
                <a:latin typeface="Consolas" panose="020B0609020204030204" pitchFamily="49" charset="0"/>
              </a:rPr>
              <a:t>a,b,c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0" hangingPunct="0">
              <a:lnSpc>
                <a:spcPct val="9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FCCCDB8-FDBA-EC96-2172-D40B4660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768" y="404813"/>
            <a:ext cx="6552282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buNone/>
            </a:pPr>
            <a:r>
              <a:rPr lang="zh-CN" altLang="en-US" sz="3200" b="1" dirty="0">
                <a:solidFill>
                  <a:srgbClr val="FF3300"/>
                </a:solidFill>
              </a:rPr>
              <a:t>函数指针使用示例</a:t>
            </a:r>
          </a:p>
        </p:txBody>
      </p:sp>
    </p:spTree>
  </p:cSld>
  <p:clrMapOvr>
    <a:masterClrMapping/>
  </p:clrMapOvr>
  <p:transition>
    <p:strips dir="r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>
            <a:extLst>
              <a:ext uri="{FF2B5EF4-FFF2-40B4-BE49-F238E27FC236}">
                <a16:creationId xmlns:a16="http://schemas.microsoft.com/office/drawing/2014/main" id="{5244BD84-6718-4C1F-B8D5-E5292368F3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62ECF7CC-CD44-4A84-A1F1-F31C580CA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319213"/>
            <a:ext cx="8748712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先来看一下两个函数的定义：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/*</a:t>
            </a:r>
            <a:r>
              <a:rPr lang="zh-CN" altLang="en-US" sz="2000" dirty="0">
                <a:latin typeface="Consolas" panose="020B0609020204030204" pitchFamily="49" charset="0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</a:rPr>
              <a:t>b&lt;a, </a:t>
            </a:r>
            <a:r>
              <a:rPr lang="zh-CN" altLang="en-US" sz="2000" dirty="0">
                <a:latin typeface="Consolas" panose="020B0609020204030204" pitchFamily="49" charset="0"/>
              </a:rPr>
              <a:t>即</a:t>
            </a:r>
            <a:r>
              <a:rPr lang="en-US" altLang="zh-CN" sz="2000" dirty="0" err="1">
                <a:latin typeface="Consolas" panose="020B0609020204030204" pitchFamily="49" charset="0"/>
              </a:rPr>
              <a:t>a、b</a:t>
            </a:r>
            <a:r>
              <a:rPr lang="zh-CN" altLang="en-US" sz="2000" dirty="0">
                <a:latin typeface="Consolas" panose="020B0609020204030204" pitchFamily="49" charset="0"/>
              </a:rPr>
              <a:t>不是以升序排列的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则返回值1，否则返回值0</a:t>
            </a:r>
            <a:r>
              <a:rPr lang="en-US" altLang="zh-CN" sz="2000" dirty="0">
                <a:latin typeface="Consolas" panose="020B0609020204030204" pitchFamily="49" charset="0"/>
              </a:rPr>
              <a:t>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ascending(const int a, const int b)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return b&lt;a;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/*</a:t>
            </a:r>
            <a:r>
              <a:rPr lang="zh-CN" altLang="en-US" sz="2000" dirty="0">
                <a:latin typeface="Consolas" panose="020B0609020204030204" pitchFamily="49" charset="0"/>
              </a:rPr>
              <a:t>若</a:t>
            </a:r>
            <a:r>
              <a:rPr lang="en-US" altLang="zh-CN" sz="2000" dirty="0">
                <a:latin typeface="Consolas" panose="020B0609020204030204" pitchFamily="49" charset="0"/>
              </a:rPr>
              <a:t>b&gt;a,</a:t>
            </a:r>
            <a:r>
              <a:rPr lang="zh-CN" altLang="en-US" sz="2000" dirty="0">
                <a:latin typeface="Consolas" panose="020B0609020204030204" pitchFamily="49" charset="0"/>
              </a:rPr>
              <a:t>即</a:t>
            </a:r>
            <a:r>
              <a:rPr lang="en-US" altLang="zh-CN" sz="2000" dirty="0" err="1">
                <a:latin typeface="Consolas" panose="020B0609020204030204" pitchFamily="49" charset="0"/>
              </a:rPr>
              <a:t>a、b</a:t>
            </a:r>
            <a:r>
              <a:rPr lang="zh-CN" altLang="en-US" sz="2000" dirty="0">
                <a:latin typeface="Consolas" panose="020B0609020204030204" pitchFamily="49" charset="0"/>
              </a:rPr>
              <a:t>不是以降序排列的,则返回值</a:t>
            </a:r>
            <a:r>
              <a:rPr lang="en-US" altLang="zh-CN" sz="2000" dirty="0">
                <a:latin typeface="Consolas" panose="020B0609020204030204" pitchFamily="49" charset="0"/>
              </a:rPr>
              <a:t>1, </a:t>
            </a:r>
            <a:r>
              <a:rPr lang="zh-CN" altLang="en-US" sz="2000" dirty="0">
                <a:latin typeface="Consolas" panose="020B0609020204030204" pitchFamily="49" charset="0"/>
              </a:rPr>
              <a:t>，否则返回值0*/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decending</a:t>
            </a:r>
            <a:r>
              <a:rPr lang="en-US" altLang="zh-CN" sz="2000" dirty="0">
                <a:latin typeface="Consolas" panose="020B0609020204030204" pitchFamily="49" charset="0"/>
              </a:rPr>
              <a:t>(const int a, const int b)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return b&gt;a;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78851" name="Rectangle 4">
            <a:extLst>
              <a:ext uri="{FF2B5EF4-FFF2-40B4-BE49-F238E27FC236}">
                <a16:creationId xmlns:a16="http://schemas.microsoft.com/office/drawing/2014/main" id="{AB3D362C-BCDA-43D2-B262-EEF5CB8A3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35375" y="404664"/>
            <a:ext cx="5508625" cy="700236"/>
          </a:xfrm>
        </p:spPr>
        <p:txBody>
          <a:bodyPr lIns="92075" tIns="46038" rIns="92075" bIns="46038"/>
          <a:lstStyle/>
          <a:p>
            <a:pPr algn="l" eaLnBrk="1" hangingPunct="1"/>
            <a:r>
              <a:rPr lang="en-US" altLang="zh-CN" sz="2600" b="1" dirty="0"/>
              <a:t>7.5 </a:t>
            </a:r>
            <a:r>
              <a:rPr lang="zh-CN" altLang="en-US" sz="2600" b="1" dirty="0"/>
              <a:t>使用函数指针的多用途排序程序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5">
            <a:extLst>
              <a:ext uri="{FF2B5EF4-FFF2-40B4-BE49-F238E27FC236}">
                <a16:creationId xmlns:a16="http://schemas.microsoft.com/office/drawing/2014/main" id="{ACA6507A-AC18-4F51-B990-7ED49994F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79874" name="Rectangle 4">
            <a:extLst>
              <a:ext uri="{FF2B5EF4-FFF2-40B4-BE49-F238E27FC236}">
                <a16:creationId xmlns:a16="http://schemas.microsoft.com/office/drawing/2014/main" id="{34B099C6-169D-4569-B819-7864E1332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95738" y="76200"/>
            <a:ext cx="4919662" cy="1104900"/>
          </a:xfrm>
        </p:spPr>
        <p:txBody>
          <a:bodyPr lIns="92075" tIns="46038" rIns="92075" bIns="46038"/>
          <a:lstStyle/>
          <a:p>
            <a:pPr algn="l" eaLnBrk="1" hangingPunct="1"/>
            <a:r>
              <a:rPr lang="zh-CN" altLang="en-US" sz="2600" b="1"/>
              <a:t>基于以上两个函数的</a:t>
            </a:r>
            <a:r>
              <a:rPr lang="zh-CN" altLang="en-US" sz="2600" b="1">
                <a:solidFill>
                  <a:srgbClr val="FF0000"/>
                </a:solidFill>
              </a:rPr>
              <a:t>不使用</a:t>
            </a:r>
            <a:r>
              <a:rPr lang="zh-CN" altLang="en-US" sz="2600" b="1"/>
              <a:t>函数指针的多用途排序程序如下：</a:t>
            </a:r>
          </a:p>
        </p:txBody>
      </p:sp>
      <p:sp>
        <p:nvSpPr>
          <p:cNvPr id="79875" name="Rectangle 5">
            <a:extLst>
              <a:ext uri="{FF2B5EF4-FFF2-40B4-BE49-F238E27FC236}">
                <a16:creationId xmlns:a16="http://schemas.microsoft.com/office/drawing/2014/main" id="{6FC537E6-C156-428D-9127-D08D3D382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183035"/>
            <a:ext cx="7848600" cy="51816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void bubble(int * work, const int n,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int order</a:t>
            </a:r>
            <a:r>
              <a:rPr lang="en-US" altLang="zh-CN" sz="1800" dirty="0">
                <a:latin typeface="Consolas" panose="020B0609020204030204" pitchFamily="49" charset="0"/>
              </a:rPr>
              <a:t>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int </a:t>
            </a:r>
            <a:r>
              <a:rPr lang="en-US" altLang="zh-CN" sz="1800" dirty="0" err="1">
                <a:latin typeface="Consolas" panose="020B0609020204030204" pitchFamily="49" charset="0"/>
              </a:rPr>
              <a:t>pass,count</a:t>
            </a:r>
            <a:r>
              <a:rPr lang="en-US" altLang="zh-CN" sz="18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void swap(int *,int *);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for(pass=</a:t>
            </a:r>
            <a:r>
              <a:rPr lang="en-US" altLang="zh-CN" sz="1800" dirty="0" err="1">
                <a:latin typeface="Consolas" panose="020B0609020204030204" pitchFamily="49" charset="0"/>
              </a:rPr>
              <a:t>1;pass</a:t>
            </a:r>
            <a:r>
              <a:rPr lang="en-US" altLang="zh-CN" sz="1800" dirty="0">
                <a:latin typeface="Consolas" panose="020B0609020204030204" pitchFamily="49" charset="0"/>
              </a:rPr>
              <a:t>&lt;=</a:t>
            </a:r>
            <a:r>
              <a:rPr lang="en-US" altLang="zh-CN" sz="1800" dirty="0" err="1">
                <a:latin typeface="Consolas" panose="020B0609020204030204" pitchFamily="49" charset="0"/>
              </a:rPr>
              <a:t>n-1;pass</a:t>
            </a:r>
            <a:r>
              <a:rPr lang="en-US" altLang="zh-CN" sz="18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    for(count=</a:t>
            </a:r>
            <a:r>
              <a:rPr lang="en-US" altLang="zh-CN" sz="1800" dirty="0" err="1">
                <a:latin typeface="Consolas" panose="020B0609020204030204" pitchFamily="49" charset="0"/>
              </a:rPr>
              <a:t>0;count</a:t>
            </a:r>
            <a:r>
              <a:rPr lang="en-US" altLang="zh-CN" sz="1800" dirty="0">
                <a:latin typeface="Consolas" panose="020B0609020204030204" pitchFamily="49" charset="0"/>
              </a:rPr>
              <a:t>&lt;=</a:t>
            </a:r>
            <a:r>
              <a:rPr lang="en-US" altLang="zh-CN" sz="1800" dirty="0" err="1">
                <a:latin typeface="Consolas" panose="020B0609020204030204" pitchFamily="49" charset="0"/>
              </a:rPr>
              <a:t>n-1-pass;count</a:t>
            </a:r>
            <a:r>
              <a:rPr lang="en-US" altLang="zh-CN" sz="18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if ( </a:t>
            </a:r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</a:rPr>
              <a:t>order==1</a:t>
            </a:r>
            <a:r>
              <a:rPr lang="en-US" altLang="zh-CN" sz="1800" dirty="0">
                <a:latin typeface="Consolas" panose="020B0609020204030204" pitchFamily="49" charset="0"/>
              </a:rPr>
              <a:t> )/*</a:t>
            </a:r>
            <a:r>
              <a:rPr lang="zh-CN" altLang="en-US" sz="1800" dirty="0">
                <a:latin typeface="Consolas" panose="020B0609020204030204" pitchFamily="49" charset="0"/>
              </a:rPr>
              <a:t>如果是要求升序排序*/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</a:rPr>
              <a:t>        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/* </a:t>
            </a:r>
            <a:r>
              <a:rPr lang="zh-CN" altLang="en-US" sz="1800" dirty="0">
                <a:solidFill>
                  <a:srgbClr val="FF66CC"/>
                </a:solidFill>
                <a:latin typeface="Consolas" panose="020B0609020204030204" pitchFamily="49" charset="0"/>
              </a:rPr>
              <a:t>如果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work[count]</a:t>
            </a:r>
            <a:r>
              <a:rPr lang="zh-CN" altLang="en-US" sz="1800" dirty="0">
                <a:solidFill>
                  <a:srgbClr val="FF66CC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work[</a:t>
            </a:r>
            <a:r>
              <a:rPr lang="en-US" altLang="zh-CN" sz="1800" dirty="0" err="1">
                <a:solidFill>
                  <a:srgbClr val="FF66CC"/>
                </a:solidFill>
                <a:latin typeface="Consolas" panose="020B0609020204030204" pitchFamily="49" charset="0"/>
              </a:rPr>
              <a:t>count+1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]</a:t>
            </a:r>
            <a:r>
              <a:rPr lang="zh-CN" altLang="en-US" sz="1800" dirty="0">
                <a:solidFill>
                  <a:srgbClr val="FF66CC"/>
                </a:solidFill>
                <a:latin typeface="Consolas" panose="020B0609020204030204" pitchFamily="49" charset="0"/>
              </a:rPr>
              <a:t>不以升序排列则交换*/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</a:rPr>
              <a:t>		   </a:t>
            </a:r>
            <a:r>
              <a:rPr lang="en-US" altLang="zh-CN" sz="1800" dirty="0">
                <a:latin typeface="Consolas" panose="020B0609020204030204" pitchFamily="49" charset="0"/>
              </a:rPr>
              <a:t>if (ascending(work[count],work[</a:t>
            </a:r>
            <a:r>
              <a:rPr lang="en-US" altLang="zh-CN" sz="1800" dirty="0" err="1">
                <a:latin typeface="Consolas" panose="020B0609020204030204" pitchFamily="49" charset="0"/>
              </a:rPr>
              <a:t>count+1</a:t>
            </a:r>
            <a:r>
              <a:rPr lang="en-US" altLang="zh-CN" sz="1800" dirty="0">
                <a:latin typeface="Consolas" panose="020B0609020204030204" pitchFamily="49" charset="0"/>
              </a:rPr>
              <a:t>])) 		       swap(&amp; work[count],&amp;work[</a:t>
            </a:r>
            <a:r>
              <a:rPr lang="en-US" altLang="zh-CN" sz="1800" dirty="0" err="1">
                <a:latin typeface="Consolas" panose="020B0609020204030204" pitchFamily="49" charset="0"/>
              </a:rPr>
              <a:t>count+1</a:t>
            </a:r>
            <a:r>
              <a:rPr lang="en-US" altLang="zh-CN" sz="18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else/*</a:t>
            </a:r>
            <a:r>
              <a:rPr lang="zh-CN" altLang="en-US" sz="1800" dirty="0">
                <a:latin typeface="Consolas" panose="020B0609020204030204" pitchFamily="49" charset="0"/>
              </a:rPr>
              <a:t>如果是要求降序排序*/</a:t>
            </a:r>
            <a:endParaRPr lang="en-US" altLang="zh-CN" sz="18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	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/* </a:t>
            </a:r>
            <a:r>
              <a:rPr lang="zh-CN" altLang="en-US" sz="1800" dirty="0">
                <a:solidFill>
                  <a:srgbClr val="FF66CC"/>
                </a:solidFill>
                <a:latin typeface="Consolas" panose="020B0609020204030204" pitchFamily="49" charset="0"/>
              </a:rPr>
              <a:t>如果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work[count]</a:t>
            </a:r>
            <a:r>
              <a:rPr lang="zh-CN" altLang="en-US" sz="1800" dirty="0">
                <a:solidFill>
                  <a:srgbClr val="FF66CC"/>
                </a:solidFill>
                <a:latin typeface="Consolas" panose="020B0609020204030204" pitchFamily="49" charset="0"/>
              </a:rPr>
              <a:t>和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work[</a:t>
            </a:r>
            <a:r>
              <a:rPr lang="en-US" altLang="zh-CN" sz="1800" dirty="0" err="1">
                <a:solidFill>
                  <a:srgbClr val="FF66CC"/>
                </a:solidFill>
                <a:latin typeface="Consolas" panose="020B0609020204030204" pitchFamily="49" charset="0"/>
              </a:rPr>
              <a:t>count+1</a:t>
            </a:r>
            <a:r>
              <a:rPr lang="en-US" altLang="zh-CN" sz="1800" dirty="0">
                <a:solidFill>
                  <a:srgbClr val="FF66CC"/>
                </a:solidFill>
                <a:latin typeface="Consolas" panose="020B0609020204030204" pitchFamily="49" charset="0"/>
              </a:rPr>
              <a:t>]</a:t>
            </a:r>
            <a:r>
              <a:rPr lang="zh-CN" altLang="en-US" sz="1800" dirty="0">
                <a:solidFill>
                  <a:srgbClr val="FF66CC"/>
                </a:solidFill>
                <a:latin typeface="Consolas" panose="020B0609020204030204" pitchFamily="49" charset="0"/>
              </a:rPr>
              <a:t>不以降序排列则交换*/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1800" dirty="0">
                <a:latin typeface="Consolas" panose="020B0609020204030204" pitchFamily="49" charset="0"/>
              </a:rPr>
              <a:t>		    </a:t>
            </a:r>
            <a:r>
              <a:rPr lang="en-US" altLang="zh-CN" sz="1800" dirty="0">
                <a:latin typeface="Consolas" panose="020B0609020204030204" pitchFamily="49" charset="0"/>
              </a:rPr>
              <a:t>if (descending(work[count],work[</a:t>
            </a:r>
            <a:r>
              <a:rPr lang="en-US" altLang="zh-CN" sz="1800" dirty="0" err="1">
                <a:latin typeface="Consolas" panose="020B0609020204030204" pitchFamily="49" charset="0"/>
              </a:rPr>
              <a:t>count+1</a:t>
            </a:r>
            <a:r>
              <a:rPr lang="en-US" altLang="zh-CN" sz="1800" dirty="0">
                <a:latin typeface="Consolas" panose="020B0609020204030204" pitchFamily="49" charset="0"/>
              </a:rPr>
              <a:t>])) 		       swap(&amp; work[count],&amp;work[</a:t>
            </a:r>
            <a:r>
              <a:rPr lang="en-US" altLang="zh-CN" sz="1800" dirty="0" err="1">
                <a:latin typeface="Consolas" panose="020B0609020204030204" pitchFamily="49" charset="0"/>
              </a:rPr>
              <a:t>count+1</a:t>
            </a:r>
            <a:r>
              <a:rPr lang="en-US" altLang="zh-CN" sz="18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</a:t>
            </a: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灯片编号占位符 5">
            <a:extLst>
              <a:ext uri="{FF2B5EF4-FFF2-40B4-BE49-F238E27FC236}">
                <a16:creationId xmlns:a16="http://schemas.microsoft.com/office/drawing/2014/main" id="{9BC21AC5-359E-40DA-B910-EBA386E273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62</a:t>
            </a:fld>
            <a:endParaRPr lang="zh-CN" altLang="en-US"/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3269C78F-35B5-4373-952D-AB33ADF639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200150"/>
            <a:ext cx="77724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……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if (order==1){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bubble(a, n,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ascending</a:t>
            </a:r>
            <a:r>
              <a:rPr lang="en-US" altLang="zh-CN" sz="2000" dirty="0">
                <a:latin typeface="Consolas" panose="020B0609020204030204" pitchFamily="49" charset="0"/>
              </a:rPr>
              <a:t>);/*</a:t>
            </a:r>
            <a:r>
              <a:rPr lang="zh-CN" altLang="en-US" sz="2000" dirty="0">
                <a:latin typeface="Consolas" panose="020B0609020204030204" pitchFamily="49" charset="0"/>
              </a:rPr>
              <a:t>将函数名作为实参*/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……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else{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  bubble(a, n, 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descending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……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……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0899" name="Rectangle 4">
            <a:extLst>
              <a:ext uri="{FF2B5EF4-FFF2-40B4-BE49-F238E27FC236}">
                <a16:creationId xmlns:a16="http://schemas.microsoft.com/office/drawing/2014/main" id="{9D6DC3FA-4957-484E-AE87-CD11616BDD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3768" y="0"/>
            <a:ext cx="6660232" cy="1104900"/>
          </a:xfrm>
        </p:spPr>
        <p:txBody>
          <a:bodyPr lIns="92075" tIns="46038" rIns="92075" bIns="46038"/>
          <a:lstStyle/>
          <a:p>
            <a:pPr algn="l" eaLnBrk="1" hangingPunct="1"/>
            <a:r>
              <a:rPr lang="zh-CN" altLang="en-US" b="1" dirty="0"/>
              <a:t>使用函数指针的多用途排序程序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灯片编号占位符 5">
            <a:extLst>
              <a:ext uri="{FF2B5EF4-FFF2-40B4-BE49-F238E27FC236}">
                <a16:creationId xmlns:a16="http://schemas.microsoft.com/office/drawing/2014/main" id="{669780B0-69AC-49A1-9C38-4494B1179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98214A73-EE06-4AD8-810E-3DBA3E3967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9616" y="1671899"/>
            <a:ext cx="83058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void bubble(int * work, const int n, 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</a:rPr>
              <a:t>int (* compare)(</a:t>
            </a:r>
            <a:r>
              <a:rPr lang="en-US" altLang="zh-CN" sz="2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int,int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  <a:r>
              <a:rPr lang="en-US" altLang="zh-CN" sz="2000" dirty="0">
                <a:latin typeface="Consolas" panose="020B0609020204030204" pitchFamily="49" charset="0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int </a:t>
            </a:r>
            <a:r>
              <a:rPr lang="en-US" altLang="zh-CN" sz="2000" dirty="0" err="1">
                <a:latin typeface="Consolas" panose="020B0609020204030204" pitchFamily="49" charset="0"/>
              </a:rPr>
              <a:t>pass,count</a:t>
            </a:r>
            <a:r>
              <a:rPr lang="en-US" altLang="zh-CN" sz="20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void swap(int *,int *);</a:t>
            </a:r>
          </a:p>
          <a:p>
            <a:pPr eaLnBrk="1" hangingPunct="1"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for(pass=</a:t>
            </a:r>
            <a:r>
              <a:rPr lang="en-US" altLang="zh-CN" sz="2000" dirty="0" err="1">
                <a:latin typeface="Consolas" panose="020B0609020204030204" pitchFamily="49" charset="0"/>
              </a:rPr>
              <a:t>1;pass</a:t>
            </a:r>
            <a:r>
              <a:rPr lang="en-US" altLang="zh-CN" sz="2000" dirty="0">
                <a:latin typeface="Consolas" panose="020B0609020204030204" pitchFamily="49" charset="0"/>
              </a:rPr>
              <a:t>&lt;=</a:t>
            </a:r>
            <a:r>
              <a:rPr lang="en-US" altLang="zh-CN" sz="2000" dirty="0" err="1">
                <a:latin typeface="Consolas" panose="020B0609020204030204" pitchFamily="49" charset="0"/>
              </a:rPr>
              <a:t>last;pass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    for(count=</a:t>
            </a:r>
            <a:r>
              <a:rPr lang="en-US" altLang="zh-CN" sz="2000" dirty="0" err="1">
                <a:latin typeface="Consolas" panose="020B0609020204030204" pitchFamily="49" charset="0"/>
              </a:rPr>
              <a:t>0;count</a:t>
            </a:r>
            <a:r>
              <a:rPr lang="en-US" altLang="zh-CN" sz="2000" dirty="0">
                <a:latin typeface="Consolas" panose="020B0609020204030204" pitchFamily="49" charset="0"/>
              </a:rPr>
              <a:t>&lt;=</a:t>
            </a:r>
            <a:r>
              <a:rPr lang="en-US" altLang="zh-CN" sz="2000" dirty="0" err="1">
                <a:latin typeface="Consolas" panose="020B0609020204030204" pitchFamily="49" charset="0"/>
              </a:rPr>
              <a:t>last-pass;count</a:t>
            </a:r>
            <a:r>
              <a:rPr lang="en-US" altLang="zh-CN" sz="2000" dirty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if (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lang="zh-CN" altLang="en-US" sz="2000" dirty="0">
                <a:solidFill>
                  <a:schemeClr val="accent2"/>
                </a:solidFill>
                <a:latin typeface="Consolas" panose="020B0609020204030204" pitchFamily="49" charset="0"/>
              </a:rPr>
              <a:t>*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</a:rPr>
              <a:t>compare)(work[count],work[</a:t>
            </a:r>
            <a:r>
              <a:rPr lang="en-US" altLang="zh-CN" sz="2000" dirty="0" err="1">
                <a:solidFill>
                  <a:schemeClr val="accent2"/>
                </a:solidFill>
                <a:latin typeface="Consolas" panose="020B0609020204030204" pitchFamily="49" charset="0"/>
              </a:rPr>
              <a:t>count+1</a:t>
            </a:r>
            <a:r>
              <a:rPr lang="en-US" altLang="zh-CN" sz="2000" dirty="0">
                <a:solidFill>
                  <a:schemeClr val="accent2"/>
                </a:solidFill>
                <a:latin typeface="Consolas" panose="020B0609020204030204" pitchFamily="49" charset="0"/>
              </a:rPr>
              <a:t>])</a:t>
            </a:r>
            <a:r>
              <a:rPr lang="en-US" altLang="zh-CN" sz="2000" dirty="0">
                <a:latin typeface="Consolas" panose="020B0609020204030204" pitchFamily="49" charset="0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swap(&amp; work[count],&amp;work[</a:t>
            </a:r>
            <a:r>
              <a:rPr lang="en-US" altLang="zh-CN" sz="2000" dirty="0" err="1">
                <a:latin typeface="Consolas" panose="020B0609020204030204" pitchFamily="49" charset="0"/>
              </a:rPr>
              <a:t>count+1</a:t>
            </a:r>
            <a:r>
              <a:rPr lang="en-US" altLang="zh-CN" sz="2000" dirty="0">
                <a:latin typeface="Consolas" panose="020B0609020204030204" pitchFamily="49" charset="0"/>
              </a:rPr>
              <a:t>]);</a:t>
            </a:r>
          </a:p>
          <a:p>
            <a:pPr eaLnBrk="1" hangingPunct="1"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1923" name="Text Box 4">
            <a:extLst>
              <a:ext uri="{FF2B5EF4-FFF2-40B4-BE49-F238E27FC236}">
                <a16:creationId xmlns:a16="http://schemas.microsoft.com/office/drawing/2014/main" id="{05F951FF-8F0D-4D06-9E31-A58A1745D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664" y="1301925"/>
            <a:ext cx="7924800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bubble(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a,n,ascending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      bubble(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a,n,descending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6A269EF6-B8A0-409D-AE32-DA66E0FB1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55875" y="0"/>
            <a:ext cx="6588125" cy="1104900"/>
          </a:xfrm>
        </p:spPr>
        <p:txBody>
          <a:bodyPr lIns="92075" tIns="46038" rIns="92075" bIns="46038"/>
          <a:lstStyle/>
          <a:p>
            <a:pPr algn="l" eaLnBrk="1" hangingPunct="1"/>
            <a:r>
              <a:rPr lang="en-US" altLang="zh-CN" b="1"/>
              <a:t>7.5 </a:t>
            </a:r>
            <a:r>
              <a:rPr lang="zh-CN" altLang="en-US" b="1"/>
              <a:t>使用函数指针的多用途排序程序</a:t>
            </a:r>
          </a:p>
        </p:txBody>
      </p:sp>
      <p:sp>
        <p:nvSpPr>
          <p:cNvPr id="81925" name="AutoShape 4">
            <a:extLst>
              <a:ext uri="{FF2B5EF4-FFF2-40B4-BE49-F238E27FC236}">
                <a16:creationId xmlns:a16="http://schemas.microsoft.com/office/drawing/2014/main" id="{9CCB50FD-0683-4267-872C-05FD99C4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741" y="2490788"/>
            <a:ext cx="2987675" cy="1223962"/>
          </a:xfrm>
          <a:prstGeom prst="wedgeRoundRectCallout">
            <a:avLst>
              <a:gd name="adj1" fmla="val -33741"/>
              <a:gd name="adj2" fmla="val -85019"/>
              <a:gd name="adj3" fmla="val 16667"/>
            </a:avLst>
          </a:prstGeom>
          <a:noFill/>
          <a:ln w="9525">
            <a:solidFill>
              <a:srgbClr val="66FFCC"/>
            </a:solidFill>
            <a:miter lim="800000"/>
            <a:headEnd/>
            <a:tailEnd/>
          </a:ln>
          <a:effectLst>
            <a:prstShdw prst="shdw17" dist="17961" dir="13500000">
              <a:srgbClr val="3D997A"/>
            </a:prstShdw>
          </a:effec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/>
              <a:t>由传递给</a:t>
            </a:r>
            <a:r>
              <a:rPr lang="en-US" altLang="zh-CN" sz="2000" b="1"/>
              <a:t>compare</a:t>
            </a:r>
            <a:r>
              <a:rPr lang="zh-CN" altLang="en-US" sz="2000" b="1"/>
              <a:t>的指向函数的指针来决定是升序还是降序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13F46-3EE1-4A5E-B6DA-A606F34E2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使用函数指针的排序库函数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E5EAE-F521-4F76-89A9-DD40F0F57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68760"/>
            <a:ext cx="8062664" cy="470207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effectLst/>
                <a:latin typeface="Consolas" panose="020B0609020204030204" pitchFamily="49" charset="0"/>
              </a:rPr>
              <a:t>stdlib.h</a:t>
            </a:r>
            <a:r>
              <a:rPr lang="en-US" altLang="zh-CN" sz="2400" dirty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400" dirty="0"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effectLst/>
                <a:latin typeface="Consolas" panose="020B0609020204030204" pitchFamily="49" charset="0"/>
              </a:rPr>
              <a:t>qsort</a:t>
            </a:r>
            <a:r>
              <a:rPr lang="en-US" altLang="zh-CN" sz="2400" dirty="0">
                <a:effectLst/>
                <a:latin typeface="Consolas" panose="020B0609020204030204" pitchFamily="49" charset="0"/>
              </a:rPr>
              <a:t>( void *</a:t>
            </a:r>
            <a:r>
              <a:rPr lang="en-US" altLang="zh-CN" sz="2400" dirty="0" err="1">
                <a:effectLst/>
                <a:latin typeface="Consolas" panose="020B0609020204030204" pitchFamily="49" charset="0"/>
              </a:rPr>
              <a:t>buf</a:t>
            </a:r>
            <a:r>
              <a:rPr lang="en-US" altLang="zh-CN" sz="240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400" dirty="0" err="1">
                <a:effectLst/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effectLst/>
                <a:latin typeface="Consolas" panose="020B0609020204030204" pitchFamily="49" charset="0"/>
              </a:rPr>
              <a:t> num, </a:t>
            </a:r>
            <a:r>
              <a:rPr lang="en-US" altLang="zh-CN" sz="2400" dirty="0" err="1">
                <a:effectLst/>
                <a:latin typeface="Consolas" panose="020B0609020204030204" pitchFamily="49" charset="0"/>
              </a:rPr>
              <a:t>size_t</a:t>
            </a:r>
            <a:r>
              <a:rPr lang="en-US" altLang="zh-CN" sz="2400" dirty="0">
                <a:effectLst/>
                <a:latin typeface="Consolas" panose="020B0609020204030204" pitchFamily="49" charset="0"/>
              </a:rPr>
              <a:t> size, int (*compare)(const void *, const void *) );</a:t>
            </a:r>
          </a:p>
          <a:p>
            <a:pPr marL="0" indent="0">
              <a:buNone/>
            </a:pPr>
            <a:r>
              <a:rPr lang="zh-CN" altLang="zh-CN" sz="1600" b="1" dirty="0">
                <a:effectLst/>
                <a:ea typeface="宋体" panose="02010600030101010101" pitchFamily="2" charset="-122"/>
              </a:rPr>
              <a:t>功能：</a:t>
            </a:r>
            <a:r>
              <a:rPr lang="zh-CN" altLang="zh-CN" sz="1800" kern="1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buf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指向的数据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num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每项的大小为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size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进行快速排序。如果函数</a:t>
            </a:r>
            <a:r>
              <a:rPr lang="en-US" altLang="zh-CN" sz="1800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compare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的第一个参数小于第二个参数，返回负值；如果等于返回零值；如果大于返回正值。函数对</a:t>
            </a:r>
            <a:r>
              <a:rPr lang="en-US" altLang="zh-CN" sz="1800" i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buf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指向的数据按升序排序。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 *</a:t>
            </a:r>
            <a:r>
              <a:rPr lang="en-US" altLang="zh-CN" sz="2400" kern="1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bsearch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 const void *key, const void *</a:t>
            </a:r>
            <a:r>
              <a:rPr lang="en-US" altLang="zh-CN" sz="2400" kern="1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buf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kern="1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size_t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num, </a:t>
            </a:r>
            <a:r>
              <a:rPr lang="en-US" altLang="zh-CN" sz="2400" kern="1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size_t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size, int (*compare)(const void *, const void *) ); </a:t>
            </a:r>
          </a:p>
          <a:p>
            <a:pPr marL="0" indent="0"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功能： 函数用折半查找法在从数组元素</a:t>
            </a:r>
            <a:r>
              <a:rPr lang="en-US" altLang="zh-CN" sz="1800" dirty="0" err="1">
                <a:ea typeface="宋体" panose="02010600030101010101" pitchFamily="2" charset="-122"/>
              </a:rPr>
              <a:t>buf</a:t>
            </a:r>
            <a:r>
              <a:rPr lang="en-US" altLang="zh-CN" sz="1800" dirty="0">
                <a:ea typeface="宋体" panose="02010600030101010101" pitchFamily="2" charset="-122"/>
              </a:rPr>
              <a:t>[0]</a:t>
            </a:r>
            <a:r>
              <a:rPr lang="zh-CN" altLang="en-US" sz="1800" dirty="0">
                <a:ea typeface="宋体" panose="02010600030101010101" pitchFamily="2" charset="-122"/>
              </a:rPr>
              <a:t>到</a:t>
            </a:r>
            <a:r>
              <a:rPr lang="en-US" altLang="zh-CN" sz="1800" dirty="0" err="1">
                <a:ea typeface="宋体" panose="02010600030101010101" pitchFamily="2" charset="-122"/>
              </a:rPr>
              <a:t>buf</a:t>
            </a:r>
            <a:r>
              <a:rPr lang="en-US" altLang="zh-CN" sz="1800" dirty="0">
                <a:ea typeface="宋体" panose="02010600030101010101" pitchFamily="2" charset="-122"/>
              </a:rPr>
              <a:t>[num-1] </a:t>
            </a:r>
            <a:r>
              <a:rPr lang="zh-CN" altLang="en-US" sz="1800" dirty="0">
                <a:ea typeface="宋体" panose="02010600030101010101" pitchFamily="2" charset="-122"/>
              </a:rPr>
              <a:t>匹配参数</a:t>
            </a:r>
            <a:r>
              <a:rPr lang="en-US" altLang="zh-CN" sz="1800" dirty="0">
                <a:ea typeface="宋体" panose="02010600030101010101" pitchFamily="2" charset="-122"/>
              </a:rPr>
              <a:t>key</a:t>
            </a:r>
            <a:r>
              <a:rPr lang="zh-CN" altLang="en-US" sz="1800" dirty="0">
                <a:ea typeface="宋体" panose="02010600030101010101" pitchFamily="2" charset="-122"/>
              </a:rPr>
              <a:t>。如果函数</a:t>
            </a:r>
            <a:r>
              <a:rPr lang="en-US" altLang="zh-CN" sz="1800" dirty="0">
                <a:ea typeface="宋体" panose="02010600030101010101" pitchFamily="2" charset="-122"/>
              </a:rPr>
              <a:t>compare </a:t>
            </a:r>
            <a:r>
              <a:rPr lang="zh-CN" altLang="en-US" sz="1800" dirty="0">
                <a:ea typeface="宋体" panose="02010600030101010101" pitchFamily="2" charset="-122"/>
              </a:rPr>
              <a:t>的第一个参数小于第二个参数，返回负值；如果等于返回零值；如果大于返回正值。数组</a:t>
            </a:r>
            <a:r>
              <a:rPr lang="en-US" altLang="zh-CN" sz="1800" dirty="0" err="1">
                <a:ea typeface="宋体" panose="02010600030101010101" pitchFamily="2" charset="-122"/>
              </a:rPr>
              <a:t>buf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ea typeface="宋体" panose="02010600030101010101" pitchFamily="2" charset="-122"/>
              </a:rPr>
              <a:t>中的元素应以升序排列。函数</a:t>
            </a:r>
            <a:r>
              <a:rPr lang="en-US" altLang="zh-CN" sz="1800" dirty="0" err="1">
                <a:ea typeface="宋体" panose="02010600030101010101" pitchFamily="2" charset="-122"/>
              </a:rPr>
              <a:t>bsearch</a:t>
            </a:r>
            <a:r>
              <a:rPr lang="en-US" altLang="zh-CN" sz="1800" dirty="0">
                <a:ea typeface="宋体" panose="02010600030101010101" pitchFamily="2" charset="-122"/>
              </a:rPr>
              <a:t>()</a:t>
            </a:r>
            <a:r>
              <a:rPr lang="zh-CN" altLang="en-US" sz="1800" dirty="0">
                <a:ea typeface="宋体" panose="02010600030101010101" pitchFamily="2" charset="-122"/>
              </a:rPr>
              <a:t>的返回值是指向匹配项，如果没有发现匹配项，返回</a:t>
            </a:r>
            <a:r>
              <a:rPr lang="en-US" altLang="zh-CN" sz="1800" dirty="0">
                <a:ea typeface="宋体" panose="02010600030101010101" pitchFamily="2" charset="-122"/>
              </a:rPr>
              <a:t>NULL</a:t>
            </a:r>
            <a:r>
              <a:rPr lang="zh-CN" altLang="en-US" sz="1800" dirty="0">
                <a:ea typeface="宋体" panose="02010600030101010101" pitchFamily="2" charset="-122"/>
              </a:rPr>
              <a:t>。 </a:t>
            </a:r>
            <a:endParaRPr lang="en-US" altLang="zh-CN" sz="1800" kern="100" dirty="0"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912762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B497C77-954B-46D6-B174-51826C057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多字符串</a:t>
            </a:r>
            <a:r>
              <a:rPr lang="en-US" altLang="zh-CN" dirty="0" err="1"/>
              <a:t>qsort</a:t>
            </a:r>
            <a:r>
              <a:rPr lang="zh-CN" altLang="en-US" dirty="0"/>
              <a:t>调用实例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DFA9679-4F4A-43FF-B0F3-9A8786523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9213"/>
            <a:ext cx="8134672" cy="4611687"/>
          </a:xfrm>
        </p:spPr>
        <p:txBody>
          <a:bodyPr/>
          <a:lstStyle/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#include&lt;stdlib.h&gt;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#include&lt;stdio.h&gt;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#include&lt;string.h&gt;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main(void)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char string_array[10][50]={"John", "Jane", "Mary", "Rogery", "Dave", "Paul", "Beavis", "Astro", "George", "Elroy"};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Sort the list */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qsort(string_array,10,50,strcmp);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Search for the item "Elroy" and print it */ printf("%s",bsearch("Elroy",string_array,10,50,strcmp));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return 0;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582316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FC2B8-B922-40EF-9179-528C8D64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整数数组</a:t>
            </a:r>
            <a:r>
              <a:rPr lang="en-US" altLang="zh-CN" dirty="0" err="1"/>
              <a:t>qsort</a:t>
            </a:r>
            <a:r>
              <a:rPr lang="zh-CN" altLang="en-US" dirty="0"/>
              <a:t>调用实例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53F2A-AA2B-41F6-AF5E-591984C7B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82" y="1125538"/>
            <a:ext cx="8712968" cy="5328592"/>
          </a:xfrm>
        </p:spPr>
        <p:txBody>
          <a:bodyPr/>
          <a:lstStyle/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#include&lt;stdlib.h&gt;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#include&lt;stdio.h&gt;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main(void)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array[10]={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9,8,7,6,5,4,3,2,1,0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Sort the list */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qsort(</a:t>
            </a:r>
            <a:r>
              <a:rPr kumimoji="0" lang="en-US" altLang="zh-CN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ray,10,</a:t>
            </a:r>
            <a:r>
              <a:rPr kumimoji="0" lang="en-US" altLang="zh-CN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(int)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Search for the item "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 and print it */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int key=4;</a:t>
            </a: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printf("%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*(int *)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bsearch(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&amp;key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,array,10,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zh-CN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(int)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return 0;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p,</a:t>
            </a:r>
            <a:r>
              <a:rPr lang="en-US" altLang="zh-CN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*q) {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*)p-*(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*)q;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13152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72B4C-25CE-410D-AEBB-A56174F9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多字符串</a:t>
            </a:r>
            <a:r>
              <a:rPr lang="en-US" altLang="zh-CN" dirty="0" err="1"/>
              <a:t>qsort</a:t>
            </a:r>
            <a:r>
              <a:rPr lang="zh-CN" altLang="en-US" dirty="0"/>
              <a:t>降序排列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3C9521-69E9-43E2-8EF1-3FB22832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25538"/>
            <a:ext cx="7772400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stdlib.h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compare(const void *</a:t>
            </a:r>
            <a:r>
              <a:rPr lang="en-US" altLang="zh-CN" sz="2000" dirty="0" err="1">
                <a:latin typeface="Consolas" panose="020B0609020204030204" pitchFamily="49" charset="0"/>
              </a:rPr>
              <a:t>p,const</a:t>
            </a:r>
            <a:r>
              <a:rPr lang="en-US" altLang="zh-CN" sz="2000" dirty="0">
                <a:latin typeface="Consolas" panose="020B0609020204030204" pitchFamily="49" charset="0"/>
              </a:rPr>
              <a:t> void *q);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main(void){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char </a:t>
            </a:r>
            <a:r>
              <a:rPr lang="en-US" altLang="zh-CN" sz="2000" dirty="0" err="1">
                <a:latin typeface="Consolas" panose="020B0609020204030204" pitchFamily="49" charset="0"/>
              </a:rPr>
              <a:t>string_array</a:t>
            </a:r>
            <a:r>
              <a:rPr lang="en-US" altLang="zh-CN" sz="2000" dirty="0">
                <a:latin typeface="Consolas" panose="020B0609020204030204" pitchFamily="49" charset="0"/>
              </a:rPr>
              <a:t>[10][50]={"John", "Jane", "Mary", "</a:t>
            </a:r>
            <a:r>
              <a:rPr lang="en-US" altLang="zh-CN" sz="2000" dirty="0" err="1">
                <a:latin typeface="Consolas" panose="020B0609020204030204" pitchFamily="49" charset="0"/>
              </a:rPr>
              <a:t>Rogery</a:t>
            </a:r>
            <a:r>
              <a:rPr lang="en-US" altLang="zh-CN" sz="2000" dirty="0">
                <a:latin typeface="Consolas" panose="020B0609020204030204" pitchFamily="49" charset="0"/>
              </a:rPr>
              <a:t>", "Dave", "Paul", "Beavis", "Astro", "George", "Elroy"};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/* Sort the list */</a:t>
            </a:r>
          </a:p>
          <a:p>
            <a:pPr marL="0" indent="0"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qsort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string_array,10,50,compare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/* Search for the item "Elroy" and print it */</a:t>
            </a:r>
          </a:p>
          <a:p>
            <a:pPr marL="0" indent="0"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("%s",</a:t>
            </a:r>
            <a:r>
              <a:rPr lang="en-US" altLang="zh-CN" sz="2000" dirty="0" err="1">
                <a:latin typeface="Consolas" panose="020B0609020204030204" pitchFamily="49" charset="0"/>
              </a:rPr>
              <a:t>bsearch</a:t>
            </a:r>
            <a:r>
              <a:rPr lang="en-US" altLang="zh-CN" sz="2000" dirty="0">
                <a:latin typeface="Consolas" panose="020B0609020204030204" pitchFamily="49" charset="0"/>
              </a:rPr>
              <a:t>("Elroy",</a:t>
            </a:r>
            <a:r>
              <a:rPr lang="en-US" altLang="zh-CN" sz="2000" dirty="0" err="1">
                <a:latin typeface="Consolas" panose="020B0609020204030204" pitchFamily="49" charset="0"/>
              </a:rPr>
              <a:t>string_array,10,50,compare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compare(const void *</a:t>
            </a:r>
            <a:r>
              <a:rPr lang="en-US" altLang="zh-CN" sz="2000" dirty="0" err="1">
                <a:latin typeface="Consolas" panose="020B0609020204030204" pitchFamily="49" charset="0"/>
              </a:rPr>
              <a:t>p,const</a:t>
            </a:r>
            <a:r>
              <a:rPr lang="en-US" altLang="zh-CN" sz="2000" dirty="0">
                <a:latin typeface="Consolas" panose="020B0609020204030204" pitchFamily="49" charset="0"/>
              </a:rPr>
              <a:t> void *q) {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return -1*(</a:t>
            </a:r>
            <a:r>
              <a:rPr lang="en-US" altLang="zh-CN" sz="2000" dirty="0" err="1">
                <a:latin typeface="Consolas" panose="020B0609020204030204" pitchFamily="49" charset="0"/>
              </a:rPr>
              <a:t>strcmp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p,q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381625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FC2B8-B922-40EF-9179-528C8D64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整数数组</a:t>
            </a:r>
            <a:r>
              <a:rPr lang="en-US" altLang="zh-CN" dirty="0" err="1"/>
              <a:t>qsort</a:t>
            </a:r>
            <a:r>
              <a:rPr lang="zh-CN" altLang="en-US" dirty="0"/>
              <a:t>降序排序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353F2A-AA2B-41F6-AF5E-591984C7B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82" y="1125538"/>
            <a:ext cx="8712968" cy="5328592"/>
          </a:xfrm>
        </p:spPr>
        <p:txBody>
          <a:bodyPr/>
          <a:lstStyle/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#include&lt;stdlib.h&gt;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#include&lt;stdio.h&gt;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main(void)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array[10]={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9,8,7,6,5,4,3,2,1,0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Sort the list */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qsort(</a:t>
            </a:r>
            <a:r>
              <a:rPr kumimoji="0" lang="en-US" altLang="zh-CN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ray,10,</a:t>
            </a:r>
            <a:r>
              <a:rPr kumimoji="0" lang="en-US" altLang="zh-CN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(int)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,c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Search for the item "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 and print it */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int key=4;</a:t>
            </a: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printf("%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*(int *)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bsearch(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&amp;key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,array,10,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zh-CN" sz="20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(int)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mp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return 0;</a:t>
            </a:r>
            <a:endParaRPr kumimoji="0" lang="en-US" altLang="zh-CN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compare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p,</a:t>
            </a:r>
            <a:r>
              <a:rPr lang="en-US" altLang="zh-CN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*q) {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*)q-*(</a:t>
            </a:r>
            <a:r>
              <a:rPr lang="en-US" altLang="zh-CN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*)p;</a:t>
            </a:r>
          </a:p>
          <a:p>
            <a:pPr marL="0" indent="0"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013869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灯片编号占位符 5">
            <a:extLst>
              <a:ext uri="{FF2B5EF4-FFF2-40B4-BE49-F238E27FC236}">
                <a16:creationId xmlns:a16="http://schemas.microsoft.com/office/drawing/2014/main" id="{B049C783-71E7-4299-9912-7549809E57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69</a:t>
            </a:fld>
            <a:endParaRPr lang="zh-CN" altLang="en-US"/>
          </a:p>
        </p:txBody>
      </p:sp>
      <p:sp>
        <p:nvSpPr>
          <p:cNvPr id="82946" name="Rectangle 1028">
            <a:extLst>
              <a:ext uri="{FF2B5EF4-FFF2-40B4-BE49-F238E27FC236}">
                <a16:creationId xmlns:a16="http://schemas.microsoft.com/office/drawing/2014/main" id="{D6D8BC3D-3902-4E82-ACCE-B064C6406F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使用函数指针的优点：</a:t>
            </a:r>
          </a:p>
          <a:p>
            <a:pPr eaLnBrk="1" hangingPunct="1">
              <a:buFontTx/>
              <a:buNone/>
            </a:pPr>
            <a:r>
              <a:rPr lang="zh-CN" altLang="en-US" b="1"/>
              <a:t>	使程序易于扩展。</a:t>
            </a:r>
          </a:p>
          <a:p>
            <a:pPr eaLnBrk="1" hangingPunct="1">
              <a:buFontTx/>
              <a:buNone/>
            </a:pPr>
            <a:r>
              <a:rPr lang="zh-CN" altLang="en-US" b="1"/>
              <a:t>函数</a:t>
            </a:r>
            <a:r>
              <a:rPr lang="en-US" altLang="zh-CN" b="1"/>
              <a:t>func</a:t>
            </a:r>
            <a:r>
              <a:rPr lang="zh-CN" altLang="en-US" b="1"/>
              <a:t>，参数为指向函数的指针</a:t>
            </a:r>
            <a:r>
              <a:rPr lang="en-US" altLang="zh-CN" b="1"/>
              <a:t>p</a:t>
            </a:r>
            <a:r>
              <a:rPr lang="zh-CN" altLang="en-US" b="1"/>
              <a:t>：</a:t>
            </a:r>
          </a:p>
          <a:p>
            <a:pPr eaLnBrk="1" hangingPunct="1">
              <a:buFontTx/>
              <a:buNone/>
            </a:pPr>
            <a:r>
              <a:rPr lang="en-US" altLang="zh-CN" b="1"/>
              <a:t>   void func( int (*p)(int,int)</a:t>
            </a:r>
            <a:r>
              <a:rPr lang="zh-CN" altLang="en-US" b="1"/>
              <a:t>)</a:t>
            </a:r>
          </a:p>
          <a:p>
            <a:pPr eaLnBrk="1" hangingPunct="1">
              <a:buFontTx/>
              <a:buNone/>
            </a:pPr>
            <a:endParaRPr lang="zh-CN" altLang="en-US" b="1"/>
          </a:p>
        </p:txBody>
      </p:sp>
      <p:sp>
        <p:nvSpPr>
          <p:cNvPr id="82947" name="Text Box 1030">
            <a:extLst>
              <a:ext uri="{FF2B5EF4-FFF2-40B4-BE49-F238E27FC236}">
                <a16:creationId xmlns:a16="http://schemas.microsoft.com/office/drawing/2014/main" id="{6346E656-A3E9-4396-B03C-3AC13B51F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076700"/>
            <a:ext cx="2090737" cy="7207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zh-CN" altLang="en-US" sz="2200" b="1">
                <a:latin typeface="Arial Unicode MS" pitchFamily="34" charset="-122"/>
              </a:rPr>
              <a:t>指向函数1的指针</a:t>
            </a:r>
          </a:p>
        </p:txBody>
      </p:sp>
      <p:sp>
        <p:nvSpPr>
          <p:cNvPr id="82948" name="Text Box 1031">
            <a:extLst>
              <a:ext uri="{FF2B5EF4-FFF2-40B4-BE49-F238E27FC236}">
                <a16:creationId xmlns:a16="http://schemas.microsoft.com/office/drawing/2014/main" id="{B9A43047-8D44-4EF3-B5E3-088A9670C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076700"/>
            <a:ext cx="1604963" cy="720725"/>
          </a:xfrm>
          <a:prstGeom prst="rect">
            <a:avLst/>
          </a:prstGeom>
          <a:solidFill>
            <a:srgbClr val="FFFF99"/>
          </a:solidFill>
          <a:ln w="25400">
            <a:solidFill>
              <a:schemeClr val="accent2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zh-CN" altLang="en-US" sz="2200" b="1"/>
              <a:t>指向函数</a:t>
            </a:r>
            <a:r>
              <a:rPr lang="en-US" altLang="zh-CN" sz="2200" b="1"/>
              <a:t>2</a:t>
            </a:r>
            <a:r>
              <a:rPr lang="zh-CN" altLang="en-US" sz="2200" b="1"/>
              <a:t>的指针</a:t>
            </a:r>
          </a:p>
        </p:txBody>
      </p:sp>
      <p:sp>
        <p:nvSpPr>
          <p:cNvPr id="82949" name="Line 1032">
            <a:extLst>
              <a:ext uri="{FF2B5EF4-FFF2-40B4-BE49-F238E27FC236}">
                <a16:creationId xmlns:a16="http://schemas.microsoft.com/office/drawing/2014/main" id="{362E7ECE-B1C5-471B-8544-093B404823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8175" y="3357563"/>
            <a:ext cx="1531938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0" name="Line 1033">
            <a:extLst>
              <a:ext uri="{FF2B5EF4-FFF2-40B4-BE49-F238E27FC236}">
                <a16:creationId xmlns:a16="http://schemas.microsoft.com/office/drawing/2014/main" id="{5A897368-E11E-4056-930C-FF66BDC105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568700" y="3357563"/>
            <a:ext cx="355600" cy="719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1" name="Text Box 1034">
            <a:extLst>
              <a:ext uri="{FF2B5EF4-FFF2-40B4-BE49-F238E27FC236}">
                <a16:creationId xmlns:a16="http://schemas.microsoft.com/office/drawing/2014/main" id="{1D8FB515-9401-4F9C-9EC3-F09D7E13A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00663"/>
            <a:ext cx="67818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zh-CN" altLang="en-US" sz="2400" b="1">
                <a:latin typeface="Arial Unicode MS" pitchFamily="34" charset="-122"/>
              </a:rPr>
              <a:t>将来，可以再定义符合此函数原型的函数</a:t>
            </a:r>
            <a:r>
              <a:rPr lang="en-US" altLang="zh-CN" sz="2400" b="1">
                <a:latin typeface="Arial Unicode MS" pitchFamily="34" charset="-122"/>
              </a:rPr>
              <a:t>n，</a:t>
            </a:r>
            <a:r>
              <a:rPr lang="zh-CN" altLang="en-US" sz="2400" b="1">
                <a:latin typeface="Arial Unicode MS" pitchFamily="34" charset="-122"/>
              </a:rPr>
              <a:t>调用时赋值给</a:t>
            </a:r>
            <a:r>
              <a:rPr lang="en-US" altLang="zh-CN" sz="2400" b="1">
                <a:latin typeface="Arial Unicode MS" pitchFamily="34" charset="-122"/>
              </a:rPr>
              <a:t>p，</a:t>
            </a:r>
            <a:r>
              <a:rPr lang="zh-CN" altLang="en-US" sz="2400" b="1">
                <a:latin typeface="Arial Unicode MS" pitchFamily="34" charset="-122"/>
              </a:rPr>
              <a:t>从而扩展程序的功能</a:t>
            </a:r>
          </a:p>
        </p:txBody>
      </p:sp>
      <p:sp>
        <p:nvSpPr>
          <p:cNvPr id="82952" name="Rectangle 5">
            <a:extLst>
              <a:ext uri="{FF2B5EF4-FFF2-40B4-BE49-F238E27FC236}">
                <a16:creationId xmlns:a16="http://schemas.microsoft.com/office/drawing/2014/main" id="{FA86AA39-84F4-4E7E-84B7-6DC206558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4438" y="0"/>
            <a:ext cx="6659562" cy="1104900"/>
          </a:xfrm>
        </p:spPr>
        <p:txBody>
          <a:bodyPr lIns="92075" tIns="46038" rIns="92075" bIns="46038"/>
          <a:lstStyle/>
          <a:p>
            <a:pPr algn="l" eaLnBrk="1" hangingPunct="1"/>
            <a:r>
              <a:rPr lang="en-US" altLang="zh-CN" b="1"/>
              <a:t>7.5 </a:t>
            </a:r>
            <a:r>
              <a:rPr lang="zh-CN" altLang="en-US" b="1"/>
              <a:t>使用函数指针的多用途排序程序</a:t>
            </a: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灯片编号占位符 5">
            <a:extLst>
              <a:ext uri="{FF2B5EF4-FFF2-40B4-BE49-F238E27FC236}">
                <a16:creationId xmlns:a16="http://schemas.microsoft.com/office/drawing/2014/main" id="{FCEFB50E-CB26-4577-82F4-0FB032CA70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70</a:t>
            </a:fld>
            <a:endParaRPr lang="zh-CN" altLang="en-US"/>
          </a:p>
        </p:txBody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279EA727-954D-4BF9-BD9D-93BC27BDCF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1"/>
              <a:t>函数指针常用在菜单驱动的系统中：提供用户不同的菜单项，每一个菜单项对应有一个函数来完成其功能。指向每一个函数的指针存放在指针数组中，用户的选择作为数组的下标，根据用户的选择取出对应数组元素中的指针，然后通过该指针来调用函数。</a:t>
            </a:r>
          </a:p>
        </p:txBody>
      </p:sp>
      <p:sp>
        <p:nvSpPr>
          <p:cNvPr id="83971" name="Rectangle 4">
            <a:extLst>
              <a:ext uri="{FF2B5EF4-FFF2-40B4-BE49-F238E27FC236}">
                <a16:creationId xmlns:a16="http://schemas.microsoft.com/office/drawing/2014/main" id="{A1FA40A6-A6C1-4285-B105-641E00305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zh-CN" sz="2600" b="1"/>
              <a:t>7.5 </a:t>
            </a:r>
            <a:r>
              <a:rPr lang="zh-CN" altLang="en-US" sz="2600" b="1"/>
              <a:t>演示指向函数的指针数组</a:t>
            </a: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灯片编号占位符 5">
            <a:extLst>
              <a:ext uri="{FF2B5EF4-FFF2-40B4-BE49-F238E27FC236}">
                <a16:creationId xmlns:a16="http://schemas.microsoft.com/office/drawing/2014/main" id="{21339319-157B-4D4B-BC7E-26A637C0F6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buFont typeface="Arial" panose="020B0604020202020204" pitchFamily="34" charset="0"/>
              <a:defRPr sz="1400" b="1" kern="1200" noProof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fld id="{184253C2-A1F9-42F1-81C8-0D63D8B02D10}" type="slidenum">
              <a:rPr lang="zh-CN" altLang="en-US" smtClean="0"/>
              <a:pPr/>
              <a:t>71</a:t>
            </a:fld>
            <a:endParaRPr lang="zh-CN" altLang="en-US"/>
          </a:p>
        </p:txBody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CC55FB52-897F-4DA8-8D91-0B6FF67EAD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void   (*f[3])(int)={</a:t>
            </a:r>
            <a:r>
              <a:rPr lang="en-US" altLang="zh-CN" sz="2000" dirty="0" err="1">
                <a:latin typeface="Consolas" panose="020B0609020204030204" pitchFamily="49" charset="0"/>
              </a:rPr>
              <a:t>function1,function2,function3</a:t>
            </a:r>
            <a:r>
              <a:rPr lang="en-US" altLang="zh-CN" sz="2000" dirty="0"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int choice;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("Enter a number between 0 and 2, 3 to end");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d",&amp;choice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while(choice&gt;=0 &amp;&amp; choice&lt;3){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</a:rPr>
              <a:t>(*f[choice])(choice);</a:t>
            </a:r>
            <a:r>
              <a:rPr lang="en-US" altLang="zh-CN" sz="2000" dirty="0">
                <a:latin typeface="Consolas" panose="020B0609020204030204" pitchFamily="49" charset="0"/>
              </a:rPr>
              <a:t>/*</a:t>
            </a:r>
            <a:r>
              <a:rPr lang="zh-CN" altLang="en-US" sz="2000" dirty="0">
                <a:latin typeface="Consolas" panose="020B0609020204030204" pitchFamily="49" charset="0"/>
              </a:rPr>
              <a:t>调用相应的函数*/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("Enter a number between 0 and 2, 3 to end");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d",&amp;choice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>
                <a:latin typeface="Consolas" panose="020B0609020204030204" pitchFamily="49" charset="0"/>
              </a:rPr>
              <a:t>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</p:txBody>
      </p:sp>
      <p:sp>
        <p:nvSpPr>
          <p:cNvPr id="84995" name="AutoShape 4">
            <a:extLst>
              <a:ext uri="{FF2B5EF4-FFF2-40B4-BE49-F238E27FC236}">
                <a16:creationId xmlns:a16="http://schemas.microsoft.com/office/drawing/2014/main" id="{CC668542-0EA9-41FA-83AD-C0C38B1A6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838200"/>
            <a:ext cx="4090988" cy="990600"/>
          </a:xfrm>
          <a:prstGeom prst="wedgeRoundRectCallout">
            <a:avLst>
              <a:gd name="adj1" fmla="val -47593"/>
              <a:gd name="adj2" fmla="val 68588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charset="2"/>
              <a:buNone/>
            </a:pPr>
            <a:r>
              <a:rPr lang="zh-CN" altLang="en-US" sz="2000" b="1">
                <a:latin typeface="Arial Unicode MS" pitchFamily="34" charset="-122"/>
              </a:rPr>
              <a:t>声明长度为3的数组</a:t>
            </a:r>
            <a:r>
              <a:rPr lang="en-US" altLang="zh-CN" sz="2000" b="1">
                <a:latin typeface="Arial Unicode MS" pitchFamily="34" charset="-122"/>
              </a:rPr>
              <a:t>f,</a:t>
            </a:r>
            <a:r>
              <a:rPr lang="zh-CN" altLang="en-US" sz="2000" b="1">
                <a:latin typeface="Arial Unicode MS" pitchFamily="34" charset="-122"/>
              </a:rPr>
              <a:t>数组元素的类型是:</a:t>
            </a:r>
            <a:r>
              <a:rPr lang="en-US" altLang="zh-CN" sz="2000" b="1">
                <a:latin typeface="Arial Unicode MS" pitchFamily="34" charset="-122"/>
              </a:rPr>
              <a:t>void (*)(int)，</a:t>
            </a:r>
            <a:r>
              <a:rPr lang="zh-CN" altLang="en-US" sz="2000" b="1">
                <a:latin typeface="Arial Unicode MS" pitchFamily="34" charset="-122"/>
              </a:rPr>
              <a:t>即指向函数的指针</a:t>
            </a:r>
          </a:p>
        </p:txBody>
      </p:sp>
      <p:sp>
        <p:nvSpPr>
          <p:cNvPr id="84996" name="Rectangle 5">
            <a:extLst>
              <a:ext uri="{FF2B5EF4-FFF2-40B4-BE49-F238E27FC236}">
                <a16:creationId xmlns:a16="http://schemas.microsoft.com/office/drawing/2014/main" id="{1B1F59C2-AD5F-4ECD-89F5-902CEEC8EC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772400" cy="11049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CN" sz="2600" b="1"/>
              <a:t>7.5 </a:t>
            </a:r>
            <a:r>
              <a:rPr lang="zh-CN" altLang="en-US" sz="2600" b="1"/>
              <a:t>演示指向函数的指针数组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1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2730</TotalTime>
  <Words>7879</Words>
  <Application>Microsoft Office PowerPoint</Application>
  <PresentationFormat>全屏显示(4:3)</PresentationFormat>
  <Paragraphs>917</Paragraphs>
  <Slides>71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71</vt:i4>
      </vt:variant>
    </vt:vector>
  </HeadingPairs>
  <TitlesOfParts>
    <vt:vector size="85" baseType="lpstr">
      <vt:lpstr>Arial Unicode MS</vt:lpstr>
      <vt:lpstr>Monotype Sorts</vt:lpstr>
      <vt:lpstr>System</vt:lpstr>
      <vt:lpstr>宋体</vt:lpstr>
      <vt:lpstr>微软雅黑</vt:lpstr>
      <vt:lpstr>Arial</vt:lpstr>
      <vt:lpstr>Cambria Math</vt:lpstr>
      <vt:lpstr>Consolas</vt:lpstr>
      <vt:lpstr>Times New Roman</vt:lpstr>
      <vt:lpstr>Wingdings</vt:lpstr>
      <vt:lpstr>Wingdings 2</vt:lpstr>
      <vt:lpstr>经分互动规范介绍</vt:lpstr>
      <vt:lpstr>位图图像</vt:lpstr>
      <vt:lpstr>Visio.Drawing.11</vt:lpstr>
      <vt:lpstr>PowerPoint 演示文稿</vt:lpstr>
      <vt:lpstr>PowerPoint 演示文稿</vt:lpstr>
      <vt:lpstr>6.3.4 字符数组</vt:lpstr>
      <vt:lpstr>PowerPoint 演示文稿</vt:lpstr>
      <vt:lpstr>scanf(“%s”)只能读一个单词</vt:lpstr>
      <vt:lpstr>6.3.4 字符数组</vt:lpstr>
      <vt:lpstr>printf(“%s”)可输出任何字符串</vt:lpstr>
      <vt:lpstr>scanf(“%s”)无法实现空行的读取</vt:lpstr>
      <vt:lpstr>gets()读取一行字符串</vt:lpstr>
      <vt:lpstr>gets(char *)使用示例</vt:lpstr>
      <vt:lpstr>puts(char *)可输出包含多行的字符串</vt:lpstr>
      <vt:lpstr>不幸的gets()</vt:lpstr>
      <vt:lpstr>gets(char *)溢出示例</vt:lpstr>
      <vt:lpstr>fgets()从文件读取一行字符串</vt:lpstr>
      <vt:lpstr>fgets(char *,len,stdin)三个参数使用</vt:lpstr>
      <vt:lpstr>检查读取一行字符串时所读不完整</vt:lpstr>
      <vt:lpstr>测试主程序</vt:lpstr>
      <vt:lpstr>若行串完整则丢弃换行符</vt:lpstr>
      <vt:lpstr>测试主程序</vt:lpstr>
      <vt:lpstr>字符串函数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字符串比较函数示例2</vt:lpstr>
      <vt:lpstr>strncmp()前n字符比较示例</vt:lpstr>
      <vt:lpstr>PowerPoint 演示文稿</vt:lpstr>
      <vt:lpstr>strstr()示例</vt:lpstr>
      <vt:lpstr>字符串匹配</vt:lpstr>
      <vt:lpstr>字符串匹配-仿写</vt:lpstr>
      <vt:lpstr>英文分词</vt:lpstr>
      <vt:lpstr>版本1-用scanf分词</vt:lpstr>
      <vt:lpstr>PowerPoint 演示文稿</vt:lpstr>
      <vt:lpstr>PowerPoint 演示文稿</vt:lpstr>
      <vt:lpstr>字符数组逆序</vt:lpstr>
      <vt:lpstr>字符数组逆序</vt:lpstr>
      <vt:lpstr>7.2 指针和字符串常量</vt:lpstr>
      <vt:lpstr>PowerPoint 演示文稿</vt:lpstr>
      <vt:lpstr>7.4 指针数组</vt:lpstr>
      <vt:lpstr>7.4 指针数组</vt:lpstr>
      <vt:lpstr>7.4 指针数组</vt:lpstr>
      <vt:lpstr>7.4 指针数组</vt:lpstr>
      <vt:lpstr>PowerPoint 演示文稿</vt:lpstr>
      <vt:lpstr>字符串排序</vt:lpstr>
      <vt:lpstr>二维数组排序多字符串方案</vt:lpstr>
      <vt:lpstr>  实例研究一：（模拟发牌和洗牌）</vt:lpstr>
      <vt:lpstr>麻烦的显示牌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7.5 使用函数指针的多用途排序程序</vt:lpstr>
      <vt:lpstr>基于以上两个函数的不使用函数指针的多用途排序程序如下：</vt:lpstr>
      <vt:lpstr>使用函数指针的多用途排序程序</vt:lpstr>
      <vt:lpstr>7.5 使用函数指针的多用途排序程序</vt:lpstr>
      <vt:lpstr>使用函数指针的排序库函数</vt:lpstr>
      <vt:lpstr>多字符串qsort调用实例</vt:lpstr>
      <vt:lpstr>整数数组qsort调用实例</vt:lpstr>
      <vt:lpstr>多字符串qsort降序排列</vt:lpstr>
      <vt:lpstr>整数数组qsort降序排序</vt:lpstr>
      <vt:lpstr>7.5 使用函数指针的多用途排序程序</vt:lpstr>
      <vt:lpstr>7.5 演示指向函数的指针数组</vt:lpstr>
      <vt:lpstr>7.5 演示指向函数的指针数组</vt:lpstr>
    </vt:vector>
  </TitlesOfParts>
  <Company>bupt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creator>cyzhou</dc:creator>
  <cp:lastModifiedBy>zhang yanmei</cp:lastModifiedBy>
  <cp:revision>2214</cp:revision>
  <dcterms:created xsi:type="dcterms:W3CDTF">2002-12-06T01:10:00Z</dcterms:created>
  <dcterms:modified xsi:type="dcterms:W3CDTF">2023-03-16T05:00:00Z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2052-11.1.0.8013</vt:lpwstr>
  </property>
</Properties>
</file>