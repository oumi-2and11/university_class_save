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438" r:id="rId2"/>
    <p:sldId id="748" r:id="rId3"/>
    <p:sldId id="446" r:id="rId4"/>
    <p:sldId id="1168" r:id="rId5"/>
    <p:sldId id="1684" r:id="rId6"/>
    <p:sldId id="631" r:id="rId7"/>
    <p:sldId id="1686" r:id="rId8"/>
    <p:sldId id="1688" r:id="rId9"/>
    <p:sldId id="630" r:id="rId10"/>
    <p:sldId id="1685" r:id="rId11"/>
    <p:sldId id="1687" r:id="rId12"/>
    <p:sldId id="632" r:id="rId13"/>
    <p:sldId id="963" r:id="rId14"/>
    <p:sldId id="1047" r:id="rId15"/>
    <p:sldId id="1048" r:id="rId16"/>
    <p:sldId id="1051" r:id="rId17"/>
    <p:sldId id="998" r:id="rId18"/>
    <p:sldId id="889" r:id="rId19"/>
    <p:sldId id="1055" r:id="rId20"/>
    <p:sldId id="858" r:id="rId21"/>
    <p:sldId id="1052" r:id="rId22"/>
    <p:sldId id="1049" r:id="rId23"/>
    <p:sldId id="1050" r:id="rId24"/>
    <p:sldId id="1054" r:id="rId25"/>
    <p:sldId id="1170" r:id="rId26"/>
    <p:sldId id="986" r:id="rId27"/>
    <p:sldId id="1645" r:id="rId28"/>
    <p:sldId id="993" r:id="rId29"/>
    <p:sldId id="1663" r:id="rId30"/>
    <p:sldId id="985" r:id="rId31"/>
    <p:sldId id="1638" r:id="rId32"/>
    <p:sldId id="1088" r:id="rId33"/>
    <p:sldId id="1682" r:id="rId34"/>
    <p:sldId id="995" r:id="rId35"/>
    <p:sldId id="1073" r:id="rId36"/>
    <p:sldId id="1075" r:id="rId37"/>
    <p:sldId id="288" r:id="rId38"/>
    <p:sldId id="969" r:id="rId39"/>
    <p:sldId id="1076" r:id="rId40"/>
    <p:sldId id="987" r:id="rId41"/>
    <p:sldId id="1077" r:id="rId42"/>
    <p:sldId id="1078" r:id="rId43"/>
    <p:sldId id="982" r:id="rId44"/>
    <p:sldId id="1622" r:id="rId45"/>
    <p:sldId id="1644" r:id="rId46"/>
    <p:sldId id="1683" r:id="rId47"/>
    <p:sldId id="747" r:id="rId4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9C304D3-7C55-4B72-B25A-02EE059B9909}">
          <p14:sldIdLst>
            <p14:sldId id="438"/>
            <p14:sldId id="748"/>
            <p14:sldId id="446"/>
            <p14:sldId id="1168"/>
          </p14:sldIdLst>
        </p14:section>
        <p14:section name="算术运算符" id="{A48985B2-3D3F-4AF6-809C-3083AFFB99F6}">
          <p14:sldIdLst>
            <p14:sldId id="1684"/>
            <p14:sldId id="631"/>
            <p14:sldId id="1686"/>
            <p14:sldId id="1688"/>
            <p14:sldId id="630"/>
            <p14:sldId id="1685"/>
            <p14:sldId id="1687"/>
            <p14:sldId id="632"/>
          </p14:sldIdLst>
        </p14:section>
        <p14:section name="a+b计算" id="{D1B59471-435D-41DB-A42F-DF106DE9BD6F}">
          <p14:sldIdLst>
            <p14:sldId id="963"/>
            <p14:sldId id="1047"/>
            <p14:sldId id="1048"/>
            <p14:sldId id="1051"/>
            <p14:sldId id="998"/>
            <p14:sldId id="889"/>
            <p14:sldId id="1055"/>
            <p14:sldId id="858"/>
            <p14:sldId id="1052"/>
            <p14:sldId id="1049"/>
            <p14:sldId id="1050"/>
            <p14:sldId id="1054"/>
            <p14:sldId id="1170"/>
          </p14:sldIdLst>
        </p14:section>
        <p14:section name="求面积" id="{630D19A9-3E84-4B78-AC5E-DEBF9DF93DC0}">
          <p14:sldIdLst>
            <p14:sldId id="986"/>
            <p14:sldId id="1645"/>
            <p14:sldId id="993"/>
            <p14:sldId id="1663"/>
            <p14:sldId id="985"/>
            <p14:sldId id="1638"/>
          </p14:sldIdLst>
        </p14:section>
        <p14:section name="整数除法" id="{D1142C0E-7E23-4B9D-919D-5207EE69E35F}">
          <p14:sldIdLst>
            <p14:sldId id="1088"/>
            <p14:sldId id="1682"/>
            <p14:sldId id="995"/>
          </p14:sldIdLst>
        </p14:section>
        <p14:section name="取余运算" id="{7CD3ACC8-8FB5-464D-AFFD-74DE41044699}">
          <p14:sldIdLst>
            <p14:sldId id="1073"/>
            <p14:sldId id="1075"/>
            <p14:sldId id="288"/>
          </p14:sldIdLst>
        </p14:section>
        <p14:section name="三位数反转" id="{7CE80E85-FE59-4F84-9428-F04DC60ACD3B}">
          <p14:sldIdLst>
            <p14:sldId id="969"/>
            <p14:sldId id="1076"/>
            <p14:sldId id="987"/>
            <p14:sldId id="1077"/>
            <p14:sldId id="1078"/>
          </p14:sldIdLst>
        </p14:section>
        <p14:section name="字符运算" id="{0B4BE36B-62A7-45BE-A83E-ECAFF553B20E}">
          <p14:sldIdLst>
            <p14:sldId id="982"/>
            <p14:sldId id="1622"/>
            <p14:sldId id="1644"/>
            <p14:sldId id="1683"/>
          </p14:sldIdLst>
        </p14:section>
        <p14:section name="结束" id="{E85DF9AE-A606-4FAC-895A-BCDB76C38786}">
          <p14:sldIdLst>
            <p14:sldId id="7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2D35D3"/>
    <a:srgbClr val="3366FF"/>
    <a:srgbClr val="000000"/>
    <a:srgbClr val="9966FF"/>
    <a:srgbClr val="99CCFF"/>
    <a:srgbClr val="CCEC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86846" autoAdjust="0"/>
  </p:normalViewPr>
  <p:slideViewPr>
    <p:cSldViewPr showGuides="1">
      <p:cViewPr varScale="1">
        <p:scale>
          <a:sx n="58" d="100"/>
          <a:sy n="58" d="100"/>
        </p:scale>
        <p:origin x="1528" y="48"/>
      </p:cViewPr>
      <p:guideLst>
        <p:guide orient="horz" pos="417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zh-CN" altLang="en-US" sz="1200" b="0" strike="noStrike" noProof="1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en-US" altLang="x-none" sz="1200" b="0" strike="noStrike" noProof="1"/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b="0" strike="noStrike" noProof="1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zh-CN" altLang="en-US" sz="1200" b="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b="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 dirty="0"/>
              <a:t>正常情况下，格式化字符串中格式化字符%是和之后的参数一一对应的，然而我们可以考虑一种情况，若格式化字符%比参数多会怎么样呢，答案是，会取到程序的函数栈中其他的数据。这就是</a:t>
            </a:r>
            <a:r>
              <a:rPr lang="en-US" altLang="zh-CN" dirty="0" err="1"/>
              <a:t>printf</a:t>
            </a:r>
            <a:r>
              <a:rPr lang="en-US" altLang="zh-CN" dirty="0"/>
              <a:t>(</a:t>
            </a:r>
            <a:r>
              <a:rPr lang="zh-CN" altLang="en-US" dirty="0"/>
              <a:t>)函数有安全漏洞的原因了，因此一些杀毒软件会禁止</a:t>
            </a:r>
            <a:r>
              <a:rPr lang="en-US" altLang="zh-CN" dirty="0" err="1"/>
              <a:t>printf</a:t>
            </a:r>
            <a:r>
              <a:rPr lang="zh-CN" altLang="en-US" dirty="0"/>
              <a:t>语句的执行。</a:t>
            </a:r>
          </a:p>
        </p:txBody>
      </p:sp>
    </p:spTree>
    <p:extLst>
      <p:ext uri="{BB962C8B-B14F-4D97-AF65-F5344CB8AC3E}">
        <p14:creationId xmlns:p14="http://schemas.microsoft.com/office/powerpoint/2010/main" val="3144370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9273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5014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/>
            <a:fld id="{9A0DB2DC-4C9A-4742-B13C-FB6460FD3503}" type="slidenum">
              <a:rPr lang="zh-CN" altLang="en-US" sz="1200" b="0" dirty="0"/>
              <a:t>28</a:t>
            </a:fld>
            <a:endParaRPr lang="zh-CN" altLang="en-US" sz="1200" b="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/>
          </p:nvPr>
        </p:nvSpPr>
        <p:spPr/>
        <p:txBody>
          <a:bodyPr wrap="square" anchor="t"/>
          <a:lstStyle/>
          <a:p>
            <a:pPr lvl="0" indent="0" eaLnBrk="1" hangingPunct="1"/>
            <a:r>
              <a:rPr lang="zh-CN" altLang="en-US" dirty="0"/>
              <a:t>为何有了</a:t>
            </a:r>
            <a:r>
              <a:rPr lang="en-US" altLang="zh-CN" dirty="0"/>
              <a:t>define</a:t>
            </a:r>
            <a:r>
              <a:rPr lang="zh-CN" altLang="en-US" dirty="0"/>
              <a:t>还使用</a:t>
            </a:r>
            <a:r>
              <a:rPr lang="en-US" altLang="zh-CN" dirty="0"/>
              <a:t>const</a:t>
            </a:r>
            <a:r>
              <a:rPr lang="zh-CN" altLang="en-US" dirty="0"/>
              <a:t>变量：</a:t>
            </a:r>
          </a:p>
          <a:p>
            <a:pPr lvl="0" indent="0" eaLnBrk="1" hangingPunct="1"/>
            <a:r>
              <a:rPr lang="zh-CN" altLang="en-US" dirty="0"/>
              <a:t>如果一个值是不确定的，只能在运行时才确定，且该值在运行过程中不可修改，则使用</a:t>
            </a:r>
            <a:r>
              <a:rPr lang="en-US" altLang="zh-CN" dirty="0"/>
              <a:t>const</a:t>
            </a:r>
            <a:r>
              <a:rPr lang="zh-CN" altLang="en-US" dirty="0"/>
              <a:t>变量</a:t>
            </a:r>
          </a:p>
          <a:p>
            <a:pPr lvl="0" indent="0" eaLnBrk="1" hangingPunct="1"/>
            <a:endParaRPr lang="zh-CN" altLang="en-US" dirty="0"/>
          </a:p>
          <a:p>
            <a:pPr lvl="0" indent="0" eaLnBrk="1" hangingPunct="1"/>
            <a:r>
              <a:rPr lang="en-US" altLang="zh-CN" dirty="0"/>
              <a:t>Define</a:t>
            </a:r>
            <a:r>
              <a:rPr lang="zh-CN" altLang="en-US" dirty="0"/>
              <a:t>常量和</a:t>
            </a:r>
            <a:r>
              <a:rPr lang="en-US" altLang="zh-CN" dirty="0"/>
              <a:t>const</a:t>
            </a:r>
            <a:r>
              <a:rPr lang="zh-CN" altLang="en-US" dirty="0"/>
              <a:t>常量的区别：</a:t>
            </a:r>
          </a:p>
          <a:p>
            <a:pPr lvl="0" indent="0" eaLnBrk="1" hangingPunct="1"/>
            <a:r>
              <a:rPr lang="zh-CN" altLang="en-US" b="1" dirty="0"/>
              <a:t>两者之间的区别：</a:t>
            </a:r>
            <a:br>
              <a:rPr lang="zh-CN" altLang="en-US"/>
            </a:br>
            <a:r>
              <a:rPr lang="zh-CN" altLang="en-US" dirty="0"/>
              <a:t>   </a:t>
            </a:r>
            <a:r>
              <a:rPr lang="zh-CN" altLang="en-US"/>
              <a:t> 内存</a:t>
            </a:r>
            <a:r>
              <a:rPr lang="zh-CN" altLang="en-US" dirty="0"/>
              <a:t>空间的分配上。</a:t>
            </a:r>
            <a:r>
              <a:rPr lang="en-US" altLang="zh-CN" dirty="0"/>
              <a:t>define</a:t>
            </a:r>
            <a:r>
              <a:rPr lang="zh-CN" altLang="en-US" dirty="0"/>
              <a:t>进行宏定义的时候，不会分配内存空间，编译时会在</a:t>
            </a:r>
            <a:r>
              <a:rPr lang="en-US" altLang="zh-CN" dirty="0"/>
              <a:t>main</a:t>
            </a:r>
            <a:r>
              <a:rPr lang="zh-CN" altLang="en-US" dirty="0"/>
              <a:t>函数里进行替换，只是单纯的替换，不会进行任何检查</a:t>
            </a:r>
            <a:r>
              <a:rPr lang="en-US" altLang="zh-CN" dirty="0"/>
              <a:t>,</a:t>
            </a:r>
            <a:r>
              <a:rPr lang="zh-CN" altLang="en-US" dirty="0"/>
              <a:t>比如类型，语句结构等，即宏定义常量只是纯粹的置放关系，如</a:t>
            </a:r>
            <a:r>
              <a:rPr lang="en-US" altLang="zh-CN"/>
              <a:t>#define null 0</a:t>
            </a:r>
            <a:r>
              <a:rPr lang="zh-CN" altLang="en-US" dirty="0"/>
              <a:t>；编译器在遇到</a:t>
            </a:r>
            <a:r>
              <a:rPr lang="en-US" altLang="zh-CN" dirty="0"/>
              <a:t>null</a:t>
            </a:r>
            <a:r>
              <a:rPr lang="zh-CN" altLang="en-US" dirty="0"/>
              <a:t>时总是用</a:t>
            </a:r>
            <a:r>
              <a:rPr lang="en-US" altLang="zh-CN" dirty="0"/>
              <a:t>0</a:t>
            </a:r>
            <a:r>
              <a:rPr lang="zh-CN" altLang="en-US" dirty="0"/>
              <a:t>代替</a:t>
            </a:r>
            <a:r>
              <a:rPr lang="en-US" altLang="zh-CN" dirty="0"/>
              <a:t>null</a:t>
            </a:r>
            <a:r>
              <a:rPr lang="zh-CN" altLang="en-US" dirty="0"/>
              <a:t>它没有数据类型（还有疑问请找</a:t>
            </a:r>
            <a:r>
              <a:rPr lang="en-US" altLang="zh-CN" dirty="0"/>
              <a:t>C</a:t>
            </a:r>
            <a:r>
              <a:rPr lang="zh-CN" altLang="en-US" dirty="0"/>
              <a:t>语言书籍看预处理部分或者看</a:t>
            </a:r>
            <a:r>
              <a:rPr lang="en-US" altLang="zh-CN" dirty="0"/>
              <a:t>MSDN.</a:t>
            </a:r>
            <a:r>
              <a:rPr lang="zh-CN" altLang="en-US" dirty="0"/>
              <a:t>而</a:t>
            </a:r>
            <a:r>
              <a:rPr lang="en-US" altLang="zh-CN" dirty="0"/>
              <a:t>const</a:t>
            </a:r>
            <a:r>
              <a:rPr lang="zh-CN" altLang="en-US" dirty="0"/>
              <a:t>定义的常量具有数据类型，定义数据类型的常量便于编译器进行数据检查，使程序可能出现错误进行排查</a:t>
            </a:r>
            <a:r>
              <a:rPr lang="en-US" altLang="zh-CN" dirty="0"/>
              <a:t>,</a:t>
            </a:r>
            <a:r>
              <a:rPr lang="zh-CN" altLang="en-US" dirty="0"/>
              <a:t>所以</a:t>
            </a:r>
            <a:r>
              <a:rPr lang="en-US" altLang="zh-CN" dirty="0"/>
              <a:t>const</a:t>
            </a:r>
            <a:r>
              <a:rPr lang="zh-CN" altLang="en-US" dirty="0"/>
              <a:t>与</a:t>
            </a:r>
            <a:r>
              <a:rPr lang="en-US" altLang="zh-CN" dirty="0"/>
              <a:t>define</a:t>
            </a:r>
            <a:r>
              <a:rPr lang="zh-CN" altLang="en-US" dirty="0"/>
              <a:t>之间的区别在于</a:t>
            </a:r>
            <a:r>
              <a:rPr lang="en-US" altLang="zh-CN" dirty="0"/>
              <a:t>const</a:t>
            </a:r>
            <a:r>
              <a:rPr lang="zh-CN" altLang="en-US" dirty="0"/>
              <a:t>定义常量排除了程序之间的不</a:t>
            </a:r>
            <a:r>
              <a:rPr lang="zh-CN" altLang="en-US"/>
              <a:t>安全性</a:t>
            </a:r>
            <a:r>
              <a:rPr lang="en-US" altLang="zh-CN"/>
              <a:t>. </a:t>
            </a:r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673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sizeof</a:t>
            </a:r>
            <a:r>
              <a:rPr lang="en-US" altLang="zh-CN" dirty="0"/>
              <a:t>(‘a’)</a:t>
            </a:r>
            <a:r>
              <a:rPr lang="zh-CN" altLang="en-US" dirty="0"/>
              <a:t>返回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 err="1"/>
              <a:t>sizeof</a:t>
            </a:r>
            <a:r>
              <a:rPr lang="en-US" altLang="zh-CN" dirty="0"/>
              <a:t>(char)</a:t>
            </a:r>
            <a:r>
              <a:rPr lang="zh-CN" altLang="en-US" dirty="0"/>
              <a:t>返回</a:t>
            </a:r>
            <a:r>
              <a:rPr lang="en-US" altLang="zh-CN" dirty="0"/>
              <a:t>1. </a:t>
            </a:r>
            <a:r>
              <a:rPr lang="zh-CN" altLang="en-US" dirty="0"/>
              <a:t>因为</a:t>
            </a:r>
            <a:r>
              <a:rPr lang="en-US" altLang="zh-CN" dirty="0"/>
              <a:t>C</a:t>
            </a:r>
            <a:r>
              <a:rPr lang="zh-CN" altLang="en-US" dirty="0"/>
              <a:t>语言将字符常量当作</a:t>
            </a:r>
            <a:r>
              <a:rPr lang="en-US" altLang="zh-CN" dirty="0"/>
              <a:t>int</a:t>
            </a:r>
            <a:r>
              <a:rPr lang="zh-CN" altLang="en-US" dirty="0"/>
              <a:t>类型处理。</a:t>
            </a:r>
          </a:p>
        </p:txBody>
      </p:sp>
    </p:spTree>
    <p:extLst>
      <p:ext uri="{BB962C8B-B14F-4D97-AF65-F5344CB8AC3E}">
        <p14:creationId xmlns:p14="http://schemas.microsoft.com/office/powerpoint/2010/main" val="155911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64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单击以编辑母版标题样式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单击以编辑母版文本样式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 eaLnBrk="1" fontAlgn="base" hangingPunct="1">
              <a:spcBef>
                <a:spcPct val="50000"/>
              </a:spcBef>
            </a:pPr>
            <a:endParaRPr lang="en-US" altLang="x-none" strike="noStrike" noProof="1">
              <a:latin typeface="Times New Roman" panose="02020603050405020304" pitchFamily="2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pitchFamily="2" charset="0"/>
            </a:endParaRPr>
          </a:p>
        </p:txBody>
      </p:sp>
      <p:grpSp>
        <p:nvGrpSpPr>
          <p:cNvPr id="1031" name="组合 1030"/>
          <p:cNvGrpSpPr/>
          <p:nvPr/>
        </p:nvGrpSpPr>
        <p:grpSpPr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2" name="Rectangle 8"/>
            <p:cNvSpPr/>
            <p:nvPr/>
          </p:nvSpPr>
          <p:spPr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 indent="0"/>
              <a:r>
                <a:rPr lang="zh-CN" altLang="en-US" sz="2400" b="0">
                  <a:latin typeface="Times New Roman" panose="02020603050405020304" pitchFamily="2" charset="0"/>
                </a:rPr>
                <a:t>                  </a:t>
              </a:r>
              <a:endParaRPr lang="zh-CN" altLang="en-US" sz="2400" b="0" dirty="0">
                <a:latin typeface="Times New Roman" panose="02020603050405020304" pitchFamily="2" charset="0"/>
              </a:endParaRPr>
            </a:p>
          </p:txBody>
        </p:sp>
        <p:sp>
          <p:nvSpPr>
            <p:cNvPr id="1033" name="Line 9"/>
            <p:cNvSpPr/>
            <p:nvPr/>
          </p:nvSpPr>
          <p:spPr>
            <a:xfrm>
              <a:off x="4464" y="0"/>
              <a:ext cx="288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" name="Line 10"/>
            <p:cNvSpPr/>
            <p:nvPr/>
          </p:nvSpPr>
          <p:spPr>
            <a:xfrm>
              <a:off x="4176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5" name="Line 11"/>
            <p:cNvSpPr/>
            <p:nvPr/>
          </p:nvSpPr>
          <p:spPr>
            <a:xfrm>
              <a:off x="4704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6" name="Line 12"/>
            <p:cNvSpPr/>
            <p:nvPr/>
          </p:nvSpPr>
          <p:spPr>
            <a:xfrm>
              <a:off x="5376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7" name="Line 13"/>
            <p:cNvSpPr/>
            <p:nvPr/>
          </p:nvSpPr>
          <p:spPr>
            <a:xfrm>
              <a:off x="5184" y="0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8" name="Line 14"/>
            <p:cNvSpPr/>
            <p:nvPr/>
          </p:nvSpPr>
          <p:spPr>
            <a:xfrm>
              <a:off x="5568" y="0"/>
              <a:ext cx="192" cy="144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9" name="Line 15"/>
            <p:cNvSpPr/>
            <p:nvPr/>
          </p:nvSpPr>
          <p:spPr>
            <a:xfrm>
              <a:off x="4992" y="0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40" name="Line 16"/>
          <p:cNvSpPr/>
          <p:nvPr/>
        </p:nvSpPr>
        <p:spPr>
          <a:xfrm>
            <a:off x="468313" y="1176338"/>
            <a:ext cx="8458200" cy="0"/>
          </a:xfrm>
          <a:prstGeom prst="line">
            <a:avLst/>
          </a:prstGeom>
          <a:ln w="57150" cap="flat" cmpd="sng">
            <a:solidFill>
              <a:srgbClr val="33CCCC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1" name="Text Box 17"/>
          <p:cNvSpPr txBox="1"/>
          <p:nvPr/>
        </p:nvSpPr>
        <p:spPr>
          <a:xfrm>
            <a:off x="457200" y="2514600"/>
            <a:ext cx="8305800" cy="35067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  <a:p>
            <a:pPr lvl="0" indent="0">
              <a:spcBef>
                <a:spcPct val="50000"/>
              </a:spcBef>
            </a:pPr>
            <a:endParaRPr lang="zh-CN" altLang="en-US" sz="3200" dirty="0">
              <a:solidFill>
                <a:srgbClr val="FFFFFF"/>
              </a:solidFill>
              <a:latin typeface="Times New Roman" panose="02020603050405020304" pitchFamily="2" charset="0"/>
            </a:endParaRPr>
          </a:p>
        </p:txBody>
      </p:sp>
      <p:pic>
        <p:nvPicPr>
          <p:cNvPr id="1042" name="Picture 18" descr="bu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</p:sldLayoutIdLst>
  <p:transition/>
  <p:hf sldNum="0" hdr="0" ftr="0" dt="0"/>
  <p:txStyles>
    <p:titleStyle>
      <a:lvl1pPr marL="0" lvl="0" indent="0" algn="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200" b="0" i="0" u="none" kern="1200" baseline="0">
          <a:solidFill>
            <a:srgbClr val="FF33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grpSp>
        <p:nvGrpSpPr>
          <p:cNvPr id="4098" name="组合 3074"/>
          <p:cNvGrpSpPr/>
          <p:nvPr/>
        </p:nvGrpSpPr>
        <p:grpSpPr>
          <a:xfrm>
            <a:off x="1547813" y="2133600"/>
            <a:ext cx="5903912" cy="1514069"/>
            <a:chOff x="0" y="0"/>
            <a:chExt cx="2736" cy="1094"/>
          </a:xfrm>
        </p:grpSpPr>
        <p:sp>
          <p:nvSpPr>
            <p:cNvPr id="4099" name="Rectangle 6"/>
            <p:cNvSpPr/>
            <p:nvPr/>
          </p:nvSpPr>
          <p:spPr>
            <a:xfrm>
              <a:off x="0" y="0"/>
              <a:ext cx="2736" cy="1040"/>
            </a:xfrm>
            <a:prstGeom prst="rect">
              <a:avLst/>
            </a:prstGeom>
            <a:gradFill rotWithShape="0">
              <a:gsLst>
                <a:gs pos="0">
                  <a:srgbClr val="CF0E30"/>
                </a:gs>
                <a:gs pos="50000">
                  <a:srgbClr val="3E040E"/>
                </a:gs>
                <a:gs pos="100000">
                  <a:srgbClr val="CF0E30"/>
                </a:gs>
              </a:gsLst>
              <a:lin ang="18900000" scaled="1"/>
              <a:tileRect/>
            </a:gradFill>
            <a:ln w="28575" cap="flat" cmpd="sng">
              <a:solidFill>
                <a:srgbClr val="F6829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4100" name="Text Box 7"/>
            <p:cNvSpPr txBox="1"/>
            <p:nvPr/>
          </p:nvSpPr>
          <p:spPr>
            <a:xfrm>
              <a:off x="0" y="27"/>
              <a:ext cx="2612" cy="106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程序设计语言初步</a:t>
              </a:r>
              <a:endParaRPr lang="en-US" altLang="zh-CN" sz="3600" dirty="0">
                <a:solidFill>
                  <a:schemeClr val="bg1"/>
                </a:solidFill>
                <a:latin typeface="Times New Roman" panose="02020603050405020304" pitchFamily="2" charset="0"/>
              </a:endParaRPr>
            </a:p>
            <a:p>
              <a:pPr algn="ctr" eaLnBrk="0" hangingPunct="0">
                <a:spcBef>
                  <a:spcPct val="50000"/>
                </a:spcBef>
              </a:pPr>
              <a:r>
                <a:rPr lang="en-US" altLang="zh-CN" sz="3600" dirty="0">
                  <a:solidFill>
                    <a:schemeClr val="bg1"/>
                  </a:solidFill>
                  <a:latin typeface="Times New Roman" panose="02020603050405020304" pitchFamily="2" charset="0"/>
                </a:rPr>
                <a:t>-</a:t>
              </a:r>
              <a:r>
                <a:rPr lang="zh-CN" altLang="en-US" sz="3600" dirty="0">
                  <a:solidFill>
                    <a:schemeClr val="bg1"/>
                  </a:solidFill>
                </a:rPr>
                <a:t>算术运算</a:t>
              </a:r>
              <a:endParaRPr lang="zh-CN" altLang="en-US" sz="3600" dirty="0">
                <a:solidFill>
                  <a:schemeClr val="bg1"/>
                </a:solidFill>
                <a:latin typeface="Times New Roman" panose="02020603050405020304" pitchFamily="2" charset="0"/>
              </a:endParaRPr>
            </a:p>
          </p:txBody>
        </p:sp>
      </p:grpSp>
      <p:pic>
        <p:nvPicPr>
          <p:cNvPr id="4101" name="Picture 8" descr="地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3" y="4292600"/>
            <a:ext cx="1584325" cy="1514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Rectangle 12"/>
          <p:cNvSpPr/>
          <p:nvPr/>
        </p:nvSpPr>
        <p:spPr>
          <a:xfrm>
            <a:off x="828675" y="3862388"/>
            <a:ext cx="7848600" cy="2663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/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软件与</a:t>
            </a:r>
            <a:r>
              <a:rPr lang="zh-CN" altLang="en-US" sz="2800">
                <a:latin typeface="宋体" panose="02010600030101010101" pitchFamily="2" charset="-122"/>
              </a:rPr>
              <a:t>理论中心 </a:t>
            </a:r>
            <a:r>
              <a:rPr lang="zh-CN" altLang="en-US" sz="2800">
                <a:latin typeface="楷体_GB2312" pitchFamily="1" charset="-122"/>
                <a:ea typeface="楷体_GB2312" pitchFamily="1" charset="-122"/>
              </a:rPr>
              <a:t>张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</a:rPr>
              <a:t>艳梅</a:t>
            </a:r>
            <a:endParaRPr lang="en-US" altLang="zh-CN" sz="2800" dirty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5">
            <a:extLst>
              <a:ext uri="{FF2B5EF4-FFF2-40B4-BE49-F238E27FC236}">
                <a16:creationId xmlns:a16="http://schemas.microsoft.com/office/drawing/2014/main" id="{FB61AE9D-4BFF-4825-8F9B-F79B9778857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701E99A3-39F7-41C6-8F0D-9FE459AD74AE}" type="slidenum">
              <a:rPr lang="zh-CN" altLang="en-US" sz="1400"/>
              <a:pPr algn="r">
                <a:spcBef>
                  <a:spcPct val="50000"/>
                </a:spcBef>
              </a:pPr>
              <a:t>2</a:t>
            </a:fld>
            <a:endParaRPr lang="zh-CN" altLang="en-US" sz="14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E0CF09DF-3708-4402-A736-3CDD496A91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运算表达式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EAA7739-72AD-4503-BFA3-CA6C6258FC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19213"/>
            <a:ext cx="8153400" cy="4611687"/>
          </a:xfrm>
        </p:spPr>
        <p:txBody>
          <a:bodyPr/>
          <a:lstStyle/>
          <a:p>
            <a:pPr eaLnBrk="1" hangingPunct="1">
              <a:buClr>
                <a:srgbClr val="6600FF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b="1" dirty="0"/>
              <a:t>典型的运算表达式有以下四种 ：</a:t>
            </a:r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zh-CN" altLang="en-US" b="1" dirty="0"/>
              <a:t>算术运算符 </a:t>
            </a:r>
            <a:r>
              <a:rPr lang="en-US" altLang="zh-CN" b="1" dirty="0"/>
              <a:t>(+, -, *, /, %)</a:t>
            </a:r>
            <a:r>
              <a:rPr lang="zh-CN" altLang="en-US" b="1" dirty="0"/>
              <a:t>和算术表达式；</a:t>
            </a:r>
            <a:endParaRPr lang="en-US" altLang="zh-CN" b="1" dirty="0"/>
          </a:p>
          <a:p>
            <a:pPr marL="400050" lvl="1" indent="0" eaLnBrk="1" hangingPunct="1">
              <a:buClr>
                <a:srgbClr val="6600FF"/>
              </a:buClr>
              <a:buSzPct val="50000"/>
              <a:buNone/>
            </a:pPr>
            <a:r>
              <a:rPr lang="zh-CN" altLang="en-US" b="1" dirty="0"/>
              <a:t>支持浮点数运算、整数运算、整数除法、取余运算</a:t>
            </a:r>
            <a:endParaRPr lang="en-US" altLang="zh-CN" b="1" dirty="0"/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zh-CN" altLang="en-US" b="1" dirty="0"/>
              <a:t>赋值运算符</a:t>
            </a:r>
            <a:r>
              <a:rPr lang="en-US" altLang="zh-CN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, +=, -=, *=, /=, %=)</a:t>
            </a:r>
            <a:r>
              <a:rPr lang="zh-CN" altLang="en-US" b="1" dirty="0"/>
              <a:t>和赋值表达式 ；</a:t>
            </a:r>
          </a:p>
          <a:p>
            <a:pPr marL="400050" lvl="1" indent="0" eaLnBrk="1" hangingPunct="1">
              <a:buClr>
                <a:srgbClr val="6600FF"/>
              </a:buClr>
              <a:buSzPct val="50000"/>
              <a:buNone/>
            </a:pPr>
            <a:r>
              <a:rPr lang="en-US" altLang="zh-CN" b="1" dirty="0"/>
              <a:t>	</a:t>
            </a:r>
            <a:r>
              <a:rPr lang="zh-CN" altLang="en-US" b="1" dirty="0"/>
              <a:t>例：</a:t>
            </a:r>
            <a:r>
              <a:rPr lang="en-US" altLang="zh-CN" b="1" dirty="0"/>
              <a:t>result = </a:t>
            </a:r>
            <a:r>
              <a:rPr lang="en-US" altLang="zh-CN" b="1" dirty="0" err="1"/>
              <a:t>a+b</a:t>
            </a:r>
            <a:r>
              <a:rPr lang="en-US" altLang="zh-CN" b="1" dirty="0"/>
              <a:t>;</a:t>
            </a:r>
            <a:endParaRPr lang="zh-CN" altLang="en-US" b="1" dirty="0"/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zh-CN" altLang="en-US" b="1" dirty="0"/>
              <a:t>关系运算符</a:t>
            </a:r>
            <a:r>
              <a:rPr lang="en-US" altLang="zh-CN" b="1" dirty="0"/>
              <a:t>(</a:t>
            </a:r>
            <a:r>
              <a:rPr lang="zh-CN" altLang="en-US" b="1" dirty="0"/>
              <a:t>＞</a:t>
            </a:r>
            <a:r>
              <a:rPr lang="en-US" altLang="zh-CN" b="1" dirty="0"/>
              <a:t>,</a:t>
            </a:r>
            <a:r>
              <a:rPr lang="zh-CN" altLang="en-US" b="1" dirty="0"/>
              <a:t>＜</a:t>
            </a:r>
            <a:r>
              <a:rPr lang="en-US" altLang="zh-CN" b="1" dirty="0"/>
              <a:t>, ==, &gt;=, &lt;=, !=)</a:t>
            </a:r>
            <a:r>
              <a:rPr lang="zh-CN" altLang="en-US" b="1" dirty="0"/>
              <a:t>和关系表达式；</a:t>
            </a:r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zh-CN" altLang="en-US" b="1" dirty="0"/>
              <a:t>逻辑运算符</a:t>
            </a:r>
            <a:r>
              <a:rPr lang="en-US" altLang="zh-CN" b="1" dirty="0"/>
              <a:t>(!, &amp;&amp;, || )</a:t>
            </a:r>
            <a:r>
              <a:rPr lang="zh-CN" altLang="en-US" b="1" dirty="0"/>
              <a:t>和逻辑表达式 ；</a:t>
            </a:r>
            <a:endParaRPr lang="en-US" altLang="zh-CN" b="1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>
            <a:extLst>
              <a:ext uri="{FF2B5EF4-FFF2-40B4-BE49-F238E27FC236}">
                <a16:creationId xmlns:a16="http://schemas.microsoft.com/office/drawing/2014/main" id="{A98F8992-7D67-4A09-BB58-0A9048859A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16D45622-741C-4A9F-B0FC-10916D62740B}" type="slidenum">
              <a:rPr lang="zh-CN" altLang="en-US" sz="1400"/>
              <a:pPr algn="r">
                <a:spcBef>
                  <a:spcPct val="50000"/>
                </a:spcBef>
              </a:pPr>
              <a:t>3</a:t>
            </a:fld>
            <a:endParaRPr lang="zh-CN" altLang="en-US" sz="1400"/>
          </a:p>
        </p:txBody>
      </p:sp>
      <p:sp>
        <p:nvSpPr>
          <p:cNvPr id="51202" name="Rectangle 8">
            <a:extLst>
              <a:ext uri="{FF2B5EF4-FFF2-40B4-BE49-F238E27FC236}">
                <a16:creationId xmlns:a16="http://schemas.microsoft.com/office/drawing/2014/main" id="{AB72A0FF-1562-45B2-91D2-0A0F292D13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295400"/>
            <a:ext cx="8215064" cy="4654550"/>
          </a:xfrm>
        </p:spPr>
        <p:txBody>
          <a:bodyPr lIns="92075" tIns="46038" rIns="92075" bIns="46038"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赋值表达式是带有赋值符</a:t>
            </a:r>
            <a:r>
              <a:rPr lang="en-US" altLang="zh-CN" b="1" dirty="0">
                <a:latin typeface="宋体" panose="02010600030101010101" pitchFamily="2" charset="-122"/>
              </a:rPr>
              <a:t>=</a:t>
            </a:r>
            <a:r>
              <a:rPr lang="zh-CN" altLang="en-US" b="1" dirty="0">
                <a:latin typeface="宋体" panose="02010600030101010101" pitchFamily="2" charset="-122"/>
              </a:rPr>
              <a:t>的表达式；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zh-CN" altLang="en-US" b="1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当变量基于自身数值更新运算时，</a:t>
            </a:r>
            <a:r>
              <a:rPr lang="en-US" altLang="zh-CN" b="1" dirty="0"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latin typeface="宋体" panose="02010600030101010101" pitchFamily="2" charset="-122"/>
              </a:rPr>
              <a:t>语言很贴心地定义了简写形式</a:t>
            </a:r>
            <a:r>
              <a:rPr lang="en-US" altLang="zh-CN" b="1" dirty="0">
                <a:latin typeface="宋体" panose="02010600030101010101" pitchFamily="2" charset="-122"/>
              </a:rPr>
              <a:t>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num += 5;	/*</a:t>
            </a:r>
            <a:r>
              <a:rPr lang="zh-CN" altLang="en-US" b="1" dirty="0"/>
              <a:t>是</a:t>
            </a:r>
            <a:r>
              <a:rPr lang="en-US" altLang="zh-CN" b="1" dirty="0"/>
              <a:t>num = </a:t>
            </a:r>
            <a:r>
              <a:rPr lang="en-US" altLang="zh-CN" b="1" dirty="0" err="1"/>
              <a:t>num+5</a:t>
            </a:r>
            <a:r>
              <a:rPr lang="en-US" altLang="zh-CN" b="1" dirty="0"/>
              <a:t>;</a:t>
            </a:r>
            <a:r>
              <a:rPr lang="zh-CN" altLang="en-US" b="1" dirty="0"/>
              <a:t>的简写*</a:t>
            </a:r>
            <a:r>
              <a:rPr lang="en-US" altLang="zh-CN" b="1" dirty="0"/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num -= 5; 	/*</a:t>
            </a:r>
            <a:r>
              <a:rPr lang="zh-CN" altLang="en-US" b="1" dirty="0"/>
              <a:t>是</a:t>
            </a:r>
            <a:r>
              <a:rPr lang="en-US" altLang="zh-CN" b="1" dirty="0"/>
              <a:t>num = num-5;</a:t>
            </a:r>
            <a:r>
              <a:rPr lang="zh-CN" altLang="en-US" b="1" dirty="0"/>
              <a:t>的简写*</a:t>
            </a:r>
            <a:r>
              <a:rPr lang="en-US" altLang="zh-CN" b="1" dirty="0"/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num *= 5;  	/*</a:t>
            </a:r>
            <a:r>
              <a:rPr lang="zh-CN" altLang="en-US" b="1" dirty="0"/>
              <a:t>是</a:t>
            </a:r>
            <a:r>
              <a:rPr lang="en-US" altLang="zh-CN" b="1" dirty="0"/>
              <a:t>num = num*5;</a:t>
            </a:r>
            <a:r>
              <a:rPr lang="zh-CN" altLang="en-US" b="1" dirty="0"/>
              <a:t>的简写*</a:t>
            </a:r>
            <a:r>
              <a:rPr lang="en-US" altLang="zh-CN" b="1" dirty="0"/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num /= 5;  	/*</a:t>
            </a:r>
            <a:r>
              <a:rPr lang="zh-CN" altLang="en-US" b="1" dirty="0"/>
              <a:t>是</a:t>
            </a:r>
            <a:r>
              <a:rPr lang="en-US" altLang="zh-CN" b="1" dirty="0"/>
              <a:t>num = num/5;</a:t>
            </a:r>
            <a:r>
              <a:rPr lang="zh-CN" altLang="en-US" b="1" dirty="0"/>
              <a:t>的简写*</a:t>
            </a:r>
            <a:r>
              <a:rPr lang="en-US" altLang="zh-CN" b="1" dirty="0"/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b="1" dirty="0"/>
              <a:t>	num %= 5;	/*</a:t>
            </a:r>
            <a:r>
              <a:rPr lang="zh-CN" altLang="en-US" b="1" dirty="0"/>
              <a:t>是</a:t>
            </a:r>
            <a:r>
              <a:rPr lang="en-US" altLang="zh-CN" b="1" dirty="0"/>
              <a:t>num = </a:t>
            </a:r>
            <a:r>
              <a:rPr lang="en-US" altLang="zh-CN" b="1" dirty="0" err="1"/>
              <a:t>num%5</a:t>
            </a:r>
            <a:r>
              <a:rPr lang="en-US" altLang="zh-CN" b="1" dirty="0"/>
              <a:t>;</a:t>
            </a:r>
            <a:r>
              <a:rPr lang="zh-CN" altLang="en-US" b="1" dirty="0"/>
              <a:t>的简写*</a:t>
            </a:r>
            <a:r>
              <a:rPr lang="en-US" altLang="zh-CN" b="1" dirty="0"/>
              <a:t>/</a:t>
            </a:r>
          </a:p>
        </p:txBody>
      </p:sp>
      <p:sp>
        <p:nvSpPr>
          <p:cNvPr id="51203" name="Text Box 9">
            <a:extLst>
              <a:ext uri="{FF2B5EF4-FFF2-40B4-BE49-F238E27FC236}">
                <a16:creationId xmlns:a16="http://schemas.microsoft.com/office/drawing/2014/main" id="{EBE7C301-F78A-4392-84B9-396533534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352800"/>
            <a:ext cx="777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buClr>
                <a:schemeClr val="accent2"/>
              </a:buClr>
              <a:buSzPct val="75000"/>
              <a:buFont typeface="Monotype Sorts" pitchFamily="2" charset="2"/>
              <a:buNone/>
            </a:pPr>
            <a:endParaRPr lang="en-US" altLang="zh-CN" sz="2800">
              <a:latin typeface="宋体" panose="02010600030101010101" pitchFamily="2" charset="-122"/>
            </a:endParaRPr>
          </a:p>
        </p:txBody>
      </p:sp>
      <p:sp>
        <p:nvSpPr>
          <p:cNvPr id="51204" name="Rectangle 13">
            <a:extLst>
              <a:ext uri="{FF2B5EF4-FFF2-40B4-BE49-F238E27FC236}">
                <a16:creationId xmlns:a16="http://schemas.microsoft.com/office/drawing/2014/main" id="{B9F78C2E-8B0B-4389-9823-D9FBC4DB95B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表达式简写</a:t>
            </a:r>
            <a:r>
              <a:rPr lang="en-US" altLang="zh-CN" b="1" dirty="0"/>
              <a:t>-</a:t>
            </a:r>
            <a:r>
              <a:rPr lang="zh-CN" altLang="en-US" sz="2800" b="1" dirty="0">
                <a:solidFill>
                  <a:srgbClr val="2D35D3"/>
                </a:solidFill>
              </a:rPr>
              <a:t>自运算赋值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3">
            <a:extLst>
              <a:ext uri="{FF2B5EF4-FFF2-40B4-BE49-F238E27FC236}">
                <a16:creationId xmlns:a16="http://schemas.microsoft.com/office/drawing/2014/main" id="{DD3DE6D6-3441-4B3A-90A6-33EB9404171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06400" y="1216025"/>
            <a:ext cx="84994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zh-CN" sz="2800" dirty="0"/>
              <a:t>在 C 语言中，单行注释从“//” 开始 直到 行 末 为止； 多行注释用“/*” 和“*/” 包围 起来。</a:t>
            </a:r>
          </a:p>
          <a:p>
            <a:pPr eaLnBrk="0" hangingPunct="0"/>
            <a:r>
              <a:rPr lang="zh-CN" altLang="zh-CN" sz="2800" dirty="0"/>
              <a:t>提示 ： 适当 在 程序 中 编写 注释 不 仅能 让 其他 用户 更快 地 搞 懂 你的 程序， 还能 帮你 自己 理清 思路。</a:t>
            </a:r>
          </a:p>
          <a:p>
            <a:pPr eaLnBrk="0" hangingPunct="0"/>
            <a:endParaRPr lang="zh-CN" altLang="zh-CN" sz="2800" dirty="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82BBD04C-D589-4D26-8C0D-A81719B0C05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 eaLnBrk="0" hangingPunct="0">
              <a:spcBef>
                <a:spcPct val="0"/>
              </a:spcBef>
            </a:pP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</a:rPr>
              <a:t>适当加入注释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5">
            <a:extLst>
              <a:ext uri="{FF2B5EF4-FFF2-40B4-BE49-F238E27FC236}">
                <a16:creationId xmlns:a16="http://schemas.microsoft.com/office/drawing/2014/main" id="{FB61AE9D-4BFF-4825-8F9B-F79B9778857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701E99A3-39F7-41C6-8F0D-9FE459AD74AE}" type="slidenum">
              <a:rPr lang="zh-CN" altLang="en-US" sz="1400"/>
              <a:pPr algn="r">
                <a:spcBef>
                  <a:spcPct val="50000"/>
                </a:spcBef>
              </a:pPr>
              <a:t>5</a:t>
            </a:fld>
            <a:endParaRPr lang="zh-CN" altLang="en-US" sz="14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E0CF09DF-3708-4402-A736-3CDD496A91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算术运算符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EAA7739-72AD-4503-BFA3-CA6C6258FC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Clr>
                <a:srgbClr val="6600FF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b="1" dirty="0"/>
              <a:t>算术运算符有以下五种：</a:t>
            </a:r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en-US" altLang="zh-CN" b="1" dirty="0"/>
              <a:t>+</a:t>
            </a:r>
            <a:r>
              <a:rPr lang="zh-CN" altLang="en-US" b="1" dirty="0"/>
              <a:t>加法</a:t>
            </a:r>
            <a:endParaRPr lang="en-US" altLang="zh-CN" b="1" dirty="0"/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en-US" altLang="zh-CN" b="1" dirty="0"/>
              <a:t>-</a:t>
            </a:r>
            <a:r>
              <a:rPr lang="zh-CN" altLang="en-US" b="1" dirty="0"/>
              <a:t>减法</a:t>
            </a:r>
            <a:endParaRPr lang="en-US" altLang="zh-CN" b="1" dirty="0"/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en-US" altLang="zh-CN" b="1" dirty="0"/>
              <a:t>*</a:t>
            </a:r>
            <a:r>
              <a:rPr lang="zh-CN" altLang="en-US" b="1" dirty="0"/>
              <a:t>乘法</a:t>
            </a:r>
            <a:endParaRPr lang="en-US" altLang="zh-CN" b="1" dirty="0"/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en-US" altLang="zh-CN" b="1" dirty="0"/>
              <a:t>/	</a:t>
            </a:r>
            <a:r>
              <a:rPr lang="zh-CN" altLang="en-US" b="1" dirty="0"/>
              <a:t>除法</a:t>
            </a:r>
            <a:r>
              <a:rPr lang="en-US" altLang="zh-CN" b="1" dirty="0"/>
              <a:t>,</a:t>
            </a:r>
            <a:r>
              <a:rPr lang="zh-CN" altLang="en-US" b="1" dirty="0"/>
              <a:t>两个整数相除按整数除法规则，至少一个浮点数参与的除法是实数除法。</a:t>
            </a:r>
            <a:endParaRPr lang="en-US" altLang="zh-CN" b="1" dirty="0"/>
          </a:p>
          <a:p>
            <a:pPr marL="400050" lvl="1" indent="0" eaLnBrk="1" hangingPunct="1">
              <a:buClr>
                <a:srgbClr val="6600FF"/>
              </a:buClr>
              <a:buSzPct val="50000"/>
              <a:buNone/>
            </a:pPr>
            <a:r>
              <a:rPr lang="zh-CN" altLang="en-US" b="1" dirty="0"/>
              <a:t>例：</a:t>
            </a:r>
            <a:r>
              <a:rPr lang="en-US" altLang="zh-CN" b="1" dirty="0"/>
              <a:t>3/5,2.48/1.03,1/3.14.</a:t>
            </a:r>
          </a:p>
          <a:p>
            <a:pPr marL="514350" indent="-514350" eaLnBrk="1" hangingPunct="1">
              <a:buClr>
                <a:srgbClr val="6600FF"/>
              </a:buClr>
              <a:buSzPct val="50000"/>
              <a:buFont typeface="+mj-lt"/>
              <a:buAutoNum type="arabicPeriod"/>
            </a:pPr>
            <a:r>
              <a:rPr lang="en-US" altLang="zh-CN" b="1" dirty="0"/>
              <a:t>%	</a:t>
            </a:r>
            <a:r>
              <a:rPr lang="zh-CN" altLang="en-US" b="1" dirty="0"/>
              <a:t>取余，整数除法算法中的余数计算。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31475020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矩形 761857">
            <a:extLst>
              <a:ext uri="{FF2B5EF4-FFF2-40B4-BE49-F238E27FC236}">
                <a16:creationId xmlns:a16="http://schemas.microsoft.com/office/drawing/2014/main" id="{6E61933C-FAC2-4D08-A566-4A92193EA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" y="1268760"/>
            <a:ext cx="3889028" cy="48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编程语言规定了运算符的优先级。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在表达式求值时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先按运算符的优先级别高低次序执行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例如先乘除后加减。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solidFill>
                  <a:srgbClr val="000099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sz="2400" dirty="0">
                <a:solidFill>
                  <a:srgbClr val="000099"/>
                </a:solidFill>
                <a:latin typeface="宋体" panose="02010600030101010101" pitchFamily="2" charset="-122"/>
              </a:rPr>
              <a:t>17*5+8/3-15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</p:txBody>
      </p:sp>
      <p:sp>
        <p:nvSpPr>
          <p:cNvPr id="38914" name="标题 761858">
            <a:extLst>
              <a:ext uri="{FF2B5EF4-FFF2-40B4-BE49-F238E27FC236}">
                <a16:creationId xmlns:a16="http://schemas.microsoft.com/office/drawing/2014/main" id="{9492B755-277B-409B-9E1A-B6F3E2D2D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算术运算的优先级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EAC827-161F-91C4-C1B1-05344AF3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52997"/>
            <a:ext cx="4381500" cy="4800600"/>
          </a:xfrm>
          <a:prstGeom prst="rect">
            <a:avLst/>
          </a:prstGeom>
        </p:spPr>
      </p:pic>
    </p:spTree>
  </p:cSld>
  <p:clrMapOvr>
    <a:masterClrMapping/>
  </p:clrMapOvr>
  <p:transition advClick="0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6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矩形 761857">
            <a:extLst>
              <a:ext uri="{FF2B5EF4-FFF2-40B4-BE49-F238E27FC236}">
                <a16:creationId xmlns:a16="http://schemas.microsoft.com/office/drawing/2014/main" id="{6E61933C-FAC2-4D08-A566-4A92193EA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" y="1268760"/>
            <a:ext cx="8353524" cy="48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663300"/>
                </a:solidFill>
                <a:latin typeface="宋体" panose="02010600030101010101" pitchFamily="2" charset="-122"/>
              </a:rPr>
              <a:t>编程语言规定了各种运算符的结合方向</a:t>
            </a:r>
            <a:r>
              <a:rPr lang="en-US" altLang="zh-CN" sz="2400" dirty="0">
                <a:solidFill>
                  <a:srgbClr val="6633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663300"/>
                </a:solidFill>
                <a:latin typeface="宋体" panose="02010600030101010101" pitchFamily="2" charset="-122"/>
              </a:rPr>
              <a:t>结合性</a:t>
            </a:r>
            <a:r>
              <a:rPr lang="en-US" altLang="zh-CN" sz="2400" dirty="0">
                <a:solidFill>
                  <a:srgbClr val="663300"/>
                </a:solidFill>
                <a:latin typeface="宋体" panose="02010600030101010101" pitchFamily="2" charset="-122"/>
              </a:rPr>
              <a:t>)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	C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语言中默认的算术运算符的结合方向为“自左至右”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即先左后右。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但是赋值运算符是右结合，即从右到左计算。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		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a=b=c; //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先将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的值赋给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，再将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的值赋给</a:t>
            </a:r>
            <a:r>
              <a:rPr lang="en-US" altLang="zh-CN" sz="2400" dirty="0">
                <a:solidFill>
                  <a:srgbClr val="4D4D4D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4D4D4D"/>
                </a:solidFill>
                <a:latin typeface="宋体" panose="02010600030101010101" pitchFamily="2" charset="-122"/>
              </a:rPr>
              <a:t>。</a:t>
            </a: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endParaRPr lang="en-US" altLang="zh-CN" sz="2400" dirty="0">
              <a:solidFill>
                <a:srgbClr val="4D4D4D"/>
              </a:solidFill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</a:rPr>
              <a:t>ANSIC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并没有具体规定表达式中的子表达式的求值顺序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允许各编译系统自己安排。</a:t>
            </a:r>
          </a:p>
        </p:txBody>
      </p:sp>
      <p:sp>
        <p:nvSpPr>
          <p:cNvPr id="38914" name="标题 761858">
            <a:extLst>
              <a:ext uri="{FF2B5EF4-FFF2-40B4-BE49-F238E27FC236}">
                <a16:creationId xmlns:a16="http://schemas.microsoft.com/office/drawing/2014/main" id="{9492B755-277B-409B-9E1A-B6F3E2D2D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运算符的结合性</a:t>
            </a:r>
          </a:p>
        </p:txBody>
      </p:sp>
    </p:spTree>
    <p:extLst>
      <p:ext uri="{BB962C8B-B14F-4D97-AF65-F5344CB8AC3E}">
        <p14:creationId xmlns:p14="http://schemas.microsoft.com/office/powerpoint/2010/main" val="673319598"/>
      </p:ext>
    </p:extLst>
  </p:cSld>
  <p:clrMapOvr>
    <a:masterClrMapping/>
  </p:clrMapOvr>
  <p:transition advClick="0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6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487BC07-6A87-3743-B726-A6C7B6C5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F39557-35DC-F67D-276C-755EDB8F4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9213"/>
            <a:ext cx="777240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/* </a:t>
            </a:r>
            <a:r>
              <a:rPr lang="en-US" altLang="zh-CN" sz="2400" dirty="0" err="1"/>
              <a:t>rules.c</a:t>
            </a:r>
            <a:r>
              <a:rPr lang="en-US" altLang="zh-CN" sz="2400" dirty="0"/>
              <a:t> --</a:t>
            </a:r>
            <a:r>
              <a:rPr lang="zh-CN" altLang="en-US" sz="2400" dirty="0"/>
              <a:t>优先级测试 *</a:t>
            </a:r>
            <a:r>
              <a:rPr lang="en-US" altLang="zh-CN" sz="2400" dirty="0"/>
              <a:t>/</a:t>
            </a:r>
          </a:p>
          <a:p>
            <a:pPr marL="0" indent="0"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marL="0" indent="0">
              <a:buNone/>
            </a:pPr>
            <a:r>
              <a:rPr lang="en-US" altLang="zh-CN" sz="2400" dirty="0"/>
              <a:t>int main(void)</a:t>
            </a:r>
          </a:p>
          <a:p>
            <a:pPr marL="0" indent="0">
              <a:buNone/>
            </a:pPr>
            <a:r>
              <a:rPr lang="en-US" altLang="zh-CN" sz="2400" dirty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 	int top, score;</a:t>
            </a:r>
          </a:p>
          <a:p>
            <a:pPr marL="0" indent="0">
              <a:buNone/>
            </a:pPr>
            <a:r>
              <a:rPr lang="en-US" altLang="zh-CN" sz="2400" dirty="0"/>
              <a:t> 	top = score = -(2+5)*6 + (4+3*(2+3));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("top=%</a:t>
            </a:r>
            <a:r>
              <a:rPr lang="en-US" altLang="zh-CN" sz="2400" dirty="0" err="1"/>
              <a:t>d,score</a:t>
            </a:r>
            <a:r>
              <a:rPr lang="en-US" altLang="zh-CN" sz="2400" dirty="0"/>
              <a:t>=%d\n",</a:t>
            </a:r>
            <a:r>
              <a:rPr lang="en-US" altLang="zh-CN" sz="2400" dirty="0" err="1"/>
              <a:t>top,score</a:t>
            </a:r>
            <a:r>
              <a:rPr lang="en-US" altLang="zh-CN" sz="2400" dirty="0"/>
              <a:t>);</a:t>
            </a:r>
          </a:p>
          <a:p>
            <a:pPr marL="0" indent="0">
              <a:buNone/>
            </a:pPr>
            <a:r>
              <a:rPr lang="en-US" altLang="zh-CN" sz="2400" dirty="0"/>
              <a:t>	return 0;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49095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756737">
            <a:extLst>
              <a:ext uri="{FF2B5EF4-FFF2-40B4-BE49-F238E27FC236}">
                <a16:creationId xmlns:a16="http://schemas.microsoft.com/office/drawing/2014/main" id="{5EA16D84-290F-4D1D-B1EF-D091234DF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各类型数据的混合运算</a:t>
            </a:r>
          </a:p>
        </p:txBody>
      </p:sp>
      <p:sp>
        <p:nvSpPr>
          <p:cNvPr id="756739" name="矩形 756738">
            <a:extLst>
              <a:ext uri="{FF2B5EF4-FFF2-40B4-BE49-F238E27FC236}">
                <a16:creationId xmlns:a16="http://schemas.microsoft.com/office/drawing/2014/main" id="{AF70C03C-3F7F-466F-A243-15A8C83F0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569325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zh-CN" altLang="en-US" sz="2800" b="0" u="sng" dirty="0">
                <a:latin typeface="宋体" panose="02010600030101010101" pitchFamily="2" charset="-122"/>
              </a:rPr>
              <a:t>混合运算：</a:t>
            </a:r>
            <a:r>
              <a:rPr lang="zh-CN" altLang="en-US" sz="2800" b="0" dirty="0">
                <a:latin typeface="宋体" panose="02010600030101010101" pitchFamily="2" charset="-122"/>
              </a:rPr>
              <a:t>整型</a:t>
            </a:r>
            <a:r>
              <a:rPr lang="en-US" altLang="zh-CN" sz="2800" b="0" dirty="0">
                <a:latin typeface="宋体" panose="02010600030101010101" pitchFamily="2" charset="-122"/>
              </a:rPr>
              <a:t>(</a:t>
            </a:r>
            <a:r>
              <a:rPr lang="zh-CN" altLang="en-US" sz="2800" b="0" dirty="0">
                <a:latin typeface="宋体" panose="02010600030101010101" pitchFamily="2" charset="-122"/>
              </a:rPr>
              <a:t>包括</a:t>
            </a:r>
            <a:r>
              <a:rPr lang="en-US" altLang="zh-CN" sz="2800" b="0" dirty="0" err="1">
                <a:latin typeface="宋体" panose="02010600030101010101" pitchFamily="2" charset="-122"/>
              </a:rPr>
              <a:t>int,short,long</a:t>
            </a:r>
            <a:r>
              <a:rPr lang="en-US" altLang="zh-CN" sz="2800" b="0" dirty="0">
                <a:latin typeface="宋体" panose="02010600030101010101" pitchFamily="2" charset="-122"/>
              </a:rPr>
              <a:t>)</a:t>
            </a:r>
            <a:r>
              <a:rPr lang="zh-CN" altLang="en-US" sz="2800" b="0" dirty="0">
                <a:latin typeface="宋体" panose="02010600030101010101" pitchFamily="2" charset="-122"/>
              </a:rPr>
              <a:t>、浮点型</a:t>
            </a:r>
            <a:r>
              <a:rPr lang="en-US" altLang="zh-CN" sz="2800" b="0" dirty="0">
                <a:latin typeface="宋体" panose="02010600030101010101" pitchFamily="2" charset="-122"/>
              </a:rPr>
              <a:t>(</a:t>
            </a:r>
            <a:r>
              <a:rPr lang="zh-CN" altLang="en-US" sz="2800" b="0" dirty="0">
                <a:latin typeface="宋体" panose="02010600030101010101" pitchFamily="2" charset="-122"/>
              </a:rPr>
              <a:t>包括</a:t>
            </a:r>
            <a:r>
              <a:rPr lang="en-US" altLang="zh-CN" sz="2800" b="0" dirty="0" err="1">
                <a:latin typeface="宋体" panose="02010600030101010101" pitchFamily="2" charset="-122"/>
              </a:rPr>
              <a:t>float,double</a:t>
            </a:r>
            <a:r>
              <a:rPr lang="en-US" altLang="zh-CN" sz="2800" b="0" dirty="0">
                <a:latin typeface="宋体" panose="02010600030101010101" pitchFamily="2" charset="-122"/>
              </a:rPr>
              <a:t>)</a:t>
            </a:r>
            <a:r>
              <a:rPr lang="zh-CN" altLang="en-US" sz="2800" b="0" dirty="0">
                <a:latin typeface="宋体" panose="02010600030101010101" pitchFamily="2" charset="-122"/>
              </a:rPr>
              <a:t>可以混合运算。在进行运算时</a:t>
            </a:r>
            <a:r>
              <a:rPr lang="en-US" altLang="zh-CN" sz="2800" b="0" dirty="0">
                <a:latin typeface="宋体" panose="02010600030101010101" pitchFamily="2" charset="-122"/>
              </a:rPr>
              <a:t>,</a:t>
            </a:r>
            <a:r>
              <a:rPr lang="zh-CN" altLang="en-US" sz="2800" b="0" dirty="0">
                <a:latin typeface="宋体" panose="02010600030101010101" pitchFamily="2" charset="-122"/>
              </a:rPr>
              <a:t>不同类型的数据要先转换成同一类型</a:t>
            </a:r>
            <a:r>
              <a:rPr lang="en-US" altLang="zh-CN" sz="2800" b="0" dirty="0">
                <a:latin typeface="宋体" panose="02010600030101010101" pitchFamily="2" charset="-122"/>
              </a:rPr>
              <a:t>,</a:t>
            </a:r>
            <a:r>
              <a:rPr lang="zh-CN" altLang="en-US" sz="2800" b="0" dirty="0">
                <a:latin typeface="宋体" panose="02010600030101010101" pitchFamily="2" charset="-122"/>
              </a:rPr>
              <a:t>然后进行运算</a:t>
            </a:r>
            <a:r>
              <a:rPr lang="en-US" altLang="zh-CN" sz="2800" b="0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756740" name="矩形 756739">
            <a:extLst>
              <a:ext uri="{FF2B5EF4-FFF2-40B4-BE49-F238E27FC236}">
                <a16:creationId xmlns:a16="http://schemas.microsoft.com/office/drawing/2014/main" id="{DD70B4EF-0217-4F4C-B713-9161CB8BF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716338"/>
            <a:ext cx="3959225" cy="15843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zh-CN" altLang="en-US" sz="2400" u="sng" dirty="0">
                <a:solidFill>
                  <a:srgbClr val="FF0000"/>
                </a:solidFill>
                <a:latin typeface="宋体" panose="02010600030101010101" pitchFamily="2" charset="-122"/>
              </a:rPr>
              <a:t>说明：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这种类型转换是由系统自动进行的。</a:t>
            </a:r>
          </a:p>
        </p:txBody>
      </p:sp>
      <p:pic>
        <p:nvPicPr>
          <p:cNvPr id="35844" name="图片 756740" descr="c10">
            <a:extLst>
              <a:ext uri="{FF2B5EF4-FFF2-40B4-BE49-F238E27FC236}">
                <a16:creationId xmlns:a16="http://schemas.microsoft.com/office/drawing/2014/main" id="{0C488D87-04B2-4078-BE69-8AC661DF6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636912"/>
            <a:ext cx="3598862" cy="323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5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39" grpId="0"/>
      <p:bldP spid="7567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DC9FD-158E-05CC-CA16-A1A17BE7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算术运算练习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91E4D2-9C60-B579-70E7-E56023260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64" y="1196752"/>
            <a:ext cx="8134672" cy="4611687"/>
          </a:xfrm>
        </p:spPr>
        <p:txBody>
          <a:bodyPr/>
          <a:lstStyle/>
          <a:p>
            <a:r>
              <a:rPr lang="zh-CN" altLang="en-US" dirty="0"/>
              <a:t>请用</a:t>
            </a:r>
            <a:r>
              <a:rPr lang="en-US" altLang="zh-CN" dirty="0"/>
              <a:t>C</a:t>
            </a:r>
            <a:r>
              <a:rPr lang="zh-CN" altLang="en-US" dirty="0"/>
              <a:t>语言的运算表达式写出下列问题计算式。</a:t>
            </a:r>
            <a:endParaRPr lang="en-US" altLang="zh-CN" dirty="0"/>
          </a:p>
          <a:p>
            <a:pPr lvl="1"/>
            <a:r>
              <a:rPr lang="zh-CN" altLang="en-US" dirty="0"/>
              <a:t>三角形面积公式（</a:t>
            </a:r>
            <a:r>
              <a:rPr lang="en-US" altLang="zh-CN" dirty="0"/>
              <a:t>1</a:t>
            </a:r>
            <a:r>
              <a:rPr lang="zh-CN" altLang="en-US" dirty="0"/>
              <a:t>）：底乘高的一半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三角形面积公式（</a:t>
            </a:r>
            <a:r>
              <a:rPr lang="en-US" altLang="zh-CN" dirty="0"/>
              <a:t>2</a:t>
            </a:r>
            <a:r>
              <a:rPr lang="zh-CN" altLang="en-US" dirty="0"/>
              <a:t>）：海伦公式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求直角三角形斜边长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一元二次方程求根公式，有实根的情况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64D82E-98F5-31ED-7FFF-B813DCAF5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57" y="3231132"/>
            <a:ext cx="32575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2116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B2DB8-6D7E-A364-F0D1-0B347E3B5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sqrt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BC3547-00E3-003A-4001-4AA2A5281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25538"/>
            <a:ext cx="8496944" cy="4611687"/>
          </a:xfrm>
        </p:spPr>
        <p:txBody>
          <a:bodyPr/>
          <a:lstStyle/>
          <a:p>
            <a:r>
              <a:rPr lang="zh-CN" altLang="en-US" sz="2400" dirty="0"/>
              <a:t>语法</a:t>
            </a:r>
            <a:r>
              <a:rPr lang="en-US" altLang="zh-CN" sz="2400" dirty="0"/>
              <a:t>: </a:t>
            </a:r>
          </a:p>
          <a:p>
            <a:pPr marL="0" indent="0">
              <a:buNone/>
            </a:pPr>
            <a:r>
              <a:rPr lang="en-US" altLang="zh-CN" sz="2400" dirty="0"/>
              <a:t>  #include &lt;</a:t>
            </a:r>
            <a:r>
              <a:rPr lang="en-US" altLang="zh-CN" sz="2400" dirty="0" err="1"/>
              <a:t>math.h</a:t>
            </a:r>
            <a:r>
              <a:rPr lang="en-US" altLang="zh-CN" sz="2400" dirty="0"/>
              <a:t>&gt;</a:t>
            </a:r>
          </a:p>
          <a:p>
            <a:pPr marL="0" indent="0">
              <a:buNone/>
            </a:pPr>
            <a:r>
              <a:rPr lang="en-US" altLang="zh-CN" sz="2400" dirty="0"/>
              <a:t>  double sqrt( double num );</a:t>
            </a:r>
          </a:p>
          <a:p>
            <a:pPr marL="0" indent="0">
              <a:buNone/>
            </a:pPr>
            <a:r>
              <a:rPr lang="zh-CN" altLang="en-US" sz="2400" dirty="0"/>
              <a:t>功能： </a:t>
            </a:r>
            <a:r>
              <a:rPr lang="en-US" altLang="zh-CN" sz="2400" dirty="0"/>
              <a:t>sqrt</a:t>
            </a:r>
            <a:r>
              <a:rPr lang="zh-CN" altLang="en-US" sz="2400" dirty="0"/>
              <a:t>函数返回参数</a:t>
            </a:r>
            <a:r>
              <a:rPr lang="en-US" altLang="zh-CN" sz="2400" dirty="0"/>
              <a:t>num</a:t>
            </a:r>
            <a:r>
              <a:rPr lang="zh-CN" altLang="en-US" sz="2400" dirty="0"/>
              <a:t>的平方根。如果</a:t>
            </a:r>
            <a:r>
              <a:rPr lang="en-US" altLang="zh-CN" sz="2400" dirty="0"/>
              <a:t>num</a:t>
            </a:r>
            <a:r>
              <a:rPr lang="zh-CN" altLang="en-US" sz="2400" dirty="0"/>
              <a:t>为负</a:t>
            </a:r>
            <a:r>
              <a:rPr lang="en-US" altLang="zh-CN" sz="2400" dirty="0"/>
              <a:t>,</a:t>
            </a:r>
            <a:r>
              <a:rPr lang="zh-CN" altLang="en-US" sz="2400" dirty="0"/>
              <a:t>产生域错误。例：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#include&lt;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pPr marL="0" indent="0">
              <a:buNone/>
            </a:pPr>
            <a:r>
              <a:rPr lang="en-US" altLang="zh-CN" sz="2400" dirty="0"/>
              <a:t>#include&lt;</a:t>
            </a:r>
            <a:r>
              <a:rPr lang="en-US" altLang="zh-CN" sz="2400" dirty="0" err="1"/>
              <a:t>math.h</a:t>
            </a:r>
            <a:r>
              <a:rPr lang="en-US" altLang="zh-CN" sz="2400" dirty="0"/>
              <a:t>&gt;</a:t>
            </a:r>
          </a:p>
          <a:p>
            <a:pPr marL="0" indent="0">
              <a:buNone/>
            </a:pPr>
            <a:r>
              <a:rPr lang="en-US" altLang="zh-CN" sz="2400" dirty="0"/>
              <a:t>int main(void){</a:t>
            </a:r>
          </a:p>
          <a:p>
            <a:pPr marL="0" indent="0">
              <a:buNone/>
            </a:pPr>
            <a:r>
              <a:rPr lang="en-US" altLang="zh-CN" sz="2400" dirty="0"/>
              <a:t>	double a=9.0;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("sqrt(9) is %</a:t>
            </a:r>
            <a:r>
              <a:rPr lang="en-US" altLang="zh-CN" sz="2400" dirty="0" err="1"/>
              <a:t>lf</a:t>
            </a:r>
            <a:r>
              <a:rPr lang="en-US" altLang="zh-CN" sz="2400" dirty="0"/>
              <a:t>.\</a:t>
            </a:r>
            <a:r>
              <a:rPr lang="en-US" altLang="zh-CN" sz="2400" dirty="0" err="1"/>
              <a:t>n",sqrt</a:t>
            </a:r>
            <a:r>
              <a:rPr lang="en-US" altLang="zh-CN" sz="2400" dirty="0"/>
              <a:t>(a));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("sqrt(2) is %.</a:t>
            </a:r>
            <a:r>
              <a:rPr lang="en-US" altLang="zh-CN" sz="2400" dirty="0" err="1"/>
              <a:t>8lf</a:t>
            </a:r>
            <a:r>
              <a:rPr lang="en-US" altLang="zh-CN" sz="2400" dirty="0"/>
              <a:t>\</a:t>
            </a:r>
            <a:r>
              <a:rPr lang="en-US" altLang="zh-CN" sz="2400" dirty="0" err="1"/>
              <a:t>n",sqrt</a:t>
            </a:r>
            <a:r>
              <a:rPr lang="en-US" altLang="zh-CN" sz="2400" dirty="0"/>
              <a:t>(2.0));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("sqrt(9/4) is %.</a:t>
            </a:r>
            <a:r>
              <a:rPr lang="en-US" altLang="zh-CN" sz="2400" dirty="0" err="1"/>
              <a:t>8lf</a:t>
            </a:r>
            <a:r>
              <a:rPr lang="en-US" altLang="zh-CN" sz="2400" dirty="0"/>
              <a:t>\</a:t>
            </a:r>
            <a:r>
              <a:rPr lang="en-US" altLang="zh-CN" sz="2400" dirty="0" err="1"/>
              <a:t>n",sqrt</a:t>
            </a:r>
            <a:r>
              <a:rPr lang="en-US" altLang="zh-CN" sz="2400" dirty="0"/>
              <a:t>(a/4.0));</a:t>
            </a:r>
          </a:p>
          <a:p>
            <a:pPr marL="0" indent="0">
              <a:buNone/>
            </a:pPr>
            <a:r>
              <a:rPr lang="en-US" altLang="zh-CN" sz="2400" dirty="0"/>
              <a:t>}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8647377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762881">
            <a:extLst>
              <a:ext uri="{FF2B5EF4-FFF2-40B4-BE49-F238E27FC236}">
                <a16:creationId xmlns:a16="http://schemas.microsoft.com/office/drawing/2014/main" id="{05D447EC-0E7F-402C-AF11-9D758E347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04813"/>
            <a:ext cx="9144000" cy="739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dirty="0"/>
              <a:t>强制类型转换</a:t>
            </a:r>
          </a:p>
        </p:txBody>
      </p:sp>
      <p:sp>
        <p:nvSpPr>
          <p:cNvPr id="762883" name="矩形 762882">
            <a:extLst>
              <a:ext uri="{FF2B5EF4-FFF2-40B4-BE49-F238E27FC236}">
                <a16:creationId xmlns:a16="http://schemas.microsoft.com/office/drawing/2014/main" id="{8CEC433E-C408-412A-8098-FEAD1CADA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1158222"/>
            <a:ext cx="8497888" cy="5294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38200" indent="-838200"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zh-CN" altLang="en-US" sz="2400" b="0" dirty="0">
                <a:latin typeface="宋体" panose="02010600030101010101" pitchFamily="2" charset="-122"/>
              </a:rPr>
              <a:t>可以利用强制类型转换运算符将一个表达式转换成所需类型。</a:t>
            </a:r>
          </a:p>
          <a:p>
            <a:pPr eaLnBrk="0" hangingPunct="0">
              <a:spcBef>
                <a:spcPct val="20000"/>
              </a:spcBef>
            </a:pPr>
            <a:r>
              <a:rPr lang="zh-CN" altLang="en-US" sz="2400" b="0" dirty="0">
                <a:latin typeface="宋体" panose="02010600030101010101" pitchFamily="2" charset="-122"/>
              </a:rPr>
              <a:t>格式</a:t>
            </a:r>
            <a:r>
              <a:rPr lang="en-US" altLang="zh-CN" sz="2400" b="0" dirty="0">
                <a:latin typeface="宋体" panose="02010600030101010101" pitchFamily="2" charset="-122"/>
              </a:rPr>
              <a:t>: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类型名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400" b="0" dirty="0">
                <a:latin typeface="宋体" panose="02010600030101010101" pitchFamily="2" charset="-122"/>
              </a:rPr>
              <a:t>(</a:t>
            </a:r>
            <a:r>
              <a:rPr lang="zh-CN" altLang="en-US" sz="2400" b="0" dirty="0">
                <a:latin typeface="宋体" panose="02010600030101010101" pitchFamily="2" charset="-122"/>
              </a:rPr>
              <a:t>表达式</a:t>
            </a:r>
            <a:r>
              <a:rPr lang="en-US" altLang="zh-CN" sz="2400" b="0" dirty="0">
                <a:latin typeface="宋体" panose="02010600030101010101" pitchFamily="2" charset="-122"/>
              </a:rPr>
              <a:t>)</a:t>
            </a:r>
            <a:endParaRPr lang="zh-CN" altLang="en-US" sz="2400" b="0" dirty="0">
              <a:latin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zh-CN" altLang="en-US" sz="2400" b="0" dirty="0">
                <a:latin typeface="宋体" panose="02010600030101010101" pitchFamily="2" charset="-122"/>
              </a:rPr>
              <a:t>例：</a:t>
            </a:r>
            <a:r>
              <a:rPr lang="en-US" altLang="zh-CN" sz="2000" b="0" dirty="0">
                <a:latin typeface="Consolas" panose="020B0609020204030204" pitchFamily="49" charset="0"/>
              </a:rPr>
              <a:t>/* </a:t>
            </a:r>
            <a:r>
              <a:rPr lang="en-US" altLang="zh-CN" sz="2000" b="0" dirty="0" err="1">
                <a:latin typeface="Consolas" panose="020B0609020204030204" pitchFamily="49" charset="0"/>
              </a:rPr>
              <a:t>datatypeTrans.c</a:t>
            </a:r>
            <a:r>
              <a:rPr lang="en-US" altLang="zh-CN" sz="2000" b="0" dirty="0">
                <a:latin typeface="Consolas" panose="020B0609020204030204" pitchFamily="49" charset="0"/>
              </a:rPr>
              <a:t> */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#include&lt;</a:t>
            </a:r>
            <a:r>
              <a:rPr lang="en-US" altLang="zh-CN" sz="2000" b="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b="0" dirty="0">
                <a:latin typeface="Consolas" panose="020B0609020204030204" pitchFamily="49" charset="0"/>
              </a:rPr>
              <a:t>&gt;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#include&lt;</a:t>
            </a:r>
            <a:r>
              <a:rPr lang="en-US" altLang="zh-CN" sz="2000" b="0" dirty="0" err="1">
                <a:latin typeface="Consolas" panose="020B0609020204030204" pitchFamily="49" charset="0"/>
              </a:rPr>
              <a:t>math.h</a:t>
            </a:r>
            <a:r>
              <a:rPr lang="en-US" altLang="zh-CN" sz="2000" b="0" dirty="0">
                <a:latin typeface="Consolas" panose="020B0609020204030204" pitchFamily="49" charset="0"/>
              </a:rPr>
              <a:t>&gt;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int main(void){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	int a=3;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	float b=3.1415;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	double c=</a:t>
            </a:r>
            <a:r>
              <a:rPr lang="en-US" altLang="zh-CN" sz="2000" b="0" dirty="0" err="1">
                <a:latin typeface="Consolas" panose="020B0609020204030204" pitchFamily="49" charset="0"/>
              </a:rPr>
              <a:t>8.9e</a:t>
            </a:r>
            <a:r>
              <a:rPr lang="en-US" altLang="zh-CN" sz="2000" b="0" dirty="0">
                <a:latin typeface="Consolas" panose="020B0609020204030204" pitchFamily="49" charset="0"/>
              </a:rPr>
              <a:t>-7;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	</a:t>
            </a:r>
            <a:r>
              <a:rPr lang="en-US" altLang="zh-CN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latin typeface="Consolas" panose="020B0609020204030204" pitchFamily="49" charset="0"/>
              </a:rPr>
              <a:t>("int %d to float %f.\</a:t>
            </a:r>
            <a:r>
              <a:rPr lang="en-US" altLang="zh-CN" sz="2000" b="0" dirty="0" err="1">
                <a:latin typeface="Consolas" panose="020B0609020204030204" pitchFamily="49" charset="0"/>
              </a:rPr>
              <a:t>n",a</a:t>
            </a:r>
            <a:r>
              <a:rPr lang="en-US" altLang="zh-CN" sz="2000" b="0" dirty="0">
                <a:latin typeface="Consolas" panose="020B0609020204030204" pitchFamily="49" charset="0"/>
              </a:rPr>
              <a:t>,(float)a);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	</a:t>
            </a:r>
            <a:r>
              <a:rPr lang="en-US" altLang="zh-CN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latin typeface="Consolas" panose="020B0609020204030204" pitchFamily="49" charset="0"/>
              </a:rPr>
              <a:t>("float %f to double %</a:t>
            </a:r>
            <a:r>
              <a:rPr lang="en-US" altLang="zh-CN" sz="2000" b="0" dirty="0" err="1">
                <a:latin typeface="Consolas" panose="020B0609020204030204" pitchFamily="49" charset="0"/>
              </a:rPr>
              <a:t>lf</a:t>
            </a:r>
            <a:r>
              <a:rPr lang="en-US" altLang="zh-CN" sz="2000" b="0" dirty="0">
                <a:latin typeface="Consolas" panose="020B0609020204030204" pitchFamily="49" charset="0"/>
              </a:rPr>
              <a:t>.\</a:t>
            </a:r>
            <a:r>
              <a:rPr lang="en-US" altLang="zh-CN" sz="2000" b="0" dirty="0" err="1">
                <a:latin typeface="Consolas" panose="020B0609020204030204" pitchFamily="49" charset="0"/>
              </a:rPr>
              <a:t>n",b</a:t>
            </a:r>
            <a:r>
              <a:rPr lang="en-US" altLang="zh-CN" sz="2000" b="0" dirty="0">
                <a:latin typeface="Consolas" panose="020B0609020204030204" pitchFamily="49" charset="0"/>
              </a:rPr>
              <a:t>,(double)b);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	</a:t>
            </a:r>
            <a:r>
              <a:rPr lang="en-US" altLang="zh-CN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latin typeface="Consolas" panose="020B0609020204030204" pitchFamily="49" charset="0"/>
              </a:rPr>
              <a:t>("double %</a:t>
            </a:r>
            <a:r>
              <a:rPr lang="en-US" altLang="zh-CN" sz="2000" b="0" dirty="0" err="1">
                <a:latin typeface="Consolas" panose="020B0609020204030204" pitchFamily="49" charset="0"/>
              </a:rPr>
              <a:t>lf</a:t>
            </a:r>
            <a:r>
              <a:rPr lang="en-US" altLang="zh-CN" sz="2000" b="0" dirty="0">
                <a:latin typeface="Consolas" panose="020B0609020204030204" pitchFamily="49" charset="0"/>
              </a:rPr>
              <a:t> to int %d.\</a:t>
            </a:r>
            <a:r>
              <a:rPr lang="en-US" altLang="zh-CN" sz="2000" b="0" dirty="0" err="1">
                <a:latin typeface="Consolas" panose="020B0609020204030204" pitchFamily="49" charset="0"/>
              </a:rPr>
              <a:t>n",c</a:t>
            </a:r>
            <a:r>
              <a:rPr lang="en-US" altLang="zh-CN" sz="2000" b="0" dirty="0">
                <a:latin typeface="Consolas" panose="020B0609020204030204" pitchFamily="49" charset="0"/>
              </a:rPr>
              <a:t>,(int)c);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2000" b="0" dirty="0">
                <a:latin typeface="Consolas" panose="020B0609020204030204" pitchFamily="49" charset="0"/>
              </a:rPr>
              <a:t>} //</a:t>
            </a:r>
            <a:r>
              <a:rPr lang="zh-CN" altLang="en-US" sz="2000" b="0" dirty="0">
                <a:latin typeface="Consolas" panose="020B0609020204030204" pitchFamily="49" charset="0"/>
              </a:rPr>
              <a:t>思考：强制类型转换，和类型不匹配的结果为何不同？</a:t>
            </a:r>
          </a:p>
        </p:txBody>
      </p:sp>
    </p:spTree>
  </p:cSld>
  <p:clrMapOvr>
    <a:masterClrMapping/>
  </p:clrMapOvr>
  <p:transition advClick="0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6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8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我们先从熟悉的算术运算入手，看看如何用计算机编程完成各类算术运算。</a:t>
            </a:r>
            <a:endParaRPr lang="en-US" altLang="zh-CN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定义程序目标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问题：制作一个计算器，输入数据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a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，程序应输出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a+b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的结果。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说明：明确程序需要哪些信息，进行什么计算，报告什么结果。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2.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设计程序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问题：程序用户是谁？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问题：有多久的开发时间？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问题：程序界面如何？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最简单的字符界面和键盘交互。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问题：如何表示数据？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整数，还是实数（精度）？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问题：如何处理数据？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48987449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a+b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计算器的算法设计：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定义两个实数变量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a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从键盘接受输入的两个实数，存入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a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定义实数变量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计算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a+b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将结果存入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result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2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3013138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96752"/>
            <a:ext cx="8083550" cy="3373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3.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编写代码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首先：选择编程语言。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然后：根据算法，对应所选编程语言的编码规范；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算法需要数据变量表示和算术运算，以及输入、输出操作。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3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425015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0DB2DC-4C9A-4742-B13C-FB6460FD3503}" type="slidenum"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17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250825" y="1295400"/>
            <a:ext cx="8893175" cy="9810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通过预先定义的输入函数可以从输入设备接收信息。</a:t>
            </a:r>
            <a:endParaRPr lang="zh-CN" altLang="en-US" b="1" dirty="0"/>
          </a:p>
        </p:txBody>
      </p:sp>
      <p:sp>
        <p:nvSpPr>
          <p:cNvPr id="247812" name="Text Box 4"/>
          <p:cNvSpPr txBox="1"/>
          <p:nvPr/>
        </p:nvSpPr>
        <p:spPr>
          <a:xfrm>
            <a:off x="413543" y="1825286"/>
            <a:ext cx="8316913" cy="1822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Times New Roman" panose="02020603050405020304" pitchFamily="2" charset="0"/>
              </a:rPr>
              <a:t>C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语言</a:t>
            </a:r>
            <a:r>
              <a:rPr lang="zh-CN" altLang="en-US" sz="2600" b="1" noProof="0" dirty="0">
                <a:solidFill>
                  <a:srgbClr val="000000"/>
                </a:solidFill>
                <a:latin typeface="宋体" panose="02010600030101010101" pitchFamily="2" charset="-122"/>
                <a:ea typeface="宋体"/>
              </a:rPr>
              <a:t>的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  <a:cs typeface="+mn-cs"/>
              </a:rPr>
              <a:t>格式化输入函数：</a:t>
            </a:r>
          </a:p>
          <a:p>
            <a:pPr marL="0" lvl="0" indent="0" algn="just" eaLnBrk="1" hangingPunct="1">
              <a:buClr>
                <a:srgbClr val="3333CC"/>
              </a:buClr>
              <a:buSzPct val="75000"/>
              <a:buNone/>
            </a:pPr>
            <a:r>
              <a:rPr kumimoji="1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宋体"/>
                <a:cs typeface="Times New Roman"/>
              </a:rPr>
              <a:t>scanf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宋体"/>
                <a:cs typeface="Times New Roman"/>
              </a:rPr>
              <a:t>(</a:t>
            </a:r>
            <a:r>
              <a:rPr lang="zh-CN" altLang="en-US" b="1" dirty="0">
                <a:solidFill>
                  <a:srgbClr val="2D35D3"/>
                </a:solidFill>
              </a:rPr>
              <a:t>格式定义串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宋体"/>
                <a:cs typeface="Times New Roman"/>
                <a:sym typeface="+mn-ea"/>
              </a:rPr>
              <a:t>[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宋体"/>
                <a:cs typeface="Times New Roman"/>
                <a:sym typeface="+mn-ea"/>
              </a:rPr>
              <a:t>,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宋体"/>
                <a:cs typeface="Times New Roman"/>
                <a:sym typeface="+mn-ea"/>
              </a:rPr>
              <a:t>参数]...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/>
                <a:ea typeface="宋体"/>
                <a:cs typeface="Times New Roman"/>
              </a:rPr>
              <a:t>);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0" lvl="0" indent="0" algn="just" eaLnBrk="1" hangingPunct="1">
              <a:buClr>
                <a:srgbClr val="3333CC"/>
              </a:buClr>
              <a:buSzPct val="75000"/>
              <a:buNone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D35D3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功能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：从标准输入设备（键盘）上读取一系列数据，</a:t>
            </a:r>
            <a:r>
              <a:rPr lang="zh-CN" altLang="en-US" sz="2400" b="1" dirty="0">
                <a:solidFill>
                  <a:srgbClr val="000000"/>
                </a:solidFill>
              </a:rPr>
              <a:t>按格式定义串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的要求进行转换并送到参数表所列的变量中。</a:t>
            </a:r>
          </a:p>
        </p:txBody>
      </p:sp>
      <p:sp>
        <p:nvSpPr>
          <p:cNvPr id="69637" name="Rectangle 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输入函数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0599C1-01AE-4BC3-A242-042E47C3107F}"/>
              </a:ext>
            </a:extLst>
          </p:cNvPr>
          <p:cNvSpPr txBox="1"/>
          <p:nvPr/>
        </p:nvSpPr>
        <p:spPr>
          <a:xfrm>
            <a:off x="444028" y="3699533"/>
            <a:ext cx="7918548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d",&amp;x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读取一个整数（</a:t>
            </a:r>
            <a:r>
              <a:rPr lang="en-US" altLang="zh-CN" sz="2000" dirty="0">
                <a:solidFill>
                  <a:srgbClr val="000000"/>
                </a:solidFill>
              </a:rPr>
              <a:t>%d</a:t>
            </a:r>
            <a:r>
              <a:rPr lang="zh-CN" altLang="en-US" sz="2000" dirty="0">
                <a:solidFill>
                  <a:srgbClr val="000000"/>
                </a:solidFill>
              </a:rPr>
              <a:t>），</a:t>
            </a:r>
            <a:r>
              <a:rPr lang="zh-CN" altLang="en-US" sz="2000" dirty="0">
                <a:solidFill>
                  <a:srgbClr val="3366FF"/>
                </a:solidFill>
              </a:rPr>
              <a:t>按地址</a:t>
            </a:r>
            <a:r>
              <a:rPr lang="zh-CN" altLang="en-US" sz="2000" dirty="0">
                <a:solidFill>
                  <a:srgbClr val="000000"/>
                </a:solidFill>
              </a:rPr>
              <a:t>存入变量</a:t>
            </a:r>
            <a:r>
              <a:rPr lang="en-US" altLang="zh-CN" sz="2000" dirty="0">
                <a:solidFill>
                  <a:srgbClr val="000000"/>
                </a:solidFill>
              </a:rPr>
              <a:t>x</a:t>
            </a:r>
          </a:p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d%d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",&amp;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x,&amp;y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读取两个整数，</a:t>
            </a:r>
            <a:r>
              <a:rPr lang="zh-CN" altLang="en-US" sz="2000" dirty="0">
                <a:solidFill>
                  <a:srgbClr val="3366FF"/>
                </a:solidFill>
              </a:rPr>
              <a:t>按地址</a:t>
            </a:r>
            <a:r>
              <a:rPr lang="zh-CN" altLang="en-US" sz="2000" dirty="0">
                <a:solidFill>
                  <a:srgbClr val="000000"/>
                </a:solidFill>
              </a:rPr>
              <a:t>存入变量</a:t>
            </a:r>
            <a:r>
              <a:rPr lang="en-US" altLang="zh-CN" sz="2000" dirty="0">
                <a:solidFill>
                  <a:srgbClr val="000000"/>
                </a:solidFill>
              </a:rPr>
              <a:t>x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y</a:t>
            </a:r>
          </a:p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f%f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",&amp;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a,&amp;b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读取两个实数，</a:t>
            </a:r>
            <a:r>
              <a:rPr lang="zh-CN" altLang="en-US" sz="2000" dirty="0">
                <a:solidFill>
                  <a:srgbClr val="3366FF"/>
                </a:solidFill>
              </a:rPr>
              <a:t>按地址</a:t>
            </a:r>
            <a:r>
              <a:rPr lang="zh-CN" altLang="en-US" sz="2000" dirty="0">
                <a:solidFill>
                  <a:srgbClr val="000000"/>
                </a:solidFill>
              </a:rPr>
              <a:t>存入变量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</a:p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lf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",&amp;d);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读取一个双精度实数，</a:t>
            </a:r>
            <a:r>
              <a:rPr lang="zh-CN" altLang="en-US" sz="2000" dirty="0">
                <a:solidFill>
                  <a:srgbClr val="3366FF"/>
                </a:solidFill>
              </a:rPr>
              <a:t>按地址</a:t>
            </a:r>
            <a:r>
              <a:rPr lang="zh-CN" altLang="en-US" sz="2000" dirty="0">
                <a:solidFill>
                  <a:srgbClr val="000000"/>
                </a:solidFill>
              </a:rPr>
              <a:t>存入变量</a:t>
            </a:r>
            <a:r>
              <a:rPr lang="en-US" altLang="zh-CN" sz="2000" dirty="0">
                <a:solidFill>
                  <a:srgbClr val="00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050972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7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7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7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A0DB2DC-4C9A-4742-B13C-FB6460FD3503}" type="slidenum"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</a:t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" name="Rectangle 10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输出函数</a:t>
            </a:r>
          </a:p>
        </p:txBody>
      </p:sp>
      <p:sp>
        <p:nvSpPr>
          <p:cNvPr id="63490" name="Rectangle 4"/>
          <p:cNvSpPr>
            <a:spLocks noGrp="1"/>
          </p:cNvSpPr>
          <p:nvPr>
            <p:ph idx="1"/>
          </p:nvPr>
        </p:nvSpPr>
        <p:spPr>
          <a:xfrm>
            <a:off x="419100" y="1268760"/>
            <a:ext cx="8305800" cy="2520279"/>
          </a:xfrm>
        </p:spPr>
        <p:txBody>
          <a:bodyPr wrap="square" lIns="92075" tIns="46038" rIns="92075" bIns="46038" anchor="t"/>
          <a:lstStyle/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通过预先定义的输出函数可以将值传送到输出设备。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0" lvl="0" indent="0" algn="just">
              <a:buClr>
                <a:srgbClr val="3333CC"/>
              </a:buClr>
              <a:buSzPct val="75000"/>
              <a:buNone/>
            </a:pPr>
            <a:r>
              <a:rPr kumimoji="1"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宋体"/>
                <a:cs typeface="Times New Roman" panose="02020603050405020304" pitchFamily="2" charset="0"/>
              </a:rPr>
              <a:t>C</a:t>
            </a:r>
            <a:r>
              <a:rPr kumimoji="1"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/>
              </a:rPr>
              <a:t>语言</a:t>
            </a: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/>
              </a:rPr>
              <a:t>的</a:t>
            </a:r>
            <a:r>
              <a:rPr kumimoji="1" lang="zh-CN" altLang="en-US" sz="2800" dirty="0">
                <a:solidFill>
                  <a:srgbClr val="000000"/>
                </a:solidFill>
                <a:latin typeface="宋体" panose="02010600030101010101" pitchFamily="2" charset="-122"/>
                <a:ea typeface="宋体"/>
              </a:rPr>
              <a:t>格式化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输出函数：</a:t>
            </a:r>
          </a:p>
          <a:p>
            <a:pPr marL="0" lvl="0" indent="0" algn="just">
              <a:buClr>
                <a:srgbClr val="3333CC"/>
              </a:buClr>
              <a:buSzPct val="75000"/>
              <a:buNone/>
            </a:pPr>
            <a:r>
              <a:rPr kumimoji="0" lang="en-US" altLang="x-none" sz="28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printf(</a:t>
            </a:r>
            <a:r>
              <a:rPr lang="zh-CN" altLang="en-US" sz="2800" dirty="0">
                <a:solidFill>
                  <a:srgbClr val="2D35D3"/>
                </a:solidFill>
              </a:rPr>
              <a:t>格式定义串</a:t>
            </a:r>
            <a:r>
              <a:rPr kumimoji="1" lang="zh-CN" altLang="en-US" sz="2800" dirty="0">
                <a:solidFill>
                  <a:srgbClr val="7030A0"/>
                </a:solidFill>
                <a:latin typeface="Times New Roman"/>
                <a:ea typeface="宋体"/>
                <a:cs typeface="Times New Roman"/>
                <a:sym typeface="+mn-ea"/>
              </a:rPr>
              <a:t>[</a:t>
            </a:r>
            <a:r>
              <a:rPr kumimoji="1" lang="en-US" altLang="zh-CN" sz="2800" dirty="0">
                <a:solidFill>
                  <a:srgbClr val="7030A0"/>
                </a:solidFill>
                <a:latin typeface="Times New Roman"/>
                <a:ea typeface="宋体"/>
                <a:cs typeface="Times New Roman"/>
                <a:sym typeface="+mn-ea"/>
              </a:rPr>
              <a:t>,</a:t>
            </a:r>
            <a:r>
              <a:rPr kumimoji="1" lang="zh-CN" altLang="en-US" sz="2800" dirty="0">
                <a:solidFill>
                  <a:srgbClr val="7030A0"/>
                </a:solidFill>
                <a:latin typeface="Times New Roman"/>
                <a:ea typeface="宋体"/>
                <a:cs typeface="Times New Roman"/>
                <a:sym typeface="+mn-ea"/>
              </a:rPr>
              <a:t>参数]...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>
                    <a:srgbClr val="C0C0C0"/>
                  </a:outerShdw>
                </a:effectLst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75000"/>
              <a:buFont typeface="Monotype Sorts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功能：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将参数列表的变量</a:t>
            </a:r>
            <a:r>
              <a:rPr kumimoji="0" lang="en-US" altLang="zh-CN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常量</a:t>
            </a:r>
            <a:r>
              <a:rPr lang="zh-CN" altLang="en-US" sz="2800" noProof="1">
                <a:solidFill>
                  <a:srgbClr val="000000"/>
                </a:solidFill>
                <a:latin typeface="宋体" panose="02010600030101010101" pitchFamily="2" charset="-122"/>
              </a:rPr>
              <a:t>或表达式值，按格式定义</a:t>
            </a:r>
            <a:r>
              <a:rPr kumimoji="0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显示在标准输出设备（一般为显示器）上。</a:t>
            </a:r>
            <a:endParaRPr kumimoji="0" lang="en-US" altLang="zh-CN" sz="2800" b="1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18A9AE-0873-4362-84BD-BC4F677FD666}"/>
              </a:ext>
            </a:extLst>
          </p:cNvPr>
          <p:cNvSpPr txBox="1"/>
          <p:nvPr/>
        </p:nvSpPr>
        <p:spPr>
          <a:xfrm>
            <a:off x="419100" y="3661099"/>
            <a:ext cx="8547100" cy="234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("x=%d\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n",x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打印</a:t>
            </a:r>
            <a:r>
              <a:rPr lang="en-US" altLang="zh-CN" sz="2000" dirty="0">
                <a:solidFill>
                  <a:srgbClr val="000000"/>
                </a:solidFill>
              </a:rPr>
              <a:t>x=</a:t>
            </a:r>
            <a:r>
              <a:rPr lang="zh-CN" altLang="en-US" sz="2000" dirty="0">
                <a:solidFill>
                  <a:srgbClr val="000000"/>
                </a:solidFill>
              </a:rPr>
              <a:t>整数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d%d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",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打印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两个整数，</a:t>
            </a:r>
            <a:r>
              <a:rPr lang="zh-CN" altLang="en-US" sz="2000" dirty="0">
                <a:solidFill>
                  <a:srgbClr val="FF0000"/>
                </a:solidFill>
              </a:rPr>
              <a:t>紧挨在一起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f%f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",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打印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两个实数，中间有空格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("%.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2f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%.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2f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",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a,b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打印</a:t>
            </a:r>
            <a:r>
              <a:rPr lang="en-US" altLang="zh-CN" sz="2000" dirty="0">
                <a:solidFill>
                  <a:srgbClr val="000000"/>
                </a:solidFill>
              </a:rPr>
              <a:t>a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b</a:t>
            </a:r>
            <a:r>
              <a:rPr lang="zh-CN" altLang="en-US" sz="2000" dirty="0">
                <a:solidFill>
                  <a:srgbClr val="000000"/>
                </a:solidFill>
              </a:rPr>
              <a:t>两个实数，</a:t>
            </a:r>
            <a:r>
              <a:rPr lang="zh-CN" altLang="en-US" sz="2000" dirty="0">
                <a:solidFill>
                  <a:srgbClr val="3366FF"/>
                </a:solidFill>
              </a:rPr>
              <a:t>只显示两位小数</a:t>
            </a:r>
            <a:endParaRPr lang="en-US" altLang="zh-CN" sz="2000" dirty="0">
              <a:solidFill>
                <a:srgbClr val="3366FF"/>
              </a:solidFill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("%</a:t>
            </a:r>
            <a:r>
              <a:rPr lang="en-US" altLang="zh-CN" sz="2000" dirty="0">
                <a:solidFill>
                  <a:srgbClr val="000000"/>
                </a:solidFill>
              </a:rPr>
              <a:t>.16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f</a:t>
            </a:r>
            <a:r>
              <a:rPr lang="en-US" altLang="zh-CN" sz="2000" dirty="0">
                <a:solidFill>
                  <a:srgbClr val="000000"/>
                </a:solidFill>
              </a:rPr>
              <a:t>\n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",d);</a:t>
            </a:r>
            <a:r>
              <a:rPr lang="en-US" altLang="zh-CN" sz="2000" dirty="0">
                <a:solidFill>
                  <a:srgbClr val="000000"/>
                </a:solidFill>
              </a:rPr>
              <a:t>//</a:t>
            </a:r>
            <a:r>
              <a:rPr lang="zh-CN" altLang="en-US" sz="2000" dirty="0">
                <a:solidFill>
                  <a:srgbClr val="000000"/>
                </a:solidFill>
              </a:rPr>
              <a:t>打印</a:t>
            </a:r>
            <a:r>
              <a:rPr lang="en-US" altLang="zh-CN" sz="2000" dirty="0">
                <a:solidFill>
                  <a:srgbClr val="000000"/>
                </a:solidFill>
              </a:rPr>
              <a:t>d</a:t>
            </a:r>
            <a:r>
              <a:rPr lang="zh-CN" altLang="en-US" sz="2000" dirty="0">
                <a:solidFill>
                  <a:srgbClr val="000000"/>
                </a:solidFill>
              </a:rPr>
              <a:t>双精度实数，</a:t>
            </a:r>
            <a:r>
              <a:rPr lang="zh-CN" altLang="en-US" sz="2000" dirty="0">
                <a:solidFill>
                  <a:srgbClr val="3366FF"/>
                </a:solidFill>
              </a:rPr>
              <a:t>显示</a:t>
            </a:r>
            <a:r>
              <a:rPr lang="en-US" altLang="zh-CN" sz="2000" dirty="0">
                <a:solidFill>
                  <a:srgbClr val="3366FF"/>
                </a:solidFill>
              </a:rPr>
              <a:t>16</a:t>
            </a:r>
            <a:r>
              <a:rPr lang="zh-CN" altLang="en-US" sz="2000" dirty="0">
                <a:solidFill>
                  <a:srgbClr val="3366FF"/>
                </a:solidFill>
              </a:rPr>
              <a:t>位小数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3165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96752"/>
            <a:ext cx="8083550" cy="45335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3.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编写代码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首先：选择编程语言。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然后：根据算法，对应所选编程语言的编码规范；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最后：编写代码。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建议：打开 </a:t>
            </a:r>
            <a:r>
              <a:rPr lang="en-US" altLang="zh-CN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C </a:t>
            </a: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开发环境，新建一个文件，编辑代码，然后保存文件，注意设定存储路径和选择</a:t>
            </a:r>
            <a:r>
              <a:rPr lang="en-US" altLang="zh-CN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c</a:t>
            </a: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类型后缀。点击菜单的</a:t>
            </a:r>
            <a:r>
              <a:rPr lang="en-US" altLang="zh-CN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Compile</a:t>
            </a: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编译，如果有编译错误，改正。编译成功后，点击</a:t>
            </a:r>
            <a:r>
              <a:rPr lang="en-US" altLang="zh-CN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Run</a:t>
            </a: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运行。</a:t>
            </a:r>
            <a:endParaRPr lang="en-US" altLang="zh-CN" sz="2800" b="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3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1064425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20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474028" y="1220470"/>
            <a:ext cx="7921625" cy="570617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/*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程序包含预先定义的常用函数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*/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solidFill>
                  <a:srgbClr val="FF3300"/>
                </a:solidFill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solidFill>
                  <a:srgbClr val="FF3300"/>
                </a:solidFill>
                <a:latin typeface="Consolas" panose="020B0609020204030204" pitchFamily="49" charset="0"/>
              </a:rPr>
              <a:t>stdlib.h</a:t>
            </a: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/*C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程序的固定主函数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main()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，以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{}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为界。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*/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int main(void){</a:t>
            </a:r>
          </a:p>
          <a:p>
            <a:pPr algn="l">
              <a:spcBef>
                <a:spcPct val="20000"/>
              </a:spcBef>
              <a:buClrTx/>
              <a:buSzTx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/*</a:t>
            </a:r>
            <a:r>
              <a:rPr lang="en-US" altLang="zh-CN" sz="2400" dirty="0" err="1">
                <a:solidFill>
                  <a:srgbClr val="002060"/>
                </a:solidFill>
                <a:latin typeface="Times New Roman" panose="02020603050405020304" pitchFamily="2" charset="0"/>
              </a:rPr>
              <a:t>程序员自定义的内容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。*/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("Hello world!\n");</a:t>
            </a:r>
          </a:p>
          <a:p>
            <a:pPr algn="l">
              <a:spcBef>
                <a:spcPct val="20000"/>
              </a:spcBef>
              <a:buClrTx/>
              <a:buSzTx/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/*</a:t>
            </a:r>
            <a:r>
              <a:rPr lang="en-US" altLang="zh-CN" sz="2400" dirty="0" err="1">
                <a:solidFill>
                  <a:srgbClr val="002060"/>
                </a:solidFill>
                <a:latin typeface="Times New Roman" panose="02020603050405020304" pitchFamily="2" charset="0"/>
              </a:rPr>
              <a:t>注意所有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标点</a:t>
            </a:r>
            <a:r>
              <a:rPr lang="en-US" altLang="zh-CN" sz="2400" dirty="0" err="1">
                <a:solidFill>
                  <a:srgbClr val="002060"/>
                </a:solidFill>
                <a:latin typeface="Times New Roman" panose="02020603050405020304" pitchFamily="2" charset="0"/>
              </a:rPr>
              <a:t>符号必须是英文符号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*/</a:t>
            </a:r>
          </a:p>
          <a:p>
            <a:pPr algn="l">
              <a:spcBef>
                <a:spcPct val="20000"/>
              </a:spcBef>
              <a:buClrTx/>
              <a:buSzTx/>
            </a:pP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/*给出函数返回值，对main函数来说是固定写法*/</a:t>
            </a:r>
            <a:endParaRPr lang="en-US" altLang="zh-CN" sz="2400" dirty="0">
              <a:solidFill>
                <a:srgbClr val="002060"/>
              </a:solidFill>
              <a:latin typeface="Times New Roman" panose="02020603050405020304" pitchFamily="2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	return 0;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ct val="20000"/>
              </a:spcBef>
            </a:pPr>
            <a:r>
              <a:rPr lang="zh-CN" altLang="en-US" sz="2400" i="1" dirty="0">
                <a:solidFill>
                  <a:schemeClr val="tx1"/>
                </a:solidFill>
                <a:latin typeface="Times New Roman" panose="02020603050405020304" pitchFamily="2" charset="0"/>
              </a:rPr>
              <a:t>注：如果程序运行失败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2" charset="0"/>
              </a:rPr>
              <a:t>"</a:t>
            </a:r>
            <a:r>
              <a:rPr lang="en-US" altLang="zh-CN" sz="2400" i="1" dirty="0" err="1">
                <a:solidFill>
                  <a:schemeClr val="tx1"/>
                </a:solidFill>
                <a:latin typeface="Times New Roman" panose="02020603050405020304" pitchFamily="2" charset="0"/>
              </a:rPr>
              <a:t>Failedtoexecute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2" charset="0"/>
              </a:rPr>
              <a:t>*.exe",</a:t>
            </a:r>
            <a:r>
              <a:rPr lang="zh-CN" altLang="en-US" sz="2400" i="1" dirty="0">
                <a:solidFill>
                  <a:schemeClr val="tx1"/>
                </a:solidFill>
                <a:latin typeface="Times New Roman" panose="02020603050405020304" pitchFamily="2" charset="0"/>
              </a:rPr>
              <a:t>请把杀毒软件关掉后再试。</a:t>
            </a: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en-US" altLang="zh-CN" b="1" dirty="0"/>
              <a:t>C</a:t>
            </a:r>
            <a:r>
              <a:rPr lang="zh-CN" altLang="en-US" b="1" dirty="0"/>
              <a:t>代码框架说明</a:t>
            </a:r>
          </a:p>
        </p:txBody>
      </p:sp>
    </p:spTree>
    <p:extLst>
      <p:ext uri="{BB962C8B-B14F-4D97-AF65-F5344CB8AC3E}">
        <p14:creationId xmlns:p14="http://schemas.microsoft.com/office/powerpoint/2010/main" val="58671139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21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4284414" y="1290315"/>
            <a:ext cx="4751636" cy="3785652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/*</a:t>
            </a:r>
            <a:r>
              <a:rPr lang="zh-CN" altLang="en-US" sz="2400" dirty="0">
                <a:solidFill>
                  <a:srgbClr val="002060"/>
                </a:solidFill>
              </a:rPr>
              <a:t>在</a:t>
            </a:r>
            <a:r>
              <a:rPr lang="en-US" altLang="zh-CN" sz="2400" dirty="0" err="1">
                <a:solidFill>
                  <a:srgbClr val="002060"/>
                </a:solidFill>
                <a:latin typeface="Times New Roman" panose="02020603050405020304" pitchFamily="2" charset="0"/>
              </a:rPr>
              <a:t>程序员自定义内容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区域敲代码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2" charset="0"/>
              </a:rPr>
              <a:t>*/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float 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a,b,result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("Please input two real numbers:\n");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f%f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",&amp;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a,&amp;b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result=</a:t>
            </a:r>
            <a:r>
              <a:rPr lang="en-US" altLang="zh-CN" sz="2400" dirty="0" err="1">
                <a:solidFill>
                  <a:srgbClr val="002060"/>
                </a:solidFill>
                <a:latin typeface="Consolas" panose="020B0609020204030204" pitchFamily="49" charset="0"/>
              </a:rPr>
              <a:t>a+b</a:t>
            </a:r>
            <a:r>
              <a:rPr lang="en-US" altLang="zh-CN" sz="2400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("%f+%f=%f\n",</a:t>
            </a:r>
            <a:r>
              <a:rPr lang="en-US" altLang="zh-CN" sz="2400" dirty="0" err="1">
                <a:latin typeface="Consolas" panose="020B0609020204030204" pitchFamily="49" charset="0"/>
              </a:rPr>
              <a:t>a,b,result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3-</a:t>
            </a:r>
            <a:r>
              <a:rPr lang="zh-CN" altLang="en-US" b="1" dirty="0"/>
              <a:t>编写代码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DE60A8-F5EB-4F62-AF19-4C930916D654}"/>
              </a:ext>
            </a:extLst>
          </p:cNvPr>
          <p:cNvSpPr txBox="1"/>
          <p:nvPr/>
        </p:nvSpPr>
        <p:spPr>
          <a:xfrm>
            <a:off x="323528" y="1267048"/>
            <a:ext cx="3751645" cy="4436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a+b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计算器的算法设计：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Begin</a:t>
            </a: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定义两个实数变量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a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和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b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从键盘接受输入的两个实数，存入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a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和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b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定义实数变量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result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计算</a:t>
            </a:r>
            <a:r>
              <a:rPr lang="en-US" altLang="zh-CN" sz="2000" b="0" dirty="0" err="1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a+b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将结果存入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result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；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	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显示器输出打印</a:t>
            </a: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result</a:t>
            </a:r>
            <a:r>
              <a:rPr lang="zh-CN" altLang="en-US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的值；</a:t>
            </a:r>
            <a:endParaRPr lang="en-US" altLang="zh-CN" sz="2000" b="0" dirty="0"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0" dirty="0"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565422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39692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如果有错误，查看错误报告，理解错误信息；然后修正代码后重新编译。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使用</a:t>
            </a:r>
            <a:r>
              <a:rPr lang="en-US" altLang="zh-CN" sz="2800" b="0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IDE</a:t>
            </a:r>
            <a:r>
              <a:rPr lang="zh-CN" altLang="en-US" sz="2800" b="0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辅助功能：关键字会加粗显示，</a:t>
            </a:r>
            <a:r>
              <a:rPr lang="zh-CN" altLang="en-US" sz="2800" b="0" u="sng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常量、运算符、语法符号</a:t>
            </a:r>
            <a:r>
              <a:rPr lang="en-US" altLang="zh-CN" sz="2800" b="0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(</a:t>
            </a:r>
            <a:r>
              <a:rPr lang="zh-CN" altLang="en-US" sz="2800" b="0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语句结束符、括号</a:t>
            </a:r>
            <a:r>
              <a:rPr lang="en-US" altLang="zh-CN" sz="2800" b="0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)</a:t>
            </a:r>
            <a:r>
              <a:rPr lang="zh-CN" altLang="en-US" sz="2800" b="0" dirty="0">
                <a:latin typeface="等线" panose="02010600030101010101" pitchFamily="2" charset="-122"/>
                <a:ea typeface="等线" panose="02010600030101010101" pitchFamily="2" charset="-122"/>
                <a:cs typeface="微软雅黑" panose="020B0503020204020204" charset="-122"/>
              </a:rPr>
              <a:t>会彩色显示，注释会灰掉。</a:t>
            </a:r>
            <a:endParaRPr lang="en-US" altLang="zh-CN" sz="2800" b="0" dirty="0">
              <a:latin typeface="等线" panose="02010600030101010101" pitchFamily="2" charset="-122"/>
              <a:ea typeface="等线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4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618175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原因：自己很容易犯错误。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用测试数据运行程序，查看结果是否有错。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1:2.3,4.9;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2:0,3;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3:-3,3;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4:1234.78,9876.54;</a:t>
            </a: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如果有错误，分析错误原因，测试确认错误原因；然后修正代码后重新编译。</a:t>
            </a:r>
            <a:endParaRPr lang="en-US" altLang="zh-CN" sz="2800" b="0" dirty="0">
              <a:solidFill>
                <a:srgbClr val="3366FF"/>
              </a:solidFill>
              <a:latin typeface="仿宋" panose="02010609060101010101" pitchFamily="49" charset="-122"/>
              <a:ea typeface="仿宋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5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0995442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1133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思考：设计的算法在什么情况下会出错？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编程活动步骤</a:t>
            </a:r>
            <a:r>
              <a:rPr lang="en-US" altLang="zh-CN" b="1" dirty="0"/>
              <a:t>5</a:t>
            </a:r>
            <a:endParaRPr lang="zh-CN" altLang="en-US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9EFDFC-F19E-4DF2-969D-4185D5ABE3E4}"/>
              </a:ext>
            </a:extLst>
          </p:cNvPr>
          <p:cNvSpPr txBox="1"/>
          <p:nvPr/>
        </p:nvSpPr>
        <p:spPr>
          <a:xfrm>
            <a:off x="631190" y="3140968"/>
            <a:ext cx="7181170" cy="146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当</a:t>
            </a:r>
            <a:r>
              <a:rPr lang="en-US" altLang="zh-CN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a</a:t>
            </a:r>
            <a:r>
              <a:rPr lang="zh-CN" altLang="en-US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b</a:t>
            </a:r>
            <a:r>
              <a:rPr lang="zh-CN" altLang="en-US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足够大，</a:t>
            </a:r>
            <a:r>
              <a:rPr lang="en-US" altLang="zh-CN" sz="2400" dirty="0" err="1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a+b</a:t>
            </a:r>
            <a:r>
              <a:rPr lang="zh-CN" altLang="en-US" sz="240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的结果会超出计算机表示范围吗？</a:t>
            </a:r>
            <a:endParaRPr lang="en-US" altLang="zh-CN" sz="2400" dirty="0">
              <a:solidFill>
                <a:srgbClr val="3366FF"/>
              </a:solidFill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rgbClr val="3366FF"/>
              </a:solidFill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4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5:1234567890.1,	9876543210.1;</a:t>
            </a:r>
          </a:p>
        </p:txBody>
      </p:sp>
    </p:spTree>
    <p:extLst>
      <p:ext uri="{BB962C8B-B14F-4D97-AF65-F5344CB8AC3E}">
        <p14:creationId xmlns:p14="http://schemas.microsoft.com/office/powerpoint/2010/main" val="60024802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25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12291" name="Rectangle 9"/>
          <p:cNvSpPr/>
          <p:nvPr/>
        </p:nvSpPr>
        <p:spPr>
          <a:xfrm>
            <a:off x="611560" y="1700808"/>
            <a:ext cx="7488832" cy="2677656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b="0" dirty="0">
                <a:solidFill>
                  <a:srgbClr val="002060"/>
                </a:solidFill>
                <a:latin typeface="Times New Roman" panose="02020603050405020304" pitchFamily="2" charset="0"/>
              </a:rPr>
              <a:t>/*</a:t>
            </a:r>
            <a:r>
              <a:rPr lang="zh-CN" altLang="en-US" sz="2400" b="0" dirty="0">
                <a:solidFill>
                  <a:srgbClr val="002060"/>
                </a:solidFill>
              </a:rPr>
              <a:t>在</a:t>
            </a:r>
            <a:r>
              <a:rPr lang="en-US" altLang="zh-CN" sz="2400" b="0" dirty="0" err="1">
                <a:solidFill>
                  <a:srgbClr val="002060"/>
                </a:solidFill>
                <a:latin typeface="Times New Roman" panose="02020603050405020304" pitchFamily="2" charset="0"/>
              </a:rPr>
              <a:t>程序员自定义内容</a:t>
            </a:r>
            <a:r>
              <a:rPr lang="zh-CN" altLang="en-US" sz="2400" b="0" dirty="0">
                <a:solidFill>
                  <a:srgbClr val="002060"/>
                </a:solidFill>
                <a:latin typeface="Times New Roman" panose="02020603050405020304" pitchFamily="2" charset="0"/>
              </a:rPr>
              <a:t>区域敲代码</a:t>
            </a:r>
            <a:r>
              <a:rPr lang="en-US" altLang="zh-CN" sz="2400" b="0" dirty="0">
                <a:solidFill>
                  <a:srgbClr val="002060"/>
                </a:solidFill>
                <a:latin typeface="Times New Roman" panose="02020603050405020304" pitchFamily="2" charset="0"/>
              </a:rPr>
              <a:t>*/</a:t>
            </a:r>
          </a:p>
          <a:p>
            <a:pPr>
              <a:spcBef>
                <a:spcPct val="20000"/>
              </a:spcBef>
            </a:pPr>
            <a:r>
              <a:rPr lang="en-US" altLang="zh-CN" sz="2400" b="0" dirty="0">
                <a:solidFill>
                  <a:srgbClr val="0070C0"/>
                </a:solidFill>
                <a:latin typeface="Consolas" panose="020B0609020204030204" pitchFamily="49" charset="0"/>
              </a:rPr>
              <a:t>double </a:t>
            </a:r>
            <a:r>
              <a:rPr lang="en-US" altLang="zh-CN" sz="2400" b="0" dirty="0" err="1">
                <a:solidFill>
                  <a:srgbClr val="002060"/>
                </a:solidFill>
                <a:latin typeface="Consolas" panose="020B0609020204030204" pitchFamily="49" charset="0"/>
              </a:rPr>
              <a:t>a,b,result</a:t>
            </a:r>
            <a:r>
              <a:rPr lang="en-US" altLang="zh-CN" sz="2400" b="0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 sz="2400" b="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latin typeface="Consolas" panose="020B0609020204030204" pitchFamily="49" charset="0"/>
              </a:rPr>
              <a:t>("Please input two real numbers:\n");</a:t>
            </a:r>
          </a:p>
          <a:p>
            <a:pPr>
              <a:spcBef>
                <a:spcPct val="20000"/>
              </a:spcBef>
            </a:pPr>
            <a:r>
              <a:rPr lang="en-US" altLang="zh-CN" sz="2400" b="0" dirty="0" err="1">
                <a:solidFill>
                  <a:srgbClr val="00206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400" b="0" dirty="0">
                <a:solidFill>
                  <a:srgbClr val="002060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400" b="0" dirty="0" err="1">
                <a:solidFill>
                  <a:srgbClr val="0070C0"/>
                </a:solidFill>
                <a:latin typeface="Consolas" panose="020B0609020204030204" pitchFamily="49" charset="0"/>
              </a:rPr>
              <a:t>lf</a:t>
            </a:r>
            <a:r>
              <a:rPr lang="en-US" altLang="zh-CN" sz="2400" b="0" dirty="0" err="1">
                <a:solidFill>
                  <a:srgbClr val="002060"/>
                </a:solidFill>
                <a:latin typeface="Consolas" panose="020B0609020204030204" pitchFamily="49" charset="0"/>
              </a:rPr>
              <a:t>%lf</a:t>
            </a:r>
            <a:r>
              <a:rPr lang="en-US" altLang="zh-CN" sz="2400" b="0" dirty="0">
                <a:solidFill>
                  <a:srgbClr val="002060"/>
                </a:solidFill>
                <a:latin typeface="Consolas" panose="020B0609020204030204" pitchFamily="49" charset="0"/>
              </a:rPr>
              <a:t>",&amp;</a:t>
            </a:r>
            <a:r>
              <a:rPr lang="en-US" altLang="zh-CN" sz="2400" b="0" dirty="0" err="1">
                <a:solidFill>
                  <a:srgbClr val="002060"/>
                </a:solidFill>
                <a:latin typeface="Consolas" panose="020B0609020204030204" pitchFamily="49" charset="0"/>
              </a:rPr>
              <a:t>a,&amp;b</a:t>
            </a:r>
            <a:r>
              <a:rPr lang="en-US" altLang="zh-CN" sz="2400" b="0" dirty="0">
                <a:solidFill>
                  <a:srgbClr val="00206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20000"/>
              </a:spcBef>
            </a:pPr>
            <a:r>
              <a:rPr lang="en-US" altLang="zh-CN" sz="2400" b="0" dirty="0">
                <a:solidFill>
                  <a:srgbClr val="002060"/>
                </a:solidFill>
                <a:latin typeface="Consolas" panose="020B0609020204030204" pitchFamily="49" charset="0"/>
              </a:rPr>
              <a:t>result=</a:t>
            </a:r>
            <a:r>
              <a:rPr lang="en-US" altLang="zh-CN" sz="2400" b="0" dirty="0" err="1">
                <a:solidFill>
                  <a:srgbClr val="002060"/>
                </a:solidFill>
                <a:latin typeface="Consolas" panose="020B0609020204030204" pitchFamily="49" charset="0"/>
              </a:rPr>
              <a:t>a+b</a:t>
            </a:r>
            <a:r>
              <a:rPr lang="en-US" altLang="zh-CN" sz="2400" b="0" dirty="0">
                <a:solidFill>
                  <a:srgbClr val="00206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20000"/>
              </a:spcBef>
            </a:pPr>
            <a:r>
              <a:rPr lang="en-US" altLang="zh-CN" sz="2400" b="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latin typeface="Consolas" panose="020B0609020204030204" pitchFamily="49" charset="0"/>
              </a:rPr>
              <a:t>("</a:t>
            </a:r>
            <a:r>
              <a:rPr lang="en-US" altLang="zh-CN" sz="2400" b="0" dirty="0">
                <a:solidFill>
                  <a:srgbClr val="0070C0"/>
                </a:solidFill>
                <a:latin typeface="Consolas" panose="020B0609020204030204" pitchFamily="49" charset="0"/>
              </a:rPr>
              <a:t>%.</a:t>
            </a:r>
            <a:r>
              <a:rPr lang="en-US" altLang="zh-CN" sz="2400" b="0" dirty="0" err="1">
                <a:solidFill>
                  <a:srgbClr val="0070C0"/>
                </a:solidFill>
                <a:latin typeface="Consolas" panose="020B0609020204030204" pitchFamily="49" charset="0"/>
              </a:rPr>
              <a:t>16f</a:t>
            </a:r>
            <a:r>
              <a:rPr lang="en-US" altLang="zh-CN" sz="2400" b="0" dirty="0">
                <a:latin typeface="Consolas" panose="020B0609020204030204" pitchFamily="49" charset="0"/>
              </a:rPr>
              <a:t>+%.</a:t>
            </a:r>
            <a:r>
              <a:rPr lang="en-US" altLang="zh-CN" sz="2400" b="0" dirty="0" err="1">
                <a:latin typeface="Consolas" panose="020B0609020204030204" pitchFamily="49" charset="0"/>
              </a:rPr>
              <a:t>16f</a:t>
            </a:r>
            <a:r>
              <a:rPr lang="en-US" altLang="zh-CN" sz="2400" b="0" dirty="0">
                <a:latin typeface="Consolas" panose="020B0609020204030204" pitchFamily="49" charset="0"/>
              </a:rPr>
              <a:t>=%.</a:t>
            </a:r>
            <a:r>
              <a:rPr lang="en-US" altLang="zh-CN" sz="2400" b="0" dirty="0" err="1">
                <a:latin typeface="Consolas" panose="020B0609020204030204" pitchFamily="49" charset="0"/>
              </a:rPr>
              <a:t>16f</a:t>
            </a:r>
            <a:r>
              <a:rPr lang="en-US" altLang="zh-CN" sz="2400" b="0" dirty="0">
                <a:latin typeface="Consolas" panose="020B0609020204030204" pitchFamily="49" charset="0"/>
              </a:rPr>
              <a:t>\n",</a:t>
            </a:r>
            <a:r>
              <a:rPr lang="en-US" altLang="zh-CN" sz="2400" b="0" dirty="0" err="1">
                <a:latin typeface="Consolas" panose="020B0609020204030204" pitchFamily="49" charset="0"/>
              </a:rPr>
              <a:t>a,b,result</a:t>
            </a:r>
            <a:r>
              <a:rPr lang="en-US" altLang="zh-CN" sz="2400" b="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2294" name="Rectangle 1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防止溢出：把</a:t>
            </a:r>
            <a:r>
              <a:rPr lang="en-US" altLang="zh-CN" b="1" dirty="0"/>
              <a:t>float</a:t>
            </a:r>
            <a:r>
              <a:rPr lang="zh-CN" altLang="en-US" b="1" dirty="0"/>
              <a:t>改为</a:t>
            </a:r>
            <a:r>
              <a:rPr lang="en-US" altLang="zh-CN" b="1" dirty="0"/>
              <a:t>double</a:t>
            </a:r>
            <a:r>
              <a:rPr lang="zh-CN" altLang="en-US" b="1" dirty="0"/>
              <a:t>类型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087B6E-EACC-98A4-18FF-9CBEE301BE28}"/>
              </a:ext>
            </a:extLst>
          </p:cNvPr>
          <p:cNvSpPr txBox="1"/>
          <p:nvPr/>
        </p:nvSpPr>
        <p:spPr>
          <a:xfrm>
            <a:off x="611560" y="5013176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思考：数据溢出可以完全避免吗？如果不能杜绝溢出，应该如何合理地避免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溢出？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98299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560" y="1484784"/>
            <a:ext cx="764242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输入 底面 半径 r 和 高 h， 输出 圆柱体 的 表面积， </a:t>
            </a:r>
            <a:r>
              <a:rPr lang="zh-CN" altLang="en-US" sz="2800" dirty="0">
                <a:solidFill>
                  <a:srgbClr val="0070C0"/>
                </a:solidFill>
              </a:rPr>
              <a:t>保留 3 位 小数</a:t>
            </a:r>
            <a:r>
              <a:rPr lang="zh-CN" altLang="en-US" sz="2800" dirty="0"/>
              <a:t>， 格式 见 样 例。</a:t>
            </a:r>
          </a:p>
          <a:p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样 例 输入： 3. 5 9 </a:t>
            </a:r>
          </a:p>
          <a:p>
            <a:r>
              <a:rPr lang="zh-CN" altLang="en-US" sz="2800" dirty="0"/>
              <a:t>样 例 输出： Area = 274. 889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400" b="0" i="1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问题摘自刘汝佳. 算法竞赛入门经典（第2版）</a:t>
            </a:r>
            <a:endParaRPr lang="zh-CN" altLang="en-US" sz="2400" b="0" dirty="0"/>
          </a:p>
          <a:p>
            <a:endParaRPr lang="zh-CN" altLang="en-US" sz="2800" dirty="0"/>
          </a:p>
        </p:txBody>
      </p:sp>
      <p:sp>
        <p:nvSpPr>
          <p:cNvPr id="73733" name="Rectangle 4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lIns="92064" tIns="46032" rIns="92064" bIns="46032" anchor="b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0000"/>
              </a:lnSpc>
            </a:pPr>
            <a:r>
              <a:rPr lang="zh-CN" altLang="en-US" b="1">
                <a:solidFill>
                  <a:srgbClr val="FF0000"/>
                </a:solidFill>
              </a:rPr>
              <a:t>问题：圆柱体的表面积</a:t>
            </a:r>
          </a:p>
        </p:txBody>
      </p:sp>
    </p:spTree>
    <p:extLst>
      <p:ext uri="{BB962C8B-B14F-4D97-AF65-F5344CB8AC3E}">
        <p14:creationId xmlns:p14="http://schemas.microsoft.com/office/powerpoint/2010/main" val="409670802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340768"/>
            <a:ext cx="8083550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求圆柱体表面积的算法设计：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定义浮点数变量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radius,height,area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从键盘接受输入的半径和高度，存入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radius,height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计算圆柱体的两个底面积和侧面积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,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然后求和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pPr lvl="1"/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		area = (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 *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radius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*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radius ) * 2 </a:t>
            </a:r>
          </a:p>
          <a:p>
            <a:pPr lvl="1"/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   		+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(2 * 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 *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radius * height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)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area,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保留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3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位小数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;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问题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: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应该选择单精度还是双精度类型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?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 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取多少位合适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?</a:t>
            </a:r>
          </a:p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	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两处的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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应该保持一致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  <a:sym typeface="Symbol" panose="05050102010706020507" pitchFamily="18" charset="2"/>
              </a:rPr>
              <a:t>.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  <a:sym typeface="Symbol" panose="05050102010706020507" pitchFamily="18" charset="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求圆柱体表面积的算法设计</a:t>
            </a:r>
          </a:p>
        </p:txBody>
      </p:sp>
    </p:spTree>
    <p:extLst>
      <p:ext uri="{BB962C8B-B14F-4D97-AF65-F5344CB8AC3E}">
        <p14:creationId xmlns:p14="http://schemas.microsoft.com/office/powerpoint/2010/main" val="120021308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zh-CN" altLang="en-US" sz="1400" dirty="0">
                <a:latin typeface="Times New Roman" panose="02020603050405020304" pitchFamily="2" charset="0"/>
              </a:rPr>
              <a:t>28</a:t>
            </a:fld>
            <a:endParaRPr lang="zh-CN" altLang="en-US" sz="1400" dirty="0">
              <a:latin typeface="Times New Roman" panose="02020603050405020304" pitchFamily="2" charset="0"/>
            </a:endParaRPr>
          </a:p>
        </p:txBody>
      </p:sp>
      <p:sp>
        <p:nvSpPr>
          <p:cNvPr id="39939" name="Rectangle 5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/>
            <a:r>
              <a:rPr lang="zh-CN" altLang="en-US" b="1" dirty="0"/>
              <a:t>常量设计</a:t>
            </a:r>
            <a:r>
              <a:rPr lang="en-US" altLang="zh-CN" b="1" dirty="0"/>
              <a:t>1</a:t>
            </a:r>
            <a:r>
              <a:rPr lang="zh-CN" altLang="en-US" b="1" dirty="0"/>
              <a:t>：命名常量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/>
        <p:txBody>
          <a:bodyPr wrap="square" anchor="t"/>
          <a:lstStyle/>
          <a:p>
            <a:pPr algn="just" eaLnBrk="1" hangingPunct="1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不能改写的变量</a:t>
            </a:r>
            <a:r>
              <a:rPr lang="en-US" altLang="zh-CN" b="1" dirty="0">
                <a:solidFill>
                  <a:srgbClr val="00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命名常量</a:t>
            </a:r>
            <a:r>
              <a:rPr lang="en-US" altLang="zh-CN" b="1" dirty="0">
                <a:solidFill>
                  <a:srgbClr val="000099"/>
                </a:solidFill>
                <a:latin typeface="宋体" panose="02010600030101010101" pitchFamily="2" charset="-122"/>
              </a:rPr>
              <a:t>)</a:t>
            </a:r>
            <a:endParaRPr lang="zh-CN" altLang="en-US" b="1" u="sng" dirty="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	有些变量一旦定义并初始化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</a:rPr>
              <a:t>便</a:t>
            </a:r>
            <a:r>
              <a:rPr lang="zh-CN" altLang="en-US" b="1" u="sng" dirty="0">
                <a:solidFill>
                  <a:srgbClr val="000099"/>
                </a:solidFill>
                <a:latin typeface="宋体" panose="02010600030101010101" pitchFamily="2" charset="-122"/>
              </a:rPr>
              <a:t>不允许程序去改变该存储空间中的数据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</a:p>
          <a:p>
            <a:pPr algn="just" eaLnBrk="1" hangingPunct="1">
              <a:buNone/>
            </a:pPr>
            <a:endParaRPr lang="zh-CN" altLang="en-US" sz="900" b="1" dirty="0"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C</a:t>
            </a:r>
            <a:r>
              <a:rPr lang="zh-CN" altLang="en-US" b="1" dirty="0">
                <a:latin typeface="宋体" panose="02010600030101010101" pitchFamily="2" charset="-122"/>
              </a:rPr>
              <a:t>语言中定义一个不能改写的变量：</a:t>
            </a:r>
          </a:p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</a:rPr>
              <a:t>const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float pi = 3.14;</a:t>
            </a:r>
          </a:p>
          <a:p>
            <a:pPr algn="just"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endParaRPr lang="en-US" altLang="zh-CN" b="1" dirty="0"/>
          </a:p>
        </p:txBody>
      </p:sp>
      <p:grpSp>
        <p:nvGrpSpPr>
          <p:cNvPr id="31749" name="组合 31748"/>
          <p:cNvGrpSpPr/>
          <p:nvPr/>
        </p:nvGrpSpPr>
        <p:grpSpPr>
          <a:xfrm>
            <a:off x="5543550" y="2997200"/>
            <a:ext cx="3600450" cy="3167063"/>
            <a:chOff x="0" y="0"/>
            <a:chExt cx="2191" cy="1905"/>
          </a:xfrm>
        </p:grpSpPr>
        <p:sp>
          <p:nvSpPr>
            <p:cNvPr id="39941" name="Rectangle 10"/>
            <p:cNvSpPr/>
            <p:nvPr/>
          </p:nvSpPr>
          <p:spPr>
            <a:xfrm>
              <a:off x="377" y="363"/>
              <a:ext cx="996" cy="183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2" name="Rectangle 11"/>
            <p:cNvSpPr/>
            <p:nvPr/>
          </p:nvSpPr>
          <p:spPr>
            <a:xfrm>
              <a:off x="377" y="363"/>
              <a:ext cx="996" cy="183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3" name="Rectangle 12"/>
            <p:cNvSpPr/>
            <p:nvPr/>
          </p:nvSpPr>
          <p:spPr>
            <a:xfrm>
              <a:off x="1488" y="376"/>
              <a:ext cx="703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2000H</a:t>
              </a:r>
              <a:endParaRPr lang="zh-CN" altLang="en-US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44" name="Rectangle 13"/>
            <p:cNvSpPr/>
            <p:nvPr/>
          </p:nvSpPr>
          <p:spPr>
            <a:xfrm>
              <a:off x="377" y="546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5" name="Rectangle 14"/>
            <p:cNvSpPr/>
            <p:nvPr/>
          </p:nvSpPr>
          <p:spPr>
            <a:xfrm>
              <a:off x="377" y="546"/>
              <a:ext cx="996" cy="18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6" name="Rectangle 15"/>
            <p:cNvSpPr/>
            <p:nvPr/>
          </p:nvSpPr>
          <p:spPr>
            <a:xfrm>
              <a:off x="377" y="731"/>
              <a:ext cx="996" cy="398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7" name="Rectangle 16"/>
            <p:cNvSpPr/>
            <p:nvPr/>
          </p:nvSpPr>
          <p:spPr>
            <a:xfrm>
              <a:off x="377" y="731"/>
              <a:ext cx="996" cy="398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48" name="Rectangle 17"/>
            <p:cNvSpPr/>
            <p:nvPr/>
          </p:nvSpPr>
          <p:spPr>
            <a:xfrm>
              <a:off x="1476" y="691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2002H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49" name="Rectangle 18"/>
            <p:cNvSpPr/>
            <p:nvPr/>
          </p:nvSpPr>
          <p:spPr>
            <a:xfrm>
              <a:off x="377" y="1098"/>
              <a:ext cx="996" cy="245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0" name="Rectangle 19"/>
            <p:cNvSpPr/>
            <p:nvPr/>
          </p:nvSpPr>
          <p:spPr>
            <a:xfrm>
              <a:off x="377" y="1098"/>
              <a:ext cx="996" cy="245"/>
            </a:xfrm>
            <a:prstGeom prst="rect">
              <a:avLst/>
            </a:prstGeom>
            <a:noFill/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1" name="Rectangle 20"/>
            <p:cNvSpPr/>
            <p:nvPr/>
          </p:nvSpPr>
          <p:spPr>
            <a:xfrm>
              <a:off x="377" y="1343"/>
              <a:ext cx="996" cy="185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2" name="Rectangle 21"/>
            <p:cNvSpPr/>
            <p:nvPr/>
          </p:nvSpPr>
          <p:spPr>
            <a:xfrm>
              <a:off x="377" y="1719"/>
              <a:ext cx="996" cy="186"/>
            </a:xfrm>
            <a:prstGeom prst="rect">
              <a:avLst/>
            </a:prstGeom>
            <a:solidFill>
              <a:srgbClr val="E6E6E6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3" name="Rectangle 22"/>
            <p:cNvSpPr/>
            <p:nvPr/>
          </p:nvSpPr>
          <p:spPr>
            <a:xfrm>
              <a:off x="377" y="1074"/>
              <a:ext cx="996" cy="831"/>
            </a:xfrm>
            <a:prstGeom prst="rect">
              <a:avLst/>
            </a:prstGeom>
            <a:gradFill rotWithShape="1">
              <a:gsLst>
                <a:gs pos="0">
                  <a:srgbClr val="9966FF"/>
                </a:gs>
                <a:gs pos="100000">
                  <a:schemeClr val="bg1"/>
                </a:gs>
              </a:gsLst>
              <a:lin ang="5400000" scaled="1"/>
              <a:tileRect/>
            </a:gradFill>
            <a:ln w="158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dirty="0">
                <a:latin typeface="Times New Roman" panose="02020603050405020304" pitchFamily="2" charset="0"/>
              </a:endParaRPr>
            </a:p>
          </p:txBody>
        </p:sp>
        <p:sp>
          <p:nvSpPr>
            <p:cNvPr id="39954" name="Rectangle 23"/>
            <p:cNvSpPr/>
            <p:nvPr/>
          </p:nvSpPr>
          <p:spPr>
            <a:xfrm>
              <a:off x="1476" y="1129"/>
              <a:ext cx="703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2004H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5" name="Rectangle 24"/>
            <p:cNvSpPr/>
            <p:nvPr/>
          </p:nvSpPr>
          <p:spPr>
            <a:xfrm>
              <a:off x="1476" y="1293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2005H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6" name="Rectangle 25"/>
            <p:cNvSpPr/>
            <p:nvPr/>
          </p:nvSpPr>
          <p:spPr>
            <a:xfrm>
              <a:off x="1476" y="1708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2007H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7" name="Rectangle 26"/>
            <p:cNvSpPr/>
            <p:nvPr/>
          </p:nvSpPr>
          <p:spPr>
            <a:xfrm>
              <a:off x="1476" y="1512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2006H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8" name="Rectangle 27"/>
            <p:cNvSpPr/>
            <p:nvPr/>
          </p:nvSpPr>
          <p:spPr>
            <a:xfrm>
              <a:off x="1476" y="910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2003H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59" name="Rectangle 28"/>
            <p:cNvSpPr/>
            <p:nvPr/>
          </p:nvSpPr>
          <p:spPr>
            <a:xfrm>
              <a:off x="1476" y="527"/>
              <a:ext cx="344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2001H</a:t>
              </a:r>
              <a:endParaRPr lang="en-US" altLang="zh-CN" sz="1600" dirty="0">
                <a:latin typeface="Times New Roman" panose="02020603050405020304" pitchFamily="2" charset="0"/>
              </a:endParaRPr>
            </a:p>
          </p:txBody>
        </p:sp>
        <p:sp>
          <p:nvSpPr>
            <p:cNvPr id="39960" name="Line 30"/>
            <p:cNvSpPr/>
            <p:nvPr/>
          </p:nvSpPr>
          <p:spPr>
            <a:xfrm flipV="1">
              <a:off x="377" y="907"/>
              <a:ext cx="983" cy="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1" name="Line 33"/>
            <p:cNvSpPr/>
            <p:nvPr/>
          </p:nvSpPr>
          <p:spPr>
            <a:xfrm>
              <a:off x="377" y="1293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2" name="Line 34"/>
            <p:cNvSpPr/>
            <p:nvPr/>
          </p:nvSpPr>
          <p:spPr>
            <a:xfrm>
              <a:off x="1202" y="1293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3" name="Line 35"/>
            <p:cNvSpPr/>
            <p:nvPr/>
          </p:nvSpPr>
          <p:spPr>
            <a:xfrm>
              <a:off x="377" y="1512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4" name="Line 36"/>
            <p:cNvSpPr/>
            <p:nvPr/>
          </p:nvSpPr>
          <p:spPr>
            <a:xfrm>
              <a:off x="1202" y="1512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5" name="Line 37"/>
            <p:cNvSpPr/>
            <p:nvPr/>
          </p:nvSpPr>
          <p:spPr>
            <a:xfrm>
              <a:off x="377" y="173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6" name="Line 38"/>
            <p:cNvSpPr/>
            <p:nvPr/>
          </p:nvSpPr>
          <p:spPr>
            <a:xfrm>
              <a:off x="1202" y="1730"/>
              <a:ext cx="1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7" name="Rectangle 39"/>
            <p:cNvSpPr/>
            <p:nvPr/>
          </p:nvSpPr>
          <p:spPr>
            <a:xfrm>
              <a:off x="707" y="1381"/>
              <a:ext cx="217" cy="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1600" dirty="0">
                  <a:solidFill>
                    <a:srgbClr val="FF3300"/>
                  </a:solidFill>
                  <a:latin typeface="Times New Roman" panose="02020603050405020304" pitchFamily="2" charset="0"/>
                </a:rPr>
                <a:t>3.14</a:t>
              </a:r>
            </a:p>
          </p:txBody>
        </p:sp>
        <p:sp>
          <p:nvSpPr>
            <p:cNvPr id="39968" name="Text Box 40"/>
            <p:cNvSpPr txBox="1"/>
            <p:nvPr/>
          </p:nvSpPr>
          <p:spPr>
            <a:xfrm>
              <a:off x="422" y="0"/>
              <a:ext cx="1361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2" charset="0"/>
                </a:rPr>
                <a:t>存储空间</a:t>
              </a:r>
            </a:p>
          </p:txBody>
        </p:sp>
        <p:sp>
          <p:nvSpPr>
            <p:cNvPr id="39969" name="Rectangle 44"/>
            <p:cNvSpPr/>
            <p:nvPr/>
          </p:nvSpPr>
          <p:spPr>
            <a:xfrm>
              <a:off x="0" y="1406"/>
              <a:ext cx="128" cy="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2" charset="0"/>
                </a:rPr>
                <a:t>pi</a:t>
              </a:r>
              <a:endParaRPr lang="en-US" altLang="zh-CN" sz="2000" dirty="0">
                <a:latin typeface="Times New Roman" panose="020206030504050203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51042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charRg st="83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charRg st="9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charRg st="96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1540" y="1268760"/>
            <a:ext cx="8280920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#include &lt;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math.h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&gt;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double sin( double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 );</a:t>
            </a:r>
          </a:p>
          <a:p>
            <a:pPr lvl="1"/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功能： 函数返回参数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的正弦值，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以弧度表示给出。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double cos( double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 );</a:t>
            </a:r>
          </a:p>
          <a:p>
            <a:pPr lvl="1"/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功能： 函数返回参数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的余弦值，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以弧度表示给出。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double tan( double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 );</a:t>
            </a:r>
          </a:p>
          <a:p>
            <a:pPr lvl="1"/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功能： 函数返回参数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的正切值，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以弧度表示给出。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double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acos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( double 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 );</a:t>
            </a:r>
          </a:p>
          <a:p>
            <a:pPr lvl="1"/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功能：函数返回参数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的反余弦值。参数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arg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应当在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-1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1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之间。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double asin( double arg );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double atan( double arg );</a:t>
            </a:r>
            <a:endParaRPr lang="en-US" altLang="zh-CN" sz="240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三角函数</a:t>
            </a:r>
          </a:p>
        </p:txBody>
      </p:sp>
      <p:pic>
        <p:nvPicPr>
          <p:cNvPr id="1027" name="Picture 3" descr="三角函数">
            <a:extLst>
              <a:ext uri="{FF2B5EF4-FFF2-40B4-BE49-F238E27FC236}">
                <a16:creationId xmlns:a16="http://schemas.microsoft.com/office/drawing/2014/main" id="{D8AECDD0-3667-4C48-B094-8F9D9487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982" y="4653136"/>
            <a:ext cx="2116391" cy="22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66786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3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en-US" altLang="zh-CN" sz="1400" dirty="0">
                <a:latin typeface="Times New Roman" panose="02020603050405020304" pitchFamily="2" charset="0"/>
              </a:rPr>
              <a:t>30</a:t>
            </a:fld>
            <a:endParaRPr lang="en-US" altLang="zh-CN" sz="1400" dirty="0">
              <a:latin typeface="Times New Roman" panose="02020603050405020304" pitchFamily="2" charset="0"/>
            </a:endParaRPr>
          </a:p>
        </p:txBody>
      </p:sp>
      <p:sp>
        <p:nvSpPr>
          <p:cNvPr id="73730" name="灯片编号占位符 5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64" tIns="46032" rIns="92064" bIns="46032" anchor="ctr"/>
          <a:lstStyle/>
          <a:p>
            <a:pPr algn="r"/>
            <a:fld id="{9A0DB2DC-4C9A-4742-B13C-FB6460FD3503}" type="slidenum">
              <a:rPr lang="en-US" altLang="zh-CN" sz="1300" dirty="0">
                <a:latin typeface="Times New Roman" panose="02020603050405020304" pitchFamily="2" charset="0"/>
              </a:rPr>
              <a:t>30</a:t>
            </a:fld>
            <a:endParaRPr lang="en-US" altLang="zh-CN" sz="1300" dirty="0">
              <a:latin typeface="Times New Roman" panose="02020603050405020304" pitchFamily="2" charset="0"/>
            </a:endParaRPr>
          </a:p>
        </p:txBody>
      </p:sp>
      <p:sp>
        <p:nvSpPr>
          <p:cNvPr id="73731" name="Rectangle 5"/>
          <p:cNvSpPr/>
          <p:nvPr/>
        </p:nvSpPr>
        <p:spPr>
          <a:xfrm>
            <a:off x="6551613" y="5562600"/>
            <a:ext cx="1144587" cy="1295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1429" tIns="45714" rIns="91429" bIns="45714" anchor="ctr"/>
          <a:lstStyle/>
          <a:p>
            <a:endParaRPr lang="zh-CN" altLang="en-US" sz="2400" dirty="0">
              <a:latin typeface="Times New Roman" panose="02020603050405020304" pitchFamily="2" charset="0"/>
              <a:ea typeface="隶书" pitchFamily="1" charset="-122"/>
            </a:endParaRPr>
          </a:p>
        </p:txBody>
      </p:sp>
      <p:sp>
        <p:nvSpPr>
          <p:cNvPr id="73733" name="Rectangle 4"/>
          <p:cNvSpPr>
            <a:spLocks noGrp="1"/>
          </p:cNvSpPr>
          <p:nvPr>
            <p:ph type="title"/>
          </p:nvPr>
        </p:nvSpPr>
        <p:spPr/>
        <p:txBody>
          <a:bodyPr wrap="square" lIns="92064" tIns="46032" rIns="92064" bIns="46032" anchor="b"/>
          <a:lstStyle/>
          <a:p>
            <a:pPr>
              <a:lnSpc>
                <a:spcPct val="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编写求圆柱体表面积的代码</a:t>
            </a:r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>
          <a:xfrm>
            <a:off x="539552" y="1218531"/>
            <a:ext cx="7772400" cy="4611687"/>
          </a:xfrm>
        </p:spPr>
        <p:txBody>
          <a:bodyPr wrap="square" lIns="92064" tIns="46032" rIns="92064" bIns="46032" anchor="t"/>
          <a:lstStyle/>
          <a:p>
            <a:pPr>
              <a:buNone/>
            </a:pPr>
            <a:r>
              <a:rPr lang="en-US" altLang="zh-CN" sz="2400" dirty="0"/>
              <a:t>#include&lt;stdio.h&gt;</a:t>
            </a:r>
          </a:p>
          <a:p>
            <a:pPr>
              <a:buNone/>
            </a:pPr>
            <a:r>
              <a:rPr lang="en-US" altLang="zh-CN" sz="2400" dirty="0">
                <a:solidFill>
                  <a:srgbClr val="3366FF"/>
                </a:solidFill>
              </a:rPr>
              <a:t>#include&lt;</a:t>
            </a:r>
            <a:r>
              <a:rPr lang="en-US" altLang="zh-CN" sz="2400" dirty="0" err="1">
                <a:solidFill>
                  <a:srgbClr val="3366FF"/>
                </a:solidFill>
              </a:rPr>
              <a:t>math.h</a:t>
            </a:r>
            <a:r>
              <a:rPr lang="en-US" altLang="zh-CN" sz="2400" dirty="0">
                <a:solidFill>
                  <a:srgbClr val="3366FF"/>
                </a:solidFill>
              </a:rPr>
              <a:t>&gt; </a:t>
            </a:r>
          </a:p>
          <a:p>
            <a:pPr>
              <a:buNone/>
            </a:pPr>
            <a:r>
              <a:rPr lang="en-US" altLang="zh-CN" sz="2400" dirty="0"/>
              <a:t>int main(void) {</a:t>
            </a:r>
          </a:p>
          <a:p>
            <a:pPr>
              <a:buNone/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3366FF"/>
                </a:solidFill>
              </a:rPr>
              <a:t>const double pi = </a:t>
            </a:r>
            <a:r>
              <a:rPr lang="en-US" altLang="zh-CN" sz="2400" dirty="0" err="1">
                <a:solidFill>
                  <a:srgbClr val="3366FF"/>
                </a:solidFill>
              </a:rPr>
              <a:t>acos</a:t>
            </a:r>
            <a:r>
              <a:rPr lang="en-US" altLang="zh-CN" sz="2400" dirty="0">
                <a:solidFill>
                  <a:srgbClr val="3366FF"/>
                </a:solidFill>
              </a:rPr>
              <a:t>(-1.0);</a:t>
            </a:r>
          </a:p>
          <a:p>
            <a:pPr>
              <a:buNone/>
            </a:pPr>
            <a:r>
              <a:rPr lang="en-US" altLang="zh-CN" sz="2400" dirty="0"/>
              <a:t>	double r, h, area;</a:t>
            </a:r>
          </a:p>
          <a:p>
            <a:pPr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("Enter the radius and height of cylinder: ");</a:t>
            </a:r>
          </a:p>
          <a:p>
            <a:pPr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lf%lf</a:t>
            </a:r>
            <a:r>
              <a:rPr lang="en-US" altLang="zh-CN" sz="2400" dirty="0"/>
              <a:t>",&amp;</a:t>
            </a:r>
            <a:r>
              <a:rPr lang="en-US" altLang="zh-CN" sz="2400" dirty="0" err="1"/>
              <a:t>r,&amp;h</a:t>
            </a:r>
            <a:r>
              <a:rPr lang="en-US" altLang="zh-CN" sz="2400" dirty="0"/>
              <a:t>);</a:t>
            </a:r>
          </a:p>
          <a:p>
            <a:pPr>
              <a:buNone/>
            </a:pPr>
            <a:r>
              <a:rPr lang="en-US" altLang="zh-CN" sz="2400" dirty="0"/>
              <a:t>	area = (pi*r*r)*2 + (2*pi*r*h);</a:t>
            </a:r>
          </a:p>
          <a:p>
            <a:pPr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("Area = %.</a:t>
            </a:r>
            <a:r>
              <a:rPr lang="en-US" altLang="zh-CN" sz="2400" dirty="0" err="1"/>
              <a:t>3f</a:t>
            </a:r>
            <a:r>
              <a:rPr lang="en-US" altLang="zh-CN" sz="2400" dirty="0"/>
              <a:t>\n", area);</a:t>
            </a:r>
          </a:p>
          <a:p>
            <a:pPr>
              <a:buNone/>
            </a:pPr>
            <a:r>
              <a:rPr lang="en-US" altLang="zh-CN" sz="2400" dirty="0"/>
              <a:t>	return 0; </a:t>
            </a:r>
          </a:p>
          <a:p>
            <a:pPr>
              <a:buNone/>
            </a:pPr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306124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u="sng" dirty="0">
                <a:latin typeface="宋体" panose="02010600030101010101" pitchFamily="2" charset="-122"/>
                <a:cs typeface="微软雅黑" panose="020B0503020204020204" charset="-122"/>
              </a:rPr>
              <a:t>测试各种情况，注意条件的边界一定要测，非正常情况也要测试。</a:t>
            </a:r>
            <a:endParaRPr lang="en-US" altLang="zh-CN" sz="2800" b="0" u="sng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0.5 3.2;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3.0 4.0;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2.9 15.2135;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1.9 0;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408909844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96752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整数除法和浮点数除法不同！浮点数除法的结果是浮点数，而整数除法的结果是整数，没有小数部分。在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C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语言中，整数除法结果的小数部分被丢弃，这一过程被称为截断（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truncation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）。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+mn-ea"/>
                <a:ea typeface="+mn-ea"/>
                <a:cs typeface="微软雅黑" panose="020B0503020204020204" charset="-122"/>
              </a:rPr>
              <a:t>例：计算机一般用秒为单位来计时。给定秒数，换算为小时数、分钟数和剩余秒数，可以用</a:t>
            </a:r>
            <a:endParaRPr lang="en-US" altLang="zh-CN" sz="2800" b="0" dirty="0">
              <a:latin typeface="+mn-ea"/>
              <a:ea typeface="+mn-ea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+mn-ea"/>
                <a:ea typeface="+mn-ea"/>
                <a:cs typeface="微软雅黑" panose="020B0503020204020204" charset="-122"/>
              </a:rPr>
              <a:t>  (</a:t>
            </a:r>
            <a:r>
              <a:rPr lang="zh-CN" altLang="en-US" sz="2800" b="0" dirty="0">
                <a:latin typeface="+mn-ea"/>
                <a:ea typeface="+mn-ea"/>
                <a:cs typeface="微软雅黑" panose="020B0503020204020204" charset="-122"/>
              </a:rPr>
              <a:t>秒数</a:t>
            </a:r>
            <a:r>
              <a:rPr lang="en-US" altLang="zh-CN" sz="2800" b="0" dirty="0">
                <a:latin typeface="+mn-ea"/>
                <a:ea typeface="+mn-ea"/>
                <a:cs typeface="微软雅黑" panose="020B0503020204020204" charset="-122"/>
              </a:rPr>
              <a:t>/3600)=</a:t>
            </a:r>
            <a:r>
              <a:rPr lang="zh-CN" altLang="en-US" sz="2800" b="0" dirty="0">
                <a:latin typeface="+mn-ea"/>
                <a:ea typeface="+mn-ea"/>
                <a:cs typeface="微软雅黑" panose="020B0503020204020204" charset="-122"/>
              </a:rPr>
              <a:t>折算小时数，剩余数</a:t>
            </a:r>
            <a:r>
              <a:rPr lang="en-US" altLang="zh-CN" sz="2800" b="0" dirty="0">
                <a:latin typeface="+mn-ea"/>
                <a:ea typeface="+mn-ea"/>
                <a:cs typeface="微软雅黑" panose="020B0503020204020204" charset="-122"/>
              </a:rPr>
              <a:t>=(</a:t>
            </a:r>
            <a:r>
              <a:rPr lang="zh-CN" altLang="en-US" sz="2800" b="0" dirty="0">
                <a:latin typeface="+mn-ea"/>
                <a:ea typeface="+mn-ea"/>
                <a:cs typeface="微软雅黑" panose="020B0503020204020204" charset="-122"/>
              </a:rPr>
              <a:t>秒数</a:t>
            </a:r>
            <a:r>
              <a:rPr lang="en-US" altLang="zh-CN" sz="2800" b="0" dirty="0">
                <a:latin typeface="+mn-ea"/>
                <a:ea typeface="+mn-ea"/>
                <a:cs typeface="微软雅黑" panose="020B0503020204020204" charset="-122"/>
              </a:rPr>
              <a:t>%3600)</a:t>
            </a:r>
            <a:r>
              <a:rPr lang="zh-CN" altLang="en-US" sz="2800" b="0" dirty="0">
                <a:latin typeface="+mn-ea"/>
                <a:ea typeface="+mn-ea"/>
                <a:cs typeface="微软雅黑" panose="020B0503020204020204" charset="-122"/>
              </a:rPr>
              <a:t>再除以</a:t>
            </a:r>
            <a:r>
              <a:rPr lang="en-US" altLang="zh-CN" sz="2800" b="0" dirty="0">
                <a:latin typeface="+mn-ea"/>
                <a:ea typeface="+mn-ea"/>
                <a:cs typeface="微软雅黑" panose="020B0503020204020204" charset="-122"/>
              </a:rPr>
              <a:t>60</a:t>
            </a:r>
            <a:r>
              <a:rPr lang="zh-CN" altLang="en-US" sz="2800" b="0" dirty="0">
                <a:latin typeface="+mn-ea"/>
                <a:ea typeface="+mn-ea"/>
                <a:cs typeface="微软雅黑" panose="020B0503020204020204" charset="-122"/>
              </a:rPr>
              <a:t>折算分钟数。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整数除法会舍弃小数</a:t>
            </a:r>
          </a:p>
        </p:txBody>
      </p:sp>
    </p:spTree>
    <p:extLst>
      <p:ext uri="{BB962C8B-B14F-4D97-AF65-F5344CB8AC3E}">
        <p14:creationId xmlns:p14="http://schemas.microsoft.com/office/powerpoint/2010/main" val="87231054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/>
          <p:nvPr/>
        </p:nvSpPr>
        <p:spPr>
          <a:xfrm>
            <a:off x="418465" y="1125855"/>
            <a:ext cx="8474075" cy="563231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#include &lt;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stdio.h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&gt;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#define </a:t>
            </a:r>
            <a:r>
              <a:rPr lang="en-US" altLang="pt-BR" sz="2000" b="0" dirty="0" err="1">
                <a:solidFill>
                  <a:srgbClr val="3366FF"/>
                </a:solidFill>
                <a:latin typeface="+mn-lt"/>
                <a:ea typeface="+mj-ea"/>
                <a:cs typeface="+mn-lt"/>
              </a:rPr>
              <a:t>SEC_PER_MIN</a:t>
            </a: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 60    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#define </a:t>
            </a:r>
            <a:r>
              <a:rPr lang="en-US" altLang="pt-BR" sz="2000" b="0" dirty="0" err="1">
                <a:solidFill>
                  <a:srgbClr val="3366FF"/>
                </a:solidFill>
                <a:latin typeface="+mn-lt"/>
                <a:ea typeface="+mj-ea"/>
                <a:cs typeface="+mn-lt"/>
              </a:rPr>
              <a:t>SEC_PER_HOUR</a:t>
            </a: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 3600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int main(void)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    int 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seconds,minutes,hours,left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;</a:t>
            </a:r>
          </a:p>
          <a:p>
            <a:pPr>
              <a:lnSpc>
                <a:spcPct val="90000"/>
              </a:lnSpc>
            </a:pPr>
            <a:endParaRPr lang="en-US" altLang="pt-BR" sz="20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    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printf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("Convert seconds to hours and minutes.\n");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    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printf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("Enter the number of seconds:\n");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    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scanf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("%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d",&amp;seconds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);</a:t>
            </a:r>
          </a:p>
          <a:p>
            <a:pPr>
              <a:lnSpc>
                <a:spcPct val="90000"/>
              </a:lnSpc>
            </a:pPr>
            <a:endParaRPr lang="en-US" altLang="pt-BR" sz="20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    hours = seconds / </a:t>
            </a:r>
            <a:r>
              <a:rPr lang="en-US" altLang="pt-BR" sz="2000" b="0" dirty="0" err="1">
                <a:solidFill>
                  <a:srgbClr val="3366FF"/>
                </a:solidFill>
                <a:latin typeface="+mn-lt"/>
                <a:ea typeface="+mj-ea"/>
                <a:cs typeface="+mn-lt"/>
              </a:rPr>
              <a:t>SEC_PER_HOUR</a:t>
            </a: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    minutes = (seconds % </a:t>
            </a:r>
            <a:r>
              <a:rPr lang="en-US" altLang="pt-BR" sz="2000" b="0" dirty="0" err="1">
                <a:solidFill>
                  <a:srgbClr val="3366FF"/>
                </a:solidFill>
                <a:latin typeface="+mn-lt"/>
                <a:ea typeface="+mj-ea"/>
                <a:cs typeface="+mn-lt"/>
              </a:rPr>
              <a:t>SEC_PER_HOUR</a:t>
            </a: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) / </a:t>
            </a:r>
            <a:r>
              <a:rPr lang="en-US" altLang="pt-BR" sz="2000" b="0" dirty="0" err="1">
                <a:solidFill>
                  <a:srgbClr val="3366FF"/>
                </a:solidFill>
                <a:latin typeface="+mn-lt"/>
                <a:ea typeface="+mj-ea"/>
                <a:cs typeface="+mn-lt"/>
              </a:rPr>
              <a:t>SEC_PER_MIN</a:t>
            </a: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    left = seconds % </a:t>
            </a:r>
            <a:r>
              <a:rPr lang="en-US" altLang="pt-BR" sz="2000" b="0" dirty="0" err="1">
                <a:solidFill>
                  <a:srgbClr val="3366FF"/>
                </a:solidFill>
                <a:latin typeface="+mn-lt"/>
                <a:ea typeface="+mj-ea"/>
                <a:cs typeface="+mn-lt"/>
              </a:rPr>
              <a:t>SEC_PER_MIN</a:t>
            </a:r>
            <a:r>
              <a:rPr lang="en-US" altLang="pt-BR" sz="2000" b="0" dirty="0">
                <a:solidFill>
                  <a:srgbClr val="3366FF"/>
                </a:solidFill>
                <a:latin typeface="+mn-lt"/>
                <a:ea typeface="+mj-ea"/>
                <a:cs typeface="+mn-lt"/>
              </a:rPr>
              <a:t>;</a:t>
            </a:r>
          </a:p>
          <a:p>
            <a:pPr>
              <a:lnSpc>
                <a:spcPct val="90000"/>
              </a:lnSpc>
            </a:pPr>
            <a:endParaRPr lang="en-US" altLang="pt-BR" sz="20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    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printf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("%d seconds is %d hours and %d 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minutes,left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 %d.\n",</a:t>
            </a:r>
            <a:r>
              <a:rPr lang="en-US" altLang="pt-BR" sz="2000" b="0" dirty="0" err="1">
                <a:latin typeface="+mn-lt"/>
                <a:ea typeface="+mj-ea"/>
                <a:cs typeface="+mn-lt"/>
              </a:rPr>
              <a:t>seconds,hours,minutes,left</a:t>
            </a:r>
            <a:r>
              <a:rPr lang="en-US" altLang="pt-BR" sz="2000" b="0" dirty="0">
                <a:latin typeface="+mn-lt"/>
                <a:ea typeface="+mj-ea"/>
                <a:cs typeface="+mn-lt"/>
              </a:rPr>
              <a:t>);</a:t>
            </a:r>
          </a:p>
          <a:p>
            <a:pPr>
              <a:lnSpc>
                <a:spcPct val="90000"/>
              </a:lnSpc>
            </a:pPr>
            <a:endParaRPr lang="en-US" altLang="pt-BR" sz="20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    return 0;</a:t>
            </a:r>
          </a:p>
          <a:p>
            <a:pPr>
              <a:lnSpc>
                <a:spcPct val="90000"/>
              </a:lnSpc>
            </a:pPr>
            <a:r>
              <a:rPr lang="en-US" altLang="pt-BR" sz="2000" b="0" dirty="0">
                <a:latin typeface="+mn-lt"/>
                <a:ea typeface="+mj-ea"/>
                <a:cs typeface="+mn-lt"/>
              </a:rPr>
              <a:t>}</a:t>
            </a:r>
          </a:p>
        </p:txBody>
      </p:sp>
      <p:sp>
        <p:nvSpPr>
          <p:cNvPr id="20482" name="Rectangle 13"/>
          <p:cNvSpPr/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dirty="0">
                <a:solidFill>
                  <a:srgbClr val="FF3300"/>
                </a:solidFill>
              </a:rPr>
              <a:t>秒数折算小时和分钟的代码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5204391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34</a:t>
            </a:fld>
            <a:endParaRPr lang="zh-CN" altLang="en-US" sz="1400" b="1" dirty="0"/>
          </a:p>
        </p:txBody>
      </p:sp>
      <p:sp>
        <p:nvSpPr>
          <p:cNvPr id="245763" name="Rectangle 3"/>
          <p:cNvSpPr>
            <a:spLocks noGrp="1"/>
          </p:cNvSpPr>
          <p:nvPr>
            <p:ph idx="1"/>
          </p:nvPr>
        </p:nvSpPr>
        <p:spPr>
          <a:xfrm>
            <a:off x="762000" y="1905000"/>
            <a:ext cx="8058150" cy="4332288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符号常量是仅含有符号名称的值。</a:t>
            </a: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2" charset="0"/>
              </a:rPr>
              <a:t>	C</a:t>
            </a:r>
            <a:r>
              <a:rPr lang="zh-CN" altLang="en-US" b="1" dirty="0">
                <a:latin typeface="宋体" panose="02010600030101010101" pitchFamily="2" charset="-122"/>
              </a:rPr>
              <a:t>语言定义：</a:t>
            </a:r>
            <a:r>
              <a:rPr lang="zh-CN" altLang="en-US" b="1" dirty="0">
                <a:solidFill>
                  <a:schemeClr val="accent2"/>
                </a:solidFill>
              </a:rPr>
              <a:t>#</a:t>
            </a:r>
            <a:r>
              <a:rPr lang="en-US" altLang="zh-CN" b="1" dirty="0">
                <a:solidFill>
                  <a:schemeClr val="accent2"/>
                </a:solidFill>
              </a:rPr>
              <a:t>define  </a:t>
            </a:r>
            <a:r>
              <a:rPr lang="zh-CN" altLang="en-US" b="1" dirty="0">
                <a:solidFill>
                  <a:schemeClr val="accent2"/>
                </a:solidFill>
              </a:rPr>
              <a:t>标识符   替换文本</a:t>
            </a:r>
            <a:endParaRPr lang="zh-CN" altLang="en-US" b="1" dirty="0">
              <a:solidFill>
                <a:schemeClr val="accent2"/>
              </a:solidFill>
              <a:latin typeface="宋体" panose="02010600030101010101" pitchFamily="2" charset="-122"/>
              <a:cs typeface="Times New Roman" panose="02020603050405020304" pitchFamily="2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b="1" dirty="0">
                <a:solidFill>
                  <a:srgbClr val="3366FF"/>
                </a:solidFill>
              </a:rPr>
              <a:t>#define </a:t>
            </a:r>
            <a:r>
              <a:rPr lang="en-US" altLang="zh-CN" sz="3200" b="1" dirty="0" err="1">
                <a:solidFill>
                  <a:srgbClr val="3366FF"/>
                </a:solidFill>
              </a:rPr>
              <a:t>TAXRATE</a:t>
            </a:r>
            <a:r>
              <a:rPr lang="en-US" altLang="zh-CN" sz="3200" b="1" dirty="0">
                <a:solidFill>
                  <a:srgbClr val="3366FF"/>
                </a:solidFill>
              </a:rPr>
              <a:t> 0. 015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3200" b="1" dirty="0">
                <a:solidFill>
                  <a:srgbClr val="3366FF"/>
                </a:solidFill>
              </a:rPr>
              <a:t>owed = </a:t>
            </a:r>
            <a:r>
              <a:rPr lang="en-US" altLang="zh-CN" sz="3200" b="1" dirty="0" err="1">
                <a:solidFill>
                  <a:srgbClr val="3366FF"/>
                </a:solidFill>
              </a:rPr>
              <a:t>TAXRATE</a:t>
            </a:r>
            <a:r>
              <a:rPr lang="en-US" altLang="zh-CN" sz="3200" b="1" dirty="0">
                <a:solidFill>
                  <a:srgbClr val="3366FF"/>
                </a:solidFill>
              </a:rPr>
              <a:t> * </a:t>
            </a:r>
            <a:r>
              <a:rPr lang="en-US" altLang="zh-CN" sz="3200" b="1" dirty="0" err="1">
                <a:solidFill>
                  <a:srgbClr val="3366FF"/>
                </a:solidFill>
              </a:rPr>
              <a:t>housevalue</a:t>
            </a:r>
            <a:r>
              <a:rPr lang="en-US" altLang="zh-CN" sz="3200" b="1" dirty="0">
                <a:solidFill>
                  <a:srgbClr val="3366FF"/>
                </a:solidFill>
              </a:rPr>
              <a:t>; </a:t>
            </a:r>
            <a:r>
              <a:rPr lang="en-US" altLang="zh-CN" b="1" dirty="0">
                <a:solidFill>
                  <a:srgbClr val="3366FF"/>
                </a:solidFill>
                <a:latin typeface="宋体" panose="02010600030101010101" pitchFamily="2" charset="-122"/>
              </a:rPr>
              <a:t>……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编译时，预处理程序能够将所有出现该符号名称的地方用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值</a:t>
            </a:r>
            <a:r>
              <a:rPr lang="zh-CN" altLang="en-US" b="1" dirty="0">
                <a:latin typeface="宋体" panose="02010600030101010101" pitchFamily="2" charset="-122"/>
              </a:rPr>
              <a:t>替换</a:t>
            </a:r>
            <a:r>
              <a:rPr lang="en-US" altLang="zh-CN" b="1" dirty="0">
                <a:latin typeface="宋体" panose="02010600030101010101" pitchFamily="2" charset="-122"/>
              </a:rPr>
              <a:t>。</a:t>
            </a:r>
            <a:r>
              <a:rPr lang="en-US" altLang="zh-CN" b="1" dirty="0" err="1">
                <a:latin typeface="宋体" panose="02010600030101010101" pitchFamily="2" charset="-122"/>
              </a:rPr>
              <a:t>这称为编译时代入法</a:t>
            </a:r>
            <a:r>
              <a:rPr lang="en-US" altLang="zh-CN" b="1" dirty="0">
                <a:latin typeface="宋体" panose="02010600030101010101" pitchFamily="2" charset="-122"/>
              </a:rPr>
              <a:t>（ </a:t>
            </a:r>
            <a:r>
              <a:rPr lang="en-US" altLang="zh-CN" b="1" dirty="0" err="1">
                <a:latin typeface="宋体" panose="02010600030101010101" pitchFamily="2" charset="-122"/>
              </a:rPr>
              <a:t>compiletime</a:t>
            </a:r>
            <a:r>
              <a:rPr lang="en-US" altLang="zh-CN" b="1" dirty="0">
                <a:latin typeface="宋体" panose="02010600030101010101" pitchFamily="2" charset="-122"/>
              </a:rPr>
              <a:t> substitution）。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b="1" dirty="0"/>
              <a:t>使用符号常量比直接使用常量更好！</a:t>
            </a:r>
            <a:endParaRPr lang="zh-CN" altLang="en-US" b="1" dirty="0">
              <a:latin typeface="宋体" panose="02010600030101010101" pitchFamily="2" charset="-122"/>
              <a:ea typeface="Times New Roman" panose="02020603050405020304" pitchFamily="2" charset="0"/>
            </a:endParaRPr>
          </a:p>
        </p:txBody>
      </p:sp>
      <p:sp>
        <p:nvSpPr>
          <p:cNvPr id="60420" name="Text Box 5"/>
          <p:cNvSpPr txBox="1"/>
          <p:nvPr/>
        </p:nvSpPr>
        <p:spPr>
          <a:xfrm>
            <a:off x="609600" y="1295400"/>
            <a:ext cx="8230235" cy="4781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符号常量 manifest constant</a:t>
            </a:r>
          </a:p>
        </p:txBody>
      </p:sp>
      <p:sp>
        <p:nvSpPr>
          <p:cNvPr id="60421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符号常量</a:t>
            </a:r>
          </a:p>
        </p:txBody>
      </p:sp>
    </p:spTree>
    <p:extLst>
      <p:ext uri="{BB962C8B-B14F-4D97-AF65-F5344CB8AC3E}">
        <p14:creationId xmlns:p14="http://schemas.microsoft.com/office/powerpoint/2010/main" val="29857617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5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程序示例：取余运算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340768"/>
            <a:ext cx="8388424" cy="461168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/*认识取余运算</a:t>
            </a:r>
            <a:r>
              <a:rPr lang="en-US" altLang="zh-CN" sz="2400" dirty="0"/>
              <a:t>% </a:t>
            </a:r>
            <a:r>
              <a:rPr lang="zh-CN" altLang="en-US" sz="2400" dirty="0"/>
              <a:t>*/</a:t>
            </a:r>
          </a:p>
          <a:p>
            <a:pPr marL="0" indent="0">
              <a:buNone/>
            </a:pPr>
            <a:r>
              <a:rPr lang="zh-CN" altLang="en-US" sz="2400" dirty="0"/>
              <a:t>#include&lt;stdio.h&gt;</a:t>
            </a:r>
          </a:p>
          <a:p>
            <a:pPr marL="0" indent="0">
              <a:buNone/>
            </a:pPr>
            <a:r>
              <a:rPr lang="en-US" altLang="zh-CN" sz="2400" dirty="0"/>
              <a:t>int main(void)</a:t>
            </a:r>
            <a:r>
              <a:rPr lang="zh-CN" altLang="en-US" sz="2400" dirty="0"/>
              <a:t>{</a:t>
            </a:r>
          </a:p>
          <a:p>
            <a:pPr marL="0" indent="0"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int</a:t>
            </a:r>
            <a:r>
              <a:rPr lang="zh-CN" altLang="en-US" sz="2400" dirty="0"/>
              <a:t> </a:t>
            </a:r>
            <a:r>
              <a:rPr lang="en-US" altLang="zh-CN" sz="2400" dirty="0" err="1"/>
              <a:t>a,d,result</a:t>
            </a:r>
            <a:r>
              <a:rPr lang="zh-CN" altLang="en-US" sz="2400" dirty="0"/>
              <a:t>;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("Please input integers a and d:\n");</a:t>
            </a:r>
            <a:r>
              <a:rPr lang="zh-CN" altLang="en-US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</a:t>
            </a:r>
            <a:r>
              <a:rPr lang="zh-CN" altLang="en-US" sz="2400" dirty="0"/>
              <a:t>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</a:t>
            </a:r>
            <a:r>
              <a:rPr lang="zh-CN" altLang="en-US" sz="2400" dirty="0"/>
              <a:t>,&amp;</a:t>
            </a:r>
            <a:r>
              <a:rPr lang="en-US" altLang="zh-CN" sz="2400" dirty="0" err="1"/>
              <a:t>a,&amp;d</a:t>
            </a:r>
            <a:r>
              <a:rPr lang="zh-CN" altLang="en-US" sz="2400" dirty="0"/>
              <a:t>);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result = a % d;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 %% %d = %d.</a:t>
            </a:r>
            <a:r>
              <a:rPr lang="zh-CN" altLang="en-US" sz="2400" dirty="0"/>
              <a:t>\n</a:t>
            </a:r>
            <a:r>
              <a:rPr lang="en-US" altLang="zh-CN" sz="2400" dirty="0"/>
              <a:t>"</a:t>
            </a:r>
            <a:r>
              <a:rPr lang="zh-CN" altLang="en-US" sz="2400" dirty="0"/>
              <a:t>,</a:t>
            </a:r>
            <a:r>
              <a:rPr lang="en-US" altLang="zh-CN" sz="2400" dirty="0"/>
              <a:t>a</a:t>
            </a:r>
            <a:r>
              <a:rPr lang="zh-CN" altLang="en-US" sz="2400" dirty="0"/>
              <a:t>,</a:t>
            </a:r>
            <a:r>
              <a:rPr lang="en-US" altLang="zh-CN" sz="2400" dirty="0" err="1"/>
              <a:t>d,result</a:t>
            </a:r>
            <a:r>
              <a:rPr lang="zh-CN" altLang="en-US" sz="2400" dirty="0"/>
              <a:t>);</a:t>
            </a:r>
          </a:p>
          <a:p>
            <a:pPr marL="0" indent="0">
              <a:buNone/>
            </a:pPr>
            <a:r>
              <a:rPr lang="zh-CN" altLang="en-US" sz="2400" dirty="0"/>
              <a:t>	return 0;</a:t>
            </a:r>
          </a:p>
          <a:p>
            <a:pPr marL="0" indent="0">
              <a:buNone/>
            </a:pPr>
            <a:r>
              <a:rPr lang="zh-CN" altLang="en-US" sz="2400" dirty="0"/>
              <a:t>}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189572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744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编程活动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用测试数据运行取余程序，查看结果。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7,3;	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-7,3; </a:t>
            </a: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负数取余</a:t>
            </a:r>
            <a:endParaRPr lang="en-US" altLang="zh-CN" sz="2800" b="0" dirty="0">
              <a:solidFill>
                <a:srgbClr val="3366FF"/>
              </a:solidFill>
              <a:latin typeface="仿宋" panose="02010609060101010101" pitchFamily="49" charset="-122"/>
              <a:ea typeface="仿宋" panose="02010609060101010101" pitchFamily="49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-3,-4;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12,0;</a:t>
            </a:r>
          </a:p>
          <a:p>
            <a:pPr>
              <a:lnSpc>
                <a:spcPct val="130000"/>
              </a:lnSpc>
            </a:pPr>
            <a:r>
              <a:rPr lang="en-US" altLang="zh-CN" sz="2800" b="0" i="0" dirty="0" err="1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C99</a:t>
            </a:r>
            <a:r>
              <a:rPr lang="zh-CN" altLang="en-US" sz="2800" b="0" i="0" dirty="0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规定“</a:t>
            </a:r>
            <a:r>
              <a:rPr lang="en-US" altLang="zh-CN" sz="2800" b="0" i="0" dirty="0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2800" b="0" i="0" dirty="0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趋零截断”，如果第</a:t>
            </a:r>
            <a:r>
              <a:rPr lang="en-US" altLang="zh-CN" sz="2800" b="0" i="0" dirty="0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 b="0" i="0" dirty="0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个运算对象是负数，那么取余的结果为负数；如果第</a:t>
            </a:r>
            <a:r>
              <a:rPr lang="en-US" altLang="zh-CN" sz="2800" b="0" i="0" dirty="0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800" b="0" i="0" dirty="0">
                <a:solidFill>
                  <a:srgbClr val="494949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个运算对象是正数，那么取余的结果也是正数。</a:t>
            </a:r>
            <a:endParaRPr lang="en-US" altLang="zh-CN" sz="2800" b="0" dirty="0">
              <a:solidFill>
                <a:srgbClr val="3366FF"/>
              </a:solidFill>
              <a:latin typeface="仿宋" panose="02010609060101010101" pitchFamily="49" charset="-122"/>
              <a:ea typeface="仿宋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14691051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模</a:t>
            </a:r>
            <a:r>
              <a:rPr lang="en-US" b="1" i="1" dirty="0"/>
              <a:t>m</a:t>
            </a:r>
            <a:r>
              <a:rPr lang="zh-CN" altLang="en-US" b="1" dirty="0"/>
              <a:t>算术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  </a:t>
            </a:r>
            <a:r>
              <a:rPr lang="zh-CN" altLang="en-US" b="1" dirty="0"/>
              <a:t>定义</a:t>
            </a:r>
            <a:r>
              <a:rPr lang="en-US" dirty="0"/>
              <a:t>: </a:t>
            </a:r>
            <a:r>
              <a:rPr lang="zh-CN" altLang="en-US" dirty="0"/>
              <a:t>令</a:t>
            </a:r>
            <a:r>
              <a:rPr lang="en-US" dirty="0"/>
              <a:t> </a:t>
            </a:r>
            <a:r>
              <a:rPr lang="en-US" b="1" dirty="0" err="1"/>
              <a:t>Z</a:t>
            </a:r>
            <a:r>
              <a:rPr lang="en-US" i="1" baseline="-25000" dirty="0" err="1"/>
              <a:t>m</a:t>
            </a:r>
            <a:r>
              <a:rPr lang="en-US" i="1" baseline="-25000" dirty="0"/>
              <a:t> </a:t>
            </a:r>
            <a:r>
              <a:rPr lang="en-US" dirty="0"/>
              <a:t> </a:t>
            </a:r>
            <a:r>
              <a:rPr lang="zh-CN" altLang="en-US" dirty="0"/>
              <a:t>为包含小于 </a:t>
            </a:r>
            <a:r>
              <a:rPr lang="en-US" i="1" dirty="0"/>
              <a:t>m</a:t>
            </a:r>
            <a:r>
              <a:rPr lang="zh-CN" altLang="en-US" dirty="0"/>
              <a:t>的非负整数集</a:t>
            </a:r>
            <a:r>
              <a:rPr lang="en-US" dirty="0"/>
              <a:t>: {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US" dirty="0"/>
              <a:t>,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dirty="0"/>
              <a:t>, …., </a:t>
            </a:r>
            <a:r>
              <a:rPr lang="en-US" i="1" dirty="0"/>
              <a:t>m</a:t>
            </a:r>
            <a:r>
              <a:rPr lang="en-US" dirty="0">
                <a:latin typeface="Cambria Math" panose="02040503050406030204"/>
                <a:ea typeface="Cambria Math" panose="02040503050406030204"/>
              </a:rPr>
              <a:t>−1</a:t>
            </a:r>
            <a:r>
              <a:rPr lang="en-US" dirty="0">
                <a:ea typeface="Cambria Math" panose="02040503050406030204"/>
              </a:rPr>
              <a:t>}</a:t>
            </a:r>
          </a:p>
          <a:p>
            <a:r>
              <a:rPr lang="zh-CN" altLang="en-US" dirty="0">
                <a:ea typeface="Cambria Math" panose="02040503050406030204"/>
              </a:rPr>
              <a:t>运算</a:t>
            </a:r>
            <a:r>
              <a:rPr lang="en-US" dirty="0">
                <a:ea typeface="Cambria Math" panose="02040503050406030204"/>
              </a:rPr>
              <a:t> +</a:t>
            </a:r>
            <a:r>
              <a:rPr lang="en-US" i="1" baseline="-25000" dirty="0">
                <a:ea typeface="Cambria Math" panose="02040503050406030204"/>
              </a:rPr>
              <a:t>m</a:t>
            </a:r>
            <a:r>
              <a:rPr lang="en-US" baseline="-25000" dirty="0">
                <a:ea typeface="Cambria Math" panose="02040503050406030204"/>
              </a:rPr>
              <a:t> 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zh-CN" altLang="en-US" dirty="0">
                <a:ea typeface="Cambria Math" panose="02040503050406030204"/>
              </a:rPr>
              <a:t>定义为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i="1" dirty="0">
                <a:ea typeface="Cambria Math" panose="02040503050406030204"/>
              </a:rPr>
              <a:t>a</a:t>
            </a:r>
            <a:r>
              <a:rPr lang="en-US" dirty="0">
                <a:ea typeface="Cambria Math" panose="02040503050406030204"/>
              </a:rPr>
              <a:t> +</a:t>
            </a:r>
            <a:r>
              <a:rPr lang="en-US" i="1" baseline="-25000" dirty="0">
                <a:ea typeface="Cambria Math" panose="02040503050406030204"/>
              </a:rPr>
              <a:t>m </a:t>
            </a:r>
            <a:r>
              <a:rPr lang="en-US" i="1" dirty="0">
                <a:ea typeface="Cambria Math" panose="02040503050406030204"/>
              </a:rPr>
              <a:t>b</a:t>
            </a:r>
            <a:r>
              <a:rPr lang="en-US" dirty="0">
                <a:ea typeface="Cambria Math" panose="02040503050406030204"/>
              </a:rPr>
              <a:t> = (</a:t>
            </a:r>
            <a:r>
              <a:rPr lang="en-US" i="1" dirty="0">
                <a:ea typeface="Cambria Math" panose="02040503050406030204"/>
              </a:rPr>
              <a:t>a</a:t>
            </a:r>
            <a:r>
              <a:rPr lang="en-US" dirty="0">
                <a:ea typeface="Cambria Math" panose="02040503050406030204"/>
              </a:rPr>
              <a:t> + </a:t>
            </a:r>
            <a:r>
              <a:rPr lang="en-US" i="1" dirty="0">
                <a:ea typeface="Cambria Math" panose="02040503050406030204"/>
              </a:rPr>
              <a:t>b</a:t>
            </a:r>
            <a:r>
              <a:rPr lang="en-US" dirty="0">
                <a:ea typeface="Cambria Math" panose="02040503050406030204"/>
              </a:rPr>
              <a:t>) </a:t>
            </a:r>
            <a:r>
              <a:rPr lang="en-US" b="1" dirty="0">
                <a:ea typeface="Cambria Math" panose="02040503050406030204"/>
              </a:rPr>
              <a:t>mod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i="1" dirty="0">
                <a:ea typeface="Cambria Math" panose="02040503050406030204"/>
              </a:rPr>
              <a:t>m</a:t>
            </a:r>
            <a:r>
              <a:rPr lang="en-US" dirty="0">
                <a:ea typeface="Cambria Math" panose="02040503050406030204"/>
              </a:rPr>
              <a:t>. </a:t>
            </a:r>
            <a:r>
              <a:rPr lang="zh-CN" altLang="en-US" dirty="0">
                <a:ea typeface="Cambria Math" panose="02040503050406030204"/>
              </a:rPr>
              <a:t>称为模</a:t>
            </a:r>
            <a:r>
              <a:rPr lang="en-US" i="1" dirty="0">
                <a:ea typeface="Cambria Math" panose="02040503050406030204"/>
              </a:rPr>
              <a:t> m</a:t>
            </a:r>
            <a:r>
              <a:rPr lang="zh-CN" altLang="en-US" dirty="0">
                <a:ea typeface="Cambria Math" panose="02040503050406030204"/>
              </a:rPr>
              <a:t>加法</a:t>
            </a:r>
            <a:r>
              <a:rPr lang="en-US" dirty="0">
                <a:ea typeface="Cambria Math" panose="02040503050406030204"/>
              </a:rPr>
              <a:t>.</a:t>
            </a:r>
          </a:p>
          <a:p>
            <a:r>
              <a:rPr lang="zh-CN" altLang="en-US" dirty="0">
                <a:ea typeface="Cambria Math" panose="02040503050406030204"/>
              </a:rPr>
              <a:t>运算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dirty="0">
                <a:latin typeface="Cambria Math" panose="02040503050406030204"/>
                <a:ea typeface="Cambria Math" panose="02040503050406030204"/>
              </a:rPr>
              <a:t>∙</a:t>
            </a:r>
            <a:r>
              <a:rPr lang="en-US" i="1" baseline="-25000" dirty="0">
                <a:ea typeface="Cambria Math" panose="02040503050406030204"/>
              </a:rPr>
              <a:t>m</a:t>
            </a:r>
            <a:r>
              <a:rPr lang="en-US" baseline="-25000" dirty="0">
                <a:ea typeface="Cambria Math" panose="02040503050406030204"/>
              </a:rPr>
              <a:t> 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zh-CN" altLang="en-US" dirty="0">
                <a:ea typeface="Cambria Math" panose="02040503050406030204"/>
              </a:rPr>
              <a:t>定义为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i="1" dirty="0">
                <a:ea typeface="Cambria Math" panose="02040503050406030204"/>
              </a:rPr>
              <a:t>a</a:t>
            </a:r>
            <a:r>
              <a:rPr lang="en-US" dirty="0">
                <a:latin typeface="Cambria Math" panose="02040503050406030204"/>
                <a:ea typeface="Cambria Math" panose="02040503050406030204"/>
              </a:rPr>
              <a:t> ∙</a:t>
            </a:r>
            <a:r>
              <a:rPr lang="en-US" i="1" baseline="-25000" dirty="0">
                <a:ea typeface="Cambria Math" panose="02040503050406030204"/>
              </a:rPr>
              <a:t>m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i="1" dirty="0">
                <a:ea typeface="Cambria Math" panose="02040503050406030204"/>
              </a:rPr>
              <a:t>b</a:t>
            </a:r>
            <a:r>
              <a:rPr lang="en-US" dirty="0">
                <a:ea typeface="Cambria Math" panose="02040503050406030204"/>
              </a:rPr>
              <a:t> = (</a:t>
            </a:r>
            <a:r>
              <a:rPr lang="en-US" i="1" dirty="0">
                <a:ea typeface="Cambria Math" panose="02040503050406030204"/>
              </a:rPr>
              <a:t>a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dirty="0">
                <a:latin typeface="Cambria Math" panose="02040503050406030204"/>
                <a:ea typeface="Cambria Math" panose="02040503050406030204"/>
                <a:sym typeface="+mn-ea"/>
              </a:rPr>
              <a:t>∙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i="1" dirty="0">
                <a:ea typeface="Cambria Math" panose="02040503050406030204"/>
              </a:rPr>
              <a:t>b</a:t>
            </a:r>
            <a:r>
              <a:rPr lang="en-US" dirty="0">
                <a:ea typeface="Cambria Math" panose="02040503050406030204"/>
              </a:rPr>
              <a:t>) </a:t>
            </a:r>
            <a:r>
              <a:rPr lang="en-US" b="1" dirty="0">
                <a:ea typeface="Cambria Math" panose="02040503050406030204"/>
              </a:rPr>
              <a:t>mod</a:t>
            </a:r>
            <a:r>
              <a:rPr lang="en-US" dirty="0">
                <a:ea typeface="Cambria Math" panose="02040503050406030204"/>
              </a:rPr>
              <a:t> </a:t>
            </a:r>
            <a:r>
              <a:rPr lang="en-US" i="1" dirty="0">
                <a:ea typeface="Cambria Math" panose="02040503050406030204"/>
              </a:rPr>
              <a:t>m</a:t>
            </a:r>
            <a:r>
              <a:rPr lang="en-US" dirty="0">
                <a:ea typeface="Cambria Math" panose="02040503050406030204"/>
              </a:rPr>
              <a:t>. </a:t>
            </a:r>
            <a:r>
              <a:rPr lang="zh-CN" altLang="en-US" dirty="0">
                <a:ea typeface="Cambria Math" panose="02040503050406030204"/>
              </a:rPr>
              <a:t>称为模</a:t>
            </a:r>
            <a:r>
              <a:rPr lang="en-US" i="1" dirty="0">
                <a:ea typeface="Cambria Math" panose="02040503050406030204"/>
              </a:rPr>
              <a:t> m</a:t>
            </a:r>
            <a:r>
              <a:rPr lang="zh-CN" altLang="en-US" dirty="0">
                <a:ea typeface="Cambria Math" panose="02040503050406030204"/>
              </a:rPr>
              <a:t>乘法</a:t>
            </a:r>
            <a:r>
              <a:rPr lang="en-US" dirty="0">
                <a:ea typeface="Cambria Math" panose="02040503050406030204"/>
              </a:rPr>
              <a:t>.</a:t>
            </a:r>
          </a:p>
          <a:p>
            <a:r>
              <a:rPr lang="zh-CN" altLang="en-US" dirty="0">
                <a:ea typeface="Cambria Math" panose="02040503050406030204"/>
              </a:rPr>
              <a:t>使用这些运算就被称为模</a:t>
            </a:r>
            <a:r>
              <a:rPr lang="en-US" i="1" dirty="0">
                <a:ea typeface="Cambria Math" panose="02040503050406030204"/>
              </a:rPr>
              <a:t> m</a:t>
            </a:r>
            <a:r>
              <a:rPr lang="zh-CN" altLang="en-US" dirty="0">
                <a:ea typeface="Cambria Math" panose="02040503050406030204"/>
              </a:rPr>
              <a:t>算术</a:t>
            </a:r>
            <a:r>
              <a:rPr lang="en-US" dirty="0">
                <a:ea typeface="Cambria Math" panose="02040503050406030204"/>
              </a:rPr>
              <a:t>.</a:t>
            </a:r>
            <a:endParaRPr lang="en-US" dirty="0"/>
          </a:p>
          <a:p>
            <a:pPr>
              <a:buNone/>
            </a:pPr>
            <a:r>
              <a:rPr lang="en-US" b="1" dirty="0"/>
              <a:t>  </a:t>
            </a:r>
            <a:r>
              <a:rPr lang="zh-CN" altLang="en-US" b="1" dirty="0"/>
              <a:t>例</a:t>
            </a:r>
            <a:r>
              <a:rPr lang="en-US" altLang="zh-CN" b="1" dirty="0"/>
              <a:t>: </a:t>
            </a:r>
            <a:r>
              <a:rPr lang="zh-CN" altLang="en-US" dirty="0"/>
              <a:t>计算</a:t>
            </a:r>
            <a:r>
              <a:rPr lang="en-US" dirty="0"/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7 </a:t>
            </a:r>
            <a:r>
              <a:rPr lang="en-US" dirty="0">
                <a:ea typeface="Cambria Math" panose="02040503050406030204"/>
              </a:rPr>
              <a:t>+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9</a:t>
            </a:r>
            <a:r>
              <a:rPr lang="en-US" dirty="0"/>
              <a:t>    </a:t>
            </a:r>
            <a:r>
              <a:rPr lang="zh-CN" altLang="en-US" dirty="0"/>
              <a:t>和</a:t>
            </a:r>
            <a:r>
              <a:rPr lang="en-US" dirty="0"/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7 </a:t>
            </a:r>
            <a:r>
              <a:rPr lang="en-US" dirty="0">
                <a:ea typeface="Cambria Math" panose="02040503050406030204"/>
              </a:rPr>
              <a:t>∙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9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zh-CN" altLang="en-US" b="1" dirty="0"/>
              <a:t>解</a:t>
            </a:r>
            <a:r>
              <a:rPr lang="en-US" altLang="zh-CN" b="1" dirty="0"/>
              <a:t>:</a:t>
            </a:r>
            <a:r>
              <a:rPr lang="en-US" dirty="0"/>
              <a:t> </a:t>
            </a:r>
            <a:r>
              <a:rPr lang="zh-CN" altLang="en-US" dirty="0"/>
              <a:t>根据模</a:t>
            </a:r>
            <a:r>
              <a:rPr lang="en-US" altLang="zh-CN" i="1" dirty="0"/>
              <a:t>m</a:t>
            </a:r>
            <a:r>
              <a:rPr lang="zh-CN" altLang="en-US" dirty="0"/>
              <a:t>运算定义可推出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7 </a:t>
            </a:r>
            <a:r>
              <a:rPr lang="en-US" dirty="0">
                <a:ea typeface="Cambria Math" panose="02040503050406030204"/>
              </a:rPr>
              <a:t>+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9 = (7 + 9) 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mod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11 = 16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mod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11 = 5</a:t>
            </a:r>
          </a:p>
          <a:p>
            <a:pPr marL="457200" lvl="1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7 </a:t>
            </a:r>
            <a:r>
              <a:rPr lang="en-US" dirty="0">
                <a:ea typeface="Cambria Math" panose="02040503050406030204"/>
              </a:rPr>
              <a:t>∙</a:t>
            </a:r>
            <a:r>
              <a:rPr lang="en-US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9 = (7 </a:t>
            </a:r>
            <a:r>
              <a:rPr lang="en-US" dirty="0">
                <a:latin typeface="Cambria Math" panose="02040503050406030204"/>
                <a:ea typeface="Cambria Math" panose="02040503050406030204"/>
              </a:rPr>
              <a:t>∙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9) 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mod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11 = 63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mod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11 = 8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/>
          <p:nvPr/>
        </p:nvSpPr>
        <p:spPr>
          <a:xfrm>
            <a:off x="395536" y="1316355"/>
            <a:ext cx="8496944" cy="39339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取余运算的本质是计算两个整数不能整除的余数。</a:t>
            </a:r>
            <a:endParaRPr lang="en-US" altLang="zh-CN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整数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127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的表示方法是三位数码：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100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的倍数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+10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的倍数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+10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的余数，因此整数的数位拆解可以用取余运算。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定义程序目标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问题：</a:t>
            </a:r>
            <a:r>
              <a:rPr lang="pt-BR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输入一个三位数，分离出它的百位、十位和个位，反转</a:t>
            </a:r>
            <a:r>
              <a:rPr lang="zh-CN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顺序后</a:t>
            </a:r>
            <a:r>
              <a:rPr lang="pt-BR" altLang="en-US" sz="2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输出。 </a:t>
            </a:r>
          </a:p>
        </p:txBody>
      </p:sp>
      <p:sp>
        <p:nvSpPr>
          <p:cNvPr id="20482" name="Rectangle 13"/>
          <p:cNvSpPr/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2" charset="0"/>
              </a:rPr>
              <a:t>取余运算的用途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2" charset="0"/>
              </a:rPr>
              <a:t>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54E073-D3B9-4934-A79D-63DC4E132ACF}"/>
              </a:ext>
            </a:extLst>
          </p:cNvPr>
          <p:cNvSpPr txBox="1"/>
          <p:nvPr/>
        </p:nvSpPr>
        <p:spPr>
          <a:xfrm>
            <a:off x="3635896" y="4673391"/>
            <a:ext cx="4464496" cy="153548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样例1输入： 127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样例1输出： 721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样例2输入： 320</a:t>
            </a:r>
          </a:p>
          <a:p>
            <a:pPr lvl="1">
              <a:lnSpc>
                <a:spcPct val="120000"/>
              </a:lnSpc>
            </a:pPr>
            <a:r>
              <a:rPr lang="pt-BR" altLang="en-US" sz="2000" dirty="0">
                <a:solidFill>
                  <a:srgbClr val="3366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样例2输出： 23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96752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三位数分解算法设计：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定义一个整数变量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从键盘接受输入的一个三位整数，存入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显示器输出打印表达式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n%10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    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显示器输出打印表达式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n/10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的值？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 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显示器输出打印表达式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n/100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算法测试：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127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三位数分解的算法设计</a:t>
            </a:r>
          </a:p>
        </p:txBody>
      </p:sp>
    </p:spTree>
    <p:extLst>
      <p:ext uri="{BB962C8B-B14F-4D97-AF65-F5344CB8AC3E}">
        <p14:creationId xmlns:p14="http://schemas.microsoft.com/office/powerpoint/2010/main" val="311528078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3"/>
          <p:cNvSpPr txBox="1"/>
          <p:nvPr/>
        </p:nvSpPr>
        <p:spPr>
          <a:xfrm>
            <a:off x="418465" y="1125855"/>
            <a:ext cx="8474075" cy="51337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2800" b="0" dirty="0">
                <a:latin typeface="+mn-lt"/>
                <a:ea typeface="+mj-ea"/>
                <a:cs typeface="+mn-lt"/>
              </a:rPr>
              <a:t>/*</a:t>
            </a:r>
            <a:r>
              <a:rPr lang="zh-CN" altLang="en-US" sz="2800" b="0" dirty="0">
                <a:latin typeface="+mn-lt"/>
                <a:ea typeface="+mj-ea"/>
                <a:cs typeface="+mn-lt"/>
              </a:rPr>
              <a:t>三位数反转</a:t>
            </a:r>
            <a:r>
              <a:rPr lang="en-US" altLang="pt-BR" sz="2800" b="0" dirty="0">
                <a:latin typeface="+mn-lt"/>
                <a:ea typeface="+mj-ea"/>
                <a:cs typeface="+mn-lt"/>
              </a:rPr>
              <a:t>*/</a:t>
            </a:r>
            <a:endParaRPr lang="pt-BR" altLang="en-US" sz="28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pt-BR" altLang="en-US" sz="2800" b="0" dirty="0">
                <a:latin typeface="+mn-lt"/>
                <a:ea typeface="+mj-ea"/>
                <a:cs typeface="+mn-lt"/>
              </a:rPr>
              <a:t>#include &lt;stdio.h&gt;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int main(void)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    int n;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         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    printf("Please input a integer 100~999:\n");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    scanf("%d",&amp;n);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    printf("%d%d%d\n",n%10,n/10%10,n/100);</a:t>
            </a:r>
          </a:p>
          <a:p>
            <a:pPr>
              <a:lnSpc>
                <a:spcPct val="90000"/>
              </a:lnSpc>
            </a:pPr>
            <a:endParaRPr lang="pt-BR" altLang="zh-CN" sz="2800" b="0" dirty="0">
              <a:latin typeface="+mn-lt"/>
              <a:ea typeface="+mj-ea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    return 0;</a:t>
            </a:r>
          </a:p>
          <a:p>
            <a:pPr>
              <a:lnSpc>
                <a:spcPct val="90000"/>
              </a:lnSpc>
            </a:pPr>
            <a:r>
              <a:rPr lang="pt-BR" altLang="zh-CN" sz="2800" b="0" dirty="0">
                <a:latin typeface="+mn-lt"/>
                <a:ea typeface="+mj-ea"/>
                <a:cs typeface="+mn-lt"/>
              </a:rPr>
              <a:t>}</a:t>
            </a:r>
          </a:p>
        </p:txBody>
      </p:sp>
      <p:sp>
        <p:nvSpPr>
          <p:cNvPr id="20482" name="Rectangle 13"/>
          <p:cNvSpPr/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r" eaLnBrk="0" hangingPunct="0"/>
            <a:r>
              <a:rPr lang="zh-CN" altLang="en-US" sz="3200" dirty="0">
                <a:solidFill>
                  <a:srgbClr val="FF3300"/>
                </a:solidFill>
              </a:rPr>
              <a:t>编写代码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1190" y="1405890"/>
            <a:ext cx="8083550" cy="50542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4.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编译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目的：检查程序有效性（符合编程语言语法）。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5. 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测试和调试程序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用测试数据运行程序，查看结果是否有错。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1: 127;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2: 919;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3: 520;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4: 300;</a:t>
            </a:r>
          </a:p>
          <a:p>
            <a:pPr lvl="1">
              <a:lnSpc>
                <a:spcPct val="130000"/>
              </a:lnSpc>
            </a:pPr>
            <a:r>
              <a:rPr lang="zh-CN" altLang="en-US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测试数据</a:t>
            </a:r>
            <a:r>
              <a:rPr lang="en-US" altLang="zh-CN" sz="2800" b="0" dirty="0">
                <a:solidFill>
                  <a:srgbClr val="3366FF"/>
                </a:solidFill>
                <a:latin typeface="仿宋" panose="02010609060101010101" pitchFamily="49" charset="-122"/>
                <a:ea typeface="仿宋" panose="02010609060101010101" pitchFamily="49" charset="-122"/>
                <a:cs typeface="微软雅黑" panose="020B0503020204020204" charset="-122"/>
              </a:rPr>
              <a:t>5: -123;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282911247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96752"/>
            <a:ext cx="8083550" cy="44941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三位数分解算法</a:t>
            </a:r>
            <a:r>
              <a:rPr lang="zh-CN" altLang="en-US" sz="2800" b="0" dirty="0">
                <a:solidFill>
                  <a:srgbClr val="33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改进设计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：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Begin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定义一个整数变量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reverse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从键盘接受输入的一个三位整数，存入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n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reverse = (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n%10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)*100+(n/10%10)*</a:t>
            </a:r>
            <a:r>
              <a:rPr lang="en-US" altLang="zh-CN" sz="2800" b="0" dirty="0" err="1">
                <a:latin typeface="宋体" panose="02010600030101010101" pitchFamily="2" charset="-122"/>
                <a:cs typeface="微软雅黑" panose="020B0503020204020204" charset="-122"/>
              </a:rPr>
              <a:t>10+n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/100;</a:t>
            </a: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	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显示器输出打印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reverse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的值；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End</a:t>
            </a:r>
          </a:p>
          <a:p>
            <a:pPr>
              <a:lnSpc>
                <a:spcPct val="130000"/>
              </a:lnSpc>
            </a:pP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算法测试：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120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100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101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305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800" b="0" dirty="0">
                <a:latin typeface="宋体" panose="02010600030101010101" pitchFamily="2" charset="-122"/>
                <a:cs typeface="微软雅黑" panose="020B0503020204020204" charset="-122"/>
              </a:rPr>
              <a:t>-123</a:t>
            </a:r>
            <a:r>
              <a:rPr lang="zh-CN" altLang="en-US" sz="2800" b="0" dirty="0">
                <a:latin typeface="宋体" panose="02010600030101010101" pitchFamily="2" charset="-122"/>
                <a:cs typeface="微软雅黑" panose="020B0503020204020204" charset="-122"/>
              </a:rPr>
              <a:t>。</a:t>
            </a:r>
            <a:endParaRPr lang="en-US" altLang="zh-CN" sz="2800" b="0" dirty="0">
              <a:latin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改善反转后高位为</a:t>
            </a:r>
            <a:r>
              <a:rPr lang="en-US" altLang="zh-CN" b="1" dirty="0"/>
              <a:t>0</a:t>
            </a:r>
            <a:r>
              <a:rPr lang="zh-CN" altLang="en-US" b="1" dirty="0"/>
              <a:t>的处理</a:t>
            </a:r>
          </a:p>
        </p:txBody>
      </p:sp>
    </p:spTree>
    <p:extLst>
      <p:ext uri="{BB962C8B-B14F-4D97-AF65-F5344CB8AC3E}">
        <p14:creationId xmlns:p14="http://schemas.microsoft.com/office/powerpoint/2010/main" val="147113680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43</a:t>
            </a:fld>
            <a:endParaRPr lang="zh-CN" altLang="en-US" sz="1400" b="1" dirty="0"/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数字化技术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83214F-C0A7-489A-A70D-70995124F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计算机表示一切非数值的信息，包括文字、图形、声音等可见或不可见信息，统一都是用数字化的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200" dirty="0"/>
              <a:t>Digital Technology)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文字可以用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等进行数字编码。图片要切割为块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和颜色数值。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连续的声音信号，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通过对模拟信息取样来获取离散的数字信息。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Ø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44</a:t>
            </a:fld>
            <a:endParaRPr lang="zh-CN" altLang="en-US" sz="1400" b="1" dirty="0"/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数据类型－字符型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F889BD-1B30-4D54-AF7C-561100F4E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计算机中，每样事物都是数字，皆可计算。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字符型常量和变量所允许的运算包括：</a:t>
            </a:r>
          </a:p>
          <a:p>
            <a:pPr marL="0" lvl="0" indent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算术运算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/>
              <a:t>'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en-US" altLang="zh-CN" sz="2400" b="1" dirty="0"/>
              <a:t>'-</a:t>
            </a:r>
            <a:r>
              <a:rPr lang="en-US" altLang="zh-CN" sz="2400" b="1" dirty="0">
                <a:latin typeface="宋体" panose="02010600030101010101" pitchFamily="2" charset="-122"/>
              </a:rPr>
              <a:t>32; //</a:t>
            </a:r>
            <a:r>
              <a:rPr lang="zh-CN" altLang="en-US" sz="2400" b="1" dirty="0">
                <a:latin typeface="宋体" panose="02010600030101010101" pitchFamily="2" charset="-122"/>
              </a:rPr>
              <a:t>表达式结果为</a:t>
            </a:r>
            <a:r>
              <a:rPr lang="en-US" altLang="zh-CN" sz="2400" b="1" dirty="0"/>
              <a:t>'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en-US" altLang="zh-CN" sz="2400" b="1" dirty="0"/>
              <a:t>'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</a:t>
            </a:r>
            <a:r>
              <a:rPr lang="en-US" altLang="zh-CN" sz="2400" b="1" dirty="0" err="1">
                <a:latin typeface="宋体" panose="02010600030101010101" pitchFamily="2" charset="-122"/>
              </a:rPr>
              <a:t>ch</a:t>
            </a:r>
            <a:r>
              <a:rPr lang="en-US" altLang="zh-CN" sz="2400" b="1" dirty="0">
                <a:latin typeface="宋体" panose="02010600030101010101" pitchFamily="2" charset="-122"/>
              </a:rPr>
              <a:t>=</a:t>
            </a:r>
            <a:r>
              <a:rPr lang="en-US" altLang="zh-CN" sz="2400" b="1" dirty="0"/>
              <a:t>'</a:t>
            </a:r>
            <a:r>
              <a:rPr lang="en-US" altLang="zh-CN" sz="2400" b="1" dirty="0" err="1">
                <a:latin typeface="宋体" panose="02010600030101010101" pitchFamily="2" charset="-122"/>
              </a:rPr>
              <a:t>a</a:t>
            </a:r>
            <a:r>
              <a:rPr lang="en-US" altLang="zh-CN" sz="2400" b="1" dirty="0" err="1"/>
              <a:t>'+</a:t>
            </a:r>
            <a:r>
              <a:rPr lang="en-US" altLang="zh-CN" sz="2400" b="1" dirty="0" err="1">
                <a:latin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</a:rPr>
              <a:t>;//</a:t>
            </a:r>
            <a:r>
              <a:rPr lang="zh-CN" altLang="en-US" sz="2400" b="1" dirty="0">
                <a:latin typeface="宋体" panose="02010600030101010101" pitchFamily="2" charset="-122"/>
              </a:rPr>
              <a:t>字母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/>
              <a:t>转换为字母表右边第三个字母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chemeClr val="accent2"/>
                </a:solidFill>
              </a:rPr>
              <a:t> 关系运算</a:t>
            </a:r>
            <a:r>
              <a:rPr lang="zh-CN" altLang="en-US" sz="2400" b="1" dirty="0"/>
              <a:t>（按照</a:t>
            </a:r>
            <a:r>
              <a:rPr lang="en-US" altLang="zh-CN" sz="2400" b="1" dirty="0"/>
              <a:t>ASCII</a:t>
            </a:r>
            <a:r>
              <a:rPr lang="zh-CN" altLang="en-US" sz="2400" b="1" dirty="0"/>
              <a:t>编码值大小比较）：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if (</a:t>
            </a:r>
            <a:r>
              <a:rPr lang="en-US" altLang="zh-CN" sz="2400" b="1" dirty="0" err="1"/>
              <a:t>ch1</a:t>
            </a:r>
            <a:r>
              <a:rPr lang="en-US" altLang="zh-CN" sz="2400" b="1" dirty="0"/>
              <a:t>==</a:t>
            </a:r>
            <a:r>
              <a:rPr lang="en-US" altLang="zh-CN" sz="2400" b="1" dirty="0" err="1"/>
              <a:t>ch2</a:t>
            </a:r>
            <a:r>
              <a:rPr lang="en-US" altLang="zh-CN" sz="2400" b="1" dirty="0"/>
              <a:t>) //</a:t>
            </a:r>
            <a:r>
              <a:rPr lang="zh-CN" altLang="en-US" sz="2400" b="1" dirty="0"/>
              <a:t>字符变量相等	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if (</a:t>
            </a:r>
            <a:r>
              <a:rPr lang="en-US" altLang="zh-CN" sz="2400" b="1" dirty="0" err="1"/>
              <a:t>ch</a:t>
            </a:r>
            <a:r>
              <a:rPr lang="en-US" altLang="zh-CN" sz="2400" b="1" dirty="0"/>
              <a:t>&gt;='A' &amp;&amp; </a:t>
            </a:r>
            <a:r>
              <a:rPr lang="en-US" altLang="zh-CN" sz="2400" b="1" dirty="0" err="1"/>
              <a:t>ch</a:t>
            </a:r>
            <a:r>
              <a:rPr lang="en-US" altLang="zh-CN" sz="2400" b="1" dirty="0"/>
              <a:t>&lt;='Z')//</a:t>
            </a:r>
            <a:r>
              <a:rPr lang="en-US" altLang="zh-CN" sz="2400" b="1" dirty="0" err="1"/>
              <a:t>ch</a:t>
            </a:r>
            <a:r>
              <a:rPr lang="zh-CN" altLang="en-US" sz="2400" b="1" dirty="0"/>
              <a:t>值是大写</a:t>
            </a:r>
            <a:r>
              <a:rPr lang="en-US" altLang="zh-CN" sz="2400" b="1" dirty="0" err="1"/>
              <a:t>A~Z</a:t>
            </a:r>
            <a:r>
              <a:rPr lang="zh-CN" altLang="en-US" sz="2400" b="1" dirty="0"/>
              <a:t>字母	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None/>
            </a:pPr>
            <a:endParaRPr lang="zh-CN" altLang="en-US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5600521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225" y="1166842"/>
            <a:ext cx="8083550" cy="49917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问题：</a:t>
            </a:r>
            <a:r>
              <a:rPr lang="en-US" altLang="zh-CN" sz="2400" dirty="0" err="1">
                <a:latin typeface="宋体" panose="02010600030101010101" pitchFamily="2" charset="-122"/>
                <a:cs typeface="微软雅黑" panose="020B0503020204020204" charset="-122"/>
              </a:rPr>
              <a:t>letter+3</a:t>
            </a:r>
            <a:r>
              <a:rPr lang="en-US" altLang="zh-CN" sz="2400" dirty="0">
                <a:latin typeface="宋体" panose="02010600030101010101" pitchFamily="2" charset="-122"/>
                <a:cs typeface="微软雅黑" panose="020B0503020204020204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cs typeface="微软雅黑" panose="020B0503020204020204" charset="-122"/>
              </a:rPr>
              <a:t>对于字母表末尾的字母会越界！</a:t>
            </a:r>
            <a:endParaRPr lang="en-US" altLang="zh-CN" sz="240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解决思路：模运算适合表达有限范围的整数运算。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分析：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‘</a:t>
            </a:r>
            <a:r>
              <a:rPr lang="en-US" altLang="zh-CN" sz="2400" b="0" dirty="0" err="1">
                <a:latin typeface="宋体" panose="02010600030101010101" pitchFamily="2" charset="-122"/>
                <a:cs typeface="微软雅黑" panose="020B0503020204020204" charset="-122"/>
              </a:rPr>
              <a:t>X’+3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 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如何映射到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‘A’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？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字母表内部序号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0-25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，在模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26</a:t>
            </a: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上加运算可以完成：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( 23 + 3 )%26 = 26 % 26 = 0.</a:t>
            </a: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算法：只要将字母先转成字母表序号，模加后再从字母表序号转回字母就达到目标。</a:t>
            </a:r>
            <a:endParaRPr lang="en-US" altLang="zh-CN" sz="2400" b="0" dirty="0">
              <a:latin typeface="宋体" panose="02010600030101010101" pitchFamily="2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latin typeface="宋体" panose="02010600030101010101" pitchFamily="2" charset="-122"/>
                <a:cs typeface="微软雅黑" panose="020B0503020204020204" charset="-122"/>
              </a:rPr>
              <a:t>表达式实现：大写字母转序号  </a:t>
            </a: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(letter -‘A’);</a:t>
            </a:r>
          </a:p>
          <a:p>
            <a:pPr>
              <a:lnSpc>
                <a:spcPct val="150000"/>
              </a:lnSpc>
            </a:pPr>
            <a:r>
              <a:rPr lang="en-US" altLang="zh-CN" sz="2400" b="0" dirty="0">
                <a:latin typeface="宋体" panose="02010600030101010101" pitchFamily="2" charset="-122"/>
                <a:cs typeface="微软雅黑" panose="020B0503020204020204" charset="-122"/>
              </a:rPr>
              <a:t>	 ((letter-‘A’) + 3) % 26 + ‘A’;</a:t>
            </a:r>
          </a:p>
        </p:txBody>
      </p:sp>
      <p:sp>
        <p:nvSpPr>
          <p:cNvPr id="12294" name="Rectangle 12"/>
          <p:cNvSpPr>
            <a:spLocks noGrp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>
            <a:lvl1pPr marL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0" i="0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b="1" dirty="0"/>
              <a:t>如何对字母作凯撒加密？</a:t>
            </a:r>
          </a:p>
        </p:txBody>
      </p:sp>
    </p:spTree>
    <p:extLst>
      <p:ext uri="{BB962C8B-B14F-4D97-AF65-F5344CB8AC3E}">
        <p14:creationId xmlns:p14="http://schemas.microsoft.com/office/powerpoint/2010/main" val="214748121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大写字母右移三位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#include&lt;stdio.h&gt;</a:t>
            </a:r>
          </a:p>
          <a:p>
            <a:pPr marL="0" indent="0">
              <a:buNone/>
            </a:pPr>
            <a:r>
              <a:rPr lang="en-US" altLang="zh-CN" dirty="0"/>
              <a:t>int main(void)</a:t>
            </a:r>
            <a:r>
              <a:rPr lang="zh-CN" altLang="en-US" dirty="0"/>
              <a:t>{</a:t>
            </a:r>
          </a:p>
          <a:p>
            <a:pPr marL="0" indent="0">
              <a:buNone/>
            </a:pPr>
            <a:r>
              <a:rPr lang="zh-CN" altLang="en-US" dirty="0"/>
              <a:t>	char </a:t>
            </a:r>
            <a:r>
              <a:rPr lang="en-US" altLang="zh-CN" dirty="0" err="1"/>
              <a:t>ch,secret</a:t>
            </a:r>
            <a:r>
              <a:rPr lang="zh-CN" altLang="en-US" dirty="0"/>
              <a:t>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("Enter a capital letter:"</a:t>
            </a:r>
            <a:r>
              <a:rPr lang="zh-CN" altLang="en-US" dirty="0"/>
              <a:t>);</a:t>
            </a:r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 err="1"/>
              <a:t>ch</a:t>
            </a:r>
            <a:r>
              <a:rPr lang="en-US" altLang="zh-CN" dirty="0"/>
              <a:t> = </a:t>
            </a:r>
            <a:r>
              <a:rPr lang="en-US" altLang="zh-CN" dirty="0" err="1"/>
              <a:t>getchar</a:t>
            </a:r>
            <a:r>
              <a:rPr lang="en-US" altLang="zh-CN" dirty="0"/>
              <a:t>()</a:t>
            </a:r>
            <a:r>
              <a:rPr lang="zh-CN" altLang="en-US" dirty="0"/>
              <a:t>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secret=</a:t>
            </a:r>
            <a:r>
              <a:rPr lang="nb-NO" altLang="zh-CN" dirty="0"/>
              <a:t>((ch-</a:t>
            </a:r>
            <a:r>
              <a:rPr lang="en-US" altLang="zh-CN" b="1" dirty="0"/>
              <a:t>'A'</a:t>
            </a:r>
            <a:r>
              <a:rPr lang="nb-NO" altLang="zh-CN" dirty="0"/>
              <a:t>)+3)%26 +</a:t>
            </a:r>
            <a:r>
              <a:rPr lang="en-US" altLang="zh-CN" b="1" dirty="0"/>
              <a:t>'A'</a:t>
            </a:r>
            <a:r>
              <a:rPr lang="nb-NO" altLang="zh-CN" dirty="0"/>
              <a:t>;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	</a:t>
            </a:r>
            <a:r>
              <a:rPr lang="en-US" altLang="zh-CN" dirty="0" err="1"/>
              <a:t>putcha</a:t>
            </a:r>
            <a:r>
              <a:rPr lang="zh-CN" altLang="en-US" dirty="0"/>
              <a:t>r</a:t>
            </a:r>
            <a:r>
              <a:rPr lang="en-US" altLang="zh-CN" dirty="0"/>
              <a:t>(secret</a:t>
            </a:r>
            <a:r>
              <a:rPr lang="zh-CN" altLang="en-US" dirty="0"/>
              <a:t>);</a:t>
            </a:r>
          </a:p>
          <a:p>
            <a:pPr marL="0" indent="0">
              <a:buNone/>
            </a:pPr>
            <a:r>
              <a:rPr lang="zh-CN" altLang="en-US" dirty="0"/>
              <a:t>	return 0;</a:t>
            </a:r>
          </a:p>
          <a:p>
            <a:pPr marL="0" indent="0">
              <a:buNone/>
            </a:pPr>
            <a:r>
              <a:rPr lang="zh-CN" alt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081802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4">
            <a:extLst>
              <a:ext uri="{FF2B5EF4-FFF2-40B4-BE49-F238E27FC236}">
                <a16:creationId xmlns:a16="http://schemas.microsoft.com/office/drawing/2014/main" id="{E39B7316-A921-44E5-8332-BC336BF8C6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29322AFE-0645-4074-8228-4C82C7DA87E3}" type="slidenum">
              <a:rPr lang="zh-CN" altLang="en-US" sz="1400"/>
              <a:pPr algn="r">
                <a:spcBef>
                  <a:spcPct val="50000"/>
                </a:spcBef>
              </a:pPr>
              <a:t>47</a:t>
            </a:fld>
            <a:endParaRPr lang="zh-CN" altLang="en-US" sz="1400"/>
          </a:p>
        </p:txBody>
      </p:sp>
      <p:graphicFrame>
        <p:nvGraphicFramePr>
          <p:cNvPr id="114690" name="Object 4">
            <a:extLst>
              <a:ext uri="{FF2B5EF4-FFF2-40B4-BE49-F238E27FC236}">
                <a16:creationId xmlns:a16="http://schemas.microsoft.com/office/drawing/2014/main" id="{4C3EEBC7-981C-473B-9BB2-3E6A15A3DA66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027" imgH="1054303" progId="">
                  <p:embed/>
                </p:oleObj>
              </mc:Choice>
              <mc:Fallback>
                <p:oleObj r:id="rId2" imgW="1132027" imgH="1054303" progId="">
                  <p:embed/>
                  <p:pic>
                    <p:nvPicPr>
                      <p:cNvPr id="114690" name="Object 4">
                        <a:extLst>
                          <a:ext uri="{FF2B5EF4-FFF2-40B4-BE49-F238E27FC236}">
                            <a16:creationId xmlns:a16="http://schemas.microsoft.com/office/drawing/2014/main" id="{4C3EEBC7-981C-473B-9BB2-3E6A15A3DA6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编程类讲义字体">
      <a:majorFont>
        <a:latin typeface="Consolas"/>
        <a:ea typeface="宋体"/>
        <a:cs typeface=""/>
      </a:majorFont>
      <a:minorFont>
        <a:latin typeface="Consola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78787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005BE5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1801</TotalTime>
  <Words>4228</Words>
  <Application>Microsoft Office PowerPoint</Application>
  <PresentationFormat>全屏显示(4:3)</PresentationFormat>
  <Paragraphs>441</Paragraphs>
  <Slides>47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47</vt:i4>
      </vt:variant>
    </vt:vector>
  </HeadingPairs>
  <TitlesOfParts>
    <vt:vector size="63" baseType="lpstr">
      <vt:lpstr>Monotype Sorts</vt:lpstr>
      <vt:lpstr>等线</vt:lpstr>
      <vt:lpstr>仿宋</vt:lpstr>
      <vt:lpstr>黑体</vt:lpstr>
      <vt:lpstr>华文楷体</vt:lpstr>
      <vt:lpstr>华文中宋</vt:lpstr>
      <vt:lpstr>楷体_GB2312</vt:lpstr>
      <vt:lpstr>宋体</vt:lpstr>
      <vt:lpstr>Microsoft YaHei</vt:lpstr>
      <vt:lpstr>Microsoft YaHei</vt:lpstr>
      <vt:lpstr>Arial</vt:lpstr>
      <vt:lpstr>Cambria Math</vt:lpstr>
      <vt:lpstr>Consolas</vt:lpstr>
      <vt:lpstr>Times New Roman</vt:lpstr>
      <vt:lpstr>Wingdings</vt:lpstr>
      <vt:lpstr>经分互动规范介绍</vt:lpstr>
      <vt:lpstr>PowerPoint 演示文稿</vt:lpstr>
      <vt:lpstr>运算表达式</vt:lpstr>
      <vt:lpstr>表达式简写-自运算赋值</vt:lpstr>
      <vt:lpstr>PowerPoint 演示文稿</vt:lpstr>
      <vt:lpstr>算术运算符</vt:lpstr>
      <vt:lpstr>算术运算的优先级</vt:lpstr>
      <vt:lpstr>运算符的结合性</vt:lpstr>
      <vt:lpstr>PowerPoint 演示文稿</vt:lpstr>
      <vt:lpstr>各类型数据的混合运算</vt:lpstr>
      <vt:lpstr>算术运算练习</vt:lpstr>
      <vt:lpstr>sqrt函数</vt:lpstr>
      <vt:lpstr>强制类型转换</vt:lpstr>
      <vt:lpstr>PowerPoint 演示文稿</vt:lpstr>
      <vt:lpstr>PowerPoint 演示文稿</vt:lpstr>
      <vt:lpstr>PowerPoint 演示文稿</vt:lpstr>
      <vt:lpstr>PowerPoint 演示文稿</vt:lpstr>
      <vt:lpstr>输入函数</vt:lpstr>
      <vt:lpstr>输出函数</vt:lpstr>
      <vt:lpstr>PowerPoint 演示文稿</vt:lpstr>
      <vt:lpstr>C代码框架说明</vt:lpstr>
      <vt:lpstr>编程活动步骤3-编写代码</vt:lpstr>
      <vt:lpstr>PowerPoint 演示文稿</vt:lpstr>
      <vt:lpstr>PowerPoint 演示文稿</vt:lpstr>
      <vt:lpstr>PowerPoint 演示文稿</vt:lpstr>
      <vt:lpstr>防止溢出：把float改为double类型</vt:lpstr>
      <vt:lpstr>PowerPoint 演示文稿</vt:lpstr>
      <vt:lpstr>PowerPoint 演示文稿</vt:lpstr>
      <vt:lpstr>常量设计1：命名常量</vt:lpstr>
      <vt:lpstr>PowerPoint 演示文稿</vt:lpstr>
      <vt:lpstr>编写求圆柱体表面积的代码</vt:lpstr>
      <vt:lpstr>PowerPoint 演示文稿</vt:lpstr>
      <vt:lpstr>PowerPoint 演示文稿</vt:lpstr>
      <vt:lpstr>PowerPoint 演示文稿</vt:lpstr>
      <vt:lpstr>符号常量</vt:lpstr>
      <vt:lpstr>C程序示例：取余运算</vt:lpstr>
      <vt:lpstr>PowerPoint 演示文稿</vt:lpstr>
      <vt:lpstr>模m算术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数字化技术</vt:lpstr>
      <vt:lpstr>数据类型－字符型</vt:lpstr>
      <vt:lpstr>PowerPoint 演示文稿</vt:lpstr>
      <vt:lpstr>大写字母右移三位</vt:lpstr>
      <vt:lpstr>PowerPoint 演示文稿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creator>cyzhou</dc:creator>
  <cp:lastModifiedBy>zhang yanmei</cp:lastModifiedBy>
  <cp:revision>960</cp:revision>
  <dcterms:created xsi:type="dcterms:W3CDTF">2001-07-15T23:49:00Z</dcterms:created>
  <dcterms:modified xsi:type="dcterms:W3CDTF">2023-09-13T08:11:38Z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