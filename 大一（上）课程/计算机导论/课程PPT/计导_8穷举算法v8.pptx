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8" r:id="rId2"/>
    <p:sldMasterId id="2147484541" r:id="rId3"/>
    <p:sldMasterId id="2147484558" r:id="rId4"/>
  </p:sldMasterIdLst>
  <p:notesMasterIdLst>
    <p:notesMasterId r:id="rId48"/>
  </p:notesMasterIdLst>
  <p:handoutMasterIdLst>
    <p:handoutMasterId r:id="rId49"/>
  </p:handoutMasterIdLst>
  <p:sldIdLst>
    <p:sldId id="258" r:id="rId5"/>
    <p:sldId id="396" r:id="rId6"/>
    <p:sldId id="992" r:id="rId7"/>
    <p:sldId id="993" r:id="rId8"/>
    <p:sldId id="994" r:id="rId9"/>
    <p:sldId id="1087" r:id="rId10"/>
    <p:sldId id="1088" r:id="rId11"/>
    <p:sldId id="2042" r:id="rId12"/>
    <p:sldId id="2052" r:id="rId13"/>
    <p:sldId id="2041" r:id="rId14"/>
    <p:sldId id="2053" r:id="rId15"/>
    <p:sldId id="2039" r:id="rId16"/>
    <p:sldId id="1081" r:id="rId17"/>
    <p:sldId id="2040" r:id="rId18"/>
    <p:sldId id="1084" r:id="rId19"/>
    <p:sldId id="1429" r:id="rId20"/>
    <p:sldId id="1432" r:id="rId21"/>
    <p:sldId id="1433" r:id="rId22"/>
    <p:sldId id="995" r:id="rId23"/>
    <p:sldId id="996" r:id="rId24"/>
    <p:sldId id="998" r:id="rId25"/>
    <p:sldId id="999" r:id="rId26"/>
    <p:sldId id="1000" r:id="rId27"/>
    <p:sldId id="1089" r:id="rId28"/>
    <p:sldId id="1090" r:id="rId29"/>
    <p:sldId id="2050" r:id="rId30"/>
    <p:sldId id="2049" r:id="rId31"/>
    <p:sldId id="2047" r:id="rId32"/>
    <p:sldId id="1007" r:id="rId33"/>
    <p:sldId id="1008" r:id="rId34"/>
    <p:sldId id="1009" r:id="rId35"/>
    <p:sldId id="1010" r:id="rId36"/>
    <p:sldId id="1011" r:id="rId37"/>
    <p:sldId id="1981" r:id="rId38"/>
    <p:sldId id="1982" r:id="rId39"/>
    <p:sldId id="1983" r:id="rId40"/>
    <p:sldId id="1984" r:id="rId41"/>
    <p:sldId id="1985" r:id="rId42"/>
    <p:sldId id="1658" r:id="rId43"/>
    <p:sldId id="2043" r:id="rId44"/>
    <p:sldId id="1731" r:id="rId45"/>
    <p:sldId id="2044" r:id="rId46"/>
    <p:sldId id="403" r:id="rId4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6EC6447-71BD-43AC-93E7-145ADF0A2AC3}">
          <p14:sldIdLst>
            <p14:sldId id="258"/>
          </p14:sldIdLst>
        </p14:section>
        <p14:section name="穷举算法思路" id="{9403E7AE-DBD7-4715-BC28-B0446821C02B}">
          <p14:sldIdLst>
            <p14:sldId id="396"/>
            <p14:sldId id="992"/>
          </p14:sldIdLst>
        </p14:section>
        <p14:section name="数的排列" id="{B50E2561-45B5-4793-AEDD-61644A7738C4}">
          <p14:sldIdLst>
            <p14:sldId id="993"/>
            <p14:sldId id="994"/>
            <p14:sldId id="1087"/>
            <p14:sldId id="1088"/>
          </p14:sldIdLst>
        </p14:section>
        <p14:section name="百鸡问题" id="{CF751E85-B329-4D67-8CB8-7393535DC43E}">
          <p14:sldIdLst>
            <p14:sldId id="2042"/>
            <p14:sldId id="2052"/>
            <p14:sldId id="2041"/>
            <p14:sldId id="2053"/>
          </p14:sldIdLst>
        </p14:section>
        <p14:section name="寻找特殊数" id="{44164E93-18FE-41CE-9505-FB5B822E0011}">
          <p14:sldIdLst>
            <p14:sldId id="2039"/>
            <p14:sldId id="1081"/>
            <p14:sldId id="2040"/>
            <p14:sldId id="1084"/>
          </p14:sldIdLst>
        </p14:section>
        <p14:section name="素数判定" id="{D249A672-FDD1-47AF-BA2A-5855BFD6FDA1}">
          <p14:sldIdLst>
            <p14:sldId id="1429"/>
            <p14:sldId id="1432"/>
            <p14:sldId id="1433"/>
          </p14:sldIdLst>
        </p14:section>
        <p14:section name="猜名次" id="{540A590E-EBAB-470A-9F65-EC1BC6BC4B9B}">
          <p14:sldIdLst>
            <p14:sldId id="995"/>
            <p14:sldId id="996"/>
            <p14:sldId id="998"/>
            <p14:sldId id="999"/>
            <p14:sldId id="1000"/>
          </p14:sldIdLst>
        </p14:section>
        <p14:section name="素因子分解" id="{CF8BAA31-99BC-41B9-B76A-FA844165D3FA}">
          <p14:sldIdLst>
            <p14:sldId id="1089"/>
            <p14:sldId id="1090"/>
            <p14:sldId id="2050"/>
            <p14:sldId id="2049"/>
            <p14:sldId id="2047"/>
            <p14:sldId id="1007"/>
          </p14:sldIdLst>
        </p14:section>
        <p14:section name="捕鱼问题" id="{21D53BB0-7E80-447B-A89D-E5DDD9CE9641}">
          <p14:sldIdLst>
            <p14:sldId id="1008"/>
            <p14:sldId id="1009"/>
            <p14:sldId id="1010"/>
            <p14:sldId id="1011"/>
          </p14:sldIdLst>
        </p14:section>
        <p14:section name="抽签结果" id="{62DF715E-3C5A-49F6-9FC2-C8810614ABCC}">
          <p14:sldIdLst>
            <p14:sldId id="1981"/>
            <p14:sldId id="1982"/>
            <p14:sldId id="1983"/>
            <p14:sldId id="1984"/>
            <p14:sldId id="1985"/>
          </p14:sldIdLst>
        </p14:section>
        <p14:section name="方格棋盘" id="{B6C2EF0D-3C50-429E-90F5-46448C0B1FBF}">
          <p14:sldIdLst>
            <p14:sldId id="1658"/>
            <p14:sldId id="2043"/>
            <p14:sldId id="1731"/>
            <p14:sldId id="2044"/>
          </p14:sldIdLst>
        </p14:section>
        <p14:section name="结束" id="{66481DC8-ADE6-4A87-9749-2B87006AC59C}">
          <p14:sldIdLst>
            <p14:sldId id="4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FF3300"/>
    <a:srgbClr val="000066"/>
    <a:srgbClr val="9900FF"/>
    <a:srgbClr val="CC0000"/>
    <a:srgbClr val="FF66CC"/>
    <a:srgbClr val="CCFFFF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41" autoAdjust="0"/>
    <p:restoredTop sz="93826" autoAdjust="0"/>
  </p:normalViewPr>
  <p:slideViewPr>
    <p:cSldViewPr>
      <p:cViewPr varScale="1">
        <p:scale>
          <a:sx n="67" d="100"/>
          <a:sy n="67" d="100"/>
        </p:scale>
        <p:origin x="1312" y="52"/>
      </p:cViewPr>
      <p:guideLst>
        <p:guide orient="horz" pos="213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651346D4-B064-4FF9-AF1E-69E5729422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0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53955" name="Rectangle 3">
            <a:extLst>
              <a:ext uri="{FF2B5EF4-FFF2-40B4-BE49-F238E27FC236}">
                <a16:creationId xmlns:a16="http://schemas.microsoft.com/office/drawing/2014/main" id="{993C725F-6A25-4A8C-A845-83979E47B2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0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3956" name="Rectangle 4">
            <a:extLst>
              <a:ext uri="{FF2B5EF4-FFF2-40B4-BE49-F238E27FC236}">
                <a16:creationId xmlns:a16="http://schemas.microsoft.com/office/drawing/2014/main" id="{62F2A73E-9399-47A5-A1D5-D3831619657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0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3957" name="Rectangle 5">
            <a:extLst>
              <a:ext uri="{FF2B5EF4-FFF2-40B4-BE49-F238E27FC236}">
                <a16:creationId xmlns:a16="http://schemas.microsoft.com/office/drawing/2014/main" id="{19ACD610-790D-4DA7-A18D-58BECEFC7B4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fld id="{DB5D84C2-DC81-4681-A243-C6E9F3BEA7AB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714E4C8-7913-4B9D-80C6-BBE99E75B1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1612AE4C-B0AC-4EED-9C67-67AAA22E66C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201D2A83-65E4-492E-90DD-63AE16C97D8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0949" name="Rectangle 5">
            <a:extLst>
              <a:ext uri="{FF2B5EF4-FFF2-40B4-BE49-F238E27FC236}">
                <a16:creationId xmlns:a16="http://schemas.microsoft.com/office/drawing/2014/main" id="{AE82B0F9-4899-437F-BD77-047BC203F372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9CD5B207-43F7-4F5D-B0DA-13A0B352662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459902E3-A119-47B2-84CC-61C8380065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fld id="{10B648A2-55CE-4A0F-BD79-FB1EC403B039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04611EA0-771A-4186-A047-11FEB7687F2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B220269-5E28-4951-BE95-5C1702FCC51B}" type="slidenum">
              <a:rPr lang="zh-CN" altLang="en-US" sz="1200"/>
              <a:pPr algn="r" eaLnBrk="1" hangingPunct="1"/>
              <a:t>17</a:t>
            </a:fld>
            <a:endParaRPr lang="zh-CN" altLang="en-US" sz="12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5377039-0DC6-4897-BE16-142F790428F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A8260297-2569-4D89-BD13-7F1C6A7F25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 b="1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39A42A2-CA1E-4E79-93B7-67D18F716C4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576448-3AE5-4CE6-9BBD-1049BB07191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B8881C-A7E6-408A-9945-BD53C47CD4E9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931353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970EC34-BF54-404F-8817-6C2C9FB9EB6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939885-8015-48AE-9F9F-5A28ECDC567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A645E5-5024-489F-979F-E878CBE46236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3347341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D832CA8-B852-43A7-AEDB-94315E3ECE4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4B990E1-8EDD-40CF-9616-4A8114754EB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F6020B-8D14-4DB8-874A-485BFB0EE8EC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1497221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3657D9-57A6-498D-821E-B819C03E684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F94613-8C2D-4435-9574-7A7FB4921C8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F1A87D-6A41-4B98-9994-D86D3028DEF6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3846766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5B9B2D9-63DD-4CE9-8EA1-99AF95AD803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53E5BE5-235B-4803-9372-A76255F8BA5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33355-E8CF-48AF-A8B9-096B32C156EA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5962891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734DBFC-506B-4BBF-B70D-53122AAD21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B8819E-4DC8-483E-AEDF-32EA4F6CA29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9F8966-E923-4E4D-8756-AE77B0364AC4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1753331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ACEDD3CE-A9FE-46F3-9573-3CB48DBA65D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C9632DE-70F1-4195-8AA9-83E21A4EE2B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D07748-86CB-45DB-8919-A4BC305A78C6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6146085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0C9724-114E-4885-AD45-32403B70707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1D61B7-556F-4A55-B1DE-AEF61ADE072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D7656-F2F5-40B8-B8CD-38F672A8CC63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4119561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E5629B-F927-4D49-A0B5-0EA8CD619E3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252EBA-DBDA-46CF-82D7-B267551F374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7FCBF2-910E-4B79-8FD1-ED6E70606E6E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4773166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D265F11-ADA1-49B8-9439-34C26FF36AD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B38BF31-DB41-4AE0-B0AF-19150A2909A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868D4A-B04C-4267-B375-09186927816E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438600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2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10288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84C3C3D-DC5F-4480-B037-2081E3D017E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7DDE931-C10C-4070-864F-1AAF35F002C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00E2D-9270-42FA-B38C-41596F8596E4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0731967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04813"/>
            <a:ext cx="8350250" cy="5526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9DFFB49-C4C6-44FE-8E6C-548C80AE709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B65B460-902E-4930-826E-25774942710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76B84D-185B-4F9E-92E0-8716172E6D79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5334851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4723FA-43FC-4CE0-80FA-1CA7879A5D8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BD0752-A796-4B92-A99A-62723058AEC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E5A5D-8083-43C9-81D6-01CA358A14FE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8205691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CC8786-33A4-4FDB-9AD8-570C59C2E9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5E4C9A-DAB2-4CB0-814D-67C6CB94042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A9819-3416-40A8-A3C7-1144594E5F8C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20294466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0BFCE90-68FD-43CB-9388-4D6713A256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C7B7D27-C268-4A47-8925-048273CCEE3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CCBDA-A06C-4A8C-A933-8511D0EBA99B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2052846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09AF7-7BD1-4979-B6A4-9A6C85D1154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4F045B-0285-461F-A293-02796B9B89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D78498-509B-4661-8C51-8940EC790B08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90418053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C7ACF5D-26DF-4316-9327-8C3EC04ACB2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95AFE4F-A198-435A-9FFA-E751F6FD875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C81271-A64B-49B2-A71E-5DC131DAA632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2969205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F966C6B-D2EA-4A2B-B719-170FB1DBAF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02BB836-2EB9-436B-9299-7EED14A832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80975B-0B16-4942-BE9B-27B1EFC5AC73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3660803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8A0BB83-24EB-42B9-B8FE-2E2F0C62B47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02EE2E2-02D3-4C67-9EF9-C88BA968760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F9618F-5592-43CF-8333-6CAD8E40EF80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6264915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5BC193E-7CF5-44FE-B8FE-A9EA79FF6FA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4BB7EB-529A-4D34-B01D-1F64611D04A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A1519-5673-465F-BF9A-80EA7EA9D6AD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3848210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CF72F9A-4194-47DD-BAB6-C26544B2B2F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DF597A-0E57-4CE3-AF44-21DFEEBA34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356F3-7FFA-4531-9853-CCD27E809DD2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0963231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F60213D-10F6-4C2D-9915-6846DAE93D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4CE8C8D-11FD-416C-BE74-0AE63387DF2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BFC6A2-39C4-4AF1-8941-0B35A01A03F0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28958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77CC283-0A1C-48AC-AAD3-3094A6C0BC8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6951540-1A23-4774-86B4-5EC9561B52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390B8F-F17E-471A-842C-200DF3C01034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3068354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F4B4FE-023A-4CFC-97E5-BF50B0C1AFD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976F6E-C3F1-4AF1-9DF9-53D51719148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613E9-517D-4335-9600-202B6650D7F6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27674703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BEB6F4-E56D-4203-8609-1B9EDC39A9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9DFB5E-2191-4E04-8D17-F9D67F56EEE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38867-46BF-4C49-BC0C-CB548C7B662E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48735310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A479DA7-F5D7-4EBC-87AE-144DFA08EF0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317366E-84F2-4391-93AA-C6E09561344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0C0D54-7134-48D2-BEFF-A42676739612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33097940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2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10288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1D39E27-5D32-4CB3-AFD3-85E3AF42D6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116C23E-406B-46F5-9C9F-36D06EA71C2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96645-9C67-4046-81EC-66BEF4147253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92660828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04813"/>
            <a:ext cx="8350250" cy="5526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6983B19-389C-4296-9570-38F43F4E0E4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9B88BAC-B126-4B19-9075-0115AF56B74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184AB-B137-4872-957C-E3297FAD6694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548881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6217CBB-B6E5-4BBD-8107-A9A021DE0FC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9193A5-4004-44B3-9DFC-FE00BF0E841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396D3A-22A2-454F-9F66-917F5D6C504B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51972209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54209E-4EB4-4E3B-AB2E-A77F50340E3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8C9D22-5C6E-4825-8E14-D95346EC4F8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218CA-A147-4D92-9B20-81A7B54A1D2F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52997194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35B4C65-E27C-4863-A9C7-B4843B68CE8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60CE175-8E24-4438-B706-D1E5FD24647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625D44-1AEF-4CEA-8B2B-B19C43C0B093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24003467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9222B5-6C52-4F62-8E31-F4E06524AFA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6AD3A2-8DE5-4041-93F3-9D0E9297077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513C7-99C6-40A6-9AB1-6078001208B0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54851829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E97CA2E-AF46-466C-8A72-AFA2953393B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D8417E0-0EDA-4505-8449-6B25107E377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AA83C8-5AF9-4546-AF6D-A39040230842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50865308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FB8F7E1-638C-4442-82AF-0B7BC306526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4113A81-7945-4F6F-813A-81B635FB9C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A4709-103E-4710-BF96-17F227EC5F9B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36292343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B320103-5018-4CB3-B270-A6F33856B9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A961A9C-87EB-42D2-AD14-9BFF15884DB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3CC0C2-68FD-4FC8-B120-29458A668436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44712353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83FEBC-2D40-4407-A6B7-E20C8BDEAAB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DE091E-A60E-4D2C-8BD0-96FA2CFEB65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1E4569-5243-439E-A7C6-9EC73128FB78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11564813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0F00952-6B60-4720-98D3-CF06931D842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F52247A-68D6-42E7-BD89-C6E87A59DD3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F5358-B998-43A1-A635-DA64364AB4F4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3639241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3D48085-B8C6-4C5F-801F-58E44A91FDF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C5BDA86-93E5-4105-94D5-84B36C4CCDD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94170E-74C0-4FEF-A0DC-0EF03B4EDF4D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37466634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A65A02F-EB40-49A3-BBA0-C5FB60D8312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40A244F-DA7F-406C-A556-AFACDD7141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078EF-36FA-41FB-BAC1-A656CC4B34A6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97969959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3C66FE-E9F1-42A8-923D-C978100DBBD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BA4FE1-1AAA-401C-9273-73F63AD4113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C46513-A1AC-46BC-AF68-B4E05AABAC88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90582175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806274-E921-4D8F-B882-4D1C3E8CF09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37D1C4-A636-4CA0-915E-04B730FE9AB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D2C94-BC12-4DEB-92A0-DF4766E2C894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01130366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2E8C2F5-2EED-47F9-9377-0511F1D94B0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B78DE4C-A455-4913-B1AE-6601229A16F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611C2C-6ECE-4D45-9025-4F9CAB2C85C5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56401247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2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10288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BBDEB4-9395-4EFD-A2F9-4659388623C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EBC8AFD-E5B1-4FDC-AFC8-64BD8A7D03E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8D50F7-802D-4200-AA26-BA06F9431EDA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23455505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04813"/>
            <a:ext cx="8350250" cy="5526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10541C5-3278-4E09-BE2D-A3E80271C2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BDEB9BF-6F3E-4E19-B6E3-EA9A6F27693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ACD91-4902-4773-9519-AD4BB5F97D4A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83262433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FB8BDC-941D-4D39-B740-ED1F910CA62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2AF731-0A21-4DE2-BA6D-187071ED619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A577E5-76E5-4A54-BBF5-6E1D82CBF4BF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82323769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87D925-CD41-41F4-BFB2-2FF950FA3BC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5E41F8-C8FF-4931-B452-AEFCB4F1AE9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52A816-498B-49C2-AAF8-108FF3CC4868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9480576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F111502-D0C0-4627-B72B-7F1E01F7BAC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E4CB867-7EF4-404B-98D1-F714FC85463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4B382F-662B-45E8-A4C9-278FFD8B67EE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9532231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F27497-4E8B-4DF3-BF6C-78473685C71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F50FDF-A1C8-4898-893D-CB804A73560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D2E2B-1BCE-4EFC-A4B0-10B8682E0AED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70272148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A2F67B4-CCAF-4BB7-8769-0DB94A7CE10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81E030-0519-46E9-8ADC-B1C2C208B0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3811E-1CAD-4132-A357-3D898987C358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6528137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18DC2C3-5F43-4722-8702-B884B383839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0AFE898-ED38-4DCB-8BE3-467E6D63535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20711-6B6D-4BEB-8894-5B88A56F451A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79216687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5ED74F6-6C2B-4A60-BDE0-F170ED722B8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938B3DC-6AB8-49ED-8474-A3B535782E9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BCB33-7263-4462-8033-692422A0DBA5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72991482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A4DD2C-7E62-4260-94C3-250D444488E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EC9850-5058-43D3-84FE-6B823034EDB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5D1D7-FD04-4706-A80A-AE8898C2AE3B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71117759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F6A29C3-AA6C-405A-AAAD-9969035167D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EDFB518-D2EE-46EA-BE4C-BB1586C1520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E802C7-AAB4-4726-8CCF-C6569C764C08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07305524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1E379FA-E176-4B91-A1F0-CE27FE2B4F0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9781E8F-A8F4-4A3E-AEE7-2600E882718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0D0595-412C-4E01-AD2E-6F4D9ED3591A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45725395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B19BAE4-C99B-4B86-9F8F-879B4FC1673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E8FF0ED-5AE5-4335-9B83-75761462595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4D0F1D-73CE-45D2-AA31-F1CCD869ABFE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41386689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000DF5-CF19-4DAC-B8DA-948F6A0DA5B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98E701-BFE3-4210-97B5-B4225DF37B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3A25EC-5516-49CD-82D1-41899C748BA5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60508285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EDC3FC-CEF8-446D-B915-F082E820418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C72BC9-8440-4CE2-B7D5-1B179018234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535C34-EA91-47C7-A5FE-8EF995F1A41B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72267401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6763A35-680F-421D-88FE-326AADC3968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FB65A1F-F292-450B-8711-81170B8EDA6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A7AA2D-B814-4A1B-A2FD-F7117351ABA9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08611450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2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10288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F024CD7-6B5F-4C37-B92C-CD3AA630D3F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964570E-60C7-412C-AA9C-D6613631DAC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0629B4-6855-43FF-80BF-A98E08735135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65550045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04813"/>
            <a:ext cx="8350250" cy="5526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1C638BE-182E-49C9-BF93-1673AB58848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62D0E08-1784-465C-BFB2-62142B6B3DB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8B4BF3-EA2F-47AA-A9E8-E55838D88018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74972880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2F418B-AFA4-4396-B5AD-22FB3D1D0AA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3922A9-E78F-4B28-B2A2-583EA68EDC1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AD67BE-14D2-4BB9-AAFC-92063D7F6BAB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07022483"/>
      </p:ext>
    </p:extLst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6FEE2B-995E-47B1-9B47-971318A4D0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2AAB51-B214-4D6D-B142-C3052F482CD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A3EB34-4DC6-4B2B-9484-6C1EEC30855C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46448554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559B60E-F40C-4B97-8856-1EA60AF26DB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40B71CE-84E0-40A8-84BF-DBD1C9807A3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9AFD52-3A0C-453A-A62F-1DC50D5231BF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24777604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04EE8-8860-4365-BEA6-78B99B180A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9E9E88-49FC-428C-9CBD-E0D0405DF32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9BE34E-7623-4C48-A17C-EAA2565AC759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7249474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7EB6382-740C-4681-99AC-C31188E6A2B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8663C9-41ED-482A-8147-12A7A8F771D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57029" name="Rectangle 5">
            <a:extLst>
              <a:ext uri="{FF2B5EF4-FFF2-40B4-BE49-F238E27FC236}">
                <a16:creationId xmlns:a16="http://schemas.microsoft.com/office/drawing/2014/main" id="{48D5CE8D-CEAD-4DB0-8CAC-A4E200B1AD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buFontTx/>
              <a:buNone/>
              <a:defRPr kumimoji="1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7030" name="Rectangle 6">
            <a:extLst>
              <a:ext uri="{FF2B5EF4-FFF2-40B4-BE49-F238E27FC236}">
                <a16:creationId xmlns:a16="http://schemas.microsoft.com/office/drawing/2014/main" id="{1B6F1DE0-A6C4-497D-B609-900E65EC76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buFont typeface="Arial" panose="020B0604020202020204" pitchFamily="34" charset="0"/>
              <a:buNone/>
              <a:defRPr sz="1400" b="1" noProof="1"/>
            </a:lvl1pPr>
          </a:lstStyle>
          <a:p>
            <a:pPr>
              <a:defRPr/>
            </a:pPr>
            <a:fld id="{CB821E89-10E9-41B8-9FCF-405E3A86F758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  <p:grpSp>
        <p:nvGrpSpPr>
          <p:cNvPr id="1030" name="Group 7">
            <a:extLst>
              <a:ext uri="{FF2B5EF4-FFF2-40B4-BE49-F238E27FC236}">
                <a16:creationId xmlns:a16="http://schemas.microsoft.com/office/drawing/2014/main" id="{F998596A-E39C-43E2-A4B8-F453B4ED9516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4" name="Rectangle 8">
              <a:extLst>
                <a:ext uri="{FF2B5EF4-FFF2-40B4-BE49-F238E27FC236}">
                  <a16:creationId xmlns:a16="http://schemas.microsoft.com/office/drawing/2014/main" id="{8FF0925B-0AF4-4E9B-A215-CBE9B6933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400">
                  <a:sym typeface="+mn-ea"/>
                </a:rPr>
                <a:t>                  </a:t>
              </a:r>
            </a:p>
          </p:txBody>
        </p:sp>
        <p:sp>
          <p:nvSpPr>
            <p:cNvPr id="1032" name="Line 9">
              <a:extLst>
                <a:ext uri="{FF2B5EF4-FFF2-40B4-BE49-F238E27FC236}">
                  <a16:creationId xmlns:a16="http://schemas.microsoft.com/office/drawing/2014/main" id="{D9FC05B5-E862-4AEF-9C00-BFBB087C3F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4" name="Line 10">
              <a:extLst>
                <a:ext uri="{FF2B5EF4-FFF2-40B4-BE49-F238E27FC236}">
                  <a16:creationId xmlns:a16="http://schemas.microsoft.com/office/drawing/2014/main" id="{0BB2CECF-DE8B-4319-ACEC-0F7B86DCB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" name="Line 11">
              <a:extLst>
                <a:ext uri="{FF2B5EF4-FFF2-40B4-BE49-F238E27FC236}">
                  <a16:creationId xmlns:a16="http://schemas.microsoft.com/office/drawing/2014/main" id="{FE5B23A7-FD99-4555-894A-2AF5F5E17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5" name="Line 12">
              <a:extLst>
                <a:ext uri="{FF2B5EF4-FFF2-40B4-BE49-F238E27FC236}">
                  <a16:creationId xmlns:a16="http://schemas.microsoft.com/office/drawing/2014/main" id="{9DD0ED28-A8A2-4940-8DE1-8EF4390DC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6" name="Line 13">
              <a:extLst>
                <a:ext uri="{FF2B5EF4-FFF2-40B4-BE49-F238E27FC236}">
                  <a16:creationId xmlns:a16="http://schemas.microsoft.com/office/drawing/2014/main" id="{AFD4B935-24E6-4CFF-BF54-036FDB01B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7" name="Line 14">
              <a:extLst>
                <a:ext uri="{FF2B5EF4-FFF2-40B4-BE49-F238E27FC236}">
                  <a16:creationId xmlns:a16="http://schemas.microsoft.com/office/drawing/2014/main" id="{19B3E477-8F1F-4871-BCEB-18193CE80A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8" name="Line 15">
              <a:extLst>
                <a:ext uri="{FF2B5EF4-FFF2-40B4-BE49-F238E27FC236}">
                  <a16:creationId xmlns:a16="http://schemas.microsoft.com/office/drawing/2014/main" id="{94009072-BDAF-43BA-BE80-B069D055E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sp>
        <p:nvSpPr>
          <p:cNvPr id="1039" name="Line 16">
            <a:extLst>
              <a:ext uri="{FF2B5EF4-FFF2-40B4-BE49-F238E27FC236}">
                <a16:creationId xmlns:a16="http://schemas.microsoft.com/office/drawing/2014/main" id="{BA31F490-FC9C-4927-9FD1-BB3F43CFD5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3" name="Text Box 17">
            <a:extLst>
              <a:ext uri="{FF2B5EF4-FFF2-40B4-BE49-F238E27FC236}">
                <a16:creationId xmlns:a16="http://schemas.microsoft.com/office/drawing/2014/main" id="{0B615613-C170-4AD8-9AA4-359853584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</p:txBody>
      </p:sp>
      <p:pic>
        <p:nvPicPr>
          <p:cNvPr id="1033" name="Picture 18" descr="bupt">
            <a:extLst>
              <a:ext uri="{FF2B5EF4-FFF2-40B4-BE49-F238E27FC236}">
                <a16:creationId xmlns:a16="http://schemas.microsoft.com/office/drawing/2014/main" id="{557C8C01-5D85-4F59-B174-D26607013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36" r:id="rId1"/>
    <p:sldLayoutId id="2147484737" r:id="rId2"/>
    <p:sldLayoutId id="2147484738" r:id="rId3"/>
    <p:sldLayoutId id="2147484739" r:id="rId4"/>
    <p:sldLayoutId id="2147484740" r:id="rId5"/>
    <p:sldLayoutId id="2147484741" r:id="rId6"/>
    <p:sldLayoutId id="2147484742" r:id="rId7"/>
    <p:sldLayoutId id="2147484743" r:id="rId8"/>
    <p:sldLayoutId id="2147484744" r:id="rId9"/>
    <p:sldLayoutId id="2147484745" r:id="rId10"/>
    <p:sldLayoutId id="2147484746" r:id="rId11"/>
    <p:sldLayoutId id="2147484747" r:id="rId12"/>
    <p:sldLayoutId id="2147484748" r:id="rId13"/>
    <p:sldLayoutId id="2147484749" r:id="rId14"/>
    <p:sldLayoutId id="2147484750" r:id="rId15"/>
    <p:sldLayoutId id="2147484751" r:id="rId16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0BEDD99-8BF8-440A-A755-5C2463623CF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FC1517C-7A45-4AB7-AF77-217A9F793B6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57029" name="Rectangle 5">
            <a:extLst>
              <a:ext uri="{FF2B5EF4-FFF2-40B4-BE49-F238E27FC236}">
                <a16:creationId xmlns:a16="http://schemas.microsoft.com/office/drawing/2014/main" id="{E1C7595C-B755-462D-954E-7952E21F98F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buFontTx/>
              <a:buNone/>
              <a:defRPr kumimoji="1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7030" name="Rectangle 6">
            <a:extLst>
              <a:ext uri="{FF2B5EF4-FFF2-40B4-BE49-F238E27FC236}">
                <a16:creationId xmlns:a16="http://schemas.microsoft.com/office/drawing/2014/main" id="{3969F41E-A3E9-47E1-B5AD-5C88FA3B4B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buFont typeface="Arial" panose="020B0604020202020204" pitchFamily="34" charset="0"/>
              <a:buNone/>
              <a:defRPr sz="1400" b="1" noProof="1"/>
            </a:lvl1pPr>
          </a:lstStyle>
          <a:p>
            <a:pPr>
              <a:defRPr/>
            </a:pPr>
            <a:fld id="{87CAB982-995A-4C25-9095-D34C54702208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  <p:grpSp>
        <p:nvGrpSpPr>
          <p:cNvPr id="2054" name="Group 7">
            <a:extLst>
              <a:ext uri="{FF2B5EF4-FFF2-40B4-BE49-F238E27FC236}">
                <a16:creationId xmlns:a16="http://schemas.microsoft.com/office/drawing/2014/main" id="{43A1A802-9D5B-42A5-9235-75D50988D463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4" name="Rectangle 8">
              <a:extLst>
                <a:ext uri="{FF2B5EF4-FFF2-40B4-BE49-F238E27FC236}">
                  <a16:creationId xmlns:a16="http://schemas.microsoft.com/office/drawing/2014/main" id="{D2EE21A4-F7B6-4C17-95C3-393229C0B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400">
                  <a:sym typeface="+mn-ea"/>
                </a:rPr>
                <a:t>                  </a:t>
              </a:r>
            </a:p>
          </p:txBody>
        </p:sp>
        <p:sp>
          <p:nvSpPr>
            <p:cNvPr id="1032" name="Line 9">
              <a:extLst>
                <a:ext uri="{FF2B5EF4-FFF2-40B4-BE49-F238E27FC236}">
                  <a16:creationId xmlns:a16="http://schemas.microsoft.com/office/drawing/2014/main" id="{CC9FFA2B-582B-4CFE-8A5D-780D9D397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4" name="Line 10">
              <a:extLst>
                <a:ext uri="{FF2B5EF4-FFF2-40B4-BE49-F238E27FC236}">
                  <a16:creationId xmlns:a16="http://schemas.microsoft.com/office/drawing/2014/main" id="{B64FDFA3-B47C-4718-BE51-8C25A2949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" name="Line 11">
              <a:extLst>
                <a:ext uri="{FF2B5EF4-FFF2-40B4-BE49-F238E27FC236}">
                  <a16:creationId xmlns:a16="http://schemas.microsoft.com/office/drawing/2014/main" id="{7A03223A-B039-47DA-8852-3E347BAFD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5" name="Line 12">
              <a:extLst>
                <a:ext uri="{FF2B5EF4-FFF2-40B4-BE49-F238E27FC236}">
                  <a16:creationId xmlns:a16="http://schemas.microsoft.com/office/drawing/2014/main" id="{5EED4E2B-72EA-4425-A2BE-6DDA73E7E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6" name="Line 13">
              <a:extLst>
                <a:ext uri="{FF2B5EF4-FFF2-40B4-BE49-F238E27FC236}">
                  <a16:creationId xmlns:a16="http://schemas.microsoft.com/office/drawing/2014/main" id="{F0884A8D-1D4D-440A-B459-67773FB81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7" name="Line 14">
              <a:extLst>
                <a:ext uri="{FF2B5EF4-FFF2-40B4-BE49-F238E27FC236}">
                  <a16:creationId xmlns:a16="http://schemas.microsoft.com/office/drawing/2014/main" id="{F7A7BD33-DCFF-4B49-A1F2-9A81C33B2F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8" name="Line 15">
              <a:extLst>
                <a:ext uri="{FF2B5EF4-FFF2-40B4-BE49-F238E27FC236}">
                  <a16:creationId xmlns:a16="http://schemas.microsoft.com/office/drawing/2014/main" id="{3E5581BB-93C4-4B18-A013-8B35FE3F0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sp>
        <p:nvSpPr>
          <p:cNvPr id="1039" name="Line 16">
            <a:extLst>
              <a:ext uri="{FF2B5EF4-FFF2-40B4-BE49-F238E27FC236}">
                <a16:creationId xmlns:a16="http://schemas.microsoft.com/office/drawing/2014/main" id="{128C7DA2-362E-47E5-8F7E-91EEA95F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3" name="Text Box 17">
            <a:extLst>
              <a:ext uri="{FF2B5EF4-FFF2-40B4-BE49-F238E27FC236}">
                <a16:creationId xmlns:a16="http://schemas.microsoft.com/office/drawing/2014/main" id="{7F9E206B-CF1A-451A-89F2-468AB6168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</p:txBody>
      </p:sp>
      <p:pic>
        <p:nvPicPr>
          <p:cNvPr id="2057" name="Picture 18" descr="bupt">
            <a:extLst>
              <a:ext uri="{FF2B5EF4-FFF2-40B4-BE49-F238E27FC236}">
                <a16:creationId xmlns:a16="http://schemas.microsoft.com/office/drawing/2014/main" id="{15BC5627-A0E6-470A-AF49-8491F0960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52" r:id="rId1"/>
    <p:sldLayoutId id="2147484753" r:id="rId2"/>
    <p:sldLayoutId id="2147484754" r:id="rId3"/>
    <p:sldLayoutId id="2147484755" r:id="rId4"/>
    <p:sldLayoutId id="2147484756" r:id="rId5"/>
    <p:sldLayoutId id="2147484757" r:id="rId6"/>
    <p:sldLayoutId id="2147484758" r:id="rId7"/>
    <p:sldLayoutId id="2147484759" r:id="rId8"/>
    <p:sldLayoutId id="2147484760" r:id="rId9"/>
    <p:sldLayoutId id="2147484761" r:id="rId10"/>
    <p:sldLayoutId id="2147484762" r:id="rId11"/>
    <p:sldLayoutId id="2147484763" r:id="rId12"/>
    <p:sldLayoutId id="2147484764" r:id="rId13"/>
    <p:sldLayoutId id="2147484765" r:id="rId14"/>
    <p:sldLayoutId id="2147484766" r:id="rId15"/>
    <p:sldLayoutId id="2147484767" r:id="rId16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3E37E56-1F4B-4B57-8836-0F26059C976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9F31918-6E30-4CAE-957E-B032401BB4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57029" name="Rectangle 5">
            <a:extLst>
              <a:ext uri="{FF2B5EF4-FFF2-40B4-BE49-F238E27FC236}">
                <a16:creationId xmlns:a16="http://schemas.microsoft.com/office/drawing/2014/main" id="{D6C0BA6B-5012-489F-920F-1085FD4F77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buFontTx/>
              <a:buNone/>
              <a:defRPr kumimoji="1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7030" name="Rectangle 6">
            <a:extLst>
              <a:ext uri="{FF2B5EF4-FFF2-40B4-BE49-F238E27FC236}">
                <a16:creationId xmlns:a16="http://schemas.microsoft.com/office/drawing/2014/main" id="{D0A2D79C-E2AB-40BD-820D-E14586C7E58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buFont typeface="Arial" panose="020B0604020202020204" pitchFamily="34" charset="0"/>
              <a:buNone/>
              <a:defRPr sz="1400" b="1" noProof="1"/>
            </a:lvl1pPr>
          </a:lstStyle>
          <a:p>
            <a:pPr>
              <a:defRPr/>
            </a:pPr>
            <a:fld id="{D5E2F02A-3218-4652-A241-7E7FBAE96CAA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  <p:grpSp>
        <p:nvGrpSpPr>
          <p:cNvPr id="10246" name="Group 7">
            <a:extLst>
              <a:ext uri="{FF2B5EF4-FFF2-40B4-BE49-F238E27FC236}">
                <a16:creationId xmlns:a16="http://schemas.microsoft.com/office/drawing/2014/main" id="{37C0ED69-263C-4CF1-BEFC-3ED20D83ADC9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4" name="Rectangle 8">
              <a:extLst>
                <a:ext uri="{FF2B5EF4-FFF2-40B4-BE49-F238E27FC236}">
                  <a16:creationId xmlns:a16="http://schemas.microsoft.com/office/drawing/2014/main" id="{7A559373-0593-4236-8D06-3228D08A8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400">
                  <a:sym typeface="+mn-ea"/>
                </a:rPr>
                <a:t>                  </a:t>
              </a:r>
            </a:p>
          </p:txBody>
        </p:sp>
        <p:sp>
          <p:nvSpPr>
            <p:cNvPr id="1032" name="Line 9">
              <a:extLst>
                <a:ext uri="{FF2B5EF4-FFF2-40B4-BE49-F238E27FC236}">
                  <a16:creationId xmlns:a16="http://schemas.microsoft.com/office/drawing/2014/main" id="{BBA36B0B-7180-47F0-90E8-E5F626A3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4" name="Line 10">
              <a:extLst>
                <a:ext uri="{FF2B5EF4-FFF2-40B4-BE49-F238E27FC236}">
                  <a16:creationId xmlns:a16="http://schemas.microsoft.com/office/drawing/2014/main" id="{70447598-ABFD-428E-A8B4-9CA4CF7E9D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" name="Line 11">
              <a:extLst>
                <a:ext uri="{FF2B5EF4-FFF2-40B4-BE49-F238E27FC236}">
                  <a16:creationId xmlns:a16="http://schemas.microsoft.com/office/drawing/2014/main" id="{22520897-5D0F-4D13-A592-BEE2275EA4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5" name="Line 12">
              <a:extLst>
                <a:ext uri="{FF2B5EF4-FFF2-40B4-BE49-F238E27FC236}">
                  <a16:creationId xmlns:a16="http://schemas.microsoft.com/office/drawing/2014/main" id="{7D881D66-69E3-4E88-88F0-DA1741F5F2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6" name="Line 13">
              <a:extLst>
                <a:ext uri="{FF2B5EF4-FFF2-40B4-BE49-F238E27FC236}">
                  <a16:creationId xmlns:a16="http://schemas.microsoft.com/office/drawing/2014/main" id="{3F1BC445-6047-4E40-A71B-6F847575BC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7" name="Line 14">
              <a:extLst>
                <a:ext uri="{FF2B5EF4-FFF2-40B4-BE49-F238E27FC236}">
                  <a16:creationId xmlns:a16="http://schemas.microsoft.com/office/drawing/2014/main" id="{B112C78A-BB77-41A4-9CC4-760C24F5D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8" name="Line 15">
              <a:extLst>
                <a:ext uri="{FF2B5EF4-FFF2-40B4-BE49-F238E27FC236}">
                  <a16:creationId xmlns:a16="http://schemas.microsoft.com/office/drawing/2014/main" id="{6D30DDEA-F900-41AB-BAF9-C2FDF0031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sp>
        <p:nvSpPr>
          <p:cNvPr id="1039" name="Line 16">
            <a:extLst>
              <a:ext uri="{FF2B5EF4-FFF2-40B4-BE49-F238E27FC236}">
                <a16:creationId xmlns:a16="http://schemas.microsoft.com/office/drawing/2014/main" id="{F0065909-E1EE-4EC2-B842-5DCE4F67E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3" name="Text Box 17">
            <a:extLst>
              <a:ext uri="{FF2B5EF4-FFF2-40B4-BE49-F238E27FC236}">
                <a16:creationId xmlns:a16="http://schemas.microsoft.com/office/drawing/2014/main" id="{FB12E3C8-A013-43C4-BEA6-909EBC72A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</p:txBody>
      </p:sp>
      <p:pic>
        <p:nvPicPr>
          <p:cNvPr id="10249" name="Picture 18" descr="bupt">
            <a:extLst>
              <a:ext uri="{FF2B5EF4-FFF2-40B4-BE49-F238E27FC236}">
                <a16:creationId xmlns:a16="http://schemas.microsoft.com/office/drawing/2014/main" id="{182FB872-51F6-4BC9-9284-F9C796B94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80" r:id="rId1"/>
    <p:sldLayoutId id="2147484881" r:id="rId2"/>
    <p:sldLayoutId id="2147484882" r:id="rId3"/>
    <p:sldLayoutId id="2147484883" r:id="rId4"/>
    <p:sldLayoutId id="2147484884" r:id="rId5"/>
    <p:sldLayoutId id="2147484885" r:id="rId6"/>
    <p:sldLayoutId id="2147484886" r:id="rId7"/>
    <p:sldLayoutId id="2147484887" r:id="rId8"/>
    <p:sldLayoutId id="2147484888" r:id="rId9"/>
    <p:sldLayoutId id="2147484889" r:id="rId10"/>
    <p:sldLayoutId id="2147484890" r:id="rId11"/>
    <p:sldLayoutId id="2147484891" r:id="rId12"/>
    <p:sldLayoutId id="2147484892" r:id="rId13"/>
    <p:sldLayoutId id="2147484893" r:id="rId14"/>
    <p:sldLayoutId id="2147484894" r:id="rId15"/>
    <p:sldLayoutId id="2147484895" r:id="rId16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AA18C9B-3638-4375-BBC2-C78E65BAE30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E79CDBC-B868-43F7-812C-A87C6505736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57029" name="Rectangle 5">
            <a:extLst>
              <a:ext uri="{FF2B5EF4-FFF2-40B4-BE49-F238E27FC236}">
                <a16:creationId xmlns:a16="http://schemas.microsoft.com/office/drawing/2014/main" id="{2D3A9A32-3E8A-4C3C-90F0-0E7BB20402D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buFontTx/>
              <a:buNone/>
              <a:defRPr kumimoji="1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7030" name="Rectangle 6">
            <a:extLst>
              <a:ext uri="{FF2B5EF4-FFF2-40B4-BE49-F238E27FC236}">
                <a16:creationId xmlns:a16="http://schemas.microsoft.com/office/drawing/2014/main" id="{869A7FBF-0D1F-4E3A-A7E6-CE406F3855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buFont typeface="Arial" panose="020B0604020202020204" pitchFamily="34" charset="0"/>
              <a:buNone/>
              <a:defRPr sz="1400" b="1" noProof="1"/>
            </a:lvl1pPr>
          </a:lstStyle>
          <a:p>
            <a:pPr>
              <a:defRPr/>
            </a:pPr>
            <a:fld id="{C821DFDD-DA92-4139-85FE-9103D4E14D3D}" type="slidenum">
              <a:rPr altLang="en-US"/>
              <a:pPr>
                <a:defRPr/>
              </a:pPr>
              <a:t>‹#›</a:t>
            </a:fld>
            <a:endParaRPr lang="zh-CN" altLang="zh-CN"/>
          </a:p>
        </p:txBody>
      </p:sp>
      <p:grpSp>
        <p:nvGrpSpPr>
          <p:cNvPr id="11270" name="Group 7">
            <a:extLst>
              <a:ext uri="{FF2B5EF4-FFF2-40B4-BE49-F238E27FC236}">
                <a16:creationId xmlns:a16="http://schemas.microsoft.com/office/drawing/2014/main" id="{231C1A84-89C3-4890-BBAE-89E7EE25C8D4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4" name="Rectangle 8">
              <a:extLst>
                <a:ext uri="{FF2B5EF4-FFF2-40B4-BE49-F238E27FC236}">
                  <a16:creationId xmlns:a16="http://schemas.microsoft.com/office/drawing/2014/main" id="{02919097-19A3-490F-AD37-488AD5B3D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400">
                  <a:sym typeface="+mn-ea"/>
                </a:rPr>
                <a:t>                  </a:t>
              </a:r>
            </a:p>
          </p:txBody>
        </p:sp>
        <p:sp>
          <p:nvSpPr>
            <p:cNvPr id="1032" name="Line 9">
              <a:extLst>
                <a:ext uri="{FF2B5EF4-FFF2-40B4-BE49-F238E27FC236}">
                  <a16:creationId xmlns:a16="http://schemas.microsoft.com/office/drawing/2014/main" id="{E0F34071-2B83-41B2-8C4B-993B1A497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4" name="Line 10">
              <a:extLst>
                <a:ext uri="{FF2B5EF4-FFF2-40B4-BE49-F238E27FC236}">
                  <a16:creationId xmlns:a16="http://schemas.microsoft.com/office/drawing/2014/main" id="{4BB0701B-D31D-4DF9-8209-F7FA5D329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" name="Line 11">
              <a:extLst>
                <a:ext uri="{FF2B5EF4-FFF2-40B4-BE49-F238E27FC236}">
                  <a16:creationId xmlns:a16="http://schemas.microsoft.com/office/drawing/2014/main" id="{BF626ECC-71D9-4C33-9149-3B01F2AB2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5" name="Line 12">
              <a:extLst>
                <a:ext uri="{FF2B5EF4-FFF2-40B4-BE49-F238E27FC236}">
                  <a16:creationId xmlns:a16="http://schemas.microsoft.com/office/drawing/2014/main" id="{B82F1BCB-9141-41A3-B9DC-12815C284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6" name="Line 13">
              <a:extLst>
                <a:ext uri="{FF2B5EF4-FFF2-40B4-BE49-F238E27FC236}">
                  <a16:creationId xmlns:a16="http://schemas.microsoft.com/office/drawing/2014/main" id="{4AA98FF2-3D3C-4C6F-9DC7-86D7DE130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7" name="Line 14">
              <a:extLst>
                <a:ext uri="{FF2B5EF4-FFF2-40B4-BE49-F238E27FC236}">
                  <a16:creationId xmlns:a16="http://schemas.microsoft.com/office/drawing/2014/main" id="{C133FA75-2ACB-426B-95D8-40A70D930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8" name="Line 15">
              <a:extLst>
                <a:ext uri="{FF2B5EF4-FFF2-40B4-BE49-F238E27FC236}">
                  <a16:creationId xmlns:a16="http://schemas.microsoft.com/office/drawing/2014/main" id="{741D0A3B-E37E-48FE-91CF-CD894A4E4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sp>
        <p:nvSpPr>
          <p:cNvPr id="1039" name="Line 16">
            <a:extLst>
              <a:ext uri="{FF2B5EF4-FFF2-40B4-BE49-F238E27FC236}">
                <a16:creationId xmlns:a16="http://schemas.microsoft.com/office/drawing/2014/main" id="{E8DE22F7-54E4-4B50-843B-BE67C51FCB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3" name="Text Box 17">
            <a:extLst>
              <a:ext uri="{FF2B5EF4-FFF2-40B4-BE49-F238E27FC236}">
                <a16:creationId xmlns:a16="http://schemas.microsoft.com/office/drawing/2014/main" id="{C64851E2-BC13-40F2-88BF-C8E84EAEC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  <a:sym typeface="+mn-ea"/>
            </a:endParaRPr>
          </a:p>
        </p:txBody>
      </p:sp>
      <p:pic>
        <p:nvPicPr>
          <p:cNvPr id="11273" name="Picture 18" descr="bupt">
            <a:extLst>
              <a:ext uri="{FF2B5EF4-FFF2-40B4-BE49-F238E27FC236}">
                <a16:creationId xmlns:a16="http://schemas.microsoft.com/office/drawing/2014/main" id="{F3E5B543-8E69-452C-99AF-23577BA9A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96" r:id="rId1"/>
    <p:sldLayoutId id="2147484897" r:id="rId2"/>
    <p:sldLayoutId id="2147484898" r:id="rId3"/>
    <p:sldLayoutId id="2147484899" r:id="rId4"/>
    <p:sldLayoutId id="2147484900" r:id="rId5"/>
    <p:sldLayoutId id="2147484901" r:id="rId6"/>
    <p:sldLayoutId id="2147484902" r:id="rId7"/>
    <p:sldLayoutId id="2147484903" r:id="rId8"/>
    <p:sldLayoutId id="2147484904" r:id="rId9"/>
    <p:sldLayoutId id="2147484905" r:id="rId10"/>
    <p:sldLayoutId id="2147484906" r:id="rId11"/>
    <p:sldLayoutId id="2147484907" r:id="rId12"/>
    <p:sldLayoutId id="2147484908" r:id="rId13"/>
    <p:sldLayoutId id="2147484909" r:id="rId14"/>
    <p:sldLayoutId id="2147484910" r:id="rId15"/>
    <p:sldLayoutId id="2147484911" r:id="rId16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4">
            <a:extLst>
              <a:ext uri="{FF2B5EF4-FFF2-40B4-BE49-F238E27FC236}">
                <a16:creationId xmlns:a16="http://schemas.microsoft.com/office/drawing/2014/main" id="{1934F02A-EB41-4AD3-A022-21EFEC26197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152999FE-B52A-4746-B772-FA8B9CD97977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1</a:t>
            </a:fld>
            <a:endParaRPr lang="zh-CN" altLang="en-US" sz="1400"/>
          </a:p>
        </p:txBody>
      </p:sp>
      <p:grpSp>
        <p:nvGrpSpPr>
          <p:cNvPr id="15363" name="Group 5">
            <a:extLst>
              <a:ext uri="{FF2B5EF4-FFF2-40B4-BE49-F238E27FC236}">
                <a16:creationId xmlns:a16="http://schemas.microsoft.com/office/drawing/2014/main" id="{856F709C-AED4-4F94-AFF0-6840116F5295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1989138"/>
            <a:ext cx="6869112" cy="1871662"/>
            <a:chOff x="1488" y="1152"/>
            <a:chExt cx="2736" cy="1239"/>
          </a:xfrm>
        </p:grpSpPr>
        <p:sp>
          <p:nvSpPr>
            <p:cNvPr id="15365" name="Rectangle 6">
              <a:extLst>
                <a:ext uri="{FF2B5EF4-FFF2-40B4-BE49-F238E27FC236}">
                  <a16:creationId xmlns:a16="http://schemas.microsoft.com/office/drawing/2014/main" id="{E5DFA988-B42C-473E-8125-51FEC1090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152"/>
              <a:ext cx="2736" cy="1239"/>
            </a:xfrm>
            <a:prstGeom prst="rect">
              <a:avLst/>
            </a:prstGeom>
            <a:gradFill rotWithShape="0">
              <a:gsLst>
                <a:gs pos="0">
                  <a:srgbClr val="3E040E"/>
                </a:gs>
                <a:gs pos="50000">
                  <a:srgbClr val="CF0E30"/>
                </a:gs>
                <a:gs pos="100000">
                  <a:srgbClr val="3E040E"/>
                </a:gs>
              </a:gsLst>
              <a:lin ang="2700000" scaled="1"/>
            </a:gradFill>
            <a:ln w="28575">
              <a:solidFill>
                <a:srgbClr val="F6829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66" name="Text Box 7">
              <a:extLst>
                <a:ext uri="{FF2B5EF4-FFF2-40B4-BE49-F238E27FC236}">
                  <a16:creationId xmlns:a16="http://schemas.microsoft.com/office/drawing/2014/main" id="{BEF535FE-E66C-4F4F-93A5-76A9365CD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200"/>
              <a:ext cx="2612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算法与算法方法</a:t>
              </a:r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</a:p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</a:rPr>
                <a:t>穷举算法</a:t>
              </a:r>
            </a:p>
          </p:txBody>
        </p:sp>
      </p:grpSp>
      <p:pic>
        <p:nvPicPr>
          <p:cNvPr id="15364" name="Picture 8" descr="地球">
            <a:extLst>
              <a:ext uri="{FF2B5EF4-FFF2-40B4-BE49-F238E27FC236}">
                <a16:creationId xmlns:a16="http://schemas.microsoft.com/office/drawing/2014/main" id="{D0079726-F660-4F47-A354-4CC16EAAE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4508500"/>
            <a:ext cx="15843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蛮力算法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19100" y="1750718"/>
            <a:ext cx="8305800" cy="4389120"/>
          </a:xfrm>
        </p:spPr>
        <p:txBody>
          <a:bodyPr/>
          <a:lstStyle/>
          <a:p>
            <a:r>
              <a:rPr lang="zh-CN" altLang="en-US" dirty="0"/>
              <a:t>蛮力算法用最直接的方式求解问题</a:t>
            </a:r>
            <a:r>
              <a:rPr lang="en-US" dirty="0"/>
              <a:t>, </a:t>
            </a:r>
            <a:r>
              <a:rPr lang="zh-CN" altLang="en-US" dirty="0"/>
              <a:t>一点不考虑如何使算法更有效</a:t>
            </a:r>
            <a:r>
              <a:rPr lang="en-US" dirty="0"/>
              <a:t>.</a:t>
            </a:r>
          </a:p>
          <a:p>
            <a:r>
              <a:rPr lang="zh-CN" altLang="en-US" dirty="0"/>
              <a:t>蛮力算法的例子有穷举算法、线性搜索</a:t>
            </a:r>
            <a:r>
              <a:rPr lang="en-US" dirty="0"/>
              <a:t>, </a:t>
            </a:r>
            <a:r>
              <a:rPr lang="zh-CN" altLang="en-US" dirty="0"/>
              <a:t>冒泡排序和插入排序等。</a:t>
            </a:r>
            <a:endParaRPr lang="en-US" dirty="0"/>
          </a:p>
        </p:txBody>
      </p:sp>
      <p:pic>
        <p:nvPicPr>
          <p:cNvPr id="6" name="Picture 2" descr="C:\Documents and Settings\Richard Scherl\Local Settings\Temporary Internet Files\Content.IE5\00IWHKE8\MC900140395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9700" y="188640"/>
            <a:ext cx="1866595" cy="15620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906714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253A8A57-6274-4653-967A-B83A07EBE5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E16D5D59-A65A-4D64-A767-D8C581B8AE28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3</a:t>
            </a:fld>
            <a:endParaRPr lang="zh-CN" altLang="en-US" sz="1400"/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75D1D660-3742-416F-B3E9-DFEB73DB1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 dirty="0"/>
              <a:t>穷举算法思路</a:t>
            </a:r>
            <a:r>
              <a:rPr lang="en-US" altLang="zh-CN" sz="3600" b="1" dirty="0"/>
              <a:t>:</a:t>
            </a:r>
            <a:r>
              <a:rPr lang="zh-CN" altLang="en-US" sz="3600" b="1" dirty="0"/>
              <a:t>暴力搜索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FC14C13-996A-4E42-BD8C-366DCA5FAC1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19213"/>
            <a:ext cx="7918450" cy="4611687"/>
          </a:xfrm>
        </p:spPr>
        <p:txBody>
          <a:bodyPr/>
          <a:lstStyle/>
          <a:p>
            <a:pPr eaLnBrk="1" hangingPunct="1"/>
            <a:r>
              <a:rPr lang="zh-CN" altLang="en-US" b="1" dirty="0"/>
              <a:t>穷举法解题</a:t>
            </a:r>
          </a:p>
          <a:p>
            <a:pPr eaLnBrk="1" hangingPunct="1">
              <a:buFontTx/>
              <a:buNone/>
            </a:pPr>
            <a:r>
              <a:rPr lang="zh-CN" altLang="en-US" b="1" dirty="0"/>
              <a:t>    解题思路：对可能是解的众多</a:t>
            </a:r>
            <a:r>
              <a:rPr lang="zh-CN" altLang="en-US" b="1" i="1" u="sng" dirty="0"/>
              <a:t>候选解 </a:t>
            </a:r>
            <a:r>
              <a:rPr lang="zh-CN" altLang="en-US" b="1" dirty="0"/>
              <a:t>按某种顺序进行</a:t>
            </a:r>
            <a:r>
              <a:rPr lang="zh-CN" altLang="en-US" b="1" u="sng" dirty="0"/>
              <a:t>逐一列举</a:t>
            </a:r>
            <a:r>
              <a:rPr lang="zh-CN" altLang="en-US" b="1" dirty="0"/>
              <a:t>和逻辑检验，从中找出那些符合要求的候选解作为问题的解。</a:t>
            </a:r>
            <a:endParaRPr lang="zh-CN" altLang="en-US" sz="2400" b="1" dirty="0"/>
          </a:p>
          <a:p>
            <a:pPr eaLnBrk="1" hangingPunct="1"/>
            <a:r>
              <a:rPr lang="zh-CN" altLang="en-US" b="1" dirty="0"/>
              <a:t>如：密码箱忘记密码怎么办？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穷举算法的设计核心：</a:t>
            </a:r>
            <a:endParaRPr lang="en-US" altLang="zh-CN" b="1" dirty="0"/>
          </a:p>
          <a:p>
            <a:pPr lvl="1" eaLnBrk="1" hangingPunct="1"/>
            <a:r>
              <a:rPr lang="zh-CN" altLang="en-US" b="1" u="sng" dirty="0"/>
              <a:t>定义所有候选解的集合，即“解空间”</a:t>
            </a:r>
            <a:r>
              <a:rPr lang="zh-CN" altLang="en-US" b="1" dirty="0"/>
              <a:t>；</a:t>
            </a:r>
            <a:endParaRPr lang="en-US" altLang="zh-CN" b="1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6">
            <a:extLst>
              <a:ext uri="{FF2B5EF4-FFF2-40B4-BE49-F238E27FC236}">
                <a16:creationId xmlns:a16="http://schemas.microsoft.com/office/drawing/2014/main" id="{1346AD9B-282E-4B48-B18F-98BF8DF49EE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E4442F4C-C451-4236-860D-2EF8E26F796A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4</a:t>
            </a:fld>
            <a:endParaRPr lang="zh-CN" altLang="en-US" sz="1400"/>
          </a:p>
        </p:txBody>
      </p:sp>
      <p:sp>
        <p:nvSpPr>
          <p:cNvPr id="36867" name="Rectangle 50">
            <a:extLst>
              <a:ext uri="{FF2B5EF4-FFF2-40B4-BE49-F238E27FC236}">
                <a16:creationId xmlns:a16="http://schemas.microsoft.com/office/drawing/2014/main" id="{A2F45A61-EA1F-44E2-BC8A-01D52374A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 dirty="0"/>
              <a:t>解空间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：生成排列问题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13C6D514-D00E-4325-919E-482F9768A02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319213"/>
            <a:ext cx="8497887" cy="46116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/>
              <a:t>    例</a:t>
            </a:r>
            <a:r>
              <a:rPr lang="en-US" altLang="zh-CN" b="1" dirty="0"/>
              <a:t>1</a:t>
            </a:r>
            <a:r>
              <a:rPr lang="zh-CN" altLang="en-US" b="1" dirty="0"/>
              <a:t>：编写程序，求出所有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7</a:t>
            </a:r>
            <a:r>
              <a:rPr lang="zh-CN" altLang="en-US" b="1" dirty="0"/>
              <a:t>组成的、且各位数字互不相同的三位数。</a:t>
            </a:r>
          </a:p>
          <a:p>
            <a:pPr eaLnBrk="1" hangingPunct="1">
              <a:buFontTx/>
              <a:buNone/>
            </a:pPr>
            <a:r>
              <a:rPr lang="en-US" altLang="zh-CN" b="1" dirty="0"/>
              <a:t>   </a:t>
            </a:r>
            <a:endParaRPr lang="zh-CN" altLang="en-US" b="1" dirty="0"/>
          </a:p>
        </p:txBody>
      </p:sp>
      <p:sp>
        <p:nvSpPr>
          <p:cNvPr id="397317" name="Rectangle 5">
            <a:extLst>
              <a:ext uri="{FF2B5EF4-FFF2-40B4-BE49-F238E27FC236}">
                <a16:creationId xmlns:a16="http://schemas.microsoft.com/office/drawing/2014/main" id="{D4596F80-4B83-4C4D-9EA9-C164946E3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2420888"/>
            <a:ext cx="6768752" cy="3117899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b="1" dirty="0"/>
              <a:t>⑴定义所有的排列集合：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	{</a:t>
            </a:r>
            <a:r>
              <a:rPr lang="en-US" altLang="zh-CN" sz="2400" b="1" i="1" dirty="0" err="1"/>
              <a:t>a</a:t>
            </a:r>
            <a:r>
              <a:rPr lang="en-US" altLang="zh-CN" sz="2400" b="1" i="1" baseline="-25000" dirty="0" err="1"/>
              <a:t>1</a:t>
            </a:r>
            <a:r>
              <a:rPr lang="en-US" altLang="zh-CN" sz="2400" b="1" i="1" dirty="0" err="1"/>
              <a:t>a</a:t>
            </a:r>
            <a:r>
              <a:rPr lang="en-US" altLang="zh-CN" sz="2400" b="1" i="1" baseline="-25000" dirty="0" err="1"/>
              <a:t>2</a:t>
            </a:r>
            <a:r>
              <a:rPr lang="en-US" altLang="zh-CN" sz="2400" b="1" i="1" dirty="0" err="1"/>
              <a:t>a</a:t>
            </a:r>
            <a:r>
              <a:rPr lang="en-US" altLang="zh-CN" sz="2400" b="1" i="1" baseline="-25000" dirty="0" err="1"/>
              <a:t>3</a:t>
            </a:r>
            <a:r>
              <a:rPr lang="en-US" altLang="zh-CN" sz="2400" b="1" dirty="0"/>
              <a:t> | </a:t>
            </a:r>
            <a:r>
              <a:rPr lang="en-US" altLang="zh-CN" sz="2400" b="1" i="1" dirty="0" err="1"/>
              <a:t>a</a:t>
            </a:r>
            <a:r>
              <a:rPr lang="en-US" altLang="zh-CN" sz="2400" b="1" i="1" baseline="-25000" dirty="0" err="1"/>
              <a:t>1</a:t>
            </a:r>
            <a:r>
              <a:rPr lang="en-US" altLang="zh-CN" sz="2400" b="1" i="1" dirty="0" err="1"/>
              <a:t>,a</a:t>
            </a:r>
            <a:r>
              <a:rPr lang="en-US" altLang="zh-CN" sz="2400" b="1" i="1" baseline="-25000" dirty="0" err="1"/>
              <a:t>2</a:t>
            </a:r>
            <a:r>
              <a:rPr lang="en-US" altLang="zh-CN" sz="2400" b="1" i="1" dirty="0" err="1"/>
              <a:t>,a</a:t>
            </a:r>
            <a:r>
              <a:rPr lang="en-US" altLang="zh-CN" sz="2400" b="1" i="1" baseline="-25000" dirty="0" err="1"/>
              <a:t>3</a:t>
            </a:r>
            <a:r>
              <a:rPr lang="en-US" altLang="zh-CN" sz="2400" b="1" dirty="0">
                <a:sym typeface="Symbol" panose="05050102010706020507" pitchFamily="18" charset="2"/>
              </a:rPr>
              <a:t>{5,6,7}}</a:t>
            </a:r>
            <a:endParaRPr lang="zh-CN" altLang="en-US" sz="2400" b="1" dirty="0"/>
          </a:p>
          <a:p>
            <a:pPr lvl="1" eaLnBrk="1" hangingPunct="1">
              <a:buFontTx/>
              <a:buNone/>
            </a:pPr>
            <a:r>
              <a:rPr lang="zh-CN" altLang="en-US" sz="2400" b="1" dirty="0"/>
              <a:t>百位可以是</a:t>
            </a:r>
            <a:r>
              <a:rPr lang="en-US" altLang="zh-CN" sz="2400" b="1" dirty="0"/>
              <a:t>5,6,7</a:t>
            </a:r>
          </a:p>
          <a:p>
            <a:pPr lvl="1" eaLnBrk="1" hangingPunct="1">
              <a:buFontTx/>
              <a:buNone/>
            </a:pPr>
            <a:r>
              <a:rPr lang="zh-CN" altLang="en-US" sz="2400" b="1" dirty="0"/>
              <a:t>十位可以是</a:t>
            </a:r>
            <a:r>
              <a:rPr lang="en-US" altLang="zh-CN" sz="2400" b="1" dirty="0"/>
              <a:t>5,6,7</a:t>
            </a:r>
          </a:p>
          <a:p>
            <a:pPr lvl="1" eaLnBrk="1" hangingPunct="1">
              <a:buFontTx/>
              <a:buNone/>
            </a:pPr>
            <a:r>
              <a:rPr lang="zh-CN" altLang="en-US" sz="2400" b="1" dirty="0"/>
              <a:t>个位可以是</a:t>
            </a:r>
            <a:r>
              <a:rPr lang="en-US" altLang="zh-CN" sz="2400" b="1" dirty="0"/>
              <a:t>5,6,7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⑵检查是否满足约束条件</a:t>
            </a:r>
          </a:p>
          <a:p>
            <a:pPr lvl="1" eaLnBrk="1" hangingPunct="1">
              <a:buFontTx/>
              <a:buNone/>
            </a:pPr>
            <a:r>
              <a:rPr lang="zh-CN" altLang="en-US" sz="2400" b="1" dirty="0"/>
              <a:t>百、十、个位互不相同</a:t>
            </a:r>
          </a:p>
        </p:txBody>
      </p:sp>
      <p:sp>
        <p:nvSpPr>
          <p:cNvPr id="36870" name="Text Box 54">
            <a:extLst>
              <a:ext uri="{FF2B5EF4-FFF2-40B4-BE49-F238E27FC236}">
                <a16:creationId xmlns:a16="http://schemas.microsoft.com/office/drawing/2014/main" id="{B0F2EFAC-701C-490B-98C9-8DB6E58E4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005263"/>
            <a:ext cx="3671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4EE45646-FB28-44FE-B483-D24E026F217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7822E530-82B2-422E-934B-C10C2978EFE5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5</a:t>
            </a:fld>
            <a:endParaRPr lang="zh-CN" altLang="en-US" sz="1400"/>
          </a:p>
        </p:txBody>
      </p:sp>
      <p:sp>
        <p:nvSpPr>
          <p:cNvPr id="37891" name="Rectangle 5">
            <a:extLst>
              <a:ext uri="{FF2B5EF4-FFF2-40B4-BE49-F238E27FC236}">
                <a16:creationId xmlns:a16="http://schemas.microsoft.com/office/drawing/2014/main" id="{518C32BF-1207-4AC4-AF72-44D92B93F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穷举法解题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A680165C-D9BC-461D-A9FA-718C882E7C0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19213"/>
            <a:ext cx="8153400" cy="46116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/>
              <a:t>排列问题求解算法：</a:t>
            </a:r>
            <a:endParaRPr lang="en-US" altLang="zh-CN" b="1" dirty="0"/>
          </a:p>
          <a:p>
            <a:pPr eaLnBrk="1" hangingPunct="1">
              <a:buFontTx/>
              <a:buNone/>
            </a:pPr>
            <a:r>
              <a:rPr lang="en-US" altLang="zh-CN" b="1" dirty="0"/>
              <a:t>Begin</a:t>
            </a:r>
          </a:p>
          <a:p>
            <a:pPr marL="457200" lvl="1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定义位置变量</a:t>
            </a:r>
            <a:r>
              <a:rPr lang="en-US" altLang="zh-CN" sz="2400" dirty="0" err="1">
                <a:latin typeface="Consolas" panose="020B0609020204030204" pitchFamily="49" charset="0"/>
              </a:rPr>
              <a:t>high,mid,low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marL="457200" lvl="1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穷举百位的所有方案</a:t>
            </a:r>
            <a:r>
              <a:rPr lang="en-US" altLang="zh-CN" sz="2400" dirty="0">
                <a:latin typeface="Consolas" panose="020B0609020204030204" pitchFamily="49" charset="0"/>
              </a:rPr>
              <a:t> high:=5 to 7</a:t>
            </a:r>
          </a:p>
          <a:p>
            <a:pPr marL="914400" lvl="2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穷举十位的所有方案</a:t>
            </a:r>
            <a:r>
              <a:rPr lang="en-US" altLang="zh-CN" sz="2400" dirty="0">
                <a:latin typeface="Consolas" panose="020B0609020204030204" pitchFamily="49" charset="0"/>
              </a:rPr>
              <a:t> mid:=5 to 7</a:t>
            </a:r>
          </a:p>
          <a:p>
            <a:pPr marL="914400" lvl="2" indent="0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zh-CN" altLang="en-US" sz="2400" dirty="0">
                <a:latin typeface="Consolas" panose="020B0609020204030204" pitchFamily="49" charset="0"/>
              </a:rPr>
              <a:t>穷举个位的所有方案</a:t>
            </a:r>
            <a:r>
              <a:rPr lang="en-US" altLang="zh-CN" sz="2400" dirty="0">
                <a:latin typeface="Consolas" panose="020B0609020204030204" pitchFamily="49" charset="0"/>
              </a:rPr>
              <a:t> low:=5 to 7</a:t>
            </a:r>
          </a:p>
          <a:p>
            <a:pPr marL="914400" lvl="2" indent="0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 if (high</a:t>
            </a:r>
            <a:r>
              <a:rPr lang="zh-CN" altLang="en-US" sz="2400" dirty="0">
                <a:latin typeface="Consolas" panose="020B0609020204030204" pitchFamily="49" charset="0"/>
              </a:rPr>
              <a:t>、</a:t>
            </a:r>
            <a:r>
              <a:rPr lang="en-US" altLang="zh-CN" sz="2400" dirty="0">
                <a:latin typeface="Consolas" panose="020B0609020204030204" pitchFamily="49" charset="0"/>
              </a:rPr>
              <a:t>mid</a:t>
            </a:r>
            <a:r>
              <a:rPr lang="zh-CN" altLang="en-US" sz="2400" dirty="0">
                <a:latin typeface="Consolas" panose="020B0609020204030204" pitchFamily="49" charset="0"/>
              </a:rPr>
              <a:t>和</a:t>
            </a:r>
            <a:r>
              <a:rPr lang="en-US" altLang="zh-CN" sz="2400" dirty="0">
                <a:latin typeface="Consolas" panose="020B0609020204030204" pitchFamily="49" charset="0"/>
              </a:rPr>
              <a:t>low</a:t>
            </a:r>
            <a:r>
              <a:rPr lang="zh-CN" altLang="en-US" sz="2400" dirty="0">
                <a:latin typeface="Consolas" panose="020B0609020204030204" pitchFamily="49" charset="0"/>
              </a:rPr>
              <a:t>各不相等</a:t>
            </a:r>
            <a:r>
              <a:rPr lang="en-US" altLang="zh-CN" sz="2400" dirty="0">
                <a:latin typeface="Consolas" panose="020B0609020204030204" pitchFamily="49" charset="0"/>
              </a:rPr>
              <a:t>)</a:t>
            </a:r>
          </a:p>
          <a:p>
            <a:pPr marL="1371600" lvl="3" indent="0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</a:t>
            </a:r>
            <a:r>
              <a:rPr lang="zh-CN" altLang="en-US" sz="2400" dirty="0">
                <a:latin typeface="Consolas" panose="020B0609020204030204" pitchFamily="49" charset="0"/>
              </a:rPr>
              <a:t>打印</a:t>
            </a:r>
            <a:r>
              <a:rPr lang="en-US" altLang="zh-CN" sz="2400" dirty="0">
                <a:latin typeface="Consolas" panose="020B0609020204030204" pitchFamily="49" charset="0"/>
              </a:rPr>
              <a:t>(high*</a:t>
            </a:r>
            <a:r>
              <a:rPr lang="en-US" altLang="zh-CN" sz="2400" dirty="0" err="1">
                <a:latin typeface="Consolas" panose="020B0609020204030204" pitchFamily="49" charset="0"/>
              </a:rPr>
              <a:t>100+mid</a:t>
            </a:r>
            <a:r>
              <a:rPr lang="en-US" altLang="zh-CN" sz="2400" dirty="0">
                <a:latin typeface="Consolas" panose="020B0609020204030204" pitchFamily="49" charset="0"/>
              </a:rPr>
              <a:t>*</a:t>
            </a:r>
            <a:r>
              <a:rPr lang="en-US" altLang="zh-CN" sz="2400" dirty="0" err="1">
                <a:latin typeface="Consolas" panose="020B0609020204030204" pitchFamily="49" charset="0"/>
              </a:rPr>
              <a:t>10+low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marL="1371600" lvl="3" indent="0" eaLnBrk="1" hangingPunct="1">
              <a:buNone/>
            </a:pPr>
            <a:endParaRPr lang="en-US" altLang="zh-CN" b="1" dirty="0"/>
          </a:p>
          <a:p>
            <a:pPr eaLnBrk="1" hangingPunct="1">
              <a:buFontTx/>
              <a:buNone/>
            </a:pPr>
            <a:r>
              <a:rPr lang="en-US" altLang="zh-CN" b="1" dirty="0"/>
              <a:t>End</a:t>
            </a:r>
          </a:p>
          <a:p>
            <a:pPr eaLnBrk="1" hangingPunct="1">
              <a:buFontTx/>
              <a:buNone/>
            </a:pPr>
            <a:endParaRPr lang="en-US" altLang="zh-CN" b="1" dirty="0"/>
          </a:p>
          <a:p>
            <a:pPr eaLnBrk="1" hangingPunct="1">
              <a:buFontTx/>
              <a:buNone/>
            </a:pPr>
            <a:endParaRPr lang="en-US" altLang="zh-CN" b="1" dirty="0"/>
          </a:p>
          <a:p>
            <a:pPr eaLnBrk="1" hangingPunct="1">
              <a:buFontTx/>
              <a:buNone/>
            </a:pPr>
            <a:endParaRPr lang="en-US" altLang="zh-CN" b="1" dirty="0"/>
          </a:p>
          <a:p>
            <a:pPr eaLnBrk="1" hangingPunct="1">
              <a:buFontTx/>
              <a:buNone/>
            </a:pPr>
            <a:endParaRPr lang="en-US" altLang="zh-CN" b="1" dirty="0"/>
          </a:p>
          <a:p>
            <a:pPr eaLnBrk="1" hangingPunct="1">
              <a:buFontTx/>
              <a:buNone/>
            </a:pPr>
            <a:r>
              <a:rPr lang="en-US" altLang="zh-CN" b="1" dirty="0"/>
              <a:t>End</a:t>
            </a:r>
          </a:p>
          <a:p>
            <a:pPr eaLnBrk="1" hangingPunct="1">
              <a:buFontTx/>
              <a:buNone/>
            </a:pPr>
            <a:endParaRPr lang="zh-CN" altLang="en-US" b="1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>
            <a:extLst>
              <a:ext uri="{FF2B5EF4-FFF2-40B4-BE49-F238E27FC236}">
                <a16:creationId xmlns:a16="http://schemas.microsoft.com/office/drawing/2014/main" id="{542E8167-CDD2-4B4D-B7C0-D1C707727F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120650"/>
            <a:ext cx="6659562" cy="1165225"/>
          </a:xfrm>
        </p:spPr>
        <p:txBody>
          <a:bodyPr/>
          <a:lstStyle/>
          <a:p>
            <a:r>
              <a:rPr lang="en-US" altLang="zh-CN" b="1" dirty="0">
                <a:sym typeface="宋体" panose="02010600030101010101" pitchFamily="2" charset="-122"/>
              </a:rPr>
              <a:t>5</a:t>
            </a:r>
            <a:r>
              <a:rPr lang="zh-CN" altLang="en-US" b="1" dirty="0">
                <a:sym typeface="宋体" panose="02010600030101010101" pitchFamily="2" charset="-122"/>
              </a:rPr>
              <a:t>、</a:t>
            </a:r>
            <a:r>
              <a:rPr lang="en-US" altLang="zh-CN" b="1" dirty="0">
                <a:sym typeface="宋体" panose="02010600030101010101" pitchFamily="2" charset="-122"/>
              </a:rPr>
              <a:t>6</a:t>
            </a:r>
            <a:r>
              <a:rPr lang="zh-CN" altLang="en-US" b="1" dirty="0">
                <a:sym typeface="宋体" panose="02010600030101010101" pitchFamily="2" charset="-122"/>
              </a:rPr>
              <a:t>、</a:t>
            </a:r>
            <a:r>
              <a:rPr lang="en-US" altLang="zh-CN" b="1" dirty="0">
                <a:sym typeface="宋体" panose="02010600030101010101" pitchFamily="2" charset="-122"/>
              </a:rPr>
              <a:t>7</a:t>
            </a:r>
            <a:r>
              <a:rPr lang="zh-CN" altLang="en-US" b="1" dirty="0">
                <a:sym typeface="宋体" panose="02010600030101010101" pitchFamily="2" charset="-122"/>
              </a:rPr>
              <a:t>排列问题</a:t>
            </a:r>
            <a:endParaRPr lang="zh-CN" altLang="en-US" dirty="0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756D810-077A-468F-8A03-BA886EB8D674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28625" y="1285875"/>
            <a:ext cx="8442325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#include &lt;</a:t>
            </a:r>
            <a:r>
              <a:rPr lang="en-US" altLang="zh-CN" sz="2400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main(){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int </a:t>
            </a:r>
            <a:r>
              <a:rPr lang="en-US" altLang="zh-CN" sz="2400" dirty="0" err="1">
                <a:latin typeface="Consolas" panose="020B0609020204030204" pitchFamily="49" charset="0"/>
              </a:rPr>
              <a:t>high,mid,low</a:t>
            </a:r>
            <a:r>
              <a:rPr lang="en-US" altLang="zh-CN" sz="2400" dirty="0">
                <a:latin typeface="Consolas" panose="020B0609020204030204" pitchFamily="49" charset="0"/>
              </a:rPr>
              <a:t>;    int count=0;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for(high=</a:t>
            </a:r>
            <a:r>
              <a:rPr lang="en-US" altLang="zh-CN" sz="2400" dirty="0" err="1">
                <a:latin typeface="Consolas" panose="020B0609020204030204" pitchFamily="49" charset="0"/>
              </a:rPr>
              <a:t>5;high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7;high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for(mid=</a:t>
            </a:r>
            <a:r>
              <a:rPr lang="en-US" altLang="zh-CN" sz="2400" dirty="0" err="1">
                <a:latin typeface="Consolas" panose="020B0609020204030204" pitchFamily="49" charset="0"/>
              </a:rPr>
              <a:t>5;mid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7;mid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if(high!=mid)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for(low=</a:t>
            </a:r>
            <a:r>
              <a:rPr lang="en-US" altLang="zh-CN" sz="2400" dirty="0" err="1">
                <a:latin typeface="Consolas" panose="020B0609020204030204" pitchFamily="49" charset="0"/>
              </a:rPr>
              <a:t>5;low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7;low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  if(low!=high &amp;&amp; low!=mid){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     count++;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			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("%d\</a:t>
            </a:r>
            <a:r>
              <a:rPr lang="en-US" altLang="zh-CN" sz="2400" dirty="0" err="1">
                <a:latin typeface="Consolas" panose="020B0609020204030204" pitchFamily="49" charset="0"/>
              </a:rPr>
              <a:t>t",high</a:t>
            </a:r>
            <a:r>
              <a:rPr lang="en-US" altLang="zh-CN" sz="2400" dirty="0">
                <a:latin typeface="Consolas" panose="020B0609020204030204" pitchFamily="49" charset="0"/>
              </a:rPr>
              <a:t>*</a:t>
            </a:r>
            <a:r>
              <a:rPr lang="en-US" altLang="zh-CN" sz="2400" dirty="0" err="1">
                <a:latin typeface="Consolas" panose="020B0609020204030204" pitchFamily="49" charset="0"/>
              </a:rPr>
              <a:t>100+mid</a:t>
            </a:r>
            <a:r>
              <a:rPr lang="en-US" altLang="zh-CN" sz="2400" dirty="0">
                <a:latin typeface="Consolas" panose="020B0609020204030204" pitchFamily="49" charset="0"/>
              </a:rPr>
              <a:t>*</a:t>
            </a:r>
            <a:r>
              <a:rPr lang="en-US" altLang="zh-CN" sz="2400" dirty="0" err="1">
                <a:latin typeface="Consolas" panose="020B0609020204030204" pitchFamily="49" charset="0"/>
              </a:rPr>
              <a:t>10+low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			  if(</a:t>
            </a:r>
            <a:r>
              <a:rPr lang="en-US" altLang="zh-CN" sz="2400" dirty="0" err="1">
                <a:latin typeface="Consolas" panose="020B0609020204030204" pitchFamily="49" charset="0"/>
              </a:rPr>
              <a:t>count%3</a:t>
            </a:r>
            <a:r>
              <a:rPr lang="en-US" altLang="zh-CN" sz="2400" dirty="0">
                <a:latin typeface="Consolas" panose="020B0609020204030204" pitchFamily="49" charset="0"/>
              </a:rPr>
              <a:t>==0) </a:t>
            </a:r>
            <a:r>
              <a:rPr lang="en-US" altLang="zh-CN" sz="2400" dirty="0" err="1">
                <a:latin typeface="Consolas" panose="020B0609020204030204" pitchFamily="49" charset="0"/>
              </a:rPr>
              <a:t>putchar</a:t>
            </a:r>
            <a:r>
              <a:rPr lang="en-US" altLang="zh-CN" sz="2400" dirty="0">
                <a:latin typeface="Consolas" panose="020B0609020204030204" pitchFamily="49" charset="0"/>
              </a:rPr>
              <a:t>('\n');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	           }	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 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>
            <a:extLst>
              <a:ext uri="{FF2B5EF4-FFF2-40B4-BE49-F238E27FC236}">
                <a16:creationId xmlns:a16="http://schemas.microsoft.com/office/drawing/2014/main" id="{86DAD3D6-5443-49B6-9CF8-E59379A71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总结生成排列问题算法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E838FB-C62F-4186-8CA7-EA8C91B334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2334" y="1340769"/>
            <a:ext cx="7772400" cy="3672408"/>
          </a:xfrm>
        </p:spPr>
        <p:txBody>
          <a:bodyPr/>
          <a:lstStyle/>
          <a:p>
            <a:r>
              <a:rPr lang="zh-CN" altLang="en-US" dirty="0"/>
              <a:t>生成排列问题的通用算法：按排列位置和可选字符进行穷举。</a:t>
            </a:r>
            <a:endParaRPr lang="en-US" altLang="zh-CN" dirty="0"/>
          </a:p>
          <a:p>
            <a:r>
              <a:rPr lang="zh-CN" altLang="en-US" dirty="0"/>
              <a:t>如果题目要求列出不连续的几个符号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d...</a:t>
            </a:r>
            <a:r>
              <a:rPr lang="zh-CN" altLang="en-US" dirty="0"/>
              <a:t>的所有排列情况呢？例</a:t>
            </a:r>
            <a:r>
              <a:rPr lang="en-US" altLang="zh-CN" dirty="0"/>
              <a:t>: sports</a:t>
            </a:r>
            <a:r>
              <a:rPr lang="zh-CN" altLang="en-US" dirty="0"/>
              <a:t>可以组成多少变位词</a:t>
            </a:r>
            <a:r>
              <a:rPr lang="en-US" altLang="zh-CN" dirty="0"/>
              <a:t>?</a:t>
            </a:r>
          </a:p>
          <a:p>
            <a:pPr lvl="1"/>
            <a:r>
              <a:rPr lang="zh-CN" altLang="en-US" dirty="0"/>
              <a:t>算法主体不变，用整数</a:t>
            </a:r>
            <a:r>
              <a:rPr lang="en-US" altLang="zh-CN" dirty="0" err="1"/>
              <a:t>1..n</a:t>
            </a:r>
            <a:r>
              <a:rPr lang="zh-CN" altLang="en-US" dirty="0"/>
              <a:t>代表</a:t>
            </a:r>
            <a:r>
              <a:rPr lang="en-US" altLang="zh-CN" dirty="0"/>
              <a:t>n</a:t>
            </a:r>
            <a:r>
              <a:rPr lang="zh-CN" altLang="en-US" dirty="0"/>
              <a:t>个符号，然后穷举。找到一个排列后</a:t>
            </a:r>
            <a:r>
              <a:rPr lang="en-US" altLang="zh-CN" dirty="0"/>
              <a:t>,</a:t>
            </a:r>
            <a:r>
              <a:rPr lang="zh-CN" altLang="en-US" dirty="0"/>
              <a:t>用</a:t>
            </a:r>
            <a:r>
              <a:rPr lang="en-US" altLang="zh-CN" dirty="0"/>
              <a:t>switch</a:t>
            </a:r>
            <a:r>
              <a:rPr lang="zh-CN" altLang="en-US" dirty="0"/>
              <a:t>结构将数字对应为符号。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C0E9A1-419A-464A-2B8C-D2B0F3B210E6}"/>
              </a:ext>
            </a:extLst>
          </p:cNvPr>
          <p:cNvSpPr txBox="1"/>
          <p:nvPr/>
        </p:nvSpPr>
        <p:spPr>
          <a:xfrm>
            <a:off x="778780" y="5157192"/>
            <a:ext cx="7525469" cy="9541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但是循环嵌套的列举个数是有限的，因此更高效的生成排列算法需要找出排列的数学规律。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253A8A57-6274-4653-967A-B83A07EBE5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E16D5D59-A65A-4D64-A767-D8C581B8AE28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8</a:t>
            </a:fld>
            <a:endParaRPr lang="zh-CN" altLang="en-US" sz="1400"/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75D1D660-3742-416F-B3E9-DFEB73DB1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 dirty="0"/>
              <a:t>解空间</a:t>
            </a:r>
            <a:r>
              <a:rPr lang="en-US" altLang="zh-CN" sz="3600" b="1" dirty="0"/>
              <a:t>2</a:t>
            </a:r>
            <a:r>
              <a:rPr lang="zh-CN" altLang="en-US" sz="3600" b="1" dirty="0"/>
              <a:t>：百鸡问题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FC14C13-996A-4E42-BD8C-366DCA5FAC1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1145291"/>
            <a:ext cx="8371656" cy="1347606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800" b="1" dirty="0"/>
              <a:t>求解百鸡问题：用</a:t>
            </a:r>
            <a:r>
              <a:rPr lang="en-US" altLang="zh-CN" sz="2800" b="1" dirty="0"/>
              <a:t>100</a:t>
            </a:r>
            <a:r>
              <a:rPr lang="zh-CN" altLang="en-US" sz="2800" b="1" dirty="0"/>
              <a:t>元买</a:t>
            </a:r>
            <a:r>
              <a:rPr lang="en-US" altLang="zh-CN" sz="2800" b="1" dirty="0"/>
              <a:t>100</a:t>
            </a:r>
            <a:r>
              <a:rPr lang="zh-CN" altLang="en-US" sz="2800" b="1" dirty="0"/>
              <a:t>只鸡，大公鸡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元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只，母鸡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元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只，小鸡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元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只。问各能买多少只？</a:t>
            </a:r>
            <a:endParaRPr lang="en-US" altLang="zh-CN" sz="2800" b="1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4C6D68EA-2445-7B0B-2AE9-2A3CBB683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2204864"/>
            <a:ext cx="8352482" cy="403244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b="1" dirty="0"/>
              <a:t>⑴解空间是三元一次方程的所有非负整数解；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	{( </a:t>
            </a:r>
            <a:r>
              <a:rPr lang="en-US" altLang="zh-CN" sz="2400" b="1" i="1" dirty="0" err="1"/>
              <a:t>x,y,z</a:t>
            </a:r>
            <a:r>
              <a:rPr lang="en-US" altLang="zh-CN" sz="2400" b="1" i="1" dirty="0"/>
              <a:t> )</a:t>
            </a:r>
            <a:r>
              <a:rPr lang="en-US" altLang="zh-CN" sz="2400" b="1" dirty="0"/>
              <a:t> | </a:t>
            </a:r>
            <a:r>
              <a:rPr lang="en-US" altLang="zh-CN" sz="2400" b="1" i="1" dirty="0" err="1"/>
              <a:t>5x+3y+z</a:t>
            </a:r>
            <a:r>
              <a:rPr lang="en-US" altLang="zh-CN" sz="2400" b="1" i="1" dirty="0"/>
              <a:t>/3=100 and </a:t>
            </a:r>
            <a:r>
              <a:rPr lang="en-US" altLang="zh-CN" sz="2400" b="1" i="1" dirty="0" err="1"/>
              <a:t>x,y,z</a:t>
            </a:r>
            <a:r>
              <a:rPr lang="en-US" altLang="zh-CN" sz="2400" b="1" i="1" dirty="0">
                <a:sym typeface="Symbol" panose="05050102010706020507" pitchFamily="18" charset="2"/>
              </a:rPr>
              <a:t> N </a:t>
            </a:r>
            <a:r>
              <a:rPr lang="en-US" altLang="zh-CN" sz="2400" b="1" dirty="0">
                <a:sym typeface="Symbol" panose="05050102010706020507" pitchFamily="18" charset="2"/>
              </a:rPr>
              <a:t>}</a:t>
            </a:r>
            <a:endParaRPr lang="zh-CN" altLang="en-US" sz="2400" b="1" dirty="0"/>
          </a:p>
          <a:p>
            <a:pPr lvl="1" eaLnBrk="1" hangingPunct="1">
              <a:buFontTx/>
              <a:buNone/>
            </a:pPr>
            <a:r>
              <a:rPr lang="zh-CN" altLang="en-US" sz="2400" b="1" dirty="0"/>
              <a:t>公鸡只数</a:t>
            </a:r>
            <a:r>
              <a:rPr lang="en-US" altLang="zh-CN" sz="2400" b="1" i="1" dirty="0"/>
              <a:t>x</a:t>
            </a:r>
            <a:r>
              <a:rPr lang="zh-CN" altLang="en-US" sz="2400" b="1" i="1" dirty="0"/>
              <a:t>的范围是</a:t>
            </a:r>
            <a:r>
              <a:rPr lang="en-US" altLang="zh-CN" sz="2400" b="1" i="1" dirty="0"/>
              <a:t>0..20</a:t>
            </a:r>
          </a:p>
          <a:p>
            <a:pPr lvl="1" eaLnBrk="1" hangingPunct="1">
              <a:buNone/>
            </a:pPr>
            <a:r>
              <a:rPr lang="zh-CN" altLang="en-US" sz="2400" b="1" dirty="0"/>
              <a:t>母鸡只数</a:t>
            </a:r>
            <a:r>
              <a:rPr lang="en-US" altLang="zh-CN" sz="2400" b="1" i="1" dirty="0"/>
              <a:t>y</a:t>
            </a:r>
            <a:r>
              <a:rPr lang="zh-CN" altLang="en-US" sz="2400" b="1" i="1" dirty="0"/>
              <a:t>的范围是</a:t>
            </a:r>
            <a:r>
              <a:rPr lang="en-US" altLang="zh-CN" sz="2400" b="1" i="1" dirty="0"/>
              <a:t>0..33</a:t>
            </a:r>
          </a:p>
          <a:p>
            <a:pPr lvl="1" eaLnBrk="1" hangingPunct="1">
              <a:buNone/>
            </a:pPr>
            <a:r>
              <a:rPr lang="zh-CN" altLang="en-US" sz="2400" b="1" dirty="0"/>
              <a:t>小鸡只数</a:t>
            </a:r>
            <a:r>
              <a:rPr lang="en-US" altLang="zh-CN" sz="2400" b="1" i="1" dirty="0"/>
              <a:t>z</a:t>
            </a:r>
            <a:r>
              <a:rPr lang="zh-CN" altLang="en-US" sz="2400" b="1" dirty="0"/>
              <a:t>的范围是</a:t>
            </a:r>
            <a:r>
              <a:rPr lang="en-US" altLang="zh-CN" sz="2400" b="1" dirty="0"/>
              <a:t>0..</a:t>
            </a:r>
            <a:r>
              <a:rPr lang="en-US" altLang="zh-CN" sz="2400" b="1" dirty="0" err="1"/>
              <a:t>3n</a:t>
            </a:r>
            <a:r>
              <a:rPr lang="en-US" altLang="zh-CN" sz="2400" b="1" dirty="0"/>
              <a:t> &lt; 100  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⑵检查是否满足约束条件</a:t>
            </a:r>
          </a:p>
          <a:p>
            <a:pPr lvl="1" eaLnBrk="1" hangingPunct="1">
              <a:buFontTx/>
              <a:buNone/>
            </a:pPr>
            <a:r>
              <a:rPr lang="en-US" altLang="zh-CN" sz="2400" b="1" i="1" dirty="0" err="1"/>
              <a:t>5x+3y+z</a:t>
            </a:r>
            <a:r>
              <a:rPr lang="en-US" altLang="zh-CN" sz="2400" b="1" i="1" dirty="0"/>
              <a:t>/3=100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212502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253A8A57-6274-4653-967A-B83A07EBE5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E16D5D59-A65A-4D64-A767-D8C581B8AE28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9</a:t>
            </a:fld>
            <a:endParaRPr lang="zh-CN" altLang="en-US" sz="1400"/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75D1D660-3742-416F-B3E9-DFEB73DB1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 dirty="0"/>
              <a:t>百鸡问题算法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FC14C13-996A-4E42-BD8C-366DCA5FAC1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1145290"/>
            <a:ext cx="8371656" cy="461168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b="1" dirty="0"/>
              <a:t>百鸡问题的算法分析：</a:t>
            </a:r>
            <a:endParaRPr lang="en-US" altLang="zh-CN" b="1" dirty="0"/>
          </a:p>
          <a:p>
            <a:pPr marL="0" indent="0" eaLnBrk="1" hangingPunct="1">
              <a:buNone/>
            </a:pPr>
            <a:r>
              <a:rPr lang="en-US" altLang="zh-CN" b="1" dirty="0"/>
              <a:t>begin</a:t>
            </a:r>
          </a:p>
          <a:p>
            <a:pPr marL="457200" lvl="1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定义整数变量</a:t>
            </a:r>
            <a:r>
              <a:rPr lang="en-US" altLang="zh-CN" sz="2400" dirty="0" err="1">
                <a:latin typeface="Consolas" panose="020B0609020204030204" pitchFamily="49" charset="0"/>
              </a:rPr>
              <a:t>cocks,hens,chicken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marL="457200" lvl="1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穷举公鸡的所有方案</a:t>
            </a:r>
            <a:r>
              <a:rPr lang="en-US" altLang="zh-CN" sz="2400" dirty="0">
                <a:latin typeface="Consolas" panose="020B0609020204030204" pitchFamily="49" charset="0"/>
              </a:rPr>
              <a:t> cocks:=0 to 20</a:t>
            </a:r>
          </a:p>
          <a:p>
            <a:pPr marL="914400" lvl="2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穷举母鸡的所有方案</a:t>
            </a:r>
            <a:r>
              <a:rPr lang="en-US" altLang="zh-CN" sz="2400" dirty="0">
                <a:latin typeface="Consolas" panose="020B0609020204030204" pitchFamily="49" charset="0"/>
              </a:rPr>
              <a:t> hens:=0 to 33</a:t>
            </a:r>
          </a:p>
          <a:p>
            <a:pPr marL="914400" lvl="2" indent="0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zh-CN" altLang="en-US" sz="2400" dirty="0">
                <a:latin typeface="Consolas" panose="020B0609020204030204" pitchFamily="49" charset="0"/>
              </a:rPr>
              <a:t>穷举小鸡的所有方案</a:t>
            </a:r>
            <a:r>
              <a:rPr lang="en-US" altLang="zh-CN" sz="2400" dirty="0">
                <a:latin typeface="Consolas" panose="020B0609020204030204" pitchFamily="49" charset="0"/>
              </a:rPr>
              <a:t> chicken:=0 to 100</a:t>
            </a:r>
          </a:p>
          <a:p>
            <a:pPr marL="914400" lvl="2" indent="0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 if (</a:t>
            </a:r>
            <a:r>
              <a:rPr lang="zh-CN" altLang="en-US" sz="2400" dirty="0">
                <a:latin typeface="Consolas" panose="020B0609020204030204" pitchFamily="49" charset="0"/>
              </a:rPr>
              <a:t>只数为</a:t>
            </a:r>
            <a:r>
              <a:rPr lang="en-US" altLang="zh-CN" sz="2400" dirty="0">
                <a:latin typeface="Consolas" panose="020B0609020204030204" pitchFamily="49" charset="0"/>
              </a:rPr>
              <a:t>100</a:t>
            </a:r>
            <a:r>
              <a:rPr lang="zh-CN" altLang="en-US" sz="2400" dirty="0">
                <a:latin typeface="Consolas" panose="020B0609020204030204" pitchFamily="49" charset="0"/>
              </a:rPr>
              <a:t>且钱数为</a:t>
            </a:r>
            <a:r>
              <a:rPr lang="en-US" altLang="zh-CN" sz="2400" dirty="0">
                <a:latin typeface="Consolas" panose="020B0609020204030204" pitchFamily="49" charset="0"/>
              </a:rPr>
              <a:t>100)</a:t>
            </a:r>
          </a:p>
          <a:p>
            <a:pPr marL="1371600" lvl="3" indent="0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</a:t>
            </a:r>
            <a:r>
              <a:rPr lang="zh-CN" altLang="en-US" sz="2400" dirty="0">
                <a:latin typeface="Consolas" panose="020B0609020204030204" pitchFamily="49" charset="0"/>
              </a:rPr>
              <a:t>打印</a:t>
            </a:r>
            <a:r>
              <a:rPr lang="en-US" altLang="zh-CN" sz="2400" dirty="0" err="1">
                <a:latin typeface="Consolas" panose="020B0609020204030204" pitchFamily="49" charset="0"/>
              </a:rPr>
              <a:t>cocks,hens,chicken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marL="114300" indent="0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69230933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4">
            <a:extLst>
              <a:ext uri="{FF2B5EF4-FFF2-40B4-BE49-F238E27FC236}">
                <a16:creationId xmlns:a16="http://schemas.microsoft.com/office/drawing/2014/main" id="{465AF17C-2707-4C46-B439-82B77C9B0E2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3223B724-A00F-4C67-862A-A1826FE365D7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10</a:t>
            </a:fld>
            <a:endParaRPr lang="zh-CN" altLang="en-US" sz="14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5C1707EB-3323-4DDB-BF20-C221CD90E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百鸡问题程序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FDD317D3-201B-4909-896F-F8BE6E35AA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1268760"/>
            <a:ext cx="8371656" cy="46116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#include&lt;</a:t>
            </a:r>
            <a:r>
              <a:rPr lang="en-US" altLang="zh-CN" sz="2400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main()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int </a:t>
            </a:r>
            <a:r>
              <a:rPr lang="en-US" altLang="zh-CN" sz="2400" dirty="0" err="1">
                <a:latin typeface="Consolas" panose="020B0609020204030204" pitchFamily="49" charset="0"/>
              </a:rPr>
              <a:t>cocks,hens,chicken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for(cocks=</a:t>
            </a:r>
            <a:r>
              <a:rPr lang="en-US" altLang="zh-CN" sz="2400" dirty="0" err="1">
                <a:latin typeface="Consolas" panose="020B0609020204030204" pitchFamily="49" charset="0"/>
              </a:rPr>
              <a:t>0;cocks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20;cocks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for(hens=</a:t>
            </a:r>
            <a:r>
              <a:rPr lang="en-US" altLang="zh-CN" sz="2400" dirty="0" err="1">
                <a:latin typeface="Consolas" panose="020B0609020204030204" pitchFamily="49" charset="0"/>
              </a:rPr>
              <a:t>0;hens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33;hens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for(chicken=</a:t>
            </a:r>
            <a:r>
              <a:rPr lang="en-US" altLang="zh-CN" sz="2400" dirty="0" err="1">
                <a:latin typeface="Consolas" panose="020B0609020204030204" pitchFamily="49" charset="0"/>
              </a:rPr>
              <a:t>0;chicken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100;chicken</a:t>
            </a:r>
            <a:r>
              <a:rPr lang="en-US" altLang="zh-CN" sz="2400" dirty="0">
                <a:latin typeface="Consolas" panose="020B0609020204030204" pitchFamily="49" charset="0"/>
              </a:rPr>
              <a:t>+=3)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if (</a:t>
            </a:r>
            <a:r>
              <a:rPr lang="en-US" altLang="zh-CN" sz="2400" dirty="0" err="1">
                <a:latin typeface="Consolas" panose="020B0609020204030204" pitchFamily="49" charset="0"/>
              </a:rPr>
              <a:t>cocks+hens+chicken</a:t>
            </a:r>
            <a:r>
              <a:rPr lang="en-US" altLang="zh-CN" sz="2400" dirty="0">
                <a:latin typeface="Consolas" panose="020B0609020204030204" pitchFamily="49" charset="0"/>
              </a:rPr>
              <a:t>==100 &amp;&amp;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   cocks*</a:t>
            </a:r>
            <a:r>
              <a:rPr lang="en-US" altLang="zh-CN" sz="2400" dirty="0" err="1">
                <a:latin typeface="Consolas" panose="020B0609020204030204" pitchFamily="49" charset="0"/>
              </a:rPr>
              <a:t>5+hens</a:t>
            </a:r>
            <a:r>
              <a:rPr lang="en-US" altLang="zh-CN" sz="2400" dirty="0">
                <a:latin typeface="Consolas" panose="020B0609020204030204" pitchFamily="49" charset="0"/>
              </a:rPr>
              <a:t>*</a:t>
            </a:r>
            <a:r>
              <a:rPr lang="en-US" altLang="zh-CN" sz="2400" dirty="0" err="1">
                <a:latin typeface="Consolas" panose="020B0609020204030204" pitchFamily="49" charset="0"/>
              </a:rPr>
              <a:t>3+chicken</a:t>
            </a:r>
            <a:r>
              <a:rPr lang="en-US" altLang="zh-CN" sz="2400" dirty="0">
                <a:latin typeface="Consolas" panose="020B0609020204030204" pitchFamily="49" charset="0"/>
              </a:rPr>
              <a:t>/3==100)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("cocks:%</a:t>
            </a:r>
            <a:r>
              <a:rPr lang="en-US" altLang="zh-CN" sz="2400" dirty="0" err="1">
                <a:latin typeface="Consolas" panose="020B0609020204030204" pitchFamily="49" charset="0"/>
              </a:rPr>
              <a:t>d,hens</a:t>
            </a:r>
            <a:r>
              <a:rPr lang="en-US" altLang="zh-CN" sz="2400" dirty="0">
                <a:latin typeface="Consolas" panose="020B0609020204030204" pitchFamily="49" charset="0"/>
              </a:rPr>
              <a:t>:%</a:t>
            </a:r>
            <a:r>
              <a:rPr lang="en-US" altLang="zh-CN" sz="2400" dirty="0" err="1">
                <a:latin typeface="Consolas" panose="020B0609020204030204" pitchFamily="49" charset="0"/>
              </a:rPr>
              <a:t>d,chicken</a:t>
            </a:r>
            <a:r>
              <a:rPr lang="en-US" altLang="zh-CN" sz="2400" dirty="0">
                <a:latin typeface="Consolas" panose="020B0609020204030204" pitchFamily="49" charset="0"/>
              </a:rPr>
              <a:t>:%d\n",</a:t>
            </a:r>
            <a:r>
              <a:rPr lang="en-US" altLang="zh-CN" sz="2400" dirty="0" err="1">
                <a:latin typeface="Consolas" panose="020B0609020204030204" pitchFamily="49" charset="0"/>
              </a:rPr>
              <a:t>cocks,hens,chicken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return 0;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04217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>
            <a:extLst>
              <a:ext uri="{FF2B5EF4-FFF2-40B4-BE49-F238E27FC236}">
                <a16:creationId xmlns:a16="http://schemas.microsoft.com/office/drawing/2014/main" id="{86DAD3D6-5443-49B6-9CF8-E59379A71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r>
              <a:rPr lang="en-US" altLang="zh-CN" dirty="0"/>
              <a:t>n</a:t>
            </a:r>
            <a:r>
              <a:rPr lang="zh-CN" altLang="en-US" dirty="0"/>
              <a:t>元一次方程求解算法</a:t>
            </a:r>
          </a:p>
        </p:txBody>
      </p:sp>
      <p:sp>
        <p:nvSpPr>
          <p:cNvPr id="39939" name="文本占位符 2">
            <a:extLst>
              <a:ext uri="{FF2B5EF4-FFF2-40B4-BE49-F238E27FC236}">
                <a16:creationId xmlns:a16="http://schemas.microsoft.com/office/drawing/2014/main" id="{30525FAC-2027-45CC-8D7C-0BF33B4D4B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类似百鸡问题，题目要求的候选解众多，且解空间是</a:t>
            </a:r>
            <a:r>
              <a:rPr lang="en-US" altLang="zh-CN" dirty="0"/>
              <a:t>n</a:t>
            </a:r>
            <a:r>
              <a:rPr lang="zh-CN" altLang="en-US" dirty="0"/>
              <a:t>元一次方程的非负整数解。</a:t>
            </a:r>
            <a:endParaRPr lang="en-US" altLang="zh-CN" dirty="0"/>
          </a:p>
          <a:p>
            <a:r>
              <a:rPr lang="zh-CN" altLang="en-US" dirty="0"/>
              <a:t>算法：逐一穷举</a:t>
            </a:r>
            <a:r>
              <a:rPr lang="en-US" altLang="zh-CN" dirty="0"/>
              <a:t>n</a:t>
            </a:r>
            <a:r>
              <a:rPr lang="zh-CN" altLang="en-US" dirty="0"/>
              <a:t>元的取值范围内所有可能值，然后检验每个候选解是否满足方程。</a:t>
            </a:r>
          </a:p>
        </p:txBody>
      </p:sp>
    </p:spTree>
    <p:extLst>
      <p:ext uri="{BB962C8B-B14F-4D97-AF65-F5344CB8AC3E}">
        <p14:creationId xmlns:p14="http://schemas.microsoft.com/office/powerpoint/2010/main" val="267421594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253A8A57-6274-4653-967A-B83A07EBE5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E16D5D59-A65A-4D64-A767-D8C581B8AE28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12</a:t>
            </a:fld>
            <a:endParaRPr lang="zh-CN" altLang="en-US" sz="1400"/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75D1D660-3742-416F-B3E9-DFEB73DB1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 dirty="0"/>
              <a:t>解空间</a:t>
            </a:r>
            <a:r>
              <a:rPr lang="en-US" altLang="zh-CN" sz="3600" b="1" dirty="0"/>
              <a:t>3:</a:t>
            </a:r>
            <a:r>
              <a:rPr lang="zh-CN" altLang="en-US" sz="3600" b="1" dirty="0"/>
              <a:t>寻找特殊数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FC14C13-996A-4E42-BD8C-366DCA5FAC1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19213"/>
            <a:ext cx="7918450" cy="4611687"/>
          </a:xfrm>
        </p:spPr>
        <p:txBody>
          <a:bodyPr/>
          <a:lstStyle/>
          <a:p>
            <a:pPr eaLnBrk="1" hangingPunct="1"/>
            <a:r>
              <a:rPr lang="zh-CN" altLang="en-US" b="1" dirty="0"/>
              <a:t>例</a:t>
            </a:r>
            <a:r>
              <a:rPr lang="en-US" altLang="zh-CN" b="1" dirty="0"/>
              <a:t>2</a:t>
            </a:r>
            <a:r>
              <a:rPr lang="zh-CN" altLang="en-US" b="1" dirty="0"/>
              <a:t>：打印所有除以</a:t>
            </a:r>
            <a:r>
              <a:rPr lang="en-US" altLang="zh-CN" b="1" dirty="0"/>
              <a:t>11</a:t>
            </a:r>
            <a:r>
              <a:rPr lang="zh-CN" altLang="en-US" b="1" dirty="0"/>
              <a:t>后所得商正好是它的各个数字平方和的三位数 。</a:t>
            </a:r>
            <a:endParaRPr lang="en-US" altLang="zh-CN" b="1" dirty="0"/>
          </a:p>
          <a:p>
            <a:pPr marL="0" indent="0" eaLnBrk="1" hangingPunct="1">
              <a:buNone/>
            </a:pPr>
            <a:r>
              <a:rPr lang="zh-CN" altLang="en-US" b="1" dirty="0"/>
              <a:t>算法分析：</a:t>
            </a:r>
            <a:endParaRPr lang="en-US" altLang="zh-CN" b="1" dirty="0"/>
          </a:p>
          <a:p>
            <a:pPr marL="457200" lvl="1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定义整数变量</a:t>
            </a:r>
            <a:r>
              <a:rPr lang="en-US" altLang="zh-CN" sz="2400" dirty="0">
                <a:latin typeface="Consolas" panose="020B0609020204030204" pitchFamily="49" charset="0"/>
              </a:rPr>
              <a:t>n</a:t>
            </a:r>
            <a:r>
              <a:rPr lang="zh-CN" altLang="en-US" sz="2400" dirty="0">
                <a:latin typeface="Consolas" panose="020B0609020204030204" pitchFamily="49" charset="0"/>
              </a:rPr>
              <a:t>和百位、十位、个位变量</a:t>
            </a:r>
            <a:r>
              <a:rPr lang="en-US" altLang="zh-CN" sz="2400" dirty="0" err="1">
                <a:latin typeface="Consolas" panose="020B0609020204030204" pitchFamily="49" charset="0"/>
              </a:rPr>
              <a:t>d1,d2,d3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marL="457200" lvl="1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穷举三位数</a:t>
            </a:r>
            <a:r>
              <a:rPr lang="en-US" altLang="zh-CN" sz="2400" dirty="0">
                <a:latin typeface="Consolas" panose="020B0609020204030204" pitchFamily="49" charset="0"/>
              </a:rPr>
              <a:t>n</a:t>
            </a:r>
            <a:r>
              <a:rPr lang="zh-CN" altLang="en-US" sz="2400" dirty="0">
                <a:latin typeface="Consolas" panose="020B0609020204030204" pitchFamily="49" charset="0"/>
              </a:rPr>
              <a:t>的所有方案</a:t>
            </a:r>
            <a:r>
              <a:rPr lang="en-US" altLang="zh-CN" sz="2400" dirty="0">
                <a:latin typeface="Consolas" panose="020B0609020204030204" pitchFamily="49" charset="0"/>
              </a:rPr>
              <a:t> n:=100 to 999</a:t>
            </a:r>
          </a:p>
          <a:p>
            <a:pPr marL="914400" lvl="2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分解</a:t>
            </a:r>
            <a:r>
              <a:rPr lang="en-US" altLang="zh-CN" sz="2400" dirty="0">
                <a:latin typeface="Consolas" panose="020B0609020204030204" pitchFamily="49" charset="0"/>
              </a:rPr>
              <a:t>n</a:t>
            </a:r>
            <a:r>
              <a:rPr lang="zh-CN" altLang="en-US" sz="2400" dirty="0">
                <a:latin typeface="Consolas" panose="020B0609020204030204" pitchFamily="49" charset="0"/>
              </a:rPr>
              <a:t>的百位 </a:t>
            </a:r>
            <a:r>
              <a:rPr lang="en-US" altLang="zh-CN" sz="2400" dirty="0" err="1">
                <a:latin typeface="Consolas" panose="020B0609020204030204" pitchFamily="49" charset="0"/>
              </a:rPr>
              <a:t>d1</a:t>
            </a:r>
            <a:r>
              <a:rPr lang="en-US" altLang="zh-CN" sz="2400" dirty="0">
                <a:latin typeface="Consolas" panose="020B0609020204030204" pitchFamily="49" charset="0"/>
              </a:rPr>
              <a:t>=n/100;</a:t>
            </a:r>
          </a:p>
          <a:p>
            <a:pPr marL="914400" lvl="2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分解</a:t>
            </a:r>
            <a:r>
              <a:rPr lang="en-US" altLang="zh-CN" sz="2400" dirty="0">
                <a:latin typeface="Consolas" panose="020B0609020204030204" pitchFamily="49" charset="0"/>
              </a:rPr>
              <a:t>n</a:t>
            </a:r>
            <a:r>
              <a:rPr lang="zh-CN" altLang="en-US" sz="2400" dirty="0">
                <a:latin typeface="Consolas" panose="020B0609020204030204" pitchFamily="49" charset="0"/>
              </a:rPr>
              <a:t>的十位 </a:t>
            </a:r>
            <a:r>
              <a:rPr lang="en-US" altLang="zh-CN" sz="2400" dirty="0" err="1">
                <a:latin typeface="Consolas" panose="020B0609020204030204" pitchFamily="49" charset="0"/>
              </a:rPr>
              <a:t>d2</a:t>
            </a:r>
            <a:r>
              <a:rPr lang="en-US" altLang="zh-CN" sz="2400" dirty="0">
                <a:latin typeface="Consolas" panose="020B0609020204030204" pitchFamily="49" charset="0"/>
              </a:rPr>
              <a:t>=(n/10)%10;</a:t>
            </a:r>
          </a:p>
          <a:p>
            <a:pPr marL="914400" lvl="2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分解</a:t>
            </a:r>
            <a:r>
              <a:rPr lang="en-US" altLang="zh-CN" sz="2400" dirty="0">
                <a:latin typeface="Consolas" panose="020B0609020204030204" pitchFamily="49" charset="0"/>
              </a:rPr>
              <a:t>n</a:t>
            </a:r>
            <a:r>
              <a:rPr lang="zh-CN" altLang="en-US" sz="2400" dirty="0">
                <a:latin typeface="Consolas" panose="020B0609020204030204" pitchFamily="49" charset="0"/>
              </a:rPr>
              <a:t>的个位 </a:t>
            </a:r>
            <a:r>
              <a:rPr lang="en-US" altLang="zh-CN" sz="2400" dirty="0" err="1">
                <a:latin typeface="Consolas" panose="020B0609020204030204" pitchFamily="49" charset="0"/>
              </a:rPr>
              <a:t>d3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n%10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marL="914400" lvl="2" indent="0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if (n/11 == </a:t>
            </a:r>
            <a:r>
              <a:rPr lang="zh-CN" altLang="en-US" sz="2400" dirty="0">
                <a:latin typeface="Consolas" panose="020B0609020204030204" pitchFamily="49" charset="0"/>
              </a:rPr>
              <a:t>数码平方和</a:t>
            </a:r>
            <a:r>
              <a:rPr lang="en-US" altLang="zh-CN" sz="2400" dirty="0">
                <a:latin typeface="Consolas" panose="020B0609020204030204" pitchFamily="49" charset="0"/>
              </a:rPr>
              <a:t>)</a:t>
            </a:r>
          </a:p>
          <a:p>
            <a:pPr marL="1371600" lvl="3" indent="0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zh-CN" altLang="en-US" sz="2400" dirty="0">
                <a:latin typeface="Consolas" panose="020B0609020204030204" pitchFamily="49" charset="0"/>
              </a:rPr>
              <a:t>打印当前的</a:t>
            </a:r>
            <a:r>
              <a:rPr lang="en-US" altLang="zh-CN" sz="2400" dirty="0">
                <a:latin typeface="Consolas" panose="020B0609020204030204" pitchFamily="49" charset="0"/>
              </a:rPr>
              <a:t>n;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1946913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7ABCB199-614B-4171-B25E-0ED64B4BD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120650"/>
            <a:ext cx="6659562" cy="1165225"/>
          </a:xfrm>
        </p:spPr>
        <p:txBody>
          <a:bodyPr/>
          <a:lstStyle/>
          <a:p>
            <a:r>
              <a:rPr lang="en-US" altLang="zh-CN" b="1" dirty="0"/>
              <a:t>3</a:t>
            </a:r>
            <a:r>
              <a:rPr lang="zh-CN" altLang="en-US" b="1" dirty="0"/>
              <a:t>位数中除</a:t>
            </a:r>
            <a:r>
              <a:rPr lang="en-US" altLang="zh-CN" b="1" dirty="0"/>
              <a:t>11</a:t>
            </a:r>
            <a:r>
              <a:rPr lang="zh-CN" altLang="en-US" b="1" dirty="0"/>
              <a:t>后商等于各数字平方和</a:t>
            </a:r>
            <a:endParaRPr lang="zh-CN" altLang="en-US" dirty="0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D06C83B1-0420-4305-BC40-D00A031D3AE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28625" y="1285875"/>
            <a:ext cx="8442325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#include&lt;</a:t>
            </a:r>
            <a:r>
              <a:rPr lang="en-US" altLang="zh-CN" sz="2400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main(){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int </a:t>
            </a:r>
            <a:r>
              <a:rPr lang="zh-CN" altLang="en-US" sz="2400" dirty="0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,</a:t>
            </a:r>
            <a:r>
              <a:rPr lang="en-US" altLang="zh-CN" sz="2400" dirty="0" err="1">
                <a:latin typeface="Consolas" panose="020B0609020204030204" pitchFamily="49" charset="0"/>
              </a:rPr>
              <a:t>d1,d2,d3,count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for 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100,count</a:t>
            </a:r>
            <a:r>
              <a:rPr lang="en-US" altLang="zh-CN" sz="2400" dirty="0">
                <a:latin typeface="Consolas" panose="020B0609020204030204" pitchFamily="49" charset="0"/>
              </a:rPr>
              <a:t>=0;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&lt;=999;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++){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 </a:t>
            </a:r>
            <a:r>
              <a:rPr lang="en-US" altLang="zh-CN" sz="2400" dirty="0" err="1">
                <a:latin typeface="Consolas" panose="020B0609020204030204" pitchFamily="49" charset="0"/>
              </a:rPr>
              <a:t>d1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/100;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 </a:t>
            </a:r>
            <a:r>
              <a:rPr lang="en-US" altLang="zh-CN" sz="2400" dirty="0" err="1">
                <a:latin typeface="Consolas" panose="020B0609020204030204" pitchFamily="49" charset="0"/>
              </a:rPr>
              <a:t>d2</a:t>
            </a:r>
            <a:r>
              <a:rPr lang="en-US" altLang="zh-CN" sz="2400" dirty="0">
                <a:latin typeface="Consolas" panose="020B0609020204030204" pitchFamily="49" charset="0"/>
              </a:rPr>
              <a:t>=(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/10)%10;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 </a:t>
            </a:r>
            <a:r>
              <a:rPr lang="en-US" altLang="zh-CN" sz="2400" dirty="0" err="1">
                <a:latin typeface="Consolas" panose="020B0609020204030204" pitchFamily="49" charset="0"/>
              </a:rPr>
              <a:t>d3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i%10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 if 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/11 == (</a:t>
            </a:r>
            <a:r>
              <a:rPr lang="en-US" altLang="zh-CN" sz="2400" dirty="0" err="1">
                <a:latin typeface="Consolas" panose="020B0609020204030204" pitchFamily="49" charset="0"/>
              </a:rPr>
              <a:t>d1</a:t>
            </a:r>
            <a:r>
              <a:rPr lang="en-US" altLang="zh-CN" sz="2400" dirty="0">
                <a:latin typeface="Consolas" panose="020B0609020204030204" pitchFamily="49" charset="0"/>
              </a:rPr>
              <a:t>*</a:t>
            </a:r>
            <a:r>
              <a:rPr lang="en-US" altLang="zh-CN" sz="2400" dirty="0" err="1">
                <a:latin typeface="Consolas" panose="020B0609020204030204" pitchFamily="49" charset="0"/>
              </a:rPr>
              <a:t>d1</a:t>
            </a:r>
            <a:r>
              <a:rPr lang="en-US" altLang="zh-CN" sz="2400" dirty="0">
                <a:latin typeface="Consolas" panose="020B0609020204030204" pitchFamily="49" charset="0"/>
              </a:rPr>
              <a:t> + </a:t>
            </a:r>
            <a:r>
              <a:rPr lang="en-US" altLang="zh-CN" sz="2400" dirty="0" err="1">
                <a:latin typeface="Consolas" panose="020B0609020204030204" pitchFamily="49" charset="0"/>
              </a:rPr>
              <a:t>d2</a:t>
            </a:r>
            <a:r>
              <a:rPr lang="en-US" altLang="zh-CN" sz="2400" dirty="0">
                <a:latin typeface="Consolas" panose="020B0609020204030204" pitchFamily="49" charset="0"/>
              </a:rPr>
              <a:t>*</a:t>
            </a:r>
            <a:r>
              <a:rPr lang="en-US" altLang="zh-CN" sz="2400" dirty="0" err="1">
                <a:latin typeface="Consolas" panose="020B0609020204030204" pitchFamily="49" charset="0"/>
              </a:rPr>
              <a:t>d2</a:t>
            </a:r>
            <a:r>
              <a:rPr lang="en-US" altLang="zh-CN" sz="2400" dirty="0">
                <a:latin typeface="Consolas" panose="020B0609020204030204" pitchFamily="49" charset="0"/>
              </a:rPr>
              <a:t> + </a:t>
            </a:r>
            <a:r>
              <a:rPr lang="en-US" altLang="zh-CN" sz="2400" dirty="0" err="1">
                <a:latin typeface="Consolas" panose="020B0609020204030204" pitchFamily="49" charset="0"/>
              </a:rPr>
              <a:t>d3</a:t>
            </a:r>
            <a:r>
              <a:rPr lang="en-US" altLang="zh-CN" sz="2400" dirty="0">
                <a:latin typeface="Consolas" panose="020B0609020204030204" pitchFamily="49" charset="0"/>
              </a:rPr>
              <a:t>*</a:t>
            </a:r>
            <a:r>
              <a:rPr lang="en-US" altLang="zh-CN" sz="2400" dirty="0" err="1">
                <a:latin typeface="Consolas" panose="020B0609020204030204" pitchFamily="49" charset="0"/>
              </a:rPr>
              <a:t>d3</a:t>
            </a:r>
            <a:r>
              <a:rPr lang="en-US" altLang="zh-CN" sz="2400" dirty="0">
                <a:latin typeface="Consolas" panose="020B0609020204030204" pitchFamily="49" charset="0"/>
              </a:rPr>
              <a:t>)){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count++;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("%d\t",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	if(</a:t>
            </a:r>
            <a:r>
              <a:rPr lang="en-US" altLang="zh-CN" sz="2400" dirty="0" err="1">
                <a:latin typeface="Consolas" panose="020B0609020204030204" pitchFamily="49" charset="0"/>
              </a:rPr>
              <a:t>count%3</a:t>
            </a:r>
            <a:r>
              <a:rPr lang="en-US" altLang="zh-CN" sz="2400" dirty="0">
                <a:latin typeface="Consolas" panose="020B0609020204030204" pitchFamily="49" charset="0"/>
              </a:rPr>
              <a:t>==0)  </a:t>
            </a:r>
            <a:r>
              <a:rPr lang="en-US" altLang="zh-CN" sz="2400" dirty="0" err="1">
                <a:latin typeface="Consolas" panose="020B0609020204030204" pitchFamily="49" charset="0"/>
              </a:rPr>
              <a:t>putchar</a:t>
            </a:r>
            <a:r>
              <a:rPr lang="en-US" altLang="zh-CN" sz="2400" dirty="0">
                <a:latin typeface="Consolas" panose="020B0609020204030204" pitchFamily="49" charset="0"/>
              </a:rPr>
              <a:t>('\n');}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253A8A57-6274-4653-967A-B83A07EBE5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E16D5D59-A65A-4D64-A767-D8C581B8AE28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14</a:t>
            </a:fld>
            <a:endParaRPr lang="zh-CN" altLang="en-US" sz="1400"/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75D1D660-3742-416F-B3E9-DFEB73DB1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 dirty="0"/>
              <a:t>总结：寻找数位分解的特殊数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FC14C13-996A-4E42-BD8C-366DCA5FAC1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1145290"/>
            <a:ext cx="7918450" cy="461168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b="1" dirty="0"/>
              <a:t>例</a:t>
            </a:r>
            <a:r>
              <a:rPr lang="en-US" altLang="zh-CN" b="1" dirty="0"/>
              <a:t>3</a:t>
            </a:r>
            <a:r>
              <a:rPr lang="zh-CN" altLang="en-US" b="1" dirty="0"/>
              <a:t>：</a:t>
            </a:r>
            <a:r>
              <a:rPr lang="zh-CN" altLang="en-US" b="1" dirty="0">
                <a:sym typeface="宋体" panose="02010600030101010101" pitchFamily="2" charset="-122"/>
              </a:rPr>
              <a:t>打印</a:t>
            </a:r>
            <a:r>
              <a:rPr lang="en-US" altLang="zh-CN" b="1" dirty="0" err="1">
                <a:sym typeface="宋体" panose="02010600030101010101" pitchFamily="2" charset="-122"/>
              </a:rPr>
              <a:t>1..n</a:t>
            </a:r>
            <a:r>
              <a:rPr lang="zh-CN" altLang="en-US" b="1" dirty="0">
                <a:sym typeface="宋体" panose="02010600030101010101" pitchFamily="2" charset="-122"/>
              </a:rPr>
              <a:t>之间所有除以</a:t>
            </a:r>
            <a:r>
              <a:rPr lang="en-US" altLang="zh-CN" b="1" dirty="0">
                <a:sym typeface="宋体" panose="02010600030101010101" pitchFamily="2" charset="-122"/>
              </a:rPr>
              <a:t>m</a:t>
            </a:r>
            <a:r>
              <a:rPr lang="zh-CN" altLang="en-US" b="1" dirty="0">
                <a:sym typeface="宋体" panose="02010600030101010101" pitchFamily="2" charset="-122"/>
              </a:rPr>
              <a:t>后所得商正好是它的各个数字平方和的数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marL="0" indent="0" eaLnBrk="1" hangingPunct="1">
              <a:buNone/>
            </a:pPr>
            <a:r>
              <a:rPr lang="zh-CN" altLang="en-US" b="1" dirty="0"/>
              <a:t>算法分析：</a:t>
            </a:r>
            <a:endParaRPr lang="en-US" altLang="zh-CN" b="1" dirty="0"/>
          </a:p>
          <a:p>
            <a:pPr marL="457200" lvl="1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定义整数变量</a:t>
            </a:r>
            <a:r>
              <a:rPr lang="en-US" altLang="zh-CN" sz="2400" dirty="0" err="1">
                <a:latin typeface="Consolas" panose="020B0609020204030204" pitchFamily="49" charset="0"/>
              </a:rPr>
              <a:t>n,m,i,squareSum,tmp,digit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marL="457200" lvl="1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接受键盘输入的</a:t>
            </a:r>
            <a:r>
              <a:rPr lang="en-US" altLang="zh-CN" sz="2400" dirty="0">
                <a:latin typeface="Consolas" panose="020B0609020204030204" pitchFamily="49" charset="0"/>
              </a:rPr>
              <a:t>n</a:t>
            </a:r>
            <a:r>
              <a:rPr lang="zh-CN" altLang="en-US" sz="2400" dirty="0">
                <a:latin typeface="Consolas" panose="020B0609020204030204" pitchFamily="49" charset="0"/>
              </a:rPr>
              <a:t>和</a:t>
            </a:r>
            <a:r>
              <a:rPr lang="en-US" altLang="zh-CN" sz="2400" dirty="0">
                <a:latin typeface="Consolas" panose="020B0609020204030204" pitchFamily="49" charset="0"/>
              </a:rPr>
              <a:t>m;</a:t>
            </a:r>
          </a:p>
          <a:p>
            <a:pPr marL="457200" lvl="1" indent="0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for 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:=1 to n</a:t>
            </a:r>
          </a:p>
          <a:p>
            <a:pPr marL="914400" lvl="2" indent="0" eaLnBrk="1" hangingPunct="1">
              <a:buNone/>
            </a:pP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for(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tmp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i,squareSum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=0;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tmp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!=0;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tmp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/=10)</a:t>
            </a:r>
          </a:p>
          <a:p>
            <a:pPr marL="914400" lvl="2" indent="0" eaLnBrk="1" hangingPunct="1">
              <a:buNone/>
            </a:pP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	digit = 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tmp%10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 ;</a:t>
            </a:r>
          </a:p>
          <a:p>
            <a:pPr marL="914400" lvl="2" indent="0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squareSum</a:t>
            </a:r>
            <a:r>
              <a:rPr lang="en-US" altLang="zh-CN" sz="2400" dirty="0">
                <a:latin typeface="Consolas" panose="020B0609020204030204" pitchFamily="49" charset="0"/>
              </a:rPr>
              <a:t> +=digit*digit;</a:t>
            </a:r>
          </a:p>
          <a:p>
            <a:pPr marL="914400" lvl="2" indent="0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  <a:r>
              <a:rPr lang="zh-CN" altLang="en-US" sz="2400" dirty="0">
                <a:latin typeface="Consolas" panose="020B0609020204030204" pitchFamily="49" charset="0"/>
              </a:rPr>
              <a:t>从低位分解整数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, </a:t>
            </a:r>
            <a:r>
              <a:rPr lang="zh-CN" altLang="en-US" sz="2400" dirty="0">
                <a:latin typeface="Consolas" panose="020B0609020204030204" pitchFamily="49" charset="0"/>
              </a:rPr>
              <a:t>计算各位数平方和</a:t>
            </a: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  <a:p>
            <a:pPr marL="914400" lvl="2" indent="0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if 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/m == </a:t>
            </a:r>
            <a:r>
              <a:rPr lang="en-US" altLang="zh-CN" sz="2400" dirty="0" err="1">
                <a:latin typeface="Consolas" panose="020B0609020204030204" pitchFamily="49" charset="0"/>
              </a:rPr>
              <a:t>squareSum</a:t>
            </a:r>
            <a:r>
              <a:rPr lang="en-US" altLang="zh-CN" sz="2400" dirty="0">
                <a:latin typeface="Consolas" panose="020B0609020204030204" pitchFamily="49" charset="0"/>
              </a:rPr>
              <a:t>)</a:t>
            </a:r>
          </a:p>
          <a:p>
            <a:pPr marL="1371600" lvl="3" indent="0" eaLnBrk="1" hangingPunct="1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print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4617930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68033167-4C6C-4225-8FBB-69FF275CF1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713" y="120650"/>
            <a:ext cx="7018337" cy="1165225"/>
          </a:xfrm>
        </p:spPr>
        <p:txBody>
          <a:bodyPr/>
          <a:lstStyle/>
          <a:p>
            <a:r>
              <a:rPr lang="en-US" altLang="zh-CN" b="1" dirty="0" err="1">
                <a:sym typeface="宋体" panose="02010600030101010101" pitchFamily="2" charset="-122"/>
              </a:rPr>
              <a:t>1..n</a:t>
            </a:r>
            <a:r>
              <a:rPr lang="zh-CN" altLang="en-US" b="1" dirty="0">
                <a:sym typeface="宋体" panose="02010600030101010101" pitchFamily="2" charset="-122"/>
              </a:rPr>
              <a:t>之间除</a:t>
            </a:r>
            <a:r>
              <a:rPr lang="en-US" altLang="zh-CN" b="1" dirty="0">
                <a:sym typeface="宋体" panose="02010600030101010101" pitchFamily="2" charset="-122"/>
              </a:rPr>
              <a:t>m</a:t>
            </a:r>
            <a:r>
              <a:rPr lang="zh-CN" altLang="en-US" b="1" dirty="0">
                <a:sym typeface="宋体" panose="02010600030101010101" pitchFamily="2" charset="-122"/>
              </a:rPr>
              <a:t>商等于各数字平方和</a:t>
            </a:r>
            <a:endParaRPr lang="zh-CN" altLang="en-US" dirty="0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B678858B-8917-4DC5-84D2-A87FB2888D4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28625" y="1285875"/>
            <a:ext cx="8442325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int </a:t>
            </a:r>
            <a:r>
              <a:rPr lang="en-US" altLang="zh-CN" sz="2000" dirty="0" err="1">
                <a:latin typeface="Consolas" panose="020B0609020204030204" pitchFamily="49" charset="0"/>
              </a:rPr>
              <a:t>n,m,i,squareSum,tmp,digit,count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d%d</a:t>
            </a:r>
            <a:r>
              <a:rPr lang="en-US" altLang="zh-CN" sz="2000" dirty="0">
                <a:latin typeface="Consolas" panose="020B0609020204030204" pitchFamily="49" charset="0"/>
              </a:rPr>
              <a:t>",&amp;</a:t>
            </a:r>
            <a:r>
              <a:rPr lang="en-US" altLang="zh-CN" sz="2000" dirty="0" err="1">
                <a:latin typeface="Consolas" panose="020B0609020204030204" pitchFamily="49" charset="0"/>
              </a:rPr>
              <a:t>n,&amp;m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for 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1,count</a:t>
            </a:r>
            <a:r>
              <a:rPr lang="en-US" altLang="zh-CN" sz="2000" dirty="0">
                <a:latin typeface="Consolas" panose="020B0609020204030204" pitchFamily="49" charset="0"/>
              </a:rPr>
              <a:t>=0;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&lt;=n;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    for(</a:t>
            </a:r>
            <a:r>
              <a:rPr lang="en-US" altLang="zh-CN" sz="2000" dirty="0" err="1">
                <a:latin typeface="Consolas" panose="020B0609020204030204" pitchFamily="49" charset="0"/>
              </a:rPr>
              <a:t>tmp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i,squareSum</a:t>
            </a:r>
            <a:r>
              <a:rPr lang="en-US" altLang="zh-CN" sz="2000" dirty="0">
                <a:latin typeface="Consolas" panose="020B0609020204030204" pitchFamily="49" charset="0"/>
              </a:rPr>
              <a:t>=0; </a:t>
            </a:r>
            <a:r>
              <a:rPr lang="en-US" altLang="zh-CN" sz="2000" dirty="0" err="1">
                <a:latin typeface="Consolas" panose="020B0609020204030204" pitchFamily="49" charset="0"/>
              </a:rPr>
              <a:t>tmp</a:t>
            </a:r>
            <a:r>
              <a:rPr lang="en-US" altLang="zh-CN" sz="2000" dirty="0">
                <a:latin typeface="Consolas" panose="020B0609020204030204" pitchFamily="49" charset="0"/>
              </a:rPr>
              <a:t>!=0; </a:t>
            </a:r>
            <a:r>
              <a:rPr lang="en-US" altLang="zh-CN" sz="2000" dirty="0" err="1">
                <a:latin typeface="Consolas" panose="020B0609020204030204" pitchFamily="49" charset="0"/>
              </a:rPr>
              <a:t>tmp</a:t>
            </a:r>
            <a:r>
              <a:rPr lang="en-US" altLang="zh-CN" sz="2000" dirty="0">
                <a:latin typeface="Consolas" panose="020B0609020204030204" pitchFamily="49" charset="0"/>
              </a:rPr>
              <a:t>/=10)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	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 	digit = </a:t>
            </a:r>
            <a:r>
              <a:rPr lang="en-US" altLang="zh-CN" sz="2000" dirty="0" err="1">
                <a:latin typeface="Consolas" panose="020B0609020204030204" pitchFamily="49" charset="0"/>
              </a:rPr>
              <a:t>tmp%10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</a:t>
            </a:r>
            <a:r>
              <a:rPr lang="en-US" altLang="zh-CN" sz="2000" dirty="0" err="1">
                <a:latin typeface="Consolas" panose="020B0609020204030204" pitchFamily="49" charset="0"/>
              </a:rPr>
              <a:t>squareSum</a:t>
            </a:r>
            <a:r>
              <a:rPr lang="en-US" altLang="zh-CN" sz="2000" dirty="0">
                <a:latin typeface="Consolas" panose="020B0609020204030204" pitchFamily="49" charset="0"/>
              </a:rPr>
              <a:t> += digit*digit;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if 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/m == </a:t>
            </a:r>
            <a:r>
              <a:rPr lang="en-US" altLang="zh-CN" sz="2000" dirty="0" err="1">
                <a:latin typeface="Consolas" panose="020B0609020204030204" pitchFamily="49" charset="0"/>
              </a:rPr>
              <a:t>squareSum</a:t>
            </a:r>
            <a:r>
              <a:rPr lang="en-US" altLang="zh-CN" sz="2000" dirty="0">
                <a:latin typeface="Consolas" panose="020B0609020204030204" pitchFamily="49" charset="0"/>
              </a:rPr>
              <a:t>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count++;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("%d\t",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if(</a:t>
            </a:r>
            <a:r>
              <a:rPr lang="en-US" altLang="zh-CN" sz="2000" dirty="0" err="1">
                <a:latin typeface="Consolas" panose="020B0609020204030204" pitchFamily="49" charset="0"/>
              </a:rPr>
              <a:t>count%3</a:t>
            </a:r>
            <a:r>
              <a:rPr lang="en-US" altLang="zh-CN" sz="2000" dirty="0">
                <a:latin typeface="Consolas" panose="020B0609020204030204" pitchFamily="49" charset="0"/>
              </a:rPr>
              <a:t>==0)  </a:t>
            </a:r>
            <a:r>
              <a:rPr lang="en-US" altLang="zh-CN" sz="2000" dirty="0" err="1">
                <a:latin typeface="Consolas" panose="020B0609020204030204" pitchFamily="49" charset="0"/>
              </a:rPr>
              <a:t>putchar</a:t>
            </a:r>
            <a:r>
              <a:rPr lang="en-US" altLang="zh-CN" sz="2000" dirty="0">
                <a:latin typeface="Consolas" panose="020B0609020204030204" pitchFamily="49" charset="0"/>
              </a:rPr>
              <a:t>('\n');}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4">
            <a:extLst>
              <a:ext uri="{FF2B5EF4-FFF2-40B4-BE49-F238E27FC236}">
                <a16:creationId xmlns:a16="http://schemas.microsoft.com/office/drawing/2014/main" id="{D3FF87A5-D7E3-4F0F-92BA-D552675C23A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5CA514A1-C2F9-4F9E-936A-E7D38B5350E3}" type="slidenum">
              <a:rPr lang="zh-CN" altLang="en-US" sz="1400" b="1"/>
              <a:pPr algn="r" eaLnBrk="1" hangingPunct="1">
                <a:spcBef>
                  <a:spcPct val="50000"/>
                </a:spcBef>
                <a:buFontTx/>
                <a:buNone/>
              </a:pPr>
              <a:t>16</a:t>
            </a:fld>
            <a:endParaRPr lang="zh-CN" altLang="en-US" sz="1400" b="1"/>
          </a:p>
        </p:txBody>
      </p:sp>
      <p:sp>
        <p:nvSpPr>
          <p:cNvPr id="48131" name="Rectangle 4">
            <a:extLst>
              <a:ext uri="{FF2B5EF4-FFF2-40B4-BE49-F238E27FC236}">
                <a16:creationId xmlns:a16="http://schemas.microsoft.com/office/drawing/2014/main" id="{148975A3-9D36-4D86-BA2B-66846D6863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319213"/>
            <a:ext cx="8134350" cy="110172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练习</a:t>
            </a:r>
            <a:r>
              <a:rPr lang="en-US" altLang="zh-CN" b="1" dirty="0"/>
              <a:t>:</a:t>
            </a:r>
            <a:r>
              <a:rPr lang="zh-CN" altLang="en-US" b="1" dirty="0"/>
              <a:t> 一个大于等于</a:t>
            </a:r>
            <a:r>
              <a:rPr lang="en-US" altLang="zh-CN" b="1" dirty="0"/>
              <a:t>3</a:t>
            </a:r>
            <a:r>
              <a:rPr lang="zh-CN" altLang="en-US" b="1" dirty="0"/>
              <a:t>的正整数，判断它是否为一个素数（素数）</a:t>
            </a:r>
            <a:r>
              <a:rPr lang="zh-CN" altLang="en-US" dirty="0"/>
              <a:t> </a:t>
            </a:r>
            <a:r>
              <a:rPr lang="zh-CN" altLang="en-US" b="1" dirty="0"/>
              <a:t>。</a:t>
            </a:r>
          </a:p>
        </p:txBody>
      </p:sp>
      <p:sp>
        <p:nvSpPr>
          <p:cNvPr id="48132" name="Text Box 5">
            <a:extLst>
              <a:ext uri="{FF2B5EF4-FFF2-40B4-BE49-F238E27FC236}">
                <a16:creationId xmlns:a16="http://schemas.microsoft.com/office/drawing/2014/main" id="{1B84763B-0886-42CF-B7D2-23AB50C1C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844675"/>
            <a:ext cx="7696200" cy="410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b="1" dirty="0">
              <a:solidFill>
                <a:srgbClr val="000066"/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0066"/>
                </a:solidFill>
              </a:rPr>
              <a:t>所谓素数，是指除了</a:t>
            </a:r>
            <a:r>
              <a:rPr lang="en-US" altLang="zh-CN" b="1" dirty="0">
                <a:solidFill>
                  <a:srgbClr val="000066"/>
                </a:solidFill>
              </a:rPr>
              <a:t>1</a:t>
            </a:r>
            <a:r>
              <a:rPr lang="zh-CN" altLang="en-US" b="1" dirty="0">
                <a:solidFill>
                  <a:srgbClr val="000066"/>
                </a:solidFill>
              </a:rPr>
              <a:t>和该数本身外，不能被其他任何整数整除的数。例如，</a:t>
            </a:r>
            <a:r>
              <a:rPr lang="en-US" altLang="zh-CN" b="1" dirty="0">
                <a:solidFill>
                  <a:srgbClr val="000066"/>
                </a:solidFill>
              </a:rPr>
              <a:t>13</a:t>
            </a:r>
            <a:r>
              <a:rPr lang="zh-CN" altLang="en-US" b="1" dirty="0">
                <a:solidFill>
                  <a:srgbClr val="000066"/>
                </a:solidFill>
              </a:rPr>
              <a:t>是素数（素数）。因为它不能被</a:t>
            </a:r>
            <a:r>
              <a:rPr lang="en-US" altLang="zh-CN" b="1" dirty="0">
                <a:solidFill>
                  <a:srgbClr val="000066"/>
                </a:solidFill>
              </a:rPr>
              <a:t>2</a:t>
            </a:r>
            <a:r>
              <a:rPr lang="zh-CN" altLang="en-US" b="1" dirty="0">
                <a:solidFill>
                  <a:srgbClr val="000066"/>
                </a:solidFill>
              </a:rPr>
              <a:t>，</a:t>
            </a:r>
            <a:r>
              <a:rPr lang="en-US" altLang="zh-CN" b="1" dirty="0">
                <a:solidFill>
                  <a:srgbClr val="000066"/>
                </a:solidFill>
              </a:rPr>
              <a:t>3</a:t>
            </a:r>
            <a:r>
              <a:rPr lang="zh-CN" altLang="en-US" b="1" dirty="0">
                <a:solidFill>
                  <a:srgbClr val="000066"/>
                </a:solidFill>
              </a:rPr>
              <a:t>，</a:t>
            </a:r>
            <a:r>
              <a:rPr lang="en-US" altLang="zh-CN" b="1" dirty="0">
                <a:solidFill>
                  <a:srgbClr val="000066"/>
                </a:solidFill>
              </a:rPr>
              <a:t>4</a:t>
            </a:r>
            <a:r>
              <a:rPr lang="zh-CN" altLang="en-US" b="1" dirty="0">
                <a:solidFill>
                  <a:srgbClr val="000066"/>
                </a:solidFill>
              </a:rPr>
              <a:t>，</a:t>
            </a:r>
            <a:r>
              <a:rPr lang="en-US" altLang="zh-CN" b="1" dirty="0">
                <a:solidFill>
                  <a:srgbClr val="000066"/>
                </a:solidFill>
              </a:rPr>
              <a:t>…</a:t>
            </a:r>
            <a:r>
              <a:rPr lang="zh-CN" altLang="en-US" b="1" dirty="0">
                <a:solidFill>
                  <a:srgbClr val="000066"/>
                </a:solidFill>
              </a:rPr>
              <a:t>，</a:t>
            </a:r>
            <a:r>
              <a:rPr lang="en-US" altLang="zh-CN" b="1" dirty="0">
                <a:solidFill>
                  <a:srgbClr val="000066"/>
                </a:solidFill>
              </a:rPr>
              <a:t>12</a:t>
            </a:r>
            <a:r>
              <a:rPr lang="zh-CN" altLang="en-US" b="1" dirty="0">
                <a:solidFill>
                  <a:srgbClr val="000066"/>
                </a:solidFill>
              </a:rPr>
              <a:t>整除。</a:t>
            </a:r>
            <a:endParaRPr lang="zh-CN" altLang="en-US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0066"/>
                </a:solidFill>
              </a:rPr>
              <a:t>由于素数在当代的密码学中扮演了中心的作用，所以该问题具有重要意义。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0066"/>
                </a:solidFill>
              </a:rPr>
              <a:t>判断一个数</a:t>
            </a:r>
            <a:r>
              <a:rPr lang="en-US" altLang="zh-CN" b="1" dirty="0">
                <a:solidFill>
                  <a:srgbClr val="000066"/>
                </a:solidFill>
              </a:rPr>
              <a:t>n</a:t>
            </a:r>
            <a:r>
              <a:rPr lang="zh-CN" altLang="en-US" b="1" dirty="0">
                <a:solidFill>
                  <a:srgbClr val="000066"/>
                </a:solidFill>
              </a:rPr>
              <a:t>（</a:t>
            </a:r>
            <a:r>
              <a:rPr lang="en-US" altLang="zh-CN" b="1" dirty="0" err="1">
                <a:solidFill>
                  <a:srgbClr val="000066"/>
                </a:solidFill>
              </a:rPr>
              <a:t>n≥3</a:t>
            </a:r>
            <a:r>
              <a:rPr lang="zh-CN" altLang="en-US" b="1" dirty="0">
                <a:solidFill>
                  <a:srgbClr val="000066"/>
                </a:solidFill>
              </a:rPr>
              <a:t>）是否为素数：将</a:t>
            </a:r>
            <a:r>
              <a:rPr lang="en-US" altLang="zh-CN" b="1" dirty="0">
                <a:solidFill>
                  <a:srgbClr val="000066"/>
                </a:solidFill>
              </a:rPr>
              <a:t>n</a:t>
            </a:r>
            <a:r>
              <a:rPr lang="zh-CN" altLang="en-US" b="1" dirty="0">
                <a:solidFill>
                  <a:srgbClr val="000066"/>
                </a:solidFill>
              </a:rPr>
              <a:t>作为被除数，将</a:t>
            </a:r>
            <a:r>
              <a:rPr lang="en-US" altLang="zh-CN" b="1" dirty="0" err="1">
                <a:solidFill>
                  <a:srgbClr val="000066"/>
                </a:solidFill>
              </a:rPr>
              <a:t>2..n</a:t>
            </a:r>
            <a:r>
              <a:rPr lang="en-US" altLang="zh-CN" b="1" dirty="0">
                <a:solidFill>
                  <a:srgbClr val="000066"/>
                </a:solidFill>
              </a:rPr>
              <a:t>-1</a:t>
            </a:r>
            <a:r>
              <a:rPr lang="zh-CN" altLang="en-US" b="1" dirty="0">
                <a:solidFill>
                  <a:srgbClr val="000066"/>
                </a:solidFill>
              </a:rPr>
              <a:t>各个整数依次作为除数，如果都不能被整除，则</a:t>
            </a:r>
            <a:r>
              <a:rPr lang="en-US" altLang="zh-CN" b="1" dirty="0">
                <a:solidFill>
                  <a:srgbClr val="000066"/>
                </a:solidFill>
              </a:rPr>
              <a:t>n</a:t>
            </a:r>
            <a:r>
              <a:rPr lang="zh-CN" altLang="en-US" b="1" dirty="0">
                <a:solidFill>
                  <a:srgbClr val="000066"/>
                </a:solidFill>
              </a:rPr>
              <a:t>为素数。</a:t>
            </a:r>
          </a:p>
        </p:txBody>
      </p:sp>
      <p:sp>
        <p:nvSpPr>
          <p:cNvPr id="48133" name="Rectangle 10">
            <a:extLst>
              <a:ext uri="{FF2B5EF4-FFF2-40B4-BE49-F238E27FC236}">
                <a16:creationId xmlns:a16="http://schemas.microsoft.com/office/drawing/2014/main" id="{3FEAA934-EE33-4B7A-B4FF-F173A31DDA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解空间</a:t>
            </a:r>
            <a:r>
              <a:rPr lang="en-US" altLang="zh-CN" b="1" dirty="0"/>
              <a:t>4</a:t>
            </a:r>
            <a:r>
              <a:rPr lang="zh-CN" altLang="en-US" b="1" dirty="0"/>
              <a:t>：素数判定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4">
            <a:extLst>
              <a:ext uri="{FF2B5EF4-FFF2-40B4-BE49-F238E27FC236}">
                <a16:creationId xmlns:a16="http://schemas.microsoft.com/office/drawing/2014/main" id="{A7F4F549-1564-4273-9CED-07B0CC34D12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04925744-B4DA-4CCC-A0FC-0C9D259F5AFC}" type="slidenum">
              <a:rPr lang="zh-CN" altLang="en-US" sz="1400" b="1"/>
              <a:pPr algn="r" eaLnBrk="1" hangingPunct="1">
                <a:spcBef>
                  <a:spcPct val="50000"/>
                </a:spcBef>
                <a:buFontTx/>
                <a:buNone/>
              </a:pPr>
              <a:t>17</a:t>
            </a:fld>
            <a:endParaRPr lang="zh-CN" altLang="en-US" sz="1400" b="1"/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64242091-DD1E-435E-8062-EF89CC0E6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268760"/>
            <a:ext cx="79629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dirty="0">
                <a:latin typeface="Consolas" panose="020B0609020204030204" pitchFamily="49" charset="0"/>
              </a:rPr>
              <a:t>procedure </a:t>
            </a:r>
            <a:r>
              <a:rPr lang="en-US" altLang="zh-CN" dirty="0" err="1">
                <a:latin typeface="Consolas" panose="020B0609020204030204" pitchFamily="49" charset="0"/>
              </a:rPr>
              <a:t>isPrime</a:t>
            </a:r>
            <a:r>
              <a:rPr lang="en-US" altLang="zh-CN" dirty="0">
                <a:latin typeface="Consolas" panose="020B0609020204030204" pitchFamily="49" charset="0"/>
              </a:rPr>
              <a:t>(n: &gt;=3 integer)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dirty="0">
                <a:latin typeface="Consolas" panose="020B0609020204030204" pitchFamily="49" charset="0"/>
              </a:rPr>
              <a:t>	for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:=2 to n-1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dirty="0">
                <a:latin typeface="Consolas" panose="020B0609020204030204" pitchFamily="49" charset="0"/>
              </a:rPr>
              <a:t>		if (</a:t>
            </a:r>
            <a:r>
              <a:rPr lang="en-US" altLang="zh-CN" dirty="0" err="1">
                <a:latin typeface="Consolas" panose="020B0609020204030204" pitchFamily="49" charset="0"/>
              </a:rPr>
              <a:t>n%i</a:t>
            </a:r>
            <a:r>
              <a:rPr lang="en-US" altLang="zh-CN" dirty="0">
                <a:latin typeface="Consolas" panose="020B0609020204030204" pitchFamily="49" charset="0"/>
              </a:rPr>
              <a:t>==0)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dirty="0">
                <a:latin typeface="Consolas" panose="020B0609020204030204" pitchFamily="49" charset="0"/>
              </a:rPr>
              <a:t>			break;</a:t>
            </a:r>
            <a:endParaRPr lang="zh-CN" altLang="en-US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dirty="0">
                <a:latin typeface="Consolas" panose="020B0609020204030204" pitchFamily="49" charset="0"/>
              </a:rPr>
              <a:t>		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++;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dirty="0">
                <a:latin typeface="Consolas" panose="020B0609020204030204" pitchFamily="49" charset="0"/>
              </a:rPr>
              <a:t>  if (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&lt;n)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dirty="0">
                <a:latin typeface="Consolas" panose="020B0609020204030204" pitchFamily="49" charset="0"/>
              </a:rPr>
              <a:t>		print </a:t>
            </a:r>
            <a:r>
              <a:rPr lang="en-US" altLang="zh-CN" dirty="0">
                <a:latin typeface="Consolas" panose="020B0609020204030204" pitchFamily="49" charset="0"/>
                <a:sym typeface="宋体" panose="02010600030101010101" pitchFamily="2" charset="-122"/>
              </a:rPr>
              <a:t>n</a:t>
            </a:r>
            <a:r>
              <a:rPr lang="zh-CN" altLang="en-US" dirty="0">
                <a:latin typeface="Consolas" panose="020B0609020204030204" pitchFamily="49" charset="0"/>
                <a:sym typeface="宋体" panose="02010600030101010101" pitchFamily="2" charset="-122"/>
              </a:rPr>
              <a:t>不</a:t>
            </a:r>
            <a:r>
              <a:rPr lang="zh-CN" altLang="en-US" dirty="0">
                <a:latin typeface="Consolas" panose="020B0609020204030204" pitchFamily="49" charset="0"/>
              </a:rPr>
              <a:t>是素数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dirty="0">
                <a:latin typeface="Consolas" panose="020B0609020204030204" pitchFamily="49" charset="0"/>
              </a:rPr>
              <a:t>  else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dirty="0">
                <a:latin typeface="Consolas" panose="020B0609020204030204" pitchFamily="49" charset="0"/>
              </a:rPr>
              <a:t>		print</a:t>
            </a:r>
            <a:r>
              <a:rPr lang="en-US" altLang="zh-CN" dirty="0">
                <a:latin typeface="Consolas" panose="020B0609020204030204" pitchFamily="49" charset="0"/>
                <a:sym typeface="宋体" panose="02010600030101010101" pitchFamily="2" charset="-122"/>
              </a:rPr>
              <a:t> n</a:t>
            </a:r>
            <a:r>
              <a:rPr lang="zh-CN" altLang="en-US" dirty="0">
                <a:latin typeface="Consolas" panose="020B0609020204030204" pitchFamily="49" charset="0"/>
                <a:sym typeface="宋体" panose="02010600030101010101" pitchFamily="2" charset="-122"/>
              </a:rPr>
              <a:t>是素数</a:t>
            </a:r>
            <a:endParaRPr lang="en-US" altLang="zh-CN" dirty="0">
              <a:latin typeface="Consolas" panose="020B0609020204030204" pitchFamily="49" charset="0"/>
              <a:sym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en-US" altLang="zh-CN" dirty="0">
                <a:latin typeface="Consolas" panose="020B0609020204030204" pitchFamily="49" charset="0"/>
                <a:sym typeface="宋体" panose="02010600030101010101" pitchFamily="2" charset="-122"/>
              </a:rPr>
              <a:t>return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Pct val="75000"/>
              <a:buFontTx/>
              <a:buNone/>
            </a:pPr>
            <a:endParaRPr lang="en-US" altLang="zh-CN" sz="2000" b="1" dirty="0">
              <a:latin typeface="+mn-ea"/>
              <a:ea typeface="+mn-ea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Pct val="75000"/>
              <a:buFontTx/>
              <a:buNone/>
            </a:pPr>
            <a:r>
              <a:rPr lang="zh-CN" altLang="en-US" sz="2000" b="1" dirty="0">
                <a:latin typeface="+mn-ea"/>
                <a:ea typeface="+mn-ea"/>
              </a:rPr>
              <a:t>提示：</a:t>
            </a:r>
            <a:r>
              <a:rPr lang="en-US" altLang="zh-CN" sz="2000" b="1" dirty="0">
                <a:latin typeface="+mn-ea"/>
                <a:ea typeface="+mn-ea"/>
              </a:rPr>
              <a:t>n</a:t>
            </a:r>
            <a:r>
              <a:rPr lang="zh-CN" altLang="en-US" sz="2000" b="1" dirty="0">
                <a:latin typeface="+mn-ea"/>
                <a:ea typeface="+mn-ea"/>
              </a:rPr>
              <a:t>为素数的穷举因子范围，只需</a:t>
            </a:r>
            <a:r>
              <a:rPr lang="en-US" altLang="zh-CN" sz="2000" b="1" dirty="0">
                <a:latin typeface="+mn-ea"/>
                <a:ea typeface="+mn-ea"/>
              </a:rPr>
              <a:t>2..</a:t>
            </a:r>
            <a:r>
              <a:rPr lang="zh-CN" altLang="en-US" sz="2000" b="1" dirty="0">
                <a:latin typeface="+mn-ea"/>
                <a:ea typeface="+mn-ea"/>
              </a:rPr>
              <a:t>    之间即可</a:t>
            </a:r>
            <a:r>
              <a:rPr lang="en-US" altLang="zh-CN" sz="2000" b="1" dirty="0">
                <a:latin typeface="+mn-ea"/>
                <a:ea typeface="+mn-ea"/>
              </a:rPr>
              <a:t>.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52229" name="Rectangle 14">
            <a:extLst>
              <a:ext uri="{FF2B5EF4-FFF2-40B4-BE49-F238E27FC236}">
                <a16:creationId xmlns:a16="http://schemas.microsoft.com/office/drawing/2014/main" id="{89C8D027-1DF0-4881-AAD0-79A8ACC8F96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 b="1" dirty="0"/>
              <a:t> </a:t>
            </a:r>
            <a:r>
              <a:rPr lang="zh-CN" altLang="en-US" sz="2800" b="1" dirty="0"/>
              <a:t>素数判定算法伪代码</a:t>
            </a:r>
          </a:p>
        </p:txBody>
      </p:sp>
      <p:sp>
        <p:nvSpPr>
          <p:cNvPr id="52231" name="Rectangle 23">
            <a:extLst>
              <a:ext uri="{FF2B5EF4-FFF2-40B4-BE49-F238E27FC236}">
                <a16:creationId xmlns:a16="http://schemas.microsoft.com/office/drawing/2014/main" id="{C7EB098A-12D1-4BDB-8BC3-8626F83BF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52232" name="对象 31759">
            <a:extLst>
              <a:ext uri="{FF2B5EF4-FFF2-40B4-BE49-F238E27FC236}">
                <a16:creationId xmlns:a16="http://schemas.microsoft.com/office/drawing/2014/main" id="{53D43C67-E484-407D-A8AF-C1C5E54D39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104459"/>
              </p:ext>
            </p:extLst>
          </p:nvPr>
        </p:nvGraphicFramePr>
        <p:xfrm>
          <a:off x="5076056" y="5262563"/>
          <a:ext cx="5032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1930" imgH="229197" progId="">
                  <p:embed/>
                </p:oleObj>
              </mc:Choice>
              <mc:Fallback>
                <p:oleObj r:id="rId3" imgW="241930" imgH="229197" progId="">
                  <p:embed/>
                  <p:pic>
                    <p:nvPicPr>
                      <p:cNvPr id="0" name="对象 317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5262563"/>
                        <a:ext cx="50323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4">
            <a:extLst>
              <a:ext uri="{FF2B5EF4-FFF2-40B4-BE49-F238E27FC236}">
                <a16:creationId xmlns:a16="http://schemas.microsoft.com/office/drawing/2014/main" id="{E89673B9-25C2-4A19-8C9A-398B5CDB576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D3BCA46A-53C0-490D-88CE-0F7A7EF0E301}" type="slidenum">
              <a:rPr lang="zh-CN" altLang="en-US" sz="1400" b="1"/>
              <a:pPr algn="r" eaLnBrk="1" hangingPunct="1">
                <a:spcBef>
                  <a:spcPct val="50000"/>
                </a:spcBef>
                <a:buFontTx/>
                <a:buNone/>
              </a:pPr>
              <a:t>18</a:t>
            </a:fld>
            <a:endParaRPr lang="zh-CN" altLang="en-US" sz="1400" b="1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FCA81BDE-B44B-493F-98AE-7C5BDE6C0D3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素数判定</a:t>
            </a:r>
            <a:endParaRPr lang="en-US" altLang="zh-CN" dirty="0"/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D924F4A8-84BD-4F14-AC2E-644C18E27D9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237619"/>
            <a:ext cx="7847013" cy="49180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int </a:t>
            </a:r>
            <a:r>
              <a:rPr lang="en-US" altLang="zh-CN" sz="2000" dirty="0" err="1">
                <a:latin typeface="Consolas" panose="020B0609020204030204" pitchFamily="49" charset="0"/>
              </a:rPr>
              <a:t>n,i,isPrime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d",&amp;n</a:t>
            </a:r>
            <a:r>
              <a:rPr lang="en-US" altLang="zh-CN" sz="2000" dirty="0">
                <a:latin typeface="Consolas" panose="020B0609020204030204" pitchFamily="49" charset="0"/>
              </a:rPr>
              <a:t>);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for(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2,isPrime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1;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&lt;=n &amp;&amp; (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isPrime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==1)</a:t>
            </a:r>
            <a:r>
              <a:rPr lang="en-US" altLang="zh-CN" sz="2000" dirty="0">
                <a:latin typeface="Consolas" panose="020B0609020204030204" pitchFamily="49" charset="0"/>
              </a:rPr>
              <a:t>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		if (</a:t>
            </a:r>
            <a:r>
              <a:rPr lang="en-US" altLang="zh-CN" sz="2000" dirty="0" err="1">
                <a:latin typeface="Consolas" panose="020B0609020204030204" pitchFamily="49" charset="0"/>
              </a:rPr>
              <a:t>n%i</a:t>
            </a:r>
            <a:r>
              <a:rPr lang="en-US" altLang="zh-CN" sz="2000" dirty="0">
                <a:latin typeface="Consolas" panose="020B0609020204030204" pitchFamily="49" charset="0"/>
              </a:rPr>
              <a:t>==0)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			</a:t>
            </a:r>
            <a:r>
              <a:rPr lang="en-US" altLang="zh-CN" sz="2000" dirty="0" err="1">
                <a:latin typeface="Consolas" panose="020B0609020204030204" pitchFamily="49" charset="0"/>
              </a:rPr>
              <a:t>isPrime</a:t>
            </a:r>
            <a:r>
              <a:rPr lang="en-US" altLang="zh-CN" sz="2000" dirty="0">
                <a:latin typeface="Consolas" panose="020B0609020204030204" pitchFamily="49" charset="0"/>
              </a:rPr>
              <a:t>=0;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if (</a:t>
            </a:r>
            <a:r>
              <a:rPr lang="en-US" altLang="zh-CN" sz="2000" dirty="0" err="1">
                <a:latin typeface="Consolas" panose="020B0609020204030204" pitchFamily="49" charset="0"/>
              </a:rPr>
              <a:t>isPrime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("Yes\n");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else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("No\n");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/* </a:t>
            </a:r>
            <a:r>
              <a:rPr lang="en-US" altLang="zh-CN" sz="2000" dirty="0" err="1">
                <a:latin typeface="Consolas" panose="020B0609020204030204" pitchFamily="49" charset="0"/>
              </a:rPr>
              <a:t>isPrime</a:t>
            </a:r>
            <a:r>
              <a:rPr lang="en-US" altLang="zh-CN" sz="2000" dirty="0">
                <a:latin typeface="Consolas" panose="020B0609020204030204" pitchFamily="49" charset="0"/>
              </a:rPr>
              <a:t>==1 </a:t>
            </a:r>
            <a:r>
              <a:rPr lang="zh-CN" altLang="en-US" sz="2000" dirty="0">
                <a:latin typeface="Consolas" panose="020B0609020204030204" pitchFamily="49" charset="0"/>
              </a:rPr>
              <a:t>可以简写为 </a:t>
            </a:r>
            <a:r>
              <a:rPr lang="en-US" altLang="zh-CN" sz="2000" dirty="0" err="1">
                <a:latin typeface="Consolas" panose="020B0609020204030204" pitchFamily="49" charset="0"/>
              </a:rPr>
              <a:t>isPrime</a:t>
            </a:r>
            <a:r>
              <a:rPr lang="en-US" altLang="zh-CN" sz="2000" dirty="0">
                <a:latin typeface="Consolas" panose="020B0609020204030204" pitchFamily="49" charset="0"/>
              </a:rPr>
              <a:t>*/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4">
            <a:extLst>
              <a:ext uri="{FF2B5EF4-FFF2-40B4-BE49-F238E27FC236}">
                <a16:creationId xmlns:a16="http://schemas.microsoft.com/office/drawing/2014/main" id="{5799BA3E-F6F9-4366-806D-C715C08F2F3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5692592F-E61F-4ECB-95B1-F3B6D87F4A36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19</a:t>
            </a:fld>
            <a:endParaRPr lang="zh-CN" altLang="en-US" sz="14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DAB47D8B-B4D5-4DC8-B60A-4888C3FED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 dirty="0"/>
              <a:t>解空间</a:t>
            </a:r>
            <a:r>
              <a:rPr lang="en-US" altLang="zh-CN" sz="3600" b="1" dirty="0"/>
              <a:t>5</a:t>
            </a:r>
            <a:r>
              <a:rPr lang="zh-CN" altLang="en-US" sz="3600" b="1" dirty="0"/>
              <a:t>：逻辑谜题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64AA1BD7-66A9-431D-8AD2-EE024E205F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3200" b="1" dirty="0"/>
              <a:t>例</a:t>
            </a:r>
            <a:r>
              <a:rPr lang="en-US" altLang="zh-CN" sz="3200" b="1" dirty="0"/>
              <a:t>4</a:t>
            </a:r>
            <a:r>
              <a:rPr lang="zh-CN" altLang="en-US" b="1" dirty="0"/>
              <a:t>：</a:t>
            </a:r>
            <a:r>
              <a:rPr lang="en-US" altLang="zh-CN" b="1" dirty="0"/>
              <a:t>5</a:t>
            </a:r>
            <a:r>
              <a:rPr lang="zh-CN" altLang="en-US" b="1" dirty="0"/>
              <a:t>位跳水高手将参加</a:t>
            </a:r>
            <a:r>
              <a:rPr lang="en-US" altLang="zh-CN" b="1" dirty="0" err="1"/>
              <a:t>10m</a:t>
            </a:r>
            <a:r>
              <a:rPr lang="zh-CN" altLang="en-US" b="1" dirty="0"/>
              <a:t>高台跳水决赛，好事者让</a:t>
            </a:r>
            <a:r>
              <a:rPr lang="en-US" altLang="zh-CN" b="1" dirty="0"/>
              <a:t>5</a:t>
            </a:r>
            <a:r>
              <a:rPr lang="zh-CN" altLang="en-US" b="1" dirty="0"/>
              <a:t>人据实力预测比赛结果。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A</a:t>
            </a:r>
            <a:r>
              <a:rPr lang="zh-CN" altLang="en-US" b="1" dirty="0"/>
              <a:t>选手说：</a:t>
            </a:r>
            <a:r>
              <a:rPr lang="en-US" altLang="zh-CN" b="1" dirty="0"/>
              <a:t>B</a:t>
            </a:r>
            <a:r>
              <a:rPr lang="zh-CN" altLang="en-US" b="1" dirty="0"/>
              <a:t>第二，我第三；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B</a:t>
            </a:r>
            <a:r>
              <a:rPr lang="zh-CN" altLang="en-US" b="1" dirty="0"/>
              <a:t>选手说：我第二，</a:t>
            </a:r>
            <a:r>
              <a:rPr lang="en-US" altLang="zh-CN" b="1" dirty="0"/>
              <a:t>E</a:t>
            </a:r>
            <a:r>
              <a:rPr lang="zh-CN" altLang="en-US" b="1" dirty="0"/>
              <a:t>第四；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C</a:t>
            </a:r>
            <a:r>
              <a:rPr lang="zh-CN" altLang="en-US" b="1" dirty="0"/>
              <a:t>选手说：我第一，</a:t>
            </a:r>
            <a:r>
              <a:rPr lang="en-US" altLang="zh-CN" b="1" dirty="0"/>
              <a:t>D</a:t>
            </a:r>
            <a:r>
              <a:rPr lang="zh-CN" altLang="en-US" b="1" dirty="0"/>
              <a:t>第二；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D</a:t>
            </a:r>
            <a:r>
              <a:rPr lang="zh-CN" altLang="en-US" b="1" dirty="0"/>
              <a:t>选手说：</a:t>
            </a:r>
            <a:r>
              <a:rPr lang="en-US" altLang="zh-CN" b="1" dirty="0"/>
              <a:t>C</a:t>
            </a:r>
            <a:r>
              <a:rPr lang="zh-CN" altLang="en-US" b="1" dirty="0"/>
              <a:t>最后，我第三；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E</a:t>
            </a:r>
            <a:r>
              <a:rPr lang="zh-CN" altLang="en-US" b="1" dirty="0"/>
              <a:t>选手说：我第四，</a:t>
            </a:r>
            <a:r>
              <a:rPr lang="en-US" altLang="zh-CN" b="1" dirty="0"/>
              <a:t>A</a:t>
            </a:r>
            <a:r>
              <a:rPr lang="zh-CN" altLang="en-US" b="1" dirty="0"/>
              <a:t>第一。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	决赛成绩公布后，每位选手的预测都说对了一半，即一对一错。请设计算法求出比赛的实际名次。</a:t>
            </a:r>
          </a:p>
          <a:p>
            <a:pPr eaLnBrk="1" hangingPunct="1">
              <a:lnSpc>
                <a:spcPct val="90000"/>
              </a:lnSpc>
            </a:pPr>
            <a:endParaRPr lang="zh-CN" altLang="en-US" b="1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4">
            <a:extLst>
              <a:ext uri="{FF2B5EF4-FFF2-40B4-BE49-F238E27FC236}">
                <a16:creationId xmlns:a16="http://schemas.microsoft.com/office/drawing/2014/main" id="{02D96F1D-9D9B-4CFE-8DB9-6F69421357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C3CB133B-E9AA-4D0F-9279-E607E0C0F065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20</a:t>
            </a:fld>
            <a:endParaRPr lang="zh-CN" altLang="en-US" sz="1400"/>
          </a:p>
        </p:txBody>
      </p:sp>
      <p:sp>
        <p:nvSpPr>
          <p:cNvPr id="41987" name="Rectangle 4">
            <a:extLst>
              <a:ext uri="{FF2B5EF4-FFF2-40B4-BE49-F238E27FC236}">
                <a16:creationId xmlns:a16="http://schemas.microsoft.com/office/drawing/2014/main" id="{CC252AFA-6A5C-4589-98CF-FBF61D386C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268760"/>
            <a:ext cx="7772400" cy="4611687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400" b="1" dirty="0"/>
              <a:t>定义逻辑谜题的候选解空间：</a:t>
            </a:r>
            <a:r>
              <a:rPr lang="en-US" altLang="zh-CN" sz="2400" b="1" dirty="0"/>
              <a:t>{ABCDE</a:t>
            </a:r>
            <a:r>
              <a:rPr lang="zh-CN" altLang="en-US" sz="2400" b="1" dirty="0"/>
              <a:t>的所有排列</a:t>
            </a:r>
            <a:r>
              <a:rPr lang="en-US" altLang="zh-CN" sz="2400" b="1" dirty="0"/>
              <a:t>}</a:t>
            </a:r>
          </a:p>
          <a:p>
            <a:pPr lvl="1" eaLnBrk="1" hangingPunct="1"/>
            <a:r>
              <a:rPr lang="zh-CN" altLang="en-US" sz="2400" b="1" dirty="0"/>
              <a:t>但是重要的不是打印排列，而是名次；</a:t>
            </a:r>
            <a:endParaRPr lang="en-US" altLang="zh-CN" sz="2400" b="1" dirty="0"/>
          </a:p>
          <a:p>
            <a:pPr lvl="1" eaLnBrk="1" hangingPunct="1"/>
            <a:r>
              <a:rPr lang="zh-CN" altLang="en-US" sz="2400" b="1" dirty="0"/>
              <a:t>解空间改为</a:t>
            </a:r>
            <a:r>
              <a:rPr lang="en-US" altLang="zh-CN" sz="2400" b="1" dirty="0"/>
              <a:t>{ABCDE</a:t>
            </a:r>
            <a:r>
              <a:rPr lang="zh-CN" altLang="en-US" sz="2400" b="1" dirty="0"/>
              <a:t>的名次排列</a:t>
            </a:r>
            <a:r>
              <a:rPr lang="en-US" altLang="zh-CN" sz="2400" b="1" dirty="0"/>
              <a:t>12345}</a:t>
            </a:r>
            <a:r>
              <a:rPr lang="zh-CN" altLang="en-US" sz="2400" b="1" dirty="0"/>
              <a:t>；</a:t>
            </a:r>
            <a:endParaRPr lang="en-US" altLang="zh-CN" sz="2400" b="1" dirty="0"/>
          </a:p>
          <a:p>
            <a:pPr lvl="1" eaLnBrk="1" hangingPunct="1"/>
            <a:r>
              <a:rPr lang="zh-CN" altLang="en-US" sz="2400" b="1" dirty="0"/>
              <a:t>穷举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的名次排列 </a:t>
            </a:r>
            <a:r>
              <a:rPr lang="en-US" altLang="zh-CN" sz="2400" b="1" dirty="0"/>
              <a:t>a 1..5</a:t>
            </a:r>
            <a:r>
              <a:rPr lang="zh-CN" altLang="en-US" sz="2400" b="1" dirty="0"/>
              <a:t>，</a:t>
            </a:r>
            <a:endParaRPr lang="en-US" altLang="zh-CN" sz="2400" b="1" dirty="0"/>
          </a:p>
          <a:p>
            <a:pPr lvl="2" eaLnBrk="1" hangingPunct="1"/>
            <a:r>
              <a:rPr lang="zh-CN" altLang="en-US" sz="2400" b="1" dirty="0"/>
              <a:t>穷举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的名次排列 </a:t>
            </a:r>
            <a:r>
              <a:rPr lang="en-US" altLang="zh-CN" sz="2400" b="1" dirty="0"/>
              <a:t>b 1..5</a:t>
            </a:r>
            <a:r>
              <a:rPr lang="zh-CN" altLang="en-US" sz="2400" b="1" dirty="0"/>
              <a:t>，</a:t>
            </a:r>
          </a:p>
          <a:p>
            <a:pPr lvl="2" eaLnBrk="1" hangingPunct="1"/>
            <a:r>
              <a:rPr lang="zh-CN" altLang="en-US" sz="2400" b="1" dirty="0"/>
              <a:t>穷举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的名次排列 </a:t>
            </a:r>
            <a:r>
              <a:rPr lang="en-US" altLang="zh-CN" sz="2400" b="1" dirty="0"/>
              <a:t>c 1..5</a:t>
            </a:r>
            <a:r>
              <a:rPr lang="zh-CN" altLang="en-US" sz="2400" b="1" dirty="0"/>
              <a:t>，</a:t>
            </a:r>
          </a:p>
          <a:p>
            <a:pPr lvl="2" eaLnBrk="1" hangingPunct="1"/>
            <a:r>
              <a:rPr lang="zh-CN" altLang="en-US" sz="2400" b="1" dirty="0"/>
              <a:t>穷举</a:t>
            </a:r>
            <a:r>
              <a:rPr lang="en-US" altLang="zh-CN" sz="2400" b="1" dirty="0"/>
              <a:t>D</a:t>
            </a:r>
            <a:r>
              <a:rPr lang="zh-CN" altLang="en-US" sz="2400" b="1" dirty="0"/>
              <a:t>的名次排列 </a:t>
            </a:r>
            <a:r>
              <a:rPr lang="en-US" altLang="zh-CN" sz="2400" b="1" dirty="0"/>
              <a:t>d 1..5</a:t>
            </a:r>
            <a:r>
              <a:rPr lang="zh-CN" altLang="en-US" sz="2400" b="1" dirty="0"/>
              <a:t>，</a:t>
            </a:r>
          </a:p>
          <a:p>
            <a:pPr lvl="2" eaLnBrk="1" hangingPunct="1"/>
            <a:r>
              <a:rPr lang="zh-CN" altLang="en-US" sz="2400" b="1" dirty="0"/>
              <a:t>穷举</a:t>
            </a:r>
            <a:r>
              <a:rPr lang="en-US" altLang="zh-CN" sz="2400" b="1" dirty="0"/>
              <a:t>E</a:t>
            </a:r>
            <a:r>
              <a:rPr lang="zh-CN" altLang="en-US" sz="2400" b="1" dirty="0"/>
              <a:t>的名次排列 </a:t>
            </a:r>
            <a:r>
              <a:rPr lang="en-US" altLang="zh-CN" sz="2400" b="1" dirty="0"/>
              <a:t>e 1..5</a:t>
            </a:r>
            <a:r>
              <a:rPr lang="zh-CN" altLang="en-US" sz="2400" b="1" dirty="0"/>
              <a:t>，</a:t>
            </a:r>
          </a:p>
        </p:txBody>
      </p:sp>
      <p:sp>
        <p:nvSpPr>
          <p:cNvPr id="41988" name="Rectangle 6">
            <a:extLst>
              <a:ext uri="{FF2B5EF4-FFF2-40B4-BE49-F238E27FC236}">
                <a16:creationId xmlns:a16="http://schemas.microsoft.com/office/drawing/2014/main" id="{3B565327-DE8D-4945-A6B3-AC6CC4EE53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逻辑谜题的解空间：</a:t>
            </a:r>
            <a:r>
              <a:rPr lang="en-US" altLang="zh-CN" b="1" dirty="0"/>
              <a:t>n</a:t>
            </a:r>
            <a:r>
              <a:rPr lang="zh-CN" altLang="en-US" b="1" dirty="0"/>
              <a:t>元组的逻辑判断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4">
            <a:extLst>
              <a:ext uri="{FF2B5EF4-FFF2-40B4-BE49-F238E27FC236}">
                <a16:creationId xmlns:a16="http://schemas.microsoft.com/office/drawing/2014/main" id="{EE598B3C-5A2E-4218-A643-C7EF2BAF1FE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5497DCBB-A5C2-4050-83B5-265F13047D6D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21</a:t>
            </a:fld>
            <a:endParaRPr lang="zh-CN" altLang="en-US" sz="14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F6D308B2-F611-46FE-9A43-A0998343B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太长的逻辑判断化简方法：整数运算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1B49098C-F28E-4DC6-A166-82EB99777C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7772400" cy="4611687"/>
          </a:xfrm>
        </p:spPr>
        <p:txBody>
          <a:bodyPr/>
          <a:lstStyle/>
          <a:p>
            <a:pPr eaLnBrk="1" hangingPunct="1"/>
            <a:r>
              <a:rPr lang="zh-CN" altLang="en-US" b="1" dirty="0"/>
              <a:t>检测条件：</a:t>
            </a:r>
          </a:p>
        </p:txBody>
      </p:sp>
      <p:sp>
        <p:nvSpPr>
          <p:cNvPr id="44037" name="Rectangle 4">
            <a:extLst>
              <a:ext uri="{FF2B5EF4-FFF2-40B4-BE49-F238E27FC236}">
                <a16:creationId xmlns:a16="http://schemas.microsoft.com/office/drawing/2014/main" id="{4CEFC287-61F6-4EFE-BE3C-D0C8F656D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916113"/>
            <a:ext cx="3960812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Tx/>
              <a:buNone/>
            </a:pPr>
            <a:r>
              <a:rPr lang="en-US" altLang="zh-CN" sz="2400" b="1"/>
              <a:t>A</a:t>
            </a:r>
            <a:r>
              <a:rPr lang="zh-CN" altLang="en-US" sz="2400" b="1"/>
              <a:t>说：</a:t>
            </a:r>
            <a:r>
              <a:rPr lang="en-US" altLang="zh-CN" sz="2400" b="1"/>
              <a:t>B</a:t>
            </a:r>
            <a:r>
              <a:rPr lang="zh-CN" altLang="en-US" sz="2400" b="1"/>
              <a:t>第二，</a:t>
            </a:r>
            <a:r>
              <a:rPr lang="en-US" altLang="zh-CN" sz="2400" b="1"/>
              <a:t>A</a:t>
            </a:r>
            <a:r>
              <a:rPr lang="zh-CN" altLang="en-US" sz="2400" b="1"/>
              <a:t>第三；</a:t>
            </a:r>
          </a:p>
          <a:p>
            <a:pPr lvl="1" eaLnBrk="1" hangingPunct="1">
              <a:buFontTx/>
              <a:buNone/>
            </a:pPr>
            <a:r>
              <a:rPr lang="en-US" altLang="zh-CN" sz="2400" b="1"/>
              <a:t>B</a:t>
            </a:r>
            <a:r>
              <a:rPr lang="zh-CN" altLang="en-US" sz="2400" b="1"/>
              <a:t>说：</a:t>
            </a:r>
            <a:r>
              <a:rPr lang="en-US" altLang="zh-CN" sz="2400" b="1"/>
              <a:t>B</a:t>
            </a:r>
            <a:r>
              <a:rPr lang="zh-CN" altLang="en-US" sz="2400" b="1"/>
              <a:t>第二，</a:t>
            </a:r>
            <a:r>
              <a:rPr lang="en-US" altLang="zh-CN" sz="2400" b="1"/>
              <a:t>E</a:t>
            </a:r>
            <a:r>
              <a:rPr lang="zh-CN" altLang="en-US" sz="2400" b="1"/>
              <a:t>第四；</a:t>
            </a:r>
          </a:p>
          <a:p>
            <a:pPr lvl="1" eaLnBrk="1" hangingPunct="1">
              <a:buFontTx/>
              <a:buNone/>
            </a:pPr>
            <a:r>
              <a:rPr lang="en-US" altLang="zh-CN" sz="2400" b="1"/>
              <a:t>C</a:t>
            </a:r>
            <a:r>
              <a:rPr lang="zh-CN" altLang="en-US" sz="2400" b="1"/>
              <a:t>说：</a:t>
            </a:r>
            <a:r>
              <a:rPr lang="en-US" altLang="zh-CN" sz="2400" b="1"/>
              <a:t>C</a:t>
            </a:r>
            <a:r>
              <a:rPr lang="zh-CN" altLang="en-US" sz="2400" b="1"/>
              <a:t>第一，</a:t>
            </a:r>
            <a:r>
              <a:rPr lang="en-US" altLang="zh-CN" sz="2400" b="1"/>
              <a:t>D</a:t>
            </a:r>
            <a:r>
              <a:rPr lang="zh-CN" altLang="en-US" sz="2400" b="1"/>
              <a:t>第二；</a:t>
            </a:r>
          </a:p>
          <a:p>
            <a:pPr lvl="1" eaLnBrk="1" hangingPunct="1">
              <a:buFontTx/>
              <a:buNone/>
            </a:pPr>
            <a:r>
              <a:rPr lang="en-US" altLang="zh-CN" sz="2400" b="1"/>
              <a:t>D</a:t>
            </a:r>
            <a:r>
              <a:rPr lang="zh-CN" altLang="en-US" sz="2400" b="1"/>
              <a:t>说：</a:t>
            </a:r>
            <a:r>
              <a:rPr lang="en-US" altLang="zh-CN" sz="2400" b="1"/>
              <a:t>C</a:t>
            </a:r>
            <a:r>
              <a:rPr lang="zh-CN" altLang="en-US" sz="2400" b="1"/>
              <a:t>第五，</a:t>
            </a:r>
            <a:r>
              <a:rPr lang="en-US" altLang="zh-CN" sz="2400" b="1"/>
              <a:t>D</a:t>
            </a:r>
            <a:r>
              <a:rPr lang="zh-CN" altLang="en-US" sz="2400" b="1"/>
              <a:t>第三；</a:t>
            </a:r>
          </a:p>
          <a:p>
            <a:pPr lvl="1" eaLnBrk="1" hangingPunct="1">
              <a:buFontTx/>
              <a:buNone/>
            </a:pPr>
            <a:r>
              <a:rPr lang="en-US" altLang="zh-CN" sz="2400" b="1"/>
              <a:t>E</a:t>
            </a:r>
            <a:r>
              <a:rPr lang="zh-CN" altLang="en-US" sz="2400" b="1"/>
              <a:t>说：</a:t>
            </a:r>
            <a:r>
              <a:rPr lang="en-US" altLang="zh-CN" sz="2400" b="1"/>
              <a:t>E</a:t>
            </a:r>
            <a:r>
              <a:rPr lang="zh-CN" altLang="en-US" sz="2400" b="1"/>
              <a:t>第四，</a:t>
            </a:r>
            <a:r>
              <a:rPr lang="en-US" altLang="zh-CN" sz="2400" b="1"/>
              <a:t>A</a:t>
            </a:r>
            <a:r>
              <a:rPr lang="zh-CN" altLang="en-US" sz="2400" b="1"/>
              <a:t>第一。</a:t>
            </a:r>
          </a:p>
          <a:p>
            <a:pPr lvl="1" eaLnBrk="1" hangingPunct="1">
              <a:buFontTx/>
              <a:buNone/>
            </a:pPr>
            <a:r>
              <a:rPr lang="zh-CN" altLang="en-US" sz="2400" b="1"/>
              <a:t>而且都只说对了一半。</a:t>
            </a:r>
            <a:endParaRPr lang="en-US" altLang="zh-CN" sz="2400" b="1"/>
          </a:p>
        </p:txBody>
      </p:sp>
      <p:sp>
        <p:nvSpPr>
          <p:cNvPr id="135174" name="Text Box 5">
            <a:extLst>
              <a:ext uri="{FF2B5EF4-FFF2-40B4-BE49-F238E27FC236}">
                <a16:creationId xmlns:a16="http://schemas.microsoft.com/office/drawing/2014/main" id="{63D2F927-8FF8-4E06-B23C-6985634F8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1125538"/>
            <a:ext cx="5111750" cy="2235200"/>
          </a:xfrm>
          <a:prstGeom prst="rect">
            <a:avLst/>
          </a:prstGeom>
          <a:solidFill>
            <a:srgbClr val="CCFFFF"/>
          </a:solidFill>
          <a:ln w="9525">
            <a:solidFill>
              <a:srgbClr val="008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(b==2 &amp;&amp; a!=3 || b!=2 &amp;&amp; a==3) &amp;&amp;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(b==2 &amp;&amp; e!=4 || b!=2 &amp;&amp; e==4) &amp;&amp;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(c==1 &amp;&amp; d!=2 || c!=1 &amp;&amp; d==2) &amp;&amp;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(c==5 &amp;&amp; d!=3 || c!=5 &amp;&amp; d==3) &amp;&amp;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(e==4 &amp;&amp; a!=1 || e!=4 &amp;&amp; a==1)</a:t>
            </a:r>
          </a:p>
        </p:txBody>
      </p:sp>
      <p:sp>
        <p:nvSpPr>
          <p:cNvPr id="135175" name="Text Box 7">
            <a:extLst>
              <a:ext uri="{FF2B5EF4-FFF2-40B4-BE49-F238E27FC236}">
                <a16:creationId xmlns:a16="http://schemas.microsoft.com/office/drawing/2014/main" id="{A6BFB1BF-C9CD-448E-B5DD-5478A7146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3573463"/>
            <a:ext cx="5435600" cy="2597150"/>
          </a:xfrm>
          <a:prstGeom prst="rect">
            <a:avLst/>
          </a:prstGeom>
          <a:solidFill>
            <a:srgbClr val="99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000" b="1"/>
              <a:t>countA=(b==2)+(a==3);</a:t>
            </a:r>
          </a:p>
          <a:p>
            <a:pPr eaLnBrk="1" hangingPunct="1">
              <a:buFontTx/>
              <a:buNone/>
            </a:pPr>
            <a:r>
              <a:rPr lang="en-US" altLang="zh-CN" sz="2000" b="1"/>
              <a:t>countB=(b==2)+(e==4);</a:t>
            </a:r>
          </a:p>
          <a:p>
            <a:pPr eaLnBrk="1" hangingPunct="1">
              <a:buFontTx/>
              <a:buNone/>
            </a:pPr>
            <a:r>
              <a:rPr lang="en-US" altLang="zh-CN" sz="2000" b="1"/>
              <a:t>countC=(c==1)+(d==2);</a:t>
            </a:r>
          </a:p>
          <a:p>
            <a:pPr eaLnBrk="1" hangingPunct="1">
              <a:buFontTx/>
              <a:buNone/>
            </a:pPr>
            <a:r>
              <a:rPr lang="en-US" altLang="zh-CN" sz="2000" b="1"/>
              <a:t>countD=(c==5)+(d==3);</a:t>
            </a:r>
          </a:p>
          <a:p>
            <a:pPr eaLnBrk="1" hangingPunct="1">
              <a:buFontTx/>
              <a:buNone/>
            </a:pPr>
            <a:r>
              <a:rPr lang="en-US" altLang="zh-CN" sz="2000" b="1"/>
              <a:t>countE=(e==4)+(a==1);</a:t>
            </a:r>
          </a:p>
          <a:p>
            <a:pPr eaLnBrk="1" hangingPunct="1">
              <a:buFontTx/>
              <a:buNone/>
            </a:pPr>
            <a:r>
              <a:rPr lang="en-US" altLang="zh-CN" sz="2000" b="1"/>
              <a:t>if (countA==1 &amp;&amp; countB==1 &amp;&amp; countC==1 </a:t>
            </a:r>
          </a:p>
          <a:p>
            <a:pPr eaLnBrk="1" hangingPunct="1">
              <a:buFontTx/>
              <a:buNone/>
            </a:pPr>
            <a:r>
              <a:rPr lang="en-US" altLang="zh-CN" sz="2000" b="1"/>
              <a:t>       &amp;&amp; countD==1 &amp;&amp; countE==1)</a:t>
            </a:r>
            <a:endParaRPr lang="zh-CN" altLang="en-US" sz="20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4" grpId="0" animBg="1"/>
      <p:bldP spid="13517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4">
            <a:extLst>
              <a:ext uri="{FF2B5EF4-FFF2-40B4-BE49-F238E27FC236}">
                <a16:creationId xmlns:a16="http://schemas.microsoft.com/office/drawing/2014/main" id="{903FD5BF-9D93-4A50-9F30-9A3C88C7D79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6B16BCD8-2CE0-4E49-AB0F-9C8C3A934E16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22</a:t>
            </a:fld>
            <a:endParaRPr lang="zh-CN" altLang="en-US" sz="14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C89286AF-11B3-4242-BF50-C209899B1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比赛名次程序</a:t>
            </a:r>
            <a:r>
              <a:rPr lang="en-US" altLang="zh-CN" dirty="0"/>
              <a:t>(1)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1318F6B6-417C-473E-B12F-A994F51928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96975"/>
            <a:ext cx="9144000" cy="55451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#include &lt;</a:t>
            </a:r>
            <a:r>
              <a:rPr lang="en-US" altLang="zh-CN" sz="2400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main()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  int </a:t>
            </a:r>
            <a:r>
              <a:rPr lang="en-US" altLang="zh-CN" sz="2400" dirty="0" err="1">
                <a:latin typeface="Consolas" panose="020B0609020204030204" pitchFamily="49" charset="0"/>
              </a:rPr>
              <a:t>a,b,c,d,e</a:t>
            </a:r>
            <a:r>
              <a:rPr lang="en-US" altLang="zh-CN" sz="2400" dirty="0">
                <a:latin typeface="Consolas" panose="020B0609020204030204" pitchFamily="49" charset="0"/>
              </a:rPr>
              <a:t>;//</a:t>
            </a:r>
            <a:r>
              <a:rPr lang="zh-CN" altLang="en-US" sz="2400" dirty="0">
                <a:latin typeface="Consolas" panose="020B0609020204030204" pitchFamily="49" charset="0"/>
              </a:rPr>
              <a:t>用于记录</a:t>
            </a:r>
            <a:r>
              <a:rPr lang="en-US" altLang="zh-CN" sz="2400" dirty="0">
                <a:latin typeface="Consolas" panose="020B0609020204030204" pitchFamily="49" charset="0"/>
              </a:rPr>
              <a:t>A</a:t>
            </a:r>
            <a:r>
              <a:rPr lang="zh-CN" altLang="en-US" sz="2400" dirty="0">
                <a:latin typeface="Consolas" panose="020B0609020204030204" pitchFamily="49" charset="0"/>
              </a:rPr>
              <a:t>～</a:t>
            </a:r>
            <a:r>
              <a:rPr lang="en-US" altLang="zh-CN" sz="2400" dirty="0">
                <a:latin typeface="Consolas" panose="020B0609020204030204" pitchFamily="49" charset="0"/>
              </a:rPr>
              <a:t>E</a:t>
            </a:r>
            <a:r>
              <a:rPr lang="zh-CN" altLang="en-US" sz="2400" dirty="0">
                <a:latin typeface="Consolas" panose="020B0609020204030204" pitchFamily="49" charset="0"/>
              </a:rPr>
              <a:t>分别的名次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</a:t>
            </a:r>
            <a:r>
              <a:rPr lang="en-US" altLang="zh-CN" sz="2400" dirty="0">
                <a:latin typeface="Consolas" panose="020B0609020204030204" pitchFamily="49" charset="0"/>
              </a:rPr>
              <a:t>int </a:t>
            </a:r>
            <a:r>
              <a:rPr lang="en-US" altLang="zh-CN" sz="2400" dirty="0" err="1">
                <a:latin typeface="Consolas" panose="020B0609020204030204" pitchFamily="49" charset="0"/>
              </a:rPr>
              <a:t>countA,countB,countC,countD,countE</a:t>
            </a:r>
            <a:r>
              <a:rPr lang="en-US" altLang="zh-CN" sz="2400" dirty="0">
                <a:latin typeface="Consolas" panose="020B0609020204030204" pitchFamily="49" charset="0"/>
              </a:rPr>
              <a:t>;//</a:t>
            </a:r>
            <a:r>
              <a:rPr lang="zh-CN" altLang="en-US" sz="2400" dirty="0">
                <a:latin typeface="Consolas" panose="020B0609020204030204" pitchFamily="49" charset="0"/>
              </a:rPr>
              <a:t>用于记录</a:t>
            </a:r>
            <a:r>
              <a:rPr lang="en-US" altLang="zh-CN" sz="2400" dirty="0">
                <a:latin typeface="Consolas" panose="020B0609020204030204" pitchFamily="49" charset="0"/>
              </a:rPr>
              <a:t>A</a:t>
            </a:r>
            <a:r>
              <a:rPr lang="zh-CN" altLang="en-US" sz="2400" dirty="0">
                <a:latin typeface="Consolas" panose="020B0609020204030204" pitchFamily="49" charset="0"/>
              </a:rPr>
              <a:t>～</a:t>
            </a:r>
            <a:r>
              <a:rPr lang="en-US" altLang="zh-CN" sz="2400" dirty="0">
                <a:latin typeface="Consolas" panose="020B0609020204030204" pitchFamily="49" charset="0"/>
              </a:rPr>
              <a:t>E</a:t>
            </a:r>
            <a:r>
              <a:rPr lang="zh-CN" altLang="en-US" sz="2400" dirty="0">
                <a:latin typeface="Consolas" panose="020B0609020204030204" pitchFamily="49" charset="0"/>
              </a:rPr>
              <a:t>分别说对的话个数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for(a=</a:t>
            </a:r>
            <a:r>
              <a:rPr lang="en-US" altLang="zh-CN" sz="2400" dirty="0" err="1">
                <a:latin typeface="Consolas" panose="020B0609020204030204" pitchFamily="49" charset="0"/>
              </a:rPr>
              <a:t>1;a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5;a</a:t>
            </a:r>
            <a:r>
              <a:rPr lang="en-US" altLang="zh-CN" sz="2400" dirty="0">
                <a:latin typeface="Consolas" panose="020B0609020204030204" pitchFamily="49" charset="0"/>
              </a:rPr>
              <a:t>++)//a</a:t>
            </a:r>
            <a:r>
              <a:rPr lang="zh-CN" altLang="en-US" sz="2400" dirty="0">
                <a:latin typeface="Consolas" panose="020B0609020204030204" pitchFamily="49" charset="0"/>
              </a:rPr>
              <a:t>～</a:t>
            </a:r>
            <a:r>
              <a:rPr lang="en-US" altLang="zh-CN" sz="2400" dirty="0">
                <a:latin typeface="Consolas" panose="020B0609020204030204" pitchFamily="49" charset="0"/>
              </a:rPr>
              <a:t>e</a:t>
            </a:r>
            <a:r>
              <a:rPr lang="zh-CN" altLang="en-US" sz="2400" dirty="0">
                <a:latin typeface="Consolas" panose="020B0609020204030204" pitchFamily="49" charset="0"/>
              </a:rPr>
              <a:t>分别代表</a:t>
            </a:r>
            <a:r>
              <a:rPr lang="en-US" altLang="zh-CN" sz="2400" dirty="0">
                <a:latin typeface="Consolas" panose="020B0609020204030204" pitchFamily="49" charset="0"/>
              </a:rPr>
              <a:t>A</a:t>
            </a:r>
            <a:r>
              <a:rPr lang="zh-CN" altLang="en-US" sz="2400" dirty="0">
                <a:latin typeface="Consolas" panose="020B0609020204030204" pitchFamily="49" charset="0"/>
              </a:rPr>
              <a:t>～</a:t>
            </a:r>
            <a:r>
              <a:rPr lang="en-US" altLang="zh-CN" sz="2400" dirty="0">
                <a:latin typeface="Consolas" panose="020B0609020204030204" pitchFamily="49" charset="0"/>
              </a:rPr>
              <a:t>E</a:t>
            </a:r>
            <a:r>
              <a:rPr lang="zh-CN" altLang="en-US" sz="2400" dirty="0">
                <a:latin typeface="Consolas" panose="020B0609020204030204" pitchFamily="49" charset="0"/>
              </a:rPr>
              <a:t>选手的名次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   </a:t>
            </a:r>
            <a:r>
              <a:rPr lang="en-US" altLang="zh-CN" sz="2400" dirty="0">
                <a:latin typeface="Consolas" panose="020B0609020204030204" pitchFamily="49" charset="0"/>
              </a:rPr>
              <a:t>for(b=</a:t>
            </a:r>
            <a:r>
              <a:rPr lang="en-US" altLang="zh-CN" sz="2400" dirty="0" err="1">
                <a:latin typeface="Consolas" panose="020B0609020204030204" pitchFamily="49" charset="0"/>
              </a:rPr>
              <a:t>1;b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5;b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      if (a!=b)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     for(c=</a:t>
            </a:r>
            <a:r>
              <a:rPr lang="en-US" altLang="zh-CN" sz="2400" dirty="0" err="1">
                <a:latin typeface="Consolas" panose="020B0609020204030204" pitchFamily="49" charset="0"/>
              </a:rPr>
              <a:t>1;c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5;c</a:t>
            </a:r>
            <a:r>
              <a:rPr lang="en-US" altLang="zh-CN" sz="2400" dirty="0">
                <a:latin typeface="Consolas" panose="020B0609020204030204" pitchFamily="49" charset="0"/>
              </a:rPr>
              <a:t>++)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       if (c!=a &amp;&amp;c!=b)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           for(d=</a:t>
            </a:r>
            <a:r>
              <a:rPr lang="en-US" altLang="zh-CN" sz="2400" dirty="0" err="1">
                <a:latin typeface="Consolas" panose="020B0609020204030204" pitchFamily="49" charset="0"/>
              </a:rPr>
              <a:t>1;d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5;d</a:t>
            </a:r>
            <a:r>
              <a:rPr lang="en-US" altLang="zh-CN" sz="2400" dirty="0">
                <a:latin typeface="Consolas" panose="020B0609020204030204" pitchFamily="49" charset="0"/>
              </a:rPr>
              <a:t>++)		 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               if (d!=a &amp;&amp; d!=b &amp;&amp; d!=c)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                  for(e=</a:t>
            </a:r>
            <a:r>
              <a:rPr lang="en-US" altLang="zh-CN" sz="2400" dirty="0" err="1">
                <a:latin typeface="Consolas" panose="020B0609020204030204" pitchFamily="49" charset="0"/>
              </a:rPr>
              <a:t>1;e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5;e</a:t>
            </a:r>
            <a:r>
              <a:rPr lang="en-US" altLang="zh-CN" sz="2400" dirty="0">
                <a:latin typeface="Consolas" panose="020B0609020204030204" pitchFamily="49" charset="0"/>
              </a:rPr>
              <a:t>++)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4">
            <a:extLst>
              <a:ext uri="{FF2B5EF4-FFF2-40B4-BE49-F238E27FC236}">
                <a16:creationId xmlns:a16="http://schemas.microsoft.com/office/drawing/2014/main" id="{522DAECA-60AB-4E4B-97A8-FFBC799FB94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F0C3269D-8221-4D91-BB77-F9A2107FEAB9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23</a:t>
            </a:fld>
            <a:endParaRPr lang="zh-CN" altLang="en-US" sz="14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B8358B6-FBC7-4529-AD40-133FDDB8C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比赛名次程序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8F50A062-AAAB-45A7-BFAF-CB923AE19B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125538"/>
            <a:ext cx="8801100" cy="55387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if (e!=a &amp;&amp; e!=b &amp;&amp; e!=c &amp;&amp; e!=d){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</a:t>
            </a:r>
            <a:r>
              <a:rPr lang="en-US" altLang="zh-CN" sz="2400" dirty="0" err="1">
                <a:latin typeface="Consolas" panose="020B0609020204030204" pitchFamily="49" charset="0"/>
              </a:rPr>
              <a:t>countA</a:t>
            </a:r>
            <a:r>
              <a:rPr lang="en-US" altLang="zh-CN" sz="2400" dirty="0">
                <a:latin typeface="Consolas" panose="020B0609020204030204" pitchFamily="49" charset="0"/>
              </a:rPr>
              <a:t>=(b==2)+(a==3);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	</a:t>
            </a:r>
            <a:r>
              <a:rPr lang="en-US" altLang="zh-CN" sz="2400" dirty="0" err="1">
                <a:latin typeface="Consolas" panose="020B0609020204030204" pitchFamily="49" charset="0"/>
              </a:rPr>
              <a:t>countB</a:t>
            </a:r>
            <a:r>
              <a:rPr lang="en-US" altLang="zh-CN" sz="2400" dirty="0">
                <a:latin typeface="Consolas" panose="020B0609020204030204" pitchFamily="49" charset="0"/>
              </a:rPr>
              <a:t>=(b==2)+(e==4);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		</a:t>
            </a:r>
            <a:r>
              <a:rPr lang="en-US" altLang="zh-CN" sz="2400" dirty="0" err="1">
                <a:latin typeface="Consolas" panose="020B0609020204030204" pitchFamily="49" charset="0"/>
              </a:rPr>
              <a:t>countC</a:t>
            </a:r>
            <a:r>
              <a:rPr lang="en-US" altLang="zh-CN" sz="2400" dirty="0">
                <a:latin typeface="Consolas" panose="020B0609020204030204" pitchFamily="49" charset="0"/>
              </a:rPr>
              <a:t>=(c==1)+(d==2);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		</a:t>
            </a:r>
            <a:r>
              <a:rPr lang="en-US" altLang="zh-CN" sz="2400" dirty="0" err="1">
                <a:latin typeface="Consolas" panose="020B0609020204030204" pitchFamily="49" charset="0"/>
              </a:rPr>
              <a:t>countD</a:t>
            </a:r>
            <a:r>
              <a:rPr lang="en-US" altLang="zh-CN" sz="2400" dirty="0">
                <a:latin typeface="Consolas" panose="020B0609020204030204" pitchFamily="49" charset="0"/>
              </a:rPr>
              <a:t>=(c==5)+(d==3);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		</a:t>
            </a:r>
            <a:r>
              <a:rPr lang="en-US" altLang="zh-CN" sz="2400" dirty="0" err="1">
                <a:latin typeface="Consolas" panose="020B0609020204030204" pitchFamily="49" charset="0"/>
              </a:rPr>
              <a:t>countE</a:t>
            </a:r>
            <a:r>
              <a:rPr lang="en-US" altLang="zh-CN" sz="2400" dirty="0">
                <a:latin typeface="Consolas" panose="020B0609020204030204" pitchFamily="49" charset="0"/>
              </a:rPr>
              <a:t>=(e==4)+(a==1);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	if (</a:t>
            </a:r>
            <a:r>
              <a:rPr lang="en-US" altLang="zh-CN" sz="2400" dirty="0" err="1">
                <a:latin typeface="Consolas" panose="020B0609020204030204" pitchFamily="49" charset="0"/>
              </a:rPr>
              <a:t>countA</a:t>
            </a:r>
            <a:r>
              <a:rPr lang="en-US" altLang="zh-CN" sz="2400" dirty="0">
                <a:latin typeface="Consolas" panose="020B0609020204030204" pitchFamily="49" charset="0"/>
              </a:rPr>
              <a:t>==1 &amp;&amp; </a:t>
            </a:r>
            <a:r>
              <a:rPr lang="en-US" altLang="zh-CN" sz="2400" dirty="0" err="1">
                <a:latin typeface="Consolas" panose="020B0609020204030204" pitchFamily="49" charset="0"/>
              </a:rPr>
              <a:t>countB</a:t>
            </a:r>
            <a:r>
              <a:rPr lang="en-US" altLang="zh-CN" sz="2400" dirty="0">
                <a:latin typeface="Consolas" panose="020B0609020204030204" pitchFamily="49" charset="0"/>
              </a:rPr>
              <a:t>==1 &amp;&amp; </a:t>
            </a:r>
            <a:r>
              <a:rPr lang="en-US" altLang="zh-CN" sz="2400" dirty="0" err="1">
                <a:latin typeface="Consolas" panose="020B0609020204030204" pitchFamily="49" charset="0"/>
              </a:rPr>
              <a:t>countC</a:t>
            </a:r>
            <a:r>
              <a:rPr lang="en-US" altLang="zh-CN" sz="2400" dirty="0">
                <a:latin typeface="Consolas" panose="020B0609020204030204" pitchFamily="49" charset="0"/>
              </a:rPr>
              <a:t>==1 &amp;&amp; </a:t>
            </a:r>
            <a:r>
              <a:rPr lang="en-US" altLang="zh-CN" sz="2400" dirty="0" err="1">
                <a:latin typeface="Consolas" panose="020B0609020204030204" pitchFamily="49" charset="0"/>
              </a:rPr>
              <a:t>countD</a:t>
            </a:r>
            <a:r>
              <a:rPr lang="en-US" altLang="zh-CN" sz="2400" dirty="0">
                <a:latin typeface="Consolas" panose="020B0609020204030204" pitchFamily="49" charset="0"/>
              </a:rPr>
              <a:t>==1 &amp;&amp; </a:t>
            </a:r>
            <a:r>
              <a:rPr lang="en-US" altLang="zh-CN" sz="2400" dirty="0" err="1">
                <a:latin typeface="Consolas" panose="020B0609020204030204" pitchFamily="49" charset="0"/>
              </a:rPr>
              <a:t>countE</a:t>
            </a:r>
            <a:r>
              <a:rPr lang="en-US" altLang="zh-CN" sz="2400" dirty="0">
                <a:latin typeface="Consolas" panose="020B0609020204030204" pitchFamily="49" charset="0"/>
              </a:rPr>
              <a:t>==1){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 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</a:t>
            </a:r>
            <a:r>
              <a:rPr lang="zh-CN" altLang="en-US" sz="2400" dirty="0">
                <a:latin typeface="Consolas" panose="020B0609020204030204" pitchFamily="49" charset="0"/>
              </a:rPr>
              <a:t>比赛名次是</a:t>
            </a:r>
            <a:r>
              <a:rPr lang="en-US" altLang="zh-CN" sz="2400" dirty="0">
                <a:latin typeface="Consolas" panose="020B0609020204030204" pitchFamily="49" charset="0"/>
              </a:rPr>
              <a:t>:\n");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 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("A:</a:t>
            </a:r>
            <a:r>
              <a:rPr lang="zh-CN" altLang="en-US" sz="2400" dirty="0">
                <a:latin typeface="Consolas" panose="020B0609020204030204" pitchFamily="49" charset="0"/>
              </a:rPr>
              <a:t>第</a:t>
            </a:r>
            <a:r>
              <a:rPr lang="en-US" altLang="zh-CN" sz="2400" dirty="0">
                <a:latin typeface="Consolas" panose="020B0609020204030204" pitchFamily="49" charset="0"/>
              </a:rPr>
              <a:t>%d</a:t>
            </a:r>
            <a:r>
              <a:rPr lang="zh-CN" altLang="en-US" sz="2400" dirty="0">
                <a:latin typeface="Consolas" panose="020B0609020204030204" pitchFamily="49" charset="0"/>
              </a:rPr>
              <a:t>名</a:t>
            </a:r>
            <a:r>
              <a:rPr lang="en-US" altLang="zh-CN" sz="2400" dirty="0">
                <a:latin typeface="Consolas" panose="020B0609020204030204" pitchFamily="49" charset="0"/>
              </a:rPr>
              <a:t>\</a:t>
            </a:r>
            <a:r>
              <a:rPr lang="en-US" altLang="zh-CN" sz="2400" dirty="0" err="1">
                <a:latin typeface="Consolas" panose="020B0609020204030204" pitchFamily="49" charset="0"/>
              </a:rPr>
              <a:t>nB</a:t>
            </a:r>
            <a:r>
              <a:rPr lang="en-US" altLang="zh-CN" sz="2400" dirty="0">
                <a:latin typeface="Consolas" panose="020B0609020204030204" pitchFamily="49" charset="0"/>
              </a:rPr>
              <a:t>:</a:t>
            </a:r>
            <a:r>
              <a:rPr lang="zh-CN" altLang="en-US" sz="2400" dirty="0">
                <a:latin typeface="Consolas" panose="020B0609020204030204" pitchFamily="49" charset="0"/>
              </a:rPr>
              <a:t>第</a:t>
            </a:r>
            <a:r>
              <a:rPr lang="en-US" altLang="zh-CN" sz="2400" dirty="0">
                <a:latin typeface="Consolas" panose="020B0609020204030204" pitchFamily="49" charset="0"/>
              </a:rPr>
              <a:t>%d</a:t>
            </a:r>
            <a:r>
              <a:rPr lang="zh-CN" altLang="en-US" sz="2400" dirty="0">
                <a:latin typeface="Consolas" panose="020B0609020204030204" pitchFamily="49" charset="0"/>
              </a:rPr>
              <a:t>名</a:t>
            </a:r>
            <a:r>
              <a:rPr lang="en-US" altLang="zh-CN" sz="2400" dirty="0">
                <a:latin typeface="Consolas" panose="020B0609020204030204" pitchFamily="49" charset="0"/>
              </a:rPr>
              <a:t>\</a:t>
            </a:r>
            <a:r>
              <a:rPr lang="en-US" altLang="zh-CN" sz="2400" dirty="0" err="1">
                <a:latin typeface="Consolas" panose="020B0609020204030204" pitchFamily="49" charset="0"/>
              </a:rPr>
              <a:t>nC</a:t>
            </a:r>
            <a:r>
              <a:rPr lang="en-US" altLang="zh-CN" sz="2400" dirty="0">
                <a:latin typeface="Consolas" panose="020B0609020204030204" pitchFamily="49" charset="0"/>
              </a:rPr>
              <a:t>:</a:t>
            </a:r>
            <a:r>
              <a:rPr lang="zh-CN" altLang="en-US" sz="2400" dirty="0">
                <a:latin typeface="Consolas" panose="020B0609020204030204" pitchFamily="49" charset="0"/>
              </a:rPr>
              <a:t>第</a:t>
            </a:r>
            <a:r>
              <a:rPr lang="en-US" altLang="zh-CN" sz="2400" dirty="0">
                <a:latin typeface="Consolas" panose="020B0609020204030204" pitchFamily="49" charset="0"/>
              </a:rPr>
              <a:t>%d</a:t>
            </a:r>
            <a:r>
              <a:rPr lang="zh-CN" altLang="en-US" sz="2400" dirty="0">
                <a:latin typeface="Consolas" panose="020B0609020204030204" pitchFamily="49" charset="0"/>
              </a:rPr>
              <a:t>名</a:t>
            </a:r>
            <a:r>
              <a:rPr lang="en-US" altLang="zh-CN" sz="2400" dirty="0">
                <a:latin typeface="Consolas" panose="020B0609020204030204" pitchFamily="49" charset="0"/>
              </a:rPr>
              <a:t>\</a:t>
            </a:r>
            <a:r>
              <a:rPr lang="en-US" altLang="zh-CN" sz="2400" dirty="0" err="1">
                <a:latin typeface="Consolas" panose="020B0609020204030204" pitchFamily="49" charset="0"/>
              </a:rPr>
              <a:t>nD</a:t>
            </a:r>
            <a:r>
              <a:rPr lang="en-US" altLang="zh-CN" sz="2400" dirty="0">
                <a:latin typeface="Consolas" panose="020B0609020204030204" pitchFamily="49" charset="0"/>
              </a:rPr>
              <a:t>:</a:t>
            </a:r>
            <a:r>
              <a:rPr lang="zh-CN" altLang="en-US" sz="2400" dirty="0">
                <a:latin typeface="Consolas" panose="020B0609020204030204" pitchFamily="49" charset="0"/>
              </a:rPr>
              <a:t>第</a:t>
            </a:r>
            <a:r>
              <a:rPr lang="en-US" altLang="zh-CN" sz="2400" dirty="0">
                <a:latin typeface="Consolas" panose="020B0609020204030204" pitchFamily="49" charset="0"/>
              </a:rPr>
              <a:t>%d</a:t>
            </a:r>
            <a:r>
              <a:rPr lang="zh-CN" altLang="en-US" sz="2400" dirty="0">
                <a:latin typeface="Consolas" panose="020B0609020204030204" pitchFamily="49" charset="0"/>
              </a:rPr>
              <a:t>名</a:t>
            </a:r>
            <a:r>
              <a:rPr lang="en-US" altLang="zh-CN" sz="2400" dirty="0">
                <a:latin typeface="Consolas" panose="020B0609020204030204" pitchFamily="49" charset="0"/>
              </a:rPr>
              <a:t>\</a:t>
            </a:r>
            <a:r>
              <a:rPr lang="en-US" altLang="zh-CN" sz="2400" dirty="0" err="1">
                <a:latin typeface="Consolas" panose="020B0609020204030204" pitchFamily="49" charset="0"/>
              </a:rPr>
              <a:t>nE</a:t>
            </a:r>
            <a:r>
              <a:rPr lang="en-US" altLang="zh-CN" sz="2400" dirty="0">
                <a:latin typeface="Consolas" panose="020B0609020204030204" pitchFamily="49" charset="0"/>
              </a:rPr>
              <a:t>:</a:t>
            </a:r>
            <a:r>
              <a:rPr lang="zh-CN" altLang="en-US" sz="2400" dirty="0">
                <a:latin typeface="Consolas" panose="020B0609020204030204" pitchFamily="49" charset="0"/>
              </a:rPr>
              <a:t>第</a:t>
            </a:r>
            <a:r>
              <a:rPr lang="en-US" altLang="zh-CN" sz="2400" dirty="0">
                <a:latin typeface="Consolas" panose="020B0609020204030204" pitchFamily="49" charset="0"/>
              </a:rPr>
              <a:t>%d</a:t>
            </a:r>
            <a:r>
              <a:rPr lang="zh-CN" altLang="en-US" sz="2400" dirty="0">
                <a:latin typeface="Consolas" panose="020B0609020204030204" pitchFamily="49" charset="0"/>
              </a:rPr>
              <a:t>名</a:t>
            </a:r>
            <a:r>
              <a:rPr lang="en-US" altLang="zh-CN" sz="2400" dirty="0">
                <a:latin typeface="Consolas" panose="020B0609020204030204" pitchFamily="49" charset="0"/>
              </a:rPr>
              <a:t>\n",</a:t>
            </a:r>
            <a:r>
              <a:rPr lang="en-US" altLang="zh-CN" sz="2400" dirty="0" err="1">
                <a:latin typeface="Consolas" panose="020B0609020204030204" pitchFamily="49" charset="0"/>
              </a:rPr>
              <a:t>a,b,c,d,e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} //if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 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4">
            <a:extLst>
              <a:ext uri="{FF2B5EF4-FFF2-40B4-BE49-F238E27FC236}">
                <a16:creationId xmlns:a16="http://schemas.microsoft.com/office/drawing/2014/main" id="{2A0B6C1B-1B88-4BF6-AE8E-D9509862B6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fld id="{BFA670C3-29E4-45D7-B997-9BF4556E839C}" type="slidenum">
              <a:rPr altLang="en-US" sz="1400" smtClean="0"/>
              <a:pPr>
                <a:buFontTx/>
                <a:buChar char="•"/>
              </a:pPr>
              <a:t>24</a:t>
            </a:fld>
            <a:endParaRPr lang="zh-CN" altLang="en-US" sz="1400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14814607-5994-4411-B45A-BAB3CEFFAB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5300" y="1268760"/>
            <a:ext cx="8153400" cy="4611687"/>
          </a:xfrm>
        </p:spPr>
        <p:txBody>
          <a:bodyPr/>
          <a:lstStyle/>
          <a:p>
            <a:pPr eaLnBrk="1" hangingPunct="1"/>
            <a:r>
              <a:rPr lang="zh-CN" altLang="en-US" b="1" dirty="0"/>
              <a:t>在许多情况下，知道一个数是否是素数还不够，有时，还需要知道它的素因子序列。每个大于</a:t>
            </a:r>
            <a:r>
              <a:rPr lang="en-US" altLang="zh-CN" b="1" dirty="0"/>
              <a:t>1</a:t>
            </a:r>
            <a:r>
              <a:rPr lang="zh-CN" altLang="en-US" b="1" dirty="0"/>
              <a:t>的正整数都能表示为素数的乘积。这个因数分解是唯一的，被称为素数分解式（</a:t>
            </a:r>
            <a:r>
              <a:rPr lang="en-US" altLang="zh-CN" b="1" dirty="0"/>
              <a:t>prime factorization</a:t>
            </a:r>
            <a:r>
              <a:rPr lang="zh-CN" altLang="en-US" b="1" dirty="0"/>
              <a:t>）。</a:t>
            </a:r>
          </a:p>
          <a:p>
            <a:pPr eaLnBrk="1" hangingPunct="1"/>
            <a:r>
              <a:rPr lang="zh-CN" altLang="en-US" b="1" dirty="0"/>
              <a:t>例如，数字</a:t>
            </a:r>
            <a:r>
              <a:rPr lang="en-US" altLang="zh-CN" b="1" dirty="0"/>
              <a:t>60=2*2*3*5, 799=17 *47,</a:t>
            </a:r>
            <a:r>
              <a:rPr lang="zh-CN" altLang="en-US" b="1" dirty="0"/>
              <a:t>其中每一个因子都是素数。</a:t>
            </a:r>
          </a:p>
          <a:p>
            <a:pPr eaLnBrk="1" hangingPunct="1"/>
            <a:r>
              <a:rPr lang="zh-CN" altLang="en-US" b="1" dirty="0"/>
              <a:t>注意，同一个素数在因数分解中可以出现多次。</a:t>
            </a:r>
            <a:endParaRPr lang="en-US" altLang="zh-CN" b="1" dirty="0"/>
          </a:p>
        </p:txBody>
      </p:sp>
      <p:sp>
        <p:nvSpPr>
          <p:cNvPr id="56324" name="文本框 1">
            <a:extLst>
              <a:ext uri="{FF2B5EF4-FFF2-40B4-BE49-F238E27FC236}">
                <a16:creationId xmlns:a16="http://schemas.microsoft.com/office/drawing/2014/main" id="{010A2666-8099-409D-B8DD-56A105884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013" y="466725"/>
            <a:ext cx="59451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sym typeface="宋体" panose="02010600030101010101" pitchFamily="2" charset="-122"/>
              </a:rPr>
              <a:t>挑战：整数</a:t>
            </a:r>
            <a:r>
              <a:rPr lang="zh-CN" altLang="en-US" b="1" dirty="0">
                <a:solidFill>
                  <a:srgbClr val="FF0000"/>
                </a:solidFill>
              </a:rPr>
              <a:t>素因子分解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4">
            <a:extLst>
              <a:ext uri="{FF2B5EF4-FFF2-40B4-BE49-F238E27FC236}">
                <a16:creationId xmlns:a16="http://schemas.microsoft.com/office/drawing/2014/main" id="{9502C344-76E2-44EC-B565-864B6AD6B43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fld id="{D9A714CE-BDEB-4D40-86AD-9CA1B4FFE2FA}" type="slidenum">
              <a:rPr altLang="en-US" sz="1400" smtClean="0"/>
              <a:pPr>
                <a:buFontTx/>
                <a:buChar char="•"/>
              </a:pPr>
              <a:t>25</a:t>
            </a:fld>
            <a:endParaRPr lang="zh-CN" altLang="en-US" sz="14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0BA2D22C-E4BD-4912-BAEE-79B1C5C5C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寻找素因子的算法分析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FAD6DA9E-B5F3-4B8D-8147-AF43D251E0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问题分析： </a:t>
            </a:r>
            <a:r>
              <a:rPr lang="en-US" altLang="zh-CN" b="1" dirty="0"/>
              <a:t>60=2*2*3*5</a:t>
            </a:r>
          </a:p>
          <a:p>
            <a:pPr eaLnBrk="1" hangingPunct="1"/>
            <a:r>
              <a:rPr lang="en-US" altLang="zh-CN" b="1" dirty="0"/>
              <a:t>f(n)=p*f(n/p), p</a:t>
            </a:r>
            <a:r>
              <a:rPr lang="zh-CN" altLang="en-US" b="1" dirty="0"/>
              <a:t>是</a:t>
            </a:r>
            <a:r>
              <a:rPr lang="en-US" altLang="zh-CN" b="1" dirty="0"/>
              <a:t>n</a:t>
            </a:r>
            <a:r>
              <a:rPr lang="zh-CN" altLang="en-US" b="1" dirty="0"/>
              <a:t>的最小素数因子</a:t>
            </a:r>
          </a:p>
          <a:p>
            <a:pPr eaLnBrk="1" hangingPunct="1"/>
            <a:r>
              <a:rPr lang="zh-CN" altLang="en-US" b="1" dirty="0"/>
              <a:t>对</a:t>
            </a:r>
            <a:r>
              <a:rPr lang="en-US" altLang="zh-CN" b="1" dirty="0"/>
              <a:t>n</a:t>
            </a:r>
            <a:r>
              <a:rPr lang="zh-CN" altLang="en-US" b="1" dirty="0"/>
              <a:t>进行素数分解，可以转化为两步：</a:t>
            </a:r>
          </a:p>
          <a:p>
            <a:pPr lvl="1" eaLnBrk="1" hangingPunct="1"/>
            <a:r>
              <a:rPr lang="en-US" altLang="zh-CN" b="1" dirty="0"/>
              <a:t>1</a:t>
            </a:r>
            <a:r>
              <a:rPr lang="zh-CN" altLang="en-US" b="1" dirty="0"/>
              <a:t>：找到</a:t>
            </a:r>
            <a:r>
              <a:rPr lang="en-US" altLang="zh-CN" b="1" dirty="0"/>
              <a:t>n</a:t>
            </a:r>
            <a:r>
              <a:rPr lang="zh-CN" altLang="en-US" b="1" dirty="0"/>
              <a:t>的最小素数因子</a:t>
            </a:r>
            <a:r>
              <a:rPr lang="en-US" altLang="zh-CN" b="1" dirty="0"/>
              <a:t>p</a:t>
            </a:r>
            <a:r>
              <a:rPr lang="zh-CN" altLang="en-US" b="1" dirty="0"/>
              <a:t>；</a:t>
            </a:r>
            <a:r>
              <a:rPr lang="en-US" altLang="zh-CN" b="1" dirty="0"/>
              <a:t>(</a:t>
            </a:r>
            <a:r>
              <a:rPr lang="zh-CN" altLang="en-US" b="1" dirty="0"/>
              <a:t>穷举</a:t>
            </a:r>
            <a:r>
              <a:rPr lang="en-US" altLang="zh-CN" b="1" dirty="0"/>
              <a:t>)</a:t>
            </a:r>
          </a:p>
          <a:p>
            <a:pPr lvl="2" eaLnBrk="1" hangingPunct="1"/>
            <a:r>
              <a:rPr lang="zh-CN" altLang="en-US" b="1" dirty="0"/>
              <a:t>任意整数</a:t>
            </a:r>
            <a:r>
              <a:rPr lang="en-US" altLang="zh-CN" b="1" dirty="0"/>
              <a:t>n</a:t>
            </a:r>
            <a:r>
              <a:rPr lang="zh-CN" altLang="en-US" b="1" dirty="0"/>
              <a:t>的最小因子一定是素数；因此，找到最小因子即可，不必再做素数判定。</a:t>
            </a:r>
            <a:endParaRPr lang="en-US" altLang="zh-CN" b="1" dirty="0"/>
          </a:p>
          <a:p>
            <a:pPr lvl="1" eaLnBrk="1" hangingPunct="1"/>
            <a:r>
              <a:rPr lang="en-US" altLang="zh-CN" b="1" dirty="0"/>
              <a:t>2</a:t>
            </a:r>
            <a:r>
              <a:rPr lang="zh-CN" altLang="en-US" b="1" dirty="0"/>
              <a:t>：对</a:t>
            </a:r>
            <a:r>
              <a:rPr lang="en-US" altLang="zh-CN" b="1" dirty="0"/>
              <a:t>n/p</a:t>
            </a:r>
            <a:r>
              <a:rPr lang="zh-CN" altLang="en-US" b="1" dirty="0"/>
              <a:t>继续进行素数分解；</a:t>
            </a:r>
            <a:r>
              <a:rPr lang="en-US" altLang="zh-CN" b="1" dirty="0"/>
              <a:t>(</a:t>
            </a:r>
            <a:r>
              <a:rPr lang="zh-CN" altLang="en-US" b="1" dirty="0"/>
              <a:t>迭代</a:t>
            </a:r>
            <a:r>
              <a:rPr lang="en-US" altLang="zh-CN" b="1" dirty="0"/>
              <a:t>)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105C7-676A-4259-96F2-99BEB758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素因子分解初步算法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DC0F8C-BACB-463B-A0EC-0176AB61B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Procedure </a:t>
            </a:r>
            <a:r>
              <a:rPr lang="en-US" altLang="zh-CN" dirty="0" err="1"/>
              <a:t>primefactor</a:t>
            </a:r>
            <a:r>
              <a:rPr lang="en-US" altLang="zh-CN" dirty="0"/>
              <a:t>(n: &gt;3 integer)</a:t>
            </a:r>
          </a:p>
          <a:p>
            <a:pPr marL="0" indent="0">
              <a:buNone/>
            </a:pPr>
            <a:r>
              <a:rPr lang="en-US" altLang="zh-CN" b="1" dirty="0"/>
              <a:t>q = n;</a:t>
            </a:r>
          </a:p>
          <a:p>
            <a:pPr marL="0" indent="0">
              <a:buNone/>
            </a:pPr>
            <a:r>
              <a:rPr lang="en-US" altLang="zh-CN" b="1" dirty="0"/>
              <a:t>while q!=1 {</a:t>
            </a:r>
            <a:r>
              <a:rPr lang="zh-CN" altLang="en-US" b="1" dirty="0"/>
              <a:t>迭代条件</a:t>
            </a:r>
            <a:r>
              <a:rPr lang="en-US" altLang="zh-CN" b="1" dirty="0"/>
              <a:t>}</a:t>
            </a:r>
          </a:p>
          <a:p>
            <a:pPr marL="457200" lvl="1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:=2 to q	{</a:t>
            </a:r>
            <a:r>
              <a:rPr lang="zh-CN" altLang="en-US" dirty="0"/>
              <a:t>穷举找出最小因子</a:t>
            </a:r>
            <a:r>
              <a:rPr lang="en-US" altLang="zh-CN" dirty="0"/>
              <a:t>}</a:t>
            </a:r>
          </a:p>
          <a:p>
            <a:pPr marL="914400" lvl="2" indent="0">
              <a:buNone/>
            </a:pPr>
            <a:r>
              <a:rPr lang="en-US" altLang="zh-CN" dirty="0"/>
              <a:t>if (</a:t>
            </a:r>
            <a:r>
              <a:rPr lang="en-US" altLang="zh-CN" dirty="0" err="1"/>
              <a:t>q%i</a:t>
            </a:r>
            <a:r>
              <a:rPr lang="en-US" altLang="zh-CN" dirty="0"/>
              <a:t>==0)</a:t>
            </a:r>
          </a:p>
          <a:p>
            <a:pPr marL="1371600" lvl="3" indent="0">
              <a:buNone/>
            </a:pPr>
            <a:r>
              <a:rPr lang="zh-CN" altLang="en-US" dirty="0"/>
              <a:t>打印素因子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zh-CN" altLang="en-US" dirty="0"/>
              <a:t>和乘号</a:t>
            </a:r>
            <a:r>
              <a:rPr lang="en-US" altLang="zh-CN" dirty="0"/>
              <a:t>’*’;</a:t>
            </a:r>
          </a:p>
          <a:p>
            <a:pPr marL="1371600" lvl="3" indent="0">
              <a:buNone/>
            </a:pPr>
            <a:r>
              <a:rPr lang="en-US" altLang="zh-CN" dirty="0"/>
              <a:t>break;</a:t>
            </a:r>
          </a:p>
          <a:p>
            <a:pPr marL="514350" lvl="1" indent="0">
              <a:buNone/>
            </a:pPr>
            <a:r>
              <a:rPr lang="en-US" altLang="zh-CN" b="1" dirty="0"/>
              <a:t>q = q/</a:t>
            </a:r>
            <a:r>
              <a:rPr lang="en-US" altLang="zh-CN" b="1" dirty="0" err="1"/>
              <a:t>i</a:t>
            </a:r>
            <a:r>
              <a:rPr lang="en-US" altLang="zh-CN" b="1" dirty="0"/>
              <a:t>; {</a:t>
            </a:r>
            <a:r>
              <a:rPr lang="zh-CN" altLang="en-US" b="1" dirty="0"/>
              <a:t>迭代公式</a:t>
            </a:r>
            <a:r>
              <a:rPr lang="en-US" altLang="zh-CN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314962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C9156-8CD5-40BE-B46A-E4521D9F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整数的素因子分解</a:t>
            </a:r>
            <a:r>
              <a:rPr lang="en-US" altLang="zh-CN" b="1" dirty="0" err="1"/>
              <a:t>v1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659F83-80DC-4CAE-BB5A-06A43818159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39552" y="1132806"/>
            <a:ext cx="8350250" cy="517651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int </a:t>
            </a:r>
            <a:r>
              <a:rPr lang="en-US" altLang="zh-CN" sz="2000" dirty="0" err="1">
                <a:latin typeface="Consolas" panose="020B0609020204030204" pitchFamily="49" charset="0"/>
              </a:rPr>
              <a:t>n,q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i,find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d",&amp;n</a:t>
            </a:r>
            <a:r>
              <a:rPr lang="en-US" altLang="zh-CN" sz="2000" dirty="0">
                <a:latin typeface="Consolas" panose="020B0609020204030204" pitchFamily="49" charset="0"/>
              </a:rPr>
              <a:t>);	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for (q=n; q!=1; ){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for 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=2;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&lt;=q &amp;&amp; (</a:t>
            </a:r>
            <a:r>
              <a:rPr lang="en-US" altLang="zh-CN" sz="2000" dirty="0" err="1">
                <a:latin typeface="Consolas" panose="020B0609020204030204" pitchFamily="49" charset="0"/>
              </a:rPr>
              <a:t>q%i</a:t>
            </a:r>
            <a:r>
              <a:rPr lang="en-US" altLang="zh-CN" sz="2000" dirty="0">
                <a:latin typeface="Consolas" panose="020B0609020204030204" pitchFamily="49" charset="0"/>
              </a:rPr>
              <a:t>!=0);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 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 if (</a:t>
            </a:r>
            <a:r>
              <a:rPr lang="en-US" altLang="zh-CN" sz="2000" dirty="0" err="1">
                <a:latin typeface="Consolas" panose="020B0609020204030204" pitchFamily="49" charset="0"/>
              </a:rPr>
              <a:t>q%i</a:t>
            </a:r>
            <a:r>
              <a:rPr lang="en-US" altLang="zh-CN" sz="2000" dirty="0">
                <a:latin typeface="Consolas" panose="020B0609020204030204" pitchFamily="49" charset="0"/>
              </a:rPr>
              <a:t>==0){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("%d",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  	if (q!=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  </a:t>
            </a:r>
            <a:r>
              <a:rPr lang="en-US" altLang="zh-CN" sz="2000" dirty="0" err="1">
                <a:latin typeface="Consolas" panose="020B0609020204030204" pitchFamily="49" charset="0"/>
              </a:rPr>
              <a:t>putchar</a:t>
            </a:r>
            <a:r>
              <a:rPr lang="en-US" altLang="zh-CN" sz="2000" dirty="0">
                <a:latin typeface="Consolas" panose="020B0609020204030204" pitchFamily="49" charset="0"/>
              </a:rPr>
              <a:t>('*');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 q = q/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53219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105C7-676A-4259-96F2-99BEB758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两层循环的优化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DC0F8C-BACB-463B-A0EC-0176AB61B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268760"/>
            <a:ext cx="7772400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Procedure </a:t>
            </a:r>
            <a:r>
              <a:rPr lang="en-US" altLang="zh-CN" dirty="0" err="1"/>
              <a:t>primefactor</a:t>
            </a:r>
            <a:r>
              <a:rPr lang="en-US" altLang="zh-CN" dirty="0"/>
              <a:t>(n: &gt;3 integer)</a:t>
            </a:r>
          </a:p>
          <a:p>
            <a:pPr marL="0" indent="0">
              <a:buNone/>
            </a:pPr>
            <a:r>
              <a:rPr lang="en-US" altLang="zh-CN" dirty="0"/>
              <a:t>q := n</a:t>
            </a:r>
          </a:p>
          <a:p>
            <a:pPr marL="0" indent="0">
              <a:buNone/>
            </a:pPr>
            <a:r>
              <a:rPr lang="en-US" altLang="zh-CN" b="1" dirty="0"/>
              <a:t>while q!=1	{</a:t>
            </a:r>
            <a:r>
              <a:rPr lang="zh-CN" altLang="en-US" b="1" dirty="0"/>
              <a:t>迭代条件</a:t>
            </a:r>
            <a:r>
              <a:rPr lang="en-US" altLang="zh-CN" b="1" dirty="0"/>
              <a:t>}</a:t>
            </a:r>
          </a:p>
          <a:p>
            <a:pPr marL="457200" lvl="1" indent="0">
              <a:buNone/>
            </a:pPr>
            <a:r>
              <a:rPr lang="en-US" altLang="zh-CN" strike="dblStrike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:=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en-US" altLang="zh-CN" dirty="0"/>
              <a:t> to q </a:t>
            </a:r>
            <a:r>
              <a:rPr lang="en-US" altLang="zh-CN" dirty="0">
                <a:solidFill>
                  <a:srgbClr val="FF0000"/>
                </a:solidFill>
              </a:rPr>
              <a:t>{</a:t>
            </a:r>
            <a:r>
              <a:rPr lang="zh-CN" altLang="en-US" dirty="0">
                <a:solidFill>
                  <a:srgbClr val="FF0000"/>
                </a:solidFill>
              </a:rPr>
              <a:t>素因子分解式保持非递减次序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  <a:r>
              <a:rPr lang="en-US" altLang="zh-CN" dirty="0"/>
              <a:t>	</a:t>
            </a:r>
          </a:p>
          <a:p>
            <a:pPr marL="914400" lvl="2" indent="0">
              <a:buNone/>
            </a:pPr>
            <a:r>
              <a:rPr lang="en-US" altLang="zh-CN" dirty="0"/>
              <a:t>if (</a:t>
            </a:r>
            <a:r>
              <a:rPr lang="en-US" altLang="zh-CN" dirty="0" err="1"/>
              <a:t>q%i</a:t>
            </a:r>
            <a:r>
              <a:rPr lang="en-US" altLang="zh-CN" dirty="0"/>
              <a:t>==0)	{</a:t>
            </a:r>
            <a:r>
              <a:rPr lang="zh-CN" altLang="en-US" dirty="0"/>
              <a:t>穷举素因子的检测条件</a:t>
            </a:r>
            <a:r>
              <a:rPr lang="en-US" altLang="zh-CN" dirty="0"/>
              <a:t>}</a:t>
            </a:r>
          </a:p>
          <a:p>
            <a:pPr marL="1828800" lvl="4" indent="0">
              <a:buNone/>
            </a:pPr>
            <a:r>
              <a:rPr lang="en-US" altLang="zh-CN" dirty="0"/>
              <a:t>print </a:t>
            </a:r>
            <a:r>
              <a:rPr lang="en-US" altLang="zh-CN" dirty="0" err="1"/>
              <a:t>i</a:t>
            </a:r>
            <a:r>
              <a:rPr lang="en-US" altLang="zh-CN" dirty="0"/>
              <a:t>+’*’;</a:t>
            </a:r>
          </a:p>
          <a:p>
            <a:pPr marL="1828800" lvl="4" indent="0">
              <a:buNone/>
            </a:pPr>
            <a:r>
              <a:rPr lang="en-US" altLang="zh-CN" b="1" dirty="0"/>
              <a:t>q = q/</a:t>
            </a:r>
            <a:r>
              <a:rPr lang="en-US" altLang="zh-CN" b="1" dirty="0" err="1"/>
              <a:t>i</a:t>
            </a:r>
            <a:r>
              <a:rPr lang="en-US" altLang="zh-CN" b="1" dirty="0"/>
              <a:t>; {</a:t>
            </a:r>
            <a:r>
              <a:rPr lang="zh-CN" altLang="en-US" b="1" dirty="0"/>
              <a:t>迭代公式</a:t>
            </a:r>
            <a:r>
              <a:rPr lang="en-US" altLang="zh-CN" b="1" dirty="0"/>
              <a:t>}</a:t>
            </a:r>
          </a:p>
          <a:p>
            <a:pPr marL="914400" lvl="2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else</a:t>
            </a:r>
          </a:p>
          <a:p>
            <a:pPr marL="914400" lvl="2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++; {</a:t>
            </a:r>
            <a:r>
              <a:rPr lang="zh-CN" altLang="en-US" dirty="0">
                <a:solidFill>
                  <a:srgbClr val="FF0000"/>
                </a:solidFill>
              </a:rPr>
              <a:t>内层循环由此句代替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</a:p>
          <a:p>
            <a:pPr marL="914400" lvl="2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1359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>
            <a:extLst>
              <a:ext uri="{FF2B5EF4-FFF2-40B4-BE49-F238E27FC236}">
                <a16:creationId xmlns:a16="http://schemas.microsoft.com/office/drawing/2014/main" id="{C18E2B76-C86B-4CA6-9DF2-033AC7D788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772400" cy="720725"/>
          </a:xfrm>
        </p:spPr>
        <p:txBody>
          <a:bodyPr/>
          <a:lstStyle/>
          <a:p>
            <a:r>
              <a:rPr lang="zh-CN" altLang="en-US" b="1" dirty="0"/>
              <a:t>整数的素因子分解</a:t>
            </a:r>
            <a:r>
              <a:rPr lang="en-US" altLang="zh-CN" b="1" dirty="0" err="1"/>
              <a:t>v2</a:t>
            </a:r>
            <a:endParaRPr lang="zh-CN" altLang="en-US" b="1" dirty="0"/>
          </a:p>
        </p:txBody>
      </p:sp>
      <p:sp>
        <p:nvSpPr>
          <p:cNvPr id="62467" name="内容占位符 2">
            <a:extLst>
              <a:ext uri="{FF2B5EF4-FFF2-40B4-BE49-F238E27FC236}">
                <a16:creationId xmlns:a16="http://schemas.microsoft.com/office/drawing/2014/main" id="{4DE5F65C-A3E9-4500-B612-2A66E390FD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9100" y="1125538"/>
            <a:ext cx="8469313" cy="5327649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main(){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int n, q,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d",&amp;n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for(q=</a:t>
            </a:r>
            <a:r>
              <a:rPr lang="en-US" altLang="zh-CN" sz="2000" dirty="0" err="1">
                <a:latin typeface="Consolas" panose="020B0609020204030204" pitchFamily="49" charset="0"/>
              </a:rPr>
              <a:t>n,i</a:t>
            </a:r>
            <a:r>
              <a:rPr lang="en-US" altLang="zh-CN" sz="2000" dirty="0">
                <a:latin typeface="Consolas" panose="020B0609020204030204" pitchFamily="49" charset="0"/>
              </a:rPr>
              <a:t>=2; q!=1;){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if (</a:t>
            </a:r>
            <a:r>
              <a:rPr lang="en-US" altLang="zh-CN" sz="2000" dirty="0" err="1">
                <a:latin typeface="Consolas" panose="020B0609020204030204" pitchFamily="49" charset="0"/>
              </a:rPr>
              <a:t>q%i</a:t>
            </a:r>
            <a:r>
              <a:rPr lang="en-US" altLang="zh-CN" sz="2000" dirty="0">
                <a:latin typeface="Consolas" panose="020B0609020204030204" pitchFamily="49" charset="0"/>
              </a:rPr>
              <a:t>==0){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("%d",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  if (q!=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 </a:t>
            </a:r>
            <a:r>
              <a:rPr lang="en-US" altLang="zh-CN" sz="2000" dirty="0" err="1">
                <a:latin typeface="Consolas" panose="020B0609020204030204" pitchFamily="49" charset="0"/>
              </a:rPr>
              <a:t>putchar</a:t>
            </a:r>
            <a:r>
              <a:rPr lang="en-US" altLang="zh-CN" sz="2000" dirty="0">
                <a:latin typeface="Consolas" panose="020B0609020204030204" pitchFamily="49" charset="0"/>
              </a:rPr>
              <a:t>('*');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q=q/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}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else 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++;        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return 0;</a:t>
            </a:r>
          </a:p>
          <a:p>
            <a:pPr marL="0" indent="0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4">
            <a:extLst>
              <a:ext uri="{FF2B5EF4-FFF2-40B4-BE49-F238E27FC236}">
                <a16:creationId xmlns:a16="http://schemas.microsoft.com/office/drawing/2014/main" id="{A5E8DC34-0A4D-410D-BF96-8A6EE2E9A8F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2193E5BB-2E68-49A1-8235-40FC7AF75F14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30</a:t>
            </a:fld>
            <a:endParaRPr lang="zh-CN" altLang="en-US" sz="1400"/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8E562071-9466-40CA-94B9-D8BBB71C9D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综合练习</a:t>
            </a:r>
          </a:p>
        </p:txBody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173DFDCD-FAC7-4BED-84AC-51B0B534D1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8134350" cy="46116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/>
              <a:t>例 </a:t>
            </a:r>
            <a:r>
              <a:rPr lang="en-US" altLang="zh-CN" sz="2400" b="1"/>
              <a:t>3 </a:t>
            </a:r>
            <a:r>
              <a:rPr lang="zh-CN" altLang="en-US" sz="2400" b="1"/>
              <a:t>： </a:t>
            </a:r>
            <a:r>
              <a:rPr lang="en-US" altLang="zh-CN" sz="2400" b="1"/>
              <a:t>A </a:t>
            </a:r>
            <a:r>
              <a:rPr lang="zh-CN" altLang="en-US" sz="2400" b="1"/>
              <a:t>、 </a:t>
            </a:r>
            <a:r>
              <a:rPr lang="en-US" altLang="zh-CN" sz="2400" b="1"/>
              <a:t>B </a:t>
            </a:r>
            <a:r>
              <a:rPr lang="zh-CN" altLang="en-US" sz="2400" b="1"/>
              <a:t>、 </a:t>
            </a:r>
            <a:r>
              <a:rPr lang="en-US" altLang="zh-CN" sz="2400" b="1"/>
              <a:t>C </a:t>
            </a:r>
            <a:r>
              <a:rPr lang="zh-CN" altLang="en-US" sz="2400" b="1"/>
              <a:t>、 </a:t>
            </a:r>
            <a:r>
              <a:rPr lang="en-US" altLang="zh-CN" sz="2400" b="1"/>
              <a:t>D </a:t>
            </a:r>
            <a:r>
              <a:rPr lang="zh-CN" altLang="en-US" sz="2400" b="1"/>
              <a:t>、 </a:t>
            </a:r>
            <a:r>
              <a:rPr lang="en-US" altLang="zh-CN" sz="2400" b="1"/>
              <a:t>E </a:t>
            </a:r>
            <a:r>
              <a:rPr lang="zh-CN" altLang="en-US" sz="2400" b="1"/>
              <a:t>五人夜间合伙捕鱼，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凌晨时都疲倦不堪，各自在河边的树丛中找地方睡着了。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日上三竿， </a:t>
            </a:r>
            <a:r>
              <a:rPr lang="en-US" altLang="zh-CN" sz="2400" b="1"/>
              <a:t>A </a:t>
            </a:r>
            <a:r>
              <a:rPr lang="zh-CN" altLang="en-US" sz="2400" b="1"/>
              <a:t>第一个醒来，他将鱼分作五份，把多余的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一条扔回河中，拿自己的一份回家去了。 </a:t>
            </a:r>
            <a:r>
              <a:rPr lang="en-US" altLang="zh-CN" sz="2400" b="1"/>
              <a:t>B </a:t>
            </a:r>
            <a:r>
              <a:rPr lang="zh-CN" altLang="en-US" sz="2400" b="1"/>
              <a:t>第二个醒来，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也将鱼分作五份，扔掉多余的一条，拿走自己的一份，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接着 </a:t>
            </a:r>
            <a:r>
              <a:rPr lang="en-US" altLang="zh-CN" sz="2400" b="1"/>
              <a:t>C </a:t>
            </a:r>
            <a:r>
              <a:rPr lang="zh-CN" altLang="en-US" sz="2400" b="1"/>
              <a:t>、 </a:t>
            </a:r>
            <a:r>
              <a:rPr lang="en-US" altLang="zh-CN" sz="2400" b="1"/>
              <a:t>D </a:t>
            </a:r>
            <a:r>
              <a:rPr lang="zh-CN" altLang="en-US" sz="2400" b="1"/>
              <a:t>、 </a:t>
            </a:r>
            <a:r>
              <a:rPr lang="en-US" altLang="zh-CN" sz="2400" b="1"/>
              <a:t>E </a:t>
            </a:r>
            <a:r>
              <a:rPr lang="zh-CN" altLang="en-US" sz="2400" b="1"/>
              <a:t>依次醒来，也都按同样的办法分鱼，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问五人</a:t>
            </a:r>
            <a:r>
              <a:rPr lang="zh-CN" altLang="en-US" sz="2400" b="1" u="sng">
                <a:solidFill>
                  <a:srgbClr val="FF0000"/>
                </a:solidFill>
              </a:rPr>
              <a:t>至少</a:t>
            </a:r>
            <a:r>
              <a:rPr lang="zh-CN" altLang="en-US" sz="2400" b="1"/>
              <a:t>合伙捕了多少条鱼？试编程序算出。 </a:t>
            </a:r>
          </a:p>
        </p:txBody>
      </p:sp>
    </p:spTree>
    <p:extLst>
      <p:ext uri="{BB962C8B-B14F-4D97-AF65-F5344CB8AC3E}">
        <p14:creationId xmlns:p14="http://schemas.microsoft.com/office/powerpoint/2010/main" val="5765504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灯片编号占位符 4">
            <a:extLst>
              <a:ext uri="{FF2B5EF4-FFF2-40B4-BE49-F238E27FC236}">
                <a16:creationId xmlns:a16="http://schemas.microsoft.com/office/drawing/2014/main" id="{DDCEBE13-EC07-4134-AA95-1546CB11B11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D20BF448-918E-47A8-9E4B-23C1A3711341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31</a:t>
            </a:fld>
            <a:endParaRPr lang="zh-CN" altLang="en-US" sz="14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2FD32EF6-5554-4DA7-8EAD-0DA526762B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算法分析：迭代</a:t>
            </a:r>
            <a:r>
              <a:rPr lang="en-US" altLang="zh-CN" dirty="0"/>
              <a:t>+</a:t>
            </a:r>
            <a:r>
              <a:rPr lang="zh-CN" altLang="en-US" dirty="0"/>
              <a:t>穷举</a:t>
            </a:r>
          </a:p>
        </p:txBody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9398ADB2-47ED-452E-A6CE-BD16FA4287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268413"/>
            <a:ext cx="8062913" cy="49895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b="1" dirty="0"/>
              <a:t>问题分析：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b="1" dirty="0"/>
              <a:t>设原先鱼的总数是</a:t>
            </a:r>
            <a:r>
              <a:rPr lang="en-US" altLang="zh-CN" sz="2000" b="1" dirty="0"/>
              <a:t>x</a:t>
            </a:r>
            <a:r>
              <a:rPr lang="zh-CN" altLang="en-US" sz="2000" b="1" dirty="0"/>
              <a:t>条 ，设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D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E</a:t>
            </a:r>
            <a:r>
              <a:rPr lang="zh-CN" altLang="en-US" sz="2000" b="1" dirty="0"/>
              <a:t>拿之前剩下的鱼数量分别为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D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E</a:t>
            </a:r>
            <a:r>
              <a:rPr lang="zh-CN" altLang="en-US" sz="2000" b="1" dirty="0"/>
              <a:t>，则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    A=x;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    B=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A-1</a:t>
            </a:r>
            <a:r>
              <a:rPr lang="zh-CN" altLang="en-US" sz="2000" b="1" dirty="0"/>
              <a:t>）*</a:t>
            </a:r>
            <a:r>
              <a:rPr lang="en-US" altLang="zh-CN" sz="2000" b="1" dirty="0"/>
              <a:t>4/5;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    C=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B-1</a:t>
            </a:r>
            <a:r>
              <a:rPr lang="zh-CN" altLang="en-US" sz="2000" b="1" dirty="0"/>
              <a:t>）*</a:t>
            </a:r>
            <a:r>
              <a:rPr lang="en-US" altLang="zh-CN" sz="2000" b="1" dirty="0"/>
              <a:t>4/5;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    D=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C-1</a:t>
            </a:r>
            <a:r>
              <a:rPr lang="zh-CN" altLang="en-US" sz="2000" b="1" dirty="0"/>
              <a:t>）*</a:t>
            </a:r>
            <a:r>
              <a:rPr lang="en-US" altLang="zh-CN" sz="2000" b="1" dirty="0"/>
              <a:t>4/5;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    E=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D-1</a:t>
            </a:r>
            <a:r>
              <a:rPr lang="zh-CN" altLang="en-US" sz="2000" b="1" dirty="0"/>
              <a:t>）*</a:t>
            </a:r>
            <a:r>
              <a:rPr lang="en-US" altLang="zh-CN" sz="2000" b="1" dirty="0"/>
              <a:t>4/5;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     (E-1)/5 &gt;=1 </a:t>
            </a:r>
            <a:r>
              <a:rPr lang="zh-CN" altLang="en-US" sz="2000" b="1" dirty="0"/>
              <a:t>；迭代公式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E</a:t>
            </a:r>
            <a:r>
              <a:rPr lang="zh-CN" altLang="en-US" sz="2000" b="1" dirty="0"/>
              <a:t>可以是 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11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16</a:t>
            </a:r>
            <a:r>
              <a:rPr lang="en-US" altLang="zh-CN" sz="2000" b="1" dirty="0">
                <a:latin typeface="宋体" panose="02010600030101010101" pitchFamily="2" charset="-122"/>
              </a:rPr>
              <a:t>……</a:t>
            </a:r>
            <a:r>
              <a:rPr lang="zh-CN" altLang="en-US" sz="2000" b="1" dirty="0"/>
              <a:t>（以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递增）；若</a:t>
            </a:r>
            <a:r>
              <a:rPr lang="en-US" altLang="zh-CN" sz="2000" b="1" dirty="0"/>
              <a:t>E</a:t>
            </a:r>
            <a:r>
              <a:rPr lang="zh-CN" altLang="en-US" sz="2000" b="1" dirty="0"/>
              <a:t>已知，则由</a:t>
            </a:r>
            <a:r>
              <a:rPr lang="en-US" altLang="zh-CN" sz="2000" b="1" dirty="0"/>
              <a:t>E</a:t>
            </a:r>
            <a:r>
              <a:rPr lang="zh-CN" altLang="en-US" sz="2000" b="1" dirty="0"/>
              <a:t>可依次推出</a:t>
            </a:r>
            <a:r>
              <a:rPr lang="en-US" altLang="zh-CN" sz="2000" b="1" dirty="0"/>
              <a:t>D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b="1" dirty="0"/>
              <a:t>此外，</a:t>
            </a:r>
            <a:r>
              <a:rPr lang="en-US" altLang="zh-CN" sz="2000" b="1" dirty="0"/>
              <a:t>D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要满足以下约束：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   (D-1) mod 5==0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   (C-1) mod 5==0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   (B-1) mod 5==0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   (A-1) mod 5==0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5621129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8">
            <a:extLst>
              <a:ext uri="{FF2B5EF4-FFF2-40B4-BE49-F238E27FC236}">
                <a16:creationId xmlns:a16="http://schemas.microsoft.com/office/drawing/2014/main" id="{1F0F08EA-147F-4CEE-9398-A9312ADCB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捕鱼算法：穷举</a:t>
            </a:r>
            <a:r>
              <a:rPr lang="en-US" altLang="zh-CN"/>
              <a:t>+</a:t>
            </a:r>
            <a:r>
              <a:rPr lang="zh-CN" altLang="en-US"/>
              <a:t>迭代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0D1D788-1FAA-493F-8BA7-58E8782CA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zh-CN" altLang="en-US" b="1" dirty="0"/>
              <a:t>捕鱼问题求解算法：</a:t>
            </a:r>
            <a:endParaRPr lang="en-US" altLang="zh-CN" b="1" dirty="0"/>
          </a:p>
          <a:p>
            <a:pPr marL="0" indent="0" eaLnBrk="1" hangingPunct="1">
              <a:buNone/>
            </a:pPr>
            <a:r>
              <a:rPr lang="en-US" altLang="zh-CN" b="1" dirty="0"/>
              <a:t>begin</a:t>
            </a:r>
          </a:p>
          <a:p>
            <a:pPr marL="457200" lvl="1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定义</a:t>
            </a:r>
            <a:r>
              <a:rPr lang="zh-CN" altLang="en-US" dirty="0">
                <a:latin typeface="Consolas" panose="020B0609020204030204" pitchFamily="49" charset="0"/>
              </a:rPr>
              <a:t>五个人所分</a:t>
            </a:r>
            <a:r>
              <a:rPr lang="zh-CN" altLang="en-US" sz="2400" dirty="0">
                <a:latin typeface="Consolas" panose="020B0609020204030204" pitchFamily="49" charset="0"/>
              </a:rPr>
              <a:t>鱼的数量</a:t>
            </a:r>
            <a:r>
              <a:rPr lang="en-US" altLang="zh-CN" sz="2400" dirty="0" err="1">
                <a:latin typeface="Consolas" panose="020B0609020204030204" pitchFamily="49" charset="0"/>
              </a:rPr>
              <a:t>a,b,c,d,e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marL="457200" lvl="1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穷举</a:t>
            </a:r>
            <a:r>
              <a:rPr lang="en-US" altLang="zh-CN" sz="2400" dirty="0">
                <a:latin typeface="Consolas" panose="020B0609020204030204" pitchFamily="49" charset="0"/>
              </a:rPr>
              <a:t>e</a:t>
            </a:r>
            <a:r>
              <a:rPr lang="zh-CN" altLang="en-US" sz="2400" dirty="0">
                <a:latin typeface="Consolas" panose="020B0609020204030204" pitchFamily="49" charset="0"/>
              </a:rPr>
              <a:t>的所有方案</a:t>
            </a:r>
            <a:r>
              <a:rPr lang="en-US" altLang="zh-CN" sz="2400" dirty="0">
                <a:latin typeface="Consolas" panose="020B0609020204030204" pitchFamily="49" charset="0"/>
              </a:rPr>
              <a:t> e:=6 to </a:t>
            </a:r>
            <a:r>
              <a:rPr lang="zh-CN" altLang="en-US" sz="2400" dirty="0">
                <a:latin typeface="Consolas" panose="020B0609020204030204" pitchFamily="49" charset="0"/>
              </a:rPr>
              <a:t>直到有一个最小解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914400" lvl="2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迭代计算 </a:t>
            </a:r>
            <a:r>
              <a:rPr lang="en-US" altLang="zh-CN" sz="2400" dirty="0">
                <a:latin typeface="Consolas" panose="020B0609020204030204" pitchFamily="49" charset="0"/>
              </a:rPr>
              <a:t>d=e*5/4+1; </a:t>
            </a:r>
            <a:r>
              <a:rPr lang="zh-CN" altLang="en-US" sz="2400" dirty="0">
                <a:latin typeface="Consolas" panose="020B0609020204030204" pitchFamily="49" charset="0"/>
              </a:rPr>
              <a:t>检测</a:t>
            </a:r>
            <a:r>
              <a:rPr lang="en-US" altLang="zh-CN" sz="2400" dirty="0">
                <a:latin typeface="Consolas" panose="020B0609020204030204" pitchFamily="49" charset="0"/>
              </a:rPr>
              <a:t>(e-1)%5==0</a:t>
            </a:r>
            <a:r>
              <a:rPr lang="zh-CN" altLang="en-US" sz="2400" dirty="0">
                <a:latin typeface="Consolas" panose="020B0609020204030204" pitchFamily="49" charset="0"/>
              </a:rPr>
              <a:t>；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914400" lvl="2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迭代计算 </a:t>
            </a:r>
            <a:r>
              <a:rPr lang="en-US" altLang="zh-CN" sz="2400" dirty="0">
                <a:latin typeface="Consolas" panose="020B0609020204030204" pitchFamily="49" charset="0"/>
              </a:rPr>
              <a:t>c=d*5/4+1; </a:t>
            </a:r>
            <a:r>
              <a:rPr lang="zh-CN" altLang="en-US" sz="2400" dirty="0">
                <a:latin typeface="Consolas" panose="020B0609020204030204" pitchFamily="49" charset="0"/>
              </a:rPr>
              <a:t>检测</a:t>
            </a:r>
            <a:r>
              <a:rPr lang="en-US" altLang="zh-CN" sz="2400" dirty="0">
                <a:latin typeface="Consolas" panose="020B0609020204030204" pitchFamily="49" charset="0"/>
              </a:rPr>
              <a:t>(d-1)%5==0</a:t>
            </a:r>
            <a:r>
              <a:rPr lang="zh-CN" altLang="en-US" sz="2400" dirty="0">
                <a:latin typeface="Consolas" panose="020B0609020204030204" pitchFamily="49" charset="0"/>
              </a:rPr>
              <a:t>；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914400" lvl="2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迭代计算 </a:t>
            </a:r>
            <a:r>
              <a:rPr lang="en-US" altLang="zh-CN" sz="2400" dirty="0">
                <a:latin typeface="Consolas" panose="020B0609020204030204" pitchFamily="49" charset="0"/>
              </a:rPr>
              <a:t>b=c*5/4+1; </a:t>
            </a:r>
            <a:r>
              <a:rPr lang="zh-CN" altLang="en-US" sz="2400" dirty="0">
                <a:latin typeface="Consolas" panose="020B0609020204030204" pitchFamily="49" charset="0"/>
              </a:rPr>
              <a:t>检测</a:t>
            </a:r>
            <a:r>
              <a:rPr lang="en-US" altLang="zh-CN" sz="2400" dirty="0">
                <a:latin typeface="Consolas" panose="020B0609020204030204" pitchFamily="49" charset="0"/>
              </a:rPr>
              <a:t>(c-1)%5==0</a:t>
            </a:r>
            <a:r>
              <a:rPr lang="zh-CN" altLang="en-US" sz="2400" dirty="0">
                <a:latin typeface="Consolas" panose="020B0609020204030204" pitchFamily="49" charset="0"/>
              </a:rPr>
              <a:t>；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914400" lvl="2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迭代计算 </a:t>
            </a:r>
            <a:r>
              <a:rPr lang="en-US" altLang="zh-CN" sz="2400" dirty="0">
                <a:latin typeface="Consolas" panose="020B0609020204030204" pitchFamily="49" charset="0"/>
              </a:rPr>
              <a:t>a=b*5/4+1; </a:t>
            </a:r>
            <a:r>
              <a:rPr lang="zh-CN" altLang="en-US" sz="2400" dirty="0">
                <a:latin typeface="Consolas" panose="020B0609020204030204" pitchFamily="49" charset="0"/>
              </a:rPr>
              <a:t>检测</a:t>
            </a:r>
            <a:r>
              <a:rPr lang="en-US" altLang="zh-CN" sz="2400" dirty="0">
                <a:latin typeface="Consolas" panose="020B0609020204030204" pitchFamily="49" charset="0"/>
              </a:rPr>
              <a:t>(b-1)%5==0</a:t>
            </a:r>
            <a:r>
              <a:rPr lang="zh-CN" altLang="en-US" sz="2400" dirty="0">
                <a:latin typeface="Consolas" panose="020B0609020204030204" pitchFamily="49" charset="0"/>
              </a:rPr>
              <a:t>；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914400" lvl="2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若以上规则都满足，打印</a:t>
            </a:r>
            <a:r>
              <a:rPr lang="en-US" altLang="zh-CN" sz="2400" dirty="0">
                <a:latin typeface="Consolas" panose="020B0609020204030204" pitchFamily="49" charset="0"/>
              </a:rPr>
              <a:t>a</a:t>
            </a:r>
            <a:r>
              <a:rPr lang="zh-CN" altLang="en-US" sz="2400" dirty="0">
                <a:latin typeface="Consolas" panose="020B0609020204030204" pitchFamily="49" charset="0"/>
              </a:rPr>
              <a:t>值；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914400" lvl="2" indent="0" eaLnBrk="1" hangingPunct="1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否则 </a:t>
            </a:r>
            <a:r>
              <a:rPr lang="en-US" altLang="zh-CN" sz="2400" dirty="0">
                <a:latin typeface="Consolas" panose="020B0609020204030204" pitchFamily="49" charset="0"/>
              </a:rPr>
              <a:t>e := </a:t>
            </a:r>
            <a:r>
              <a:rPr lang="en-US" altLang="zh-CN" sz="2400" dirty="0" err="1">
                <a:latin typeface="Consolas" panose="020B0609020204030204" pitchFamily="49" charset="0"/>
              </a:rPr>
              <a:t>e+5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marL="114300" indent="0" eaLnBrk="1" hangingPunct="1">
              <a:buNone/>
            </a:pPr>
            <a:r>
              <a:rPr lang="en-US" altLang="zh-CN" dirty="0">
                <a:latin typeface="Consolas" panose="020B0609020204030204" pitchFamily="49" charset="0"/>
              </a:rPr>
              <a:t>end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16738" name="灯片编号占位符 5">
            <a:extLst>
              <a:ext uri="{FF2B5EF4-FFF2-40B4-BE49-F238E27FC236}">
                <a16:creationId xmlns:a16="http://schemas.microsoft.com/office/drawing/2014/main" id="{8C1360E7-103C-4F8F-82E2-BC4BE8E4107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43118578-F4C2-459F-81A8-7E44DB141591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32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16519911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灯片编号占位符 4">
            <a:extLst>
              <a:ext uri="{FF2B5EF4-FFF2-40B4-BE49-F238E27FC236}">
                <a16:creationId xmlns:a16="http://schemas.microsoft.com/office/drawing/2014/main" id="{CE9251CF-BF42-475A-895E-3D5242315B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BCC861A9-7132-4CC1-9E43-236DFA7768F7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33</a:t>
            </a:fld>
            <a:endParaRPr lang="zh-CN" altLang="en-US" sz="1400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74307001-56F8-4368-AB9D-588EB999A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捕鱼问题程序代码</a:t>
            </a:r>
          </a:p>
        </p:txBody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B59E0340-492B-4D07-BC3E-B019885A59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5613" y="1304925"/>
            <a:ext cx="8580437" cy="5203825"/>
          </a:xfrm>
          <a:ln>
            <a:solidFill>
              <a:srgbClr val="FFC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	int e;	//e</a:t>
            </a:r>
            <a:r>
              <a:rPr lang="zh-CN" altLang="en-US" sz="2000" dirty="0">
                <a:latin typeface="Consolas" panose="020B0609020204030204" pitchFamily="49" charset="0"/>
              </a:rPr>
              <a:t>所分的鱼数量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	</a:t>
            </a:r>
            <a:r>
              <a:rPr lang="en-US" altLang="zh-CN" sz="2000" dirty="0">
                <a:latin typeface="Consolas" panose="020B0609020204030204" pitchFamily="49" charset="0"/>
              </a:rPr>
              <a:t>int n;	//</a:t>
            </a:r>
            <a:r>
              <a:rPr lang="zh-CN" altLang="en-US" sz="2000" dirty="0">
                <a:latin typeface="Consolas" panose="020B0609020204030204" pitchFamily="49" charset="0"/>
              </a:rPr>
              <a:t>迭代</a:t>
            </a:r>
            <a:r>
              <a:rPr lang="en-US" altLang="zh-CN" sz="2000" dirty="0" err="1">
                <a:latin typeface="Consolas" panose="020B0609020204030204" pitchFamily="49" charset="0"/>
              </a:rPr>
              <a:t>a~d</a:t>
            </a:r>
            <a:r>
              <a:rPr lang="zh-CN" altLang="en-US" sz="2000" dirty="0">
                <a:latin typeface="Consolas" panose="020B0609020204030204" pitchFamily="49" charset="0"/>
              </a:rPr>
              <a:t>的鱼数量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	</a:t>
            </a:r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isOK</a:t>
            </a:r>
            <a:r>
              <a:rPr lang="en-US" altLang="zh-CN" sz="2000" dirty="0">
                <a:latin typeface="Consolas" panose="020B0609020204030204" pitchFamily="49" charset="0"/>
              </a:rPr>
              <a:t>; //</a:t>
            </a:r>
            <a:r>
              <a:rPr lang="zh-CN" altLang="en-US" sz="2000" dirty="0">
                <a:latin typeface="Consolas" panose="020B0609020204030204" pitchFamily="49" charset="0"/>
              </a:rPr>
              <a:t>鱼数符合规则的次数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	</a:t>
            </a:r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	for (e=</a:t>
            </a:r>
            <a:r>
              <a:rPr lang="en-US" altLang="zh-CN" sz="2000" dirty="0" err="1">
                <a:latin typeface="Consolas" panose="020B0609020204030204" pitchFamily="49" charset="0"/>
              </a:rPr>
              <a:t>6,isOK</a:t>
            </a:r>
            <a:r>
              <a:rPr lang="en-US" altLang="zh-CN" sz="2000" dirty="0">
                <a:latin typeface="Consolas" panose="020B0609020204030204" pitchFamily="49" charset="0"/>
              </a:rPr>
              <a:t>=0; </a:t>
            </a:r>
            <a:r>
              <a:rPr lang="en-US" altLang="zh-CN" sz="2000" dirty="0" err="1">
                <a:latin typeface="Consolas" panose="020B0609020204030204" pitchFamily="49" charset="0"/>
              </a:rPr>
              <a:t>isOK</a:t>
            </a:r>
            <a:r>
              <a:rPr lang="en-US" altLang="zh-CN" sz="2000" dirty="0">
                <a:latin typeface="Consolas" panose="020B0609020204030204" pitchFamily="49" charset="0"/>
              </a:rPr>
              <a:t>&lt;4; e+=5) {//</a:t>
            </a:r>
            <a:r>
              <a:rPr lang="zh-CN" altLang="en-US" sz="2000" dirty="0">
                <a:latin typeface="Consolas" panose="020B0609020204030204" pitchFamily="49" charset="0"/>
              </a:rPr>
              <a:t>穷举</a:t>
            </a:r>
            <a:r>
              <a:rPr lang="en-US" altLang="zh-CN" sz="2000" dirty="0">
                <a:latin typeface="Consolas" panose="020B0609020204030204" pitchFamily="49" charset="0"/>
              </a:rPr>
              <a:t>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    for 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1,n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e,isOK</a:t>
            </a:r>
            <a:r>
              <a:rPr lang="en-US" altLang="zh-CN" sz="2000" dirty="0">
                <a:latin typeface="Consolas" panose="020B0609020204030204" pitchFamily="49" charset="0"/>
              </a:rPr>
              <a:t>=0;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&lt;=4;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++){//</a:t>
            </a:r>
            <a:r>
              <a:rPr lang="zh-CN" altLang="en-US" sz="2000" dirty="0">
                <a:latin typeface="Consolas" panose="020B0609020204030204" pitchFamily="49" charset="0"/>
              </a:rPr>
              <a:t>迭代求</a:t>
            </a:r>
            <a:r>
              <a:rPr lang="en-US" altLang="zh-CN" sz="2000" dirty="0" err="1">
                <a:latin typeface="Consolas" panose="020B0609020204030204" pitchFamily="49" charset="0"/>
              </a:rPr>
              <a:t>d~a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		n = n*5/4+1;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		if ((n-1)%5==0)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	</a:t>
            </a:r>
            <a:r>
              <a:rPr lang="en-US" altLang="zh-CN" sz="2000" dirty="0" err="1">
                <a:latin typeface="Consolas" panose="020B0609020204030204" pitchFamily="49" charset="0"/>
              </a:rPr>
              <a:t>isOK</a:t>
            </a:r>
            <a:r>
              <a:rPr lang="en-US" altLang="zh-CN" sz="2000" dirty="0">
                <a:latin typeface="Consolas" panose="020B0609020204030204" pitchFamily="49" charset="0"/>
              </a:rPr>
              <a:t>++;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	</a:t>
            </a:r>
            <a:r>
              <a:rPr lang="pt-BR" altLang="zh-CN" sz="2000" dirty="0">
                <a:latin typeface="Consolas" panose="020B0609020204030204" pitchFamily="49" charset="0"/>
              </a:rPr>
              <a:t>printf("fish=%d\n",n);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	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395035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标题 1">
            <a:extLst>
              <a:ext uri="{FF2B5EF4-FFF2-40B4-BE49-F238E27FC236}">
                <a16:creationId xmlns:a16="http://schemas.microsoft.com/office/drawing/2014/main" id="{375787EA-C657-44E5-B6D8-06910FF21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:</a:t>
            </a:r>
            <a:r>
              <a:rPr lang="zh-CN" altLang="en-US" dirty="0"/>
              <a:t>抽签结果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9B9AE5-6165-490E-9300-84057B112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413" y="1319213"/>
            <a:ext cx="7951787" cy="4611687"/>
          </a:xfrm>
        </p:spPr>
        <p:txBody>
          <a:bodyPr/>
          <a:lstStyle/>
          <a:p>
            <a:pPr>
              <a:defRPr/>
            </a:pPr>
            <a:r>
              <a:rPr lang="zh-CN" altLang="en-US" noProof="1"/>
              <a:t>问题描述：两个乒乓球队进行对抗赛，甲队出A、B、C、D四人；乙队出W、X、Y、Z四人。已知部分抽签结果是：A不与X比赛；C不与X、Z比赛，D不与W比赛。你的任务是将全部可能的抽签结果打印出来。</a:t>
            </a:r>
          </a:p>
          <a:p>
            <a:pPr marL="0" indent="0">
              <a:buFontTx/>
              <a:buNone/>
              <a:defRPr/>
            </a:pPr>
            <a:r>
              <a:rPr b="1" noProof="1"/>
              <a:t>Group 1:</a:t>
            </a:r>
          </a:p>
          <a:p>
            <a:pPr marL="0" indent="0">
              <a:buFontTx/>
              <a:buNone/>
              <a:defRPr/>
            </a:pPr>
            <a:r>
              <a:rPr b="1" noProof="1"/>
              <a:t>A VS W</a:t>
            </a:r>
          </a:p>
          <a:p>
            <a:pPr marL="0" indent="0">
              <a:buFontTx/>
              <a:buNone/>
              <a:defRPr/>
            </a:pPr>
            <a:r>
              <a:rPr b="1" noProof="1"/>
              <a:t>B VS X</a:t>
            </a:r>
          </a:p>
          <a:p>
            <a:pPr marL="0" indent="0">
              <a:buFontTx/>
              <a:buNone/>
              <a:defRPr/>
            </a:pPr>
            <a:r>
              <a:rPr b="1" noProof="1"/>
              <a:t>C VS Y</a:t>
            </a:r>
          </a:p>
          <a:p>
            <a:pPr marL="0" indent="0">
              <a:buFontTx/>
              <a:buNone/>
              <a:defRPr/>
            </a:pPr>
            <a:r>
              <a:rPr b="1" noProof="1"/>
              <a:t>D VS Z</a:t>
            </a:r>
            <a:r>
              <a:rPr lang="en-US" b="1" noProof="1"/>
              <a:t>	...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标题 1">
            <a:extLst>
              <a:ext uri="{FF2B5EF4-FFF2-40B4-BE49-F238E27FC236}">
                <a16:creationId xmlns:a16="http://schemas.microsoft.com/office/drawing/2014/main" id="{0779ECB4-D8C9-4C68-B1D3-4C2175C9D5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抽签结果：按选手组合</a:t>
            </a:r>
          </a:p>
        </p:txBody>
      </p:sp>
      <p:sp>
        <p:nvSpPr>
          <p:cNvPr id="138243" name="内容占位符 2">
            <a:extLst>
              <a:ext uri="{FF2B5EF4-FFF2-40B4-BE49-F238E27FC236}">
                <a16:creationId xmlns:a16="http://schemas.microsoft.com/office/drawing/2014/main" id="{E32A8F5D-5BAE-47E4-BEAC-C6A30ADA35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解空间</a:t>
            </a:r>
            <a:r>
              <a:rPr lang="en-US" altLang="zh-CN" dirty="0"/>
              <a:t>: </a:t>
            </a:r>
            <a:r>
              <a:rPr lang="zh-CN" altLang="en-US" dirty="0"/>
              <a:t>穷举甲乙两队对抗的所有组合</a:t>
            </a:r>
            <a:r>
              <a:rPr lang="en-US" altLang="zh-CN" dirty="0"/>
              <a:t>, </a:t>
            </a:r>
            <a:r>
              <a:rPr lang="zh-CN" altLang="en-US" dirty="0"/>
              <a:t>逐一检验</a:t>
            </a:r>
            <a:r>
              <a:rPr lang="en-US" altLang="zh-CN" dirty="0"/>
              <a:t>;</a:t>
            </a:r>
            <a:r>
              <a:rPr lang="zh-CN" altLang="en-US" dirty="0"/>
              <a:t>去掉</a:t>
            </a:r>
            <a:r>
              <a:rPr lang="en-US" altLang="zh-CN" dirty="0"/>
              <a:t>(</a:t>
            </a:r>
            <a:r>
              <a:rPr lang="en-US" altLang="zh-CN" dirty="0" err="1"/>
              <a:t>A,X</a:t>
            </a:r>
            <a:r>
              <a:rPr lang="en-US" altLang="zh-CN" dirty="0"/>
              <a:t>),(</a:t>
            </a:r>
            <a:r>
              <a:rPr lang="en-US" altLang="zh-CN" dirty="0" err="1"/>
              <a:t>C,X</a:t>
            </a:r>
            <a:r>
              <a:rPr lang="en-US" altLang="zh-CN" dirty="0"/>
              <a:t>),(</a:t>
            </a:r>
            <a:r>
              <a:rPr lang="en-US" altLang="zh-CN" dirty="0" err="1"/>
              <a:t>C,Z</a:t>
            </a:r>
            <a:r>
              <a:rPr lang="en-US" altLang="zh-CN" dirty="0"/>
              <a:t>),(</a:t>
            </a:r>
            <a:r>
              <a:rPr lang="en-US" altLang="zh-CN" dirty="0" err="1"/>
              <a:t>D,W</a:t>
            </a:r>
            <a:r>
              <a:rPr lang="en-US" altLang="zh-CN" dirty="0"/>
              <a:t>)</a:t>
            </a:r>
            <a:r>
              <a:rPr lang="zh-CN" altLang="en-US" dirty="0"/>
              <a:t>组合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解空间设计方式一</a:t>
            </a:r>
            <a:r>
              <a:rPr lang="en-US" altLang="zh-CN" dirty="0"/>
              <a:t>: </a:t>
            </a:r>
          </a:p>
          <a:p>
            <a:pPr marL="0" indent="0">
              <a:buNone/>
            </a:pPr>
            <a:r>
              <a:rPr lang="en-US" altLang="zh-CN" dirty="0"/>
              <a:t>	{</a:t>
            </a:r>
            <a:r>
              <a:rPr lang="zh-CN" altLang="en-US" dirty="0"/>
              <a:t>从两队中任选两人对抗的所有情况</a:t>
            </a:r>
            <a:r>
              <a:rPr lang="en-US" altLang="zh-CN" dirty="0"/>
              <a:t>}.</a:t>
            </a:r>
          </a:p>
          <a:p>
            <a:pPr marL="457200" lvl="1" indent="0">
              <a:buFontTx/>
              <a:buNone/>
            </a:pPr>
            <a:r>
              <a:rPr lang="en-US" altLang="zh-CN" dirty="0">
                <a:latin typeface="Consolas" panose="020B0609020204030204" pitchFamily="49" charset="0"/>
              </a:rPr>
              <a:t>for (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='</a:t>
            </a:r>
            <a:r>
              <a:rPr lang="en-US" altLang="zh-CN" dirty="0">
                <a:latin typeface="Consolas" panose="020B0609020204030204" pitchFamily="49" charset="0"/>
                <a:sym typeface="宋体" panose="02010600030101010101" pitchFamily="2" charset="-122"/>
              </a:rPr>
              <a:t>A</a:t>
            </a:r>
            <a:r>
              <a:rPr lang="en-US" altLang="zh-CN" dirty="0">
                <a:latin typeface="Consolas" panose="020B0609020204030204" pitchFamily="49" charset="0"/>
              </a:rPr>
              <a:t>';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&lt;='D';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++)</a:t>
            </a:r>
          </a:p>
          <a:p>
            <a:pPr marL="457200" lvl="1" indent="0">
              <a:buFontTx/>
              <a:buNone/>
            </a:pPr>
            <a:r>
              <a:rPr lang="en-US" altLang="zh-CN" dirty="0">
                <a:latin typeface="Consolas" panose="020B0609020204030204" pitchFamily="49" charset="0"/>
                <a:sym typeface="宋体" panose="02010600030101010101" pitchFamily="2" charset="-122"/>
              </a:rPr>
              <a:t>	for (j='W'; j&lt;='Z'; </a:t>
            </a:r>
            <a:r>
              <a:rPr lang="en-US" altLang="zh-CN" dirty="0" err="1">
                <a:latin typeface="Consolas" panose="020B0609020204030204" pitchFamily="49" charset="0"/>
                <a:sym typeface="宋体" panose="02010600030101010101" pitchFamily="2" charset="-122"/>
              </a:rPr>
              <a:t>j++</a:t>
            </a:r>
            <a:r>
              <a:rPr lang="en-US" altLang="zh-CN" dirty="0">
                <a:latin typeface="Consolas" panose="020B0609020204030204" pitchFamily="49" charset="0"/>
                <a:sym typeface="宋体" panose="02010600030101010101" pitchFamily="2" charset="-122"/>
              </a:rPr>
              <a:t>)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US" altLang="zh-CN" dirty="0">
                <a:latin typeface="Consolas" panose="020B0609020204030204" pitchFamily="49" charset="0"/>
              </a:rPr>
              <a:t>    { ...}</a:t>
            </a:r>
          </a:p>
          <a:p>
            <a:pPr marL="457200" lvl="1" indent="0">
              <a:buFontTx/>
              <a:buNone/>
            </a:pPr>
            <a:r>
              <a:rPr lang="zh-CN" altLang="en-US" dirty="0"/>
              <a:t>但这样的穷举不能满足输出要求将两队四局对抗组合打印。</a:t>
            </a:r>
            <a:r>
              <a:rPr lang="en-US" altLang="zh-CN" dirty="0"/>
              <a:t> 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标题 1">
            <a:extLst>
              <a:ext uri="{FF2B5EF4-FFF2-40B4-BE49-F238E27FC236}">
                <a16:creationId xmlns:a16="http://schemas.microsoft.com/office/drawing/2014/main" id="{8661B8B1-3DC6-494D-A5EC-0973F0C9F7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抽签结果：按甲队排列</a:t>
            </a:r>
          </a:p>
        </p:txBody>
      </p:sp>
      <p:sp>
        <p:nvSpPr>
          <p:cNvPr id="139267" name="内容占位符 2">
            <a:extLst>
              <a:ext uri="{FF2B5EF4-FFF2-40B4-BE49-F238E27FC236}">
                <a16:creationId xmlns:a16="http://schemas.microsoft.com/office/drawing/2014/main" id="{CAEEE8BE-D7D5-4D43-B45E-A1D470F5D7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解空间</a:t>
            </a:r>
            <a:r>
              <a:rPr lang="en-US" altLang="zh-CN" dirty="0"/>
              <a:t>: </a:t>
            </a:r>
            <a:r>
              <a:rPr lang="zh-CN" altLang="en-US" dirty="0"/>
              <a:t>穷举甲乙两队对抗的所有组合</a:t>
            </a:r>
            <a:r>
              <a:rPr lang="en-US" altLang="zh-CN" dirty="0"/>
              <a:t>, </a:t>
            </a:r>
            <a:r>
              <a:rPr lang="zh-CN" altLang="en-US" dirty="0"/>
              <a:t>逐一检验去掉</a:t>
            </a:r>
            <a:r>
              <a:rPr lang="en-US" altLang="zh-CN" dirty="0"/>
              <a:t>(</a:t>
            </a:r>
            <a:r>
              <a:rPr lang="en-US" altLang="zh-CN" dirty="0" err="1"/>
              <a:t>A,X</a:t>
            </a:r>
            <a:r>
              <a:rPr lang="en-US" altLang="zh-CN" dirty="0"/>
              <a:t>),(</a:t>
            </a:r>
            <a:r>
              <a:rPr lang="en-US" altLang="zh-CN" dirty="0" err="1"/>
              <a:t>C,X</a:t>
            </a:r>
            <a:r>
              <a:rPr lang="en-US" altLang="zh-CN" dirty="0"/>
              <a:t>),(</a:t>
            </a:r>
            <a:r>
              <a:rPr lang="en-US" altLang="zh-CN" dirty="0" err="1"/>
              <a:t>C,Z</a:t>
            </a:r>
            <a:r>
              <a:rPr lang="en-US" altLang="zh-CN" dirty="0"/>
              <a:t>),(</a:t>
            </a:r>
            <a:r>
              <a:rPr lang="en-US" altLang="zh-CN" dirty="0" err="1"/>
              <a:t>D,W</a:t>
            </a:r>
            <a:r>
              <a:rPr lang="en-US" altLang="zh-CN" dirty="0"/>
              <a:t>)</a:t>
            </a:r>
            <a:r>
              <a:rPr lang="zh-CN" altLang="en-US" dirty="0"/>
              <a:t>组合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解空间设计方式二</a:t>
            </a:r>
            <a:r>
              <a:rPr lang="en-US" altLang="zh-CN" dirty="0"/>
              <a:t>: </a:t>
            </a:r>
          </a:p>
          <a:p>
            <a:pPr lvl="1"/>
            <a:r>
              <a:rPr lang="en-US" altLang="zh-CN" dirty="0"/>
              <a:t>{</a:t>
            </a:r>
            <a:r>
              <a:rPr lang="zh-CN" altLang="en-US" dirty="0"/>
              <a:t>甲队</a:t>
            </a:r>
            <a:r>
              <a:rPr lang="en-US" altLang="zh-CN" dirty="0" err="1"/>
              <a:t>ABCD</a:t>
            </a:r>
            <a:r>
              <a:rPr lang="zh-CN" altLang="en-US" dirty="0"/>
              <a:t>四人对抗选手的所有排列</a:t>
            </a:r>
            <a:r>
              <a:rPr lang="en-US" altLang="zh-CN" dirty="0"/>
              <a:t>}</a:t>
            </a:r>
          </a:p>
          <a:p>
            <a:pPr marL="457200" lvl="1" indent="0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	for (a='W'; a&lt;='Z'; a++)</a:t>
            </a:r>
          </a:p>
          <a:p>
            <a:pPr marL="457200" lvl="1" indent="0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sym typeface="宋体" panose="02010600030101010101" pitchFamily="2" charset="-122"/>
              </a:rPr>
              <a:t>		for (b='W'; b&lt;='Z'; b++)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sym typeface="宋体" panose="02010600030101010101" pitchFamily="2" charset="-122"/>
              </a:rPr>
              <a:t>			for (c='W'; c&lt;='Z'; </a:t>
            </a:r>
            <a:r>
              <a:rPr lang="en-US" altLang="zh-CN" sz="2200" dirty="0" err="1">
                <a:latin typeface="Consolas" panose="020B0609020204030204" pitchFamily="49" charset="0"/>
                <a:sym typeface="宋体" panose="02010600030101010101" pitchFamily="2" charset="-122"/>
              </a:rPr>
              <a:t>c++</a:t>
            </a:r>
            <a:r>
              <a:rPr lang="en-US" altLang="zh-CN" sz="2200" dirty="0">
                <a:latin typeface="Consolas" panose="020B0609020204030204" pitchFamily="49" charset="0"/>
                <a:sym typeface="宋体" panose="02010600030101010101" pitchFamily="2" charset="-122"/>
              </a:rPr>
              <a:t>)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marL="457200" lvl="1" indent="0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sym typeface="宋体" panose="02010600030101010101" pitchFamily="2" charset="-122"/>
              </a:rPr>
              <a:t>				for (d='W'; d&lt;='Z'; d++</a:t>
            </a:r>
            <a:r>
              <a:rPr lang="en-US" altLang="zh-CN" sz="2200" dirty="0">
                <a:sym typeface="宋体" panose="02010600030101010101" pitchFamily="2" charset="-122"/>
              </a:rPr>
              <a:t>)</a:t>
            </a:r>
            <a:endParaRPr lang="en-US" altLang="zh-CN" sz="2200" dirty="0"/>
          </a:p>
          <a:p>
            <a:pPr marL="457200" lvl="1" indent="0"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标题 1">
            <a:extLst>
              <a:ext uri="{FF2B5EF4-FFF2-40B4-BE49-F238E27FC236}">
                <a16:creationId xmlns:a16="http://schemas.microsoft.com/office/drawing/2014/main" id="{3DA8308F-6ADC-4819-B7F0-9396DF05F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抽签结果程序</a:t>
            </a:r>
          </a:p>
        </p:txBody>
      </p:sp>
      <p:sp>
        <p:nvSpPr>
          <p:cNvPr id="140291" name="内容占位符 2">
            <a:extLst>
              <a:ext uri="{FF2B5EF4-FFF2-40B4-BE49-F238E27FC236}">
                <a16:creationId xmlns:a16="http://schemas.microsoft.com/office/drawing/2014/main" id="{16AE5E3F-7F17-4CA4-B71A-43B4E937A0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8450" y="1216025"/>
            <a:ext cx="8858250" cy="4611688"/>
          </a:xfrm>
        </p:spPr>
        <p:txBody>
          <a:bodyPr lIns="0" tIns="0" rIns="0" bIns="0"/>
          <a:lstStyle/>
          <a:p>
            <a:pPr marL="0" indent="0">
              <a:lnSpc>
                <a:spcPct val="70000"/>
              </a:lnSpc>
              <a:buFontTx/>
              <a:buNone/>
            </a:pPr>
            <a:r>
              <a:rPr lang="en-US" altLang="zh-CN" dirty="0"/>
              <a:t>#include&lt;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pPr marL="0" indent="0">
              <a:lnSpc>
                <a:spcPct val="70000"/>
              </a:lnSpc>
              <a:buFontTx/>
              <a:buNone/>
            </a:pPr>
            <a:r>
              <a:rPr lang="en-US" altLang="zh-CN" dirty="0"/>
              <a:t>int main(){</a:t>
            </a:r>
          </a:p>
          <a:p>
            <a:pPr marL="0" indent="0">
              <a:lnSpc>
                <a:spcPct val="70000"/>
              </a:lnSpc>
              <a:buFontTx/>
              <a:buNone/>
            </a:pPr>
            <a:r>
              <a:rPr lang="en-US" altLang="zh-CN" dirty="0"/>
              <a:t>	int </a:t>
            </a:r>
            <a:r>
              <a:rPr lang="en-US" altLang="zh-CN" dirty="0" err="1"/>
              <a:t>a,b,c,d,group</a:t>
            </a:r>
            <a:r>
              <a:rPr lang="en-US" altLang="zh-CN" dirty="0"/>
              <a:t>=0;	</a:t>
            </a:r>
          </a:p>
          <a:p>
            <a:pPr marL="0" indent="0">
              <a:lnSpc>
                <a:spcPct val="70000"/>
              </a:lnSpc>
              <a:buFontTx/>
              <a:buNone/>
            </a:pPr>
            <a:r>
              <a:rPr lang="en-US" altLang="zh-CN" dirty="0"/>
              <a:t>	for (a='W'; a&lt;='Z'; a++)</a:t>
            </a:r>
          </a:p>
          <a:p>
            <a:pPr marL="0" indent="0">
              <a:lnSpc>
                <a:spcPct val="70000"/>
              </a:lnSpc>
              <a:buFontTx/>
              <a:buNone/>
            </a:pPr>
            <a:r>
              <a:rPr lang="en-US" altLang="zh-CN" dirty="0"/>
              <a:t>	{ if (a!='X')</a:t>
            </a:r>
          </a:p>
          <a:p>
            <a:pPr marL="0" indent="0">
              <a:lnSpc>
                <a:spcPct val="70000"/>
              </a:lnSpc>
              <a:buFontTx/>
              <a:buNone/>
            </a:pPr>
            <a:r>
              <a:rPr lang="en-US" altLang="zh-CN" dirty="0"/>
              <a:t>		for (b='W'; b&lt;='Z'; b++)</a:t>
            </a:r>
          </a:p>
          <a:p>
            <a:pPr marL="0" indent="0">
              <a:lnSpc>
                <a:spcPct val="70000"/>
              </a:lnSpc>
              <a:buFontTx/>
              <a:buNone/>
            </a:pPr>
            <a:r>
              <a:rPr lang="en-US" altLang="zh-CN" dirty="0"/>
              <a:t>		{ if (a!=b)</a:t>
            </a:r>
          </a:p>
          <a:p>
            <a:pPr marL="0" indent="0">
              <a:lnSpc>
                <a:spcPct val="70000"/>
              </a:lnSpc>
              <a:buFontTx/>
              <a:buNone/>
            </a:pPr>
            <a:r>
              <a:rPr lang="en-US" altLang="zh-CN" dirty="0"/>
              <a:t>			for (c='W'; c&lt;='Z'; </a:t>
            </a:r>
            <a:r>
              <a:rPr lang="en-US" altLang="zh-CN" dirty="0" err="1"/>
              <a:t>c++</a:t>
            </a:r>
            <a:r>
              <a:rPr lang="en-US" altLang="zh-CN" dirty="0"/>
              <a:t>)</a:t>
            </a:r>
          </a:p>
          <a:p>
            <a:pPr marL="0" indent="0">
              <a:lnSpc>
                <a:spcPct val="70000"/>
              </a:lnSpc>
              <a:buFontTx/>
              <a:buNone/>
            </a:pPr>
            <a:r>
              <a:rPr lang="en-US" altLang="zh-CN" dirty="0"/>
              <a:t>			{if (c!=a &amp;&amp; c!=b &amp;&amp; c!='X' &amp;&amp; c!='Z')</a:t>
            </a:r>
          </a:p>
          <a:p>
            <a:pPr marL="0" indent="0">
              <a:lnSpc>
                <a:spcPct val="70000"/>
              </a:lnSpc>
              <a:buFontTx/>
              <a:buNone/>
            </a:pPr>
            <a:r>
              <a:rPr lang="en-US" altLang="zh-CN" dirty="0"/>
              <a:t>				for (d='W'; d&lt;='Z'; d++)</a:t>
            </a:r>
          </a:p>
          <a:p>
            <a:pPr marL="0" indent="0">
              <a:lnSpc>
                <a:spcPct val="70000"/>
              </a:lnSpc>
              <a:buFontTx/>
              <a:buNone/>
            </a:pPr>
            <a:r>
              <a:rPr lang="en-US" altLang="zh-CN" dirty="0"/>
              <a:t>				{if (d!=a &amp;&amp; d!=b &amp;&amp; d!=c &amp;&amp; d!='W')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标题 1">
            <a:extLst>
              <a:ext uri="{FF2B5EF4-FFF2-40B4-BE49-F238E27FC236}">
                <a16:creationId xmlns:a16="http://schemas.microsoft.com/office/drawing/2014/main" id="{1E24AD73-5576-4DD6-BC2C-26039FB410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抽签结果</a:t>
            </a:r>
          </a:p>
        </p:txBody>
      </p:sp>
      <p:sp>
        <p:nvSpPr>
          <p:cNvPr id="141315" name="内容占位符 2">
            <a:extLst>
              <a:ext uri="{FF2B5EF4-FFF2-40B4-BE49-F238E27FC236}">
                <a16:creationId xmlns:a16="http://schemas.microsoft.com/office/drawing/2014/main" id="{7AD823E8-CEA0-4AE4-97BA-C514C81A1D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2700" y="1216025"/>
            <a:ext cx="9169400" cy="4611688"/>
          </a:xfrm>
        </p:spPr>
        <p:txBody>
          <a:bodyPr wrap="none" lIns="0" tIns="0" rIns="0" bIns="0"/>
          <a:lstStyle/>
          <a:p>
            <a:pPr marL="457200" lvl="1" indent="0">
              <a:lnSpc>
                <a:spcPct val="70000"/>
              </a:lnSpc>
              <a:buFontTx/>
              <a:buNone/>
            </a:pPr>
            <a:r>
              <a:rPr lang="zh-CN" altLang="zh-CN" sz="1600" dirty="0"/>
              <a:t>				</a:t>
            </a:r>
            <a:r>
              <a:rPr lang="zh-CN" altLang="zh-CN" dirty="0"/>
              <a:t>{</a:t>
            </a:r>
            <a:r>
              <a:rPr lang="zh-CN" altLang="zh-CN" sz="1600" dirty="0"/>
              <a:t>	</a:t>
            </a:r>
            <a:r>
              <a:rPr lang="zh-CN" altLang="zh-CN" dirty="0"/>
              <a:t>group++;</a:t>
            </a:r>
          </a:p>
          <a:p>
            <a:pPr marL="457200" lvl="1" indent="0">
              <a:lnSpc>
                <a:spcPct val="70000"/>
              </a:lnSpc>
              <a:buFontTx/>
              <a:buNone/>
            </a:pPr>
            <a:r>
              <a:rPr lang="zh-CN" altLang="zh-CN" dirty="0"/>
              <a:t>					printf("Group %d:\n",group);</a:t>
            </a:r>
          </a:p>
          <a:p>
            <a:pPr marL="457200" lvl="1" indent="0">
              <a:lnSpc>
                <a:spcPct val="70000"/>
              </a:lnSpc>
              <a:buFontTx/>
              <a:buNone/>
            </a:pPr>
            <a:r>
              <a:rPr lang="zh-CN" altLang="zh-CN" dirty="0"/>
              <a:t>					printf("A VS %c\n",a);</a:t>
            </a:r>
          </a:p>
          <a:p>
            <a:pPr marL="457200" lvl="1" indent="0">
              <a:lnSpc>
                <a:spcPct val="70000"/>
              </a:lnSpc>
              <a:buFontTx/>
              <a:buNone/>
            </a:pPr>
            <a:r>
              <a:rPr lang="zh-CN" altLang="zh-CN" dirty="0"/>
              <a:t>					printf("B VS %c\n",b);					</a:t>
            </a:r>
          </a:p>
          <a:p>
            <a:pPr marL="457200" lvl="1" indent="0">
              <a:lnSpc>
                <a:spcPct val="70000"/>
              </a:lnSpc>
              <a:buFontTx/>
              <a:buNone/>
            </a:pPr>
            <a:r>
              <a:rPr lang="zh-CN" altLang="zh-CN" dirty="0"/>
              <a:t>					printf("C VS %c\n",c);					</a:t>
            </a:r>
          </a:p>
          <a:p>
            <a:pPr marL="457200" lvl="1" indent="0">
              <a:lnSpc>
                <a:spcPct val="70000"/>
              </a:lnSpc>
              <a:buFontTx/>
              <a:buNone/>
            </a:pPr>
            <a:r>
              <a:rPr lang="zh-CN" altLang="zh-CN" dirty="0"/>
              <a:t>					printf("D VS %c\n",d);					</a:t>
            </a:r>
          </a:p>
          <a:p>
            <a:pPr marL="457200" lvl="1" indent="0">
              <a:lnSpc>
                <a:spcPct val="70000"/>
              </a:lnSpc>
              <a:buFontTx/>
              <a:buNone/>
            </a:pPr>
            <a:r>
              <a:rPr lang="zh-CN" altLang="zh-CN" dirty="0"/>
              <a:t>				}//end if (d)	</a:t>
            </a:r>
          </a:p>
          <a:p>
            <a:pPr marL="457200" lvl="1" indent="0">
              <a:lnSpc>
                <a:spcPct val="70000"/>
              </a:lnSpc>
              <a:buFontTx/>
              <a:buNone/>
            </a:pPr>
            <a:r>
              <a:rPr lang="zh-CN" altLang="zh-CN" dirty="0"/>
              <a:t>			      }//end for(d)</a:t>
            </a:r>
          </a:p>
          <a:p>
            <a:pPr marL="457200" lvl="1" indent="0">
              <a:lnSpc>
                <a:spcPct val="70000"/>
              </a:lnSpc>
              <a:buFontTx/>
              <a:buNone/>
            </a:pPr>
            <a:r>
              <a:rPr lang="zh-CN" altLang="zh-CN" dirty="0"/>
              <a:t>			}//end for(c)</a:t>
            </a:r>
          </a:p>
          <a:p>
            <a:pPr marL="457200" lvl="1" indent="0">
              <a:lnSpc>
                <a:spcPct val="70000"/>
              </a:lnSpc>
              <a:buFontTx/>
              <a:buNone/>
            </a:pPr>
            <a:r>
              <a:rPr lang="zh-CN" altLang="zh-CN" dirty="0"/>
              <a:t>		}//end for(b)</a:t>
            </a:r>
          </a:p>
          <a:p>
            <a:pPr marL="457200" lvl="1" indent="0">
              <a:lnSpc>
                <a:spcPct val="70000"/>
              </a:lnSpc>
              <a:buFontTx/>
              <a:buNone/>
            </a:pPr>
            <a:r>
              <a:rPr lang="zh-CN" altLang="zh-CN" dirty="0"/>
              <a:t>	}//end for(a)</a:t>
            </a:r>
          </a:p>
          <a:p>
            <a:pPr marL="457200" lvl="1" indent="0">
              <a:lnSpc>
                <a:spcPct val="70000"/>
              </a:lnSpc>
              <a:buFontTx/>
              <a:buNone/>
            </a:pPr>
            <a:r>
              <a:rPr lang="zh-CN" altLang="zh-CN" dirty="0"/>
              <a:t>	printf("%d\n",group);</a:t>
            </a:r>
          </a:p>
          <a:p>
            <a:pPr marL="457200" lvl="1" indent="0">
              <a:lnSpc>
                <a:spcPct val="70000"/>
              </a:lnSpc>
              <a:buFontTx/>
              <a:buNone/>
            </a:pPr>
            <a:r>
              <a:rPr lang="zh-CN" altLang="zh-CN" dirty="0"/>
              <a:t>	return 0;</a:t>
            </a:r>
          </a:p>
          <a:p>
            <a:pPr marL="457200" lvl="1" indent="0">
              <a:lnSpc>
                <a:spcPct val="70000"/>
              </a:lnSpc>
              <a:buFontTx/>
              <a:buNone/>
            </a:pPr>
            <a:r>
              <a:rPr lang="zh-CN" altLang="zh-CN" dirty="0"/>
              <a:t>}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灯片编号占位符 4">
            <a:extLst>
              <a:ext uri="{FF2B5EF4-FFF2-40B4-BE49-F238E27FC236}">
                <a16:creationId xmlns:a16="http://schemas.microsoft.com/office/drawing/2014/main" id="{019B7389-EB5F-4AF5-B310-06F317FBBC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FB34F509-1608-40EF-8585-CF8806DB425D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39</a:t>
            </a:fld>
            <a:endParaRPr lang="zh-CN" altLang="en-US" sz="1400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F2E3170-4CB6-47EF-B016-3D28D7C52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练习：方格棋盘</a:t>
            </a:r>
          </a:p>
        </p:txBody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FBCA05FF-996C-4E96-8764-B41DAC4B23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4825" y="1214438"/>
            <a:ext cx="8134350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b="1" dirty="0"/>
              <a:t>问题描述：已知正整数n、m，设有一个n*m方格的棋盘（l&lt;=n&lt;=100，1&lt;=m&lt;=100)。求出该棋盘中包含正方形与长方形（长方形中不包括正方形)的个数。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b="1" dirty="0"/>
              <a:t>例如</a:t>
            </a:r>
            <a:r>
              <a:rPr lang="zh-CN" altLang="en-US" b="1" dirty="0"/>
              <a:t>：</a:t>
            </a:r>
            <a:r>
              <a:rPr lang="zh-CN" altLang="zh-CN" b="1" dirty="0"/>
              <a:t>当n=2，m＝3时，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</a:t>
            </a:r>
            <a:r>
              <a:rPr lang="zh-CN" altLang="zh-CN" b="1" dirty="0"/>
              <a:t>正方形的个数有8个，即边长为1的正方形有6个；边长为2的正方形有2个。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</a:t>
            </a:r>
            <a:r>
              <a:rPr lang="zh-CN" altLang="zh-CN" b="1" dirty="0"/>
              <a:t>长方形的个数有10个，即2*1的长方形有</a:t>
            </a:r>
            <a:r>
              <a:rPr lang="en-US" altLang="zh-CN" b="1" dirty="0"/>
              <a:t>3</a:t>
            </a:r>
            <a:r>
              <a:rPr lang="zh-CN" altLang="zh-CN" b="1" dirty="0"/>
              <a:t>个；1*2的长方形有</a:t>
            </a:r>
            <a:r>
              <a:rPr lang="en-US" altLang="zh-CN" b="1" dirty="0"/>
              <a:t>4</a:t>
            </a:r>
            <a:r>
              <a:rPr lang="zh-CN" altLang="zh-CN" b="1" dirty="0"/>
              <a:t>个；</a:t>
            </a:r>
            <a:r>
              <a:rPr lang="en-US" altLang="zh-CN" b="1" dirty="0"/>
              <a:t>1</a:t>
            </a:r>
            <a:r>
              <a:rPr lang="zh-CN" altLang="zh-CN" b="1" dirty="0"/>
              <a:t>*</a:t>
            </a:r>
            <a:r>
              <a:rPr lang="en-US" altLang="zh-CN" b="1" dirty="0"/>
              <a:t>3</a:t>
            </a:r>
            <a:r>
              <a:rPr lang="zh-CN" altLang="zh-CN" b="1" dirty="0"/>
              <a:t>的长方形有2个；</a:t>
            </a:r>
            <a:r>
              <a:rPr lang="en-US" altLang="zh-CN" b="1" dirty="0"/>
              <a:t>2</a:t>
            </a:r>
            <a:r>
              <a:rPr lang="zh-CN" altLang="zh-CN" b="1" dirty="0"/>
              <a:t>*</a:t>
            </a:r>
            <a:r>
              <a:rPr lang="en-US" altLang="zh-CN" b="1" dirty="0"/>
              <a:t>3</a:t>
            </a:r>
            <a:r>
              <a:rPr lang="zh-CN" altLang="zh-CN" b="1" dirty="0"/>
              <a:t>的长方形有1个。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灯片编号占位符 4">
            <a:extLst>
              <a:ext uri="{FF2B5EF4-FFF2-40B4-BE49-F238E27FC236}">
                <a16:creationId xmlns:a16="http://schemas.microsoft.com/office/drawing/2014/main" id="{019B7389-EB5F-4AF5-B310-06F317FBBC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FB34F509-1608-40EF-8585-CF8806DB425D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40</a:t>
            </a:fld>
            <a:endParaRPr lang="zh-CN" altLang="en-US" sz="1400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F2E3170-4CB6-47EF-B016-3D28D7C52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方格棋盘：算法分析</a:t>
            </a:r>
          </a:p>
        </p:txBody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FBCA05FF-996C-4E96-8764-B41DAC4B23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4825" y="1214438"/>
            <a:ext cx="8134350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分析：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</a:t>
            </a:r>
            <a:r>
              <a:rPr lang="zh-CN" altLang="en-US" b="1" dirty="0"/>
              <a:t>边长</a:t>
            </a:r>
            <a:r>
              <a:rPr lang="en-US" altLang="zh-CN" b="1" dirty="0"/>
              <a:t>=1</a:t>
            </a:r>
            <a:r>
              <a:rPr lang="zh-CN" altLang="en-US" b="1" dirty="0"/>
              <a:t>的正方形</a:t>
            </a:r>
            <a:r>
              <a:rPr lang="en-US" altLang="zh-CN" b="1" dirty="0"/>
              <a:t>n*m</a:t>
            </a:r>
            <a:r>
              <a:rPr lang="zh-CN" altLang="en-US" b="1" dirty="0"/>
              <a:t>个</a:t>
            </a:r>
            <a:r>
              <a:rPr lang="en-US" altLang="zh-CN" b="1" dirty="0"/>
              <a:t>, =2</a:t>
            </a:r>
            <a:r>
              <a:rPr lang="zh-CN" altLang="en-US" b="1" dirty="0"/>
              <a:t>的正方形</a:t>
            </a:r>
            <a:r>
              <a:rPr lang="en-US" altLang="zh-CN" b="1" dirty="0"/>
              <a:t>(n-1)*(m-1)</a:t>
            </a:r>
            <a:r>
              <a:rPr lang="zh-CN" altLang="en-US" b="1" dirty="0"/>
              <a:t>个</a:t>
            </a:r>
            <a:r>
              <a:rPr lang="en-US" altLang="zh-CN" b="1" dirty="0"/>
              <a:t>,...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</a:t>
            </a:r>
            <a:r>
              <a:rPr lang="zh-CN" altLang="en-US" b="1" dirty="0"/>
              <a:t>边长</a:t>
            </a:r>
            <a:r>
              <a:rPr lang="en-US" altLang="zh-CN" b="1" dirty="0"/>
              <a:t>=min(</a:t>
            </a:r>
            <a:r>
              <a:rPr lang="en-US" altLang="zh-CN" b="1" dirty="0" err="1"/>
              <a:t>n,m</a:t>
            </a:r>
            <a:r>
              <a:rPr lang="en-US" altLang="zh-CN" b="1" dirty="0"/>
              <a:t>)</a:t>
            </a:r>
            <a:r>
              <a:rPr lang="zh-CN" altLang="en-US" b="1" dirty="0"/>
              <a:t>的正方形</a:t>
            </a:r>
            <a:r>
              <a:rPr lang="en-US" altLang="zh-CN" b="1" dirty="0"/>
              <a:t>(</a:t>
            </a:r>
            <a:r>
              <a:rPr lang="en-US" altLang="zh-CN" b="1" dirty="0" err="1"/>
              <a:t>n-min+1</a:t>
            </a:r>
            <a:r>
              <a:rPr lang="en-US" altLang="zh-CN" b="1" dirty="0"/>
              <a:t>)*(</a:t>
            </a:r>
            <a:r>
              <a:rPr lang="en-US" altLang="zh-CN" b="1" dirty="0" err="1"/>
              <a:t>m-min+1</a:t>
            </a:r>
            <a:r>
              <a:rPr lang="en-US" altLang="zh-CN" b="1" dirty="0"/>
              <a:t>)</a:t>
            </a:r>
            <a:r>
              <a:rPr lang="zh-CN" altLang="en-US" b="1" dirty="0"/>
              <a:t>个</a:t>
            </a:r>
            <a:r>
              <a:rPr lang="en-US" altLang="zh-CN" b="1" dirty="0"/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2*1</a:t>
            </a:r>
            <a:r>
              <a:rPr lang="zh-CN" altLang="en-US" b="1" dirty="0"/>
              <a:t>的长方形</a:t>
            </a:r>
            <a:r>
              <a:rPr lang="en-US" altLang="zh-CN" b="1" dirty="0"/>
              <a:t>(n-1)*m</a:t>
            </a:r>
            <a:r>
              <a:rPr lang="zh-CN" altLang="en-US" b="1" dirty="0"/>
              <a:t>个</a:t>
            </a:r>
            <a:r>
              <a:rPr lang="en-US" altLang="zh-CN" b="1" dirty="0"/>
              <a:t>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</a:t>
            </a:r>
            <a:r>
              <a:rPr lang="zh-CN" altLang="zh-CN" b="1" dirty="0"/>
              <a:t>1*2的长方形</a:t>
            </a:r>
            <a:r>
              <a:rPr lang="en-US" altLang="zh-CN" b="1" dirty="0"/>
              <a:t>n*(m-1)</a:t>
            </a:r>
            <a:r>
              <a:rPr lang="zh-CN" altLang="en-US" b="1" dirty="0"/>
              <a:t>个</a:t>
            </a:r>
            <a:r>
              <a:rPr lang="en-US" altLang="zh-CN" b="1" dirty="0"/>
              <a:t>,...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穷举所有边长</a:t>
            </a:r>
            <a:r>
              <a:rPr lang="en-US" altLang="zh-CN" b="1" dirty="0"/>
              <a:t>: </a:t>
            </a:r>
            <a:r>
              <a:rPr lang="zh-CN" altLang="en-US" b="1" dirty="0"/>
              <a:t>正方形</a:t>
            </a:r>
            <a:r>
              <a:rPr lang="en-US" altLang="zh-CN" b="1" dirty="0" err="1"/>
              <a:t>1..min</a:t>
            </a:r>
            <a:r>
              <a:rPr lang="en-US" altLang="zh-CN" b="1" dirty="0"/>
              <a:t>, </a:t>
            </a:r>
            <a:r>
              <a:rPr lang="zh-CN" altLang="en-US" b="1" dirty="0"/>
              <a:t>长方形 </a:t>
            </a:r>
            <a:r>
              <a:rPr lang="en-US" altLang="zh-CN" b="1" dirty="0"/>
              <a:t>(</a:t>
            </a:r>
            <a:r>
              <a:rPr lang="en-US" altLang="zh-CN" b="1" dirty="0" err="1"/>
              <a:t>1..n</a:t>
            </a:r>
            <a:r>
              <a:rPr lang="en-US" altLang="zh-CN" b="1" dirty="0"/>
              <a:t>, </a:t>
            </a:r>
            <a:r>
              <a:rPr lang="en-US" altLang="zh-CN" b="1" dirty="0" err="1"/>
              <a:t>1..m</a:t>
            </a:r>
            <a:r>
              <a:rPr lang="en-US" altLang="zh-CN" b="1" dirty="0"/>
              <a:t>).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再累加</a:t>
            </a:r>
            <a:r>
              <a:rPr lang="en-US" altLang="zh-CN" b="1" dirty="0"/>
              <a:t>:  f = f +(</a:t>
            </a:r>
            <a:r>
              <a:rPr lang="en-US" altLang="zh-CN" b="1" dirty="0" err="1"/>
              <a:t>n-edgeA+1</a:t>
            </a:r>
            <a:r>
              <a:rPr lang="en-US" altLang="zh-CN" b="1" dirty="0"/>
              <a:t>)*(</a:t>
            </a:r>
            <a:r>
              <a:rPr lang="en-US" altLang="zh-CN" b="1" dirty="0" err="1"/>
              <a:t>m-edgeB+1</a:t>
            </a:r>
            <a:r>
              <a:rPr lang="en-US" altLang="zh-CN" b="1" dirty="0"/>
              <a:t>)	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663603992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灯片编号占位符 4">
            <a:extLst>
              <a:ext uri="{FF2B5EF4-FFF2-40B4-BE49-F238E27FC236}">
                <a16:creationId xmlns:a16="http://schemas.microsoft.com/office/drawing/2014/main" id="{4C8255AF-4B39-4BA3-810B-57725CF3C12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3DC51BE8-1777-4750-B9CD-FF1737708346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41</a:t>
            </a:fld>
            <a:endParaRPr lang="zh-CN" altLang="en-US" sz="1400"/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BFE2EEA8-1BCA-421E-832A-783590A7F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练习：方格棋盘</a:t>
            </a:r>
          </a:p>
        </p:txBody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1F413A2D-2EFF-46DC-8FB2-5D9BECC2E6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4824" y="1214438"/>
            <a:ext cx="8459663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main()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  int </a:t>
            </a:r>
            <a:r>
              <a:rPr lang="en-US" altLang="zh-CN" sz="2400" dirty="0" err="1">
                <a:latin typeface="Consolas" panose="020B0609020204030204" pitchFamily="49" charset="0"/>
              </a:rPr>
              <a:t>n,m,edgeA,edgeB,min,sumSq,sumRec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scanf</a:t>
            </a:r>
            <a:r>
              <a:rPr lang="en-US" altLang="zh-CN" sz="2400" dirty="0"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latin typeface="Consolas" panose="020B0609020204030204" pitchFamily="49" charset="0"/>
              </a:rPr>
              <a:t>d%d</a:t>
            </a:r>
            <a:r>
              <a:rPr lang="en-US" altLang="zh-CN" sz="2400" dirty="0">
                <a:latin typeface="Consolas" panose="020B0609020204030204" pitchFamily="49" charset="0"/>
              </a:rPr>
              <a:t>",&amp;</a:t>
            </a:r>
            <a:r>
              <a:rPr lang="en-US" altLang="zh-CN" sz="2400" dirty="0" err="1">
                <a:latin typeface="Consolas" panose="020B0609020204030204" pitchFamily="49" charset="0"/>
              </a:rPr>
              <a:t>n,&amp;m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min = 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(n&gt;m)? m : n;</a:t>
            </a:r>
            <a:r>
              <a:rPr lang="en-US" altLang="zh-CN" sz="2400" dirty="0">
                <a:solidFill>
                  <a:srgbClr val="3333CC"/>
                </a:solidFill>
                <a:latin typeface="Consolas" panose="020B0609020204030204" pitchFamily="49" charset="0"/>
              </a:rPr>
              <a:t>//if (n&gt;m) min=m; else min=n;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for (</a:t>
            </a:r>
            <a:r>
              <a:rPr lang="en-US" altLang="zh-CN" sz="2400" dirty="0" err="1">
                <a:latin typeface="Consolas" panose="020B0609020204030204" pitchFamily="49" charset="0"/>
              </a:rPr>
              <a:t>edgeA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1,sumSq</a:t>
            </a:r>
            <a:r>
              <a:rPr lang="en-US" altLang="zh-CN" sz="2400" dirty="0">
                <a:latin typeface="Consolas" panose="020B0609020204030204" pitchFamily="49" charset="0"/>
              </a:rPr>
              <a:t>=0; </a:t>
            </a:r>
            <a:r>
              <a:rPr lang="en-US" altLang="zh-CN" sz="2400" dirty="0" err="1">
                <a:latin typeface="Consolas" panose="020B0609020204030204" pitchFamily="49" charset="0"/>
              </a:rPr>
              <a:t>edgeA</a:t>
            </a:r>
            <a:r>
              <a:rPr lang="en-US" altLang="zh-CN" sz="2400" dirty="0">
                <a:latin typeface="Consolas" panose="020B0609020204030204" pitchFamily="49" charset="0"/>
              </a:rPr>
              <a:t>&lt;=min; </a:t>
            </a:r>
            <a:r>
              <a:rPr lang="en-US" altLang="zh-CN" sz="2400" dirty="0" err="1">
                <a:latin typeface="Consolas" panose="020B0609020204030204" pitchFamily="49" charset="0"/>
              </a:rPr>
              <a:t>edgeA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</a:t>
            </a:r>
            <a:r>
              <a:rPr lang="en-US" altLang="zh-CN" sz="2400" dirty="0" err="1">
                <a:latin typeface="Consolas" panose="020B0609020204030204" pitchFamily="49" charset="0"/>
              </a:rPr>
              <a:t>sumSq</a:t>
            </a:r>
            <a:r>
              <a:rPr lang="en-US" altLang="zh-CN" sz="2400" dirty="0">
                <a:latin typeface="Consolas" panose="020B0609020204030204" pitchFamily="49" charset="0"/>
              </a:rPr>
              <a:t> += (</a:t>
            </a:r>
            <a:r>
              <a:rPr lang="en-US" altLang="zh-CN" sz="2400" dirty="0" err="1">
                <a:latin typeface="Consolas" panose="020B0609020204030204" pitchFamily="49" charset="0"/>
              </a:rPr>
              <a:t>n-edgeA+1</a:t>
            </a:r>
            <a:r>
              <a:rPr lang="en-US" altLang="zh-CN" sz="2400" dirty="0">
                <a:latin typeface="Consolas" panose="020B0609020204030204" pitchFamily="49" charset="0"/>
              </a:rPr>
              <a:t>)*(</a:t>
            </a:r>
            <a:r>
              <a:rPr lang="en-US" altLang="zh-CN" sz="2400" dirty="0" err="1">
                <a:latin typeface="Consolas" panose="020B0609020204030204" pitchFamily="49" charset="0"/>
              </a:rPr>
              <a:t>m-edgeA+1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("squares have %d,",</a:t>
            </a:r>
            <a:r>
              <a:rPr lang="en-US" altLang="zh-CN" sz="2400" dirty="0" err="1">
                <a:latin typeface="Consolas" panose="020B0609020204030204" pitchFamily="49" charset="0"/>
              </a:rPr>
              <a:t>sumSq</a:t>
            </a:r>
            <a:r>
              <a:rPr lang="en-US" altLang="zh-CN" sz="2400" dirty="0">
                <a:latin typeface="Consolas" panose="020B0609020204030204" pitchFamily="49" charset="0"/>
              </a:rPr>
              <a:t>);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for (</a:t>
            </a:r>
            <a:r>
              <a:rPr lang="en-US" altLang="zh-CN" sz="2400" dirty="0" err="1">
                <a:latin typeface="Consolas" panose="020B0609020204030204" pitchFamily="49" charset="0"/>
              </a:rPr>
              <a:t>edgeA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1,sumRec</a:t>
            </a:r>
            <a:r>
              <a:rPr lang="en-US" altLang="zh-CN" sz="2400" dirty="0">
                <a:latin typeface="Consolas" panose="020B0609020204030204" pitchFamily="49" charset="0"/>
              </a:rPr>
              <a:t>=0; </a:t>
            </a:r>
            <a:r>
              <a:rPr lang="en-US" altLang="zh-CN" sz="2400" dirty="0" err="1">
                <a:latin typeface="Consolas" panose="020B0609020204030204" pitchFamily="49" charset="0"/>
              </a:rPr>
              <a:t>edgeA</a:t>
            </a:r>
            <a:r>
              <a:rPr lang="en-US" altLang="zh-CN" sz="2400" dirty="0">
                <a:latin typeface="Consolas" panose="020B0609020204030204" pitchFamily="49" charset="0"/>
              </a:rPr>
              <a:t>&lt;=n; </a:t>
            </a:r>
            <a:r>
              <a:rPr lang="en-US" altLang="zh-CN" sz="2400" dirty="0" err="1">
                <a:latin typeface="Consolas" panose="020B0609020204030204" pitchFamily="49" charset="0"/>
              </a:rPr>
              <a:t>edgeA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sym typeface="宋体" panose="02010600030101010101" pitchFamily="2" charset="-122"/>
              </a:rPr>
              <a:t>		for (</a:t>
            </a:r>
            <a:r>
              <a:rPr lang="en-US" altLang="zh-CN" sz="2400" dirty="0" err="1">
                <a:latin typeface="Consolas" panose="020B0609020204030204" pitchFamily="49" charset="0"/>
                <a:sym typeface="宋体" panose="02010600030101010101" pitchFamily="2" charset="-122"/>
              </a:rPr>
              <a:t>edgeB</a:t>
            </a:r>
            <a:r>
              <a:rPr lang="en-US" altLang="zh-CN" sz="2400" dirty="0">
                <a:latin typeface="Consolas" panose="020B0609020204030204" pitchFamily="49" charset="0"/>
                <a:sym typeface="宋体" panose="02010600030101010101" pitchFamily="2" charset="-122"/>
              </a:rPr>
              <a:t>=1; </a:t>
            </a:r>
            <a:r>
              <a:rPr lang="en-US" altLang="zh-CN" sz="2400" dirty="0" err="1">
                <a:latin typeface="Consolas" panose="020B0609020204030204" pitchFamily="49" charset="0"/>
                <a:sym typeface="宋体" panose="02010600030101010101" pitchFamily="2" charset="-122"/>
              </a:rPr>
              <a:t>edgeB</a:t>
            </a:r>
            <a:r>
              <a:rPr lang="en-US" altLang="zh-CN" sz="2400" dirty="0">
                <a:latin typeface="Consolas" panose="020B0609020204030204" pitchFamily="49" charset="0"/>
                <a:sym typeface="宋体" panose="02010600030101010101" pitchFamily="2" charset="-122"/>
              </a:rPr>
              <a:t>&lt;=m; </a:t>
            </a:r>
            <a:r>
              <a:rPr lang="en-US" altLang="zh-CN" sz="2400" dirty="0" err="1">
                <a:latin typeface="Consolas" panose="020B0609020204030204" pitchFamily="49" charset="0"/>
                <a:sym typeface="宋体" panose="02010600030101010101" pitchFamily="2" charset="-122"/>
              </a:rPr>
              <a:t>edgeB</a:t>
            </a:r>
            <a:r>
              <a:rPr lang="en-US" altLang="zh-CN" sz="2400" dirty="0">
                <a:latin typeface="Consolas" panose="020B0609020204030204" pitchFamily="49" charset="0"/>
                <a:sym typeface="宋体" panose="02010600030101010101" pitchFamily="2" charset="-122"/>
              </a:rPr>
              <a:t>++)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{ if (</a:t>
            </a:r>
            <a:r>
              <a:rPr lang="en-US" altLang="zh-CN" sz="2400" dirty="0" err="1">
                <a:latin typeface="Consolas" panose="020B0609020204030204" pitchFamily="49" charset="0"/>
              </a:rPr>
              <a:t>edgeA</a:t>
            </a:r>
            <a:r>
              <a:rPr lang="en-US" altLang="zh-CN" sz="2400" dirty="0">
                <a:latin typeface="Consolas" panose="020B0609020204030204" pitchFamily="49" charset="0"/>
              </a:rPr>
              <a:t>!=</a:t>
            </a:r>
            <a:r>
              <a:rPr lang="en-US" altLang="zh-CN" sz="2400" dirty="0" err="1">
                <a:latin typeface="Consolas" panose="020B0609020204030204" pitchFamily="49" charset="0"/>
              </a:rPr>
              <a:t>edgeB</a:t>
            </a:r>
            <a:r>
              <a:rPr lang="en-US" altLang="zh-CN" sz="24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      </a:t>
            </a:r>
            <a:r>
              <a:rPr lang="en-US" altLang="zh-CN" sz="2400" dirty="0" err="1">
                <a:latin typeface="Consolas" panose="020B0609020204030204" pitchFamily="49" charset="0"/>
              </a:rPr>
              <a:t>sumRec</a:t>
            </a:r>
            <a:r>
              <a:rPr lang="en-US" altLang="zh-CN" sz="2400" dirty="0">
                <a:latin typeface="Consolas" panose="020B0609020204030204" pitchFamily="49" charset="0"/>
              </a:rPr>
              <a:t> += (</a:t>
            </a:r>
            <a:r>
              <a:rPr lang="en-US" altLang="zh-CN" sz="2400" dirty="0" err="1">
                <a:latin typeface="Consolas" panose="020B0609020204030204" pitchFamily="49" charset="0"/>
              </a:rPr>
              <a:t>n-edgeA+1</a:t>
            </a:r>
            <a:r>
              <a:rPr lang="en-US" altLang="zh-CN" sz="2400" dirty="0">
                <a:latin typeface="Consolas" panose="020B0609020204030204" pitchFamily="49" charset="0"/>
              </a:rPr>
              <a:t>)*(</a:t>
            </a:r>
            <a:r>
              <a:rPr lang="en-US" altLang="zh-CN" sz="2400" dirty="0" err="1">
                <a:latin typeface="Consolas" panose="020B0609020204030204" pitchFamily="49" charset="0"/>
              </a:rPr>
              <a:t>m-edgeB+1</a:t>
            </a:r>
            <a:r>
              <a:rPr lang="en-US" altLang="zh-CN" sz="2400" dirty="0">
                <a:latin typeface="Consolas" panose="020B0609020204030204" pitchFamily="49" charset="0"/>
              </a:rPr>
              <a:t>);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latin typeface="Consolas" panose="020B0609020204030204" pitchFamily="49" charset="0"/>
                <a:sym typeface="宋体" panose="02010600030101010101" pitchFamily="2" charset="-122"/>
              </a:rPr>
              <a:t>"Rectangles have %d\n",</a:t>
            </a:r>
            <a:r>
              <a:rPr lang="en-US" altLang="zh-CN" sz="2400" dirty="0" err="1">
                <a:latin typeface="Consolas" panose="020B0609020204030204" pitchFamily="49" charset="0"/>
                <a:sym typeface="宋体" panose="02010600030101010101" pitchFamily="2" charset="-122"/>
              </a:rPr>
              <a:t>sumRec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return 0;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en-US" altLang="zh-CN" sz="2400" dirty="0">
              <a:solidFill>
                <a:srgbClr val="FF3300"/>
              </a:solidFill>
              <a:latin typeface="Consolas" panose="020B0609020204030204" pitchFamily="49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灯片编号占位符 4">
            <a:extLst>
              <a:ext uri="{FF2B5EF4-FFF2-40B4-BE49-F238E27FC236}">
                <a16:creationId xmlns:a16="http://schemas.microsoft.com/office/drawing/2014/main" id="{019B7389-EB5F-4AF5-B310-06F317FBBC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FB34F509-1608-40EF-8585-CF8806DB425D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42</a:t>
            </a:fld>
            <a:endParaRPr lang="zh-CN" altLang="en-US" sz="1400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F2E3170-4CB6-47EF-B016-3D28D7C52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？：条件运算符</a:t>
            </a:r>
          </a:p>
        </p:txBody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FBCA05FF-996C-4E96-8764-B41DAC4B23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4825" y="1214438"/>
            <a:ext cx="8134350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/>
              <a:t>上例中运算表达式</a:t>
            </a:r>
            <a:r>
              <a:rPr lang="en-US" altLang="zh-CN" sz="2800" dirty="0">
                <a:latin typeface="Consolas" panose="020B0609020204030204" pitchFamily="49" charset="0"/>
              </a:rPr>
              <a:t> min =(n&gt;m)</a:t>
            </a:r>
            <a:r>
              <a:rPr lang="en-US" altLang="zh-CN" sz="2800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altLang="zh-CN" sz="2800" dirty="0">
                <a:latin typeface="Consolas" panose="020B0609020204030204" pitchFamily="49" charset="0"/>
              </a:rPr>
              <a:t> m </a:t>
            </a:r>
            <a:r>
              <a:rPr lang="en-US" altLang="zh-CN" sz="2800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sz="2800" dirty="0">
                <a:latin typeface="Consolas" panose="020B0609020204030204" pitchFamily="49" charset="0"/>
              </a:rPr>
              <a:t> n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</a:t>
            </a:r>
            <a:r>
              <a:rPr lang="zh-CN" altLang="en-US" b="1" dirty="0"/>
              <a:t>含义是 </a:t>
            </a:r>
            <a:r>
              <a:rPr lang="en-US" altLang="zh-CN" dirty="0">
                <a:latin typeface="Consolas" panose="020B0609020204030204" pitchFamily="49" charset="0"/>
              </a:rPr>
              <a:t>if </a:t>
            </a:r>
            <a:r>
              <a:rPr lang="en-US" altLang="zh-CN" sz="2800" dirty="0">
                <a:latin typeface="Consolas" panose="020B0609020204030204" pitchFamily="49" charset="0"/>
              </a:rPr>
              <a:t>(n&gt;m)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Consolas" panose="020B0609020204030204" pitchFamily="49" charset="0"/>
              </a:rPr>
              <a:t>			min = m;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Consolas" panose="020B0609020204030204" pitchFamily="49" charset="0"/>
              </a:rPr>
              <a:t>		   else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Consolas" panose="020B0609020204030204" pitchFamily="49" charset="0"/>
              </a:rPr>
              <a:t>			min = n;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 </a:t>
            </a:r>
            <a:r>
              <a:rPr lang="zh-CN" altLang="en-US" b="1" dirty="0"/>
              <a:t>条件运算符</a:t>
            </a:r>
            <a:r>
              <a:rPr lang="en-US" altLang="zh-CN" b="1" dirty="0"/>
              <a:t>?:</a:t>
            </a:r>
            <a:r>
              <a:rPr lang="zh-CN" altLang="en-US" b="1" dirty="0"/>
              <a:t>的</a:t>
            </a:r>
            <a:r>
              <a:rPr lang="en-US" altLang="zh-CN" b="1" dirty="0"/>
              <a:t>C</a:t>
            </a:r>
            <a:r>
              <a:rPr lang="zh-CN" altLang="en-US" b="1" dirty="0"/>
              <a:t>语法是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</a:t>
            </a:r>
            <a:r>
              <a:rPr lang="en-US" altLang="zh-CN" b="1" dirty="0">
                <a:solidFill>
                  <a:srgbClr val="3333CC"/>
                </a:solidFill>
              </a:rPr>
              <a:t>(</a:t>
            </a:r>
            <a:r>
              <a:rPr lang="zh-CN" altLang="en-US" b="1" dirty="0">
                <a:solidFill>
                  <a:srgbClr val="3333CC"/>
                </a:solidFill>
              </a:rPr>
              <a:t>条件表达式</a:t>
            </a:r>
            <a:r>
              <a:rPr lang="en-US" altLang="zh-CN" b="1" dirty="0">
                <a:solidFill>
                  <a:srgbClr val="3333CC"/>
                </a:solidFill>
              </a:rPr>
              <a:t>) ? </a:t>
            </a:r>
            <a:r>
              <a:rPr lang="zh-CN" altLang="en-US" b="1" dirty="0">
                <a:solidFill>
                  <a:srgbClr val="3333CC"/>
                </a:solidFill>
              </a:rPr>
              <a:t>表达式</a:t>
            </a:r>
            <a:r>
              <a:rPr lang="en-US" altLang="zh-CN" b="1" dirty="0">
                <a:solidFill>
                  <a:srgbClr val="3333CC"/>
                </a:solidFill>
              </a:rPr>
              <a:t>1 : </a:t>
            </a:r>
            <a:r>
              <a:rPr lang="zh-CN" altLang="en-US" b="1" dirty="0">
                <a:solidFill>
                  <a:srgbClr val="3333CC"/>
                </a:solidFill>
              </a:rPr>
              <a:t>表达式</a:t>
            </a:r>
            <a:r>
              <a:rPr lang="en-US" altLang="zh-CN" b="1" dirty="0">
                <a:solidFill>
                  <a:srgbClr val="3333CC"/>
                </a:solidFill>
              </a:rPr>
              <a:t>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</a:t>
            </a:r>
            <a:r>
              <a:rPr lang="zh-CN" altLang="en-US" b="1" dirty="0"/>
              <a:t>运算规则是：当条件表达式为真，运算结果为表达式</a:t>
            </a:r>
            <a:r>
              <a:rPr lang="en-US" altLang="zh-CN" b="1" dirty="0"/>
              <a:t>1</a:t>
            </a:r>
            <a:r>
              <a:rPr lang="zh-CN" altLang="en-US" b="1" dirty="0"/>
              <a:t>，否则为表达式</a:t>
            </a:r>
            <a:r>
              <a:rPr lang="en-US" altLang="zh-CN" b="1" dirty="0"/>
              <a:t>2.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1690726459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灯片编号占位符 3">
            <a:extLst>
              <a:ext uri="{FF2B5EF4-FFF2-40B4-BE49-F238E27FC236}">
                <a16:creationId xmlns:a16="http://schemas.microsoft.com/office/drawing/2014/main" id="{9294995E-0C30-404E-8493-35A124703A9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C681C50D-322A-439C-951D-7F75BFDD1527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43</a:t>
            </a:fld>
            <a:endParaRPr lang="zh-CN" altLang="en-US" sz="1400"/>
          </a:p>
        </p:txBody>
      </p:sp>
      <p:graphicFrame>
        <p:nvGraphicFramePr>
          <p:cNvPr id="177155" name="Object 4">
            <a:extLst>
              <a:ext uri="{FF2B5EF4-FFF2-40B4-BE49-F238E27FC236}">
                <a16:creationId xmlns:a16="http://schemas.microsoft.com/office/drawing/2014/main" id="{3F50619E-651E-4821-B513-6F38A3109C6B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3492500" y="2133600"/>
          <a:ext cx="2438400" cy="227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027" imgH="1054303" progId="MS_ClipArt_Gallery.2">
                  <p:embed/>
                </p:oleObj>
              </mc:Choice>
              <mc:Fallback>
                <p:oleObj r:id="rId2" imgW="1132027" imgH="1054303" progId="MS_ClipArt_Gallery.2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133600"/>
                        <a:ext cx="2438400" cy="227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8_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0_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1081</TotalTime>
  <Pages>0</Pages>
  <Words>4813</Words>
  <Characters>0</Characters>
  <Application>Microsoft Office PowerPoint</Application>
  <DocSecurity>0</DocSecurity>
  <PresentationFormat>全屏显示(4:3)</PresentationFormat>
  <Lines>0</Lines>
  <Paragraphs>480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楷体</vt:lpstr>
      <vt:lpstr>宋体</vt:lpstr>
      <vt:lpstr>微软雅黑</vt:lpstr>
      <vt:lpstr>Arial</vt:lpstr>
      <vt:lpstr>Consolas</vt:lpstr>
      <vt:lpstr>Times New Roman</vt:lpstr>
      <vt:lpstr>Wingdings</vt:lpstr>
      <vt:lpstr>经分互动规范介绍</vt:lpstr>
      <vt:lpstr>1_经分互动规范介绍</vt:lpstr>
      <vt:lpstr>8_经分互动规范介绍</vt:lpstr>
      <vt:lpstr>10_经分互动规范介绍</vt:lpstr>
      <vt:lpstr>MS_ClipArt_Gallery.2</vt:lpstr>
      <vt:lpstr>PowerPoint 演示文稿</vt:lpstr>
      <vt:lpstr>蛮力算法</vt:lpstr>
      <vt:lpstr>穷举算法思路:暴力搜索</vt:lpstr>
      <vt:lpstr>解空间1：生成排列问题</vt:lpstr>
      <vt:lpstr>穷举法解题</vt:lpstr>
      <vt:lpstr>5、6、7排列问题</vt:lpstr>
      <vt:lpstr>总结生成排列问题算法</vt:lpstr>
      <vt:lpstr>解空间2：百鸡问题</vt:lpstr>
      <vt:lpstr>百鸡问题算法</vt:lpstr>
      <vt:lpstr>百鸡问题程序</vt:lpstr>
      <vt:lpstr>总结n元一次方程求解算法</vt:lpstr>
      <vt:lpstr>解空间3:寻找特殊数</vt:lpstr>
      <vt:lpstr>3位数中除11后商等于各数字平方和</vt:lpstr>
      <vt:lpstr>总结：寻找数位分解的特殊数</vt:lpstr>
      <vt:lpstr>1..n之间除m商等于各数字平方和</vt:lpstr>
      <vt:lpstr>解空间4：素数判定</vt:lpstr>
      <vt:lpstr> 素数判定算法伪代码</vt:lpstr>
      <vt:lpstr>素数判定</vt:lpstr>
      <vt:lpstr>解空间5：逻辑谜题</vt:lpstr>
      <vt:lpstr>逻辑谜题的解空间：n元组的逻辑判断</vt:lpstr>
      <vt:lpstr>太长的逻辑判断化简方法：整数运算</vt:lpstr>
      <vt:lpstr>比赛名次程序(1)</vt:lpstr>
      <vt:lpstr>比赛名次程序(2)</vt:lpstr>
      <vt:lpstr>PowerPoint 演示文稿</vt:lpstr>
      <vt:lpstr>寻找素因子的算法分析</vt:lpstr>
      <vt:lpstr>素因子分解初步算法</vt:lpstr>
      <vt:lpstr>整数的素因子分解v1</vt:lpstr>
      <vt:lpstr>两层循环的优化</vt:lpstr>
      <vt:lpstr>整数的素因子分解v2</vt:lpstr>
      <vt:lpstr>综合练习</vt:lpstr>
      <vt:lpstr>算法分析：迭代+穷举</vt:lpstr>
      <vt:lpstr>捕鱼算法：穷举+迭代</vt:lpstr>
      <vt:lpstr>捕鱼问题程序代码</vt:lpstr>
      <vt:lpstr>练习:抽签结果</vt:lpstr>
      <vt:lpstr>抽签结果：按选手组合</vt:lpstr>
      <vt:lpstr>抽签结果：按甲队排列</vt:lpstr>
      <vt:lpstr>抽签结果程序</vt:lpstr>
      <vt:lpstr>抽签结果</vt:lpstr>
      <vt:lpstr>练习：方格棋盘</vt:lpstr>
      <vt:lpstr>方格棋盘：算法分析</vt:lpstr>
      <vt:lpstr>练习：方格棋盘</vt:lpstr>
      <vt:lpstr>？：条件运算符</vt:lpstr>
      <vt:lpstr>PowerPoint 演示文稿</vt:lpstr>
    </vt:vector>
  </TitlesOfParts>
  <Manager/>
  <Company>bupt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PASCAL程序设计</dc:title>
  <dc:subject/>
  <dc:creator>cyzhou</dc:creator>
  <cp:keywords/>
  <dc:description/>
  <cp:lastModifiedBy>yanmei zhang</cp:lastModifiedBy>
  <cp:revision>2183</cp:revision>
  <dcterms:created xsi:type="dcterms:W3CDTF">2002-12-06T01:10:53Z</dcterms:created>
  <dcterms:modified xsi:type="dcterms:W3CDTF">2023-10-30T08:13:04Z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