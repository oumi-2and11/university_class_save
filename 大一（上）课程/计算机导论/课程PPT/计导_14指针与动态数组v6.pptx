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6" r:id="rId2"/>
  </p:sldMasterIdLst>
  <p:notesMasterIdLst>
    <p:notesMasterId r:id="rId70"/>
  </p:notesMasterIdLst>
  <p:handoutMasterIdLst>
    <p:handoutMasterId r:id="rId71"/>
  </p:handoutMasterIdLst>
  <p:sldIdLst>
    <p:sldId id="258" r:id="rId3"/>
    <p:sldId id="973" r:id="rId4"/>
    <p:sldId id="974" r:id="rId5"/>
    <p:sldId id="260" r:id="rId6"/>
    <p:sldId id="345" r:id="rId7"/>
    <p:sldId id="346" r:id="rId8"/>
    <p:sldId id="271" r:id="rId9"/>
    <p:sldId id="834" r:id="rId10"/>
    <p:sldId id="394" r:id="rId11"/>
    <p:sldId id="835" r:id="rId12"/>
    <p:sldId id="596" r:id="rId13"/>
    <p:sldId id="1036" r:id="rId14"/>
    <p:sldId id="833" r:id="rId15"/>
    <p:sldId id="1763" r:id="rId16"/>
    <p:sldId id="599" r:id="rId17"/>
    <p:sldId id="1764" r:id="rId18"/>
    <p:sldId id="897" r:id="rId19"/>
    <p:sldId id="965" r:id="rId20"/>
    <p:sldId id="1150" r:id="rId21"/>
    <p:sldId id="967" r:id="rId22"/>
    <p:sldId id="837" r:id="rId23"/>
    <p:sldId id="465" r:id="rId24"/>
    <p:sldId id="775" r:id="rId25"/>
    <p:sldId id="765" r:id="rId26"/>
    <p:sldId id="966" r:id="rId27"/>
    <p:sldId id="836" r:id="rId28"/>
    <p:sldId id="766" r:id="rId29"/>
    <p:sldId id="767" r:id="rId30"/>
    <p:sldId id="399" r:id="rId31"/>
    <p:sldId id="468" r:id="rId32"/>
    <p:sldId id="402" r:id="rId33"/>
    <p:sldId id="469" r:id="rId34"/>
    <p:sldId id="769" r:id="rId35"/>
    <p:sldId id="772" r:id="rId36"/>
    <p:sldId id="777" r:id="rId37"/>
    <p:sldId id="1762" r:id="rId38"/>
    <p:sldId id="454" r:id="rId39"/>
    <p:sldId id="600" r:id="rId40"/>
    <p:sldId id="840" r:id="rId41"/>
    <p:sldId id="281" r:id="rId42"/>
    <p:sldId id="473" r:id="rId43"/>
    <p:sldId id="475" r:id="rId44"/>
    <p:sldId id="403" r:id="rId45"/>
    <p:sldId id="337" r:id="rId46"/>
    <p:sldId id="2006" r:id="rId47"/>
    <p:sldId id="898" r:id="rId48"/>
    <p:sldId id="906" r:id="rId49"/>
    <p:sldId id="907" r:id="rId50"/>
    <p:sldId id="908" r:id="rId51"/>
    <p:sldId id="909" r:id="rId52"/>
    <p:sldId id="910" r:id="rId53"/>
    <p:sldId id="292" r:id="rId54"/>
    <p:sldId id="708" r:id="rId55"/>
    <p:sldId id="707" r:id="rId56"/>
    <p:sldId id="354" r:id="rId57"/>
    <p:sldId id="357" r:id="rId58"/>
    <p:sldId id="355" r:id="rId59"/>
    <p:sldId id="353" r:id="rId60"/>
    <p:sldId id="968" r:id="rId61"/>
    <p:sldId id="969" r:id="rId62"/>
    <p:sldId id="970" r:id="rId63"/>
    <p:sldId id="2007" r:id="rId64"/>
    <p:sldId id="2008" r:id="rId65"/>
    <p:sldId id="356" r:id="rId66"/>
    <p:sldId id="358" r:id="rId67"/>
    <p:sldId id="359" r:id="rId68"/>
    <p:sldId id="1147" r:id="rId69"/>
  </p:sldIdLst>
  <p:sldSz cx="9144000" cy="6858000" type="screen4x3"/>
  <p:notesSz cx="6815138" cy="9942513"/>
  <p:defaultTextStyle>
    <a:defPPr>
      <a:defRPr lang="en-US"/>
    </a:defPPr>
    <a:lvl1pPr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默认节" id="{839AA22B-EF9E-4255-A130-0443B6307B2F}">
          <p14:sldIdLst>
            <p14:sldId id="258"/>
          </p14:sldIdLst>
        </p14:section>
        <p14:section name="什么是指针？" id="{33CEA701-85B1-4AB4-B122-79D4F1E69FF5}">
          <p14:sldIdLst>
            <p14:sldId id="973"/>
            <p14:sldId id="974"/>
            <p14:sldId id="260"/>
            <p14:sldId id="345"/>
            <p14:sldId id="346"/>
            <p14:sldId id="271"/>
            <p14:sldId id="834"/>
          </p14:sldIdLst>
        </p14:section>
        <p14:section name="指针与数组" id="{D3DB6EEA-F0F5-4FE1-A579-FADE68684471}">
          <p14:sldIdLst>
            <p14:sldId id="394"/>
            <p14:sldId id="835"/>
            <p14:sldId id="596"/>
            <p14:sldId id="1036"/>
            <p14:sldId id="833"/>
            <p14:sldId id="1763"/>
            <p14:sldId id="599"/>
            <p14:sldId id="1764"/>
            <p14:sldId id="897"/>
            <p14:sldId id="965"/>
            <p14:sldId id="1150"/>
            <p14:sldId id="967"/>
          </p14:sldIdLst>
        </p14:section>
        <p14:section name="动态数组" id="{3C5B30F6-6176-4B4F-8AB9-0660BED2A6A3}">
          <p14:sldIdLst>
            <p14:sldId id="837"/>
            <p14:sldId id="465"/>
            <p14:sldId id="775"/>
            <p14:sldId id="765"/>
            <p14:sldId id="966"/>
            <p14:sldId id="836"/>
            <p14:sldId id="766"/>
            <p14:sldId id="767"/>
            <p14:sldId id="399"/>
            <p14:sldId id="468"/>
            <p14:sldId id="402"/>
            <p14:sldId id="469"/>
            <p14:sldId id="769"/>
            <p14:sldId id="772"/>
            <p14:sldId id="777"/>
            <p14:sldId id="1762"/>
          </p14:sldIdLst>
        </p14:section>
        <p14:section name="指针与字符串常量" id="{B29E9EEC-1FEE-497A-9E8B-9D65AADE1B89}">
          <p14:sldIdLst>
            <p14:sldId id="454"/>
            <p14:sldId id="600"/>
          </p14:sldIdLst>
        </p14:section>
        <p14:section name="字符串排序" id="{D7BED85F-B186-426E-9D13-9FFD2C09BB94}">
          <p14:sldIdLst>
            <p14:sldId id="840"/>
            <p14:sldId id="281"/>
            <p14:sldId id="473"/>
            <p14:sldId id="475"/>
            <p14:sldId id="403"/>
            <p14:sldId id="337"/>
            <p14:sldId id="2006"/>
          </p14:sldIdLst>
        </p14:section>
        <p14:section name="指针数组应用实例" id="{E7AADCE1-12B1-4539-9357-997EF224EF9D}">
          <p14:sldIdLst>
            <p14:sldId id="898"/>
            <p14:sldId id="906"/>
            <p14:sldId id="907"/>
            <p14:sldId id="908"/>
            <p14:sldId id="909"/>
            <p14:sldId id="910"/>
          </p14:sldIdLst>
        </p14:section>
        <p14:section name="函数指针" id="{10C28928-0BD9-4946-B328-7797A1154134}">
          <p14:sldIdLst>
            <p14:sldId id="292"/>
            <p14:sldId id="708"/>
            <p14:sldId id="707"/>
            <p14:sldId id="354"/>
            <p14:sldId id="357"/>
            <p14:sldId id="355"/>
            <p14:sldId id="353"/>
            <p14:sldId id="968"/>
            <p14:sldId id="969"/>
            <p14:sldId id="970"/>
            <p14:sldId id="2007"/>
            <p14:sldId id="2008"/>
            <p14:sldId id="356"/>
            <p14:sldId id="358"/>
            <p14:sldId id="359"/>
          </p14:sldIdLst>
        </p14:section>
        <p14:section name="end" id="{8C7B7A40-1731-4249-B9CA-6D748CE212F3}">
          <p14:sldIdLst>
            <p14:sldId id="1147"/>
          </p14:sldIdLst>
        </p14:section>
      </p14:sectionLst>
    </p:ext>
    <p:ext uri="{EFAFB233-063F-42B5-8137-9DF3F51BA10A}">
      <p15:sldGuideLst xmlns:p15="http://schemas.microsoft.com/office/powerpoint/2012/main">
        <p15:guide id="1" orient="horz" pos="2115">
          <p15:clr>
            <a:srgbClr val="A4A3A4"/>
          </p15:clr>
        </p15:guide>
        <p15:guide id="2" pos="290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66FFCC"/>
    <a:srgbClr val="DDDDDD"/>
    <a:srgbClr val="D9D9D9"/>
    <a:srgbClr val="2C1D86"/>
    <a:srgbClr val="FFFF66"/>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51" autoAdjust="0"/>
    <p:restoredTop sz="93826" autoAdjust="0"/>
  </p:normalViewPr>
  <p:slideViewPr>
    <p:cSldViewPr>
      <p:cViewPr varScale="1">
        <p:scale>
          <a:sx n="67" d="100"/>
          <a:sy n="67" d="100"/>
        </p:scale>
        <p:origin x="1184" y="52"/>
      </p:cViewPr>
      <p:guideLst>
        <p:guide orient="horz" pos="2115"/>
        <p:guide pos="290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8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38EDBD3F-E553-44E6-8555-B35CC74A3FA1}"/>
              </a:ext>
            </a:extLst>
          </p:cNvPr>
          <p:cNvSpPr>
            <a:spLocks noGrp="1" noChangeArrowheads="1"/>
          </p:cNvSpPr>
          <p:nvPr>
            <p:ph type="hdr" sz="quarter"/>
          </p:nvPr>
        </p:nvSpPr>
        <p:spPr bwMode="auto">
          <a:xfrm>
            <a:off x="0" y="0"/>
            <a:ext cx="2952750" cy="496888"/>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0" sz="1200"/>
            </a:lvl1pPr>
          </a:lstStyle>
          <a:p>
            <a:pPr>
              <a:defRPr/>
            </a:pPr>
            <a:endParaRPr lang="zh-CN" altLang="en-US"/>
          </a:p>
        </p:txBody>
      </p:sp>
      <p:sp>
        <p:nvSpPr>
          <p:cNvPr id="293891" name="Rectangle 3">
            <a:extLst>
              <a:ext uri="{FF2B5EF4-FFF2-40B4-BE49-F238E27FC236}">
                <a16:creationId xmlns:a16="http://schemas.microsoft.com/office/drawing/2014/main" id="{EC7C4403-0BF8-4BE2-969A-94F1E04213E9}"/>
              </a:ext>
            </a:extLst>
          </p:cNvPr>
          <p:cNvSpPr>
            <a:spLocks noGrp="1" noChangeArrowheads="1"/>
          </p:cNvSpPr>
          <p:nvPr>
            <p:ph type="dt" sz="quarter" idx="1"/>
          </p:nvPr>
        </p:nvSpPr>
        <p:spPr bwMode="auto">
          <a:xfrm>
            <a:off x="3860800" y="0"/>
            <a:ext cx="29527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a:lvl1pPr>
          </a:lstStyle>
          <a:p>
            <a:pPr>
              <a:defRPr/>
            </a:pPr>
            <a:endParaRPr lang="en-US" altLang="zh-CN"/>
          </a:p>
        </p:txBody>
      </p:sp>
      <p:sp>
        <p:nvSpPr>
          <p:cNvPr id="293892" name="Rectangle 4">
            <a:extLst>
              <a:ext uri="{FF2B5EF4-FFF2-40B4-BE49-F238E27FC236}">
                <a16:creationId xmlns:a16="http://schemas.microsoft.com/office/drawing/2014/main" id="{20D75AD9-AD6D-4DB8-959C-D6FAD03280D9}"/>
              </a:ext>
            </a:extLst>
          </p:cNvPr>
          <p:cNvSpPr>
            <a:spLocks noGrp="1" noChangeArrowheads="1"/>
          </p:cNvSpPr>
          <p:nvPr>
            <p:ph type="ftr" sz="quarter" idx="2"/>
          </p:nvPr>
        </p:nvSpPr>
        <p:spPr bwMode="auto">
          <a:xfrm>
            <a:off x="0" y="9444038"/>
            <a:ext cx="2952750" cy="496887"/>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200"/>
            </a:lvl1pPr>
          </a:lstStyle>
          <a:p>
            <a:pPr>
              <a:defRPr/>
            </a:pPr>
            <a:endParaRPr lang="en-US" altLang="zh-CN"/>
          </a:p>
        </p:txBody>
      </p:sp>
      <p:sp>
        <p:nvSpPr>
          <p:cNvPr id="293893" name="Rectangle 5">
            <a:extLst>
              <a:ext uri="{FF2B5EF4-FFF2-40B4-BE49-F238E27FC236}">
                <a16:creationId xmlns:a16="http://schemas.microsoft.com/office/drawing/2014/main" id="{8B28931E-6F6D-447B-BA81-67032674D9D0}"/>
              </a:ext>
            </a:extLst>
          </p:cNvPr>
          <p:cNvSpPr>
            <a:spLocks noGrp="1" noChangeArrowheads="1"/>
          </p:cNvSpPr>
          <p:nvPr>
            <p:ph type="sldNum" sz="quarter" idx="3"/>
          </p:nvPr>
        </p:nvSpPr>
        <p:spPr bwMode="auto">
          <a:xfrm>
            <a:off x="3860800" y="9444038"/>
            <a:ext cx="2952750" cy="496887"/>
          </a:xfrm>
          <a:prstGeom prst="rect">
            <a:avLst/>
          </a:prstGeom>
          <a:noFill/>
          <a:ln w="9525">
            <a:noFill/>
            <a:miter lim="800000"/>
          </a:ln>
          <a:effectLst/>
        </p:spPr>
        <p:txBody>
          <a:bodyPr vert="horz" wrap="square" lIns="91440" tIns="45720" rIns="91440" bIns="45720" numCol="1" anchor="b" anchorCtr="0" compatLnSpc="1"/>
          <a:lstStyle>
            <a:lvl1pPr algn="r">
              <a:defRPr sz="1200" noProof="1" dirty="0"/>
            </a:lvl1pPr>
          </a:lstStyle>
          <a:p>
            <a:fld id="{27DC4182-CBC7-4DE8-A856-E14527119FED}"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94C4D871-E983-4306-8817-1303D1391DD7}"/>
              </a:ext>
            </a:extLst>
          </p:cNvPr>
          <p:cNvSpPr>
            <a:spLocks noGrp="1" noChangeArrowheads="1"/>
          </p:cNvSpPr>
          <p:nvPr>
            <p:ph type="hdr" sz="quarter"/>
          </p:nvPr>
        </p:nvSpPr>
        <p:spPr bwMode="auto">
          <a:xfrm>
            <a:off x="0" y="0"/>
            <a:ext cx="2952750" cy="496888"/>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a:lvl1pPr>
          </a:lstStyle>
          <a:p>
            <a:pPr>
              <a:defRPr/>
            </a:pPr>
            <a:endParaRPr lang="zh-CN" altLang="en-US"/>
          </a:p>
        </p:txBody>
      </p:sp>
      <p:sp>
        <p:nvSpPr>
          <p:cNvPr id="84995" name="Rectangle 3">
            <a:extLst>
              <a:ext uri="{FF2B5EF4-FFF2-40B4-BE49-F238E27FC236}">
                <a16:creationId xmlns:a16="http://schemas.microsoft.com/office/drawing/2014/main" id="{4EC09813-AB3E-4E50-8F03-36BF8279ABCF}"/>
              </a:ext>
            </a:extLst>
          </p:cNvPr>
          <p:cNvSpPr>
            <a:spLocks noGrp="1" noChangeArrowheads="1"/>
          </p:cNvSpPr>
          <p:nvPr>
            <p:ph type="dt" idx="1"/>
          </p:nvPr>
        </p:nvSpPr>
        <p:spPr bwMode="auto">
          <a:xfrm>
            <a:off x="3862388" y="0"/>
            <a:ext cx="29527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a:lvl1pPr>
          </a:lstStyle>
          <a:p>
            <a:pPr>
              <a:defRPr/>
            </a:pPr>
            <a:endParaRPr lang="en-US" altLang="zh-CN"/>
          </a:p>
        </p:txBody>
      </p:sp>
      <p:sp>
        <p:nvSpPr>
          <p:cNvPr id="5124" name="Rectangle 4">
            <a:extLst>
              <a:ext uri="{FF2B5EF4-FFF2-40B4-BE49-F238E27FC236}">
                <a16:creationId xmlns:a16="http://schemas.microsoft.com/office/drawing/2014/main" id="{A5DC9496-7D76-401D-ABA6-8A712F9B133B}"/>
              </a:ext>
            </a:extLst>
          </p:cNvPr>
          <p:cNvSpPr>
            <a:spLocks noGrp="1" noRot="1" noChangeAspect="1" noChangeArrowheads="1" noTextEdit="1"/>
          </p:cNvSpPr>
          <p:nvPr>
            <p:ph type="sldImg" idx="4294967295"/>
          </p:nvPr>
        </p:nvSpPr>
        <p:spPr bwMode="auto">
          <a:xfrm>
            <a:off x="923925" y="746125"/>
            <a:ext cx="4970463"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5E872A80-A663-43F6-B1D5-7F85EF855FAB}"/>
              </a:ext>
            </a:extLst>
          </p:cNvPr>
          <p:cNvSpPr>
            <a:spLocks noGrp="1" noChangeArrowheads="1"/>
          </p:cNvSpPr>
          <p:nvPr>
            <p:ph type="body" sz="quarter" idx="4294967295"/>
          </p:nvPr>
        </p:nvSpPr>
        <p:spPr bwMode="auto">
          <a:xfrm>
            <a:off x="908050" y="4722813"/>
            <a:ext cx="4999038"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4998" name="Rectangle 6">
            <a:extLst>
              <a:ext uri="{FF2B5EF4-FFF2-40B4-BE49-F238E27FC236}">
                <a16:creationId xmlns:a16="http://schemas.microsoft.com/office/drawing/2014/main" id="{C658F84D-F0C1-4C75-BCB0-6A78BF554912}"/>
              </a:ext>
            </a:extLst>
          </p:cNvPr>
          <p:cNvSpPr>
            <a:spLocks noGrp="1" noChangeArrowheads="1"/>
          </p:cNvSpPr>
          <p:nvPr>
            <p:ph type="ftr" sz="quarter" idx="4"/>
          </p:nvPr>
        </p:nvSpPr>
        <p:spPr bwMode="auto">
          <a:xfrm>
            <a:off x="0" y="9445625"/>
            <a:ext cx="2952750" cy="496888"/>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a:lvl1pPr>
          </a:lstStyle>
          <a:p>
            <a:pPr>
              <a:defRPr/>
            </a:pPr>
            <a:endParaRPr lang="en-US" altLang="zh-CN"/>
          </a:p>
        </p:txBody>
      </p:sp>
      <p:sp>
        <p:nvSpPr>
          <p:cNvPr id="84999" name="Rectangle 7">
            <a:extLst>
              <a:ext uri="{FF2B5EF4-FFF2-40B4-BE49-F238E27FC236}">
                <a16:creationId xmlns:a16="http://schemas.microsoft.com/office/drawing/2014/main" id="{2FA608D5-9268-478F-970D-9D4B7B72B278}"/>
              </a:ext>
            </a:extLst>
          </p:cNvPr>
          <p:cNvSpPr>
            <a:spLocks noGrp="1" noChangeArrowheads="1"/>
          </p:cNvSpPr>
          <p:nvPr>
            <p:ph type="sldNum" sz="quarter" idx="5"/>
          </p:nvPr>
        </p:nvSpPr>
        <p:spPr bwMode="auto">
          <a:xfrm>
            <a:off x="3862388" y="9445625"/>
            <a:ext cx="2952750" cy="496888"/>
          </a:xfrm>
          <a:prstGeom prst="rect">
            <a:avLst/>
          </a:prstGeom>
          <a:noFill/>
          <a:ln w="9525">
            <a:noFill/>
            <a:miter lim="800000"/>
          </a:ln>
          <a:effectLst/>
        </p:spPr>
        <p:txBody>
          <a:bodyPr vert="horz" wrap="square" lIns="91440" tIns="45720" rIns="91440" bIns="45720" numCol="1" anchor="b" anchorCtr="0" compatLnSpc="1"/>
          <a:lstStyle>
            <a:lvl1pPr algn="r">
              <a:defRPr sz="1200" noProof="1" dirty="0"/>
            </a:lvl1pPr>
          </a:lstStyle>
          <a:p>
            <a:fld id="{09B6DBB7-05C9-4290-9B43-D3B315C4BD41}"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逐行细讲！</a:t>
            </a:r>
          </a:p>
        </p:txBody>
      </p:sp>
      <p:sp>
        <p:nvSpPr>
          <p:cNvPr id="4" name="灯片编号占位符 3"/>
          <p:cNvSpPr>
            <a:spLocks noGrp="1"/>
          </p:cNvSpPr>
          <p:nvPr>
            <p:ph type="sldNum" sz="quarter" idx="5"/>
          </p:nvPr>
        </p:nvSpPr>
        <p:spPr/>
        <p:txBody>
          <a:bodyPr/>
          <a:lstStyle/>
          <a:p>
            <a:fld id="{09B6DBB7-05C9-4290-9B43-D3B315C4BD41}" type="slidenum">
              <a:rPr lang="zh-CN" altLang="en-US" smtClean="0"/>
              <a:pPr/>
              <a:t>8</a:t>
            </a:fld>
            <a:endParaRPr lang="zh-CN" altLang="en-US"/>
          </a:p>
        </p:txBody>
      </p:sp>
    </p:spTree>
    <p:extLst>
      <p:ext uri="{BB962C8B-B14F-4D97-AF65-F5344CB8AC3E}">
        <p14:creationId xmlns:p14="http://schemas.microsoft.com/office/powerpoint/2010/main" val="377652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之前做的数组子程序都可以保留！</a:t>
            </a:r>
          </a:p>
        </p:txBody>
      </p:sp>
      <p:sp>
        <p:nvSpPr>
          <p:cNvPr id="4" name="灯片编号占位符 3"/>
          <p:cNvSpPr>
            <a:spLocks noGrp="1"/>
          </p:cNvSpPr>
          <p:nvPr>
            <p:ph type="sldNum" sz="quarter" idx="5"/>
          </p:nvPr>
        </p:nvSpPr>
        <p:spPr/>
        <p:txBody>
          <a:bodyPr/>
          <a:lstStyle/>
          <a:p>
            <a:fld id="{09B6DBB7-05C9-4290-9B43-D3B315C4BD41}" type="slidenum">
              <a:rPr lang="zh-CN" altLang="en-US" smtClean="0"/>
              <a:pPr/>
              <a:t>11</a:t>
            </a:fld>
            <a:endParaRPr lang="zh-CN" altLang="en-US"/>
          </a:p>
        </p:txBody>
      </p:sp>
    </p:spTree>
    <p:extLst>
      <p:ext uri="{BB962C8B-B14F-4D97-AF65-F5344CB8AC3E}">
        <p14:creationId xmlns:p14="http://schemas.microsoft.com/office/powerpoint/2010/main" val="146313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我们仅对其中需要改进的部分用指针来简化。例如：交换数组元素的功能。</a:t>
            </a:r>
          </a:p>
        </p:txBody>
      </p:sp>
      <p:sp>
        <p:nvSpPr>
          <p:cNvPr id="4" name="灯片编号占位符 3"/>
          <p:cNvSpPr>
            <a:spLocks noGrp="1"/>
          </p:cNvSpPr>
          <p:nvPr>
            <p:ph type="sldNum" sz="quarter" idx="5"/>
          </p:nvPr>
        </p:nvSpPr>
        <p:spPr/>
        <p:txBody>
          <a:bodyPr/>
          <a:lstStyle/>
          <a:p>
            <a:fld id="{09B6DBB7-05C9-4290-9B43-D3B315C4BD41}" type="slidenum">
              <a:rPr lang="zh-CN" altLang="en-US" smtClean="0"/>
              <a:pPr/>
              <a:t>13</a:t>
            </a:fld>
            <a:endParaRPr lang="zh-CN" altLang="en-US"/>
          </a:p>
        </p:txBody>
      </p:sp>
    </p:spTree>
    <p:extLst>
      <p:ext uri="{BB962C8B-B14F-4D97-AF65-F5344CB8AC3E}">
        <p14:creationId xmlns:p14="http://schemas.microsoft.com/office/powerpoint/2010/main" val="3793109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我们仅对其中需要改进的部分用指针来简化。例如：二维数组的形参与列数有关的问题。</a:t>
            </a:r>
          </a:p>
        </p:txBody>
      </p:sp>
      <p:sp>
        <p:nvSpPr>
          <p:cNvPr id="4" name="灯片编号占位符 3"/>
          <p:cNvSpPr>
            <a:spLocks noGrp="1"/>
          </p:cNvSpPr>
          <p:nvPr>
            <p:ph type="sldNum" sz="quarter" idx="5"/>
          </p:nvPr>
        </p:nvSpPr>
        <p:spPr/>
        <p:txBody>
          <a:bodyPr/>
          <a:lstStyle/>
          <a:p>
            <a:fld id="{09B6DBB7-05C9-4290-9B43-D3B315C4BD41}" type="slidenum">
              <a:rPr lang="zh-CN" altLang="en-US" smtClean="0"/>
              <a:pPr/>
              <a:t>17</a:t>
            </a:fld>
            <a:endParaRPr lang="zh-CN" altLang="en-US"/>
          </a:p>
        </p:txBody>
      </p:sp>
    </p:spTree>
    <p:extLst>
      <p:ext uri="{BB962C8B-B14F-4D97-AF65-F5344CB8AC3E}">
        <p14:creationId xmlns:p14="http://schemas.microsoft.com/office/powerpoint/2010/main" val="3196382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a:extLst>
              <a:ext uri="{FF2B5EF4-FFF2-40B4-BE49-F238E27FC236}">
                <a16:creationId xmlns:a16="http://schemas.microsoft.com/office/drawing/2014/main" id="{441DAE5C-BA1C-4BC6-8832-390178F306C2}"/>
              </a:ext>
            </a:extLst>
          </p:cNvPr>
          <p:cNvSpPr>
            <a:spLocks noGrp="1" noRot="1" noChangeAspect="1" noChangeArrowheads="1" noTextEdit="1"/>
          </p:cNvSpPr>
          <p:nvPr>
            <p:ph type="sldImg" idx="4294967295"/>
          </p:nvPr>
        </p:nvSpPr>
        <p:spPr>
          <a:ln/>
        </p:spPr>
      </p:sp>
      <p:sp>
        <p:nvSpPr>
          <p:cNvPr id="29698" name="文本占位符 2">
            <a:extLst>
              <a:ext uri="{FF2B5EF4-FFF2-40B4-BE49-F238E27FC236}">
                <a16:creationId xmlns:a16="http://schemas.microsoft.com/office/drawing/2014/main" id="{5F1716CF-3387-4CA2-856A-BFCBE240EC62}"/>
              </a:ext>
            </a:extLst>
          </p:cNvPr>
          <p:cNvSpPr>
            <a:spLocks noGrp="1" noChangeArrowheads="1"/>
          </p:cNvSpPr>
          <p:nvPr>
            <p:ph type="body" idx="4294967295"/>
          </p:nvPr>
        </p:nvSpPr>
        <p:spPr/>
        <p:txBody>
          <a:bodyPr/>
          <a:lstStyle/>
          <a:p>
            <a:r>
              <a:rPr lang="zh-CN" altLang="en-US"/>
              <a:t>内存的静态分配和动态分配的区别主要是两个：</a:t>
            </a:r>
          </a:p>
          <a:p>
            <a:r>
              <a:rPr lang="zh-CN" altLang="en-US"/>
              <a:t>      一是时间不同。静态分配发生在程序编译和连接的时候。动态分配则发生在程序调入和执行的时候。</a:t>
            </a:r>
          </a:p>
          <a:p>
            <a:r>
              <a:rPr lang="zh-CN" altLang="en-US"/>
              <a:t>      二是空间不同。堆都是动态分配的，没有静态分配的堆。栈有2种分配方式：静态分配和动态分配。静态分配是编译器完成的，比如局部变量的分配。动态分配由函数malloc进行分配。不过栈的动态分配和堆不同，他的动态分配是由编译器进行释放，无需我们手工实现。    </a:t>
            </a:r>
          </a:p>
          <a:p>
            <a:r>
              <a:rPr lang="zh-CN" altLang="en-US"/>
              <a:t>对于一个进程的内存空间而言，可以在逻辑上分成3个部份：代码区，静态数据区和动态数据区。动态数据区一般就是"堆栈"。"栈(stack)"和"堆(heap)"是两种不同的动态数据区，栈是一种线性结构，堆是一种链式结构。进程的每个线程都有私有的"栈"，所以每个线程虽然代码一样，但本地变量的数据都是互不干扰。一个堆栈可以通过"基地址"和"栈顶"地址来描述。全局变量和静态变量分配在静态数据区，本地变量分配在动态数据区，即堆栈中。程序通过堆栈的基地址和偏移量来访问本地变量。</a:t>
            </a:r>
          </a:p>
          <a:p>
            <a:r>
              <a:rPr lang="zh-CN" altLang="en-US"/>
              <a:t>一般，用static修饰的变量，全局变量位于静态数据区。函数调用过程中的参数，返回地址，EBP和局部变量都采用栈的方式存放。</a:t>
            </a:r>
          </a:p>
          <a:p>
            <a:r>
              <a:rPr lang="zh-CN" altLang="en-US"/>
              <a:t>所谓动态内存分配就是指在程序执行的过程中动态地分配或者回收存储空间的分配内存的方法。动态内存分配不象数组等静态内存分配方法那样需要预先分配存储空间，而是由系统根据程序的需要即时分配，且分配的大小就是程序要求的大小。</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a:extLst>
              <a:ext uri="{FF2B5EF4-FFF2-40B4-BE49-F238E27FC236}">
                <a16:creationId xmlns:a16="http://schemas.microsoft.com/office/drawing/2014/main" id="{29DF603D-6812-4D4E-B07E-13D1E3808333}"/>
              </a:ext>
            </a:extLst>
          </p:cNvPr>
          <p:cNvSpPr>
            <a:spLocks noGrp="1" noRot="1" noChangeAspect="1" noChangeArrowheads="1" noTextEdit="1"/>
          </p:cNvSpPr>
          <p:nvPr>
            <p:ph type="sldImg" idx="4294967295"/>
          </p:nvPr>
        </p:nvSpPr>
        <p:spPr>
          <a:ln/>
        </p:spPr>
      </p:sp>
      <p:sp>
        <p:nvSpPr>
          <p:cNvPr id="33794" name="文本占位符 2">
            <a:extLst>
              <a:ext uri="{FF2B5EF4-FFF2-40B4-BE49-F238E27FC236}">
                <a16:creationId xmlns:a16="http://schemas.microsoft.com/office/drawing/2014/main" id="{DE85144C-374A-4544-A9F3-2AAD17095E88}"/>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6626" name="幻灯片图像占位符 78849">
            <a:extLst>
              <a:ext uri="{FF2B5EF4-FFF2-40B4-BE49-F238E27FC236}">
                <a16:creationId xmlns:a16="http://schemas.microsoft.com/office/drawing/2014/main" id="{16498A4E-9D9F-4BF9-A1C5-572483030CB3}"/>
              </a:ext>
            </a:extLst>
          </p:cNvPr>
          <p:cNvSpPr>
            <a:spLocks noGrp="1" noRot="1" noChangeAspect="1" noChangeArrowheads="1" noTextEdit="1"/>
          </p:cNvSpPr>
          <p:nvPr>
            <p:ph type="sldImg" idx="4294967295"/>
          </p:nvPr>
        </p:nvSpPr>
        <p:spPr>
          <a:xfrm>
            <a:off x="922338" y="742950"/>
            <a:ext cx="4968875" cy="3727450"/>
          </a:xfrm>
          <a:ln w="1"/>
        </p:spPr>
      </p:sp>
      <p:sp>
        <p:nvSpPr>
          <p:cNvPr id="26627" name="文本占位符 78850">
            <a:extLst>
              <a:ext uri="{FF2B5EF4-FFF2-40B4-BE49-F238E27FC236}">
                <a16:creationId xmlns:a16="http://schemas.microsoft.com/office/drawing/2014/main" id="{7574BFF0-829E-45F8-87CA-1D6DEB8F2309}"/>
              </a:ext>
            </a:extLst>
          </p:cNvPr>
          <p:cNvSpPr>
            <a:spLocks noGrp="1" noChangeArrowheads="1"/>
          </p:cNvSpPr>
          <p:nvPr>
            <p:ph type="body" idx="4294967295"/>
          </p:nvPr>
        </p:nvSpPr>
        <p:spPr>
          <a:xfrm>
            <a:off x="904875" y="4721225"/>
            <a:ext cx="4999038" cy="4473575"/>
          </a:xfrm>
          <a:ln/>
          <a:extLst>
            <a:ext uri="{91240B29-F687-4F45-9708-019B960494DF}">
              <a14:hiddenLine xmlns:a14="http://schemas.microsoft.com/office/drawing/2010/main" w="1">
                <a:solidFill>
                  <a:srgbClr val="000000"/>
                </a:solidFill>
                <a:miter lim="800000"/>
                <a:headEnd/>
                <a:tailEnd/>
              </a14:hiddenLine>
            </a:ext>
          </a:extLst>
        </p:spPr>
        <p:txBody>
          <a:bodyPr anchor="ctr"/>
          <a:lstStyle/>
          <a:p>
            <a:r>
              <a:rPr lang="zh-CN" altLang="en-US"/>
              <a:t>如果写成</a:t>
            </a:r>
          </a:p>
          <a:p>
            <a:r>
              <a:rPr lang="zh-CN" altLang="en-US"/>
              <a:t>   char *ａ＝″Ｉ am  a  teacher </a:t>
            </a:r>
            <a:r>
              <a:rPr lang="zh-CN" altLang="en-US" b="1"/>
              <a:t>.</a:t>
            </a:r>
            <a:r>
              <a:rPr lang="zh-CN" altLang="en-US"/>
              <a:t>″；</a:t>
            </a:r>
          </a:p>
          <a:p>
            <a:r>
              <a:rPr lang="zh-CN" altLang="en-US"/>
              <a:t>   char *ｂ＝″you are a student ．″；</a:t>
            </a:r>
          </a:p>
          <a:p>
            <a:r>
              <a:rPr lang="zh-CN" altLang="en-US"/>
              <a:t>会出错!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FD76EE4D-6890-488F-8D7A-3FC06840F9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B7E9C92-1BB5-4A6F-8218-A230DA6B5476}" type="slidenum">
              <a:rPr lang="zh-CN" altLang="en-US" sz="1800" smtClean="0"/>
              <a:pPr/>
              <a:t>40</a:t>
            </a:fld>
            <a:endParaRPr lang="zh-CN" altLang="en-US" sz="1800"/>
          </a:p>
        </p:txBody>
      </p:sp>
      <p:sp>
        <p:nvSpPr>
          <p:cNvPr id="53250" name="Rectangle 2">
            <a:extLst>
              <a:ext uri="{FF2B5EF4-FFF2-40B4-BE49-F238E27FC236}">
                <a16:creationId xmlns:a16="http://schemas.microsoft.com/office/drawing/2014/main" id="{C961C2ED-E775-4349-A06B-D6E5E3D74110}"/>
              </a:ext>
            </a:extLst>
          </p:cNvPr>
          <p:cNvSpPr>
            <a:spLocks noGrp="1" noRot="1" noChangeAspect="1" noChangeArrowheads="1" noTextEdit="1"/>
          </p:cNvSpPr>
          <p:nvPr>
            <p:ph type="sldImg" idx="4294967295"/>
          </p:nvPr>
        </p:nvSpPr>
        <p:spPr>
          <a:ln/>
        </p:spPr>
      </p:sp>
      <p:sp>
        <p:nvSpPr>
          <p:cNvPr id="53251" name="Rectangle 3">
            <a:extLst>
              <a:ext uri="{FF2B5EF4-FFF2-40B4-BE49-F238E27FC236}">
                <a16:creationId xmlns:a16="http://schemas.microsoft.com/office/drawing/2014/main" id="{2A9B0300-2697-4D1D-B639-3B01BB3F169F}"/>
              </a:ext>
            </a:extLst>
          </p:cNvPr>
          <p:cNvSpPr>
            <a:spLocks noGrp="1" noChangeArrowheads="1"/>
          </p:cNvSpPr>
          <p:nvPr>
            <p:ph type="body" idx="4294967295"/>
          </p:nvPr>
        </p:nvSpPr>
        <p:spPr/>
        <p:txBody>
          <a:bodyPr/>
          <a:lstStyle/>
          <a:p>
            <a:pPr eaLnBrk="1" hangingPunct="1"/>
            <a:r>
              <a:rPr lang="zh-CN" altLang="en-US"/>
              <a:t> (2，指针数组的重要性体现在下述三个方面：</a:t>
            </a:r>
          </a:p>
          <a:p>
            <a:pPr eaLnBrk="1" hangingPunct="1"/>
            <a:r>
              <a:rPr lang="zh-CN" altLang="en-US"/>
              <a:t>    1、灵活高效地处理多个不等长的字符串．且使内存占用少，排序交换数据少-</a:t>
            </a:r>
          </a:p>
          <a:p>
            <a:pPr eaLnBrk="1" hangingPunct="1"/>
            <a:r>
              <a:rPr lang="zh-CN" altLang="en-US"/>
              <a:t>    2、指向指针的指针指向的往往是指针数组．这样可以处理较多的对象-</a:t>
            </a:r>
          </a:p>
          <a:p>
            <a:pPr eaLnBrk="1" hangingPunct="1"/>
            <a:r>
              <a:rPr lang="zh-CN" altLang="en-US"/>
              <a:t>    3、指针数组做</a:t>
            </a:r>
            <a:r>
              <a:rPr lang="en-US" altLang="zh-CN"/>
              <a:t>main</a:t>
            </a:r>
            <a:r>
              <a:rPr lang="zh-CN" altLang="en-US"/>
              <a:t>函数的形参．可使程序带参数，运行更灵活-</a:t>
            </a:r>
          </a:p>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69FB356-D5E6-4CA6-AB62-3B03130307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l"/>
            <a:fld id="{0D12B38E-DE78-47B9-A34C-332BCE72C0C7}" type="slidenum">
              <a:rPr lang="zh-CN" altLang="en-US" smtClean="0"/>
              <a:pPr algn="l"/>
              <a:t>46</a:t>
            </a:fld>
            <a:endParaRPr lang="zh-CN" altLang="en-US"/>
          </a:p>
        </p:txBody>
      </p:sp>
      <p:sp>
        <p:nvSpPr>
          <p:cNvPr id="61442" name="Rectangle 2">
            <a:extLst>
              <a:ext uri="{FF2B5EF4-FFF2-40B4-BE49-F238E27FC236}">
                <a16:creationId xmlns:a16="http://schemas.microsoft.com/office/drawing/2014/main" id="{CCD2BA71-4C4D-48FC-BE96-B9B9C3B0A458}"/>
              </a:ext>
            </a:extLst>
          </p:cNvPr>
          <p:cNvSpPr>
            <a:spLocks noGrp="1" noRot="1" noChangeAspect="1" noChangeArrowheads="1" noTextEdit="1"/>
          </p:cNvSpPr>
          <p:nvPr>
            <p:ph type="sldImg" idx="4294967295"/>
          </p:nvPr>
        </p:nvSpPr>
        <p:spPr>
          <a:ln/>
        </p:spPr>
      </p:sp>
      <p:sp>
        <p:nvSpPr>
          <p:cNvPr id="61443" name="Rectangle 3">
            <a:extLst>
              <a:ext uri="{FF2B5EF4-FFF2-40B4-BE49-F238E27FC236}">
                <a16:creationId xmlns:a16="http://schemas.microsoft.com/office/drawing/2014/main" id="{A829AFD8-F750-4BA9-86CB-57D03A3F3E85}"/>
              </a:ext>
            </a:extLst>
          </p:cNvPr>
          <p:cNvSpPr>
            <a:spLocks noGrp="1" noChangeArrowheads="1"/>
          </p:cNvSpPr>
          <p:nvPr>
            <p:ph type="body" idx="4294967295"/>
          </p:nvPr>
        </p:nvSpPr>
        <p:spPr/>
        <p:txBody>
          <a:bodyPr/>
          <a:lstStyle/>
          <a:p>
            <a:pPr eaLnBrk="1" hangingPunct="1"/>
            <a:r>
              <a:rPr lang="en-US" altLang="zh-CN"/>
              <a:t>1、</a:t>
            </a:r>
            <a:r>
              <a:rPr lang="zh-CN" altLang="en-US"/>
              <a:t>介绍</a:t>
            </a:r>
            <a:r>
              <a:rPr lang="en-US" altLang="zh-CN"/>
              <a:t>suit、face</a:t>
            </a:r>
            <a:r>
              <a:rPr lang="zh-CN" altLang="en-US"/>
              <a:t>的含义；</a:t>
            </a:r>
          </a:p>
          <a:p>
            <a:pPr eaLnBrk="1" hangingPunct="1"/>
            <a:r>
              <a:rPr lang="zh-CN" altLang="en-US"/>
              <a:t>2、用具体的实例（如</a:t>
            </a:r>
            <a:r>
              <a:rPr lang="en-US" altLang="zh-CN"/>
              <a:t>deck[1][2]=1）</a:t>
            </a:r>
            <a:r>
              <a:rPr lang="zh-CN" altLang="en-US"/>
              <a:t>介绍</a:t>
            </a:r>
            <a:r>
              <a:rPr lang="en-US" altLang="zh-CN"/>
              <a:t>deck</a:t>
            </a:r>
            <a:r>
              <a:rPr lang="zh-CN" altLang="en-US"/>
              <a:t>的含义;</a:t>
            </a:r>
          </a:p>
          <a:p>
            <a:pPr eaLnBrk="1" hangingPunct="1"/>
            <a:r>
              <a:rPr lang="zh-CN" altLang="en-US"/>
              <a:t>3、介绍调用随机函数模拟产生牌的过程；</a:t>
            </a:r>
          </a:p>
          <a:p>
            <a:pPr eaLnBrk="1" hangingPunct="1"/>
            <a:r>
              <a:rPr lang="zh-CN" altLang="en-US"/>
              <a:t>4、介绍发牌的过程，以及书上算法的缺陷（纠正：用</a:t>
            </a:r>
            <a:r>
              <a:rPr lang="en-US" altLang="zh-CN"/>
              <a:t>while</a:t>
            </a:r>
            <a:r>
              <a:rPr lang="zh-CN" altLang="en-US"/>
              <a:t>语句，并且将</a:t>
            </a:r>
            <a:r>
              <a:rPr lang="en-US" altLang="zh-CN"/>
              <a:t>flag</a:t>
            </a:r>
            <a:r>
              <a:rPr lang="zh-CN" altLang="en-US"/>
              <a:t>作为</a:t>
            </a:r>
            <a:r>
              <a:rPr lang="en-US" altLang="zh-CN"/>
              <a:t>while</a:t>
            </a:r>
            <a:r>
              <a:rPr lang="zh-CN" altLang="en-US"/>
              <a:t>的条件之一。只要找到当前要发的那张牌，</a:t>
            </a:r>
            <a:r>
              <a:rPr lang="en-US" altLang="zh-CN"/>
              <a:t>flag</a:t>
            </a:r>
            <a:r>
              <a:rPr lang="zh-CN" altLang="en-US"/>
              <a:t>就设成</a:t>
            </a:r>
            <a:r>
              <a:rPr lang="en-US" altLang="zh-CN"/>
              <a:t>false，</a:t>
            </a:r>
            <a:r>
              <a:rPr lang="zh-CN" altLang="en-US"/>
              <a:t>从而退出循环）</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9A7CA70B-341C-4313-9092-D8821C84FFC1}"/>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7EC2F35F-DE5F-4806-9782-2EA3BA13D74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87A519E-3329-4670-BD51-E98CFC2CC91E}"/>
              </a:ext>
            </a:extLst>
          </p:cNvPr>
          <p:cNvSpPr>
            <a:spLocks noGrp="1" noChangeArrowheads="1"/>
          </p:cNvSpPr>
          <p:nvPr>
            <p:ph type="sldNum" sz="quarter" idx="12"/>
          </p:nvPr>
        </p:nvSpPr>
        <p:spPr>
          <a:ln/>
        </p:spPr>
        <p:txBody>
          <a:bodyPr/>
          <a:lstStyle>
            <a:lvl1pPr>
              <a:defRPr/>
            </a:lvl1pPr>
          </a:lstStyle>
          <a:p>
            <a:fld id="{01E0DA0C-6B16-46C4-8576-37120AC0C434}" type="slidenum">
              <a:rPr lang="zh-CN" altLang="en-US"/>
              <a:pPr/>
              <a:t>‹#›</a:t>
            </a:fld>
            <a:endParaRPr lang="zh-CN" altLang="en-US"/>
          </a:p>
        </p:txBody>
      </p:sp>
    </p:spTree>
    <p:extLst>
      <p:ext uri="{BB962C8B-B14F-4D97-AF65-F5344CB8AC3E}">
        <p14:creationId xmlns:p14="http://schemas.microsoft.com/office/powerpoint/2010/main" val="210966818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10376F56-1D90-43D6-B691-72E7D1F1833F}"/>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947D580E-F0FB-445A-8593-F4BCE7C4170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5436E04-9834-4B71-A1FD-45B6F684E1AE}"/>
              </a:ext>
            </a:extLst>
          </p:cNvPr>
          <p:cNvSpPr>
            <a:spLocks noGrp="1" noChangeArrowheads="1"/>
          </p:cNvSpPr>
          <p:nvPr>
            <p:ph type="sldNum" sz="quarter" idx="12"/>
          </p:nvPr>
        </p:nvSpPr>
        <p:spPr>
          <a:ln/>
        </p:spPr>
        <p:txBody>
          <a:bodyPr/>
          <a:lstStyle>
            <a:lvl1pPr>
              <a:defRPr/>
            </a:lvl1pPr>
          </a:lstStyle>
          <a:p>
            <a:fld id="{184253C2-A1F9-42F1-81C8-0D63D8B02D10}" type="slidenum">
              <a:rPr lang="zh-CN" altLang="en-US"/>
              <a:pPr/>
              <a:t>‹#›</a:t>
            </a:fld>
            <a:endParaRPr lang="zh-CN" altLang="en-US"/>
          </a:p>
        </p:txBody>
      </p:sp>
    </p:spTree>
    <p:extLst>
      <p:ext uri="{BB962C8B-B14F-4D97-AF65-F5344CB8AC3E}">
        <p14:creationId xmlns:p14="http://schemas.microsoft.com/office/powerpoint/2010/main" val="84938732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99F27A77-B992-4D14-924B-1FEB2A12BA6E}"/>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1FD1DC06-89B3-40B9-A0B6-217EB4E879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EF250DC-709B-4CFC-9A19-596D78948C2A}"/>
              </a:ext>
            </a:extLst>
          </p:cNvPr>
          <p:cNvSpPr>
            <a:spLocks noGrp="1" noChangeArrowheads="1"/>
          </p:cNvSpPr>
          <p:nvPr>
            <p:ph type="sldNum" sz="quarter" idx="12"/>
          </p:nvPr>
        </p:nvSpPr>
        <p:spPr>
          <a:ln/>
        </p:spPr>
        <p:txBody>
          <a:bodyPr/>
          <a:lstStyle>
            <a:lvl1pPr>
              <a:defRPr/>
            </a:lvl1pPr>
          </a:lstStyle>
          <a:p>
            <a:fld id="{E54BF8D5-5532-4AFA-9376-A4AECDD73D58}" type="slidenum">
              <a:rPr lang="zh-CN" altLang="en-US"/>
              <a:pPr/>
              <a:t>‹#›</a:t>
            </a:fld>
            <a:endParaRPr lang="zh-CN" altLang="en-US"/>
          </a:p>
        </p:txBody>
      </p:sp>
    </p:spTree>
    <p:extLst>
      <p:ext uri="{BB962C8B-B14F-4D97-AF65-F5344CB8AC3E}">
        <p14:creationId xmlns:p14="http://schemas.microsoft.com/office/powerpoint/2010/main" val="34911770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CD5E1EBD-C3F0-4670-B9C8-BC68E47B0DE8}"/>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CC36BBEB-B5DE-4D66-AA55-C4FBFCDF2C1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32A2114-0301-4A31-9087-64A95EE8AF2C}"/>
              </a:ext>
            </a:extLst>
          </p:cNvPr>
          <p:cNvSpPr>
            <a:spLocks noGrp="1" noChangeArrowheads="1"/>
          </p:cNvSpPr>
          <p:nvPr>
            <p:ph type="sldNum" sz="quarter" idx="12"/>
          </p:nvPr>
        </p:nvSpPr>
        <p:spPr>
          <a:ln/>
        </p:spPr>
        <p:txBody>
          <a:bodyPr/>
          <a:lstStyle>
            <a:lvl1pPr>
              <a:defRPr/>
            </a:lvl1pPr>
          </a:lstStyle>
          <a:p>
            <a:fld id="{BBC14A71-3BF0-49F4-849B-30DF502D2C06}" type="slidenum">
              <a:rPr lang="zh-CN" altLang="en-US"/>
              <a:pPr/>
              <a:t>‹#›</a:t>
            </a:fld>
            <a:endParaRPr lang="zh-CN" altLang="en-US"/>
          </a:p>
        </p:txBody>
      </p:sp>
    </p:spTree>
    <p:extLst>
      <p:ext uri="{BB962C8B-B14F-4D97-AF65-F5344CB8AC3E}">
        <p14:creationId xmlns:p14="http://schemas.microsoft.com/office/powerpoint/2010/main" val="53767647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65102316-3FDA-426E-8BA5-D883E09B80D2}"/>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8" name="Rectangle 5">
            <a:extLst>
              <a:ext uri="{FF2B5EF4-FFF2-40B4-BE49-F238E27FC236}">
                <a16:creationId xmlns:a16="http://schemas.microsoft.com/office/drawing/2014/main" id="{6096D591-6C21-42D7-95D2-E6A066F2FCE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C37F1A8-A164-4243-9162-A1FB9108F585}"/>
              </a:ext>
            </a:extLst>
          </p:cNvPr>
          <p:cNvSpPr>
            <a:spLocks noGrp="1" noChangeArrowheads="1"/>
          </p:cNvSpPr>
          <p:nvPr>
            <p:ph type="sldNum" sz="quarter" idx="12"/>
          </p:nvPr>
        </p:nvSpPr>
        <p:spPr>
          <a:ln/>
        </p:spPr>
        <p:txBody>
          <a:bodyPr/>
          <a:lstStyle>
            <a:lvl1pPr>
              <a:defRPr/>
            </a:lvl1pPr>
          </a:lstStyle>
          <a:p>
            <a:fld id="{13038525-C047-49F3-B831-67BF6B8DB90C}" type="slidenum">
              <a:rPr lang="zh-CN" altLang="en-US"/>
              <a:pPr/>
              <a:t>‹#›</a:t>
            </a:fld>
            <a:endParaRPr lang="zh-CN" altLang="en-US"/>
          </a:p>
        </p:txBody>
      </p:sp>
    </p:spTree>
    <p:extLst>
      <p:ext uri="{BB962C8B-B14F-4D97-AF65-F5344CB8AC3E}">
        <p14:creationId xmlns:p14="http://schemas.microsoft.com/office/powerpoint/2010/main" val="309278963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920A72EC-4FD4-4B5F-B99B-F362536E486C}"/>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4" name="Rectangle 5">
            <a:extLst>
              <a:ext uri="{FF2B5EF4-FFF2-40B4-BE49-F238E27FC236}">
                <a16:creationId xmlns:a16="http://schemas.microsoft.com/office/drawing/2014/main" id="{11AAAA49-52FF-4CD3-90EF-03CCC69FD54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5F33638-2591-438F-A9A8-9E9692D20BD8}"/>
              </a:ext>
            </a:extLst>
          </p:cNvPr>
          <p:cNvSpPr>
            <a:spLocks noGrp="1" noChangeArrowheads="1"/>
          </p:cNvSpPr>
          <p:nvPr>
            <p:ph type="sldNum" sz="quarter" idx="12"/>
          </p:nvPr>
        </p:nvSpPr>
        <p:spPr>
          <a:ln/>
        </p:spPr>
        <p:txBody>
          <a:bodyPr/>
          <a:lstStyle>
            <a:lvl1pPr>
              <a:defRPr/>
            </a:lvl1pPr>
          </a:lstStyle>
          <a:p>
            <a:fld id="{60373374-9AD0-43AE-A18E-054BA737F2B9}" type="slidenum">
              <a:rPr lang="zh-CN" altLang="en-US"/>
              <a:pPr/>
              <a:t>‹#›</a:t>
            </a:fld>
            <a:endParaRPr lang="zh-CN" altLang="en-US"/>
          </a:p>
        </p:txBody>
      </p:sp>
    </p:spTree>
    <p:extLst>
      <p:ext uri="{BB962C8B-B14F-4D97-AF65-F5344CB8AC3E}">
        <p14:creationId xmlns:p14="http://schemas.microsoft.com/office/powerpoint/2010/main" val="397240329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641755B-1ACB-48DF-950B-E18A51FF8B09}"/>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3" name="Rectangle 5">
            <a:extLst>
              <a:ext uri="{FF2B5EF4-FFF2-40B4-BE49-F238E27FC236}">
                <a16:creationId xmlns:a16="http://schemas.microsoft.com/office/drawing/2014/main" id="{94F894A0-CCB0-42BD-A264-B44928FB36A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792D1F4-4F8F-43AC-843C-A78D79D50D4C}"/>
              </a:ext>
            </a:extLst>
          </p:cNvPr>
          <p:cNvSpPr>
            <a:spLocks noGrp="1" noChangeArrowheads="1"/>
          </p:cNvSpPr>
          <p:nvPr>
            <p:ph type="sldNum" sz="quarter" idx="12"/>
          </p:nvPr>
        </p:nvSpPr>
        <p:spPr>
          <a:ln/>
        </p:spPr>
        <p:txBody>
          <a:bodyPr/>
          <a:lstStyle>
            <a:lvl1pPr>
              <a:defRPr/>
            </a:lvl1pPr>
          </a:lstStyle>
          <a:p>
            <a:fld id="{406CEE3A-F4F7-45F3-8577-492C8F18CE8D}" type="slidenum">
              <a:rPr lang="zh-CN" altLang="en-US"/>
              <a:pPr/>
              <a:t>‹#›</a:t>
            </a:fld>
            <a:endParaRPr lang="zh-CN" altLang="en-US"/>
          </a:p>
        </p:txBody>
      </p:sp>
    </p:spTree>
    <p:extLst>
      <p:ext uri="{BB962C8B-B14F-4D97-AF65-F5344CB8AC3E}">
        <p14:creationId xmlns:p14="http://schemas.microsoft.com/office/powerpoint/2010/main" val="340304991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B0E8FBE3-C05D-4AEE-BBAC-A35B81559A5B}"/>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7C9737A5-E992-4B3F-9BDD-712D41638FA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23E815E-7445-4709-B653-3533D21B821A}"/>
              </a:ext>
            </a:extLst>
          </p:cNvPr>
          <p:cNvSpPr>
            <a:spLocks noGrp="1" noChangeArrowheads="1"/>
          </p:cNvSpPr>
          <p:nvPr>
            <p:ph type="sldNum" sz="quarter" idx="12"/>
          </p:nvPr>
        </p:nvSpPr>
        <p:spPr>
          <a:ln/>
        </p:spPr>
        <p:txBody>
          <a:bodyPr/>
          <a:lstStyle>
            <a:lvl1pPr>
              <a:defRPr/>
            </a:lvl1pPr>
          </a:lstStyle>
          <a:p>
            <a:fld id="{5FC36CB5-B555-43B8-88E6-E6AA2E394D2E}" type="slidenum">
              <a:rPr lang="zh-CN" altLang="en-US"/>
              <a:pPr/>
              <a:t>‹#›</a:t>
            </a:fld>
            <a:endParaRPr lang="zh-CN" altLang="en-US"/>
          </a:p>
        </p:txBody>
      </p:sp>
    </p:spTree>
    <p:extLst>
      <p:ext uri="{BB962C8B-B14F-4D97-AF65-F5344CB8AC3E}">
        <p14:creationId xmlns:p14="http://schemas.microsoft.com/office/powerpoint/2010/main" val="382887571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8F743996-FC9F-4A0D-BFBE-CA3F86454628}"/>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43D1BA6A-33F1-4C8C-A104-C06904FFBD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284ACDA-5453-4574-90CA-950F4B377886}"/>
              </a:ext>
            </a:extLst>
          </p:cNvPr>
          <p:cNvSpPr>
            <a:spLocks noGrp="1" noChangeArrowheads="1"/>
          </p:cNvSpPr>
          <p:nvPr>
            <p:ph type="sldNum" sz="quarter" idx="12"/>
          </p:nvPr>
        </p:nvSpPr>
        <p:spPr>
          <a:ln/>
        </p:spPr>
        <p:txBody>
          <a:bodyPr/>
          <a:lstStyle>
            <a:lvl1pPr>
              <a:defRPr/>
            </a:lvl1pPr>
          </a:lstStyle>
          <a:p>
            <a:fld id="{7CA7DBC6-3725-4564-8F4E-D0AAA3411E71}" type="slidenum">
              <a:rPr lang="zh-CN" altLang="en-US"/>
              <a:pPr/>
              <a:t>‹#›</a:t>
            </a:fld>
            <a:endParaRPr lang="zh-CN" altLang="en-US"/>
          </a:p>
        </p:txBody>
      </p:sp>
    </p:spTree>
    <p:extLst>
      <p:ext uri="{BB962C8B-B14F-4D97-AF65-F5344CB8AC3E}">
        <p14:creationId xmlns:p14="http://schemas.microsoft.com/office/powerpoint/2010/main" val="180390310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31996DEB-834A-48B5-B10F-744A368FD8AD}"/>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345380AA-0C71-43DF-8036-1223209C87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9FA0588-A3A3-4F37-98DD-511F2587639F}"/>
              </a:ext>
            </a:extLst>
          </p:cNvPr>
          <p:cNvSpPr>
            <a:spLocks noGrp="1" noChangeArrowheads="1"/>
          </p:cNvSpPr>
          <p:nvPr>
            <p:ph type="sldNum" sz="quarter" idx="12"/>
          </p:nvPr>
        </p:nvSpPr>
        <p:spPr>
          <a:ln/>
        </p:spPr>
        <p:txBody>
          <a:bodyPr/>
          <a:lstStyle>
            <a:lvl1pPr>
              <a:defRPr/>
            </a:lvl1pPr>
          </a:lstStyle>
          <a:p>
            <a:fld id="{F81BD7FC-D55D-4AA3-B1BF-55DAB2DD0B6E}" type="slidenum">
              <a:rPr lang="zh-CN" altLang="en-US"/>
              <a:pPr/>
              <a:t>‹#›</a:t>
            </a:fld>
            <a:endParaRPr lang="zh-CN" altLang="en-US"/>
          </a:p>
        </p:txBody>
      </p:sp>
    </p:spTree>
    <p:extLst>
      <p:ext uri="{BB962C8B-B14F-4D97-AF65-F5344CB8AC3E}">
        <p14:creationId xmlns:p14="http://schemas.microsoft.com/office/powerpoint/2010/main" val="21007039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6E31FDA5-ABFA-4AFE-A68C-C507E5BED034}"/>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B65B2A2C-8D47-4F27-9ECD-2D64930EBBC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16D4849-F95D-4FF9-AC1A-5D4D7665F6C7}"/>
              </a:ext>
            </a:extLst>
          </p:cNvPr>
          <p:cNvSpPr>
            <a:spLocks noGrp="1" noChangeArrowheads="1"/>
          </p:cNvSpPr>
          <p:nvPr>
            <p:ph type="sldNum" sz="quarter" idx="12"/>
          </p:nvPr>
        </p:nvSpPr>
        <p:spPr>
          <a:ln/>
        </p:spPr>
        <p:txBody>
          <a:bodyPr/>
          <a:lstStyle>
            <a:lvl1pPr>
              <a:defRPr/>
            </a:lvl1pPr>
          </a:lstStyle>
          <a:p>
            <a:fld id="{233CD36C-8AF1-4F71-84EE-098555CC1D13}" type="slidenum">
              <a:rPr lang="zh-CN" altLang="en-US"/>
              <a:pPr/>
              <a:t>‹#›</a:t>
            </a:fld>
            <a:endParaRPr lang="zh-CN" altLang="en-US"/>
          </a:p>
        </p:txBody>
      </p:sp>
    </p:spTree>
    <p:extLst>
      <p:ext uri="{BB962C8B-B14F-4D97-AF65-F5344CB8AC3E}">
        <p14:creationId xmlns:p14="http://schemas.microsoft.com/office/powerpoint/2010/main" val="326363625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表格占位符 2"/>
          <p:cNvSpPr>
            <a:spLocks noGrp="1"/>
          </p:cNvSpPr>
          <p:nvPr>
            <p:ph type="tbl" idx="1"/>
          </p:nvPr>
        </p:nvSpPr>
        <p:spPr>
          <a:xfrm>
            <a:off x="685800" y="1319213"/>
            <a:ext cx="7772400" cy="4611687"/>
          </a:xfrm>
        </p:spPr>
        <p:txBody>
          <a:bodyPr/>
          <a:lstStyle/>
          <a:p>
            <a:pPr lvl="0"/>
            <a:endParaRPr lang="zh-CN" altLang="en-US" noProof="0"/>
          </a:p>
        </p:txBody>
      </p:sp>
      <p:sp>
        <p:nvSpPr>
          <p:cNvPr id="4" name="Rectangle 4">
            <a:extLst>
              <a:ext uri="{FF2B5EF4-FFF2-40B4-BE49-F238E27FC236}">
                <a16:creationId xmlns:a16="http://schemas.microsoft.com/office/drawing/2014/main" id="{4455B4D7-8895-4A3B-98D4-9C708B6D8B5F}"/>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7C941B0D-258F-4233-B6A8-8F8C194571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1EF4D0A-C097-4788-A231-128C1ECA5987}"/>
              </a:ext>
            </a:extLst>
          </p:cNvPr>
          <p:cNvSpPr>
            <a:spLocks noGrp="1" noChangeArrowheads="1"/>
          </p:cNvSpPr>
          <p:nvPr>
            <p:ph type="sldNum" sz="quarter" idx="12"/>
          </p:nvPr>
        </p:nvSpPr>
        <p:spPr>
          <a:ln/>
        </p:spPr>
        <p:txBody>
          <a:bodyPr/>
          <a:lstStyle>
            <a:lvl1pPr>
              <a:defRPr/>
            </a:lvl1pPr>
          </a:lstStyle>
          <a:p>
            <a:fld id="{C426F3AB-A004-4854-B9B2-83D08A6B2B02}" type="slidenum">
              <a:rPr lang="zh-CN" altLang="en-US"/>
              <a:pPr/>
              <a:t>‹#›</a:t>
            </a:fld>
            <a:endParaRPr lang="zh-CN" altLang="en-US"/>
          </a:p>
        </p:txBody>
      </p:sp>
    </p:spTree>
    <p:extLst>
      <p:ext uri="{BB962C8B-B14F-4D97-AF65-F5344CB8AC3E}">
        <p14:creationId xmlns:p14="http://schemas.microsoft.com/office/powerpoint/2010/main" val="421331251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a:extLst>
              <a:ext uri="{FF2B5EF4-FFF2-40B4-BE49-F238E27FC236}">
                <a16:creationId xmlns:a16="http://schemas.microsoft.com/office/drawing/2014/main" id="{A64085B2-07B1-4AC7-8A57-ABF44D9CE7D0}"/>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4" name="Rectangle 5">
            <a:extLst>
              <a:ext uri="{FF2B5EF4-FFF2-40B4-BE49-F238E27FC236}">
                <a16:creationId xmlns:a16="http://schemas.microsoft.com/office/drawing/2014/main" id="{71379A64-ABD5-407E-A2BE-44B49FD2FA9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8605DE3-7461-4606-8206-75B60751D134}"/>
              </a:ext>
            </a:extLst>
          </p:cNvPr>
          <p:cNvSpPr>
            <a:spLocks noGrp="1" noChangeArrowheads="1"/>
          </p:cNvSpPr>
          <p:nvPr>
            <p:ph type="sldNum" sz="quarter" idx="12"/>
          </p:nvPr>
        </p:nvSpPr>
        <p:spPr>
          <a:ln/>
        </p:spPr>
        <p:txBody>
          <a:bodyPr/>
          <a:lstStyle>
            <a:lvl1pPr>
              <a:defRPr/>
            </a:lvl1pPr>
          </a:lstStyle>
          <a:p>
            <a:fld id="{899B592A-2BA3-4D8C-8F82-2ADDD33B0C09}" type="slidenum">
              <a:rPr lang="zh-CN" altLang="en-US"/>
              <a:pPr/>
              <a:t>‹#›</a:t>
            </a:fld>
            <a:endParaRPr lang="zh-CN" altLang="en-US"/>
          </a:p>
        </p:txBody>
      </p:sp>
    </p:spTree>
    <p:extLst>
      <p:ext uri="{BB962C8B-B14F-4D97-AF65-F5344CB8AC3E}">
        <p14:creationId xmlns:p14="http://schemas.microsoft.com/office/powerpoint/2010/main" val="35293339"/>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F24C8476-0288-46A2-849E-4C2305D29D1E}"/>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68B2D06B-8DBD-48A4-8AB9-8FC70186D6F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C13DEBC-108F-4B53-9329-7A80531EC668}"/>
              </a:ext>
            </a:extLst>
          </p:cNvPr>
          <p:cNvSpPr>
            <a:spLocks noGrp="1" noChangeArrowheads="1"/>
          </p:cNvSpPr>
          <p:nvPr>
            <p:ph type="sldNum" sz="quarter" idx="12"/>
          </p:nvPr>
        </p:nvSpPr>
        <p:spPr>
          <a:ln/>
        </p:spPr>
        <p:txBody>
          <a:bodyPr/>
          <a:lstStyle>
            <a:lvl1pPr>
              <a:defRPr/>
            </a:lvl1pPr>
          </a:lstStyle>
          <a:p>
            <a:fld id="{2228C584-0EDC-4907-AC11-0E2A9555FFF0}" type="slidenum">
              <a:rPr lang="zh-CN" altLang="en-US"/>
              <a:pPr/>
              <a:t>‹#›</a:t>
            </a:fld>
            <a:endParaRPr lang="zh-CN" altLang="en-US"/>
          </a:p>
        </p:txBody>
      </p:sp>
    </p:spTree>
    <p:extLst>
      <p:ext uri="{BB962C8B-B14F-4D97-AF65-F5344CB8AC3E}">
        <p14:creationId xmlns:p14="http://schemas.microsoft.com/office/powerpoint/2010/main" val="3944272190"/>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9AF75BF8-B3C0-45B7-B08B-766F61FC5817}"/>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BCA51D43-A0C3-4EE4-8BBC-FF4FF974CD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B7E6C31-0EC5-45BC-B69F-97CD96215796}"/>
              </a:ext>
            </a:extLst>
          </p:cNvPr>
          <p:cNvSpPr>
            <a:spLocks noGrp="1" noChangeArrowheads="1"/>
          </p:cNvSpPr>
          <p:nvPr>
            <p:ph type="sldNum" sz="quarter" idx="12"/>
          </p:nvPr>
        </p:nvSpPr>
        <p:spPr>
          <a:ln/>
        </p:spPr>
        <p:txBody>
          <a:bodyPr/>
          <a:lstStyle>
            <a:lvl1pPr>
              <a:defRPr/>
            </a:lvl1pPr>
          </a:lstStyle>
          <a:p>
            <a:fld id="{7B16D276-3B4B-4550-B215-582B0ABABF1F}" type="slidenum">
              <a:rPr lang="zh-CN" altLang="en-US"/>
              <a:pPr/>
              <a:t>‹#›</a:t>
            </a:fld>
            <a:endParaRPr lang="zh-CN" altLang="en-US"/>
          </a:p>
        </p:txBody>
      </p:sp>
    </p:spTree>
    <p:extLst>
      <p:ext uri="{BB962C8B-B14F-4D97-AF65-F5344CB8AC3E}">
        <p14:creationId xmlns:p14="http://schemas.microsoft.com/office/powerpoint/2010/main" val="51158672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69357109-ED97-4994-BCDA-6E7196EFBA03}"/>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A0E60D71-2B5B-4879-8CD8-6840DBFFFD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DA90D14-2D5A-460B-954C-23F511DBABB2}"/>
              </a:ext>
            </a:extLst>
          </p:cNvPr>
          <p:cNvSpPr>
            <a:spLocks noGrp="1" noChangeArrowheads="1"/>
          </p:cNvSpPr>
          <p:nvPr>
            <p:ph type="sldNum" sz="quarter" idx="12"/>
          </p:nvPr>
        </p:nvSpPr>
        <p:spPr>
          <a:ln/>
        </p:spPr>
        <p:txBody>
          <a:bodyPr/>
          <a:lstStyle>
            <a:lvl1pPr>
              <a:defRPr/>
            </a:lvl1pPr>
          </a:lstStyle>
          <a:p>
            <a:fld id="{44DBBC51-0E19-4A81-AABF-FFE77A568F12}" type="slidenum">
              <a:rPr lang="zh-CN" altLang="en-US"/>
              <a:pPr/>
              <a:t>‹#›</a:t>
            </a:fld>
            <a:endParaRPr lang="zh-CN" altLang="en-US"/>
          </a:p>
        </p:txBody>
      </p:sp>
    </p:spTree>
    <p:extLst>
      <p:ext uri="{BB962C8B-B14F-4D97-AF65-F5344CB8AC3E}">
        <p14:creationId xmlns:p14="http://schemas.microsoft.com/office/powerpoint/2010/main" val="174690811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00966681-F838-4189-A6DA-9BC3C3AA7B02}"/>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505DEB53-F8AA-4F70-99DA-9D356DEB649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3490172-478A-4ED7-ABF5-E215B7F47958}"/>
              </a:ext>
            </a:extLst>
          </p:cNvPr>
          <p:cNvSpPr>
            <a:spLocks noGrp="1" noChangeArrowheads="1"/>
          </p:cNvSpPr>
          <p:nvPr>
            <p:ph type="sldNum" sz="quarter" idx="12"/>
          </p:nvPr>
        </p:nvSpPr>
        <p:spPr>
          <a:ln/>
        </p:spPr>
        <p:txBody>
          <a:bodyPr/>
          <a:lstStyle>
            <a:lvl1pPr>
              <a:defRPr/>
            </a:lvl1pPr>
          </a:lstStyle>
          <a:p>
            <a:fld id="{246B50A7-471E-4FBE-9DF4-896177E1627B}" type="slidenum">
              <a:rPr lang="zh-CN" altLang="en-US"/>
              <a:pPr/>
              <a:t>‹#›</a:t>
            </a:fld>
            <a:endParaRPr lang="zh-CN" altLang="en-US"/>
          </a:p>
        </p:txBody>
      </p:sp>
    </p:spTree>
    <p:extLst>
      <p:ext uri="{BB962C8B-B14F-4D97-AF65-F5344CB8AC3E}">
        <p14:creationId xmlns:p14="http://schemas.microsoft.com/office/powerpoint/2010/main" val="58165233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C8C30378-6AF5-44CF-AFA3-53CD78DF521E}"/>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D9C48D15-C1B5-455F-84BD-220E3E58A01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FB88768-2215-4913-AFB4-F8B636961201}"/>
              </a:ext>
            </a:extLst>
          </p:cNvPr>
          <p:cNvSpPr>
            <a:spLocks noGrp="1" noChangeArrowheads="1"/>
          </p:cNvSpPr>
          <p:nvPr>
            <p:ph type="sldNum" sz="quarter" idx="12"/>
          </p:nvPr>
        </p:nvSpPr>
        <p:spPr>
          <a:ln/>
        </p:spPr>
        <p:txBody>
          <a:bodyPr/>
          <a:lstStyle>
            <a:lvl1pPr>
              <a:defRPr/>
            </a:lvl1pPr>
          </a:lstStyle>
          <a:p>
            <a:fld id="{4E46009A-1B8A-4366-A285-09FDFDD87723}" type="slidenum">
              <a:rPr lang="zh-CN" altLang="en-US"/>
              <a:pPr/>
              <a:t>‹#›</a:t>
            </a:fld>
            <a:endParaRPr lang="zh-CN" altLang="en-US"/>
          </a:p>
        </p:txBody>
      </p:sp>
    </p:spTree>
    <p:extLst>
      <p:ext uri="{BB962C8B-B14F-4D97-AF65-F5344CB8AC3E}">
        <p14:creationId xmlns:p14="http://schemas.microsoft.com/office/powerpoint/2010/main" val="121693759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DF379ADE-DA9C-46CB-90FA-6CED8F16C8CB}"/>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8" name="Rectangle 5">
            <a:extLst>
              <a:ext uri="{FF2B5EF4-FFF2-40B4-BE49-F238E27FC236}">
                <a16:creationId xmlns:a16="http://schemas.microsoft.com/office/drawing/2014/main" id="{09A03198-467E-498D-9C88-072FB85C1B7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B155CCB3-3F3F-4CB5-8F20-964D84C4C411}"/>
              </a:ext>
            </a:extLst>
          </p:cNvPr>
          <p:cNvSpPr>
            <a:spLocks noGrp="1" noChangeArrowheads="1"/>
          </p:cNvSpPr>
          <p:nvPr>
            <p:ph type="sldNum" sz="quarter" idx="12"/>
          </p:nvPr>
        </p:nvSpPr>
        <p:spPr>
          <a:ln/>
        </p:spPr>
        <p:txBody>
          <a:bodyPr/>
          <a:lstStyle>
            <a:lvl1pPr>
              <a:defRPr/>
            </a:lvl1pPr>
          </a:lstStyle>
          <a:p>
            <a:fld id="{8F8DFBCB-30C8-4FDB-BF47-F460D606F759}" type="slidenum">
              <a:rPr lang="zh-CN" altLang="en-US"/>
              <a:pPr/>
              <a:t>‹#›</a:t>
            </a:fld>
            <a:endParaRPr lang="zh-CN" altLang="en-US"/>
          </a:p>
        </p:txBody>
      </p:sp>
    </p:spTree>
    <p:extLst>
      <p:ext uri="{BB962C8B-B14F-4D97-AF65-F5344CB8AC3E}">
        <p14:creationId xmlns:p14="http://schemas.microsoft.com/office/powerpoint/2010/main" val="394123440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43AD54FC-84E4-4630-B392-9C290B45BEB8}"/>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4" name="Rectangle 5">
            <a:extLst>
              <a:ext uri="{FF2B5EF4-FFF2-40B4-BE49-F238E27FC236}">
                <a16:creationId xmlns:a16="http://schemas.microsoft.com/office/drawing/2014/main" id="{DC91B326-0671-4BF3-A01E-1133F671BF7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44AB9BA-143A-4CE7-997E-821259DD96F3}"/>
              </a:ext>
            </a:extLst>
          </p:cNvPr>
          <p:cNvSpPr>
            <a:spLocks noGrp="1" noChangeArrowheads="1"/>
          </p:cNvSpPr>
          <p:nvPr>
            <p:ph type="sldNum" sz="quarter" idx="12"/>
          </p:nvPr>
        </p:nvSpPr>
        <p:spPr>
          <a:ln/>
        </p:spPr>
        <p:txBody>
          <a:bodyPr/>
          <a:lstStyle>
            <a:lvl1pPr>
              <a:defRPr/>
            </a:lvl1pPr>
          </a:lstStyle>
          <a:p>
            <a:fld id="{12BAEE28-CA02-4C8E-A275-33596854C85A}" type="slidenum">
              <a:rPr lang="zh-CN" altLang="en-US"/>
              <a:pPr/>
              <a:t>‹#›</a:t>
            </a:fld>
            <a:endParaRPr lang="zh-CN" altLang="en-US"/>
          </a:p>
        </p:txBody>
      </p:sp>
    </p:spTree>
    <p:extLst>
      <p:ext uri="{BB962C8B-B14F-4D97-AF65-F5344CB8AC3E}">
        <p14:creationId xmlns:p14="http://schemas.microsoft.com/office/powerpoint/2010/main" val="240952608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4FE9302-A436-431D-B411-D8A904A45E27}"/>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3" name="Rectangle 5">
            <a:extLst>
              <a:ext uri="{FF2B5EF4-FFF2-40B4-BE49-F238E27FC236}">
                <a16:creationId xmlns:a16="http://schemas.microsoft.com/office/drawing/2014/main" id="{F8F6FFF7-FDEF-4C64-AC28-90948CBD4F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B653557-7BDF-4567-98A5-7E47BA77A54A}"/>
              </a:ext>
            </a:extLst>
          </p:cNvPr>
          <p:cNvSpPr>
            <a:spLocks noGrp="1" noChangeArrowheads="1"/>
          </p:cNvSpPr>
          <p:nvPr>
            <p:ph type="sldNum" sz="quarter" idx="12"/>
          </p:nvPr>
        </p:nvSpPr>
        <p:spPr>
          <a:ln/>
        </p:spPr>
        <p:txBody>
          <a:bodyPr/>
          <a:lstStyle>
            <a:lvl1pPr>
              <a:defRPr/>
            </a:lvl1pPr>
          </a:lstStyle>
          <a:p>
            <a:fld id="{27E948CB-0B2E-4907-B87E-642339B8BD1F}" type="slidenum">
              <a:rPr lang="zh-CN" altLang="en-US"/>
              <a:pPr/>
              <a:t>‹#›</a:t>
            </a:fld>
            <a:endParaRPr lang="zh-CN" altLang="en-US"/>
          </a:p>
        </p:txBody>
      </p:sp>
    </p:spTree>
    <p:extLst>
      <p:ext uri="{BB962C8B-B14F-4D97-AF65-F5344CB8AC3E}">
        <p14:creationId xmlns:p14="http://schemas.microsoft.com/office/powerpoint/2010/main" val="132800443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FC1C2B98-2E49-4572-A016-41AF5A398238}"/>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CD10D25D-35CA-4603-A4DC-EF18B2EBE4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16C1A29-2205-45BF-977B-762311B27841}"/>
              </a:ext>
            </a:extLst>
          </p:cNvPr>
          <p:cNvSpPr>
            <a:spLocks noGrp="1" noChangeArrowheads="1"/>
          </p:cNvSpPr>
          <p:nvPr>
            <p:ph type="sldNum" sz="quarter" idx="12"/>
          </p:nvPr>
        </p:nvSpPr>
        <p:spPr>
          <a:ln/>
        </p:spPr>
        <p:txBody>
          <a:bodyPr/>
          <a:lstStyle>
            <a:lvl1pPr>
              <a:defRPr/>
            </a:lvl1pPr>
          </a:lstStyle>
          <a:p>
            <a:fld id="{A95765B7-32B8-4D7A-9664-908C60498C02}" type="slidenum">
              <a:rPr lang="zh-CN" altLang="en-US"/>
              <a:pPr/>
              <a:t>‹#›</a:t>
            </a:fld>
            <a:endParaRPr lang="zh-CN" altLang="en-US"/>
          </a:p>
        </p:txBody>
      </p:sp>
    </p:spTree>
    <p:extLst>
      <p:ext uri="{BB962C8B-B14F-4D97-AF65-F5344CB8AC3E}">
        <p14:creationId xmlns:p14="http://schemas.microsoft.com/office/powerpoint/2010/main" val="81183403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916594CC-40A3-4FBE-8727-45C0CD47B1F5}"/>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00569514-2F5F-4568-9930-7DBE12DC76B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6CB6DDA-6CE6-4517-87BB-79266DA4D73B}"/>
              </a:ext>
            </a:extLst>
          </p:cNvPr>
          <p:cNvSpPr>
            <a:spLocks noGrp="1" noChangeArrowheads="1"/>
          </p:cNvSpPr>
          <p:nvPr>
            <p:ph type="sldNum" sz="quarter" idx="12"/>
          </p:nvPr>
        </p:nvSpPr>
        <p:spPr>
          <a:ln/>
        </p:spPr>
        <p:txBody>
          <a:bodyPr/>
          <a:lstStyle>
            <a:lvl1pPr>
              <a:defRPr/>
            </a:lvl1pPr>
          </a:lstStyle>
          <a:p>
            <a:fld id="{B4B8D33D-63AF-44DB-B467-4B53F89A535F}" type="slidenum">
              <a:rPr lang="zh-CN" altLang="en-US"/>
              <a:pPr/>
              <a:t>‹#›</a:t>
            </a:fld>
            <a:endParaRPr lang="zh-CN" altLang="en-US"/>
          </a:p>
        </p:txBody>
      </p:sp>
    </p:spTree>
    <p:extLst>
      <p:ext uri="{BB962C8B-B14F-4D97-AF65-F5344CB8AC3E}">
        <p14:creationId xmlns:p14="http://schemas.microsoft.com/office/powerpoint/2010/main" val="2679221973"/>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0D33A4D8-F971-4639-AAD8-4D966D8CA088}"/>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3A505AB4-982C-4A4E-B66B-414B7BF3CF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D7A98EC-264B-4296-88C8-3690BDBEE246}"/>
              </a:ext>
            </a:extLst>
          </p:cNvPr>
          <p:cNvSpPr>
            <a:spLocks noGrp="1" noChangeArrowheads="1"/>
          </p:cNvSpPr>
          <p:nvPr>
            <p:ph type="sldNum" sz="quarter" idx="12"/>
          </p:nvPr>
        </p:nvSpPr>
        <p:spPr>
          <a:ln/>
        </p:spPr>
        <p:txBody>
          <a:bodyPr/>
          <a:lstStyle>
            <a:lvl1pPr>
              <a:defRPr/>
            </a:lvl1pPr>
          </a:lstStyle>
          <a:p>
            <a:fld id="{5B8826AE-4F35-4FF2-867C-1808091B1A9B}" type="slidenum">
              <a:rPr lang="zh-CN" altLang="en-US"/>
              <a:pPr/>
              <a:t>‹#›</a:t>
            </a:fld>
            <a:endParaRPr lang="zh-CN" altLang="en-US"/>
          </a:p>
        </p:txBody>
      </p:sp>
    </p:spTree>
    <p:extLst>
      <p:ext uri="{BB962C8B-B14F-4D97-AF65-F5344CB8AC3E}">
        <p14:creationId xmlns:p14="http://schemas.microsoft.com/office/powerpoint/2010/main" val="269941089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4BA7C877-A00A-42A7-8F98-C7A5ACEBA014}"/>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A0517D49-EF82-4FD1-8BC7-201415BA18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531AF71-C9BF-41D1-99E8-D0803ED94421}"/>
              </a:ext>
            </a:extLst>
          </p:cNvPr>
          <p:cNvSpPr>
            <a:spLocks noGrp="1" noChangeArrowheads="1"/>
          </p:cNvSpPr>
          <p:nvPr>
            <p:ph type="sldNum" sz="quarter" idx="12"/>
          </p:nvPr>
        </p:nvSpPr>
        <p:spPr>
          <a:ln/>
        </p:spPr>
        <p:txBody>
          <a:bodyPr/>
          <a:lstStyle>
            <a:lvl1pPr>
              <a:defRPr/>
            </a:lvl1pPr>
          </a:lstStyle>
          <a:p>
            <a:fld id="{6039D4D0-A351-4524-A24A-DC47EE1A45B6}" type="slidenum">
              <a:rPr lang="zh-CN" altLang="en-US"/>
              <a:pPr/>
              <a:t>‹#›</a:t>
            </a:fld>
            <a:endParaRPr lang="zh-CN" altLang="en-US"/>
          </a:p>
        </p:txBody>
      </p:sp>
    </p:spTree>
    <p:extLst>
      <p:ext uri="{BB962C8B-B14F-4D97-AF65-F5344CB8AC3E}">
        <p14:creationId xmlns:p14="http://schemas.microsoft.com/office/powerpoint/2010/main" val="41910284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表格占位符 2"/>
          <p:cNvSpPr>
            <a:spLocks noGrp="1"/>
          </p:cNvSpPr>
          <p:nvPr>
            <p:ph type="tbl" idx="1"/>
          </p:nvPr>
        </p:nvSpPr>
        <p:spPr>
          <a:xfrm>
            <a:off x="685800" y="1319213"/>
            <a:ext cx="7772400" cy="4611687"/>
          </a:xfrm>
        </p:spPr>
        <p:txBody>
          <a:bodyPr/>
          <a:lstStyle/>
          <a:p>
            <a:pPr lvl="0"/>
            <a:endParaRPr lang="zh-CN" altLang="en-US" noProof="0"/>
          </a:p>
        </p:txBody>
      </p:sp>
      <p:sp>
        <p:nvSpPr>
          <p:cNvPr id="4" name="Rectangle 4">
            <a:extLst>
              <a:ext uri="{FF2B5EF4-FFF2-40B4-BE49-F238E27FC236}">
                <a16:creationId xmlns:a16="http://schemas.microsoft.com/office/drawing/2014/main" id="{DD54857C-18CE-48DA-91DA-DC1BB737737F}"/>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5" name="Rectangle 5">
            <a:extLst>
              <a:ext uri="{FF2B5EF4-FFF2-40B4-BE49-F238E27FC236}">
                <a16:creationId xmlns:a16="http://schemas.microsoft.com/office/drawing/2014/main" id="{1C40DB6E-626A-4139-AA1C-54D1987AC6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213C1CF-07BD-4779-A2CB-AD6A4BC4680C}"/>
              </a:ext>
            </a:extLst>
          </p:cNvPr>
          <p:cNvSpPr>
            <a:spLocks noGrp="1" noChangeArrowheads="1"/>
          </p:cNvSpPr>
          <p:nvPr>
            <p:ph type="sldNum" sz="quarter" idx="12"/>
          </p:nvPr>
        </p:nvSpPr>
        <p:spPr>
          <a:ln/>
        </p:spPr>
        <p:txBody>
          <a:bodyPr/>
          <a:lstStyle>
            <a:lvl1pPr>
              <a:defRPr/>
            </a:lvl1pPr>
          </a:lstStyle>
          <a:p>
            <a:fld id="{0D58CBC9-53D1-48A6-93FB-405457E5C06A}" type="slidenum">
              <a:rPr lang="zh-CN" altLang="en-US"/>
              <a:pPr/>
              <a:t>‹#›</a:t>
            </a:fld>
            <a:endParaRPr lang="zh-CN" altLang="en-US"/>
          </a:p>
        </p:txBody>
      </p:sp>
    </p:spTree>
    <p:extLst>
      <p:ext uri="{BB962C8B-B14F-4D97-AF65-F5344CB8AC3E}">
        <p14:creationId xmlns:p14="http://schemas.microsoft.com/office/powerpoint/2010/main" val="3879065870"/>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a:extLst>
              <a:ext uri="{FF2B5EF4-FFF2-40B4-BE49-F238E27FC236}">
                <a16:creationId xmlns:a16="http://schemas.microsoft.com/office/drawing/2014/main" id="{3BC1C946-C3E4-42A9-B7F6-F9875E046839}"/>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4" name="Rectangle 5">
            <a:extLst>
              <a:ext uri="{FF2B5EF4-FFF2-40B4-BE49-F238E27FC236}">
                <a16:creationId xmlns:a16="http://schemas.microsoft.com/office/drawing/2014/main" id="{58877EE8-629C-4552-B9CE-1CA173BE97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29E3DC1-64E9-4F54-AE88-38A188A302ED}"/>
              </a:ext>
            </a:extLst>
          </p:cNvPr>
          <p:cNvSpPr>
            <a:spLocks noGrp="1" noChangeArrowheads="1"/>
          </p:cNvSpPr>
          <p:nvPr>
            <p:ph type="sldNum" sz="quarter" idx="12"/>
          </p:nvPr>
        </p:nvSpPr>
        <p:spPr>
          <a:ln/>
        </p:spPr>
        <p:txBody>
          <a:bodyPr/>
          <a:lstStyle>
            <a:lvl1pPr>
              <a:defRPr/>
            </a:lvl1pPr>
          </a:lstStyle>
          <a:p>
            <a:fld id="{82B718D7-40CC-406D-B584-52AE06F6530E}" type="slidenum">
              <a:rPr lang="zh-CN" altLang="en-US"/>
              <a:pPr/>
              <a:t>‹#›</a:t>
            </a:fld>
            <a:endParaRPr lang="zh-CN" altLang="en-US"/>
          </a:p>
        </p:txBody>
      </p:sp>
    </p:spTree>
    <p:extLst>
      <p:ext uri="{BB962C8B-B14F-4D97-AF65-F5344CB8AC3E}">
        <p14:creationId xmlns:p14="http://schemas.microsoft.com/office/powerpoint/2010/main" val="269274002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31F5FAE7-DFBA-4F84-8C25-726E77BE978D}"/>
              </a:ext>
            </a:extLst>
          </p:cNvPr>
          <p:cNvSpPr>
            <a:spLocks noGrp="1" noChangeArrowheads="1"/>
          </p:cNvSpPr>
          <p:nvPr>
            <p:ph type="dt" sz="half" idx="10"/>
          </p:nvPr>
        </p:nvSpPr>
        <p:spPr>
          <a:ln/>
        </p:spPr>
        <p:txBody>
          <a:bodyPr/>
          <a:lstStyle>
            <a:lvl1pPr>
              <a:defRPr/>
            </a:lvl1pPr>
          </a:lstStyle>
          <a:p>
            <a:pPr>
              <a:defRPr/>
            </a:pPr>
            <a:fld id="{F9E62148-6E9E-4041-A432-4F2AE13AA9D9}" type="datetime1">
              <a:rPr lang="zh-CN" altLang="en-US"/>
              <a:pPr>
                <a:defRPr/>
              </a:pPr>
              <a:t>2023/12/11</a:t>
            </a:fld>
            <a:endParaRPr lang="en-US" altLang="zh-CN"/>
          </a:p>
        </p:txBody>
      </p:sp>
      <p:sp>
        <p:nvSpPr>
          <p:cNvPr id="6" name="Rectangle 5">
            <a:extLst>
              <a:ext uri="{FF2B5EF4-FFF2-40B4-BE49-F238E27FC236}">
                <a16:creationId xmlns:a16="http://schemas.microsoft.com/office/drawing/2014/main" id="{7DAB1518-EF5B-42B8-B9B8-A43BC02467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26F5491-C5E8-4906-B466-E273E32349C2}"/>
              </a:ext>
            </a:extLst>
          </p:cNvPr>
          <p:cNvSpPr>
            <a:spLocks noGrp="1" noChangeArrowheads="1"/>
          </p:cNvSpPr>
          <p:nvPr>
            <p:ph type="sldNum" sz="quarter" idx="12"/>
          </p:nvPr>
        </p:nvSpPr>
        <p:spPr>
          <a:ln/>
        </p:spPr>
        <p:txBody>
          <a:bodyPr/>
          <a:lstStyle>
            <a:lvl1pPr>
              <a:defRPr/>
            </a:lvl1pPr>
          </a:lstStyle>
          <a:p>
            <a:fld id="{7C5AA7E0-F985-4B7F-BDCA-6A028C0678B8}" type="slidenum">
              <a:rPr lang="zh-CN" altLang="en-US"/>
              <a:pPr/>
              <a:t>‹#›</a:t>
            </a:fld>
            <a:endParaRPr lang="zh-CN" altLang="en-US"/>
          </a:p>
        </p:txBody>
      </p:sp>
    </p:spTree>
    <p:extLst>
      <p:ext uri="{BB962C8B-B14F-4D97-AF65-F5344CB8AC3E}">
        <p14:creationId xmlns:p14="http://schemas.microsoft.com/office/powerpoint/2010/main" val="227633470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F0F1665-8C7A-4B66-8809-DE93AC905800}"/>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a:extLst>
              <a:ext uri="{FF2B5EF4-FFF2-40B4-BE49-F238E27FC236}">
                <a16:creationId xmlns:a16="http://schemas.microsoft.com/office/drawing/2014/main" id="{56FDC9CF-3DAE-461D-A872-661AEA351360}"/>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8356" name="Rectangle 4">
            <a:extLst>
              <a:ext uri="{FF2B5EF4-FFF2-40B4-BE49-F238E27FC236}">
                <a16:creationId xmlns:a16="http://schemas.microsoft.com/office/drawing/2014/main" id="{94F531CA-7283-44E4-A7AD-ECEF8B2B43C1}"/>
              </a:ext>
            </a:extLst>
          </p:cNvPr>
          <p:cNvSpPr>
            <a:spLocks noGrp="1" noChangeArrowheads="1"/>
          </p:cNvSpPr>
          <p:nvPr>
            <p:ph type="dt" sz="half" idx="2"/>
          </p:nvPr>
        </p:nvSpPr>
        <p:spPr bwMode="auto">
          <a:xfrm>
            <a:off x="685800" y="6083300"/>
            <a:ext cx="19050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50000"/>
              </a:spcBef>
              <a:buFontTx/>
              <a:buNone/>
              <a:defRPr kumimoji="1" sz="1400"/>
            </a:lvl1pPr>
          </a:lstStyle>
          <a:p>
            <a:pPr>
              <a:defRPr/>
            </a:pPr>
            <a:fld id="{F9E62148-6E9E-4041-A432-4F2AE13AA9D9}" type="datetime1">
              <a:rPr lang="zh-CN" altLang="en-US"/>
              <a:pPr>
                <a:defRPr/>
              </a:pPr>
              <a:t>2023/12/11</a:t>
            </a:fld>
            <a:endParaRPr lang="en-US" altLang="zh-CN"/>
          </a:p>
        </p:txBody>
      </p:sp>
      <p:sp>
        <p:nvSpPr>
          <p:cNvPr id="228357" name="Rectangle 5">
            <a:extLst>
              <a:ext uri="{FF2B5EF4-FFF2-40B4-BE49-F238E27FC236}">
                <a16:creationId xmlns:a16="http://schemas.microsoft.com/office/drawing/2014/main" id="{85364527-FF59-42E6-BB7B-3DB8DDEBDA56}"/>
              </a:ext>
            </a:extLst>
          </p:cNvPr>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buFontTx/>
              <a:buNone/>
              <a:defRPr kumimoji="1" sz="1400"/>
            </a:lvl1pPr>
          </a:lstStyle>
          <a:p>
            <a:pPr>
              <a:defRPr/>
            </a:pPr>
            <a:endParaRPr lang="en-US" altLang="zh-CN"/>
          </a:p>
        </p:txBody>
      </p:sp>
      <p:sp>
        <p:nvSpPr>
          <p:cNvPr id="228358" name="Rectangle 6">
            <a:extLst>
              <a:ext uri="{FF2B5EF4-FFF2-40B4-BE49-F238E27FC236}">
                <a16:creationId xmlns:a16="http://schemas.microsoft.com/office/drawing/2014/main" id="{629D7493-D6AC-458C-B265-0B3B25AD35F2}"/>
              </a:ext>
            </a:extLst>
          </p:cNvPr>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b="1" noProof="1" dirty="0"/>
            </a:lvl1pPr>
          </a:lstStyle>
          <a:p>
            <a:fld id="{74CD09BC-F42D-4DF7-A117-089A8E3C1AAC}" type="slidenum">
              <a:rPr lang="zh-CN" altLang="en-US"/>
              <a:pPr/>
              <a:t>‹#›</a:t>
            </a:fld>
            <a:endParaRPr lang="zh-CN" altLang="en-US"/>
          </a:p>
        </p:txBody>
      </p:sp>
      <p:grpSp>
        <p:nvGrpSpPr>
          <p:cNvPr id="1031" name="Group 7">
            <a:extLst>
              <a:ext uri="{FF2B5EF4-FFF2-40B4-BE49-F238E27FC236}">
                <a16:creationId xmlns:a16="http://schemas.microsoft.com/office/drawing/2014/main" id="{8E430E87-FABD-42D3-80E6-5816D0D067D2}"/>
              </a:ext>
            </a:extLst>
          </p:cNvPr>
          <p:cNvGrpSpPr>
            <a:grpSpLocks/>
          </p:cNvGrpSpPr>
          <p:nvPr/>
        </p:nvGrpSpPr>
        <p:grpSpPr bwMode="auto">
          <a:xfrm>
            <a:off x="0" y="6553200"/>
            <a:ext cx="9144000" cy="301625"/>
            <a:chOff x="0" y="4032"/>
            <a:chExt cx="5760" cy="288"/>
          </a:xfrm>
        </p:grpSpPr>
        <p:sp>
          <p:nvSpPr>
            <p:cNvPr id="1035" name="Rectangle 8">
              <a:extLst>
                <a:ext uri="{FF2B5EF4-FFF2-40B4-BE49-F238E27FC236}">
                  <a16:creationId xmlns:a16="http://schemas.microsoft.com/office/drawing/2014/main" id="{389F6649-3D05-4464-A693-8888AEE09AC5}"/>
                </a:ext>
              </a:extLst>
            </p:cNvPr>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zh-CN" altLang="en-US" sz="2400">
                  <a:sym typeface="+mn-ea"/>
                </a:rPr>
                <a:t>                  </a:t>
              </a:r>
            </a:p>
          </p:txBody>
        </p:sp>
        <p:sp>
          <p:nvSpPr>
            <p:cNvPr id="1033" name="Line 9">
              <a:extLst>
                <a:ext uri="{FF2B5EF4-FFF2-40B4-BE49-F238E27FC236}">
                  <a16:creationId xmlns:a16="http://schemas.microsoft.com/office/drawing/2014/main" id="{9F9C3AFA-B576-41A6-881C-B55C22B31F0A}"/>
                </a:ext>
              </a:extLst>
            </p:cNvPr>
            <p:cNvSpPr>
              <a:spLocks noChangeShapeType="1"/>
            </p:cNvSpPr>
            <p:nvPr/>
          </p:nvSpPr>
          <p:spPr bwMode="auto">
            <a:xfrm>
              <a:off x="4464" y="4032"/>
              <a:ext cx="288"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 name="Line 10">
              <a:extLst>
                <a:ext uri="{FF2B5EF4-FFF2-40B4-BE49-F238E27FC236}">
                  <a16:creationId xmlns:a16="http://schemas.microsoft.com/office/drawing/2014/main" id="{AF28C0ED-FB1E-4CE8-9E25-359E194EA9AF}"/>
                </a:ext>
              </a:extLst>
            </p:cNvPr>
            <p:cNvSpPr>
              <a:spLocks noChangeShapeType="1"/>
            </p:cNvSpPr>
            <p:nvPr/>
          </p:nvSpPr>
          <p:spPr bwMode="auto">
            <a:xfrm>
              <a:off x="4176" y="4032"/>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Line 11">
              <a:extLst>
                <a:ext uri="{FF2B5EF4-FFF2-40B4-BE49-F238E27FC236}">
                  <a16:creationId xmlns:a16="http://schemas.microsoft.com/office/drawing/2014/main" id="{7879FD6B-AC91-4535-8D62-97D3E66FB738}"/>
                </a:ext>
              </a:extLst>
            </p:cNvPr>
            <p:cNvSpPr>
              <a:spLocks noChangeShapeType="1"/>
            </p:cNvSpPr>
            <p:nvPr/>
          </p:nvSpPr>
          <p:spPr bwMode="auto">
            <a:xfrm>
              <a:off x="4704" y="4032"/>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 name="Line 12">
              <a:extLst>
                <a:ext uri="{FF2B5EF4-FFF2-40B4-BE49-F238E27FC236}">
                  <a16:creationId xmlns:a16="http://schemas.microsoft.com/office/drawing/2014/main" id="{B04B2322-D2B7-4876-BD42-05C7113653E7}"/>
                </a:ext>
              </a:extLst>
            </p:cNvPr>
            <p:cNvSpPr>
              <a:spLocks noChangeShapeType="1"/>
            </p:cNvSpPr>
            <p:nvPr/>
          </p:nvSpPr>
          <p:spPr bwMode="auto">
            <a:xfrm>
              <a:off x="5376" y="4032"/>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 name="Line 13">
              <a:extLst>
                <a:ext uri="{FF2B5EF4-FFF2-40B4-BE49-F238E27FC236}">
                  <a16:creationId xmlns:a16="http://schemas.microsoft.com/office/drawing/2014/main" id="{E334770D-40E7-41CD-B55C-C132B967FAB1}"/>
                </a:ext>
              </a:extLst>
            </p:cNvPr>
            <p:cNvSpPr>
              <a:spLocks noChangeShapeType="1"/>
            </p:cNvSpPr>
            <p:nvPr/>
          </p:nvSpPr>
          <p:spPr bwMode="auto">
            <a:xfrm>
              <a:off x="5184" y="4032"/>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8" name="Line 14">
              <a:extLst>
                <a:ext uri="{FF2B5EF4-FFF2-40B4-BE49-F238E27FC236}">
                  <a16:creationId xmlns:a16="http://schemas.microsoft.com/office/drawing/2014/main" id="{A9BEAF4D-A68B-4768-B8A5-60DF4604FB88}"/>
                </a:ext>
              </a:extLst>
            </p:cNvPr>
            <p:cNvSpPr>
              <a:spLocks noChangeShapeType="1"/>
            </p:cNvSpPr>
            <p:nvPr/>
          </p:nvSpPr>
          <p:spPr bwMode="auto">
            <a:xfrm>
              <a:off x="5568" y="4032"/>
              <a:ext cx="192" cy="144"/>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 name="Line 15">
              <a:extLst>
                <a:ext uri="{FF2B5EF4-FFF2-40B4-BE49-F238E27FC236}">
                  <a16:creationId xmlns:a16="http://schemas.microsoft.com/office/drawing/2014/main" id="{ABCC1B1D-8A64-42D2-99C8-6DBD46CA4241}"/>
                </a:ext>
              </a:extLst>
            </p:cNvPr>
            <p:cNvSpPr>
              <a:spLocks noChangeShapeType="1"/>
            </p:cNvSpPr>
            <p:nvPr/>
          </p:nvSpPr>
          <p:spPr bwMode="auto">
            <a:xfrm>
              <a:off x="4992" y="4032"/>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0" name="Line 16">
            <a:extLst>
              <a:ext uri="{FF2B5EF4-FFF2-40B4-BE49-F238E27FC236}">
                <a16:creationId xmlns:a16="http://schemas.microsoft.com/office/drawing/2014/main" id="{E61C1918-4940-4393-9EED-BF062645064C}"/>
              </a:ext>
            </a:extLst>
          </p:cNvPr>
          <p:cNvSpPr>
            <a:spLocks noChangeShapeType="1"/>
          </p:cNvSpPr>
          <p:nvPr/>
        </p:nvSpPr>
        <p:spPr bwMode="auto">
          <a:xfrm>
            <a:off x="468313" y="1176338"/>
            <a:ext cx="8458200" cy="0"/>
          </a:xfrm>
          <a:prstGeom prst="line">
            <a:avLst/>
          </a:prstGeom>
          <a:noFill/>
          <a:ln w="57150">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Text Box 17">
            <a:extLst>
              <a:ext uri="{FF2B5EF4-FFF2-40B4-BE49-F238E27FC236}">
                <a16:creationId xmlns:a16="http://schemas.microsoft.com/office/drawing/2014/main" id="{B3A2824B-2D86-441A-95B1-DA3C032D6208}"/>
              </a:ext>
            </a:extLst>
          </p:cNvPr>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p:txBody>
      </p:sp>
      <p:pic>
        <p:nvPicPr>
          <p:cNvPr id="1042" name="Picture 18" descr="bupt">
            <a:extLst>
              <a:ext uri="{FF2B5EF4-FFF2-40B4-BE49-F238E27FC236}">
                <a16:creationId xmlns:a16="http://schemas.microsoft.com/office/drawing/2014/main" id="{217D92F3-E04F-485D-B242-74A4D729CA9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9" r:id="rId1"/>
    <p:sldLayoutId id="2147483708" r:id="rId2"/>
    <p:sldLayoutId id="2147483707" r:id="rId3"/>
    <p:sldLayoutId id="2147483706" r:id="rId4"/>
    <p:sldLayoutId id="2147483705" r:id="rId5"/>
    <p:sldLayoutId id="2147483704" r:id="rId6"/>
    <p:sldLayoutId id="2147483703" r:id="rId7"/>
    <p:sldLayoutId id="2147483702" r:id="rId8"/>
    <p:sldLayoutId id="2147483701" r:id="rId9"/>
    <p:sldLayoutId id="2147483700" r:id="rId10"/>
    <p:sldLayoutId id="2147483699" r:id="rId11"/>
    <p:sldLayoutId id="2147483698" r:id="rId12"/>
    <p:sldLayoutId id="2147483697" r:id="rId13"/>
    <p:sldLayoutId id="2147483696" r:id="rId14"/>
  </p:sldLayoutIdLst>
  <p:transition/>
  <p:txStyles>
    <p:titleStyle>
      <a:lvl1pPr algn="r" rtl="0" eaLnBrk="0" fontAlgn="base" hangingPunct="0">
        <a:spcBef>
          <a:spcPct val="0"/>
        </a:spcBef>
        <a:spcAft>
          <a:spcPct val="0"/>
        </a:spcAft>
        <a:defRPr sz="3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Char char="–"/>
        <a:defRPr sz="2800">
          <a:solidFill>
            <a:schemeClr val="tx1"/>
          </a:solidFill>
          <a:latin typeface="+mn-lt"/>
          <a:ea typeface="+mn-ea"/>
        </a:defRPr>
      </a:lvl4pPr>
      <a:lvl5pPr marL="2057400" indent="-228600" algn="l" rtl="0" eaLnBrk="0" fontAlgn="base" hangingPunct="0">
        <a:spcBef>
          <a:spcPct val="20000"/>
        </a:spcBef>
        <a:spcAft>
          <a:spcPct val="0"/>
        </a:spcAft>
        <a:buChar char="»"/>
        <a:defRPr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8B03BE8-57A7-4035-B6DA-8F5B1A86B969}"/>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2051" name="Rectangle 3">
            <a:extLst>
              <a:ext uri="{FF2B5EF4-FFF2-40B4-BE49-F238E27FC236}">
                <a16:creationId xmlns:a16="http://schemas.microsoft.com/office/drawing/2014/main" id="{0DE034AC-2945-4B44-A45F-4F0237404485}"/>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8356" name="Rectangle 4">
            <a:extLst>
              <a:ext uri="{FF2B5EF4-FFF2-40B4-BE49-F238E27FC236}">
                <a16:creationId xmlns:a16="http://schemas.microsoft.com/office/drawing/2014/main" id="{C4CE2211-3E6C-46EB-A4F3-6D7C1819062C}"/>
              </a:ext>
            </a:extLst>
          </p:cNvPr>
          <p:cNvSpPr>
            <a:spLocks noGrp="1" noChangeArrowheads="1"/>
          </p:cNvSpPr>
          <p:nvPr>
            <p:ph type="dt" sz="half" idx="2"/>
          </p:nvPr>
        </p:nvSpPr>
        <p:spPr bwMode="auto">
          <a:xfrm>
            <a:off x="685800" y="6083300"/>
            <a:ext cx="19050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50000"/>
              </a:spcBef>
              <a:buFontTx/>
              <a:buNone/>
              <a:defRPr kumimoji="1" sz="1400"/>
            </a:lvl1pPr>
          </a:lstStyle>
          <a:p>
            <a:pPr>
              <a:defRPr/>
            </a:pPr>
            <a:fld id="{F9E62148-6E9E-4041-A432-4F2AE13AA9D9}" type="datetime1">
              <a:rPr lang="zh-CN" altLang="en-US"/>
              <a:pPr>
                <a:defRPr/>
              </a:pPr>
              <a:t>2023/12/11</a:t>
            </a:fld>
            <a:endParaRPr lang="en-US" altLang="zh-CN"/>
          </a:p>
        </p:txBody>
      </p:sp>
      <p:sp>
        <p:nvSpPr>
          <p:cNvPr id="228357" name="Rectangle 5">
            <a:extLst>
              <a:ext uri="{FF2B5EF4-FFF2-40B4-BE49-F238E27FC236}">
                <a16:creationId xmlns:a16="http://schemas.microsoft.com/office/drawing/2014/main" id="{B0F265A0-32C1-4190-981D-5E36440F030A}"/>
              </a:ext>
            </a:extLst>
          </p:cNvPr>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buFontTx/>
              <a:buNone/>
              <a:defRPr kumimoji="1" sz="1400"/>
            </a:lvl1pPr>
          </a:lstStyle>
          <a:p>
            <a:pPr>
              <a:defRPr/>
            </a:pPr>
            <a:endParaRPr lang="en-US" altLang="zh-CN"/>
          </a:p>
        </p:txBody>
      </p:sp>
      <p:sp>
        <p:nvSpPr>
          <p:cNvPr id="228358" name="Rectangle 6">
            <a:extLst>
              <a:ext uri="{FF2B5EF4-FFF2-40B4-BE49-F238E27FC236}">
                <a16:creationId xmlns:a16="http://schemas.microsoft.com/office/drawing/2014/main" id="{A9B81416-4100-4770-A000-A25934AE26A0}"/>
              </a:ext>
            </a:extLst>
          </p:cNvPr>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b="1" noProof="1" dirty="0"/>
            </a:lvl1pPr>
          </a:lstStyle>
          <a:p>
            <a:fld id="{F925B9BE-8AAE-4C48-AAFA-0175F0E03D00}" type="slidenum">
              <a:rPr lang="zh-CN" altLang="en-US"/>
              <a:pPr/>
              <a:t>‹#›</a:t>
            </a:fld>
            <a:endParaRPr lang="zh-CN" altLang="en-US"/>
          </a:p>
        </p:txBody>
      </p:sp>
      <p:grpSp>
        <p:nvGrpSpPr>
          <p:cNvPr id="2055" name="Group 7">
            <a:extLst>
              <a:ext uri="{FF2B5EF4-FFF2-40B4-BE49-F238E27FC236}">
                <a16:creationId xmlns:a16="http://schemas.microsoft.com/office/drawing/2014/main" id="{5244D05C-9A7E-4043-9F5C-940063428CA6}"/>
              </a:ext>
            </a:extLst>
          </p:cNvPr>
          <p:cNvGrpSpPr>
            <a:grpSpLocks/>
          </p:cNvGrpSpPr>
          <p:nvPr/>
        </p:nvGrpSpPr>
        <p:grpSpPr bwMode="auto">
          <a:xfrm>
            <a:off x="0" y="6553200"/>
            <a:ext cx="9144000" cy="301625"/>
            <a:chOff x="0" y="4032"/>
            <a:chExt cx="5760" cy="288"/>
          </a:xfrm>
        </p:grpSpPr>
        <p:sp>
          <p:nvSpPr>
            <p:cNvPr id="1035" name="Rectangle 8">
              <a:extLst>
                <a:ext uri="{FF2B5EF4-FFF2-40B4-BE49-F238E27FC236}">
                  <a16:creationId xmlns:a16="http://schemas.microsoft.com/office/drawing/2014/main" id="{CCE74D29-631F-4CCB-A295-72F94BA67F66}"/>
                </a:ext>
              </a:extLst>
            </p:cNvPr>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zh-CN" altLang="en-US" sz="2400">
                  <a:sym typeface="+mn-ea"/>
                </a:rPr>
                <a:t>                  </a:t>
              </a:r>
            </a:p>
          </p:txBody>
        </p:sp>
        <p:sp>
          <p:nvSpPr>
            <p:cNvPr id="2057" name="Line 9">
              <a:extLst>
                <a:ext uri="{FF2B5EF4-FFF2-40B4-BE49-F238E27FC236}">
                  <a16:creationId xmlns:a16="http://schemas.microsoft.com/office/drawing/2014/main" id="{5D2A244B-99CE-48DA-B55B-8C02B9962EAC}"/>
                </a:ext>
              </a:extLst>
            </p:cNvPr>
            <p:cNvSpPr>
              <a:spLocks noChangeShapeType="1"/>
            </p:cNvSpPr>
            <p:nvPr/>
          </p:nvSpPr>
          <p:spPr bwMode="auto">
            <a:xfrm>
              <a:off x="4464" y="4032"/>
              <a:ext cx="288"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8" name="Line 10">
              <a:extLst>
                <a:ext uri="{FF2B5EF4-FFF2-40B4-BE49-F238E27FC236}">
                  <a16:creationId xmlns:a16="http://schemas.microsoft.com/office/drawing/2014/main" id="{C61581A0-FECB-470F-9340-22759CBFEFD4}"/>
                </a:ext>
              </a:extLst>
            </p:cNvPr>
            <p:cNvSpPr>
              <a:spLocks noChangeShapeType="1"/>
            </p:cNvSpPr>
            <p:nvPr/>
          </p:nvSpPr>
          <p:spPr bwMode="auto">
            <a:xfrm>
              <a:off x="4176" y="4032"/>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9" name="Line 11">
              <a:extLst>
                <a:ext uri="{FF2B5EF4-FFF2-40B4-BE49-F238E27FC236}">
                  <a16:creationId xmlns:a16="http://schemas.microsoft.com/office/drawing/2014/main" id="{49D6D8DC-002F-4F0A-9AE1-5F7FC2CFBBC3}"/>
                </a:ext>
              </a:extLst>
            </p:cNvPr>
            <p:cNvSpPr>
              <a:spLocks noChangeShapeType="1"/>
            </p:cNvSpPr>
            <p:nvPr/>
          </p:nvSpPr>
          <p:spPr bwMode="auto">
            <a:xfrm>
              <a:off x="4704" y="4032"/>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0" name="Line 12">
              <a:extLst>
                <a:ext uri="{FF2B5EF4-FFF2-40B4-BE49-F238E27FC236}">
                  <a16:creationId xmlns:a16="http://schemas.microsoft.com/office/drawing/2014/main" id="{F327F8FF-6F8A-4E34-8664-D4E42015D63C}"/>
                </a:ext>
              </a:extLst>
            </p:cNvPr>
            <p:cNvSpPr>
              <a:spLocks noChangeShapeType="1"/>
            </p:cNvSpPr>
            <p:nvPr/>
          </p:nvSpPr>
          <p:spPr bwMode="auto">
            <a:xfrm>
              <a:off x="5376" y="4032"/>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1" name="Line 13">
              <a:extLst>
                <a:ext uri="{FF2B5EF4-FFF2-40B4-BE49-F238E27FC236}">
                  <a16:creationId xmlns:a16="http://schemas.microsoft.com/office/drawing/2014/main" id="{68CB3815-180F-4B5F-8D4E-7D7487A5F002}"/>
                </a:ext>
              </a:extLst>
            </p:cNvPr>
            <p:cNvSpPr>
              <a:spLocks noChangeShapeType="1"/>
            </p:cNvSpPr>
            <p:nvPr/>
          </p:nvSpPr>
          <p:spPr bwMode="auto">
            <a:xfrm>
              <a:off x="5184" y="4032"/>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2" name="Line 14">
              <a:extLst>
                <a:ext uri="{FF2B5EF4-FFF2-40B4-BE49-F238E27FC236}">
                  <a16:creationId xmlns:a16="http://schemas.microsoft.com/office/drawing/2014/main" id="{EF260610-0273-44B9-9B3F-BC828BF0DE3C}"/>
                </a:ext>
              </a:extLst>
            </p:cNvPr>
            <p:cNvSpPr>
              <a:spLocks noChangeShapeType="1"/>
            </p:cNvSpPr>
            <p:nvPr/>
          </p:nvSpPr>
          <p:spPr bwMode="auto">
            <a:xfrm>
              <a:off x="5568" y="4032"/>
              <a:ext cx="192" cy="144"/>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3" name="Line 15">
              <a:extLst>
                <a:ext uri="{FF2B5EF4-FFF2-40B4-BE49-F238E27FC236}">
                  <a16:creationId xmlns:a16="http://schemas.microsoft.com/office/drawing/2014/main" id="{918EF846-03D6-4864-88AD-41B5D43D3DC2}"/>
                </a:ext>
              </a:extLst>
            </p:cNvPr>
            <p:cNvSpPr>
              <a:spLocks noChangeShapeType="1"/>
            </p:cNvSpPr>
            <p:nvPr/>
          </p:nvSpPr>
          <p:spPr bwMode="auto">
            <a:xfrm>
              <a:off x="4992" y="4032"/>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64" name="Line 16">
            <a:extLst>
              <a:ext uri="{FF2B5EF4-FFF2-40B4-BE49-F238E27FC236}">
                <a16:creationId xmlns:a16="http://schemas.microsoft.com/office/drawing/2014/main" id="{7B092541-F5F8-42E6-81D1-B3E1D137801F}"/>
              </a:ext>
            </a:extLst>
          </p:cNvPr>
          <p:cNvSpPr>
            <a:spLocks noChangeShapeType="1"/>
          </p:cNvSpPr>
          <p:nvPr/>
        </p:nvSpPr>
        <p:spPr bwMode="auto">
          <a:xfrm>
            <a:off x="468313" y="1176338"/>
            <a:ext cx="8458200" cy="0"/>
          </a:xfrm>
          <a:prstGeom prst="line">
            <a:avLst/>
          </a:prstGeom>
          <a:noFill/>
          <a:ln w="57150">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Text Box 17">
            <a:extLst>
              <a:ext uri="{FF2B5EF4-FFF2-40B4-BE49-F238E27FC236}">
                <a16:creationId xmlns:a16="http://schemas.microsoft.com/office/drawing/2014/main" id="{7B288F91-648D-4132-8C7A-B8906D184E73}"/>
              </a:ext>
            </a:extLst>
          </p:cNvPr>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a:p>
            <a:pPr eaLnBrk="1" hangingPunct="1">
              <a:spcBef>
                <a:spcPct val="50000"/>
              </a:spcBef>
              <a:buFontTx/>
              <a:buNone/>
              <a:defRPr/>
            </a:pPr>
            <a:endParaRPr lang="zh-CN" altLang="en-US" sz="3200" b="1">
              <a:solidFill>
                <a:srgbClr val="FFFFFF"/>
              </a:solidFill>
              <a:sym typeface="+mn-ea"/>
            </a:endParaRPr>
          </a:p>
        </p:txBody>
      </p:sp>
      <p:pic>
        <p:nvPicPr>
          <p:cNvPr id="2066" name="Picture 18" descr="bupt">
            <a:extLst>
              <a:ext uri="{FF2B5EF4-FFF2-40B4-BE49-F238E27FC236}">
                <a16:creationId xmlns:a16="http://schemas.microsoft.com/office/drawing/2014/main" id="{AD8CDEDF-763C-48F9-B7EF-AE9D65E2BF7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3" r:id="rId1"/>
    <p:sldLayoutId id="2147483722" r:id="rId2"/>
    <p:sldLayoutId id="2147483721" r:id="rId3"/>
    <p:sldLayoutId id="2147483720" r:id="rId4"/>
    <p:sldLayoutId id="2147483719" r:id="rId5"/>
    <p:sldLayoutId id="2147483718" r:id="rId6"/>
    <p:sldLayoutId id="2147483717" r:id="rId7"/>
    <p:sldLayoutId id="2147483716" r:id="rId8"/>
    <p:sldLayoutId id="2147483715" r:id="rId9"/>
    <p:sldLayoutId id="2147483714" r:id="rId10"/>
    <p:sldLayoutId id="2147483713" r:id="rId11"/>
    <p:sldLayoutId id="2147483712" r:id="rId12"/>
    <p:sldLayoutId id="2147483711" r:id="rId13"/>
    <p:sldLayoutId id="2147483710" r:id="rId14"/>
  </p:sldLayoutIdLst>
  <p:transition/>
  <p:txStyles>
    <p:titleStyle>
      <a:lvl1pPr algn="r" rtl="0" eaLnBrk="0" fontAlgn="base" hangingPunct="0">
        <a:spcBef>
          <a:spcPct val="0"/>
        </a:spcBef>
        <a:spcAft>
          <a:spcPct val="0"/>
        </a:spcAft>
        <a:defRPr sz="3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Char char="–"/>
        <a:defRPr sz="2800">
          <a:solidFill>
            <a:schemeClr val="tx1"/>
          </a:solidFill>
          <a:latin typeface="+mn-lt"/>
          <a:ea typeface="+mn-ea"/>
        </a:defRPr>
      </a:lvl4pPr>
      <a:lvl5pPr marL="2057400" indent="-228600" algn="l" rtl="0" eaLnBrk="0" fontAlgn="base" hangingPunct="0">
        <a:spcBef>
          <a:spcPct val="20000"/>
        </a:spcBef>
        <a:spcAft>
          <a:spcPct val="0"/>
        </a:spcAft>
        <a:buChar char="»"/>
        <a:defRPr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3.bin"/><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灯片编号占位符 5">
            <a:extLst>
              <a:ext uri="{FF2B5EF4-FFF2-40B4-BE49-F238E27FC236}">
                <a16:creationId xmlns:a16="http://schemas.microsoft.com/office/drawing/2014/main" id="{1583F510-6295-4104-83D4-7561676735A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0CAB57AF-8011-4FA4-BA8E-4DDA296E5B52}" type="slidenum">
              <a:rPr lang="zh-CN" altLang="en-US" smtClean="0"/>
              <a:pPr/>
              <a:t>1</a:t>
            </a:fld>
            <a:endParaRPr lang="zh-CN" altLang="en-US"/>
          </a:p>
        </p:txBody>
      </p:sp>
      <p:grpSp>
        <p:nvGrpSpPr>
          <p:cNvPr id="6146" name="Group 5">
            <a:extLst>
              <a:ext uri="{FF2B5EF4-FFF2-40B4-BE49-F238E27FC236}">
                <a16:creationId xmlns:a16="http://schemas.microsoft.com/office/drawing/2014/main" id="{9C9BCF34-7054-42EB-9591-B6016A4C79FE}"/>
              </a:ext>
            </a:extLst>
          </p:cNvPr>
          <p:cNvGrpSpPr>
            <a:grpSpLocks/>
          </p:cNvGrpSpPr>
          <p:nvPr/>
        </p:nvGrpSpPr>
        <p:grpSpPr bwMode="auto">
          <a:xfrm>
            <a:off x="1835150" y="2133600"/>
            <a:ext cx="5903913" cy="863600"/>
            <a:chOff x="1488" y="1152"/>
            <a:chExt cx="2736" cy="624"/>
          </a:xfrm>
        </p:grpSpPr>
        <p:sp>
          <p:nvSpPr>
            <p:cNvPr id="6147" name="Rectangle 6">
              <a:extLst>
                <a:ext uri="{FF2B5EF4-FFF2-40B4-BE49-F238E27FC236}">
                  <a16:creationId xmlns:a16="http://schemas.microsoft.com/office/drawing/2014/main" id="{BDBFB53C-620A-478F-AB6F-7B70B5939FCA}"/>
                </a:ext>
              </a:extLst>
            </p:cNvPr>
            <p:cNvSpPr>
              <a:spLocks noChangeArrowheads="1"/>
            </p:cNvSpPr>
            <p:nvPr/>
          </p:nvSpPr>
          <p:spPr bwMode="auto">
            <a:xfrm>
              <a:off x="1488" y="1152"/>
              <a:ext cx="2736" cy="624"/>
            </a:xfrm>
            <a:prstGeom prst="rect">
              <a:avLst/>
            </a:prstGeom>
            <a:gradFill rotWithShape="0">
              <a:gsLst>
                <a:gs pos="0">
                  <a:srgbClr val="3E040E"/>
                </a:gs>
                <a:gs pos="50000">
                  <a:srgbClr val="CF0E30"/>
                </a:gs>
                <a:gs pos="100000">
                  <a:srgbClr val="3E040E"/>
                </a:gs>
              </a:gsLst>
              <a:lin ang="2700000" scaled="1"/>
            </a:gradFill>
            <a:ln w="28575">
              <a:solidFill>
                <a:srgbClr val="F68295"/>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6148" name="Text Box 7">
              <a:extLst>
                <a:ext uri="{FF2B5EF4-FFF2-40B4-BE49-F238E27FC236}">
                  <a16:creationId xmlns:a16="http://schemas.microsoft.com/office/drawing/2014/main" id="{D7EA2193-CD6C-4B09-BA36-6C6F47FD8FCC}"/>
                </a:ext>
              </a:extLst>
            </p:cNvPr>
            <p:cNvSpPr txBox="1">
              <a:spLocks noChangeArrowheads="1"/>
            </p:cNvSpPr>
            <p:nvPr/>
          </p:nvSpPr>
          <p:spPr bwMode="auto">
            <a:xfrm>
              <a:off x="1536" y="1200"/>
              <a:ext cx="2612"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spcBef>
                  <a:spcPct val="50000"/>
                </a:spcBef>
              </a:pPr>
              <a:r>
                <a:rPr lang="zh-CN" altLang="en-US" sz="3600" b="1">
                  <a:solidFill>
                    <a:schemeClr val="bg1"/>
                  </a:solidFill>
                </a:rPr>
                <a:t>第七章  指针</a:t>
              </a:r>
            </a:p>
          </p:txBody>
        </p:sp>
      </p:grpSp>
      <p:pic>
        <p:nvPicPr>
          <p:cNvPr id="6149" name="Picture 8" descr="地球">
            <a:extLst>
              <a:ext uri="{FF2B5EF4-FFF2-40B4-BE49-F238E27FC236}">
                <a16:creationId xmlns:a16="http://schemas.microsoft.com/office/drawing/2014/main" id="{7686E594-E7E5-42FF-A386-E05E174E2D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9925" y="4724400"/>
            <a:ext cx="15843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a:extLst>
              <a:ext uri="{FF2B5EF4-FFF2-40B4-BE49-F238E27FC236}">
                <a16:creationId xmlns:a16="http://schemas.microsoft.com/office/drawing/2014/main" id="{7B9A4C40-43DE-4113-92D9-DE8ED5F35E6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8327A17-269D-4D70-9000-E76F17647B25}" type="slidenum">
              <a:rPr lang="zh-CN" altLang="en-US" smtClean="0"/>
              <a:pPr/>
              <a:t>2</a:t>
            </a:fld>
            <a:endParaRPr lang="zh-CN" altLang="en-US"/>
          </a:p>
        </p:txBody>
      </p:sp>
      <p:sp>
        <p:nvSpPr>
          <p:cNvPr id="11266" name="Text Box 4">
            <a:extLst>
              <a:ext uri="{FF2B5EF4-FFF2-40B4-BE49-F238E27FC236}">
                <a16:creationId xmlns:a16="http://schemas.microsoft.com/office/drawing/2014/main" id="{54FC37C1-1427-453F-8F37-756AA6820C7E}"/>
              </a:ext>
            </a:extLst>
          </p:cNvPr>
          <p:cNvSpPr txBox="1">
            <a:spLocks noChangeArrowheads="1"/>
          </p:cNvSpPr>
          <p:nvPr/>
        </p:nvSpPr>
        <p:spPr bwMode="auto">
          <a:xfrm>
            <a:off x="304800" y="1268760"/>
            <a:ext cx="5491336" cy="3803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50000"/>
              </a:spcBef>
            </a:pPr>
            <a:r>
              <a:rPr lang="zh-CN" altLang="en-US" sz="2800" dirty="0"/>
              <a:t>例：设计子函数交换两变量的值。</a:t>
            </a:r>
          </a:p>
          <a:p>
            <a:pPr algn="just">
              <a:lnSpc>
                <a:spcPct val="80000"/>
              </a:lnSpc>
              <a:spcBef>
                <a:spcPct val="50000"/>
              </a:spcBef>
            </a:pPr>
            <a:r>
              <a:rPr lang="en-US" altLang="zh-CN" sz="2400" dirty="0">
                <a:latin typeface="Consolas" panose="020B0609020204030204" pitchFamily="49" charset="0"/>
              </a:rPr>
              <a:t>int swap(int </a:t>
            </a:r>
            <a:r>
              <a:rPr lang="en-US" altLang="zh-CN" sz="2400" dirty="0" err="1">
                <a:latin typeface="Consolas" panose="020B0609020204030204" pitchFamily="49" charset="0"/>
              </a:rPr>
              <a:t>x,int</a:t>
            </a:r>
            <a:r>
              <a:rPr lang="en-US" altLang="zh-CN" sz="2400" dirty="0">
                <a:latin typeface="Consolas" panose="020B0609020204030204" pitchFamily="49" charset="0"/>
              </a:rPr>
              <a:t> y);</a:t>
            </a:r>
          </a:p>
          <a:p>
            <a:pPr algn="just">
              <a:lnSpc>
                <a:spcPct val="80000"/>
              </a:lnSpc>
              <a:spcBef>
                <a:spcPct val="50000"/>
              </a:spcBef>
            </a:pPr>
            <a:r>
              <a:rPr lang="en-US" altLang="zh-CN" sz="2400" dirty="0">
                <a:latin typeface="Consolas" panose="020B0609020204030204" pitchFamily="49" charset="0"/>
              </a:rPr>
              <a:t>int main(){</a:t>
            </a:r>
          </a:p>
          <a:p>
            <a:pPr algn="just">
              <a:lnSpc>
                <a:spcPct val="80000"/>
              </a:lnSpc>
              <a:spcBef>
                <a:spcPct val="50000"/>
              </a:spcBef>
            </a:pPr>
            <a:r>
              <a:rPr lang="en-US" altLang="zh-CN" sz="2400" dirty="0">
                <a:latin typeface="Consolas" panose="020B0609020204030204" pitchFamily="49" charset="0"/>
              </a:rPr>
              <a:t>  int </a:t>
            </a:r>
            <a:r>
              <a:rPr lang="en-US" altLang="zh-CN" sz="2400" dirty="0" err="1">
                <a:latin typeface="Consolas" panose="020B0609020204030204" pitchFamily="49" charset="0"/>
              </a:rPr>
              <a:t>a,b</a:t>
            </a:r>
            <a:r>
              <a:rPr lang="en-US" altLang="zh-CN" sz="2400" dirty="0">
                <a:latin typeface="Consolas" panose="020B0609020204030204" pitchFamily="49" charset="0"/>
              </a:rPr>
              <a:t>;</a:t>
            </a:r>
          </a:p>
          <a:p>
            <a:pPr algn="just">
              <a:lnSpc>
                <a:spcPct val="80000"/>
              </a:lnSpc>
              <a:spcBef>
                <a:spcPct val="50000"/>
              </a:spcBef>
            </a:pPr>
            <a:r>
              <a:rPr lang="en-US" altLang="zh-CN" sz="2400" dirty="0">
                <a:latin typeface="Consolas" panose="020B0609020204030204" pitchFamily="49" charset="0"/>
              </a:rPr>
              <a:t>  </a:t>
            </a:r>
            <a:r>
              <a:rPr lang="en-US" altLang="zh-CN" sz="2400" dirty="0" err="1">
                <a:latin typeface="Consolas" panose="020B0609020204030204" pitchFamily="49" charset="0"/>
              </a:rPr>
              <a:t>scanf</a:t>
            </a:r>
            <a:r>
              <a:rPr lang="en-US" altLang="zh-CN" sz="2400" dirty="0">
                <a:latin typeface="Consolas" panose="020B0609020204030204" pitchFamily="49" charset="0"/>
              </a:rPr>
              <a:t>("%</a:t>
            </a:r>
            <a:r>
              <a:rPr lang="en-US" altLang="zh-CN" sz="2400" dirty="0" err="1">
                <a:latin typeface="Consolas" panose="020B0609020204030204" pitchFamily="49" charset="0"/>
              </a:rPr>
              <a:t>d%d</a:t>
            </a:r>
            <a:r>
              <a:rPr lang="en-US" altLang="zh-CN" sz="2400" dirty="0">
                <a:latin typeface="Consolas" panose="020B0609020204030204" pitchFamily="49" charset="0"/>
              </a:rPr>
              <a:t>",&amp;</a:t>
            </a:r>
            <a:r>
              <a:rPr lang="en-US" altLang="zh-CN" sz="2400" dirty="0" err="1">
                <a:latin typeface="Consolas" panose="020B0609020204030204" pitchFamily="49" charset="0"/>
              </a:rPr>
              <a:t>a,&amp;b</a:t>
            </a:r>
            <a:r>
              <a:rPr lang="en-US" altLang="zh-CN" sz="2400" dirty="0">
                <a:latin typeface="Consolas" panose="020B0609020204030204" pitchFamily="49" charset="0"/>
              </a:rPr>
              <a:t>);</a:t>
            </a:r>
          </a:p>
          <a:p>
            <a:pPr algn="just">
              <a:lnSpc>
                <a:spcPct val="80000"/>
              </a:lnSpc>
              <a:spcBef>
                <a:spcPct val="50000"/>
              </a:spcBef>
            </a:pPr>
            <a:r>
              <a:rPr lang="en-US" altLang="zh-CN" sz="2400" dirty="0">
                <a:latin typeface="Consolas" panose="020B0609020204030204" pitchFamily="49" charset="0"/>
              </a:rPr>
              <a:t>  swap( a, b );</a:t>
            </a:r>
          </a:p>
          <a:p>
            <a:pPr algn="just">
              <a:lnSpc>
                <a:spcPct val="80000"/>
              </a:lnSpc>
              <a:spcBef>
                <a:spcPct val="50000"/>
              </a:spcBef>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en-US" altLang="zh-CN" sz="2400" dirty="0" err="1">
                <a:latin typeface="Consolas" panose="020B0609020204030204" pitchFamily="49" charset="0"/>
              </a:rPr>
              <a:t>d,%d</a:t>
            </a:r>
            <a:r>
              <a:rPr lang="en-US" altLang="zh-CN" sz="2400" dirty="0">
                <a:latin typeface="Consolas" panose="020B0609020204030204" pitchFamily="49" charset="0"/>
              </a:rPr>
              <a:t>\n",</a:t>
            </a:r>
            <a:r>
              <a:rPr lang="en-US" altLang="zh-CN" sz="2400" dirty="0" err="1">
                <a:latin typeface="Consolas" panose="020B0609020204030204" pitchFamily="49" charset="0"/>
              </a:rPr>
              <a:t>a,b</a:t>
            </a:r>
            <a:r>
              <a:rPr lang="en-US" altLang="zh-CN" sz="2400" dirty="0">
                <a:latin typeface="Consolas" panose="020B0609020204030204" pitchFamily="49" charset="0"/>
              </a:rPr>
              <a:t>);</a:t>
            </a:r>
          </a:p>
          <a:p>
            <a:pPr algn="just">
              <a:lnSpc>
                <a:spcPct val="80000"/>
              </a:lnSpc>
              <a:spcBef>
                <a:spcPct val="50000"/>
              </a:spcBef>
            </a:pPr>
            <a:r>
              <a:rPr lang="en-US" altLang="zh-CN" sz="2400" dirty="0">
                <a:latin typeface="Consolas" panose="020B0609020204030204" pitchFamily="49" charset="0"/>
              </a:rPr>
              <a:t> }</a:t>
            </a:r>
          </a:p>
        </p:txBody>
      </p:sp>
      <p:sp>
        <p:nvSpPr>
          <p:cNvPr id="11269" name="Rectangle 13">
            <a:extLst>
              <a:ext uri="{FF2B5EF4-FFF2-40B4-BE49-F238E27FC236}">
                <a16:creationId xmlns:a16="http://schemas.microsoft.com/office/drawing/2014/main" id="{E48E0205-BE7D-4B26-9C3A-0723CD377EA8}"/>
              </a:ext>
            </a:extLst>
          </p:cNvPr>
          <p:cNvSpPr>
            <a:spLocks noGrp="1" noChangeArrowheads="1"/>
          </p:cNvSpPr>
          <p:nvPr>
            <p:ph type="title"/>
          </p:nvPr>
        </p:nvSpPr>
        <p:spPr/>
        <p:txBody>
          <a:bodyPr/>
          <a:lstStyle/>
          <a:p>
            <a:pPr eaLnBrk="1" hangingPunct="1"/>
            <a:r>
              <a:rPr lang="zh-CN" altLang="en-US" b="1" dirty="0">
                <a:solidFill>
                  <a:srgbClr val="FF0000"/>
                </a:solidFill>
              </a:rPr>
              <a:t>函数空间的阻隔</a:t>
            </a:r>
          </a:p>
        </p:txBody>
      </p:sp>
      <p:sp>
        <p:nvSpPr>
          <p:cNvPr id="7" name="Text Box 4">
            <a:extLst>
              <a:ext uri="{FF2B5EF4-FFF2-40B4-BE49-F238E27FC236}">
                <a16:creationId xmlns:a16="http://schemas.microsoft.com/office/drawing/2014/main" id="{C7D0EF20-D081-45D3-9BD4-FB324544270E}"/>
              </a:ext>
            </a:extLst>
          </p:cNvPr>
          <p:cNvSpPr txBox="1">
            <a:spLocks noChangeArrowheads="1"/>
          </p:cNvSpPr>
          <p:nvPr/>
        </p:nvSpPr>
        <p:spPr bwMode="auto">
          <a:xfrm>
            <a:off x="5149850" y="1792045"/>
            <a:ext cx="3976836" cy="32739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50000"/>
              </a:spcBef>
            </a:pPr>
            <a:r>
              <a:rPr lang="en-US" altLang="zh-CN" sz="2400" dirty="0">
                <a:latin typeface="Consolas" panose="020B0609020204030204" pitchFamily="49" charset="0"/>
              </a:rPr>
              <a:t>int swap(int </a:t>
            </a:r>
            <a:r>
              <a:rPr lang="en-US" altLang="zh-CN" sz="2400" dirty="0" err="1">
                <a:latin typeface="Consolas" panose="020B0609020204030204" pitchFamily="49" charset="0"/>
              </a:rPr>
              <a:t>x,int</a:t>
            </a:r>
            <a:r>
              <a:rPr lang="en-US" altLang="zh-CN" sz="2400" dirty="0">
                <a:latin typeface="Consolas" panose="020B0609020204030204" pitchFamily="49" charset="0"/>
              </a:rPr>
              <a:t> y){</a:t>
            </a:r>
          </a:p>
          <a:p>
            <a:pPr algn="just">
              <a:lnSpc>
                <a:spcPct val="80000"/>
              </a:lnSpc>
              <a:spcBef>
                <a:spcPct val="50000"/>
              </a:spcBef>
            </a:pPr>
            <a:r>
              <a:rPr lang="en-US" altLang="zh-CN" sz="2400" dirty="0">
                <a:latin typeface="Consolas" panose="020B0609020204030204" pitchFamily="49" charset="0"/>
              </a:rPr>
              <a:t>    int temp;</a:t>
            </a:r>
          </a:p>
          <a:p>
            <a:pPr algn="just">
              <a:lnSpc>
                <a:spcPct val="80000"/>
              </a:lnSpc>
              <a:spcBef>
                <a:spcPct val="50000"/>
              </a:spcBef>
            </a:pPr>
            <a:r>
              <a:rPr lang="en-US" altLang="zh-CN" sz="2400" dirty="0">
                <a:latin typeface="Consolas" panose="020B0609020204030204" pitchFamily="49" charset="0"/>
              </a:rPr>
              <a:t>    temp = x;</a:t>
            </a:r>
          </a:p>
          <a:p>
            <a:pPr algn="just">
              <a:lnSpc>
                <a:spcPct val="80000"/>
              </a:lnSpc>
              <a:spcBef>
                <a:spcPct val="50000"/>
              </a:spcBef>
            </a:pPr>
            <a:r>
              <a:rPr lang="en-US" altLang="zh-CN" sz="2400" dirty="0">
                <a:latin typeface="Consolas" panose="020B0609020204030204" pitchFamily="49" charset="0"/>
              </a:rPr>
              <a:t>    x = y;</a:t>
            </a:r>
          </a:p>
          <a:p>
            <a:pPr algn="just">
              <a:lnSpc>
                <a:spcPct val="80000"/>
              </a:lnSpc>
              <a:spcBef>
                <a:spcPct val="50000"/>
              </a:spcBef>
            </a:pPr>
            <a:r>
              <a:rPr lang="en-US" altLang="zh-CN" sz="2400" dirty="0">
                <a:latin typeface="Consolas" panose="020B0609020204030204" pitchFamily="49" charset="0"/>
              </a:rPr>
              <a:t>    y = temp;</a:t>
            </a:r>
          </a:p>
          <a:p>
            <a:pPr algn="just">
              <a:lnSpc>
                <a:spcPct val="80000"/>
              </a:lnSpc>
              <a:spcBef>
                <a:spcPct val="50000"/>
              </a:spcBef>
            </a:pPr>
            <a:r>
              <a:rPr lang="en-US" altLang="zh-CN" sz="2400" dirty="0">
                <a:latin typeface="Consolas" panose="020B0609020204030204" pitchFamily="49" charset="0"/>
              </a:rPr>
              <a:t>    return 0;</a:t>
            </a:r>
          </a:p>
          <a:p>
            <a:pPr algn="just">
              <a:lnSpc>
                <a:spcPct val="80000"/>
              </a:lnSpc>
              <a:spcBef>
                <a:spcPct val="50000"/>
              </a:spcBef>
            </a:pPr>
            <a:r>
              <a:rPr lang="en-US" altLang="zh-CN" sz="2400" dirty="0">
                <a:latin typeface="Consolas" panose="020B0609020204030204" pitchFamily="49" charset="0"/>
              </a:rPr>
              <a:t>}</a:t>
            </a:r>
            <a:endParaRPr lang="en-US" altLang="zh-CN" sz="2400" dirty="0">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129809563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1E812-7569-4603-9AFD-36CDCBCC6EB8}"/>
              </a:ext>
            </a:extLst>
          </p:cNvPr>
          <p:cNvSpPr>
            <a:spLocks noGrp="1"/>
          </p:cNvSpPr>
          <p:nvPr>
            <p:ph type="title"/>
          </p:nvPr>
        </p:nvSpPr>
        <p:spPr/>
        <p:txBody>
          <a:bodyPr/>
          <a:lstStyle/>
          <a:p>
            <a:r>
              <a:rPr lang="zh-CN" altLang="en-US" dirty="0"/>
              <a:t>数组传参的效果</a:t>
            </a:r>
          </a:p>
        </p:txBody>
      </p:sp>
      <p:sp>
        <p:nvSpPr>
          <p:cNvPr id="4" name="内容占位符 2">
            <a:extLst>
              <a:ext uri="{FF2B5EF4-FFF2-40B4-BE49-F238E27FC236}">
                <a16:creationId xmlns:a16="http://schemas.microsoft.com/office/drawing/2014/main" id="{77C1B7CE-588E-40B5-9B20-121B2CA046F0}"/>
              </a:ext>
            </a:extLst>
          </p:cNvPr>
          <p:cNvSpPr txBox="1">
            <a:spLocks/>
          </p:cNvSpPr>
          <p:nvPr/>
        </p:nvSpPr>
        <p:spPr bwMode="auto">
          <a:xfrm>
            <a:off x="4483175" y="2364433"/>
            <a:ext cx="4660825" cy="344400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Char char="–"/>
              <a:defRPr sz="2800">
                <a:solidFill>
                  <a:schemeClr val="tx1"/>
                </a:solidFill>
                <a:latin typeface="+mn-lt"/>
                <a:ea typeface="+mn-ea"/>
              </a:defRPr>
            </a:lvl4pPr>
            <a:lvl5pPr marL="2057400" indent="-228600" algn="l" rtl="0" eaLnBrk="0" fontAlgn="base" hangingPunct="0">
              <a:spcBef>
                <a:spcPct val="20000"/>
              </a:spcBef>
              <a:spcAft>
                <a:spcPct val="0"/>
              </a:spcAft>
              <a:buChar char="»"/>
              <a:defRPr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a:lstStyle>
          <a:p>
            <a:pPr eaLnBrk="1" hangingPunct="1">
              <a:lnSpc>
                <a:spcPct val="90000"/>
              </a:lnSpc>
              <a:buFontTx/>
              <a:buNone/>
            </a:pPr>
            <a:r>
              <a:rPr lang="en-US" altLang="zh-CN" sz="2000" dirty="0">
                <a:latin typeface="Consolas" panose="020B0609020204030204" pitchFamily="49" charset="0"/>
                <a:sym typeface="+mn-ea"/>
              </a:rPr>
              <a:t>void </a:t>
            </a:r>
            <a:r>
              <a:rPr lang="en-US" altLang="zh-CN" sz="2000" dirty="0" err="1">
                <a:latin typeface="Consolas" panose="020B0609020204030204" pitchFamily="49" charset="0"/>
                <a:sym typeface="+mn-ea"/>
              </a:rPr>
              <a:t>revserseSeq</a:t>
            </a:r>
            <a:r>
              <a:rPr lang="en-US" altLang="zh-CN" sz="2000" dirty="0">
                <a:latin typeface="Consolas" panose="020B0609020204030204" pitchFamily="49" charset="0"/>
                <a:sym typeface="+mn-ea"/>
              </a:rPr>
              <a:t>(int a[], int n)</a:t>
            </a:r>
            <a:endParaRPr lang="en-US" altLang="zh-CN" sz="2000" dirty="0">
              <a:solidFill>
                <a:srgbClr val="003399"/>
              </a:solidFill>
              <a:latin typeface="Consolas" panose="020B0609020204030204" pitchFamily="49" charset="0"/>
            </a:endParaRPr>
          </a:p>
          <a:p>
            <a:pPr eaLnBrk="1" hangingPunct="1">
              <a:lnSpc>
                <a:spcPct val="90000"/>
              </a:lnSpc>
              <a:buFontTx/>
              <a:buNone/>
            </a:pPr>
            <a:r>
              <a:rPr lang="en-US" altLang="zh-CN" sz="2000" dirty="0">
                <a:solidFill>
                  <a:schemeClr val="tx1"/>
                </a:solidFill>
                <a:latin typeface="Consolas" panose="020B0609020204030204" pitchFamily="49" charset="0"/>
              </a:rPr>
              <a:t>{</a:t>
            </a:r>
            <a:r>
              <a:rPr lang="en-US" altLang="zh-CN" sz="2000" dirty="0">
                <a:solidFill>
                  <a:srgbClr val="003399"/>
                </a:solidFill>
                <a:latin typeface="Consolas" panose="020B0609020204030204" pitchFamily="49" charset="0"/>
              </a:rPr>
              <a:t>//</a:t>
            </a:r>
            <a:r>
              <a:rPr lang="zh-CN" altLang="en-US" sz="2000" dirty="0">
                <a:solidFill>
                  <a:srgbClr val="003399"/>
                </a:solidFill>
                <a:latin typeface="Consolas" panose="020B0609020204030204" pitchFamily="49" charset="0"/>
              </a:rPr>
              <a:t>将整数数组中的元素逆序存放	</a:t>
            </a:r>
          </a:p>
          <a:p>
            <a:pPr eaLnBrk="1" hangingPunct="1">
              <a:lnSpc>
                <a:spcPct val="90000"/>
              </a:lnSpc>
              <a:buFontTx/>
              <a:buNone/>
            </a:pPr>
            <a:r>
              <a:rPr lang="en-US" altLang="zh-CN" sz="2000" dirty="0">
                <a:solidFill>
                  <a:srgbClr val="003399"/>
                </a:solidFill>
                <a:latin typeface="Consolas" panose="020B0609020204030204" pitchFamily="49" charset="0"/>
              </a:rPr>
              <a:t>	</a:t>
            </a:r>
            <a:r>
              <a:rPr lang="en-US" altLang="zh-CN" sz="2000" dirty="0">
                <a:solidFill>
                  <a:schemeClr val="tx1"/>
                </a:solidFill>
                <a:latin typeface="Consolas" panose="020B0609020204030204" pitchFamily="49" charset="0"/>
              </a:rPr>
              <a:t>int </a:t>
            </a:r>
            <a:r>
              <a:rPr lang="en-US" altLang="zh-CN" sz="2000" dirty="0" err="1">
                <a:solidFill>
                  <a:schemeClr val="tx1"/>
                </a:solidFill>
                <a:latin typeface="Consolas" panose="020B0609020204030204" pitchFamily="49" charset="0"/>
              </a:rPr>
              <a:t>i,tmp</a:t>
            </a:r>
            <a:r>
              <a:rPr lang="en-US" altLang="zh-CN" sz="2000" dirty="0">
                <a:solidFill>
                  <a:schemeClr val="tx1"/>
                </a:solidFill>
                <a:latin typeface="Consolas" panose="020B0609020204030204" pitchFamily="49" charset="0"/>
              </a:rPr>
              <a:t>;</a:t>
            </a:r>
          </a:p>
          <a:p>
            <a:pPr eaLnBrk="1" hangingPunct="1">
              <a:lnSpc>
                <a:spcPct val="90000"/>
              </a:lnSpc>
              <a:buFontTx/>
              <a:buNone/>
            </a:pPr>
            <a:r>
              <a:rPr lang="zh-CN" altLang="en-US" sz="2000" dirty="0">
                <a:latin typeface="Consolas" panose="020B0609020204030204" pitchFamily="49" charset="0"/>
              </a:rPr>
              <a:t>	</a:t>
            </a:r>
            <a:r>
              <a:rPr lang="en-US" altLang="zh-CN" sz="2000" dirty="0">
                <a:solidFill>
                  <a:srgbClr val="FF0000"/>
                </a:solidFill>
                <a:latin typeface="Consolas" panose="020B0609020204030204" pitchFamily="49" charset="0"/>
              </a:rPr>
              <a:t>for(</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=0; </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&lt;(n/2-1); </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a:t>
            </a:r>
            <a:endParaRPr lang="en-US" altLang="zh-CN" sz="2000" dirty="0">
              <a:solidFill>
                <a:srgbClr val="003399"/>
              </a:solidFill>
              <a:latin typeface="Consolas" panose="020B0609020204030204" pitchFamily="49" charset="0"/>
            </a:endParaRPr>
          </a:p>
          <a:p>
            <a:pPr eaLnBrk="1" hangingPunct="1">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 = a[</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a:t>
            </a:r>
            <a:r>
              <a:rPr lang="en-US" altLang="zh-CN" sz="2000" dirty="0" err="1">
                <a:latin typeface="Consolas" panose="020B0609020204030204" pitchFamily="49" charset="0"/>
              </a:rPr>
              <a:t>i</a:t>
            </a:r>
            <a:r>
              <a:rPr lang="en-US" altLang="zh-CN" sz="2000" dirty="0">
                <a:latin typeface="Consolas" panose="020B0609020204030204" pitchFamily="49" charset="0"/>
              </a:rPr>
              <a:t>] = a[n-1-</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a[n-1-</a:t>
            </a:r>
            <a:r>
              <a:rPr lang="en-US" altLang="zh-CN" sz="2000" dirty="0" err="1">
                <a:latin typeface="Consolas" panose="020B0609020204030204" pitchFamily="49" charset="0"/>
              </a:rPr>
              <a:t>i</a:t>
            </a:r>
            <a:r>
              <a:rPr lang="en-US" altLang="zh-CN" sz="2000" dirty="0">
                <a:latin typeface="Consolas" panose="020B0609020204030204" pitchFamily="49" charset="0"/>
              </a:rPr>
              <a:t>] = </a:t>
            </a:r>
            <a:r>
              <a:rPr lang="en-US" altLang="zh-CN" sz="2000" dirty="0" err="1">
                <a:latin typeface="Consolas" panose="020B0609020204030204" pitchFamily="49" charset="0"/>
              </a:rPr>
              <a:t>tmp</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t>
            </a:r>
            <a:endParaRPr lang="zh-CN" altLang="en-US" sz="2000" dirty="0">
              <a:latin typeface="Consolas" panose="020B0609020204030204" pitchFamily="49" charset="0"/>
            </a:endParaRPr>
          </a:p>
          <a:p>
            <a:pPr eaLnBrk="1" hangingPunct="1">
              <a:lnSpc>
                <a:spcPct val="90000"/>
              </a:lnSpc>
              <a:buFontTx/>
              <a:buNone/>
            </a:pPr>
            <a:r>
              <a:rPr lang="en-US" altLang="zh-CN" sz="2000" dirty="0">
                <a:latin typeface="Consolas" panose="020B0609020204030204" pitchFamily="49" charset="0"/>
              </a:rPr>
              <a:t>}</a:t>
            </a:r>
          </a:p>
          <a:p>
            <a:pPr marL="0" indent="0">
              <a:buFontTx/>
              <a:buNone/>
            </a:pPr>
            <a:endParaRPr lang="zh-CN" altLang="en-US" sz="2000" kern="0" dirty="0">
              <a:latin typeface="Consolas" panose="020B0609020204030204" pitchFamily="49" charset="0"/>
            </a:endParaRPr>
          </a:p>
        </p:txBody>
      </p:sp>
      <p:sp>
        <p:nvSpPr>
          <p:cNvPr id="5" name="内容占位符 4">
            <a:extLst>
              <a:ext uri="{FF2B5EF4-FFF2-40B4-BE49-F238E27FC236}">
                <a16:creationId xmlns:a16="http://schemas.microsoft.com/office/drawing/2014/main" id="{F70C025C-8D64-2462-8690-409BD703D019}"/>
              </a:ext>
            </a:extLst>
          </p:cNvPr>
          <p:cNvSpPr>
            <a:spLocks noGrp="1"/>
          </p:cNvSpPr>
          <p:nvPr>
            <p:ph idx="1"/>
          </p:nvPr>
        </p:nvSpPr>
        <p:spPr>
          <a:xfrm>
            <a:off x="107950" y="1196752"/>
            <a:ext cx="4860032" cy="4611687"/>
          </a:xfrm>
        </p:spPr>
        <p:txBody>
          <a:bodyPr/>
          <a:lstStyle/>
          <a:p>
            <a:pPr marL="0" indent="0">
              <a:buFontTx/>
              <a:buNone/>
            </a:pPr>
            <a:r>
              <a:rPr lang="en-US" altLang="zh-CN" sz="1800" kern="0" dirty="0">
                <a:latin typeface="Consolas" panose="020B0609020204030204" pitchFamily="49" charset="0"/>
              </a:rPr>
              <a:t>#include &lt;</a:t>
            </a:r>
            <a:r>
              <a:rPr lang="en-US" altLang="zh-CN" sz="1800" kern="0" dirty="0" err="1">
                <a:latin typeface="Consolas" panose="020B0609020204030204" pitchFamily="49" charset="0"/>
              </a:rPr>
              <a:t>stdio.h</a:t>
            </a:r>
            <a:r>
              <a:rPr lang="en-US" altLang="zh-CN" sz="1800" kern="0" dirty="0">
                <a:latin typeface="Consolas" panose="020B0609020204030204" pitchFamily="49" charset="0"/>
              </a:rPr>
              <a:t>&gt;</a:t>
            </a:r>
          </a:p>
          <a:p>
            <a:pPr marL="0" indent="0">
              <a:buFontTx/>
              <a:buNone/>
            </a:pPr>
            <a:r>
              <a:rPr lang="en-US" altLang="zh-CN" sz="1800" kern="0" dirty="0">
                <a:latin typeface="Consolas" panose="020B0609020204030204" pitchFamily="49" charset="0"/>
              </a:rPr>
              <a:t>#define SIZE 10</a:t>
            </a:r>
          </a:p>
          <a:p>
            <a:pPr marL="0" indent="0">
              <a:buFontTx/>
              <a:buNone/>
            </a:pPr>
            <a:r>
              <a:rPr lang="en-US" altLang="zh-CN" sz="1800" kern="0" dirty="0">
                <a:latin typeface="Consolas" panose="020B0609020204030204" pitchFamily="49" charset="0"/>
              </a:rPr>
              <a:t>void </a:t>
            </a:r>
            <a:r>
              <a:rPr lang="en-US" altLang="zh-CN" sz="1800" kern="0" dirty="0" err="1">
                <a:latin typeface="Consolas" panose="020B0609020204030204" pitchFamily="49" charset="0"/>
              </a:rPr>
              <a:t>printArray</a:t>
            </a:r>
            <a:r>
              <a:rPr lang="en-US" altLang="zh-CN" sz="1800" kern="0" dirty="0">
                <a:latin typeface="Consolas" panose="020B0609020204030204" pitchFamily="49" charset="0"/>
              </a:rPr>
              <a:t>(const int a[],int n);</a:t>
            </a:r>
          </a:p>
          <a:p>
            <a:pPr marL="0" indent="0">
              <a:buFontTx/>
              <a:buNone/>
            </a:pPr>
            <a:r>
              <a:rPr lang="en-US" altLang="zh-CN" sz="1800" kern="0" dirty="0">
                <a:latin typeface="Consolas" panose="020B0609020204030204" pitchFamily="49" charset="0"/>
              </a:rPr>
              <a:t>void </a:t>
            </a:r>
            <a:r>
              <a:rPr lang="en-US" altLang="zh-CN" sz="1800" kern="0" dirty="0" err="1">
                <a:latin typeface="Consolas" panose="020B0609020204030204" pitchFamily="49" charset="0"/>
              </a:rPr>
              <a:t>revserseSeq</a:t>
            </a:r>
            <a:r>
              <a:rPr lang="en-US" altLang="zh-CN" sz="1800" kern="0" dirty="0">
                <a:latin typeface="Consolas" panose="020B0609020204030204" pitchFamily="49" charset="0"/>
              </a:rPr>
              <a:t>(int a[], int n); </a:t>
            </a:r>
          </a:p>
          <a:p>
            <a:pPr marL="0" indent="0">
              <a:buFontTx/>
              <a:buNone/>
            </a:pPr>
            <a:r>
              <a:rPr lang="en-US" altLang="zh-CN" sz="1800" kern="0" dirty="0">
                <a:latin typeface="Consolas" panose="020B0609020204030204" pitchFamily="49" charset="0"/>
              </a:rPr>
              <a:t>int main()</a:t>
            </a:r>
          </a:p>
          <a:p>
            <a:pPr marL="0" indent="0">
              <a:buFontTx/>
              <a:buNone/>
            </a:pPr>
            <a:r>
              <a:rPr lang="en-US" altLang="zh-CN" sz="1800" kern="0" dirty="0">
                <a:latin typeface="Consolas" panose="020B0609020204030204" pitchFamily="49" charset="0"/>
              </a:rPr>
              <a:t>{</a:t>
            </a:r>
          </a:p>
          <a:p>
            <a:pPr marL="0" indent="0">
              <a:buFontTx/>
              <a:buNone/>
            </a:pPr>
            <a:r>
              <a:rPr lang="en-US" altLang="zh-CN" sz="1800" kern="0" dirty="0">
                <a:latin typeface="Consolas" panose="020B0609020204030204" pitchFamily="49" charset="0"/>
              </a:rPr>
              <a:t>   	int a[SIZE]={1,2,6,7,8,9,12,25,27,36};</a:t>
            </a:r>
          </a:p>
          <a:p>
            <a:pPr marL="0" indent="0">
              <a:buFontTx/>
              <a:buNone/>
            </a:pPr>
            <a:r>
              <a:rPr lang="en-US" altLang="zh-CN" sz="1800" kern="0" dirty="0">
                <a:latin typeface="Consolas" panose="020B0609020204030204" pitchFamily="49" charset="0"/>
              </a:rPr>
              <a:t>	</a:t>
            </a:r>
            <a:r>
              <a:rPr lang="en-US" altLang="zh-CN" sz="1800" kern="0" dirty="0" err="1">
                <a:latin typeface="Consolas" panose="020B0609020204030204" pitchFamily="49" charset="0"/>
              </a:rPr>
              <a:t>revserseSeq</a:t>
            </a:r>
            <a:r>
              <a:rPr lang="en-US" altLang="zh-CN" sz="1800" kern="0" dirty="0">
                <a:latin typeface="Consolas" panose="020B0609020204030204" pitchFamily="49" charset="0"/>
              </a:rPr>
              <a:t>(</a:t>
            </a:r>
            <a:r>
              <a:rPr lang="en-US" altLang="zh-CN" sz="1800" kern="0" dirty="0" err="1">
                <a:latin typeface="Consolas" panose="020B0609020204030204" pitchFamily="49" charset="0"/>
              </a:rPr>
              <a:t>a,SIZE</a:t>
            </a:r>
            <a:r>
              <a:rPr lang="en-US" altLang="zh-CN" sz="1800" kern="0" dirty="0">
                <a:latin typeface="Consolas" panose="020B0609020204030204" pitchFamily="49" charset="0"/>
              </a:rPr>
              <a:t>);</a:t>
            </a:r>
          </a:p>
          <a:p>
            <a:pPr marL="0" indent="0">
              <a:buFontTx/>
              <a:buNone/>
            </a:pPr>
            <a:r>
              <a:rPr lang="en-US" altLang="zh-CN" sz="1800" kern="0" dirty="0">
                <a:latin typeface="Consolas" panose="020B0609020204030204" pitchFamily="49" charset="0"/>
              </a:rPr>
              <a:t>   	</a:t>
            </a:r>
            <a:r>
              <a:rPr lang="en-US" altLang="zh-CN" sz="1800" kern="0" dirty="0" err="1">
                <a:latin typeface="Consolas" panose="020B0609020204030204" pitchFamily="49" charset="0"/>
              </a:rPr>
              <a:t>printArray</a:t>
            </a:r>
            <a:r>
              <a:rPr lang="en-US" altLang="zh-CN" sz="1800" kern="0" dirty="0">
                <a:latin typeface="Consolas" panose="020B0609020204030204" pitchFamily="49" charset="0"/>
              </a:rPr>
              <a:t>(</a:t>
            </a:r>
            <a:r>
              <a:rPr lang="en-US" altLang="zh-CN" sz="1800" kern="0" dirty="0" err="1">
                <a:latin typeface="Consolas" panose="020B0609020204030204" pitchFamily="49" charset="0"/>
              </a:rPr>
              <a:t>a,SIZE</a:t>
            </a:r>
            <a:r>
              <a:rPr lang="en-US" altLang="zh-CN" sz="1800" kern="0" dirty="0">
                <a:latin typeface="Consolas" panose="020B0609020204030204" pitchFamily="49" charset="0"/>
              </a:rPr>
              <a:t>); </a:t>
            </a:r>
          </a:p>
          <a:p>
            <a:pPr marL="0" indent="0">
              <a:buFontTx/>
              <a:buNone/>
            </a:pPr>
            <a:r>
              <a:rPr lang="en-US" altLang="zh-CN" sz="1800" kern="0" dirty="0">
                <a:latin typeface="Consolas" panose="020B0609020204030204" pitchFamily="49" charset="0"/>
              </a:rPr>
              <a:t>    </a:t>
            </a:r>
            <a:r>
              <a:rPr lang="zh-CN" altLang="en-US" sz="1800" kern="0" dirty="0">
                <a:latin typeface="Consolas" panose="020B0609020204030204" pitchFamily="49" charset="0"/>
              </a:rPr>
              <a:t> </a:t>
            </a:r>
            <a:r>
              <a:rPr lang="en-US" altLang="zh-CN" sz="1800" kern="0" dirty="0">
                <a:latin typeface="Consolas" panose="020B0609020204030204" pitchFamily="49" charset="0"/>
              </a:rPr>
              <a:t>return</a:t>
            </a:r>
            <a:r>
              <a:rPr lang="zh-CN" altLang="en-US" sz="1800" kern="0" dirty="0">
                <a:latin typeface="Consolas" panose="020B0609020204030204" pitchFamily="49" charset="0"/>
              </a:rPr>
              <a:t> </a:t>
            </a:r>
            <a:r>
              <a:rPr lang="en-US" altLang="zh-CN" sz="1800" kern="0" dirty="0">
                <a:latin typeface="Consolas" panose="020B0609020204030204" pitchFamily="49" charset="0"/>
              </a:rPr>
              <a:t>0;</a:t>
            </a:r>
          </a:p>
          <a:p>
            <a:pPr marL="0" indent="0">
              <a:buFontTx/>
              <a:buNone/>
            </a:pPr>
            <a:r>
              <a:rPr lang="en-US" altLang="zh-CN" sz="1800" kern="0" dirty="0">
                <a:latin typeface="Consolas" panose="020B0609020204030204" pitchFamily="49" charset="0"/>
              </a:rPr>
              <a:t>}</a:t>
            </a:r>
          </a:p>
          <a:p>
            <a:endParaRPr lang="zh-CN" altLang="en-US" sz="1800" dirty="0"/>
          </a:p>
        </p:txBody>
      </p:sp>
    </p:spTree>
    <p:extLst>
      <p:ext uri="{BB962C8B-B14F-4D97-AF65-F5344CB8AC3E}">
        <p14:creationId xmlns:p14="http://schemas.microsoft.com/office/powerpoint/2010/main" val="53440959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5">
            <a:extLst>
              <a:ext uri="{FF2B5EF4-FFF2-40B4-BE49-F238E27FC236}">
                <a16:creationId xmlns:a16="http://schemas.microsoft.com/office/drawing/2014/main" id="{54DBFA5A-A01A-49FB-844B-B6C6FCCC40D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83730654-EE89-4F63-81A5-B028D4701A06}" type="slidenum">
              <a:rPr lang="zh-CN" altLang="en-US" smtClean="0"/>
              <a:pPr/>
              <a:t>4</a:t>
            </a:fld>
            <a:endParaRPr lang="zh-CN" altLang="en-US"/>
          </a:p>
        </p:txBody>
      </p:sp>
      <p:grpSp>
        <p:nvGrpSpPr>
          <p:cNvPr id="8194" name="Group 79">
            <a:extLst>
              <a:ext uri="{FF2B5EF4-FFF2-40B4-BE49-F238E27FC236}">
                <a16:creationId xmlns:a16="http://schemas.microsoft.com/office/drawing/2014/main" id="{83D748CA-5279-4A5A-B974-24177385A773}"/>
              </a:ext>
            </a:extLst>
          </p:cNvPr>
          <p:cNvGrpSpPr>
            <a:grpSpLocks/>
          </p:cNvGrpSpPr>
          <p:nvPr/>
        </p:nvGrpSpPr>
        <p:grpSpPr bwMode="auto">
          <a:xfrm>
            <a:off x="623888" y="1143000"/>
            <a:ext cx="8215312" cy="5310187"/>
            <a:chOff x="393" y="720"/>
            <a:chExt cx="5175" cy="3504"/>
          </a:xfrm>
        </p:grpSpPr>
        <p:grpSp>
          <p:nvGrpSpPr>
            <p:cNvPr id="8195" name="Group 9">
              <a:extLst>
                <a:ext uri="{FF2B5EF4-FFF2-40B4-BE49-F238E27FC236}">
                  <a16:creationId xmlns:a16="http://schemas.microsoft.com/office/drawing/2014/main" id="{7535A2EC-52D1-46F9-A73D-502071AF4922}"/>
                </a:ext>
              </a:extLst>
            </p:cNvPr>
            <p:cNvGrpSpPr>
              <a:grpSpLocks/>
            </p:cNvGrpSpPr>
            <p:nvPr/>
          </p:nvGrpSpPr>
          <p:grpSpPr bwMode="auto">
            <a:xfrm>
              <a:off x="393" y="768"/>
              <a:ext cx="5175" cy="3456"/>
              <a:chOff x="432" y="192"/>
              <a:chExt cx="5040" cy="3936"/>
            </a:xfrm>
          </p:grpSpPr>
          <p:sp>
            <p:nvSpPr>
              <p:cNvPr id="8196" name="Rectangle 10">
                <a:extLst>
                  <a:ext uri="{FF2B5EF4-FFF2-40B4-BE49-F238E27FC236}">
                    <a16:creationId xmlns:a16="http://schemas.microsoft.com/office/drawing/2014/main" id="{10168AD7-37DC-43DD-9D0A-9700833910BA}"/>
                  </a:ext>
                </a:extLst>
              </p:cNvPr>
              <p:cNvSpPr>
                <a:spLocks noChangeArrowheads="1"/>
              </p:cNvSpPr>
              <p:nvPr/>
            </p:nvSpPr>
            <p:spPr bwMode="auto">
              <a:xfrm>
                <a:off x="432" y="192"/>
                <a:ext cx="5040" cy="3936"/>
              </a:xfrm>
              <a:prstGeom prst="rect">
                <a:avLst/>
              </a:prstGeom>
              <a:solidFill>
                <a:srgbClr val="FFFFCC"/>
              </a:solidFill>
              <a:ln w="38100">
                <a:solidFill>
                  <a:schemeClr val="bg2"/>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8197" name="Text Box 11">
                <a:extLst>
                  <a:ext uri="{FF2B5EF4-FFF2-40B4-BE49-F238E27FC236}">
                    <a16:creationId xmlns:a16="http://schemas.microsoft.com/office/drawing/2014/main" id="{68B4A15A-DD33-448C-ACCE-F25E26C4793C}"/>
                  </a:ext>
                </a:extLst>
              </p:cNvPr>
              <p:cNvSpPr txBox="1">
                <a:spLocks noChangeArrowheads="1"/>
              </p:cNvSpPr>
              <p:nvPr/>
            </p:nvSpPr>
            <p:spPr bwMode="auto">
              <a:xfrm>
                <a:off x="577" y="480"/>
                <a:ext cx="230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bg1"/>
                    </a:solidFill>
                    <a:latin typeface="宋体" panose="02010600030101010101" pitchFamily="2" charset="-122"/>
                  </a:rPr>
                  <a:t>  </a:t>
                </a:r>
                <a:r>
                  <a:rPr lang="en-US" altLang="zh-CN" sz="2400"/>
                  <a:t>int i; char ch; float f;</a:t>
                </a:r>
                <a:endParaRPr lang="en-US" altLang="zh-CN" sz="2400">
                  <a:solidFill>
                    <a:srgbClr val="660066"/>
                  </a:solidFill>
                </a:endParaRPr>
              </a:p>
            </p:txBody>
          </p:sp>
        </p:grpSp>
        <p:sp>
          <p:nvSpPr>
            <p:cNvPr id="8198" name="Text Box 56">
              <a:extLst>
                <a:ext uri="{FF2B5EF4-FFF2-40B4-BE49-F238E27FC236}">
                  <a16:creationId xmlns:a16="http://schemas.microsoft.com/office/drawing/2014/main" id="{37C6E8BA-24F4-4B6B-BE3E-85372F46BA44}"/>
                </a:ext>
              </a:extLst>
            </p:cNvPr>
            <p:cNvSpPr txBox="1">
              <a:spLocks noChangeArrowheads="1"/>
            </p:cNvSpPr>
            <p:nvPr/>
          </p:nvSpPr>
          <p:spPr bwMode="auto">
            <a:xfrm>
              <a:off x="480" y="720"/>
              <a:ext cx="18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t>一、变量的地址</a:t>
              </a:r>
              <a:endParaRPr lang="en-US" altLang="zh-CN" sz="2800" b="1"/>
            </a:p>
          </p:txBody>
        </p:sp>
      </p:grpSp>
      <p:sp>
        <p:nvSpPr>
          <p:cNvPr id="8199" name="Text Box 75">
            <a:extLst>
              <a:ext uri="{FF2B5EF4-FFF2-40B4-BE49-F238E27FC236}">
                <a16:creationId xmlns:a16="http://schemas.microsoft.com/office/drawing/2014/main" id="{8FF3FEFB-A9F7-4F94-9DBA-C28E36F100A4}"/>
              </a:ext>
            </a:extLst>
          </p:cNvPr>
          <p:cNvSpPr txBox="1">
            <a:spLocks noChangeArrowheads="1"/>
          </p:cNvSpPr>
          <p:nvPr/>
        </p:nvSpPr>
        <p:spPr bwMode="auto">
          <a:xfrm>
            <a:off x="1042988" y="2205038"/>
            <a:ext cx="30480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sz="2400" b="1"/>
          </a:p>
          <a:p>
            <a:r>
              <a:rPr lang="zh-CN" altLang="en-US" sz="2400" b="1"/>
              <a:t>变量被保存在内存中，因此有地址。</a:t>
            </a:r>
            <a:endParaRPr lang="zh-CN" altLang="en-US" sz="2400" b="1">
              <a:solidFill>
                <a:schemeClr val="accent2"/>
              </a:solidFill>
            </a:endParaRPr>
          </a:p>
          <a:p>
            <a:pPr algn="just">
              <a:spcBef>
                <a:spcPct val="20000"/>
              </a:spcBef>
            </a:pPr>
            <a:r>
              <a:rPr lang="zh-CN" altLang="en-US" sz="2400" b="1">
                <a:solidFill>
                  <a:schemeClr val="accent2"/>
                </a:solidFill>
              </a:rPr>
              <a:t>变量地址──系统分配给变量的内存单元的起始地址</a:t>
            </a:r>
          </a:p>
          <a:p>
            <a:pPr algn="just">
              <a:spcBef>
                <a:spcPct val="20000"/>
              </a:spcBef>
            </a:pPr>
            <a:r>
              <a:rPr lang="zh-CN" altLang="en-US" sz="2400" b="1"/>
              <a:t>如：</a:t>
            </a:r>
            <a:r>
              <a:rPr lang="en-US" altLang="zh-CN" sz="2400" b="1"/>
              <a:t>i</a:t>
            </a:r>
            <a:r>
              <a:rPr lang="zh-CN" altLang="en-US" sz="2400" b="1"/>
              <a:t>的地址是2002</a:t>
            </a:r>
          </a:p>
        </p:txBody>
      </p:sp>
      <p:sp>
        <p:nvSpPr>
          <p:cNvPr id="8200" name="Text Box 77">
            <a:extLst>
              <a:ext uri="{FF2B5EF4-FFF2-40B4-BE49-F238E27FC236}">
                <a16:creationId xmlns:a16="http://schemas.microsoft.com/office/drawing/2014/main" id="{9D8C46B8-AF66-4807-93EE-D18A96784E4B}"/>
              </a:ext>
            </a:extLst>
          </p:cNvPr>
          <p:cNvSpPr txBox="1">
            <a:spLocks noChangeArrowheads="1"/>
          </p:cNvSpPr>
          <p:nvPr/>
        </p:nvSpPr>
        <p:spPr bwMode="auto">
          <a:xfrm>
            <a:off x="1187450" y="20605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a:t>i=3; ch=’H’; f=3.14;</a:t>
            </a:r>
            <a:r>
              <a:rPr lang="en-US" altLang="zh-CN" sz="2400">
                <a:solidFill>
                  <a:srgbClr val="660066"/>
                </a:solidFill>
              </a:rPr>
              <a:t> </a:t>
            </a:r>
            <a:endParaRPr lang="zh-CN" altLang="en-US" sz="2400"/>
          </a:p>
        </p:txBody>
      </p:sp>
      <p:grpSp>
        <p:nvGrpSpPr>
          <p:cNvPr id="8201" name="Group 26">
            <a:extLst>
              <a:ext uri="{FF2B5EF4-FFF2-40B4-BE49-F238E27FC236}">
                <a16:creationId xmlns:a16="http://schemas.microsoft.com/office/drawing/2014/main" id="{95FB7C9A-C94D-4CA9-B414-D0BE56EEFB8B}"/>
              </a:ext>
            </a:extLst>
          </p:cNvPr>
          <p:cNvGrpSpPr>
            <a:grpSpLocks/>
          </p:cNvGrpSpPr>
          <p:nvPr/>
        </p:nvGrpSpPr>
        <p:grpSpPr bwMode="auto">
          <a:xfrm>
            <a:off x="4624218" y="2254250"/>
            <a:ext cx="2744957" cy="3444875"/>
            <a:chOff x="2732" y="912"/>
            <a:chExt cx="1684" cy="2471"/>
          </a:xfrm>
        </p:grpSpPr>
        <p:sp>
          <p:nvSpPr>
            <p:cNvPr id="8202" name="Text Box 27">
              <a:extLst>
                <a:ext uri="{FF2B5EF4-FFF2-40B4-BE49-F238E27FC236}">
                  <a16:creationId xmlns:a16="http://schemas.microsoft.com/office/drawing/2014/main" id="{D83B4B1F-01A5-4C45-BD03-2883FD032358}"/>
                </a:ext>
              </a:extLst>
            </p:cNvPr>
            <p:cNvSpPr txBox="1">
              <a:spLocks noChangeArrowheads="1"/>
            </p:cNvSpPr>
            <p:nvPr/>
          </p:nvSpPr>
          <p:spPr bwMode="auto">
            <a:xfrm>
              <a:off x="3648" y="912"/>
              <a:ext cx="76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Arial" panose="020B0604020202020204" pitchFamily="34" charset="0"/>
                </a:rPr>
                <a:t>…………</a:t>
              </a:r>
              <a:endParaRPr lang="zh-CN" altLang="en-US" b="1">
                <a:latin typeface="Comic Sans MS" panose="030F0702030302020204" pitchFamily="66" charset="0"/>
              </a:endParaRPr>
            </a:p>
          </p:txBody>
        </p:sp>
        <p:sp>
          <p:nvSpPr>
            <p:cNvPr id="8203" name="Text Box 28">
              <a:extLst>
                <a:ext uri="{FF2B5EF4-FFF2-40B4-BE49-F238E27FC236}">
                  <a16:creationId xmlns:a16="http://schemas.microsoft.com/office/drawing/2014/main" id="{AE351624-64A5-498B-AF71-141F0E76BCB8}"/>
                </a:ext>
              </a:extLst>
            </p:cNvPr>
            <p:cNvSpPr txBox="1">
              <a:spLocks noChangeArrowheads="1"/>
            </p:cNvSpPr>
            <p:nvPr/>
          </p:nvSpPr>
          <p:spPr bwMode="auto">
            <a:xfrm>
              <a:off x="3600" y="3120"/>
              <a:ext cx="76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Arial" panose="020B0604020202020204" pitchFamily="34" charset="0"/>
                </a:rPr>
                <a:t>…………</a:t>
              </a:r>
              <a:endParaRPr lang="zh-CN" altLang="en-US" b="1">
                <a:latin typeface="Comic Sans MS" panose="030F0702030302020204" pitchFamily="66" charset="0"/>
              </a:endParaRPr>
            </a:p>
          </p:txBody>
        </p:sp>
        <p:sp>
          <p:nvSpPr>
            <p:cNvPr id="8204" name="Text Box 29">
              <a:extLst>
                <a:ext uri="{FF2B5EF4-FFF2-40B4-BE49-F238E27FC236}">
                  <a16:creationId xmlns:a16="http://schemas.microsoft.com/office/drawing/2014/main" id="{8613B0C9-EA2C-4F19-A99A-D3116C8EB4EE}"/>
                </a:ext>
              </a:extLst>
            </p:cNvPr>
            <p:cNvSpPr txBox="1">
              <a:spLocks noChangeArrowheads="1"/>
            </p:cNvSpPr>
            <p:nvPr/>
          </p:nvSpPr>
          <p:spPr bwMode="auto">
            <a:xfrm>
              <a:off x="2736" y="1199"/>
              <a:ext cx="5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zh-CN" altLang="en-US" sz="2400"/>
            </a:p>
          </p:txBody>
        </p:sp>
        <p:sp>
          <p:nvSpPr>
            <p:cNvPr id="8205" name="Text Box 30">
              <a:extLst>
                <a:ext uri="{FF2B5EF4-FFF2-40B4-BE49-F238E27FC236}">
                  <a16:creationId xmlns:a16="http://schemas.microsoft.com/office/drawing/2014/main" id="{55D7ACC9-F3EF-4868-8335-7C265338C197}"/>
                </a:ext>
              </a:extLst>
            </p:cNvPr>
            <p:cNvSpPr txBox="1">
              <a:spLocks noChangeArrowheads="1"/>
            </p:cNvSpPr>
            <p:nvPr/>
          </p:nvSpPr>
          <p:spPr bwMode="auto">
            <a:xfrm>
              <a:off x="2732" y="1183"/>
              <a:ext cx="5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dirty="0"/>
                <a:t>2002</a:t>
              </a:r>
            </a:p>
          </p:txBody>
        </p:sp>
        <p:sp>
          <p:nvSpPr>
            <p:cNvPr id="8206" name="Text Box 31">
              <a:extLst>
                <a:ext uri="{FF2B5EF4-FFF2-40B4-BE49-F238E27FC236}">
                  <a16:creationId xmlns:a16="http://schemas.microsoft.com/office/drawing/2014/main" id="{BF4FB2CA-5904-4186-8607-4BA0446D160D}"/>
                </a:ext>
              </a:extLst>
            </p:cNvPr>
            <p:cNvSpPr txBox="1">
              <a:spLocks noChangeArrowheads="1"/>
            </p:cNvSpPr>
            <p:nvPr/>
          </p:nvSpPr>
          <p:spPr bwMode="auto">
            <a:xfrm>
              <a:off x="2736" y="1969"/>
              <a:ext cx="52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dirty="0"/>
                <a:t>200</a:t>
              </a:r>
              <a:r>
                <a:rPr lang="en-US" altLang="zh-CN" sz="2400" dirty="0"/>
                <a:t>6</a:t>
              </a:r>
              <a:endParaRPr lang="zh-CN" altLang="en-US" sz="2400" dirty="0"/>
            </a:p>
          </p:txBody>
        </p:sp>
        <p:sp>
          <p:nvSpPr>
            <p:cNvPr id="8207" name="Text Box 32">
              <a:extLst>
                <a:ext uri="{FF2B5EF4-FFF2-40B4-BE49-F238E27FC236}">
                  <a16:creationId xmlns:a16="http://schemas.microsoft.com/office/drawing/2014/main" id="{5B64B4F6-BD46-4493-A391-F4C61D19E429}"/>
                </a:ext>
              </a:extLst>
            </p:cNvPr>
            <p:cNvSpPr txBox="1">
              <a:spLocks noChangeArrowheads="1"/>
            </p:cNvSpPr>
            <p:nvPr/>
          </p:nvSpPr>
          <p:spPr bwMode="auto">
            <a:xfrm>
              <a:off x="2736" y="2160"/>
              <a:ext cx="52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dirty="0"/>
                <a:t>200</a:t>
              </a:r>
              <a:r>
                <a:rPr lang="en-US" altLang="zh-CN" sz="2400" dirty="0"/>
                <a:t>7</a:t>
              </a:r>
              <a:endParaRPr lang="zh-CN" altLang="en-US" sz="2400" dirty="0"/>
            </a:p>
          </p:txBody>
        </p:sp>
        <p:sp>
          <p:nvSpPr>
            <p:cNvPr id="8208" name="Text Box 33">
              <a:extLst>
                <a:ext uri="{FF2B5EF4-FFF2-40B4-BE49-F238E27FC236}">
                  <a16:creationId xmlns:a16="http://schemas.microsoft.com/office/drawing/2014/main" id="{925F56DE-0B98-457F-838C-426251615E18}"/>
                </a:ext>
              </a:extLst>
            </p:cNvPr>
            <p:cNvSpPr txBox="1">
              <a:spLocks noChangeArrowheads="1"/>
            </p:cNvSpPr>
            <p:nvPr/>
          </p:nvSpPr>
          <p:spPr bwMode="auto">
            <a:xfrm>
              <a:off x="2736" y="2929"/>
              <a:ext cx="5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zh-CN" altLang="en-US" sz="2400"/>
            </a:p>
          </p:txBody>
        </p:sp>
        <p:sp>
          <p:nvSpPr>
            <p:cNvPr id="8209" name="Text Box 34">
              <a:extLst>
                <a:ext uri="{FF2B5EF4-FFF2-40B4-BE49-F238E27FC236}">
                  <a16:creationId xmlns:a16="http://schemas.microsoft.com/office/drawing/2014/main" id="{5221C0F1-089A-4772-AC25-1B43FD658A6D}"/>
                </a:ext>
              </a:extLst>
            </p:cNvPr>
            <p:cNvSpPr txBox="1">
              <a:spLocks noChangeArrowheads="1"/>
            </p:cNvSpPr>
            <p:nvPr/>
          </p:nvSpPr>
          <p:spPr bwMode="auto">
            <a:xfrm>
              <a:off x="2736" y="1391"/>
              <a:ext cx="52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zh-CN" altLang="en-US" sz="2400"/>
            </a:p>
          </p:txBody>
        </p:sp>
        <p:sp>
          <p:nvSpPr>
            <p:cNvPr id="8213" name="Text Box 38">
              <a:extLst>
                <a:ext uri="{FF2B5EF4-FFF2-40B4-BE49-F238E27FC236}">
                  <a16:creationId xmlns:a16="http://schemas.microsoft.com/office/drawing/2014/main" id="{D920F8D4-C116-4CE0-8D25-2542530D8CE5}"/>
                </a:ext>
              </a:extLst>
            </p:cNvPr>
            <p:cNvSpPr txBox="1">
              <a:spLocks noChangeArrowheads="1"/>
            </p:cNvSpPr>
            <p:nvPr/>
          </p:nvSpPr>
          <p:spPr bwMode="auto">
            <a:xfrm>
              <a:off x="2736" y="2736"/>
              <a:ext cx="57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dirty="0"/>
                <a:t>200</a:t>
              </a:r>
              <a:r>
                <a:rPr lang="en-US" altLang="zh-CN" sz="2400" dirty="0"/>
                <a:t>A</a:t>
              </a:r>
              <a:endParaRPr lang="zh-CN" altLang="en-US" sz="2400" dirty="0"/>
            </a:p>
          </p:txBody>
        </p:sp>
      </p:grpSp>
      <p:sp>
        <p:nvSpPr>
          <p:cNvPr id="8214" name="Rectangle 13">
            <a:extLst>
              <a:ext uri="{FF2B5EF4-FFF2-40B4-BE49-F238E27FC236}">
                <a16:creationId xmlns:a16="http://schemas.microsoft.com/office/drawing/2014/main" id="{D2AB9956-8271-4CCB-AF3D-B98E00C5012C}"/>
              </a:ext>
            </a:extLst>
          </p:cNvPr>
          <p:cNvSpPr>
            <a:spLocks noChangeArrowheads="1"/>
          </p:cNvSpPr>
          <p:nvPr/>
        </p:nvSpPr>
        <p:spPr bwMode="auto">
          <a:xfrm>
            <a:off x="5429250" y="2174875"/>
            <a:ext cx="2439988" cy="3748088"/>
          </a:xfrm>
          <a:prstGeom prst="rect">
            <a:avLst/>
          </a:prstGeom>
          <a:solidFill>
            <a:srgbClr val="CCFFCC"/>
          </a:solidFill>
          <a:ln w="28575">
            <a:solidFill>
              <a:schemeClr val="tx1"/>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zh-CN" altLang="en-US" b="1">
              <a:solidFill>
                <a:srgbClr val="FF0000"/>
              </a:solidFill>
            </a:endParaRPr>
          </a:p>
        </p:txBody>
      </p:sp>
      <p:grpSp>
        <p:nvGrpSpPr>
          <p:cNvPr id="8215" name="Group 65">
            <a:extLst>
              <a:ext uri="{FF2B5EF4-FFF2-40B4-BE49-F238E27FC236}">
                <a16:creationId xmlns:a16="http://schemas.microsoft.com/office/drawing/2014/main" id="{FE87850A-EAFF-4005-B3EF-81FB93BC7748}"/>
              </a:ext>
            </a:extLst>
          </p:cNvPr>
          <p:cNvGrpSpPr>
            <a:grpSpLocks/>
          </p:cNvGrpSpPr>
          <p:nvPr/>
        </p:nvGrpSpPr>
        <p:grpSpPr bwMode="auto">
          <a:xfrm>
            <a:off x="5437188" y="1422400"/>
            <a:ext cx="2447925" cy="3735388"/>
            <a:chOff x="3292" y="894"/>
            <a:chExt cx="1542" cy="2353"/>
          </a:xfrm>
        </p:grpSpPr>
        <p:sp>
          <p:nvSpPr>
            <p:cNvPr id="8216" name="Line 14">
              <a:extLst>
                <a:ext uri="{FF2B5EF4-FFF2-40B4-BE49-F238E27FC236}">
                  <a16:creationId xmlns:a16="http://schemas.microsoft.com/office/drawing/2014/main" id="{76B62B89-3363-48E5-8AD7-F93C915B6ECB}"/>
                </a:ext>
              </a:extLst>
            </p:cNvPr>
            <p:cNvSpPr>
              <a:spLocks noChangeShapeType="1"/>
            </p:cNvSpPr>
            <p:nvPr/>
          </p:nvSpPr>
          <p:spPr bwMode="auto">
            <a:xfrm>
              <a:off x="3301" y="2572"/>
              <a:ext cx="1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AutoShape 16">
              <a:extLst>
                <a:ext uri="{FF2B5EF4-FFF2-40B4-BE49-F238E27FC236}">
                  <a16:creationId xmlns:a16="http://schemas.microsoft.com/office/drawing/2014/main" id="{3FAB0EFD-C33A-498C-AF68-AD20B570F5EF}"/>
                </a:ext>
              </a:extLst>
            </p:cNvPr>
            <p:cNvSpPr>
              <a:spLocks noChangeArrowheads="1"/>
            </p:cNvSpPr>
            <p:nvPr/>
          </p:nvSpPr>
          <p:spPr bwMode="auto">
            <a:xfrm rot="10790456">
              <a:off x="3306" y="894"/>
              <a:ext cx="1528" cy="506"/>
            </a:xfrm>
            <a:prstGeom prst="flowChartDocument">
              <a:avLst/>
            </a:prstGeom>
            <a:solidFill>
              <a:srgbClr val="CCFFCC"/>
            </a:solidFill>
            <a:ln w="28575">
              <a:solidFill>
                <a:schemeClr val="tx1"/>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8218" name="Line 18">
              <a:extLst>
                <a:ext uri="{FF2B5EF4-FFF2-40B4-BE49-F238E27FC236}">
                  <a16:creationId xmlns:a16="http://schemas.microsoft.com/office/drawing/2014/main" id="{6079B0ED-F346-4984-85C9-2DCA992332A1}"/>
                </a:ext>
              </a:extLst>
            </p:cNvPr>
            <p:cNvSpPr>
              <a:spLocks noChangeShapeType="1"/>
            </p:cNvSpPr>
            <p:nvPr/>
          </p:nvSpPr>
          <p:spPr bwMode="auto">
            <a:xfrm>
              <a:off x="3292" y="1729"/>
              <a:ext cx="1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22">
              <a:extLst>
                <a:ext uri="{FF2B5EF4-FFF2-40B4-BE49-F238E27FC236}">
                  <a16:creationId xmlns:a16="http://schemas.microsoft.com/office/drawing/2014/main" id="{DC8848BB-4932-4AE4-9589-1B1D8E56F659}"/>
                </a:ext>
              </a:extLst>
            </p:cNvPr>
            <p:cNvSpPr>
              <a:spLocks noChangeShapeType="1"/>
            </p:cNvSpPr>
            <p:nvPr/>
          </p:nvSpPr>
          <p:spPr bwMode="auto">
            <a:xfrm>
              <a:off x="3292" y="2404"/>
              <a:ext cx="1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25">
              <a:extLst>
                <a:ext uri="{FF2B5EF4-FFF2-40B4-BE49-F238E27FC236}">
                  <a16:creationId xmlns:a16="http://schemas.microsoft.com/office/drawing/2014/main" id="{AB822C36-A18E-4D60-8F4A-73E694035F5F}"/>
                </a:ext>
              </a:extLst>
            </p:cNvPr>
            <p:cNvSpPr>
              <a:spLocks noChangeShapeType="1"/>
            </p:cNvSpPr>
            <p:nvPr/>
          </p:nvSpPr>
          <p:spPr bwMode="auto">
            <a:xfrm>
              <a:off x="3292" y="3247"/>
              <a:ext cx="1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22" name="Group 51">
            <a:extLst>
              <a:ext uri="{FF2B5EF4-FFF2-40B4-BE49-F238E27FC236}">
                <a16:creationId xmlns:a16="http://schemas.microsoft.com/office/drawing/2014/main" id="{B09F5F30-A93F-441B-9AE8-569196452094}"/>
              </a:ext>
            </a:extLst>
          </p:cNvPr>
          <p:cNvGrpSpPr>
            <a:grpSpLocks/>
          </p:cNvGrpSpPr>
          <p:nvPr/>
        </p:nvGrpSpPr>
        <p:grpSpPr bwMode="auto">
          <a:xfrm>
            <a:off x="7945438" y="2708275"/>
            <a:ext cx="533400" cy="2081213"/>
            <a:chOff x="3360" y="1296"/>
            <a:chExt cx="336" cy="1476"/>
          </a:xfrm>
        </p:grpSpPr>
        <p:sp>
          <p:nvSpPr>
            <p:cNvPr id="8223" name="Text Box 52">
              <a:extLst>
                <a:ext uri="{FF2B5EF4-FFF2-40B4-BE49-F238E27FC236}">
                  <a16:creationId xmlns:a16="http://schemas.microsoft.com/office/drawing/2014/main" id="{330ADC8F-17B5-4090-9FA5-B3DE655FE98C}"/>
                </a:ext>
              </a:extLst>
            </p:cNvPr>
            <p:cNvSpPr txBox="1">
              <a:spLocks noChangeArrowheads="1"/>
            </p:cNvSpPr>
            <p:nvPr/>
          </p:nvSpPr>
          <p:spPr bwMode="auto">
            <a:xfrm>
              <a:off x="3408" y="1296"/>
              <a:ext cx="19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2400">
                <a:solidFill>
                  <a:srgbClr val="0000FF"/>
                </a:solidFill>
              </a:endParaRPr>
            </a:p>
          </p:txBody>
        </p:sp>
        <p:sp>
          <p:nvSpPr>
            <p:cNvPr id="8224" name="Text Box 53">
              <a:extLst>
                <a:ext uri="{FF2B5EF4-FFF2-40B4-BE49-F238E27FC236}">
                  <a16:creationId xmlns:a16="http://schemas.microsoft.com/office/drawing/2014/main" id="{C1C09A93-8CE2-40F9-B9A1-170118872489}"/>
                </a:ext>
              </a:extLst>
            </p:cNvPr>
            <p:cNvSpPr txBox="1">
              <a:spLocks noChangeArrowheads="1"/>
            </p:cNvSpPr>
            <p:nvPr/>
          </p:nvSpPr>
          <p:spPr bwMode="auto">
            <a:xfrm>
              <a:off x="3408" y="1680"/>
              <a:ext cx="19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a:solidFill>
                    <a:srgbClr val="0000FF"/>
                  </a:solidFill>
                </a:rPr>
                <a:t>i</a:t>
              </a:r>
            </a:p>
          </p:txBody>
        </p:sp>
        <p:sp>
          <p:nvSpPr>
            <p:cNvPr id="8225" name="Text Box 54">
              <a:extLst>
                <a:ext uri="{FF2B5EF4-FFF2-40B4-BE49-F238E27FC236}">
                  <a16:creationId xmlns:a16="http://schemas.microsoft.com/office/drawing/2014/main" id="{E1840EBA-76A4-427F-82DD-EE82F721F832}"/>
                </a:ext>
              </a:extLst>
            </p:cNvPr>
            <p:cNvSpPr txBox="1">
              <a:spLocks noChangeArrowheads="1"/>
            </p:cNvSpPr>
            <p:nvPr/>
          </p:nvSpPr>
          <p:spPr bwMode="auto">
            <a:xfrm>
              <a:off x="3360" y="1968"/>
              <a:ext cx="33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a:solidFill>
                    <a:srgbClr val="0000FF"/>
                  </a:solidFill>
                </a:rPr>
                <a:t>ch</a:t>
              </a:r>
            </a:p>
          </p:txBody>
        </p:sp>
        <p:sp>
          <p:nvSpPr>
            <p:cNvPr id="8226" name="Text Box 55">
              <a:extLst>
                <a:ext uri="{FF2B5EF4-FFF2-40B4-BE49-F238E27FC236}">
                  <a16:creationId xmlns:a16="http://schemas.microsoft.com/office/drawing/2014/main" id="{0A480710-0DC2-4F2E-BFE8-BAA6650B7900}"/>
                </a:ext>
              </a:extLst>
            </p:cNvPr>
            <p:cNvSpPr txBox="1">
              <a:spLocks noChangeArrowheads="1"/>
            </p:cNvSpPr>
            <p:nvPr/>
          </p:nvSpPr>
          <p:spPr bwMode="auto">
            <a:xfrm>
              <a:off x="3408" y="2448"/>
              <a:ext cx="19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a:solidFill>
                    <a:srgbClr val="0000FF"/>
                  </a:solidFill>
                </a:rPr>
                <a:t>f</a:t>
              </a:r>
            </a:p>
          </p:txBody>
        </p:sp>
      </p:grpSp>
      <p:sp>
        <p:nvSpPr>
          <p:cNvPr id="8227" name="AutoShape 60">
            <a:extLst>
              <a:ext uri="{FF2B5EF4-FFF2-40B4-BE49-F238E27FC236}">
                <a16:creationId xmlns:a16="http://schemas.microsoft.com/office/drawing/2014/main" id="{881C2DCC-D40F-423F-BAC1-61E06E9C2FF5}"/>
              </a:ext>
            </a:extLst>
          </p:cNvPr>
          <p:cNvSpPr>
            <a:spLocks/>
          </p:cNvSpPr>
          <p:nvPr/>
        </p:nvSpPr>
        <p:spPr bwMode="auto">
          <a:xfrm>
            <a:off x="7848600" y="4079875"/>
            <a:ext cx="152400" cy="990600"/>
          </a:xfrm>
          <a:prstGeom prst="rightBrace">
            <a:avLst>
              <a:gd name="adj1" fmla="val 5362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8228" name="AutoShape 61">
            <a:extLst>
              <a:ext uri="{FF2B5EF4-FFF2-40B4-BE49-F238E27FC236}">
                <a16:creationId xmlns:a16="http://schemas.microsoft.com/office/drawing/2014/main" id="{1C1A670E-9E3C-473B-B33C-2722966B5FC8}"/>
              </a:ext>
            </a:extLst>
          </p:cNvPr>
          <p:cNvSpPr>
            <a:spLocks/>
          </p:cNvSpPr>
          <p:nvPr/>
        </p:nvSpPr>
        <p:spPr bwMode="auto">
          <a:xfrm>
            <a:off x="7848600" y="3241675"/>
            <a:ext cx="152400" cy="533400"/>
          </a:xfrm>
          <a:prstGeom prst="rightBrace">
            <a:avLst>
              <a:gd name="adj1" fmla="val 2887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8229" name="Line 82">
            <a:extLst>
              <a:ext uri="{FF2B5EF4-FFF2-40B4-BE49-F238E27FC236}">
                <a16:creationId xmlns:a16="http://schemas.microsoft.com/office/drawing/2014/main" id="{A05DB7C6-BDEA-4278-B16E-6D6FC7274804}"/>
              </a:ext>
            </a:extLst>
          </p:cNvPr>
          <p:cNvSpPr>
            <a:spLocks noChangeShapeType="1"/>
          </p:cNvSpPr>
          <p:nvPr/>
        </p:nvSpPr>
        <p:spPr bwMode="auto">
          <a:xfrm>
            <a:off x="5422900" y="4572000"/>
            <a:ext cx="24257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 name="Line 83">
            <a:extLst>
              <a:ext uri="{FF2B5EF4-FFF2-40B4-BE49-F238E27FC236}">
                <a16:creationId xmlns:a16="http://schemas.microsoft.com/office/drawing/2014/main" id="{DF27F2DE-C28B-4CE6-BE37-DE2D2B08B387}"/>
              </a:ext>
            </a:extLst>
          </p:cNvPr>
          <p:cNvSpPr>
            <a:spLocks noChangeShapeType="1"/>
          </p:cNvSpPr>
          <p:nvPr/>
        </p:nvSpPr>
        <p:spPr bwMode="auto">
          <a:xfrm>
            <a:off x="5422900" y="2965450"/>
            <a:ext cx="24257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 name="Line 84">
            <a:extLst>
              <a:ext uri="{FF2B5EF4-FFF2-40B4-BE49-F238E27FC236}">
                <a16:creationId xmlns:a16="http://schemas.microsoft.com/office/drawing/2014/main" id="{531297AB-F8A0-499C-BE66-77145B850650}"/>
              </a:ext>
            </a:extLst>
          </p:cNvPr>
          <p:cNvSpPr>
            <a:spLocks noChangeShapeType="1"/>
          </p:cNvSpPr>
          <p:nvPr/>
        </p:nvSpPr>
        <p:spPr bwMode="auto">
          <a:xfrm>
            <a:off x="5422900" y="3500438"/>
            <a:ext cx="24257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 name="Line 85">
            <a:extLst>
              <a:ext uri="{FF2B5EF4-FFF2-40B4-BE49-F238E27FC236}">
                <a16:creationId xmlns:a16="http://schemas.microsoft.com/office/drawing/2014/main" id="{0BBF0E3F-BE91-422B-87B1-3D078CC617D2}"/>
              </a:ext>
            </a:extLst>
          </p:cNvPr>
          <p:cNvSpPr>
            <a:spLocks noChangeShapeType="1"/>
          </p:cNvSpPr>
          <p:nvPr/>
        </p:nvSpPr>
        <p:spPr bwMode="auto">
          <a:xfrm>
            <a:off x="5422900" y="4303713"/>
            <a:ext cx="24257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 name="Line 86">
            <a:extLst>
              <a:ext uri="{FF2B5EF4-FFF2-40B4-BE49-F238E27FC236}">
                <a16:creationId xmlns:a16="http://schemas.microsoft.com/office/drawing/2014/main" id="{5B6D2992-B202-4F2C-84CA-B5E5F13E123D}"/>
              </a:ext>
            </a:extLst>
          </p:cNvPr>
          <p:cNvSpPr>
            <a:spLocks noChangeShapeType="1"/>
          </p:cNvSpPr>
          <p:nvPr/>
        </p:nvSpPr>
        <p:spPr bwMode="auto">
          <a:xfrm>
            <a:off x="5422900" y="4838700"/>
            <a:ext cx="24257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34" name="Group 87">
            <a:extLst>
              <a:ext uri="{FF2B5EF4-FFF2-40B4-BE49-F238E27FC236}">
                <a16:creationId xmlns:a16="http://schemas.microsoft.com/office/drawing/2014/main" id="{D835701C-F20E-40DF-84D9-8470F23E8F4E}"/>
              </a:ext>
            </a:extLst>
          </p:cNvPr>
          <p:cNvGrpSpPr>
            <a:grpSpLocks/>
          </p:cNvGrpSpPr>
          <p:nvPr/>
        </p:nvGrpSpPr>
        <p:grpSpPr bwMode="auto">
          <a:xfrm>
            <a:off x="6216650" y="2819400"/>
            <a:ext cx="838200" cy="2017713"/>
            <a:chOff x="3936" y="1305"/>
            <a:chExt cx="528" cy="1423"/>
          </a:xfrm>
        </p:grpSpPr>
        <p:sp>
          <p:nvSpPr>
            <p:cNvPr id="8235" name="Text Box 88">
              <a:extLst>
                <a:ext uri="{FF2B5EF4-FFF2-40B4-BE49-F238E27FC236}">
                  <a16:creationId xmlns:a16="http://schemas.microsoft.com/office/drawing/2014/main" id="{3F020280-98CE-4BAE-A943-2390E0C5FB9B}"/>
                </a:ext>
              </a:extLst>
            </p:cNvPr>
            <p:cNvSpPr txBox="1">
              <a:spLocks noChangeArrowheads="1"/>
            </p:cNvSpPr>
            <p:nvPr/>
          </p:nvSpPr>
          <p:spPr bwMode="auto">
            <a:xfrm>
              <a:off x="4032" y="1305"/>
              <a:ext cx="33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zh-CN" altLang="en-US" sz="2800" b="1">
                <a:solidFill>
                  <a:srgbClr val="660066"/>
                </a:solidFill>
              </a:endParaRPr>
            </a:p>
          </p:txBody>
        </p:sp>
        <p:sp>
          <p:nvSpPr>
            <p:cNvPr id="8236" name="Text Box 89">
              <a:extLst>
                <a:ext uri="{FF2B5EF4-FFF2-40B4-BE49-F238E27FC236}">
                  <a16:creationId xmlns:a16="http://schemas.microsoft.com/office/drawing/2014/main" id="{B140D09F-FB9E-4E1C-A6BB-F8B2624F663A}"/>
                </a:ext>
              </a:extLst>
            </p:cNvPr>
            <p:cNvSpPr txBox="1">
              <a:spLocks noChangeArrowheads="1"/>
            </p:cNvSpPr>
            <p:nvPr/>
          </p:nvSpPr>
          <p:spPr bwMode="auto">
            <a:xfrm>
              <a:off x="4032" y="1760"/>
              <a:ext cx="33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dirty="0">
                  <a:solidFill>
                    <a:srgbClr val="660066"/>
                  </a:solidFill>
                </a:rPr>
                <a:t>3</a:t>
              </a:r>
            </a:p>
          </p:txBody>
        </p:sp>
        <p:sp>
          <p:nvSpPr>
            <p:cNvPr id="8237" name="Text Box 90">
              <a:extLst>
                <a:ext uri="{FF2B5EF4-FFF2-40B4-BE49-F238E27FC236}">
                  <a16:creationId xmlns:a16="http://schemas.microsoft.com/office/drawing/2014/main" id="{111D551B-B1AE-4619-A5ED-B2843756D6C7}"/>
                </a:ext>
              </a:extLst>
            </p:cNvPr>
            <p:cNvSpPr txBox="1">
              <a:spLocks noChangeArrowheads="1"/>
            </p:cNvSpPr>
            <p:nvPr/>
          </p:nvSpPr>
          <p:spPr bwMode="auto">
            <a:xfrm>
              <a:off x="3936" y="1950"/>
              <a:ext cx="43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solidFill>
                    <a:srgbClr val="660066"/>
                  </a:solidFill>
                </a:rPr>
                <a:t>‘</a:t>
              </a:r>
              <a:r>
                <a:rPr lang="en-US" altLang="zh-CN" sz="2000" b="1">
                  <a:solidFill>
                    <a:srgbClr val="660066"/>
                  </a:solidFill>
                </a:rPr>
                <a:t>H’</a:t>
              </a:r>
            </a:p>
          </p:txBody>
        </p:sp>
        <p:sp>
          <p:nvSpPr>
            <p:cNvPr id="8238" name="Text Box 91">
              <a:extLst>
                <a:ext uri="{FF2B5EF4-FFF2-40B4-BE49-F238E27FC236}">
                  <a16:creationId xmlns:a16="http://schemas.microsoft.com/office/drawing/2014/main" id="{87218815-DF66-4F3F-868E-218D1030B2F4}"/>
                </a:ext>
              </a:extLst>
            </p:cNvPr>
            <p:cNvSpPr txBox="1">
              <a:spLocks noChangeArrowheads="1"/>
            </p:cNvSpPr>
            <p:nvPr/>
          </p:nvSpPr>
          <p:spPr bwMode="auto">
            <a:xfrm>
              <a:off x="3936" y="2448"/>
              <a:ext cx="52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solidFill>
                    <a:srgbClr val="660066"/>
                  </a:solidFill>
                </a:rPr>
                <a:t>3.14</a:t>
              </a:r>
            </a:p>
          </p:txBody>
        </p:sp>
      </p:grpSp>
      <p:sp>
        <p:nvSpPr>
          <p:cNvPr id="8239" name="Rectangle 94">
            <a:extLst>
              <a:ext uri="{FF2B5EF4-FFF2-40B4-BE49-F238E27FC236}">
                <a16:creationId xmlns:a16="http://schemas.microsoft.com/office/drawing/2014/main" id="{070B8F8E-1811-409C-A973-C3C02DB2273D}"/>
              </a:ext>
            </a:extLst>
          </p:cNvPr>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r"/>
            <a:r>
              <a:rPr lang="en-US" altLang="zh-CN" sz="3200" b="1">
                <a:solidFill>
                  <a:srgbClr val="FF3300"/>
                </a:solidFill>
              </a:rPr>
              <a:t>7.1 </a:t>
            </a:r>
            <a:r>
              <a:rPr lang="zh-CN" altLang="en-US" sz="3200" b="1">
                <a:solidFill>
                  <a:srgbClr val="FF3300"/>
                </a:solidFill>
              </a:rPr>
              <a:t>指针</a:t>
            </a:r>
            <a:r>
              <a:rPr lang="en-US" altLang="zh-CN" sz="3200" b="1">
                <a:solidFill>
                  <a:srgbClr val="FF3300"/>
                </a:solidFill>
              </a:rPr>
              <a:t>~</a:t>
            </a:r>
            <a:r>
              <a:rPr lang="zh-CN" altLang="en-US" sz="3200" b="1">
                <a:solidFill>
                  <a:srgbClr val="FF3300"/>
                </a:solidFill>
              </a:rPr>
              <a:t>概念与含义</a:t>
            </a:r>
          </a:p>
        </p:txBody>
      </p:sp>
      <p:sp>
        <p:nvSpPr>
          <p:cNvPr id="136196" name="Rectangle 1028">
            <a:extLst>
              <a:ext uri="{FF2B5EF4-FFF2-40B4-BE49-F238E27FC236}">
                <a16:creationId xmlns:a16="http://schemas.microsoft.com/office/drawing/2014/main" id="{02128013-F06F-4B9D-87B6-C251FB6CCE7A}"/>
              </a:ext>
            </a:extLst>
          </p:cNvPr>
          <p:cNvSpPr>
            <a:spLocks noChangeArrowheads="1"/>
          </p:cNvSpPr>
          <p:nvPr/>
        </p:nvSpPr>
        <p:spPr bwMode="auto">
          <a:xfrm>
            <a:off x="1044575" y="4724400"/>
            <a:ext cx="3887788" cy="1552575"/>
          </a:xfrm>
          <a:prstGeom prst="rect">
            <a:avLst/>
          </a:prstGeom>
          <a:noFill/>
          <a:ln w="9525">
            <a:noFill/>
            <a:miter lim="800000"/>
          </a:ln>
          <a:effectLst>
            <a:prstShdw prst="shdw18" dist="17961" dir="13500000">
              <a:schemeClr val="bg1">
                <a:gamma/>
                <a:shade val="60000"/>
                <a:invGamma/>
              </a:schemeClr>
            </a:prstShdw>
          </a:effectLst>
        </p:spPr>
        <p:txBody>
          <a:bodyPr>
            <a:spAutoFit/>
          </a:bodyPr>
          <a:lstStyle/>
          <a:p>
            <a:pPr>
              <a:buFontTx/>
              <a:buNone/>
              <a:defRPr/>
            </a:pPr>
            <a:endParaRPr kumimoji="1" lang="zh-CN" altLang="en-US" sz="2400" b="1">
              <a:sym typeface="+mn-ea"/>
            </a:endParaRPr>
          </a:p>
          <a:p>
            <a:pPr>
              <a:buFontTx/>
              <a:buNone/>
              <a:defRPr/>
            </a:pPr>
            <a:r>
              <a:rPr kumimoji="1" lang="zh-CN" altLang="en-US" sz="2400" b="1">
                <a:sym typeface="+mn-ea"/>
              </a:rPr>
              <a:t>变量一旦被分配地址，尽管它的内容可以被修改，它的地址将永远不会改变</a:t>
            </a:r>
          </a:p>
        </p:txBody>
      </p:sp>
      <p:graphicFrame>
        <p:nvGraphicFramePr>
          <p:cNvPr id="8241" name="对象 5">
            <a:extLst>
              <a:ext uri="{FF2B5EF4-FFF2-40B4-BE49-F238E27FC236}">
                <a16:creationId xmlns:a16="http://schemas.microsoft.com/office/drawing/2014/main" id="{2A643964-E69F-4AFC-971B-FD1F2C5DCA85}"/>
              </a:ext>
            </a:extLst>
          </p:cNvPr>
          <p:cNvGraphicFramePr>
            <a:graphicFrameLocks/>
          </p:cNvGraphicFramePr>
          <p:nvPr/>
        </p:nvGraphicFramePr>
        <p:xfrm>
          <a:off x="4060825" y="44450"/>
          <a:ext cx="1022350" cy="1081088"/>
        </p:xfrm>
        <a:graphic>
          <a:graphicData uri="http://schemas.openxmlformats.org/presentationml/2006/ole">
            <mc:AlternateContent xmlns:mc="http://schemas.openxmlformats.org/markup-compatibility/2006">
              <mc:Choice xmlns:v="urn:schemas-microsoft-com:vml" Requires="v">
                <p:oleObj r:id="rId2" imgW="2811960" imgH="2827080" progId="Paint.Picture">
                  <p:embed/>
                </p:oleObj>
              </mc:Choice>
              <mc:Fallback>
                <p:oleObj r:id="rId2" imgW="2811960" imgH="2827080" progId="Paint.Picture">
                  <p:embed/>
                  <p:pic>
                    <p:nvPicPr>
                      <p:cNvPr id="0" name="对象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0825" y="44450"/>
                        <a:ext cx="102235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Line 83">
            <a:extLst>
              <a:ext uri="{FF2B5EF4-FFF2-40B4-BE49-F238E27FC236}">
                <a16:creationId xmlns:a16="http://schemas.microsoft.com/office/drawing/2014/main" id="{C1B649C3-BAD6-833B-B015-8F9016F25D8D}"/>
              </a:ext>
            </a:extLst>
          </p:cNvPr>
          <p:cNvSpPr>
            <a:spLocks noChangeShapeType="1"/>
          </p:cNvSpPr>
          <p:nvPr/>
        </p:nvSpPr>
        <p:spPr bwMode="auto">
          <a:xfrm>
            <a:off x="5422900" y="3241675"/>
            <a:ext cx="24257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5">
            <a:extLst>
              <a:ext uri="{FF2B5EF4-FFF2-40B4-BE49-F238E27FC236}">
                <a16:creationId xmlns:a16="http://schemas.microsoft.com/office/drawing/2014/main" id="{E2BE20EB-5BB8-4C70-95E7-D25EE481C00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AC2A0E1F-EE36-4835-B86A-9C56BDFFF89A}" type="slidenum">
              <a:rPr lang="zh-CN" altLang="en-US" smtClean="0"/>
              <a:pPr/>
              <a:t>5</a:t>
            </a:fld>
            <a:endParaRPr lang="zh-CN" altLang="en-US"/>
          </a:p>
        </p:txBody>
      </p:sp>
      <p:sp>
        <p:nvSpPr>
          <p:cNvPr id="188419" name="Rectangle 1027">
            <a:extLst>
              <a:ext uri="{FF2B5EF4-FFF2-40B4-BE49-F238E27FC236}">
                <a16:creationId xmlns:a16="http://schemas.microsoft.com/office/drawing/2014/main" id="{D5C08D33-C56E-462F-83AE-5E4C4D0DBB9B}"/>
              </a:ext>
            </a:extLst>
          </p:cNvPr>
          <p:cNvSpPr>
            <a:spLocks noGrp="1" noChangeArrowheads="1"/>
          </p:cNvSpPr>
          <p:nvPr>
            <p:ph idx="1"/>
          </p:nvPr>
        </p:nvSpPr>
        <p:spPr>
          <a:xfrm>
            <a:off x="684213" y="1319213"/>
            <a:ext cx="7989887" cy="4611687"/>
          </a:xfrm>
        </p:spPr>
        <p:txBody>
          <a:bodyPr/>
          <a:lstStyle/>
          <a:p>
            <a:pPr eaLnBrk="1" hangingPunct="1">
              <a:buFontTx/>
              <a:buNone/>
              <a:defRPr/>
            </a:pPr>
            <a:r>
              <a:rPr kumimoji="1" lang="zh-CN" altLang="en-US" sz="2600" b="1" dirty="0"/>
              <a:t>二、变量的访问</a:t>
            </a:r>
          </a:p>
          <a:p>
            <a:pPr algn="just" eaLnBrk="1" hangingPunct="1">
              <a:buFontTx/>
              <a:buNone/>
              <a:defRPr/>
            </a:pPr>
            <a:r>
              <a:rPr kumimoji="1" lang="zh-CN" altLang="en-US" sz="2600" b="1" dirty="0"/>
              <a:t>(1)</a:t>
            </a:r>
            <a:r>
              <a:rPr kumimoji="1" lang="zh-CN" altLang="en-US" sz="2600" b="1" i="1" u="sng" dirty="0">
                <a:solidFill>
                  <a:srgbClr val="003399"/>
                </a:solidFill>
                <a:effectLst>
                  <a:outerShdw blurRad="38100" dist="38100" dir="2700000" algn="tl">
                    <a:srgbClr val="C0C0C0"/>
                  </a:outerShdw>
                </a:effectLst>
              </a:rPr>
              <a:t>直接访问</a:t>
            </a:r>
            <a:r>
              <a:rPr kumimoji="1" lang="zh-CN" altLang="en-US" sz="2600" b="1" dirty="0"/>
              <a:t>──在变量作用域内部</a:t>
            </a:r>
            <a:r>
              <a:rPr kumimoji="1" lang="en-US" altLang="zh-CN" sz="2600" b="1" dirty="0"/>
              <a:t>,</a:t>
            </a:r>
            <a:r>
              <a:rPr kumimoji="1" lang="zh-CN" altLang="en-US" sz="2600" b="1" dirty="0"/>
              <a:t>直接利用变量名</a:t>
            </a:r>
            <a:r>
              <a:rPr kumimoji="1" lang="en-US" altLang="zh-CN" sz="2600" b="1" dirty="0"/>
              <a:t>,</a:t>
            </a:r>
            <a:r>
              <a:rPr kumimoji="1" lang="zh-CN" altLang="en-US" sz="2600" b="1" dirty="0"/>
              <a:t>获取变量地址进行访问</a:t>
            </a:r>
            <a:r>
              <a:rPr kumimoji="1" lang="en-US" altLang="zh-CN" sz="2600" b="1" dirty="0"/>
              <a:t>.</a:t>
            </a:r>
            <a:endParaRPr kumimoji="1" lang="zh-CN" altLang="en-US" sz="2600" b="1" dirty="0"/>
          </a:p>
          <a:p>
            <a:pPr algn="just" eaLnBrk="1" hangingPunct="1">
              <a:buFontTx/>
              <a:buNone/>
              <a:defRPr/>
            </a:pPr>
            <a:r>
              <a:rPr kumimoji="1" lang="zh-CN" altLang="en-US" sz="2600" b="1" dirty="0"/>
              <a:t>  1)</a:t>
            </a:r>
            <a:r>
              <a:rPr kumimoji="1" lang="en-US" altLang="zh-CN" sz="2600" b="1" dirty="0" err="1"/>
              <a:t>scanf</a:t>
            </a:r>
            <a:r>
              <a:rPr kumimoji="1" lang="en-US" altLang="zh-CN" sz="2600" b="1" dirty="0"/>
              <a:t>(</a:t>
            </a:r>
            <a:r>
              <a:rPr kumimoji="1" lang="en-US" altLang="zh-CN" sz="2600" b="1" dirty="0">
                <a:latin typeface="宋体" panose="02010600030101010101" pitchFamily="2" charset="-122"/>
              </a:rPr>
              <a:t>"</a:t>
            </a:r>
            <a:r>
              <a:rPr kumimoji="1" lang="zh-CN" altLang="en-US" sz="2600" b="1" dirty="0"/>
              <a:t>％</a:t>
            </a:r>
            <a:r>
              <a:rPr kumimoji="1" lang="en-US" altLang="zh-CN" sz="2600" b="1" dirty="0"/>
              <a:t> d</a:t>
            </a:r>
            <a:r>
              <a:rPr kumimoji="1" lang="en-US" altLang="zh-CN" sz="2600" b="1" dirty="0">
                <a:latin typeface="宋体" panose="02010600030101010101" pitchFamily="2" charset="-122"/>
              </a:rPr>
              <a:t>"</a:t>
            </a:r>
            <a:r>
              <a:rPr kumimoji="1" lang="en-US" altLang="zh-CN" sz="2600" b="1" dirty="0"/>
              <a:t>,&amp;</a:t>
            </a:r>
            <a:r>
              <a:rPr kumimoji="1" lang="en-US" altLang="zh-CN" sz="2600" b="1" dirty="0" err="1"/>
              <a:t>i</a:t>
            </a:r>
            <a:r>
              <a:rPr kumimoji="1" lang="en-US" altLang="zh-CN" sz="2600" b="1" dirty="0"/>
              <a:t>)</a:t>
            </a:r>
            <a:r>
              <a:rPr kumimoji="1" lang="zh-CN" altLang="en-US" sz="2600" b="1" dirty="0"/>
              <a:t>的执行过程是这样的：</a:t>
            </a:r>
          </a:p>
          <a:p>
            <a:pPr algn="just" eaLnBrk="1" hangingPunct="1">
              <a:buFontTx/>
              <a:buNone/>
              <a:defRPr/>
            </a:pPr>
            <a:r>
              <a:rPr kumimoji="1" lang="zh-CN" altLang="en-US" sz="2600" b="1" dirty="0"/>
              <a:t>     先找到变量</a:t>
            </a:r>
            <a:r>
              <a:rPr kumimoji="1" lang="en-US" altLang="zh-CN" sz="2600" b="1" dirty="0" err="1"/>
              <a:t>i</a:t>
            </a:r>
            <a:r>
              <a:rPr kumimoji="1" lang="zh-CN" altLang="en-US" sz="2600" b="1" dirty="0"/>
              <a:t>的起始地址</a:t>
            </a:r>
            <a:r>
              <a:rPr kumimoji="1" lang="en-US" altLang="zh-CN" sz="2600" b="1" dirty="0"/>
              <a:t>2002</a:t>
            </a:r>
            <a:r>
              <a:rPr kumimoji="1" lang="zh-CN" altLang="en-US" sz="2600" b="1" dirty="0"/>
              <a:t>；然后将键盘输入的值送到内存单元</a:t>
            </a:r>
            <a:r>
              <a:rPr kumimoji="1" lang="en-US" altLang="zh-CN" sz="2600" b="1" dirty="0"/>
              <a:t>2002~2005</a:t>
            </a:r>
            <a:r>
              <a:rPr kumimoji="1" lang="zh-CN" altLang="en-US" sz="2600" b="1" dirty="0"/>
              <a:t>中。</a:t>
            </a:r>
          </a:p>
          <a:p>
            <a:pPr algn="just" eaLnBrk="1" hangingPunct="1">
              <a:buFontTx/>
              <a:buNone/>
              <a:defRPr/>
            </a:pPr>
            <a:r>
              <a:rPr kumimoji="1" lang="zh-CN" altLang="en-US" sz="2600" b="1" dirty="0"/>
              <a:t>  2）</a:t>
            </a:r>
            <a:r>
              <a:rPr kumimoji="1" lang="en-US" altLang="zh-CN" sz="2600" b="1" dirty="0" err="1"/>
              <a:t>printf</a:t>
            </a:r>
            <a:r>
              <a:rPr kumimoji="1" lang="en-US" altLang="zh-CN" sz="2600" b="1" dirty="0"/>
              <a:t>(</a:t>
            </a:r>
            <a:r>
              <a:rPr kumimoji="1" lang="en-US" altLang="zh-CN" sz="2600" b="1" dirty="0">
                <a:latin typeface="宋体" panose="02010600030101010101" pitchFamily="2" charset="-122"/>
              </a:rPr>
              <a:t>"</a:t>
            </a:r>
            <a:r>
              <a:rPr kumimoji="1" lang="en-US" altLang="zh-CN" sz="2600" b="1" dirty="0"/>
              <a:t> </a:t>
            </a:r>
            <a:r>
              <a:rPr kumimoji="1" lang="en-US" altLang="zh-CN" sz="2600" b="1" dirty="0" err="1"/>
              <a:t>i</a:t>
            </a:r>
            <a:r>
              <a:rPr kumimoji="1" lang="en-US" altLang="zh-CN" sz="2600" b="1" dirty="0"/>
              <a:t>=</a:t>
            </a:r>
            <a:r>
              <a:rPr kumimoji="1" lang="zh-CN" altLang="en-US" sz="2600" b="1" dirty="0"/>
              <a:t>％</a:t>
            </a:r>
            <a:r>
              <a:rPr kumimoji="1" lang="en-US" altLang="zh-CN" sz="2600" b="1" dirty="0"/>
              <a:t>d", </a:t>
            </a:r>
            <a:r>
              <a:rPr kumimoji="1" lang="en-US" altLang="zh-CN" sz="2600" b="1" dirty="0" err="1"/>
              <a:t>i</a:t>
            </a:r>
            <a:r>
              <a:rPr kumimoji="1" lang="en-US" altLang="zh-CN" sz="2600" b="1" dirty="0"/>
              <a:t>)</a:t>
            </a:r>
            <a:r>
              <a:rPr kumimoji="1" lang="zh-CN" altLang="en-US" sz="2600" b="1" dirty="0"/>
              <a:t>的执行过程，与</a:t>
            </a:r>
            <a:r>
              <a:rPr kumimoji="1" lang="en-US" altLang="zh-CN" sz="2600" b="1" dirty="0" err="1"/>
              <a:t>scanf</a:t>
            </a:r>
            <a:r>
              <a:rPr kumimoji="1" lang="en-US" altLang="zh-CN" sz="2600" b="1" dirty="0"/>
              <a:t>()</a:t>
            </a:r>
            <a:r>
              <a:rPr kumimoji="1" lang="zh-CN" altLang="en-US" sz="2600" b="1" dirty="0"/>
              <a:t>很相似：首先找到变量</a:t>
            </a:r>
            <a:r>
              <a:rPr kumimoji="1" lang="en-US" altLang="zh-CN" sz="2600" b="1" dirty="0" err="1"/>
              <a:t>i</a:t>
            </a:r>
            <a:r>
              <a:rPr kumimoji="1" lang="zh-CN" altLang="en-US" sz="2600" b="1" dirty="0"/>
              <a:t>的起始地址</a:t>
            </a:r>
            <a:r>
              <a:rPr kumimoji="1" lang="en-US" altLang="zh-CN" sz="2600" b="1" dirty="0"/>
              <a:t>2002</a:t>
            </a:r>
            <a:r>
              <a:rPr kumimoji="1" lang="zh-CN" altLang="en-US" sz="2600" b="1" dirty="0"/>
              <a:t>，然后从内存单元</a:t>
            </a:r>
            <a:r>
              <a:rPr kumimoji="1" lang="en-US" altLang="zh-CN" sz="2600" b="1" dirty="0"/>
              <a:t>2002~2005</a:t>
            </a:r>
            <a:r>
              <a:rPr kumimoji="1" lang="zh-CN" altLang="en-US" sz="2600" b="1" dirty="0"/>
              <a:t>中取出值，将它输出。 </a:t>
            </a:r>
          </a:p>
          <a:p>
            <a:pPr eaLnBrk="1" hangingPunct="1">
              <a:buFontTx/>
              <a:buNone/>
              <a:defRPr/>
            </a:pPr>
            <a:endParaRPr kumimoji="1" lang="zh-CN" altLang="en-US" sz="2600" b="1" dirty="0"/>
          </a:p>
        </p:txBody>
      </p:sp>
      <p:sp>
        <p:nvSpPr>
          <p:cNvPr id="9219" name="Rectangle 1029">
            <a:extLst>
              <a:ext uri="{FF2B5EF4-FFF2-40B4-BE49-F238E27FC236}">
                <a16:creationId xmlns:a16="http://schemas.microsoft.com/office/drawing/2014/main" id="{2F48FD5B-3D05-4F3D-B982-38CFD5BC8400}"/>
              </a:ext>
            </a:extLst>
          </p:cNvPr>
          <p:cNvSpPr>
            <a:spLocks noGrp="1" noChangeArrowheads="1"/>
          </p:cNvSpPr>
          <p:nvPr>
            <p:ph type="title"/>
          </p:nvPr>
        </p:nvSpPr>
        <p:spPr/>
        <p:txBody>
          <a:bodyPr/>
          <a:lstStyle/>
          <a:p>
            <a:pPr eaLnBrk="1" hangingPunct="1"/>
            <a:r>
              <a:rPr lang="en-US" altLang="zh-CN" b="1"/>
              <a:t>7.1 </a:t>
            </a:r>
            <a:r>
              <a:rPr lang="zh-CN" altLang="en-US" b="1"/>
              <a:t>指针</a:t>
            </a:r>
            <a:r>
              <a:rPr lang="en-US" altLang="zh-CN" b="1"/>
              <a:t>~</a:t>
            </a:r>
            <a:r>
              <a:rPr lang="zh-CN" altLang="en-US" b="1"/>
              <a:t>概念与含义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8419">
                                            <p:txEl>
                                              <p:charRg st="36" end="59"/>
                                            </p:txEl>
                                          </p:spTgt>
                                        </p:tgtEl>
                                        <p:attrNameLst>
                                          <p:attrName>style.visibility</p:attrName>
                                        </p:attrNameLst>
                                      </p:cBhvr>
                                      <p:to>
                                        <p:strVal val="visible"/>
                                      </p:to>
                                    </p:set>
                                    <p:animEffect transition="in" filter="dissolve">
                                      <p:cBhvr>
                                        <p:cTn id="7" dur="500"/>
                                        <p:tgtEl>
                                          <p:spTgt spid="188419">
                                            <p:txEl>
                                              <p:charRg st="36" end="59"/>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8419">
                                            <p:txEl>
                                              <p:charRg st="59" end="92"/>
                                            </p:txEl>
                                          </p:spTgt>
                                        </p:tgtEl>
                                        <p:attrNameLst>
                                          <p:attrName>style.visibility</p:attrName>
                                        </p:attrNameLst>
                                      </p:cBhvr>
                                      <p:to>
                                        <p:strVal val="visible"/>
                                      </p:to>
                                    </p:set>
                                    <p:animEffect transition="in" filter="dissolve">
                                      <p:cBhvr>
                                        <p:cTn id="12" dur="500"/>
                                        <p:tgtEl>
                                          <p:spTgt spid="188419">
                                            <p:txEl>
                                              <p:charRg st="59" end="9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88419">
                                            <p:txEl>
                                              <p:charRg st="92" end="156"/>
                                            </p:txEl>
                                          </p:spTgt>
                                        </p:tgtEl>
                                        <p:attrNameLst>
                                          <p:attrName>style.visibility</p:attrName>
                                        </p:attrNameLst>
                                      </p:cBhvr>
                                      <p:to>
                                        <p:strVal val="visible"/>
                                      </p:to>
                                    </p:set>
                                    <p:animEffect transition="in" filter="dissolve">
                                      <p:cBhvr>
                                        <p:cTn id="15" dur="500"/>
                                        <p:tgtEl>
                                          <p:spTgt spid="188419">
                                            <p:txEl>
                                              <p:charRg st="92" end="156"/>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88419">
                                            <p:txEl>
                                              <p:charRg st="156" end="210"/>
                                            </p:txEl>
                                          </p:spTgt>
                                        </p:tgtEl>
                                        <p:attrNameLst>
                                          <p:attrName>style.visibility</p:attrName>
                                        </p:attrNameLst>
                                      </p:cBhvr>
                                      <p:to>
                                        <p:strVal val="visible"/>
                                      </p:to>
                                    </p:set>
                                    <p:animEffect transition="in" filter="dissolve">
                                      <p:cBhvr>
                                        <p:cTn id="20" dur="500"/>
                                        <p:tgtEl>
                                          <p:spTgt spid="188419">
                                            <p:txEl>
                                              <p:charRg st="156"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a:extLst>
              <a:ext uri="{FF2B5EF4-FFF2-40B4-BE49-F238E27FC236}">
                <a16:creationId xmlns:a16="http://schemas.microsoft.com/office/drawing/2014/main" id="{51A5C203-28DC-43D0-B87F-0CE7F113A48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C3A7EE07-BE93-4BF5-A1F7-0840E19752CC}" type="slidenum">
              <a:rPr lang="zh-CN" altLang="en-US" smtClean="0"/>
              <a:pPr/>
              <a:t>6</a:t>
            </a:fld>
            <a:endParaRPr lang="zh-CN" altLang="en-US"/>
          </a:p>
        </p:txBody>
      </p:sp>
      <p:sp>
        <p:nvSpPr>
          <p:cNvPr id="189443" name="Rectangle 1027">
            <a:extLst>
              <a:ext uri="{FF2B5EF4-FFF2-40B4-BE49-F238E27FC236}">
                <a16:creationId xmlns:a16="http://schemas.microsoft.com/office/drawing/2014/main" id="{999328CD-ED8C-4D5B-932D-DA1235DA6B31}"/>
              </a:ext>
            </a:extLst>
          </p:cNvPr>
          <p:cNvSpPr>
            <a:spLocks noGrp="1" noChangeArrowheads="1"/>
          </p:cNvSpPr>
          <p:nvPr>
            <p:ph idx="1"/>
          </p:nvPr>
        </p:nvSpPr>
        <p:spPr/>
        <p:txBody>
          <a:bodyPr/>
          <a:lstStyle/>
          <a:p>
            <a:pPr algn="just" eaLnBrk="1" hangingPunct="1">
              <a:buFontTx/>
              <a:buNone/>
              <a:defRPr/>
            </a:pPr>
            <a:r>
              <a:rPr kumimoji="1" lang="zh-CN" altLang="en-US" b="1" dirty="0"/>
              <a:t>（2）</a:t>
            </a:r>
            <a:r>
              <a:rPr kumimoji="1" lang="zh-CN" altLang="en-US" b="1" i="1" u="sng" dirty="0">
                <a:solidFill>
                  <a:srgbClr val="003399"/>
                </a:solidFill>
                <a:effectLst>
                  <a:outerShdw blurRad="38100" dist="38100" dir="2700000" algn="tl">
                    <a:srgbClr val="C0C0C0"/>
                  </a:outerShdw>
                </a:effectLst>
              </a:rPr>
              <a:t>间接访问</a:t>
            </a:r>
            <a:r>
              <a:rPr kumimoji="1" lang="zh-CN" altLang="en-US" b="1" dirty="0"/>
              <a:t>─</a:t>
            </a:r>
            <a:r>
              <a:rPr lang="zh-CN" altLang="en-US" b="1" dirty="0">
                <a:sym typeface="+mn-ea"/>
              </a:rPr>
              <a:t>在变量作用域之外</a:t>
            </a:r>
            <a:r>
              <a:rPr lang="en-US" altLang="zh-CN" b="1" dirty="0">
                <a:sym typeface="+mn-ea"/>
              </a:rPr>
              <a:t>,</a:t>
            </a:r>
            <a:r>
              <a:rPr lang="zh-CN" altLang="en-US" b="1" dirty="0">
                <a:sym typeface="+mn-ea"/>
              </a:rPr>
              <a:t>可以</a:t>
            </a:r>
            <a:r>
              <a:rPr kumimoji="1" lang="zh-CN" altLang="en-US" b="1" dirty="0"/>
              <a:t>通过指针</a:t>
            </a:r>
            <a:r>
              <a:rPr kumimoji="1" lang="en-US" altLang="zh-CN" b="1" dirty="0"/>
              <a:t>(pointer)</a:t>
            </a:r>
            <a:r>
              <a:rPr kumimoji="1" lang="zh-CN" altLang="en-US" b="1" dirty="0"/>
              <a:t>来访问</a:t>
            </a:r>
            <a:r>
              <a:rPr kumimoji="1" lang="en-US" altLang="zh-CN" b="1" dirty="0"/>
              <a:t>.</a:t>
            </a:r>
            <a:endParaRPr kumimoji="1" lang="zh-CN" altLang="en-US" b="1" dirty="0"/>
          </a:p>
          <a:p>
            <a:pPr algn="just" eaLnBrk="1" hangingPunct="1">
              <a:buFontTx/>
              <a:buNone/>
              <a:defRPr/>
            </a:pPr>
            <a:r>
              <a:rPr kumimoji="1" lang="zh-CN" altLang="en-US" b="1" dirty="0"/>
              <a:t>Ｃ程序的</a:t>
            </a:r>
            <a:r>
              <a:rPr kumimoji="1" lang="zh-CN" altLang="en-US" b="1" dirty="0">
                <a:solidFill>
                  <a:srgbClr val="FF0000"/>
                </a:solidFill>
              </a:rPr>
              <a:t>指针变量</a:t>
            </a:r>
            <a:r>
              <a:rPr kumimoji="1" lang="zh-CN" altLang="en-US" b="1" dirty="0"/>
              <a:t>，用来存放</a:t>
            </a:r>
            <a:r>
              <a:rPr kumimoji="1" lang="zh-CN" altLang="en-US" b="1" u="sng" dirty="0"/>
              <a:t>所指变量</a:t>
            </a:r>
            <a:r>
              <a:rPr kumimoji="1" lang="zh-CN" altLang="en-US" b="1" dirty="0"/>
              <a:t>的内存起始地址。</a:t>
            </a:r>
          </a:p>
          <a:p>
            <a:pPr algn="just" eaLnBrk="1" hangingPunct="1">
              <a:buFontTx/>
              <a:buNone/>
              <a:defRPr/>
            </a:pPr>
            <a:r>
              <a:rPr kumimoji="1" lang="zh-CN" altLang="en-US" b="1" dirty="0"/>
              <a:t>     </a:t>
            </a:r>
          </a:p>
        </p:txBody>
      </p:sp>
      <p:sp>
        <p:nvSpPr>
          <p:cNvPr id="10243" name="Rectangle 1029">
            <a:extLst>
              <a:ext uri="{FF2B5EF4-FFF2-40B4-BE49-F238E27FC236}">
                <a16:creationId xmlns:a16="http://schemas.microsoft.com/office/drawing/2014/main" id="{CF87BF5E-B532-4243-96A0-F8D346F818A9}"/>
              </a:ext>
            </a:extLst>
          </p:cNvPr>
          <p:cNvSpPr>
            <a:spLocks noGrp="1" noChangeArrowheads="1"/>
          </p:cNvSpPr>
          <p:nvPr>
            <p:ph type="title"/>
          </p:nvPr>
        </p:nvSpPr>
        <p:spPr/>
        <p:txBody>
          <a:bodyPr/>
          <a:lstStyle/>
          <a:p>
            <a:pPr eaLnBrk="1" hangingPunct="1"/>
            <a:r>
              <a:rPr lang="en-US" altLang="zh-CN" b="1"/>
              <a:t>7.1 </a:t>
            </a:r>
            <a:r>
              <a:rPr lang="zh-CN" altLang="en-US" b="1"/>
              <a:t>指针</a:t>
            </a:r>
            <a:r>
              <a:rPr lang="en-US" altLang="zh-CN" b="1"/>
              <a:t>~</a:t>
            </a:r>
            <a:r>
              <a:rPr lang="zh-CN" altLang="en-US" b="1"/>
              <a:t>概念与含义</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a:extLst>
              <a:ext uri="{FF2B5EF4-FFF2-40B4-BE49-F238E27FC236}">
                <a16:creationId xmlns:a16="http://schemas.microsoft.com/office/drawing/2014/main" id="{7B9A4C40-43DE-4113-92D9-DE8ED5F35E6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8327A17-269D-4D70-9000-E76F17647B25}" type="slidenum">
              <a:rPr lang="zh-CN" altLang="en-US" smtClean="0"/>
              <a:pPr/>
              <a:t>7</a:t>
            </a:fld>
            <a:endParaRPr lang="zh-CN" altLang="en-US"/>
          </a:p>
        </p:txBody>
      </p:sp>
      <p:sp>
        <p:nvSpPr>
          <p:cNvPr id="11266" name="Text Box 4">
            <a:extLst>
              <a:ext uri="{FF2B5EF4-FFF2-40B4-BE49-F238E27FC236}">
                <a16:creationId xmlns:a16="http://schemas.microsoft.com/office/drawing/2014/main" id="{54FC37C1-1427-453F-8F37-756AA6820C7E}"/>
              </a:ext>
            </a:extLst>
          </p:cNvPr>
          <p:cNvSpPr txBox="1">
            <a:spLocks noChangeArrowheads="1"/>
          </p:cNvSpPr>
          <p:nvPr/>
        </p:nvSpPr>
        <p:spPr bwMode="auto">
          <a:xfrm>
            <a:off x="500063" y="1525588"/>
            <a:ext cx="7772400" cy="436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50000"/>
              </a:spcBef>
            </a:pPr>
            <a:r>
              <a:rPr lang="zh-CN" altLang="en-US" sz="2800" b="1" dirty="0">
                <a:solidFill>
                  <a:srgbClr val="FFCC00"/>
                </a:solidFill>
              </a:rPr>
              <a:t>          </a:t>
            </a:r>
            <a:r>
              <a:rPr lang="zh-CN" altLang="en-US" sz="2800" b="1" dirty="0">
                <a:solidFill>
                  <a:srgbClr val="0000FF"/>
                </a:solidFill>
                <a:latin typeface="宋体" panose="02010600030101010101" pitchFamily="2" charset="-122"/>
              </a:rPr>
              <a:t>数据类型</a:t>
            </a:r>
            <a:r>
              <a:rPr lang="zh-CN" altLang="en-US" sz="2800" b="1" dirty="0">
                <a:solidFill>
                  <a:schemeClr val="tx2"/>
                </a:solidFill>
              </a:rPr>
              <a:t>  </a:t>
            </a:r>
            <a:r>
              <a:rPr lang="zh-CN" altLang="en-US" sz="2800" dirty="0">
                <a:solidFill>
                  <a:srgbClr val="FF0000"/>
                </a:solidFill>
              </a:rPr>
              <a:t>*</a:t>
            </a:r>
            <a:r>
              <a:rPr lang="zh-CN" altLang="en-US" sz="2800" b="1" dirty="0">
                <a:solidFill>
                  <a:srgbClr val="FF0000"/>
                </a:solidFill>
              </a:rPr>
              <a:t> </a:t>
            </a:r>
            <a:r>
              <a:rPr lang="zh-CN" altLang="en-US" sz="2800" b="1" dirty="0">
                <a:latin typeface="宋体" panose="02010600030101010101" pitchFamily="2" charset="-122"/>
              </a:rPr>
              <a:t>指针变量名</a:t>
            </a:r>
            <a:r>
              <a:rPr lang="zh-CN" altLang="en-US" sz="2800" b="1" dirty="0">
                <a:solidFill>
                  <a:schemeClr val="tx2"/>
                </a:solidFill>
                <a:latin typeface="宋体" panose="02010600030101010101" pitchFamily="2" charset="-122"/>
              </a:rPr>
              <a:t>；</a:t>
            </a:r>
          </a:p>
          <a:p>
            <a:pPr algn="just">
              <a:lnSpc>
                <a:spcPct val="80000"/>
              </a:lnSpc>
              <a:spcBef>
                <a:spcPct val="50000"/>
              </a:spcBef>
            </a:pPr>
            <a:r>
              <a:rPr lang="zh-CN" altLang="en-US" sz="2800" dirty="0"/>
              <a:t>例：设计子函数交换两变量的值。</a:t>
            </a:r>
          </a:p>
          <a:p>
            <a:pPr algn="just">
              <a:lnSpc>
                <a:spcPct val="80000"/>
              </a:lnSpc>
              <a:spcBef>
                <a:spcPct val="50000"/>
              </a:spcBef>
            </a:pPr>
            <a:r>
              <a:rPr lang="en-US" altLang="zh-CN" sz="2400" dirty="0">
                <a:latin typeface="Consolas" panose="020B0609020204030204" pitchFamily="49" charset="0"/>
              </a:rPr>
              <a:t>void swap( </a:t>
            </a:r>
            <a:r>
              <a:rPr lang="en-US" altLang="zh-CN" sz="2400" b="1" dirty="0">
                <a:solidFill>
                  <a:srgbClr val="FF0000"/>
                </a:solidFill>
                <a:latin typeface="Consolas" panose="020B0609020204030204" pitchFamily="49" charset="0"/>
              </a:rPr>
              <a:t>int * </a:t>
            </a:r>
            <a:r>
              <a:rPr lang="en-US" altLang="zh-CN" sz="2400" b="1" dirty="0" err="1">
                <a:solidFill>
                  <a:srgbClr val="FF0000"/>
                </a:solidFill>
                <a:latin typeface="Consolas" panose="020B0609020204030204" pitchFamily="49" charset="0"/>
              </a:rPr>
              <a:t>p1</a:t>
            </a:r>
            <a:r>
              <a:rPr lang="en-US" altLang="zh-CN" sz="2400" b="1" dirty="0">
                <a:solidFill>
                  <a:srgbClr val="FF0000"/>
                </a:solidFill>
                <a:latin typeface="Consolas" panose="020B0609020204030204" pitchFamily="49" charset="0"/>
              </a:rPr>
              <a:t>, int * </a:t>
            </a:r>
            <a:r>
              <a:rPr lang="en-US" altLang="zh-CN" sz="2400" b="1" dirty="0" err="1">
                <a:solidFill>
                  <a:srgbClr val="FF0000"/>
                </a:solidFill>
                <a:latin typeface="Consolas" panose="020B0609020204030204" pitchFamily="49" charset="0"/>
              </a:rPr>
              <a:t>p2</a:t>
            </a:r>
            <a:r>
              <a:rPr lang="en-US" altLang="zh-CN" sz="2400" dirty="0">
                <a:latin typeface="Consolas" panose="020B0609020204030204" pitchFamily="49" charset="0"/>
              </a:rPr>
              <a:t>); </a:t>
            </a:r>
          </a:p>
          <a:p>
            <a:pPr algn="just">
              <a:lnSpc>
                <a:spcPct val="80000"/>
              </a:lnSpc>
              <a:spcBef>
                <a:spcPct val="50000"/>
              </a:spcBef>
            </a:pPr>
            <a:r>
              <a:rPr lang="en-US" altLang="zh-CN" sz="2400" dirty="0">
                <a:latin typeface="Consolas" panose="020B0609020204030204" pitchFamily="49" charset="0"/>
              </a:rPr>
              <a:t>int main(){</a:t>
            </a:r>
          </a:p>
          <a:p>
            <a:pPr algn="just">
              <a:lnSpc>
                <a:spcPct val="80000"/>
              </a:lnSpc>
              <a:spcBef>
                <a:spcPct val="50000"/>
              </a:spcBef>
            </a:pPr>
            <a:r>
              <a:rPr lang="en-US" altLang="zh-CN" sz="2400" dirty="0">
                <a:latin typeface="Consolas" panose="020B0609020204030204" pitchFamily="49" charset="0"/>
              </a:rPr>
              <a:t> 	int </a:t>
            </a:r>
            <a:r>
              <a:rPr lang="en-US" altLang="zh-CN" sz="2400" dirty="0" err="1">
                <a:latin typeface="Consolas" panose="020B0609020204030204" pitchFamily="49" charset="0"/>
              </a:rPr>
              <a:t>a,b</a:t>
            </a:r>
            <a:r>
              <a:rPr lang="en-US" altLang="zh-CN" sz="2400" dirty="0">
                <a:latin typeface="Consolas" panose="020B0609020204030204" pitchFamily="49" charset="0"/>
              </a:rPr>
              <a:t>;</a:t>
            </a:r>
          </a:p>
          <a:p>
            <a:pPr algn="just">
              <a:lnSpc>
                <a:spcPct val="80000"/>
              </a:lnSpc>
              <a:spcBef>
                <a:spcPct val="50000"/>
              </a:spcBef>
            </a:pPr>
            <a:r>
              <a:rPr lang="en-US" altLang="zh-CN" sz="2400" dirty="0">
                <a:latin typeface="Consolas" panose="020B0609020204030204" pitchFamily="49" charset="0"/>
              </a:rPr>
              <a:t>	</a:t>
            </a:r>
            <a:r>
              <a:rPr lang="en-US" altLang="zh-CN" sz="2400" dirty="0" err="1">
                <a:latin typeface="Consolas" panose="020B0609020204030204" pitchFamily="49" charset="0"/>
              </a:rPr>
              <a:t>scanf</a:t>
            </a:r>
            <a:r>
              <a:rPr lang="en-US" altLang="zh-CN" sz="2400" dirty="0">
                <a:latin typeface="Consolas" panose="020B0609020204030204" pitchFamily="49" charset="0"/>
              </a:rPr>
              <a:t>("%</a:t>
            </a:r>
            <a:r>
              <a:rPr lang="en-US" altLang="zh-CN" sz="2400" dirty="0" err="1">
                <a:latin typeface="Consolas" panose="020B0609020204030204" pitchFamily="49" charset="0"/>
              </a:rPr>
              <a:t>d%d</a:t>
            </a:r>
            <a:r>
              <a:rPr lang="en-US" altLang="zh-CN" sz="2400" dirty="0">
                <a:latin typeface="Consolas" panose="020B0609020204030204" pitchFamily="49" charset="0"/>
              </a:rPr>
              <a:t>",&amp;</a:t>
            </a:r>
            <a:r>
              <a:rPr lang="en-US" altLang="zh-CN" sz="2400" dirty="0" err="1">
                <a:latin typeface="Consolas" panose="020B0609020204030204" pitchFamily="49" charset="0"/>
              </a:rPr>
              <a:t>a,&amp;b</a:t>
            </a:r>
            <a:r>
              <a:rPr lang="en-US" altLang="zh-CN" sz="2400" dirty="0">
                <a:latin typeface="Consolas" panose="020B0609020204030204" pitchFamily="49" charset="0"/>
              </a:rPr>
              <a:t>);</a:t>
            </a:r>
          </a:p>
          <a:p>
            <a:pPr algn="just">
              <a:lnSpc>
                <a:spcPct val="80000"/>
              </a:lnSpc>
              <a:spcBef>
                <a:spcPct val="50000"/>
              </a:spcBef>
            </a:pPr>
            <a:r>
              <a:rPr lang="en-US" altLang="zh-CN" sz="2400" dirty="0">
                <a:latin typeface="Consolas" panose="020B0609020204030204" pitchFamily="49" charset="0"/>
              </a:rPr>
              <a:t>	swap( </a:t>
            </a:r>
            <a:r>
              <a:rPr lang="en-US" altLang="zh-CN" sz="2400" b="1" dirty="0">
                <a:solidFill>
                  <a:srgbClr val="FF0000"/>
                </a:solidFill>
                <a:latin typeface="Consolas" panose="020B0609020204030204" pitchFamily="49" charset="0"/>
              </a:rPr>
              <a:t>&amp;a</a:t>
            </a:r>
            <a:r>
              <a:rPr lang="en-US" altLang="zh-CN" sz="2400" dirty="0">
                <a:latin typeface="Consolas" panose="020B0609020204030204" pitchFamily="49" charset="0"/>
              </a:rPr>
              <a:t>, </a:t>
            </a:r>
            <a:r>
              <a:rPr lang="en-US" altLang="zh-CN" sz="2400" b="1" dirty="0">
                <a:solidFill>
                  <a:srgbClr val="FF0000"/>
                </a:solidFill>
                <a:latin typeface="Consolas" panose="020B0609020204030204" pitchFamily="49" charset="0"/>
              </a:rPr>
              <a:t>&amp;b</a:t>
            </a:r>
            <a:r>
              <a:rPr lang="en-US" altLang="zh-CN" sz="2400" dirty="0">
                <a:latin typeface="Consolas" panose="020B0609020204030204" pitchFamily="49" charset="0"/>
              </a:rPr>
              <a:t> ); </a:t>
            </a:r>
          </a:p>
          <a:p>
            <a:pPr algn="just">
              <a:lnSpc>
                <a:spcPct val="80000"/>
              </a:lnSpc>
              <a:spcBef>
                <a:spcPct val="50000"/>
              </a:spcBef>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en-US" altLang="zh-CN" sz="2400" dirty="0" err="1">
                <a:latin typeface="Consolas" panose="020B0609020204030204" pitchFamily="49" charset="0"/>
              </a:rPr>
              <a:t>d,%d</a:t>
            </a:r>
            <a:r>
              <a:rPr lang="en-US" altLang="zh-CN" sz="2400" dirty="0">
                <a:latin typeface="Consolas" panose="020B0609020204030204" pitchFamily="49" charset="0"/>
              </a:rPr>
              <a:t>\n",</a:t>
            </a:r>
            <a:r>
              <a:rPr lang="en-US" altLang="zh-CN" sz="2400" dirty="0" err="1">
                <a:latin typeface="Consolas" panose="020B0609020204030204" pitchFamily="49" charset="0"/>
              </a:rPr>
              <a:t>a,b</a:t>
            </a:r>
            <a:r>
              <a:rPr lang="en-US" altLang="zh-CN" sz="2400" dirty="0">
                <a:latin typeface="Consolas" panose="020B0609020204030204" pitchFamily="49" charset="0"/>
              </a:rPr>
              <a:t>);	</a:t>
            </a:r>
          </a:p>
          <a:p>
            <a:pPr algn="just">
              <a:lnSpc>
                <a:spcPct val="80000"/>
              </a:lnSpc>
              <a:spcBef>
                <a:spcPct val="50000"/>
              </a:spcBef>
            </a:pPr>
            <a:r>
              <a:rPr lang="en-US" altLang="zh-CN" sz="2400" dirty="0">
                <a:latin typeface="Consolas" panose="020B0609020204030204" pitchFamily="49" charset="0"/>
              </a:rPr>
              <a:t>}</a:t>
            </a:r>
            <a:endParaRPr lang="en-US" altLang="zh-CN" sz="2400" dirty="0">
              <a:latin typeface="Consolas" panose="020B0609020204030204" pitchFamily="49" charset="0"/>
              <a:cs typeface="Times New Roman" panose="02020603050405020304" pitchFamily="18" charset="0"/>
            </a:endParaRPr>
          </a:p>
        </p:txBody>
      </p:sp>
      <p:sp>
        <p:nvSpPr>
          <p:cNvPr id="100358" name="AutoShape 6">
            <a:extLst>
              <a:ext uri="{FF2B5EF4-FFF2-40B4-BE49-F238E27FC236}">
                <a16:creationId xmlns:a16="http://schemas.microsoft.com/office/drawing/2014/main" id="{C2FF86A1-37E7-493D-A0EB-0AEC8A58F73C}"/>
              </a:ext>
            </a:extLst>
          </p:cNvPr>
          <p:cNvSpPr>
            <a:spLocks noChangeArrowheads="1"/>
          </p:cNvSpPr>
          <p:nvPr/>
        </p:nvSpPr>
        <p:spPr bwMode="auto">
          <a:xfrm>
            <a:off x="-15875" y="711200"/>
            <a:ext cx="3282950" cy="511175"/>
          </a:xfrm>
          <a:prstGeom prst="wedgeRoundRectCallout">
            <a:avLst>
              <a:gd name="adj1" fmla="val -463"/>
              <a:gd name="adj2" fmla="val 128681"/>
              <a:gd name="adj3" fmla="val 16667"/>
            </a:avLst>
          </a:prstGeom>
          <a:solidFill>
            <a:srgbClr val="C2FFF0"/>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zh-CN" altLang="en-US" sz="2400">
                <a:ea typeface="隶书" pitchFamily="49" charset="-122"/>
              </a:rPr>
              <a:t>指向变量的数据类型</a:t>
            </a:r>
          </a:p>
        </p:txBody>
      </p:sp>
      <p:sp>
        <p:nvSpPr>
          <p:cNvPr id="100359" name="AutoShape 7">
            <a:extLst>
              <a:ext uri="{FF2B5EF4-FFF2-40B4-BE49-F238E27FC236}">
                <a16:creationId xmlns:a16="http://schemas.microsoft.com/office/drawing/2014/main" id="{A77D0F44-FB3D-4A9A-9810-583C9B1275E4}"/>
              </a:ext>
            </a:extLst>
          </p:cNvPr>
          <p:cNvSpPr>
            <a:spLocks noChangeArrowheads="1"/>
          </p:cNvSpPr>
          <p:nvPr/>
        </p:nvSpPr>
        <p:spPr bwMode="auto">
          <a:xfrm>
            <a:off x="5029200" y="1012825"/>
            <a:ext cx="2133600" cy="512763"/>
          </a:xfrm>
          <a:prstGeom prst="wedgeRoundRectCallout">
            <a:avLst>
              <a:gd name="adj1" fmla="val -130310"/>
              <a:gd name="adj2" fmla="val 52440"/>
              <a:gd name="adj3" fmla="val 16667"/>
            </a:avLst>
          </a:prstGeom>
          <a:solidFill>
            <a:srgbClr val="CCFFFF"/>
          </a:solidFill>
          <a:ln w="38100">
            <a:solidFill>
              <a:srgbClr val="CCFFFF"/>
            </a:solidFill>
            <a:miter lim="800000"/>
            <a:headEnd type="none" w="lg" len="lg"/>
            <a:tailEnd/>
          </a:ln>
        </p:spPr>
        <p:txBody>
          <a:bodyPr lIns="90000" tIns="46800" rIns="90000" bIns="46800"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zh-CN" altLang="en-US" sz="2400">
                <a:ea typeface="隶书" pitchFamily="49" charset="-122"/>
              </a:rPr>
              <a:t>指针类型前缀</a:t>
            </a:r>
            <a:endParaRPr lang="zh-CN" altLang="en-US" sz="2400"/>
          </a:p>
        </p:txBody>
      </p:sp>
      <p:sp>
        <p:nvSpPr>
          <p:cNvPr id="11269" name="Rectangle 13">
            <a:extLst>
              <a:ext uri="{FF2B5EF4-FFF2-40B4-BE49-F238E27FC236}">
                <a16:creationId xmlns:a16="http://schemas.microsoft.com/office/drawing/2014/main" id="{E48E0205-BE7D-4B26-9C3A-0723CD377EA8}"/>
              </a:ext>
            </a:extLst>
          </p:cNvPr>
          <p:cNvSpPr>
            <a:spLocks noGrp="1" noChangeArrowheads="1"/>
          </p:cNvSpPr>
          <p:nvPr>
            <p:ph type="title"/>
          </p:nvPr>
        </p:nvSpPr>
        <p:spPr/>
        <p:txBody>
          <a:bodyPr/>
          <a:lstStyle/>
          <a:p>
            <a:pPr eaLnBrk="1" hangingPunct="1"/>
            <a:r>
              <a:rPr lang="zh-CN" altLang="en-US" b="1">
                <a:solidFill>
                  <a:srgbClr val="FF0000"/>
                </a:solidFill>
              </a:rPr>
              <a:t>7.</a:t>
            </a:r>
            <a:r>
              <a:rPr lang="en-US" altLang="zh-CN" b="1">
                <a:solidFill>
                  <a:srgbClr val="FF0000"/>
                </a:solidFill>
              </a:rPr>
              <a:t>1</a:t>
            </a:r>
            <a:r>
              <a:rPr lang="zh-CN" altLang="en-US" b="1">
                <a:solidFill>
                  <a:srgbClr val="FF0000"/>
                </a:solidFill>
              </a:rPr>
              <a:t>    指针变量的声明</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0359"/>
                                        </p:tgtEl>
                                        <p:attrNameLst>
                                          <p:attrName>style.visibility</p:attrName>
                                        </p:attrNameLst>
                                      </p:cBhvr>
                                      <p:to>
                                        <p:strVal val="visible"/>
                                      </p:to>
                                    </p:set>
                                    <p:animEffect transition="in" filter="dissolve">
                                      <p:cBhvr>
                                        <p:cTn id="7" dur="500"/>
                                        <p:tgtEl>
                                          <p:spTgt spid="1003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0358"/>
                                        </p:tgtEl>
                                        <p:attrNameLst>
                                          <p:attrName>style.visibility</p:attrName>
                                        </p:attrNameLst>
                                      </p:cBhvr>
                                      <p:to>
                                        <p:strVal val="visible"/>
                                      </p:to>
                                    </p:set>
                                    <p:animEffect transition="in" filter="dissolve">
                                      <p:cBhvr>
                                        <p:cTn id="12"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bldLvl="0" animBg="1"/>
      <p:bldP spid="10035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5">
            <a:extLst>
              <a:ext uri="{FF2B5EF4-FFF2-40B4-BE49-F238E27FC236}">
                <a16:creationId xmlns:a16="http://schemas.microsoft.com/office/drawing/2014/main" id="{686A6E1D-C67B-4D8A-A8B6-C17620434A2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0DC20BB5-A960-4877-9507-D3FD9481EA95}" type="slidenum">
              <a:rPr lang="zh-CN" altLang="en-US" smtClean="0"/>
              <a:pPr/>
              <a:t>8</a:t>
            </a:fld>
            <a:endParaRPr lang="zh-CN" altLang="en-US"/>
          </a:p>
        </p:txBody>
      </p:sp>
      <p:sp>
        <p:nvSpPr>
          <p:cNvPr id="12290" name="Rectangle 2">
            <a:extLst>
              <a:ext uri="{FF2B5EF4-FFF2-40B4-BE49-F238E27FC236}">
                <a16:creationId xmlns:a16="http://schemas.microsoft.com/office/drawing/2014/main" id="{497CCB4E-4914-40B3-9D2D-F80BA074CB74}"/>
              </a:ext>
            </a:extLst>
          </p:cNvPr>
          <p:cNvSpPr>
            <a:spLocks noGrp="1" noChangeArrowheads="1"/>
          </p:cNvSpPr>
          <p:nvPr>
            <p:ph type="title"/>
          </p:nvPr>
        </p:nvSpPr>
        <p:spPr/>
        <p:txBody>
          <a:bodyPr/>
          <a:lstStyle/>
          <a:p>
            <a:pPr eaLnBrk="1" hangingPunct="1"/>
            <a:r>
              <a:rPr lang="zh-CN" altLang="en-US" b="1"/>
              <a:t>7.</a:t>
            </a:r>
            <a:r>
              <a:rPr lang="en-US" altLang="zh-CN" b="1"/>
              <a:t>1 </a:t>
            </a:r>
            <a:r>
              <a:rPr lang="zh-CN" altLang="en-US" b="1"/>
              <a:t>指针对指向变量的访问</a:t>
            </a:r>
          </a:p>
        </p:txBody>
      </p:sp>
      <p:sp>
        <p:nvSpPr>
          <p:cNvPr id="12291" name="Rectangle 3">
            <a:extLst>
              <a:ext uri="{FF2B5EF4-FFF2-40B4-BE49-F238E27FC236}">
                <a16:creationId xmlns:a16="http://schemas.microsoft.com/office/drawing/2014/main" id="{FBFB6D34-4267-4EE7-922B-89BC019B7A87}"/>
              </a:ext>
            </a:extLst>
          </p:cNvPr>
          <p:cNvSpPr>
            <a:spLocks noGrp="1" noChangeArrowheads="1"/>
          </p:cNvSpPr>
          <p:nvPr>
            <p:ph idx="1"/>
          </p:nvPr>
        </p:nvSpPr>
        <p:spPr>
          <a:xfrm>
            <a:off x="395288" y="1341438"/>
            <a:ext cx="6334125" cy="3167062"/>
          </a:xfrm>
        </p:spPr>
        <p:txBody>
          <a:bodyPr/>
          <a:lstStyle/>
          <a:p>
            <a:pPr eaLnBrk="1" hangingPunct="1">
              <a:buFontTx/>
              <a:buNone/>
            </a:pPr>
            <a:r>
              <a:rPr lang="en-US" altLang="zh-CN" sz="2400" b="1" dirty="0">
                <a:latin typeface="Consolas" panose="020B0609020204030204" pitchFamily="49" charset="0"/>
              </a:rPr>
              <a:t>void swap(</a:t>
            </a:r>
            <a:r>
              <a:rPr lang="en-US" altLang="zh-CN" sz="2400" b="1" dirty="0">
                <a:solidFill>
                  <a:srgbClr val="0000FF"/>
                </a:solidFill>
                <a:latin typeface="Consolas" panose="020B0609020204030204" pitchFamily="49" charset="0"/>
              </a:rPr>
              <a:t>int * </a:t>
            </a:r>
            <a:r>
              <a:rPr lang="en-US" altLang="zh-CN" sz="2400" b="1" dirty="0" err="1">
                <a:solidFill>
                  <a:srgbClr val="0000FF"/>
                </a:solidFill>
                <a:latin typeface="Consolas" panose="020B0609020204030204" pitchFamily="49" charset="0"/>
              </a:rPr>
              <a:t>p1</a:t>
            </a:r>
            <a:r>
              <a:rPr lang="en-US" altLang="zh-CN" sz="2400" b="1" dirty="0">
                <a:solidFill>
                  <a:srgbClr val="0000FF"/>
                </a:solidFill>
                <a:latin typeface="Consolas" panose="020B0609020204030204" pitchFamily="49" charset="0"/>
              </a:rPr>
              <a:t>, int * </a:t>
            </a:r>
            <a:r>
              <a:rPr lang="en-US" altLang="zh-CN" sz="2400" b="1" dirty="0" err="1">
                <a:solidFill>
                  <a:srgbClr val="0000FF"/>
                </a:solidFill>
                <a:latin typeface="Consolas" panose="020B0609020204030204" pitchFamily="49" charset="0"/>
              </a:rPr>
              <a:t>p2</a:t>
            </a: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    int </a:t>
            </a:r>
            <a:r>
              <a:rPr lang="en-US" altLang="zh-CN" sz="2400" b="1" dirty="0" err="1">
                <a:latin typeface="Consolas" panose="020B0609020204030204" pitchFamily="49" charset="0"/>
              </a:rPr>
              <a:t>tmp</a:t>
            </a: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    </a:t>
            </a:r>
            <a:r>
              <a:rPr lang="en-US" altLang="zh-CN" sz="2400" b="1" dirty="0" err="1">
                <a:latin typeface="Consolas" panose="020B0609020204030204" pitchFamily="49" charset="0"/>
              </a:rPr>
              <a:t>tmp</a:t>
            </a:r>
            <a:r>
              <a:rPr lang="en-US" altLang="zh-CN" sz="2400" b="1" dirty="0">
                <a:latin typeface="Consolas" panose="020B0609020204030204" pitchFamily="49" charset="0"/>
              </a:rPr>
              <a:t>=</a:t>
            </a:r>
            <a:r>
              <a:rPr lang="en-US" altLang="zh-CN" sz="2400" b="1" dirty="0">
                <a:solidFill>
                  <a:srgbClr val="FF0000"/>
                </a:solidFill>
                <a:latin typeface="Consolas" panose="020B0609020204030204" pitchFamily="49" charset="0"/>
              </a:rPr>
              <a:t>*</a:t>
            </a:r>
            <a:r>
              <a:rPr lang="en-US" altLang="zh-CN" sz="2400" b="1" dirty="0" err="1">
                <a:solidFill>
                  <a:srgbClr val="FF0000"/>
                </a:solidFill>
                <a:latin typeface="Consolas" panose="020B0609020204030204" pitchFamily="49" charset="0"/>
              </a:rPr>
              <a:t>p1</a:t>
            </a: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    *</a:t>
            </a:r>
            <a:r>
              <a:rPr lang="en-US" altLang="zh-CN" sz="2400" b="1" dirty="0" err="1">
                <a:latin typeface="Consolas" panose="020B0609020204030204" pitchFamily="49" charset="0"/>
              </a:rPr>
              <a:t>p1</a:t>
            </a:r>
            <a:r>
              <a:rPr lang="en-US" altLang="zh-CN" sz="2400" b="1" dirty="0">
                <a:latin typeface="Consolas" panose="020B0609020204030204" pitchFamily="49" charset="0"/>
              </a:rPr>
              <a:t> = *</a:t>
            </a:r>
            <a:r>
              <a:rPr lang="en-US" altLang="zh-CN" sz="2400" b="1" dirty="0" err="1">
                <a:latin typeface="Consolas" panose="020B0609020204030204" pitchFamily="49" charset="0"/>
              </a:rPr>
              <a:t>p2</a:t>
            </a: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a:t>
            </a:r>
            <a:r>
              <a:rPr lang="en-US" altLang="zh-CN" sz="2400" b="1" dirty="0" err="1">
                <a:solidFill>
                  <a:srgbClr val="FF0000"/>
                </a:solidFill>
                <a:latin typeface="Consolas" panose="020B0609020204030204" pitchFamily="49" charset="0"/>
              </a:rPr>
              <a:t>p2</a:t>
            </a:r>
            <a:r>
              <a:rPr lang="en-US" altLang="zh-CN" sz="2400" b="1" dirty="0">
                <a:solidFill>
                  <a:srgbClr val="FF0000"/>
                </a:solidFill>
                <a:latin typeface="Consolas" panose="020B0609020204030204" pitchFamily="49" charset="0"/>
              </a:rPr>
              <a:t> </a:t>
            </a:r>
            <a:r>
              <a:rPr lang="en-US" altLang="zh-CN" sz="2400" b="1" dirty="0">
                <a:latin typeface="Consolas" panose="020B0609020204030204" pitchFamily="49" charset="0"/>
              </a:rPr>
              <a:t>= </a:t>
            </a:r>
            <a:r>
              <a:rPr lang="en-US" altLang="zh-CN" sz="2400" b="1" dirty="0" err="1">
                <a:latin typeface="Consolas" panose="020B0609020204030204" pitchFamily="49" charset="0"/>
              </a:rPr>
              <a:t>tmp</a:t>
            </a: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a:t>
            </a:r>
          </a:p>
          <a:p>
            <a:pPr eaLnBrk="1" hangingPunct="1">
              <a:buFontTx/>
              <a:buNone/>
            </a:pPr>
            <a:r>
              <a:rPr lang="zh-CN" altLang="en-US" b="1" dirty="0"/>
              <a:t>表达式中</a:t>
            </a:r>
            <a:r>
              <a:rPr lang="zh-CN" altLang="en-US" b="1" dirty="0">
                <a:solidFill>
                  <a:srgbClr val="FF0000"/>
                </a:solidFill>
              </a:rPr>
              <a:t> </a:t>
            </a:r>
            <a:r>
              <a:rPr lang="en-US" altLang="zh-CN" b="1" dirty="0">
                <a:solidFill>
                  <a:srgbClr val="FF0000"/>
                </a:solidFill>
              </a:rPr>
              <a:t>*</a:t>
            </a:r>
            <a:r>
              <a:rPr lang="zh-CN" altLang="en-US" b="1" dirty="0">
                <a:solidFill>
                  <a:srgbClr val="FF0000"/>
                </a:solidFill>
              </a:rPr>
              <a:t>指针变量</a:t>
            </a:r>
            <a:endParaRPr lang="zh-CN" altLang="en-US" b="1" dirty="0"/>
          </a:p>
          <a:p>
            <a:pPr eaLnBrk="1" hangingPunct="1">
              <a:buFontTx/>
              <a:buNone/>
            </a:pPr>
            <a:r>
              <a:rPr lang="zh-CN" altLang="en-US" b="1" dirty="0"/>
              <a:t>表示对指向变量的访问。</a:t>
            </a:r>
            <a:endParaRPr lang="en-US" altLang="zh-CN" b="1" dirty="0"/>
          </a:p>
          <a:p>
            <a:pPr eaLnBrk="1" hangingPunct="1"/>
            <a:endParaRPr lang="zh-CN" altLang="en-US" dirty="0"/>
          </a:p>
        </p:txBody>
      </p:sp>
      <p:pic>
        <p:nvPicPr>
          <p:cNvPr id="12292" name="Picture 5">
            <a:extLst>
              <a:ext uri="{FF2B5EF4-FFF2-40B4-BE49-F238E27FC236}">
                <a16:creationId xmlns:a16="http://schemas.microsoft.com/office/drawing/2014/main" id="{D2C44B05-8DA7-4B7A-8875-799BEDF11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44675"/>
            <a:ext cx="4464050"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Line 6">
            <a:extLst>
              <a:ext uri="{FF2B5EF4-FFF2-40B4-BE49-F238E27FC236}">
                <a16:creationId xmlns:a16="http://schemas.microsoft.com/office/drawing/2014/main" id="{2EE17306-586E-4F02-926C-D40E305E1D65}"/>
              </a:ext>
            </a:extLst>
          </p:cNvPr>
          <p:cNvSpPr>
            <a:spLocks noChangeShapeType="1"/>
          </p:cNvSpPr>
          <p:nvPr/>
        </p:nvSpPr>
        <p:spPr bwMode="auto">
          <a:xfrm flipV="1">
            <a:off x="4500563" y="3687763"/>
            <a:ext cx="4572000" cy="28575"/>
          </a:xfrm>
          <a:prstGeom prst="line">
            <a:avLst/>
          </a:prstGeom>
          <a:noFill/>
          <a:ln w="9525">
            <a:solidFill>
              <a:srgbClr val="FF0000"/>
            </a:solidFill>
            <a:prstDash val="dash"/>
            <a:round/>
            <a:headEnd/>
            <a:tailEnd/>
          </a:ln>
          <a:effectLst>
            <a:prstShdw prst="shdw17" dist="17961" dir="13500000">
              <a:srgbClr val="99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2294" name="Text Box 7">
            <a:extLst>
              <a:ext uri="{FF2B5EF4-FFF2-40B4-BE49-F238E27FC236}">
                <a16:creationId xmlns:a16="http://schemas.microsoft.com/office/drawing/2014/main" id="{51821B11-5C2A-4D46-82D2-29A6914BEF18}"/>
              </a:ext>
            </a:extLst>
          </p:cNvPr>
          <p:cNvSpPr txBox="1">
            <a:spLocks noChangeArrowheads="1"/>
          </p:cNvSpPr>
          <p:nvPr/>
        </p:nvSpPr>
        <p:spPr bwMode="auto">
          <a:xfrm>
            <a:off x="5651500" y="1808163"/>
            <a:ext cx="1296988" cy="396875"/>
          </a:xfrm>
          <a:prstGeom prst="rect">
            <a:avLst/>
          </a:prstGeom>
          <a:solidFill>
            <a:schemeClr val="bg1"/>
          </a:solidFill>
          <a:ln>
            <a:noFill/>
          </a:ln>
          <a:effectLst>
            <a:prstShdw prst="shdw17" dist="17961" dir="13500000">
              <a:srgbClr val="9999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num1Ptr</a:t>
            </a:r>
          </a:p>
        </p:txBody>
      </p:sp>
      <p:sp>
        <p:nvSpPr>
          <p:cNvPr id="12295" name="Text Box 8">
            <a:extLst>
              <a:ext uri="{FF2B5EF4-FFF2-40B4-BE49-F238E27FC236}">
                <a16:creationId xmlns:a16="http://schemas.microsoft.com/office/drawing/2014/main" id="{527ADAFF-AC4F-4B5C-9E4D-F2BCF4892211}"/>
              </a:ext>
            </a:extLst>
          </p:cNvPr>
          <p:cNvSpPr txBox="1">
            <a:spLocks noChangeArrowheads="1"/>
          </p:cNvSpPr>
          <p:nvPr/>
        </p:nvSpPr>
        <p:spPr bwMode="auto">
          <a:xfrm>
            <a:off x="5651500" y="3573463"/>
            <a:ext cx="1296988" cy="396875"/>
          </a:xfrm>
          <a:prstGeom prst="rect">
            <a:avLst/>
          </a:prstGeom>
          <a:solidFill>
            <a:schemeClr val="bg1"/>
          </a:solidFill>
          <a:ln>
            <a:noFill/>
          </a:ln>
          <a:effectLst>
            <a:prstShdw prst="shdw17" dist="17961" dir="13500000">
              <a:srgbClr val="9999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num1Ptr</a:t>
            </a:r>
          </a:p>
        </p:txBody>
      </p:sp>
      <p:sp>
        <p:nvSpPr>
          <p:cNvPr id="12296" name="Text Box 9">
            <a:extLst>
              <a:ext uri="{FF2B5EF4-FFF2-40B4-BE49-F238E27FC236}">
                <a16:creationId xmlns:a16="http://schemas.microsoft.com/office/drawing/2014/main" id="{9FA01857-21C2-4B5C-A477-BD535DDE66D8}"/>
              </a:ext>
            </a:extLst>
          </p:cNvPr>
          <p:cNvSpPr txBox="1">
            <a:spLocks noChangeArrowheads="1"/>
          </p:cNvSpPr>
          <p:nvPr/>
        </p:nvSpPr>
        <p:spPr bwMode="auto">
          <a:xfrm>
            <a:off x="5651500" y="2708275"/>
            <a:ext cx="1296988" cy="366713"/>
          </a:xfrm>
          <a:prstGeom prst="rect">
            <a:avLst/>
          </a:prstGeom>
          <a:solidFill>
            <a:schemeClr val="bg1"/>
          </a:solidFill>
          <a:ln>
            <a:noFill/>
          </a:ln>
          <a:effectLst>
            <a:prstShdw prst="shdw17" dist="17961" dir="13500000">
              <a:srgbClr val="9999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a:t>num2Ptr</a:t>
            </a:r>
          </a:p>
        </p:txBody>
      </p:sp>
      <p:sp>
        <p:nvSpPr>
          <p:cNvPr id="12297" name="Text Box 10">
            <a:extLst>
              <a:ext uri="{FF2B5EF4-FFF2-40B4-BE49-F238E27FC236}">
                <a16:creationId xmlns:a16="http://schemas.microsoft.com/office/drawing/2014/main" id="{8BA41CE3-7C5E-4C2A-95F9-2F72EE49B878}"/>
              </a:ext>
            </a:extLst>
          </p:cNvPr>
          <p:cNvSpPr txBox="1">
            <a:spLocks noChangeArrowheads="1"/>
          </p:cNvSpPr>
          <p:nvPr/>
        </p:nvSpPr>
        <p:spPr bwMode="auto">
          <a:xfrm>
            <a:off x="5724525" y="4437063"/>
            <a:ext cx="1296988" cy="366712"/>
          </a:xfrm>
          <a:prstGeom prst="rect">
            <a:avLst/>
          </a:prstGeom>
          <a:solidFill>
            <a:schemeClr val="bg1"/>
          </a:solidFill>
          <a:ln>
            <a:noFill/>
          </a:ln>
          <a:effectLst>
            <a:prstShdw prst="shdw17" dist="17961" dir="13500000">
              <a:srgbClr val="9999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a:t>num2Ptr</a:t>
            </a:r>
          </a:p>
        </p:txBody>
      </p:sp>
      <p:sp>
        <p:nvSpPr>
          <p:cNvPr id="12298" name="椭圆 1">
            <a:extLst>
              <a:ext uri="{FF2B5EF4-FFF2-40B4-BE49-F238E27FC236}">
                <a16:creationId xmlns:a16="http://schemas.microsoft.com/office/drawing/2014/main" id="{2C90C49C-8812-402B-96D9-D9CBB6B708CB}"/>
              </a:ext>
            </a:extLst>
          </p:cNvPr>
          <p:cNvSpPr>
            <a:spLocks noChangeArrowheads="1"/>
          </p:cNvSpPr>
          <p:nvPr/>
        </p:nvSpPr>
        <p:spPr bwMode="auto">
          <a:xfrm>
            <a:off x="7021513" y="1628775"/>
            <a:ext cx="1873250" cy="2087563"/>
          </a:xfrm>
          <a:prstGeom prst="ellipse">
            <a:avLst/>
          </a:prstGeom>
          <a:solidFill>
            <a:srgbClr val="DDDDDD">
              <a:alpha val="20000"/>
            </a:srgbClr>
          </a:solidFill>
          <a:ln w="9525">
            <a:solidFill>
              <a:schemeClr val="tx1"/>
            </a:solidFill>
            <a:round/>
            <a:headEnd/>
            <a:tailEnd/>
          </a:ln>
          <a:effectLst>
            <a:prstShdw prst="shdw17" dist="17961" dir="13500000">
              <a:srgbClr val="000000"/>
            </a:prstShdw>
          </a:effec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en-US"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灯片编号占位符 5">
            <a:extLst>
              <a:ext uri="{FF2B5EF4-FFF2-40B4-BE49-F238E27FC236}">
                <a16:creationId xmlns:a16="http://schemas.microsoft.com/office/drawing/2014/main" id="{15FF15B6-C90C-47FE-9BA2-B2AD44BD068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BA17E09-4A81-4F2E-8407-41AC9DB61F1F}" type="slidenum">
              <a:rPr lang="zh-CN" altLang="en-US" smtClean="0"/>
              <a:pPr/>
              <a:t>9</a:t>
            </a:fld>
            <a:endParaRPr lang="zh-CN" altLang="en-US"/>
          </a:p>
        </p:txBody>
      </p:sp>
      <p:sp>
        <p:nvSpPr>
          <p:cNvPr id="57346" name="Rectangle 3">
            <a:extLst>
              <a:ext uri="{FF2B5EF4-FFF2-40B4-BE49-F238E27FC236}">
                <a16:creationId xmlns:a16="http://schemas.microsoft.com/office/drawing/2014/main" id="{86B4CE0C-B9CF-4C6C-810E-A2C6E5CB55E6}"/>
              </a:ext>
            </a:extLst>
          </p:cNvPr>
          <p:cNvSpPr>
            <a:spLocks noGrp="1"/>
          </p:cNvSpPr>
          <p:nvPr>
            <p:ph idx="1"/>
          </p:nvPr>
        </p:nvSpPr>
        <p:spPr>
          <a:xfrm>
            <a:off x="395288" y="1319213"/>
            <a:ext cx="8458200" cy="4611687"/>
          </a:xfrm>
        </p:spPr>
        <p:txBody>
          <a:bodyPr/>
          <a:lstStyle/>
          <a:p>
            <a:pPr eaLnBrk="1" hangingPunct="1">
              <a:buFontTx/>
              <a:buNone/>
            </a:pPr>
            <a:r>
              <a:rPr lang="en-US" altLang="zh-CN" b="1" noProof="1"/>
              <a:t>C</a:t>
            </a:r>
            <a:r>
              <a:rPr lang="zh-CN" altLang="en-US" b="1" noProof="1"/>
              <a:t>语言中指针和数组有着密切关系</a:t>
            </a:r>
            <a:r>
              <a:rPr lang="en-US" altLang="zh-CN" b="1" noProof="1"/>
              <a:t>:</a:t>
            </a:r>
          </a:p>
          <a:p>
            <a:pPr eaLnBrk="1" hangingPunct="1">
              <a:buFontTx/>
              <a:buNone/>
            </a:pPr>
            <a:r>
              <a:rPr lang="en-US" altLang="zh-CN" b="1" noProof="1">
                <a:solidFill>
                  <a:srgbClr val="FF0000"/>
                </a:solidFill>
                <a:latin typeface="微软雅黑" panose="020B0503020204020204" pitchFamily="34" charset="-122"/>
                <a:ea typeface="微软雅黑" panose="020B0503020204020204" pitchFamily="34" charset="-122"/>
              </a:rPr>
              <a:t>1. </a:t>
            </a:r>
            <a:r>
              <a:rPr lang="zh-CN" altLang="en-US" b="1" noProof="1">
                <a:solidFill>
                  <a:srgbClr val="FF0000"/>
                </a:solidFill>
                <a:latin typeface="微软雅黑" panose="020B0503020204020204" pitchFamily="34" charset="-122"/>
                <a:ea typeface="微软雅黑" panose="020B0503020204020204" pitchFamily="34" charset="-122"/>
              </a:rPr>
              <a:t>一维数组名可看作是一个指向数组中下标为</a:t>
            </a:r>
            <a:r>
              <a:rPr lang="en-US" altLang="zh-CN" b="1" noProof="1">
                <a:solidFill>
                  <a:srgbClr val="FF0000"/>
                </a:solidFill>
                <a:latin typeface="微软雅黑" panose="020B0503020204020204" pitchFamily="34" charset="-122"/>
                <a:ea typeface="微软雅黑" panose="020B0503020204020204" pitchFamily="34" charset="-122"/>
              </a:rPr>
              <a:t>0</a:t>
            </a:r>
            <a:r>
              <a:rPr lang="zh-CN" altLang="en-US" b="1" noProof="1">
                <a:solidFill>
                  <a:srgbClr val="FF0000"/>
                </a:solidFill>
                <a:latin typeface="微软雅黑" panose="020B0503020204020204" pitchFamily="34" charset="-122"/>
                <a:ea typeface="微软雅黑" panose="020B0503020204020204" pitchFamily="34" charset="-122"/>
              </a:rPr>
              <a:t>的元素的指针常量。</a:t>
            </a:r>
          </a:p>
          <a:p>
            <a:pPr marL="0" indent="0">
              <a:buFontTx/>
              <a:buNone/>
            </a:pPr>
            <a:r>
              <a:rPr lang="zh-CN" altLang="en-US" b="1" noProof="1">
                <a:sym typeface="+mn-ea"/>
              </a:rPr>
              <a:t>例：</a:t>
            </a:r>
          </a:p>
          <a:p>
            <a:pPr marL="0" indent="0">
              <a:buFontTx/>
              <a:buNone/>
            </a:pPr>
            <a:r>
              <a:rPr lang="en-US" altLang="zh-CN" b="1" noProof="1">
                <a:sym typeface="+mn-ea"/>
              </a:rPr>
              <a:t>int   a [6];</a:t>
            </a:r>
            <a:endParaRPr lang="en-US" altLang="zh-CN" b="1" noProof="1"/>
          </a:p>
          <a:p>
            <a:pPr marL="0" indent="0">
              <a:buFontTx/>
              <a:buNone/>
            </a:pPr>
            <a:r>
              <a:rPr lang="en-US" altLang="zh-CN" b="1" noProof="1">
                <a:sym typeface="+mn-ea"/>
              </a:rPr>
              <a:t>a[0]=3; //</a:t>
            </a:r>
            <a:r>
              <a:rPr lang="zh-CN" altLang="en-US" b="1" noProof="1">
                <a:sym typeface="+mn-ea"/>
              </a:rPr>
              <a:t>数组下标访问法</a:t>
            </a:r>
            <a:r>
              <a:rPr lang="zh-CN" altLang="en-US" b="1" noProof="1">
                <a:sym typeface="Symbol" panose="05050102010706020507" pitchFamily="18" charset="2"/>
              </a:rPr>
              <a:t> </a:t>
            </a:r>
          </a:p>
          <a:p>
            <a:pPr marL="0" indent="0">
              <a:buFontTx/>
              <a:buNone/>
            </a:pPr>
            <a:r>
              <a:rPr lang="zh-CN" altLang="en-US" b="1" noProof="1">
                <a:sym typeface="Symbol" panose="05050102010706020507" pitchFamily="18" charset="2"/>
              </a:rPr>
              <a:t>*</a:t>
            </a:r>
            <a:r>
              <a:rPr lang="en-US" altLang="zh-CN" b="1" noProof="1">
                <a:sym typeface="Symbol" panose="05050102010706020507" pitchFamily="18" charset="2"/>
              </a:rPr>
              <a:t>(a+3)=5;//</a:t>
            </a:r>
            <a:r>
              <a:rPr lang="zh-CN" altLang="en-US" b="1" noProof="1">
                <a:sym typeface="Symbol" panose="05050102010706020507" pitchFamily="18" charset="2"/>
              </a:rPr>
              <a:t>指针表示法</a:t>
            </a:r>
          </a:p>
          <a:p>
            <a:pPr marL="0" indent="0" eaLnBrk="1" hangingPunct="1">
              <a:buFontTx/>
              <a:buNone/>
            </a:pPr>
            <a:endParaRPr lang="zh-CN" altLang="en-US" b="1" noProof="1">
              <a:solidFill>
                <a:srgbClr val="FF0000"/>
              </a:solidFill>
              <a:latin typeface="微软雅黑" panose="020B0503020204020204" pitchFamily="34" charset="-122"/>
              <a:ea typeface="微软雅黑" panose="020B0503020204020204" pitchFamily="34" charset="-122"/>
            </a:endParaRPr>
          </a:p>
          <a:p>
            <a:pPr eaLnBrk="1" hangingPunct="1">
              <a:buFontTx/>
              <a:buNone/>
            </a:pPr>
            <a:r>
              <a:rPr lang="zh-CN" altLang="en-US" b="1" noProof="1"/>
              <a:t>    </a:t>
            </a:r>
            <a:endParaRPr lang="en-US" altLang="zh-CN" b="1" noProof="1"/>
          </a:p>
          <a:p>
            <a:pPr eaLnBrk="1" hangingPunct="1"/>
            <a:endParaRPr lang="zh-CN" altLang="en-US" b="1" noProof="1"/>
          </a:p>
          <a:p>
            <a:pPr eaLnBrk="1" hangingPunct="1"/>
            <a:endParaRPr lang="zh-CN" altLang="en-US" b="1" noProof="1"/>
          </a:p>
        </p:txBody>
      </p:sp>
      <p:sp>
        <p:nvSpPr>
          <p:cNvPr id="13315" name="Rectangle 5">
            <a:extLst>
              <a:ext uri="{FF2B5EF4-FFF2-40B4-BE49-F238E27FC236}">
                <a16:creationId xmlns:a16="http://schemas.microsoft.com/office/drawing/2014/main" id="{AD0901AF-F080-409E-B433-000A053244BD}"/>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2 </a:t>
            </a:r>
            <a:r>
              <a:rPr lang="zh-CN" altLang="en-US" b="1">
                <a:latin typeface="微软雅黑" panose="020B0503020204020204" pitchFamily="34" charset="-122"/>
                <a:ea typeface="微软雅黑" panose="020B0503020204020204" pitchFamily="34" charset="-122"/>
              </a:rPr>
              <a:t>指针和数组</a:t>
            </a:r>
            <a:endParaRPr lang="zh-CN" altLang="en-US" b="1"/>
          </a:p>
        </p:txBody>
      </p:sp>
      <p:grpSp>
        <p:nvGrpSpPr>
          <p:cNvPr id="13316" name="Group 6">
            <a:extLst>
              <a:ext uri="{FF2B5EF4-FFF2-40B4-BE49-F238E27FC236}">
                <a16:creationId xmlns:a16="http://schemas.microsoft.com/office/drawing/2014/main" id="{77D9EFB9-23CE-4020-A83F-FC572308E2E2}"/>
              </a:ext>
            </a:extLst>
          </p:cNvPr>
          <p:cNvGrpSpPr>
            <a:grpSpLocks/>
          </p:cNvGrpSpPr>
          <p:nvPr/>
        </p:nvGrpSpPr>
        <p:grpSpPr bwMode="auto">
          <a:xfrm>
            <a:off x="4643438" y="2636838"/>
            <a:ext cx="4033837" cy="2673350"/>
            <a:chOff x="3197" y="1944"/>
            <a:chExt cx="2541" cy="1684"/>
          </a:xfrm>
        </p:grpSpPr>
        <p:sp>
          <p:nvSpPr>
            <p:cNvPr id="13317" name="Rectangle 7">
              <a:extLst>
                <a:ext uri="{FF2B5EF4-FFF2-40B4-BE49-F238E27FC236}">
                  <a16:creationId xmlns:a16="http://schemas.microsoft.com/office/drawing/2014/main" id="{886AF127-DFA2-424D-ACC6-A78F34254A24}"/>
                </a:ext>
              </a:extLst>
            </p:cNvPr>
            <p:cNvSpPr>
              <a:spLocks noChangeArrowheads="1"/>
            </p:cNvSpPr>
            <p:nvPr/>
          </p:nvSpPr>
          <p:spPr bwMode="auto">
            <a:xfrm>
              <a:off x="3892" y="2181"/>
              <a:ext cx="1216" cy="1429"/>
            </a:xfrm>
            <a:prstGeom prst="rect">
              <a:avLst/>
            </a:prstGeom>
            <a:solidFill>
              <a:srgbClr val="CCFFCC"/>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3318" name="Line 8">
              <a:extLst>
                <a:ext uri="{FF2B5EF4-FFF2-40B4-BE49-F238E27FC236}">
                  <a16:creationId xmlns:a16="http://schemas.microsoft.com/office/drawing/2014/main" id="{406E4CB9-5180-4124-B1E4-3DDC6F27558E}"/>
                </a:ext>
              </a:extLst>
            </p:cNvPr>
            <p:cNvSpPr>
              <a:spLocks noChangeShapeType="1"/>
            </p:cNvSpPr>
            <p:nvPr/>
          </p:nvSpPr>
          <p:spPr bwMode="auto">
            <a:xfrm>
              <a:off x="3892" y="2414"/>
              <a:ext cx="121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9" name="Line 9">
              <a:extLst>
                <a:ext uri="{FF2B5EF4-FFF2-40B4-BE49-F238E27FC236}">
                  <a16:creationId xmlns:a16="http://schemas.microsoft.com/office/drawing/2014/main" id="{21FB9FB8-F3CE-4ED3-8758-284B90707BBB}"/>
                </a:ext>
              </a:extLst>
            </p:cNvPr>
            <p:cNvSpPr>
              <a:spLocks noChangeShapeType="1"/>
            </p:cNvSpPr>
            <p:nvPr/>
          </p:nvSpPr>
          <p:spPr bwMode="auto">
            <a:xfrm>
              <a:off x="3898" y="2632"/>
              <a:ext cx="12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 name="Line 10">
              <a:extLst>
                <a:ext uri="{FF2B5EF4-FFF2-40B4-BE49-F238E27FC236}">
                  <a16:creationId xmlns:a16="http://schemas.microsoft.com/office/drawing/2014/main" id="{03D8A339-EA3A-4047-AF5D-5AD90FD1D45D}"/>
                </a:ext>
              </a:extLst>
            </p:cNvPr>
            <p:cNvSpPr>
              <a:spLocks noChangeShapeType="1"/>
            </p:cNvSpPr>
            <p:nvPr/>
          </p:nvSpPr>
          <p:spPr bwMode="auto">
            <a:xfrm>
              <a:off x="3876" y="2855"/>
              <a:ext cx="121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 name="Line 11">
              <a:extLst>
                <a:ext uri="{FF2B5EF4-FFF2-40B4-BE49-F238E27FC236}">
                  <a16:creationId xmlns:a16="http://schemas.microsoft.com/office/drawing/2014/main" id="{FE12F8F4-E26C-4B51-81BE-1BA91A8C074B}"/>
                </a:ext>
              </a:extLst>
            </p:cNvPr>
            <p:cNvSpPr>
              <a:spLocks noChangeShapeType="1"/>
            </p:cNvSpPr>
            <p:nvPr/>
          </p:nvSpPr>
          <p:spPr bwMode="auto">
            <a:xfrm>
              <a:off x="3899" y="3099"/>
              <a:ext cx="12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 name="Line 12">
              <a:extLst>
                <a:ext uri="{FF2B5EF4-FFF2-40B4-BE49-F238E27FC236}">
                  <a16:creationId xmlns:a16="http://schemas.microsoft.com/office/drawing/2014/main" id="{A12B567E-DF0B-4EF6-9D73-687EFB25DB9D}"/>
                </a:ext>
              </a:extLst>
            </p:cNvPr>
            <p:cNvSpPr>
              <a:spLocks noChangeShapeType="1"/>
            </p:cNvSpPr>
            <p:nvPr/>
          </p:nvSpPr>
          <p:spPr bwMode="auto">
            <a:xfrm>
              <a:off x="3907" y="3339"/>
              <a:ext cx="121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 name="Text Box 13">
              <a:extLst>
                <a:ext uri="{FF2B5EF4-FFF2-40B4-BE49-F238E27FC236}">
                  <a16:creationId xmlns:a16="http://schemas.microsoft.com/office/drawing/2014/main" id="{1177E0A4-8762-4716-AA8A-8D54AC4F66E6}"/>
                </a:ext>
              </a:extLst>
            </p:cNvPr>
            <p:cNvSpPr txBox="1">
              <a:spLocks noChangeArrowheads="1"/>
            </p:cNvSpPr>
            <p:nvPr/>
          </p:nvSpPr>
          <p:spPr bwMode="auto">
            <a:xfrm>
              <a:off x="4231" y="1944"/>
              <a:ext cx="5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a:t>
              </a:r>
              <a:r>
                <a:rPr lang="zh-CN" altLang="zh-CN" sz="2000" b="1"/>
                <a:t>数组</a:t>
              </a:r>
              <a:endParaRPr lang="zh-CN" altLang="en-US" sz="2000" b="1"/>
            </a:p>
          </p:txBody>
        </p:sp>
        <p:sp>
          <p:nvSpPr>
            <p:cNvPr id="13324" name="Text Box 14">
              <a:extLst>
                <a:ext uri="{FF2B5EF4-FFF2-40B4-BE49-F238E27FC236}">
                  <a16:creationId xmlns:a16="http://schemas.microsoft.com/office/drawing/2014/main" id="{12CAF8ED-0516-4922-92F9-8A6B8129890B}"/>
                </a:ext>
              </a:extLst>
            </p:cNvPr>
            <p:cNvSpPr txBox="1">
              <a:spLocks noChangeArrowheads="1"/>
            </p:cNvSpPr>
            <p:nvPr/>
          </p:nvSpPr>
          <p:spPr bwMode="auto">
            <a:xfrm>
              <a:off x="3352" y="2317"/>
              <a:ext cx="19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a:t>
              </a:r>
            </a:p>
          </p:txBody>
        </p:sp>
        <p:sp>
          <p:nvSpPr>
            <p:cNvPr id="13325" name="Line 15">
              <a:extLst>
                <a:ext uri="{FF2B5EF4-FFF2-40B4-BE49-F238E27FC236}">
                  <a16:creationId xmlns:a16="http://schemas.microsoft.com/office/drawing/2014/main" id="{DC9D0C50-E3B6-4E89-9985-FA0359EA712E}"/>
                </a:ext>
              </a:extLst>
            </p:cNvPr>
            <p:cNvSpPr>
              <a:spLocks noChangeShapeType="1"/>
            </p:cNvSpPr>
            <p:nvPr/>
          </p:nvSpPr>
          <p:spPr bwMode="auto">
            <a:xfrm>
              <a:off x="3881" y="2293"/>
              <a:ext cx="12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6" name="Line 16">
              <a:extLst>
                <a:ext uri="{FF2B5EF4-FFF2-40B4-BE49-F238E27FC236}">
                  <a16:creationId xmlns:a16="http://schemas.microsoft.com/office/drawing/2014/main" id="{BA0058F8-334B-44FC-869A-78B000951800}"/>
                </a:ext>
              </a:extLst>
            </p:cNvPr>
            <p:cNvSpPr>
              <a:spLocks noChangeShapeType="1"/>
            </p:cNvSpPr>
            <p:nvPr/>
          </p:nvSpPr>
          <p:spPr bwMode="auto">
            <a:xfrm>
              <a:off x="3881" y="2536"/>
              <a:ext cx="12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7" name="Line 17">
              <a:extLst>
                <a:ext uri="{FF2B5EF4-FFF2-40B4-BE49-F238E27FC236}">
                  <a16:creationId xmlns:a16="http://schemas.microsoft.com/office/drawing/2014/main" id="{578ACE7E-6BA1-4C2B-B96B-B84EE37DEB12}"/>
                </a:ext>
              </a:extLst>
            </p:cNvPr>
            <p:cNvSpPr>
              <a:spLocks noChangeShapeType="1"/>
            </p:cNvSpPr>
            <p:nvPr/>
          </p:nvSpPr>
          <p:spPr bwMode="auto">
            <a:xfrm>
              <a:off x="3881" y="2757"/>
              <a:ext cx="12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8" name="Line 18">
              <a:extLst>
                <a:ext uri="{FF2B5EF4-FFF2-40B4-BE49-F238E27FC236}">
                  <a16:creationId xmlns:a16="http://schemas.microsoft.com/office/drawing/2014/main" id="{D2449470-3BDB-41E7-96C1-EC4EC711A366}"/>
                </a:ext>
              </a:extLst>
            </p:cNvPr>
            <p:cNvSpPr>
              <a:spLocks noChangeShapeType="1"/>
            </p:cNvSpPr>
            <p:nvPr/>
          </p:nvSpPr>
          <p:spPr bwMode="auto">
            <a:xfrm>
              <a:off x="3881" y="2990"/>
              <a:ext cx="12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9" name="Line 19">
              <a:extLst>
                <a:ext uri="{FF2B5EF4-FFF2-40B4-BE49-F238E27FC236}">
                  <a16:creationId xmlns:a16="http://schemas.microsoft.com/office/drawing/2014/main" id="{F9344D96-D920-4D56-88F2-3C70E63A1926}"/>
                </a:ext>
              </a:extLst>
            </p:cNvPr>
            <p:cNvSpPr>
              <a:spLocks noChangeShapeType="1"/>
            </p:cNvSpPr>
            <p:nvPr/>
          </p:nvSpPr>
          <p:spPr bwMode="auto">
            <a:xfrm>
              <a:off x="3881" y="3232"/>
              <a:ext cx="12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0" name="Line 20">
              <a:extLst>
                <a:ext uri="{FF2B5EF4-FFF2-40B4-BE49-F238E27FC236}">
                  <a16:creationId xmlns:a16="http://schemas.microsoft.com/office/drawing/2014/main" id="{0B1A267B-2E7C-4F90-8BFD-3D28C126CAE2}"/>
                </a:ext>
              </a:extLst>
            </p:cNvPr>
            <p:cNvSpPr>
              <a:spLocks noChangeShapeType="1"/>
            </p:cNvSpPr>
            <p:nvPr/>
          </p:nvSpPr>
          <p:spPr bwMode="auto">
            <a:xfrm>
              <a:off x="3881" y="3476"/>
              <a:ext cx="12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1" name="Text Box 21">
              <a:extLst>
                <a:ext uri="{FF2B5EF4-FFF2-40B4-BE49-F238E27FC236}">
                  <a16:creationId xmlns:a16="http://schemas.microsoft.com/office/drawing/2014/main" id="{7BCF019E-AC77-4895-877D-BA5431850291}"/>
                </a:ext>
              </a:extLst>
            </p:cNvPr>
            <p:cNvSpPr txBox="1">
              <a:spLocks noChangeArrowheads="1"/>
            </p:cNvSpPr>
            <p:nvPr/>
          </p:nvSpPr>
          <p:spPr bwMode="auto">
            <a:xfrm>
              <a:off x="5286" y="2026"/>
              <a:ext cx="4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3000</a:t>
              </a:r>
            </a:p>
          </p:txBody>
        </p:sp>
        <p:sp>
          <p:nvSpPr>
            <p:cNvPr id="13332" name="Text Box 22">
              <a:extLst>
                <a:ext uri="{FF2B5EF4-FFF2-40B4-BE49-F238E27FC236}">
                  <a16:creationId xmlns:a16="http://schemas.microsoft.com/office/drawing/2014/main" id="{166D3935-0988-4B52-AB96-084EF74C55E4}"/>
                </a:ext>
              </a:extLst>
            </p:cNvPr>
            <p:cNvSpPr txBox="1">
              <a:spLocks noChangeArrowheads="1"/>
            </p:cNvSpPr>
            <p:nvPr/>
          </p:nvSpPr>
          <p:spPr bwMode="auto">
            <a:xfrm>
              <a:off x="5301" y="2266"/>
              <a:ext cx="4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3002</a:t>
              </a:r>
            </a:p>
          </p:txBody>
        </p:sp>
        <p:sp>
          <p:nvSpPr>
            <p:cNvPr id="13333" name="Text Box 23">
              <a:extLst>
                <a:ext uri="{FF2B5EF4-FFF2-40B4-BE49-F238E27FC236}">
                  <a16:creationId xmlns:a16="http://schemas.microsoft.com/office/drawing/2014/main" id="{E603A5BB-E445-41D0-A696-AFD192CDAB79}"/>
                </a:ext>
              </a:extLst>
            </p:cNvPr>
            <p:cNvSpPr txBox="1">
              <a:spLocks noChangeArrowheads="1"/>
            </p:cNvSpPr>
            <p:nvPr/>
          </p:nvSpPr>
          <p:spPr bwMode="auto">
            <a:xfrm>
              <a:off x="5301" y="2506"/>
              <a:ext cx="4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3004</a:t>
              </a:r>
            </a:p>
          </p:txBody>
        </p:sp>
        <p:sp>
          <p:nvSpPr>
            <p:cNvPr id="13334" name="Text Box 24">
              <a:extLst>
                <a:ext uri="{FF2B5EF4-FFF2-40B4-BE49-F238E27FC236}">
                  <a16:creationId xmlns:a16="http://schemas.microsoft.com/office/drawing/2014/main" id="{C6739070-EED0-4767-AA95-ACFE70A3B7A1}"/>
                </a:ext>
              </a:extLst>
            </p:cNvPr>
            <p:cNvSpPr txBox="1">
              <a:spLocks noChangeArrowheads="1"/>
            </p:cNvSpPr>
            <p:nvPr/>
          </p:nvSpPr>
          <p:spPr bwMode="auto">
            <a:xfrm>
              <a:off x="5301" y="2746"/>
              <a:ext cx="4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3006</a:t>
              </a:r>
            </a:p>
          </p:txBody>
        </p:sp>
        <p:sp>
          <p:nvSpPr>
            <p:cNvPr id="13335" name="Text Box 25">
              <a:extLst>
                <a:ext uri="{FF2B5EF4-FFF2-40B4-BE49-F238E27FC236}">
                  <a16:creationId xmlns:a16="http://schemas.microsoft.com/office/drawing/2014/main" id="{422EDEB9-CD74-4748-8F65-B205273A57EE}"/>
                </a:ext>
              </a:extLst>
            </p:cNvPr>
            <p:cNvSpPr txBox="1">
              <a:spLocks noChangeArrowheads="1"/>
            </p:cNvSpPr>
            <p:nvPr/>
          </p:nvSpPr>
          <p:spPr bwMode="auto">
            <a:xfrm>
              <a:off x="5301" y="3216"/>
              <a:ext cx="4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3010</a:t>
              </a:r>
            </a:p>
          </p:txBody>
        </p:sp>
        <p:sp>
          <p:nvSpPr>
            <p:cNvPr id="13336" name="Text Box 26">
              <a:extLst>
                <a:ext uri="{FF2B5EF4-FFF2-40B4-BE49-F238E27FC236}">
                  <a16:creationId xmlns:a16="http://schemas.microsoft.com/office/drawing/2014/main" id="{E82C99C4-F8DA-47D0-8D17-33AD34236E80}"/>
                </a:ext>
              </a:extLst>
            </p:cNvPr>
            <p:cNvSpPr txBox="1">
              <a:spLocks noChangeArrowheads="1"/>
            </p:cNvSpPr>
            <p:nvPr/>
          </p:nvSpPr>
          <p:spPr bwMode="auto">
            <a:xfrm>
              <a:off x="4354" y="2170"/>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a[0]</a:t>
              </a:r>
            </a:p>
          </p:txBody>
        </p:sp>
        <p:sp>
          <p:nvSpPr>
            <p:cNvPr id="13337" name="Text Box 27">
              <a:extLst>
                <a:ext uri="{FF2B5EF4-FFF2-40B4-BE49-F238E27FC236}">
                  <a16:creationId xmlns:a16="http://schemas.microsoft.com/office/drawing/2014/main" id="{D17009A4-DF44-4E99-9D1F-7B99338FA581}"/>
                </a:ext>
              </a:extLst>
            </p:cNvPr>
            <p:cNvSpPr txBox="1">
              <a:spLocks noChangeArrowheads="1"/>
            </p:cNvSpPr>
            <p:nvPr/>
          </p:nvSpPr>
          <p:spPr bwMode="auto">
            <a:xfrm>
              <a:off x="4354" y="2412"/>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a[1]</a:t>
              </a:r>
            </a:p>
          </p:txBody>
        </p:sp>
        <p:sp>
          <p:nvSpPr>
            <p:cNvPr id="13338" name="Text Box 28">
              <a:extLst>
                <a:ext uri="{FF2B5EF4-FFF2-40B4-BE49-F238E27FC236}">
                  <a16:creationId xmlns:a16="http://schemas.microsoft.com/office/drawing/2014/main" id="{3E3F8B79-145D-4DB2-B2D6-A26CCAC91090}"/>
                </a:ext>
              </a:extLst>
            </p:cNvPr>
            <p:cNvSpPr txBox="1">
              <a:spLocks noChangeArrowheads="1"/>
            </p:cNvSpPr>
            <p:nvPr/>
          </p:nvSpPr>
          <p:spPr bwMode="auto">
            <a:xfrm>
              <a:off x="4354" y="2653"/>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a[2]</a:t>
              </a:r>
            </a:p>
          </p:txBody>
        </p:sp>
        <p:sp>
          <p:nvSpPr>
            <p:cNvPr id="13339" name="Text Box 29">
              <a:extLst>
                <a:ext uri="{FF2B5EF4-FFF2-40B4-BE49-F238E27FC236}">
                  <a16:creationId xmlns:a16="http://schemas.microsoft.com/office/drawing/2014/main" id="{4E1DB79C-31D6-4AA5-8544-94FF45382B79}"/>
                </a:ext>
              </a:extLst>
            </p:cNvPr>
            <p:cNvSpPr txBox="1">
              <a:spLocks noChangeArrowheads="1"/>
            </p:cNvSpPr>
            <p:nvPr/>
          </p:nvSpPr>
          <p:spPr bwMode="auto">
            <a:xfrm>
              <a:off x="4354" y="2895"/>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a[3]</a:t>
              </a:r>
            </a:p>
          </p:txBody>
        </p:sp>
        <p:sp>
          <p:nvSpPr>
            <p:cNvPr id="13340" name="Text Box 30">
              <a:extLst>
                <a:ext uri="{FF2B5EF4-FFF2-40B4-BE49-F238E27FC236}">
                  <a16:creationId xmlns:a16="http://schemas.microsoft.com/office/drawing/2014/main" id="{070CE3EA-7424-46DC-9743-3939D1546013}"/>
                </a:ext>
              </a:extLst>
            </p:cNvPr>
            <p:cNvSpPr txBox="1">
              <a:spLocks noChangeArrowheads="1"/>
            </p:cNvSpPr>
            <p:nvPr/>
          </p:nvSpPr>
          <p:spPr bwMode="auto">
            <a:xfrm>
              <a:off x="4343" y="3136"/>
              <a:ext cx="4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a[4]</a:t>
              </a:r>
            </a:p>
          </p:txBody>
        </p:sp>
        <p:sp>
          <p:nvSpPr>
            <p:cNvPr id="13341" name="Text Box 31">
              <a:extLst>
                <a:ext uri="{FF2B5EF4-FFF2-40B4-BE49-F238E27FC236}">
                  <a16:creationId xmlns:a16="http://schemas.microsoft.com/office/drawing/2014/main" id="{A454085A-0B1B-4E42-8DF1-6E6F5EF7116D}"/>
                </a:ext>
              </a:extLst>
            </p:cNvPr>
            <p:cNvSpPr txBox="1">
              <a:spLocks noChangeArrowheads="1"/>
            </p:cNvSpPr>
            <p:nvPr/>
          </p:nvSpPr>
          <p:spPr bwMode="auto">
            <a:xfrm>
              <a:off x="4354" y="3378"/>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a[5]</a:t>
              </a:r>
            </a:p>
          </p:txBody>
        </p:sp>
        <p:sp>
          <p:nvSpPr>
            <p:cNvPr id="13342" name="Line 32">
              <a:extLst>
                <a:ext uri="{FF2B5EF4-FFF2-40B4-BE49-F238E27FC236}">
                  <a16:creationId xmlns:a16="http://schemas.microsoft.com/office/drawing/2014/main" id="{85DA066A-8D10-4DE7-A81C-4817EB3D5E42}"/>
                </a:ext>
              </a:extLst>
            </p:cNvPr>
            <p:cNvSpPr>
              <a:spLocks noChangeShapeType="1"/>
            </p:cNvSpPr>
            <p:nvPr/>
          </p:nvSpPr>
          <p:spPr bwMode="auto">
            <a:xfrm>
              <a:off x="5117" y="2178"/>
              <a:ext cx="1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3" name="Line 33">
              <a:extLst>
                <a:ext uri="{FF2B5EF4-FFF2-40B4-BE49-F238E27FC236}">
                  <a16:creationId xmlns:a16="http://schemas.microsoft.com/office/drawing/2014/main" id="{D5A61D8A-D4B7-46F7-BBA7-1A18B0F8162B}"/>
                </a:ext>
              </a:extLst>
            </p:cNvPr>
            <p:cNvSpPr>
              <a:spLocks noChangeShapeType="1"/>
            </p:cNvSpPr>
            <p:nvPr/>
          </p:nvSpPr>
          <p:spPr bwMode="auto">
            <a:xfrm>
              <a:off x="5117" y="2410"/>
              <a:ext cx="1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4" name="Line 34">
              <a:extLst>
                <a:ext uri="{FF2B5EF4-FFF2-40B4-BE49-F238E27FC236}">
                  <a16:creationId xmlns:a16="http://schemas.microsoft.com/office/drawing/2014/main" id="{B13F1800-0808-43F1-81FB-D3A869574558}"/>
                </a:ext>
              </a:extLst>
            </p:cNvPr>
            <p:cNvSpPr>
              <a:spLocks noChangeShapeType="1"/>
            </p:cNvSpPr>
            <p:nvPr/>
          </p:nvSpPr>
          <p:spPr bwMode="auto">
            <a:xfrm>
              <a:off x="5125" y="2634"/>
              <a:ext cx="1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35">
              <a:extLst>
                <a:ext uri="{FF2B5EF4-FFF2-40B4-BE49-F238E27FC236}">
                  <a16:creationId xmlns:a16="http://schemas.microsoft.com/office/drawing/2014/main" id="{BC2D068E-ED23-494D-B2C8-ACD39D03143A}"/>
                </a:ext>
              </a:extLst>
            </p:cNvPr>
            <p:cNvSpPr>
              <a:spLocks noChangeShapeType="1"/>
            </p:cNvSpPr>
            <p:nvPr/>
          </p:nvSpPr>
          <p:spPr bwMode="auto">
            <a:xfrm>
              <a:off x="5117" y="2850"/>
              <a:ext cx="1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Line 36">
              <a:extLst>
                <a:ext uri="{FF2B5EF4-FFF2-40B4-BE49-F238E27FC236}">
                  <a16:creationId xmlns:a16="http://schemas.microsoft.com/office/drawing/2014/main" id="{C502E741-FFE5-4B49-AD9D-457BF1831B49}"/>
                </a:ext>
              </a:extLst>
            </p:cNvPr>
            <p:cNvSpPr>
              <a:spLocks noChangeShapeType="1"/>
            </p:cNvSpPr>
            <p:nvPr/>
          </p:nvSpPr>
          <p:spPr bwMode="auto">
            <a:xfrm>
              <a:off x="5117" y="3098"/>
              <a:ext cx="1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7" name="Line 37">
              <a:extLst>
                <a:ext uri="{FF2B5EF4-FFF2-40B4-BE49-F238E27FC236}">
                  <a16:creationId xmlns:a16="http://schemas.microsoft.com/office/drawing/2014/main" id="{067F1CBD-7092-4847-A61F-8FEC8227854A}"/>
                </a:ext>
              </a:extLst>
            </p:cNvPr>
            <p:cNvSpPr>
              <a:spLocks noChangeShapeType="1"/>
            </p:cNvSpPr>
            <p:nvPr/>
          </p:nvSpPr>
          <p:spPr bwMode="auto">
            <a:xfrm>
              <a:off x="5117" y="3338"/>
              <a:ext cx="1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8" name="Text Box 38">
              <a:extLst>
                <a:ext uri="{FF2B5EF4-FFF2-40B4-BE49-F238E27FC236}">
                  <a16:creationId xmlns:a16="http://schemas.microsoft.com/office/drawing/2014/main" id="{769FBC5E-EA1F-4165-8974-01EEA0970D30}"/>
                </a:ext>
              </a:extLst>
            </p:cNvPr>
            <p:cNvSpPr txBox="1">
              <a:spLocks noChangeArrowheads="1"/>
            </p:cNvSpPr>
            <p:nvPr/>
          </p:nvSpPr>
          <p:spPr bwMode="auto">
            <a:xfrm>
              <a:off x="5301" y="2952"/>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b="1"/>
                <a:t>3008</a:t>
              </a:r>
            </a:p>
          </p:txBody>
        </p:sp>
        <p:sp>
          <p:nvSpPr>
            <p:cNvPr id="271399" name="Line 39">
              <a:extLst>
                <a:ext uri="{FF2B5EF4-FFF2-40B4-BE49-F238E27FC236}">
                  <a16:creationId xmlns:a16="http://schemas.microsoft.com/office/drawing/2014/main" id="{AAD82478-C5E6-4143-B455-A068BE94B366}"/>
                </a:ext>
              </a:extLst>
            </p:cNvPr>
            <p:cNvSpPr>
              <a:spLocks noChangeShapeType="1"/>
            </p:cNvSpPr>
            <p:nvPr/>
          </p:nvSpPr>
          <p:spPr bwMode="auto">
            <a:xfrm>
              <a:off x="3560" y="2205"/>
              <a:ext cx="318"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13350" name="Text Box 40">
              <a:extLst>
                <a:ext uri="{FF2B5EF4-FFF2-40B4-BE49-F238E27FC236}">
                  <a16:creationId xmlns:a16="http://schemas.microsoft.com/office/drawing/2014/main" id="{F8021FE7-8BCC-4756-9624-24BB97632DEF}"/>
                </a:ext>
              </a:extLst>
            </p:cNvPr>
            <p:cNvSpPr txBox="1">
              <a:spLocks noChangeArrowheads="1"/>
            </p:cNvSpPr>
            <p:nvPr/>
          </p:nvSpPr>
          <p:spPr bwMode="auto">
            <a:xfrm>
              <a:off x="3197" y="2115"/>
              <a:ext cx="499" cy="239"/>
            </a:xfrm>
            <a:prstGeom prst="rect">
              <a:avLst/>
            </a:prstGeom>
            <a:noFill/>
            <a:ln w="12700">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a:t>3000</a:t>
              </a: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5">
            <a:extLst>
              <a:ext uri="{FF2B5EF4-FFF2-40B4-BE49-F238E27FC236}">
                <a16:creationId xmlns:a16="http://schemas.microsoft.com/office/drawing/2014/main" id="{DFE47ECA-D87E-423A-9757-E869CF41EAF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0"/>
              </a:spcBef>
            </a:pPr>
            <a:fld id="{80155A43-9F44-47D9-AF87-A3547C49A204}" type="slidenum">
              <a:rPr lang="zh-CN" altLang="en-US" smtClean="0"/>
              <a:pPr>
                <a:spcBef>
                  <a:spcPct val="0"/>
                </a:spcBef>
              </a:pPr>
              <a:t>10</a:t>
            </a:fld>
            <a:endParaRPr lang="zh-CN" altLang="en-US"/>
          </a:p>
        </p:txBody>
      </p:sp>
      <p:grpSp>
        <p:nvGrpSpPr>
          <p:cNvPr id="14338" name="组合 5">
            <a:extLst>
              <a:ext uri="{FF2B5EF4-FFF2-40B4-BE49-F238E27FC236}">
                <a16:creationId xmlns:a16="http://schemas.microsoft.com/office/drawing/2014/main" id="{06932B38-D12E-4AB8-8569-5C88EDFD2C1B}"/>
              </a:ext>
            </a:extLst>
          </p:cNvPr>
          <p:cNvGrpSpPr>
            <a:grpSpLocks/>
          </p:cNvGrpSpPr>
          <p:nvPr/>
        </p:nvGrpSpPr>
        <p:grpSpPr bwMode="auto">
          <a:xfrm>
            <a:off x="2933700" y="1561465"/>
            <a:ext cx="3598863" cy="3023870"/>
            <a:chOff x="-57" y="2792"/>
            <a:chExt cx="5668" cy="4762"/>
          </a:xfrm>
        </p:grpSpPr>
        <p:grpSp>
          <p:nvGrpSpPr>
            <p:cNvPr id="14339" name="Group 10">
              <a:extLst>
                <a:ext uri="{FF2B5EF4-FFF2-40B4-BE49-F238E27FC236}">
                  <a16:creationId xmlns:a16="http://schemas.microsoft.com/office/drawing/2014/main" id="{A9C8A252-5F44-4803-8622-EC0B2F770E83}"/>
                </a:ext>
              </a:extLst>
            </p:cNvPr>
            <p:cNvGrpSpPr>
              <a:grpSpLocks/>
            </p:cNvGrpSpPr>
            <p:nvPr/>
          </p:nvGrpSpPr>
          <p:grpSpPr bwMode="auto">
            <a:xfrm>
              <a:off x="-57" y="4151"/>
              <a:ext cx="1812" cy="1205"/>
              <a:chOff x="431" y="3067"/>
              <a:chExt cx="725" cy="482"/>
            </a:xfrm>
          </p:grpSpPr>
          <p:sp>
            <p:nvSpPr>
              <p:cNvPr id="14340" name="Text Box 11">
                <a:extLst>
                  <a:ext uri="{FF2B5EF4-FFF2-40B4-BE49-F238E27FC236}">
                    <a16:creationId xmlns:a16="http://schemas.microsoft.com/office/drawing/2014/main" id="{5E47CED3-EC36-47C9-9196-4DA3C8E1D9CB}"/>
                  </a:ext>
                </a:extLst>
              </p:cNvPr>
              <p:cNvSpPr txBox="1">
                <a:spLocks noChangeArrowheads="1"/>
              </p:cNvSpPr>
              <p:nvPr/>
            </p:nvSpPr>
            <p:spPr bwMode="auto">
              <a:xfrm>
                <a:off x="793" y="3113"/>
                <a:ext cx="363" cy="239"/>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b="1"/>
              </a:p>
            </p:txBody>
          </p:sp>
          <p:sp>
            <p:nvSpPr>
              <p:cNvPr id="14341" name="Text Box 12">
                <a:extLst>
                  <a:ext uri="{FF2B5EF4-FFF2-40B4-BE49-F238E27FC236}">
                    <a16:creationId xmlns:a16="http://schemas.microsoft.com/office/drawing/2014/main" id="{FB5D146D-230E-449A-9B81-B76CED222F09}"/>
                  </a:ext>
                </a:extLst>
              </p:cNvPr>
              <p:cNvSpPr txBox="1">
                <a:spLocks noChangeArrowheads="1"/>
              </p:cNvSpPr>
              <p:nvPr/>
            </p:nvSpPr>
            <p:spPr bwMode="auto">
              <a:xfrm>
                <a:off x="431" y="3067"/>
                <a:ext cx="408" cy="48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b="1"/>
                  <a:t>   a</a:t>
                </a:r>
              </a:p>
            </p:txBody>
          </p:sp>
        </p:grpSp>
        <p:grpSp>
          <p:nvGrpSpPr>
            <p:cNvPr id="14342" name="组合 2">
              <a:extLst>
                <a:ext uri="{FF2B5EF4-FFF2-40B4-BE49-F238E27FC236}">
                  <a16:creationId xmlns:a16="http://schemas.microsoft.com/office/drawing/2014/main" id="{2F65E981-B94F-4041-8FFD-78BEB1AE90DF}"/>
                </a:ext>
              </a:extLst>
            </p:cNvPr>
            <p:cNvGrpSpPr>
              <a:grpSpLocks/>
            </p:cNvGrpSpPr>
            <p:nvPr/>
          </p:nvGrpSpPr>
          <p:grpSpPr bwMode="auto">
            <a:xfrm>
              <a:off x="564" y="2792"/>
              <a:ext cx="5047" cy="4762"/>
              <a:chOff x="225" y="2792"/>
              <a:chExt cx="5047" cy="4762"/>
            </a:xfrm>
          </p:grpSpPr>
          <p:grpSp>
            <p:nvGrpSpPr>
              <p:cNvPr id="14343" name="Group 7">
                <a:extLst>
                  <a:ext uri="{FF2B5EF4-FFF2-40B4-BE49-F238E27FC236}">
                    <a16:creationId xmlns:a16="http://schemas.microsoft.com/office/drawing/2014/main" id="{1C38B8A6-A1B0-48A8-A70B-33EAC4ACD47B}"/>
                  </a:ext>
                </a:extLst>
              </p:cNvPr>
              <p:cNvGrpSpPr>
                <a:grpSpLocks/>
              </p:cNvGrpSpPr>
              <p:nvPr/>
            </p:nvGrpSpPr>
            <p:grpSpPr bwMode="auto">
              <a:xfrm>
                <a:off x="2552" y="4125"/>
                <a:ext cx="1812" cy="1592"/>
                <a:chOff x="431" y="3067"/>
                <a:chExt cx="725" cy="637"/>
              </a:xfrm>
            </p:grpSpPr>
            <p:sp>
              <p:nvSpPr>
                <p:cNvPr id="14344" name="Text Box 8">
                  <a:extLst>
                    <a:ext uri="{FF2B5EF4-FFF2-40B4-BE49-F238E27FC236}">
                      <a16:creationId xmlns:a16="http://schemas.microsoft.com/office/drawing/2014/main" id="{FC7C4D1C-CEE1-48DC-8395-D00943D91683}"/>
                    </a:ext>
                  </a:extLst>
                </p:cNvPr>
                <p:cNvSpPr txBox="1">
                  <a:spLocks noChangeArrowheads="1"/>
                </p:cNvSpPr>
                <p:nvPr/>
              </p:nvSpPr>
              <p:spPr bwMode="auto">
                <a:xfrm>
                  <a:off x="793" y="3113"/>
                  <a:ext cx="363" cy="239"/>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2000" b="1"/>
                </a:p>
              </p:txBody>
            </p:sp>
            <p:sp>
              <p:nvSpPr>
                <p:cNvPr id="14345" name="Text Box 9">
                  <a:extLst>
                    <a:ext uri="{FF2B5EF4-FFF2-40B4-BE49-F238E27FC236}">
                      <a16:creationId xmlns:a16="http://schemas.microsoft.com/office/drawing/2014/main" id="{88003413-57D5-4EA7-A939-E9000782B885}"/>
                    </a:ext>
                  </a:extLst>
                </p:cNvPr>
                <p:cNvSpPr txBox="1">
                  <a:spLocks noChangeArrowheads="1"/>
                </p:cNvSpPr>
                <p:nvPr/>
              </p:nvSpPr>
              <p:spPr bwMode="auto">
                <a:xfrm>
                  <a:off x="431" y="3067"/>
                  <a:ext cx="408" cy="637"/>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200" b="1"/>
                    <a:t>a[0]</a:t>
                  </a:r>
                </a:p>
              </p:txBody>
            </p:sp>
          </p:grpSp>
          <p:grpSp>
            <p:nvGrpSpPr>
              <p:cNvPr id="14346" name="Group 13">
                <a:extLst>
                  <a:ext uri="{FF2B5EF4-FFF2-40B4-BE49-F238E27FC236}">
                    <a16:creationId xmlns:a16="http://schemas.microsoft.com/office/drawing/2014/main" id="{C1B06219-9881-4769-A5B5-315E85F5AAC1}"/>
                  </a:ext>
                </a:extLst>
              </p:cNvPr>
              <p:cNvGrpSpPr>
                <a:grpSpLocks/>
              </p:cNvGrpSpPr>
              <p:nvPr/>
            </p:nvGrpSpPr>
            <p:grpSpPr bwMode="auto">
              <a:xfrm>
                <a:off x="2550" y="5417"/>
                <a:ext cx="1812" cy="1592"/>
                <a:chOff x="431" y="3067"/>
                <a:chExt cx="725" cy="637"/>
              </a:xfrm>
            </p:grpSpPr>
            <p:sp>
              <p:nvSpPr>
                <p:cNvPr id="14347" name="Text Box 14">
                  <a:extLst>
                    <a:ext uri="{FF2B5EF4-FFF2-40B4-BE49-F238E27FC236}">
                      <a16:creationId xmlns:a16="http://schemas.microsoft.com/office/drawing/2014/main" id="{6E98669C-0DDA-4240-926A-D8F429D4CBDF}"/>
                    </a:ext>
                  </a:extLst>
                </p:cNvPr>
                <p:cNvSpPr txBox="1">
                  <a:spLocks noChangeArrowheads="1"/>
                </p:cNvSpPr>
                <p:nvPr/>
              </p:nvSpPr>
              <p:spPr bwMode="auto">
                <a:xfrm>
                  <a:off x="793" y="3113"/>
                  <a:ext cx="363" cy="239"/>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2000" b="1"/>
                </a:p>
              </p:txBody>
            </p:sp>
            <p:sp>
              <p:nvSpPr>
                <p:cNvPr id="14348" name="Text Box 15">
                  <a:extLst>
                    <a:ext uri="{FF2B5EF4-FFF2-40B4-BE49-F238E27FC236}">
                      <a16:creationId xmlns:a16="http://schemas.microsoft.com/office/drawing/2014/main" id="{FDF48389-633D-4EE0-A1AF-1A314E2D4E9A}"/>
                    </a:ext>
                  </a:extLst>
                </p:cNvPr>
                <p:cNvSpPr txBox="1">
                  <a:spLocks noChangeArrowheads="1"/>
                </p:cNvSpPr>
                <p:nvPr/>
              </p:nvSpPr>
              <p:spPr bwMode="auto">
                <a:xfrm>
                  <a:off x="431" y="3067"/>
                  <a:ext cx="408" cy="637"/>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200" b="1"/>
                    <a:t>a[2</a:t>
                  </a:r>
                  <a:r>
                    <a:rPr lang="en-US" altLang="zh-CN" sz="2000" b="1"/>
                    <a:t>]</a:t>
                  </a:r>
                </a:p>
              </p:txBody>
            </p:sp>
          </p:grpSp>
          <p:sp>
            <p:nvSpPr>
              <p:cNvPr id="14349" name="Line 16">
                <a:extLst>
                  <a:ext uri="{FF2B5EF4-FFF2-40B4-BE49-F238E27FC236}">
                    <a16:creationId xmlns:a16="http://schemas.microsoft.com/office/drawing/2014/main" id="{80F78A6C-6C83-4DA2-AEFC-CBD6B51B5A6B}"/>
                  </a:ext>
                </a:extLst>
              </p:cNvPr>
              <p:cNvSpPr>
                <a:spLocks noChangeShapeType="1"/>
              </p:cNvSpPr>
              <p:nvPr/>
            </p:nvSpPr>
            <p:spPr bwMode="auto">
              <a:xfrm flipV="1">
                <a:off x="3912" y="2792"/>
                <a:ext cx="1247" cy="170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50" name="Line 17">
                <a:extLst>
                  <a:ext uri="{FF2B5EF4-FFF2-40B4-BE49-F238E27FC236}">
                    <a16:creationId xmlns:a16="http://schemas.microsoft.com/office/drawing/2014/main" id="{C143AD06-237D-48BC-9E28-3BBBAEAEAD46}"/>
                  </a:ext>
                </a:extLst>
              </p:cNvPr>
              <p:cNvSpPr>
                <a:spLocks noChangeShapeType="1"/>
              </p:cNvSpPr>
              <p:nvPr/>
            </p:nvSpPr>
            <p:spPr bwMode="auto">
              <a:xfrm>
                <a:off x="4025" y="5147"/>
                <a:ext cx="1247" cy="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51" name="Line 18">
                <a:extLst>
                  <a:ext uri="{FF2B5EF4-FFF2-40B4-BE49-F238E27FC236}">
                    <a16:creationId xmlns:a16="http://schemas.microsoft.com/office/drawing/2014/main" id="{CE8F24A1-B9BE-44E9-B9F1-815988DFBC45}"/>
                  </a:ext>
                </a:extLst>
              </p:cNvPr>
              <p:cNvSpPr>
                <a:spLocks noChangeShapeType="1"/>
              </p:cNvSpPr>
              <p:nvPr/>
            </p:nvSpPr>
            <p:spPr bwMode="auto">
              <a:xfrm>
                <a:off x="3912" y="5627"/>
                <a:ext cx="1247" cy="1927"/>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grpSp>
            <p:nvGrpSpPr>
              <p:cNvPr id="14352" name="Group 19">
                <a:extLst>
                  <a:ext uri="{FF2B5EF4-FFF2-40B4-BE49-F238E27FC236}">
                    <a16:creationId xmlns:a16="http://schemas.microsoft.com/office/drawing/2014/main" id="{BFED2DA3-D01B-473D-A842-5DA6CD7F6C9D}"/>
                  </a:ext>
                </a:extLst>
              </p:cNvPr>
              <p:cNvGrpSpPr>
                <a:grpSpLocks/>
              </p:cNvGrpSpPr>
              <p:nvPr/>
            </p:nvGrpSpPr>
            <p:grpSpPr bwMode="auto">
              <a:xfrm>
                <a:off x="2550" y="4757"/>
                <a:ext cx="1812" cy="1592"/>
                <a:chOff x="431" y="3067"/>
                <a:chExt cx="725" cy="637"/>
              </a:xfrm>
            </p:grpSpPr>
            <p:sp>
              <p:nvSpPr>
                <p:cNvPr id="14353" name="Text Box 20">
                  <a:extLst>
                    <a:ext uri="{FF2B5EF4-FFF2-40B4-BE49-F238E27FC236}">
                      <a16:creationId xmlns:a16="http://schemas.microsoft.com/office/drawing/2014/main" id="{D4060756-86EC-4654-B42B-99BFD2FBCE8C}"/>
                    </a:ext>
                  </a:extLst>
                </p:cNvPr>
                <p:cNvSpPr txBox="1">
                  <a:spLocks noChangeArrowheads="1"/>
                </p:cNvSpPr>
                <p:nvPr/>
              </p:nvSpPr>
              <p:spPr bwMode="auto">
                <a:xfrm>
                  <a:off x="793" y="3113"/>
                  <a:ext cx="363" cy="239"/>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2000" b="1"/>
                </a:p>
              </p:txBody>
            </p:sp>
            <p:sp>
              <p:nvSpPr>
                <p:cNvPr id="14354" name="Text Box 21">
                  <a:extLst>
                    <a:ext uri="{FF2B5EF4-FFF2-40B4-BE49-F238E27FC236}">
                      <a16:creationId xmlns:a16="http://schemas.microsoft.com/office/drawing/2014/main" id="{580871D6-B568-4892-9B68-9EC0846C7DBD}"/>
                    </a:ext>
                  </a:extLst>
                </p:cNvPr>
                <p:cNvSpPr txBox="1">
                  <a:spLocks noChangeArrowheads="1"/>
                </p:cNvSpPr>
                <p:nvPr/>
              </p:nvSpPr>
              <p:spPr bwMode="auto">
                <a:xfrm>
                  <a:off x="431" y="3067"/>
                  <a:ext cx="408" cy="637"/>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200" b="1"/>
                    <a:t>a[1]</a:t>
                  </a:r>
                </a:p>
              </p:txBody>
            </p:sp>
          </p:grpSp>
          <p:sp>
            <p:nvSpPr>
              <p:cNvPr id="14355" name="Line 22">
                <a:extLst>
                  <a:ext uri="{FF2B5EF4-FFF2-40B4-BE49-F238E27FC236}">
                    <a16:creationId xmlns:a16="http://schemas.microsoft.com/office/drawing/2014/main" id="{EA3C30A3-6324-4B98-9665-5F0FC7F71A79}"/>
                  </a:ext>
                </a:extLst>
              </p:cNvPr>
              <p:cNvSpPr>
                <a:spLocks noChangeShapeType="1"/>
              </p:cNvSpPr>
              <p:nvPr/>
            </p:nvSpPr>
            <p:spPr bwMode="auto">
              <a:xfrm>
                <a:off x="1302" y="4492"/>
                <a:ext cx="1247" cy="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56" name="Text Box 26">
                <a:extLst>
                  <a:ext uri="{FF2B5EF4-FFF2-40B4-BE49-F238E27FC236}">
                    <a16:creationId xmlns:a16="http://schemas.microsoft.com/office/drawing/2014/main" id="{E3A26126-327B-4D86-8554-085BBE23DF55}"/>
                  </a:ext>
                </a:extLst>
              </p:cNvPr>
              <p:cNvSpPr txBox="1">
                <a:spLocks noChangeArrowheads="1"/>
              </p:cNvSpPr>
              <p:nvPr/>
            </p:nvSpPr>
            <p:spPr bwMode="auto">
              <a:xfrm>
                <a:off x="225" y="3244"/>
                <a:ext cx="2270" cy="727"/>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dirty="0"/>
                  <a:t>二级指针</a:t>
                </a:r>
              </a:p>
            </p:txBody>
          </p:sp>
          <p:sp>
            <p:nvSpPr>
              <p:cNvPr id="14357" name="Text Box 27">
                <a:extLst>
                  <a:ext uri="{FF2B5EF4-FFF2-40B4-BE49-F238E27FC236}">
                    <a16:creationId xmlns:a16="http://schemas.microsoft.com/office/drawing/2014/main" id="{BB5C24CD-59F5-483D-B6AF-F5BE04A0CD94}"/>
                  </a:ext>
                </a:extLst>
              </p:cNvPr>
              <p:cNvSpPr txBox="1">
                <a:spLocks noChangeArrowheads="1"/>
              </p:cNvSpPr>
              <p:nvPr/>
            </p:nvSpPr>
            <p:spPr bwMode="auto">
              <a:xfrm>
                <a:off x="2777" y="3360"/>
                <a:ext cx="2267" cy="727"/>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dirty="0"/>
                  <a:t>一级指针</a:t>
                </a:r>
              </a:p>
            </p:txBody>
          </p:sp>
        </p:grpSp>
      </p:grpSp>
      <p:sp>
        <p:nvSpPr>
          <p:cNvPr id="14358" name="Rectangle 29">
            <a:extLst>
              <a:ext uri="{FF2B5EF4-FFF2-40B4-BE49-F238E27FC236}">
                <a16:creationId xmlns:a16="http://schemas.microsoft.com/office/drawing/2014/main" id="{25F03286-C4C3-4C29-A88E-A63582FCD2FE}"/>
              </a:ext>
            </a:extLst>
          </p:cNvPr>
          <p:cNvSpPr>
            <a:spLocks noChangeArrowheads="1"/>
          </p:cNvSpPr>
          <p:nvPr/>
        </p:nvSpPr>
        <p:spPr bwMode="auto">
          <a:xfrm>
            <a:off x="7777163" y="1304925"/>
            <a:ext cx="1225550" cy="1584325"/>
          </a:xfrm>
          <a:prstGeom prst="rect">
            <a:avLst/>
          </a:prstGeom>
          <a:solidFill>
            <a:srgbClr val="CCFFFF">
              <a:alpha val="65096"/>
            </a:srgbClr>
          </a:solidFill>
          <a:ln w="9525">
            <a:solidFill>
              <a:schemeClr val="tx1"/>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pic>
        <p:nvPicPr>
          <p:cNvPr id="14359" name="Picture 28">
            <a:extLst>
              <a:ext uri="{FF2B5EF4-FFF2-40B4-BE49-F238E27FC236}">
                <a16:creationId xmlns:a16="http://schemas.microsoft.com/office/drawing/2014/main" id="{6C560D08-4A20-4EAB-BB59-1930BACAEB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2563" y="1290638"/>
            <a:ext cx="2503487"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0" name="Rectangle 30">
            <a:extLst>
              <a:ext uri="{FF2B5EF4-FFF2-40B4-BE49-F238E27FC236}">
                <a16:creationId xmlns:a16="http://schemas.microsoft.com/office/drawing/2014/main" id="{ABAC3812-96D2-41DC-819E-31B27FEA0EC8}"/>
              </a:ext>
            </a:extLst>
          </p:cNvPr>
          <p:cNvSpPr>
            <a:spLocks noChangeArrowheads="1"/>
          </p:cNvSpPr>
          <p:nvPr/>
        </p:nvSpPr>
        <p:spPr bwMode="auto">
          <a:xfrm>
            <a:off x="7785100" y="2889250"/>
            <a:ext cx="1225550" cy="1584325"/>
          </a:xfrm>
          <a:prstGeom prst="rect">
            <a:avLst/>
          </a:prstGeom>
          <a:solidFill>
            <a:srgbClr val="00FF00">
              <a:alpha val="65096"/>
            </a:srgbClr>
          </a:solidFill>
          <a:ln w="9525">
            <a:solidFill>
              <a:schemeClr val="tx1"/>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61" name="Line 31">
            <a:extLst>
              <a:ext uri="{FF2B5EF4-FFF2-40B4-BE49-F238E27FC236}">
                <a16:creationId xmlns:a16="http://schemas.microsoft.com/office/drawing/2014/main" id="{BD211A8F-560A-4764-98BB-037097F6EFC4}"/>
              </a:ext>
            </a:extLst>
          </p:cNvPr>
          <p:cNvSpPr>
            <a:spLocks noChangeShapeType="1"/>
          </p:cNvSpPr>
          <p:nvPr/>
        </p:nvSpPr>
        <p:spPr bwMode="auto">
          <a:xfrm flipH="1">
            <a:off x="7883525" y="3738563"/>
            <a:ext cx="144463" cy="288925"/>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62" name="Line 32">
            <a:extLst>
              <a:ext uri="{FF2B5EF4-FFF2-40B4-BE49-F238E27FC236}">
                <a16:creationId xmlns:a16="http://schemas.microsoft.com/office/drawing/2014/main" id="{F679B9C3-4889-400A-BE55-F39FE908DAF9}"/>
              </a:ext>
            </a:extLst>
          </p:cNvPr>
          <p:cNvSpPr>
            <a:spLocks noChangeShapeType="1"/>
          </p:cNvSpPr>
          <p:nvPr/>
        </p:nvSpPr>
        <p:spPr bwMode="auto">
          <a:xfrm flipH="1">
            <a:off x="8099425" y="3738563"/>
            <a:ext cx="144463" cy="288925"/>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63" name="Line 33">
            <a:extLst>
              <a:ext uri="{FF2B5EF4-FFF2-40B4-BE49-F238E27FC236}">
                <a16:creationId xmlns:a16="http://schemas.microsoft.com/office/drawing/2014/main" id="{7E030433-778A-4487-A9F5-A1454574AB2C}"/>
              </a:ext>
            </a:extLst>
          </p:cNvPr>
          <p:cNvSpPr>
            <a:spLocks noChangeShapeType="1"/>
          </p:cNvSpPr>
          <p:nvPr/>
        </p:nvSpPr>
        <p:spPr bwMode="auto">
          <a:xfrm flipH="1">
            <a:off x="8316913" y="3738563"/>
            <a:ext cx="144462" cy="288925"/>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64" name="Line 34">
            <a:extLst>
              <a:ext uri="{FF2B5EF4-FFF2-40B4-BE49-F238E27FC236}">
                <a16:creationId xmlns:a16="http://schemas.microsoft.com/office/drawing/2014/main" id="{663CE530-0C87-4270-A8E3-403F7E6449B2}"/>
              </a:ext>
            </a:extLst>
          </p:cNvPr>
          <p:cNvSpPr>
            <a:spLocks noChangeShapeType="1"/>
          </p:cNvSpPr>
          <p:nvPr/>
        </p:nvSpPr>
        <p:spPr bwMode="auto">
          <a:xfrm flipH="1">
            <a:off x="8532813" y="3738563"/>
            <a:ext cx="144462" cy="288925"/>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4365" name="Line 35">
            <a:extLst>
              <a:ext uri="{FF2B5EF4-FFF2-40B4-BE49-F238E27FC236}">
                <a16:creationId xmlns:a16="http://schemas.microsoft.com/office/drawing/2014/main" id="{AC57FE67-C8AF-46BA-93DF-B797C2167AF0}"/>
              </a:ext>
            </a:extLst>
          </p:cNvPr>
          <p:cNvSpPr>
            <a:spLocks noChangeShapeType="1"/>
          </p:cNvSpPr>
          <p:nvPr/>
        </p:nvSpPr>
        <p:spPr bwMode="auto">
          <a:xfrm flipH="1">
            <a:off x="8747125" y="3738563"/>
            <a:ext cx="144463" cy="288925"/>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57346" name="Rectangle 3">
            <a:extLst>
              <a:ext uri="{FF2B5EF4-FFF2-40B4-BE49-F238E27FC236}">
                <a16:creationId xmlns:a16="http://schemas.microsoft.com/office/drawing/2014/main" id="{77C049DA-D3F0-4DD9-B8D6-D5E5ED324C31}"/>
              </a:ext>
            </a:extLst>
          </p:cNvPr>
          <p:cNvSpPr>
            <a:spLocks noGrp="1"/>
          </p:cNvSpPr>
          <p:nvPr>
            <p:ph idx="1"/>
          </p:nvPr>
        </p:nvSpPr>
        <p:spPr>
          <a:xfrm>
            <a:off x="227501" y="1259806"/>
            <a:ext cx="4524375" cy="5424487"/>
          </a:xfrm>
        </p:spPr>
        <p:txBody>
          <a:bodyPr/>
          <a:lstStyle/>
          <a:p>
            <a:pPr eaLnBrk="1" hangingPunct="1">
              <a:buFontTx/>
              <a:buNone/>
            </a:pPr>
            <a:r>
              <a:rPr lang="en-US" altLang="zh-CN" b="1" noProof="1">
                <a:solidFill>
                  <a:srgbClr val="FF0000"/>
                </a:solidFill>
                <a:latin typeface="微软雅黑" panose="020B0503020204020204" pitchFamily="34" charset="-122"/>
                <a:ea typeface="微软雅黑" panose="020B0503020204020204" pitchFamily="34" charset="-122"/>
              </a:rPr>
              <a:t>2. </a:t>
            </a:r>
            <a:r>
              <a:rPr lang="zh-CN" altLang="en-US" b="1" noProof="1">
                <a:solidFill>
                  <a:srgbClr val="FF0000"/>
                </a:solidFill>
                <a:latin typeface="微软雅黑" panose="020B0503020204020204" pitchFamily="34" charset="-122"/>
                <a:ea typeface="微软雅黑" panose="020B0503020204020204" pitchFamily="34" charset="-122"/>
              </a:rPr>
              <a:t>二维数组名是指向数组第</a:t>
            </a:r>
            <a:r>
              <a:rPr lang="en-US" altLang="zh-CN" b="1" noProof="1">
                <a:solidFill>
                  <a:srgbClr val="FF0000"/>
                </a:solidFill>
                <a:latin typeface="微软雅黑" panose="020B0503020204020204" pitchFamily="34" charset="-122"/>
                <a:ea typeface="微软雅黑" panose="020B0503020204020204" pitchFamily="34" charset="-122"/>
              </a:rPr>
              <a:t>0</a:t>
            </a:r>
            <a:r>
              <a:rPr lang="zh-CN" altLang="en-US" b="1" noProof="1">
                <a:solidFill>
                  <a:srgbClr val="FF0000"/>
                </a:solidFill>
                <a:latin typeface="微软雅黑" panose="020B0503020204020204" pitchFamily="34" charset="-122"/>
                <a:ea typeface="微软雅黑" panose="020B0503020204020204" pitchFamily="34" charset="-122"/>
              </a:rPr>
              <a:t>行的指针常量。</a:t>
            </a:r>
          </a:p>
          <a:p>
            <a:pPr marL="0" indent="0">
              <a:buFontTx/>
              <a:buNone/>
            </a:pPr>
            <a:r>
              <a:rPr lang="zh-CN" altLang="en-US" b="1" noProof="1">
                <a:sym typeface="+mn-ea"/>
              </a:rPr>
              <a:t>例：</a:t>
            </a:r>
          </a:p>
          <a:p>
            <a:pPr marL="0" indent="0">
              <a:buFontTx/>
              <a:buNone/>
            </a:pPr>
            <a:r>
              <a:rPr lang="en-US" altLang="zh-CN" b="1" noProof="1">
                <a:sym typeface="+mn-ea"/>
              </a:rPr>
              <a:t>int   a[3][4];</a:t>
            </a:r>
            <a:endParaRPr lang="en-US" altLang="zh-CN" b="1" noProof="1"/>
          </a:p>
          <a:p>
            <a:pPr marL="0" indent="0">
              <a:buFontTx/>
              <a:buNone/>
            </a:pPr>
            <a:r>
              <a:rPr lang="en-US" altLang="zh-CN" b="1" noProof="1">
                <a:sym typeface="+mn-ea"/>
              </a:rPr>
              <a:t>a[1][2]=3; //</a:t>
            </a:r>
            <a:r>
              <a:rPr lang="zh-CN" altLang="en-US" b="1" noProof="1">
                <a:sym typeface="+mn-ea"/>
              </a:rPr>
              <a:t>数组下标访问法</a:t>
            </a:r>
            <a:endParaRPr lang="en-US" altLang="zh-CN" b="1" noProof="1">
              <a:sym typeface="+mn-ea"/>
            </a:endParaRPr>
          </a:p>
          <a:p>
            <a:pPr marL="0" indent="0">
              <a:buFontTx/>
              <a:buNone/>
            </a:pPr>
            <a:r>
              <a:rPr lang="en-US" altLang="zh-CN" b="1" noProof="1">
                <a:sym typeface="+mn-ea"/>
              </a:rPr>
              <a:t>*(a+i)</a:t>
            </a:r>
            <a:r>
              <a:rPr lang="zh-CN" altLang="en-US" b="1" noProof="1">
                <a:sym typeface="Symbol" panose="05050102010706020507" pitchFamily="18" charset="2"/>
              </a:rPr>
              <a:t>等同</a:t>
            </a:r>
            <a:r>
              <a:rPr lang="en-US" altLang="zh-CN" b="1" noProof="1">
                <a:sym typeface="Symbol" panose="05050102010706020507" pitchFamily="18" charset="2"/>
              </a:rPr>
              <a:t>a[i],</a:t>
            </a:r>
            <a:r>
              <a:rPr lang="zh-CN" altLang="en-US" b="1" noProof="1">
                <a:sym typeface="Symbol" panose="05050102010706020507" pitchFamily="18" charset="2"/>
              </a:rPr>
              <a:t>仍是指针</a:t>
            </a:r>
          </a:p>
          <a:p>
            <a:pPr marL="0" indent="0">
              <a:buFontTx/>
              <a:buNone/>
            </a:pPr>
            <a:r>
              <a:rPr lang="en-US" altLang="zh-CN" b="1" noProof="1">
                <a:solidFill>
                  <a:srgbClr val="FF0000"/>
                </a:solidFill>
                <a:sym typeface="Symbol" panose="05050102010706020507" pitchFamily="18" charset="2"/>
              </a:rPr>
              <a:t>*(</a:t>
            </a:r>
            <a:r>
              <a:rPr lang="zh-CN" altLang="en-US" b="1" noProof="1">
                <a:solidFill>
                  <a:srgbClr val="FF0000"/>
                </a:solidFill>
                <a:sym typeface="Symbol" panose="05050102010706020507" pitchFamily="18" charset="2"/>
              </a:rPr>
              <a:t>*</a:t>
            </a:r>
            <a:r>
              <a:rPr lang="en-US" altLang="zh-CN" b="1" noProof="1">
                <a:solidFill>
                  <a:srgbClr val="FF0000"/>
                </a:solidFill>
                <a:sym typeface="Symbol" panose="05050102010706020507" pitchFamily="18" charset="2"/>
              </a:rPr>
              <a:t>(a+i)+j)</a:t>
            </a:r>
            <a:r>
              <a:rPr lang="en-US" altLang="zh-CN" b="1" noProof="1">
                <a:sym typeface="Symbol" panose="05050102010706020507" pitchFamily="18" charset="2"/>
              </a:rPr>
              <a:t>=5;</a:t>
            </a:r>
          </a:p>
          <a:p>
            <a:pPr marL="0" indent="0">
              <a:buFontTx/>
              <a:buNone/>
            </a:pPr>
            <a:r>
              <a:rPr lang="en-US" altLang="zh-CN" b="1" noProof="1">
                <a:sym typeface="Symbol" panose="05050102010706020507" pitchFamily="18" charset="2"/>
              </a:rPr>
              <a:t>//</a:t>
            </a:r>
            <a:r>
              <a:rPr lang="zh-CN" altLang="en-US" b="1" noProof="1">
                <a:sym typeface="Symbol" panose="05050102010706020507" pitchFamily="18" charset="2"/>
              </a:rPr>
              <a:t>二级指针表示</a:t>
            </a:r>
            <a:r>
              <a:rPr lang="en-US" altLang="zh-CN" b="1" noProof="1">
                <a:sym typeface="Symbol" panose="05050102010706020507" pitchFamily="18" charset="2"/>
              </a:rPr>
              <a:t>,</a:t>
            </a:r>
            <a:r>
              <a:rPr lang="zh-CN" altLang="en-US" b="1" noProof="1">
                <a:sym typeface="Symbol" panose="05050102010706020507" pitchFamily="18" charset="2"/>
              </a:rPr>
              <a:t>等同</a:t>
            </a:r>
            <a:r>
              <a:rPr lang="en-US" altLang="zh-CN" b="1" noProof="1">
                <a:sym typeface="Symbol" panose="05050102010706020507" pitchFamily="18" charset="2"/>
              </a:rPr>
              <a:t>a[i][j]</a:t>
            </a:r>
            <a:endParaRPr lang="en-US" altLang="zh-CN" b="1" noProof="1"/>
          </a:p>
          <a:p>
            <a:pPr eaLnBrk="1" hangingPunct="1"/>
            <a:endParaRPr lang="zh-CN" altLang="en-US" b="1" noProof="1"/>
          </a:p>
          <a:p>
            <a:pPr eaLnBrk="1" hangingPunct="1"/>
            <a:endParaRPr lang="zh-CN" altLang="en-US" b="1" noProof="1"/>
          </a:p>
        </p:txBody>
      </p:sp>
      <p:sp>
        <p:nvSpPr>
          <p:cNvPr id="14367" name="Rectangle 5">
            <a:extLst>
              <a:ext uri="{FF2B5EF4-FFF2-40B4-BE49-F238E27FC236}">
                <a16:creationId xmlns:a16="http://schemas.microsoft.com/office/drawing/2014/main" id="{67740C14-B528-429D-95C8-13EF92635F38}"/>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2 </a:t>
            </a:r>
            <a:r>
              <a:rPr lang="zh-CN" altLang="en-US" b="1">
                <a:latin typeface="微软雅黑" panose="020B0503020204020204" pitchFamily="34" charset="-122"/>
                <a:ea typeface="微软雅黑" panose="020B0503020204020204" pitchFamily="34" charset="-122"/>
              </a:rPr>
              <a:t>指针和数组</a:t>
            </a:r>
            <a:endParaRPr lang="zh-CN" altLang="en-US" b="1"/>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34817">
            <a:extLst>
              <a:ext uri="{FF2B5EF4-FFF2-40B4-BE49-F238E27FC236}">
                <a16:creationId xmlns:a16="http://schemas.microsoft.com/office/drawing/2014/main" id="{6A71AFF4-338F-492C-88B0-F08294CA5939}"/>
              </a:ext>
            </a:extLst>
          </p:cNvPr>
          <p:cNvSpPr txBox="1">
            <a:spLocks noChangeArrowheads="1"/>
          </p:cNvSpPr>
          <p:nvPr/>
        </p:nvSpPr>
        <p:spPr bwMode="auto">
          <a:xfrm>
            <a:off x="274606" y="1340768"/>
            <a:ext cx="3935767" cy="4125938"/>
          </a:xfrm>
          <a:prstGeom prst="rect">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pPr>
            <a:r>
              <a:rPr lang="en-US" altLang="zh-CN" sz="2200" dirty="0">
                <a:latin typeface="Consolas" panose="020B0609020204030204" pitchFamily="49" charset="0"/>
              </a:rPr>
              <a:t>void </a:t>
            </a:r>
            <a:r>
              <a:rPr lang="en-US" altLang="zh-CN" sz="2200" dirty="0" err="1">
                <a:latin typeface="Consolas" panose="020B0609020204030204" pitchFamily="49" charset="0"/>
              </a:rPr>
              <a:t>outArray1</a:t>
            </a:r>
            <a:r>
              <a:rPr lang="en-US" altLang="zh-CN" sz="2200" dirty="0">
                <a:latin typeface="Consolas" panose="020B0609020204030204" pitchFamily="49" charset="0"/>
              </a:rPr>
              <a:t>(int a[],int n)</a:t>
            </a:r>
          </a:p>
          <a:p>
            <a:pPr eaLnBrk="0" hangingPunct="0">
              <a:lnSpc>
                <a:spcPct val="120000"/>
              </a:lnSpc>
            </a:pPr>
            <a:r>
              <a:rPr lang="en-US" altLang="zh-CN" sz="2200" dirty="0">
                <a:latin typeface="Consolas" panose="020B0609020204030204" pitchFamily="49" charset="0"/>
              </a:rPr>
              <a:t>{   int  </a:t>
            </a:r>
            <a:r>
              <a:rPr lang="en-US" altLang="zh-CN" sz="2200" dirty="0" err="1">
                <a:latin typeface="Consolas" panose="020B0609020204030204" pitchFamily="49" charset="0"/>
              </a:rPr>
              <a:t>i</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for(</a:t>
            </a:r>
            <a:r>
              <a:rPr lang="en-US" altLang="zh-CN" sz="2200" dirty="0" err="1">
                <a:latin typeface="Consolas" panose="020B0609020204030204" pitchFamily="49" charset="0"/>
              </a:rPr>
              <a:t>i</a:t>
            </a:r>
            <a:r>
              <a:rPr lang="en-US" altLang="zh-CN" sz="2200" dirty="0">
                <a:latin typeface="Consolas" panose="020B0609020204030204" pitchFamily="49" charset="0"/>
              </a:rPr>
              <a:t>=</a:t>
            </a:r>
            <a:r>
              <a:rPr lang="en-US" altLang="zh-CN" sz="2200" dirty="0" err="1">
                <a:latin typeface="Consolas" panose="020B0609020204030204" pitchFamily="49" charset="0"/>
              </a:rPr>
              <a:t>0;i</a:t>
            </a:r>
            <a:r>
              <a:rPr lang="en-US" altLang="zh-CN" sz="2200" dirty="0">
                <a:latin typeface="Consolas" panose="020B0609020204030204" pitchFamily="49" charset="0"/>
              </a:rPr>
              <a:t>&lt;</a:t>
            </a:r>
            <a:r>
              <a:rPr lang="en-US" altLang="zh-CN" sz="2200" dirty="0" err="1">
                <a:latin typeface="Consolas" panose="020B0609020204030204" pitchFamily="49" charset="0"/>
              </a:rPr>
              <a:t>n;i</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if(</a:t>
            </a:r>
            <a:r>
              <a:rPr lang="en-US" altLang="zh-CN" sz="2200" dirty="0" err="1">
                <a:latin typeface="Consolas" panose="020B0609020204030204" pitchFamily="49" charset="0"/>
              </a:rPr>
              <a:t>i</a:t>
            </a:r>
            <a:r>
              <a:rPr lang="en-US" altLang="zh-CN" sz="2200" dirty="0">
                <a:latin typeface="Consolas" panose="020B0609020204030204" pitchFamily="49" charset="0"/>
              </a:rPr>
              <a:t>==n-1)</a:t>
            </a:r>
          </a:p>
          <a:p>
            <a:pPr eaLnBrk="0" hangingPunct="0">
              <a:lnSpc>
                <a:spcPct val="120000"/>
              </a:lnSpc>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("%d\</a:t>
            </a:r>
            <a:r>
              <a:rPr lang="en-US" altLang="zh-CN" sz="2200" dirty="0" err="1">
                <a:latin typeface="Consolas" panose="020B0609020204030204" pitchFamily="49" charset="0"/>
              </a:rPr>
              <a:t>n",</a:t>
            </a:r>
            <a:r>
              <a:rPr lang="en-US" altLang="zh-CN" sz="2200" b="1" dirty="0" err="1">
                <a:solidFill>
                  <a:srgbClr val="FF0000"/>
                </a:solidFill>
                <a:latin typeface="Consolas" panose="020B0609020204030204" pitchFamily="49" charset="0"/>
              </a:rPr>
              <a:t>a</a:t>
            </a:r>
            <a:r>
              <a:rPr lang="en-US" altLang="zh-CN" sz="2200" b="1" dirty="0">
                <a:solidFill>
                  <a:srgbClr val="FF0000"/>
                </a:solidFill>
                <a:latin typeface="Consolas" panose="020B0609020204030204" pitchFamily="49" charset="0"/>
              </a:rPr>
              <a:t>[</a:t>
            </a:r>
            <a:r>
              <a:rPr lang="en-US" altLang="zh-CN" sz="2200" b="1" dirty="0" err="1">
                <a:solidFill>
                  <a:srgbClr val="FF0000"/>
                </a:solidFill>
                <a:latin typeface="Consolas" panose="020B0609020204030204" pitchFamily="49" charset="0"/>
              </a:rPr>
              <a:t>i</a:t>
            </a:r>
            <a:r>
              <a:rPr lang="en-US" altLang="zh-CN" sz="2200" b="1" dirty="0">
                <a:solidFill>
                  <a:srgbClr val="FF0000"/>
                </a:solidFill>
                <a:latin typeface="Consolas" panose="020B0609020204030204" pitchFamily="49" charset="0"/>
              </a:rPr>
              <a:t>]</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else </a:t>
            </a:r>
          </a:p>
          <a:p>
            <a:pPr eaLnBrk="0" hangingPunct="0">
              <a:lnSpc>
                <a:spcPct val="120000"/>
              </a:lnSpc>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a:t>
            </a:r>
            <a:r>
              <a:rPr lang="en-US" altLang="zh-CN" sz="2200" dirty="0" err="1">
                <a:latin typeface="Consolas" panose="020B0609020204030204" pitchFamily="49" charset="0"/>
              </a:rPr>
              <a:t>d,",</a:t>
            </a:r>
            <a:r>
              <a:rPr lang="en-US" altLang="zh-CN" sz="2200" b="1" dirty="0" err="1">
                <a:solidFill>
                  <a:srgbClr val="FF0000"/>
                </a:solidFill>
                <a:latin typeface="Consolas" panose="020B0609020204030204" pitchFamily="49" charset="0"/>
              </a:rPr>
              <a:t>a</a:t>
            </a:r>
            <a:r>
              <a:rPr lang="en-US" altLang="zh-CN" sz="2200" b="1" dirty="0">
                <a:solidFill>
                  <a:srgbClr val="FF0000"/>
                </a:solidFill>
                <a:latin typeface="Consolas" panose="020B0609020204030204" pitchFamily="49" charset="0"/>
              </a:rPr>
              <a:t>[</a:t>
            </a:r>
            <a:r>
              <a:rPr lang="en-US" altLang="zh-CN" sz="2200" b="1" dirty="0" err="1">
                <a:solidFill>
                  <a:srgbClr val="FF0000"/>
                </a:solidFill>
                <a:latin typeface="Consolas" panose="020B0609020204030204" pitchFamily="49" charset="0"/>
              </a:rPr>
              <a:t>i</a:t>
            </a:r>
            <a:r>
              <a:rPr lang="en-US" altLang="zh-CN" sz="2200" b="1" dirty="0">
                <a:solidFill>
                  <a:srgbClr val="FF0000"/>
                </a:solidFill>
                <a:latin typeface="Consolas" panose="020B0609020204030204" pitchFamily="49" charset="0"/>
              </a:rPr>
              <a:t>]</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a:t>
            </a:r>
          </a:p>
          <a:p>
            <a:pPr eaLnBrk="0" hangingPunct="0">
              <a:lnSpc>
                <a:spcPct val="120000"/>
              </a:lnSpc>
            </a:pPr>
            <a:r>
              <a:rPr lang="en-US" altLang="zh-CN" sz="2200" dirty="0">
                <a:latin typeface="Consolas" panose="020B0609020204030204" pitchFamily="49" charset="0"/>
              </a:rPr>
              <a:t>}</a:t>
            </a:r>
          </a:p>
        </p:txBody>
      </p:sp>
      <p:sp>
        <p:nvSpPr>
          <p:cNvPr id="35842" name="文本框 35841">
            <a:extLst>
              <a:ext uri="{FF2B5EF4-FFF2-40B4-BE49-F238E27FC236}">
                <a16:creationId xmlns:a16="http://schemas.microsoft.com/office/drawing/2014/main" id="{FB032851-53AE-4BD1-A2DD-7DBC9368E46F}"/>
              </a:ext>
            </a:extLst>
          </p:cNvPr>
          <p:cNvSpPr txBox="1">
            <a:spLocks noChangeArrowheads="1"/>
          </p:cNvSpPr>
          <p:nvPr/>
        </p:nvSpPr>
        <p:spPr bwMode="auto">
          <a:xfrm>
            <a:off x="1276350" y="544513"/>
            <a:ext cx="7240588" cy="522287"/>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800" b="1">
                <a:solidFill>
                  <a:schemeClr val="bg1"/>
                </a:solidFill>
              </a:rPr>
              <a:t>例</a:t>
            </a:r>
            <a:r>
              <a:rPr lang="en-US" altLang="zh-CN" sz="2800" b="1">
                <a:solidFill>
                  <a:schemeClr val="bg1"/>
                </a:solidFill>
              </a:rPr>
              <a:t>7.5</a:t>
            </a:r>
            <a:r>
              <a:rPr lang="zh-CN" altLang="en-US" sz="2800" b="1">
                <a:solidFill>
                  <a:schemeClr val="bg1"/>
                </a:solidFill>
              </a:rPr>
              <a:t> 通过指针输出ａ数组元素的两种方法。</a:t>
            </a:r>
            <a:r>
              <a:rPr lang="zh-CN" altLang="en-US" sz="2800">
                <a:solidFill>
                  <a:schemeClr val="bg1"/>
                </a:solidFill>
              </a:rPr>
              <a:t> </a:t>
            </a:r>
          </a:p>
        </p:txBody>
      </p:sp>
      <p:sp>
        <p:nvSpPr>
          <p:cNvPr id="2" name="文本框 1">
            <a:extLst>
              <a:ext uri="{FF2B5EF4-FFF2-40B4-BE49-F238E27FC236}">
                <a16:creationId xmlns:a16="http://schemas.microsoft.com/office/drawing/2014/main" id="{E7D438B4-B721-45FC-9ACF-12FF6A50A9F7}"/>
              </a:ext>
            </a:extLst>
          </p:cNvPr>
          <p:cNvSpPr txBox="1">
            <a:spLocks noChangeArrowheads="1"/>
          </p:cNvSpPr>
          <p:nvPr/>
        </p:nvSpPr>
        <p:spPr bwMode="auto">
          <a:xfrm>
            <a:off x="4499992" y="1340768"/>
            <a:ext cx="4360168" cy="4125938"/>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pPr>
            <a:r>
              <a:rPr lang="en-US" altLang="zh-CN" sz="2200" dirty="0">
                <a:latin typeface="Consolas" panose="020B0609020204030204" pitchFamily="49" charset="0"/>
              </a:rPr>
              <a:t>void </a:t>
            </a:r>
            <a:r>
              <a:rPr lang="en-US" altLang="zh-CN" sz="2200" dirty="0" err="1">
                <a:latin typeface="Consolas" panose="020B0609020204030204" pitchFamily="49" charset="0"/>
              </a:rPr>
              <a:t>outArray2</a:t>
            </a:r>
            <a:r>
              <a:rPr lang="en-US" altLang="zh-CN" sz="2200" dirty="0">
                <a:latin typeface="Consolas" panose="020B0609020204030204" pitchFamily="49" charset="0"/>
              </a:rPr>
              <a:t>(</a:t>
            </a:r>
            <a:r>
              <a:rPr lang="en-US" altLang="zh-CN" sz="2200" dirty="0">
                <a:solidFill>
                  <a:srgbClr val="FF0000"/>
                </a:solidFill>
                <a:latin typeface="Consolas" panose="020B0609020204030204" pitchFamily="49" charset="0"/>
              </a:rPr>
              <a:t>int *</a:t>
            </a:r>
            <a:r>
              <a:rPr lang="en-US" altLang="zh-CN" sz="2200" dirty="0">
                <a:latin typeface="Consolas" panose="020B0609020204030204" pitchFamily="49" charset="0"/>
              </a:rPr>
              <a:t> </a:t>
            </a:r>
            <a:r>
              <a:rPr lang="en-US" altLang="zh-CN" sz="2200" dirty="0" err="1">
                <a:latin typeface="Consolas" panose="020B0609020204030204" pitchFamily="49" charset="0"/>
              </a:rPr>
              <a:t>pa,int</a:t>
            </a:r>
            <a:r>
              <a:rPr lang="en-US" altLang="zh-CN" sz="2200" dirty="0">
                <a:latin typeface="Consolas" panose="020B0609020204030204" pitchFamily="49" charset="0"/>
              </a:rPr>
              <a:t> n)</a:t>
            </a:r>
          </a:p>
          <a:p>
            <a:pPr eaLnBrk="0" hangingPunct="0">
              <a:lnSpc>
                <a:spcPct val="120000"/>
              </a:lnSpc>
            </a:pPr>
            <a:r>
              <a:rPr lang="en-US" altLang="zh-CN" sz="2200" dirty="0">
                <a:latin typeface="Consolas" panose="020B0609020204030204" pitchFamily="49" charset="0"/>
              </a:rPr>
              <a:t>{   int </a:t>
            </a:r>
            <a:r>
              <a:rPr lang="en-US" altLang="zh-CN" sz="2200" dirty="0" err="1">
                <a:latin typeface="Consolas" panose="020B0609020204030204" pitchFamily="49" charset="0"/>
              </a:rPr>
              <a:t>i</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for(</a:t>
            </a:r>
            <a:r>
              <a:rPr lang="en-US" altLang="zh-CN" sz="2200" dirty="0" err="1">
                <a:latin typeface="Consolas" panose="020B0609020204030204" pitchFamily="49" charset="0"/>
              </a:rPr>
              <a:t>i</a:t>
            </a:r>
            <a:r>
              <a:rPr lang="en-US" altLang="zh-CN" sz="2200" dirty="0">
                <a:latin typeface="Consolas" panose="020B0609020204030204" pitchFamily="49" charset="0"/>
              </a:rPr>
              <a:t>=0; </a:t>
            </a:r>
            <a:r>
              <a:rPr lang="en-US" altLang="zh-CN" sz="2200" dirty="0" err="1">
                <a:latin typeface="Consolas" panose="020B0609020204030204" pitchFamily="49" charset="0"/>
              </a:rPr>
              <a:t>i</a:t>
            </a:r>
            <a:r>
              <a:rPr lang="en-US" altLang="zh-CN" sz="2200" dirty="0">
                <a:latin typeface="Consolas" panose="020B0609020204030204" pitchFamily="49" charset="0"/>
              </a:rPr>
              <a:t>&lt;n; </a:t>
            </a:r>
            <a:r>
              <a:rPr lang="en-US" altLang="zh-CN" sz="2200" dirty="0" err="1">
                <a:latin typeface="Consolas" panose="020B0609020204030204" pitchFamily="49" charset="0"/>
              </a:rPr>
              <a:t>i</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if(</a:t>
            </a:r>
            <a:r>
              <a:rPr lang="en-US" altLang="zh-CN" sz="2200" dirty="0" err="1">
                <a:latin typeface="Consolas" panose="020B0609020204030204" pitchFamily="49" charset="0"/>
              </a:rPr>
              <a:t>i</a:t>
            </a:r>
            <a:r>
              <a:rPr lang="en-US" altLang="zh-CN" sz="2200" dirty="0">
                <a:latin typeface="Consolas" panose="020B0609020204030204" pitchFamily="49" charset="0"/>
              </a:rPr>
              <a:t>==n-1)</a:t>
            </a:r>
          </a:p>
          <a:p>
            <a:pPr eaLnBrk="0" hangingPunct="0">
              <a:lnSpc>
                <a:spcPct val="120000"/>
              </a:lnSpc>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("%d\</a:t>
            </a:r>
            <a:r>
              <a:rPr lang="en-US" altLang="zh-CN" sz="2200" dirty="0" err="1">
                <a:latin typeface="Consolas" panose="020B0609020204030204" pitchFamily="49" charset="0"/>
              </a:rPr>
              <a:t>n",</a:t>
            </a:r>
            <a:r>
              <a:rPr lang="en-US" altLang="zh-CN" sz="2200" b="1" dirty="0" err="1">
                <a:solidFill>
                  <a:srgbClr val="FF0000"/>
                </a:solidFill>
                <a:latin typeface="Consolas" panose="020B0609020204030204" pitchFamily="49" charset="0"/>
              </a:rPr>
              <a:t>pa</a:t>
            </a:r>
            <a:r>
              <a:rPr lang="en-US" altLang="zh-CN" sz="2200" b="1" dirty="0">
                <a:solidFill>
                  <a:srgbClr val="FF0000"/>
                </a:solidFill>
                <a:latin typeface="Consolas" panose="020B0609020204030204" pitchFamily="49" charset="0"/>
              </a:rPr>
              <a:t>[</a:t>
            </a:r>
            <a:r>
              <a:rPr lang="en-US" altLang="zh-CN" sz="2200" b="1" dirty="0" err="1">
                <a:solidFill>
                  <a:srgbClr val="FF0000"/>
                </a:solidFill>
                <a:latin typeface="Consolas" panose="020B0609020204030204" pitchFamily="49" charset="0"/>
              </a:rPr>
              <a:t>i</a:t>
            </a:r>
            <a:r>
              <a:rPr lang="en-US" altLang="zh-CN" sz="2200" b="1" dirty="0">
                <a:solidFill>
                  <a:srgbClr val="FF0000"/>
                </a:solidFill>
                <a:latin typeface="Consolas" panose="020B0609020204030204" pitchFamily="49" charset="0"/>
              </a:rPr>
              <a:t>]</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else </a:t>
            </a:r>
          </a:p>
          <a:p>
            <a:pPr eaLnBrk="0" hangingPunct="0">
              <a:lnSpc>
                <a:spcPct val="120000"/>
              </a:lnSpc>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a:t>
            </a:r>
            <a:r>
              <a:rPr lang="en-US" altLang="zh-CN" sz="2200" dirty="0" err="1">
                <a:latin typeface="Consolas" panose="020B0609020204030204" pitchFamily="49" charset="0"/>
              </a:rPr>
              <a:t>d,",</a:t>
            </a:r>
            <a:r>
              <a:rPr lang="en-US" altLang="zh-CN" sz="2200" b="1" dirty="0" err="1">
                <a:solidFill>
                  <a:srgbClr val="FF0000"/>
                </a:solidFill>
                <a:latin typeface="Consolas" panose="020B0609020204030204" pitchFamily="49" charset="0"/>
              </a:rPr>
              <a:t>pa</a:t>
            </a:r>
            <a:r>
              <a:rPr lang="en-US" altLang="zh-CN" sz="2200" b="1" dirty="0">
                <a:solidFill>
                  <a:srgbClr val="FF0000"/>
                </a:solidFill>
                <a:latin typeface="Consolas" panose="020B0609020204030204" pitchFamily="49" charset="0"/>
              </a:rPr>
              <a:t>[</a:t>
            </a:r>
            <a:r>
              <a:rPr lang="en-US" altLang="zh-CN" sz="2200" b="1" dirty="0" err="1">
                <a:solidFill>
                  <a:srgbClr val="FF0000"/>
                </a:solidFill>
                <a:latin typeface="Consolas" panose="020B0609020204030204" pitchFamily="49" charset="0"/>
              </a:rPr>
              <a:t>i</a:t>
            </a:r>
            <a:r>
              <a:rPr lang="en-US" altLang="zh-CN" sz="2200" b="1" dirty="0">
                <a:solidFill>
                  <a:srgbClr val="FF0000"/>
                </a:solidFill>
                <a:latin typeface="Consolas" panose="020B0609020204030204" pitchFamily="49" charset="0"/>
              </a:rPr>
              <a:t>]</a:t>
            </a:r>
            <a:r>
              <a:rPr lang="en-US" altLang="zh-CN" sz="2200" dirty="0">
                <a:latin typeface="Consolas" panose="020B0609020204030204" pitchFamily="49" charset="0"/>
              </a:rPr>
              <a:t>);</a:t>
            </a:r>
          </a:p>
          <a:p>
            <a:pPr eaLnBrk="0" hangingPunct="0">
              <a:lnSpc>
                <a:spcPct val="120000"/>
              </a:lnSpc>
            </a:pPr>
            <a:r>
              <a:rPr lang="en-US" altLang="zh-CN" sz="2200" dirty="0">
                <a:latin typeface="Consolas" panose="020B0609020204030204" pitchFamily="49" charset="0"/>
              </a:rPr>
              <a:t>    }</a:t>
            </a:r>
          </a:p>
          <a:p>
            <a:pPr eaLnBrk="0" hangingPunct="0">
              <a:lnSpc>
                <a:spcPct val="120000"/>
              </a:lnSpc>
            </a:pPr>
            <a:r>
              <a:rPr lang="en-US" altLang="zh-CN" sz="2200" dirty="0">
                <a:latin typeface="Consolas" panose="020B0609020204030204" pitchFamily="49" charset="0"/>
              </a:rPr>
              <a:t>}</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4818"/>
                                        </p:tgtEl>
                                        <p:attrNameLst>
                                          <p:attrName>style.visibility</p:attrName>
                                        </p:attrNameLst>
                                      </p:cBhvr>
                                      <p:to>
                                        <p:strVal val="visible"/>
                                      </p:to>
                                    </p:set>
                                    <p:anim calcmode="lin" valueType="num">
                                      <p:cBhvr>
                                        <p:cTn id="7" dur="500" fill="hold"/>
                                        <p:tgtEl>
                                          <p:spTgt spid="34818"/>
                                        </p:tgtEl>
                                        <p:attrNameLst>
                                          <p:attrName>ppt_x</p:attrName>
                                        </p:attrNameLst>
                                      </p:cBhvr>
                                      <p:tavLst>
                                        <p:tav tm="0">
                                          <p:val>
                                            <p:strVal val="0-#ppt_w/2"/>
                                          </p:val>
                                        </p:tav>
                                        <p:tav tm="100000">
                                          <p:val>
                                            <p:strVal val="#ppt_x"/>
                                          </p:val>
                                        </p:tav>
                                      </p:tavLst>
                                    </p:anim>
                                    <p:anim calcmode="lin" valueType="num">
                                      <p:cBhvr>
                                        <p:cTn id="8" dur="500" fill="hold"/>
                                        <p:tgtEl>
                                          <p:spTgt spid="3481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5842"/>
                                        </p:tgtEl>
                                        <p:attrNameLst>
                                          <p:attrName>style.visibility</p:attrName>
                                        </p:attrNameLst>
                                      </p:cBhvr>
                                      <p:to>
                                        <p:strVal val="visible"/>
                                      </p:to>
                                    </p:set>
                                    <p:anim calcmode="lin" valueType="num">
                                      <p:cBhvr>
                                        <p:cTn id="11" dur="500" fill="hold"/>
                                        <p:tgtEl>
                                          <p:spTgt spid="35842"/>
                                        </p:tgtEl>
                                        <p:attrNameLst>
                                          <p:attrName>ppt_x</p:attrName>
                                        </p:attrNameLst>
                                      </p:cBhvr>
                                      <p:tavLst>
                                        <p:tav tm="0">
                                          <p:val>
                                            <p:strVal val="0-#ppt_w/2"/>
                                          </p:val>
                                        </p:tav>
                                        <p:tav tm="100000">
                                          <p:val>
                                            <p:strVal val="#ppt_x"/>
                                          </p:val>
                                        </p:tav>
                                      </p:tavLst>
                                    </p:anim>
                                    <p:anim calcmode="lin" valueType="num">
                                      <p:cBhvr>
                                        <p:cTn id="12" dur="500" fill="hold"/>
                                        <p:tgtEl>
                                          <p:spTgt spid="3584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ppt_x</p:attrName>
                                        </p:attrNameLst>
                                      </p:cBhvr>
                                      <p:tavLst>
                                        <p:tav tm="0">
                                          <p:val>
                                            <p:strVal val="0-#ppt_w/2"/>
                                          </p:val>
                                        </p:tav>
                                        <p:tav tm="100000">
                                          <p:val>
                                            <p:strVal val="#ppt_x"/>
                                          </p:val>
                                        </p:tav>
                                      </p:tavLst>
                                    </p:anim>
                                    <p:anim calcmode="lin" valueType="num">
                                      <p:cBhvr>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ldLvl="0" animBg="1"/>
      <p:bldP spid="35842" grpId="0" bldLvl="0" animBg="1"/>
      <p:bldP spid="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467544" y="1268760"/>
            <a:ext cx="8458200" cy="4611687"/>
          </a:xfrm>
        </p:spPr>
        <p:txBody>
          <a:bodyPr/>
          <a:lstStyle/>
          <a:p>
            <a:pPr eaLnBrk="1" hangingPunct="1">
              <a:lnSpc>
                <a:spcPct val="90000"/>
              </a:lnSpc>
              <a:buFontTx/>
              <a:buNone/>
            </a:pPr>
            <a:r>
              <a:rPr lang="en-US" altLang="zh-CN" sz="2400" dirty="0">
                <a:latin typeface="Consolas" panose="020B0609020204030204" pitchFamily="49" charset="0"/>
              </a:rPr>
              <a:t>#define SIZE 10</a:t>
            </a:r>
          </a:p>
          <a:p>
            <a:pPr marL="0" indent="0" eaLnBrk="0" hangingPunct="0">
              <a:lnSpc>
                <a:spcPct val="120000"/>
              </a:lnSpc>
              <a:buNone/>
            </a:pPr>
            <a:r>
              <a:rPr lang="en-US" altLang="zh-CN" sz="2400" dirty="0">
                <a:latin typeface="Consolas" panose="020B0609020204030204" pitchFamily="49" charset="0"/>
              </a:rPr>
              <a:t>void </a:t>
            </a:r>
            <a:r>
              <a:rPr lang="en-US" altLang="zh-CN" sz="2400" dirty="0" err="1">
                <a:latin typeface="Consolas" panose="020B0609020204030204" pitchFamily="49" charset="0"/>
              </a:rPr>
              <a:t>outArray1</a:t>
            </a:r>
            <a:r>
              <a:rPr lang="en-US" altLang="zh-CN" sz="2400" dirty="0">
                <a:latin typeface="Consolas" panose="020B0609020204030204" pitchFamily="49" charset="0"/>
              </a:rPr>
              <a:t>(int a[],int n);</a:t>
            </a:r>
          </a:p>
          <a:p>
            <a:pPr marL="0" indent="0">
              <a:lnSpc>
                <a:spcPct val="120000"/>
              </a:lnSpc>
              <a:buNone/>
            </a:pPr>
            <a:r>
              <a:rPr lang="en-US" altLang="zh-CN" sz="2400" dirty="0">
                <a:latin typeface="Consolas" panose="020B0609020204030204" pitchFamily="49" charset="0"/>
              </a:rPr>
              <a:t>void </a:t>
            </a:r>
            <a:r>
              <a:rPr lang="en-US" altLang="zh-CN" sz="2400" dirty="0" err="1">
                <a:latin typeface="Consolas" panose="020B0609020204030204" pitchFamily="49" charset="0"/>
              </a:rPr>
              <a:t>outArray2</a:t>
            </a:r>
            <a:r>
              <a:rPr lang="en-US" altLang="zh-CN" sz="2400" dirty="0">
                <a:latin typeface="Consolas" panose="020B0609020204030204" pitchFamily="49" charset="0"/>
              </a:rPr>
              <a:t>(int * </a:t>
            </a:r>
            <a:r>
              <a:rPr lang="en-US" altLang="zh-CN" sz="2400" dirty="0" err="1">
                <a:latin typeface="Consolas" panose="020B0609020204030204" pitchFamily="49" charset="0"/>
              </a:rPr>
              <a:t>pa,int</a:t>
            </a:r>
            <a:r>
              <a:rPr lang="en-US" altLang="zh-CN" sz="2400" dirty="0">
                <a:latin typeface="Consolas" panose="020B0609020204030204" pitchFamily="49" charset="0"/>
              </a:rPr>
              <a:t> n);</a:t>
            </a:r>
          </a:p>
          <a:p>
            <a:pPr eaLnBrk="1" hangingPunct="1">
              <a:lnSpc>
                <a:spcPct val="90000"/>
              </a:lnSpc>
              <a:buFontTx/>
              <a:buNone/>
            </a:pPr>
            <a:r>
              <a:rPr lang="en-US" altLang="zh-CN" sz="2400" dirty="0">
                <a:latin typeface="Consolas" panose="020B0609020204030204" pitchFamily="49" charset="0"/>
              </a:rPr>
              <a:t>int 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int a[SIZE]={2,1,6,9,8,36,27,25,12,7};</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outArray1</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outArray2</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a:t>
            </a:r>
            <a:endParaRPr lang="en-US" altLang="zh-CN" sz="2400" dirty="0">
              <a:solidFill>
                <a:srgbClr val="003399"/>
              </a:solidFill>
              <a:latin typeface="Consolas" panose="020B0609020204030204" pitchFamily="49" charset="0"/>
            </a:endParaRPr>
          </a:p>
          <a:p>
            <a:pPr eaLnBrk="1" hangingPunct="1">
              <a:lnSpc>
                <a:spcPct val="90000"/>
              </a:lnSpc>
              <a:buFontTx/>
              <a:buNone/>
            </a:pPr>
            <a:r>
              <a:rPr lang="en-US" altLang="zh-CN" sz="2400" dirty="0">
                <a:latin typeface="Consolas" panose="020B0609020204030204" pitchFamily="49" charset="0"/>
              </a:rPr>
              <a:t>   </a:t>
            </a:r>
          </a:p>
          <a:p>
            <a:pPr eaLnBrk="1" hangingPunct="1">
              <a:lnSpc>
                <a:spcPct val="90000"/>
              </a:lnSpc>
              <a:buFontTx/>
              <a:buNone/>
            </a:pPr>
            <a:r>
              <a:rPr lang="en-US" altLang="zh-CN" sz="2400" dirty="0">
                <a:latin typeface="Consolas" panose="020B0609020204030204" pitchFamily="49" charset="0"/>
              </a:rPr>
              <a:t>   return 0;</a:t>
            </a:r>
          </a:p>
          <a:p>
            <a:pPr eaLnBrk="1" hangingPunct="1">
              <a:lnSpc>
                <a:spcPct val="90000"/>
              </a:lnSpc>
              <a:buFontTx/>
              <a:buNone/>
            </a:pPr>
            <a:r>
              <a:rPr lang="en-US" altLang="zh-CN" sz="2400" dirty="0">
                <a:latin typeface="Consolas" panose="020B0609020204030204" pitchFamily="49" charset="0"/>
              </a:rPr>
              <a:t>} </a:t>
            </a:r>
            <a:endParaRPr lang="zh-CN" altLang="en-US" sz="2400" dirty="0">
              <a:latin typeface="Consolas" panose="020B0609020204030204" pitchFamily="49" charset="0"/>
            </a:endParaRPr>
          </a:p>
        </p:txBody>
      </p:sp>
      <p:sp>
        <p:nvSpPr>
          <p:cNvPr id="64515" name="Rectangle 2"/>
          <p:cNvSpPr>
            <a:spLocks noGrp="1" noChangeArrowheads="1"/>
          </p:cNvSpPr>
          <p:nvPr>
            <p:ph type="title"/>
          </p:nvPr>
        </p:nvSpPr>
        <p:spPr/>
        <p:txBody>
          <a:bodyPr/>
          <a:lstStyle/>
          <a:p>
            <a:pPr eaLnBrk="1" hangingPunct="1"/>
            <a:r>
              <a:rPr lang="zh-CN" altLang="en-US" b="1" dirty="0"/>
              <a:t>测试主程序</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5">
            <a:extLst>
              <a:ext uri="{FF2B5EF4-FFF2-40B4-BE49-F238E27FC236}">
                <a16:creationId xmlns:a16="http://schemas.microsoft.com/office/drawing/2014/main" id="{5620CBAC-F53D-4215-A41E-F9DB447ABA7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F4F33ABB-9682-4EDB-9767-83C66A5D7411}" type="slidenum">
              <a:rPr lang="zh-CN" altLang="en-US" smtClean="0"/>
              <a:pPr/>
              <a:t>13</a:t>
            </a:fld>
            <a:endParaRPr lang="zh-CN" altLang="en-US"/>
          </a:p>
        </p:txBody>
      </p:sp>
      <p:sp>
        <p:nvSpPr>
          <p:cNvPr id="16386" name="Rectangle 3">
            <a:extLst>
              <a:ext uri="{FF2B5EF4-FFF2-40B4-BE49-F238E27FC236}">
                <a16:creationId xmlns:a16="http://schemas.microsoft.com/office/drawing/2014/main" id="{518FC333-7CD8-4ECD-8FF9-BE6EF4035709}"/>
              </a:ext>
            </a:extLst>
          </p:cNvPr>
          <p:cNvSpPr>
            <a:spLocks noGrp="1" noChangeArrowheads="1"/>
          </p:cNvSpPr>
          <p:nvPr>
            <p:ph idx="1"/>
          </p:nvPr>
        </p:nvSpPr>
        <p:spPr>
          <a:xfrm>
            <a:off x="558800" y="1265238"/>
            <a:ext cx="8117656" cy="4540026"/>
          </a:xfrm>
        </p:spPr>
        <p:txBody>
          <a:bodyPr/>
          <a:lstStyle/>
          <a:p>
            <a:pPr eaLnBrk="1" hangingPunct="1">
              <a:buFontTx/>
              <a:buNone/>
            </a:pPr>
            <a:r>
              <a:rPr lang="en-US" altLang="zh-CN" sz="2400" b="1" dirty="0">
                <a:solidFill>
                  <a:schemeClr val="accent2"/>
                </a:solidFill>
                <a:latin typeface="Consolas" panose="020B0609020204030204" pitchFamily="49" charset="0"/>
              </a:rPr>
              <a:t>void swap(int *, int *);/*</a:t>
            </a:r>
            <a:r>
              <a:rPr lang="zh-CN" altLang="en-US" sz="2400" b="1" dirty="0">
                <a:solidFill>
                  <a:schemeClr val="accent2"/>
                </a:solidFill>
                <a:latin typeface="Consolas" panose="020B0609020204030204" pitchFamily="49" charset="0"/>
              </a:rPr>
              <a:t>函数原型*/</a:t>
            </a:r>
            <a:endParaRPr lang="en-US" altLang="zh-CN" sz="2400" b="1" dirty="0">
              <a:latin typeface="Consolas" panose="020B0609020204030204" pitchFamily="49" charset="0"/>
            </a:endParaRPr>
          </a:p>
          <a:p>
            <a:pPr eaLnBrk="1" hangingPunct="1">
              <a:buFontTx/>
              <a:buNone/>
            </a:pPr>
            <a:r>
              <a:rPr lang="en-US" altLang="zh-CN" sz="2400" b="1" dirty="0">
                <a:latin typeface="Consolas" panose="020B0609020204030204" pitchFamily="49" charset="0"/>
              </a:rPr>
              <a:t>void </a:t>
            </a:r>
            <a:r>
              <a:rPr lang="en-US" altLang="zh-CN" sz="2400" b="1" dirty="0" err="1">
                <a:latin typeface="Consolas" panose="020B0609020204030204" pitchFamily="49" charset="0"/>
              </a:rPr>
              <a:t>bubbleSort</a:t>
            </a:r>
            <a:r>
              <a:rPr lang="en-US" altLang="zh-CN" sz="2400" b="1" dirty="0">
                <a:latin typeface="Consolas" panose="020B0609020204030204" pitchFamily="49" charset="0"/>
              </a:rPr>
              <a:t>(int </a:t>
            </a:r>
            <a:r>
              <a:rPr lang="en-US" altLang="zh-CN" sz="2400" b="1" dirty="0">
                <a:solidFill>
                  <a:schemeClr val="accent2"/>
                </a:solidFill>
                <a:latin typeface="Consolas" panose="020B0609020204030204" pitchFamily="49" charset="0"/>
              </a:rPr>
              <a:t>* pa, const</a:t>
            </a:r>
            <a:r>
              <a:rPr lang="en-US" altLang="zh-CN" sz="2400" b="1" dirty="0">
                <a:solidFill>
                  <a:schemeClr val="accent1"/>
                </a:solidFill>
                <a:latin typeface="Consolas" panose="020B0609020204030204" pitchFamily="49" charset="0"/>
              </a:rPr>
              <a:t> </a:t>
            </a:r>
            <a:r>
              <a:rPr lang="en-US" altLang="zh-CN" sz="2400" b="1" dirty="0">
                <a:latin typeface="Consolas" panose="020B0609020204030204" pitchFamily="49" charset="0"/>
              </a:rPr>
              <a:t>int n)</a:t>
            </a:r>
          </a:p>
          <a:p>
            <a:pPr eaLnBrk="1" hangingPunct="1">
              <a:buFontTx/>
              <a:buNone/>
            </a:pP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    int </a:t>
            </a:r>
            <a:r>
              <a:rPr lang="en-US" altLang="zh-CN" sz="2400" b="1" dirty="0" err="1">
                <a:latin typeface="Consolas" panose="020B0609020204030204" pitchFamily="49" charset="0"/>
              </a:rPr>
              <a:t>i</a:t>
            </a:r>
            <a:r>
              <a:rPr lang="en-US" altLang="zh-CN" sz="2400" b="1" dirty="0">
                <a:latin typeface="Consolas" panose="020B0609020204030204" pitchFamily="49" charset="0"/>
              </a:rPr>
              <a:t>, j;</a:t>
            </a:r>
          </a:p>
          <a:p>
            <a:pPr eaLnBrk="1" hangingPunct="1">
              <a:buFontTx/>
              <a:buNone/>
            </a:pPr>
            <a:endParaRPr lang="zh-CN" altLang="en-US" sz="2400" b="1" dirty="0">
              <a:solidFill>
                <a:schemeClr val="accent2"/>
              </a:solidFill>
              <a:latin typeface="Consolas" panose="020B0609020204030204" pitchFamily="49" charset="0"/>
            </a:endParaRPr>
          </a:p>
          <a:p>
            <a:pPr eaLnBrk="1" hangingPunct="1">
              <a:buFontTx/>
              <a:buNone/>
            </a:pPr>
            <a:r>
              <a:rPr lang="en-US" altLang="zh-CN" sz="2400" b="1" dirty="0">
                <a:latin typeface="Consolas" panose="020B0609020204030204" pitchFamily="49" charset="0"/>
              </a:rPr>
              <a:t>    for (</a:t>
            </a:r>
            <a:r>
              <a:rPr lang="en-US" altLang="zh-CN" sz="2400" b="1" dirty="0" err="1">
                <a:latin typeface="Consolas" panose="020B0609020204030204" pitchFamily="49" charset="0"/>
              </a:rPr>
              <a:t>i</a:t>
            </a:r>
            <a:r>
              <a:rPr lang="en-US" altLang="zh-CN" sz="2400" b="1" dirty="0">
                <a:latin typeface="Consolas" panose="020B0609020204030204" pitchFamily="49" charset="0"/>
              </a:rPr>
              <a:t>=</a:t>
            </a:r>
            <a:r>
              <a:rPr lang="en-US" altLang="zh-CN" sz="2400" b="1" dirty="0" err="1">
                <a:latin typeface="Consolas" panose="020B0609020204030204" pitchFamily="49" charset="0"/>
              </a:rPr>
              <a:t>1;i</a:t>
            </a:r>
            <a:r>
              <a:rPr lang="en-US" altLang="zh-CN" sz="2400" b="1" dirty="0">
                <a:latin typeface="Consolas" panose="020B0609020204030204" pitchFamily="49" charset="0"/>
              </a:rPr>
              <a:t>&lt;=n-1; </a:t>
            </a:r>
            <a:r>
              <a:rPr lang="en-US" altLang="zh-CN" sz="2400" b="1" dirty="0" err="1">
                <a:latin typeface="Consolas" panose="020B0609020204030204" pitchFamily="49" charset="0"/>
              </a:rPr>
              <a:t>i</a:t>
            </a:r>
            <a:r>
              <a:rPr lang="en-US" altLang="zh-CN" sz="2400" b="1" dirty="0">
                <a:latin typeface="Consolas" panose="020B0609020204030204" pitchFamily="49" charset="0"/>
              </a:rPr>
              <a:t>++) </a:t>
            </a:r>
          </a:p>
          <a:p>
            <a:pPr eaLnBrk="1" hangingPunct="1">
              <a:buFontTx/>
              <a:buNone/>
            </a:pPr>
            <a:r>
              <a:rPr lang="en-US" altLang="zh-CN" sz="2400" b="1" dirty="0">
                <a:latin typeface="Consolas" panose="020B0609020204030204" pitchFamily="49" charset="0"/>
              </a:rPr>
              <a:t>        for (j=</a:t>
            </a:r>
            <a:r>
              <a:rPr lang="en-US" altLang="zh-CN" sz="2400" b="1" dirty="0" err="1">
                <a:latin typeface="Consolas" panose="020B0609020204030204" pitchFamily="49" charset="0"/>
              </a:rPr>
              <a:t>0;j</a:t>
            </a:r>
            <a:r>
              <a:rPr lang="en-US" altLang="zh-CN" sz="2400" b="1" dirty="0">
                <a:latin typeface="Consolas" panose="020B0609020204030204" pitchFamily="49" charset="0"/>
              </a:rPr>
              <a:t>&lt;=n-1-</a:t>
            </a:r>
            <a:r>
              <a:rPr lang="en-US" altLang="zh-CN" sz="2400" b="1" dirty="0" err="1">
                <a:latin typeface="Consolas" panose="020B0609020204030204" pitchFamily="49" charset="0"/>
              </a:rPr>
              <a:t>i</a:t>
            </a:r>
            <a:r>
              <a:rPr lang="en-US" altLang="zh-CN" sz="2400" b="1" dirty="0">
                <a:latin typeface="Consolas" panose="020B0609020204030204" pitchFamily="49" charset="0"/>
              </a:rPr>
              <a:t>; </a:t>
            </a:r>
            <a:r>
              <a:rPr lang="en-US" altLang="zh-CN" sz="2400" b="1" dirty="0" err="1">
                <a:latin typeface="Consolas" panose="020B0609020204030204" pitchFamily="49" charset="0"/>
              </a:rPr>
              <a:t>j++</a:t>
            </a:r>
            <a:r>
              <a:rPr lang="en-US" altLang="zh-CN" sz="2400" b="1" dirty="0">
                <a:latin typeface="Consolas" panose="020B0609020204030204" pitchFamily="49" charset="0"/>
              </a:rPr>
              <a:t>)</a:t>
            </a:r>
          </a:p>
          <a:p>
            <a:pPr eaLnBrk="1" hangingPunct="1">
              <a:buFontTx/>
              <a:buNone/>
            </a:pPr>
            <a:r>
              <a:rPr lang="en-US" altLang="zh-CN" sz="2400" b="1" dirty="0">
                <a:latin typeface="Consolas" panose="020B0609020204030204" pitchFamily="49" charset="0"/>
              </a:rPr>
              <a:t>            </a:t>
            </a:r>
            <a:r>
              <a:rPr lang="en-US" altLang="zh-CN" sz="2400" b="1" dirty="0">
                <a:solidFill>
                  <a:schemeClr val="accent2"/>
                </a:solidFill>
                <a:latin typeface="Consolas" panose="020B0609020204030204" pitchFamily="49" charset="0"/>
              </a:rPr>
              <a:t> if ( pa[j] &gt; pa[</a:t>
            </a:r>
            <a:r>
              <a:rPr lang="en-US" altLang="zh-CN" sz="2400" b="1" dirty="0" err="1">
                <a:solidFill>
                  <a:schemeClr val="accent2"/>
                </a:solidFill>
                <a:latin typeface="Consolas" panose="020B0609020204030204" pitchFamily="49" charset="0"/>
              </a:rPr>
              <a:t>j+1</a:t>
            </a:r>
            <a:r>
              <a:rPr lang="en-US" altLang="zh-CN" sz="2400" b="1" dirty="0">
                <a:solidFill>
                  <a:schemeClr val="accent2"/>
                </a:solidFill>
                <a:latin typeface="Consolas" panose="020B0609020204030204" pitchFamily="49" charset="0"/>
              </a:rPr>
              <a:t>] )</a:t>
            </a:r>
          </a:p>
          <a:p>
            <a:pPr eaLnBrk="1" hangingPunct="1">
              <a:buFontTx/>
              <a:buNone/>
            </a:pPr>
            <a:r>
              <a:rPr lang="en-US" altLang="zh-CN" sz="2400" b="1" dirty="0">
                <a:latin typeface="Consolas" panose="020B0609020204030204" pitchFamily="49" charset="0"/>
              </a:rPr>
              <a:t>                  </a:t>
            </a:r>
            <a:r>
              <a:rPr lang="en-US" altLang="zh-CN" sz="2400" b="1" dirty="0">
                <a:solidFill>
                  <a:schemeClr val="accent2"/>
                </a:solidFill>
                <a:latin typeface="Consolas" panose="020B0609020204030204" pitchFamily="49" charset="0"/>
              </a:rPr>
              <a:t>swap(</a:t>
            </a:r>
            <a:r>
              <a:rPr lang="en-US" altLang="zh-CN" sz="2400" b="1" dirty="0" err="1">
                <a:solidFill>
                  <a:schemeClr val="accent2"/>
                </a:solidFill>
                <a:latin typeface="Consolas" panose="020B0609020204030204" pitchFamily="49" charset="0"/>
              </a:rPr>
              <a:t>pa+j</a:t>
            </a:r>
            <a:r>
              <a:rPr lang="en-US" altLang="zh-CN" sz="2400" b="1" dirty="0">
                <a:solidFill>
                  <a:schemeClr val="accent2"/>
                </a:solidFill>
                <a:latin typeface="Consolas" panose="020B0609020204030204" pitchFamily="49" charset="0"/>
              </a:rPr>
              <a:t>, </a:t>
            </a:r>
            <a:r>
              <a:rPr lang="en-US" altLang="zh-CN" sz="2400" b="1" dirty="0" err="1">
                <a:solidFill>
                  <a:schemeClr val="accent2"/>
                </a:solidFill>
                <a:latin typeface="Consolas" panose="020B0609020204030204" pitchFamily="49" charset="0"/>
              </a:rPr>
              <a:t>pa+j+1</a:t>
            </a:r>
            <a:r>
              <a:rPr lang="en-US" altLang="zh-CN" sz="2400" b="1" dirty="0">
                <a:solidFill>
                  <a:schemeClr val="accent2"/>
                </a:solidFill>
                <a:latin typeface="Consolas" panose="020B0609020204030204" pitchFamily="49" charset="0"/>
              </a:rPr>
              <a:t>);</a:t>
            </a:r>
            <a:endParaRPr lang="zh-CN" altLang="en-US" sz="2400" b="1" dirty="0">
              <a:solidFill>
                <a:schemeClr val="accent2"/>
              </a:solidFill>
              <a:latin typeface="Consolas" panose="020B0609020204030204" pitchFamily="49" charset="0"/>
            </a:endParaRPr>
          </a:p>
          <a:p>
            <a:pPr eaLnBrk="1" hangingPunct="1">
              <a:buFontTx/>
              <a:buNone/>
            </a:pPr>
            <a:r>
              <a:rPr lang="en-US" altLang="zh-CN" sz="2400" b="1" dirty="0">
                <a:latin typeface="Consolas" panose="020B0609020204030204" pitchFamily="49" charset="0"/>
              </a:rPr>
              <a:t>}</a:t>
            </a:r>
          </a:p>
        </p:txBody>
      </p:sp>
      <p:sp>
        <p:nvSpPr>
          <p:cNvPr id="35842" name="文本框 35841">
            <a:extLst>
              <a:ext uri="{FF2B5EF4-FFF2-40B4-BE49-F238E27FC236}">
                <a16:creationId xmlns:a16="http://schemas.microsoft.com/office/drawing/2014/main" id="{FD625B62-E93B-4BFE-9408-2507F8C6AF92}"/>
              </a:ext>
            </a:extLst>
          </p:cNvPr>
          <p:cNvSpPr txBox="1">
            <a:spLocks noChangeArrowheads="1"/>
          </p:cNvSpPr>
          <p:nvPr/>
        </p:nvSpPr>
        <p:spPr bwMode="auto">
          <a:xfrm>
            <a:off x="2671763" y="454025"/>
            <a:ext cx="6167437" cy="5222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800" b="1">
                <a:solidFill>
                  <a:schemeClr val="bg1"/>
                </a:solidFill>
              </a:rPr>
              <a:t>例</a:t>
            </a:r>
            <a:r>
              <a:rPr lang="en-US" altLang="zh-CN" sz="2800" b="1">
                <a:solidFill>
                  <a:schemeClr val="bg1"/>
                </a:solidFill>
              </a:rPr>
              <a:t>7.6</a:t>
            </a:r>
            <a:r>
              <a:rPr lang="zh-CN" altLang="en-US" sz="2800" b="1">
                <a:solidFill>
                  <a:schemeClr val="bg1"/>
                </a:solidFill>
              </a:rPr>
              <a:t> 通过指针对ａ数组元素冒泡排序</a:t>
            </a:r>
            <a:r>
              <a:rPr lang="zh-CN" altLang="en-US" sz="2800">
                <a:solidFill>
                  <a:schemeClr val="bg1"/>
                </a:solidFill>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p:cTn id="7" dur="500" fill="hold"/>
                                        <p:tgtEl>
                                          <p:spTgt spid="35842"/>
                                        </p:tgtEl>
                                        <p:attrNameLst>
                                          <p:attrName>ppt_x</p:attrName>
                                        </p:attrNameLst>
                                      </p:cBhvr>
                                      <p:tavLst>
                                        <p:tav tm="0">
                                          <p:val>
                                            <p:strVal val="0-#ppt_w/2"/>
                                          </p:val>
                                        </p:tav>
                                        <p:tav tm="100000">
                                          <p:val>
                                            <p:strVal val="#ppt_x"/>
                                          </p:val>
                                        </p:tav>
                                      </p:tavLst>
                                    </p:anim>
                                    <p:anim calcmode="lin" valueType="num">
                                      <p:cBhvr>
                                        <p:cTn id="8" dur="500" fill="hold"/>
                                        <p:tgtEl>
                                          <p:spTgt spid="358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467544" y="1268760"/>
            <a:ext cx="8458200" cy="4611687"/>
          </a:xfrm>
        </p:spPr>
        <p:txBody>
          <a:bodyPr/>
          <a:lstStyle/>
          <a:p>
            <a:pPr eaLnBrk="1" hangingPunct="1">
              <a:lnSpc>
                <a:spcPct val="90000"/>
              </a:lnSpc>
              <a:buFontTx/>
              <a:buNone/>
            </a:pPr>
            <a:r>
              <a:rPr lang="en-US" altLang="zh-CN" sz="2400" dirty="0">
                <a:latin typeface="Consolas" panose="020B0609020204030204" pitchFamily="49" charset="0"/>
              </a:rPr>
              <a:t>#define SIZE 10</a:t>
            </a:r>
          </a:p>
          <a:p>
            <a:pPr eaLnBrk="1" hangingPunct="1">
              <a:buFontTx/>
              <a:buNone/>
            </a:pPr>
            <a:r>
              <a:rPr lang="en-US" altLang="zh-CN" sz="2400" dirty="0">
                <a:solidFill>
                  <a:schemeClr val="accent2"/>
                </a:solidFill>
                <a:latin typeface="Consolas" panose="020B0609020204030204" pitchFamily="49" charset="0"/>
              </a:rPr>
              <a:t>void swap(int *, int *);/*</a:t>
            </a:r>
            <a:r>
              <a:rPr lang="zh-CN" altLang="en-US" sz="2400" dirty="0">
                <a:solidFill>
                  <a:schemeClr val="accent2"/>
                </a:solidFill>
                <a:latin typeface="Consolas" panose="020B0609020204030204" pitchFamily="49" charset="0"/>
              </a:rPr>
              <a:t>函数原型*/</a:t>
            </a:r>
            <a:endParaRPr lang="en-US" altLang="zh-CN" sz="2400" dirty="0">
              <a:solidFill>
                <a:schemeClr val="accent2"/>
              </a:solidFill>
              <a:latin typeface="Consolas" panose="020B0609020204030204" pitchFamily="49" charset="0"/>
            </a:endParaRPr>
          </a:p>
          <a:p>
            <a:pPr eaLnBrk="1" hangingPunct="1">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outArray2</a:t>
            </a:r>
            <a:r>
              <a:rPr lang="en-US" altLang="zh-CN" sz="2400" dirty="0">
                <a:latin typeface="Consolas" panose="020B0609020204030204" pitchFamily="49" charset="0"/>
              </a:rPr>
              <a:t>(int * </a:t>
            </a:r>
            <a:r>
              <a:rPr lang="en-US" altLang="zh-CN" sz="2400" dirty="0" err="1">
                <a:latin typeface="Consolas" panose="020B0609020204030204" pitchFamily="49" charset="0"/>
              </a:rPr>
              <a:t>pa,int</a:t>
            </a:r>
            <a:r>
              <a:rPr lang="en-US" altLang="zh-CN" sz="2400" dirty="0">
                <a:latin typeface="Consolas" panose="020B0609020204030204" pitchFamily="49" charset="0"/>
              </a:rPr>
              <a:t> n);</a:t>
            </a:r>
          </a:p>
          <a:p>
            <a:pPr eaLnBrk="1" hangingPunct="1">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bubbleSort</a:t>
            </a:r>
            <a:r>
              <a:rPr lang="en-US" altLang="zh-CN" sz="2400" dirty="0">
                <a:latin typeface="Consolas" panose="020B0609020204030204" pitchFamily="49" charset="0"/>
              </a:rPr>
              <a:t>(</a:t>
            </a:r>
            <a:r>
              <a:rPr lang="en-US" altLang="zh-CN" sz="2400" dirty="0">
                <a:solidFill>
                  <a:srgbClr val="0000FF"/>
                </a:solidFill>
                <a:latin typeface="Consolas" panose="020B0609020204030204" pitchFamily="49" charset="0"/>
              </a:rPr>
              <a:t>int</a:t>
            </a:r>
            <a:r>
              <a:rPr lang="en-US" altLang="zh-CN" sz="2400" dirty="0">
                <a:latin typeface="Consolas" panose="020B0609020204030204" pitchFamily="49" charset="0"/>
              </a:rPr>
              <a:t> </a:t>
            </a:r>
            <a:r>
              <a:rPr lang="en-US" altLang="zh-CN" sz="2400" dirty="0">
                <a:solidFill>
                  <a:schemeClr val="accent2"/>
                </a:solidFill>
                <a:latin typeface="Consolas" panose="020B0609020204030204" pitchFamily="49" charset="0"/>
              </a:rPr>
              <a:t>* pa, const</a:t>
            </a:r>
            <a:r>
              <a:rPr lang="en-US" altLang="zh-CN" sz="2400" dirty="0">
                <a:solidFill>
                  <a:schemeClr val="accent1"/>
                </a:solidFill>
                <a:latin typeface="Consolas" panose="020B0609020204030204" pitchFamily="49" charset="0"/>
              </a:rPr>
              <a:t> </a:t>
            </a:r>
            <a:r>
              <a:rPr lang="en-US" altLang="zh-CN" sz="2400" dirty="0">
                <a:latin typeface="Consolas" panose="020B0609020204030204" pitchFamily="49" charset="0"/>
              </a:rPr>
              <a:t>int n);</a:t>
            </a:r>
          </a:p>
          <a:p>
            <a:pPr eaLnBrk="1" hangingPunct="1">
              <a:lnSpc>
                <a:spcPct val="90000"/>
              </a:lnSpc>
              <a:buFontTx/>
              <a:buNone/>
            </a:pPr>
            <a:r>
              <a:rPr lang="en-US" altLang="zh-CN" sz="2400" dirty="0">
                <a:latin typeface="Consolas" panose="020B0609020204030204" pitchFamily="49" charset="0"/>
              </a:rPr>
              <a:t>int 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int a[SIZE]={2,1,6,9,8,36,27,25,12,7};</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bubbleSort</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outArray2</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return 0;</a:t>
            </a:r>
          </a:p>
          <a:p>
            <a:pPr eaLnBrk="1" hangingPunct="1">
              <a:lnSpc>
                <a:spcPct val="90000"/>
              </a:lnSpc>
              <a:buFontTx/>
              <a:buNone/>
            </a:pPr>
            <a:r>
              <a:rPr lang="en-US" altLang="zh-CN" sz="2400" dirty="0">
                <a:latin typeface="Consolas" panose="020B0609020204030204" pitchFamily="49" charset="0"/>
              </a:rPr>
              <a:t>} </a:t>
            </a:r>
            <a:endParaRPr lang="zh-CN" altLang="en-US" sz="2400" dirty="0">
              <a:latin typeface="Consolas" panose="020B0609020204030204" pitchFamily="49" charset="0"/>
            </a:endParaRPr>
          </a:p>
        </p:txBody>
      </p:sp>
      <p:sp>
        <p:nvSpPr>
          <p:cNvPr id="64515" name="Rectangle 2"/>
          <p:cNvSpPr>
            <a:spLocks noGrp="1" noChangeArrowheads="1"/>
          </p:cNvSpPr>
          <p:nvPr>
            <p:ph type="title"/>
          </p:nvPr>
        </p:nvSpPr>
        <p:spPr/>
        <p:txBody>
          <a:bodyPr/>
          <a:lstStyle/>
          <a:p>
            <a:pPr eaLnBrk="1" hangingPunct="1"/>
            <a:r>
              <a:rPr lang="zh-CN" altLang="en-US" b="1" dirty="0"/>
              <a:t>测试主程序</a:t>
            </a:r>
          </a:p>
        </p:txBody>
      </p:sp>
    </p:spTree>
    <p:extLst>
      <p:ext uri="{BB962C8B-B14F-4D97-AF65-F5344CB8AC3E}">
        <p14:creationId xmlns:p14="http://schemas.microsoft.com/office/powerpoint/2010/main" val="299196583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框 41985">
            <a:extLst>
              <a:ext uri="{FF2B5EF4-FFF2-40B4-BE49-F238E27FC236}">
                <a16:creationId xmlns:a16="http://schemas.microsoft.com/office/drawing/2014/main" id="{603970EA-31D8-4A18-928B-7975C7A4A9EE}"/>
              </a:ext>
            </a:extLst>
          </p:cNvPr>
          <p:cNvSpPr txBox="1">
            <a:spLocks noChangeArrowheads="1"/>
          </p:cNvSpPr>
          <p:nvPr/>
        </p:nvSpPr>
        <p:spPr bwMode="auto">
          <a:xfrm>
            <a:off x="338138" y="1454150"/>
            <a:ext cx="8194302" cy="31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pPr>
            <a:r>
              <a:rPr lang="en-US" altLang="zh-CN" sz="2400" dirty="0">
                <a:latin typeface="Consolas" panose="020B0609020204030204" pitchFamily="49" charset="0"/>
              </a:rPr>
              <a:t>void </a:t>
            </a:r>
            <a:r>
              <a:rPr lang="en-US" altLang="zh-CN" sz="2400" b="1" dirty="0">
                <a:latin typeface="Consolas" panose="020B0609020204030204" pitchFamily="49" charset="0"/>
              </a:rPr>
              <a:t>inverse(</a:t>
            </a:r>
            <a:r>
              <a:rPr lang="en-US" altLang="zh-CN" sz="2400" b="1" dirty="0">
                <a:solidFill>
                  <a:srgbClr val="0000FF"/>
                </a:solidFill>
                <a:latin typeface="Consolas" panose="020B0609020204030204" pitchFamily="49" charset="0"/>
              </a:rPr>
              <a:t>int *</a:t>
            </a:r>
            <a:r>
              <a:rPr lang="en-US" altLang="zh-CN" sz="2400" b="1" dirty="0">
                <a:latin typeface="Consolas" panose="020B0609020204030204" pitchFamily="49" charset="0"/>
              </a:rPr>
              <a:t> pa, int n)</a:t>
            </a:r>
            <a:endParaRPr lang="en-US" altLang="zh-CN" sz="2400" dirty="0">
              <a:latin typeface="Consolas" panose="020B0609020204030204" pitchFamily="49" charset="0"/>
            </a:endParaRPr>
          </a:p>
          <a:p>
            <a:pPr eaLnBrk="0" hangingPunct="0">
              <a:lnSpc>
                <a:spcPct val="120000"/>
              </a:lnSpc>
            </a:pPr>
            <a:r>
              <a:rPr lang="en-US" altLang="zh-CN" sz="2400" dirty="0">
                <a:latin typeface="Consolas" panose="020B0609020204030204" pitchFamily="49" charset="0"/>
              </a:rPr>
              <a:t>{</a:t>
            </a:r>
          </a:p>
          <a:p>
            <a:pPr eaLnBrk="0" hangingPunct="0">
              <a:lnSpc>
                <a:spcPct val="120000"/>
              </a:lnSpc>
            </a:pPr>
            <a:r>
              <a:rPr lang="en-US" altLang="zh-CN" sz="2400" dirty="0">
                <a:latin typeface="Consolas" panose="020B0609020204030204" pitchFamily="49" charset="0"/>
              </a:rPr>
              <a:t>	int </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eaLnBrk="0" hangingPunct="0">
              <a:lnSpc>
                <a:spcPct val="120000"/>
              </a:lnSpc>
            </a:pPr>
            <a:r>
              <a:rPr lang="en-US" altLang="zh-CN" sz="2400" b="1" dirty="0">
                <a:solidFill>
                  <a:schemeClr val="accent2"/>
                </a:solidFill>
                <a:latin typeface="Consolas" panose="020B0609020204030204" pitchFamily="49" charset="0"/>
              </a:rPr>
              <a:t>	</a:t>
            </a:r>
            <a:r>
              <a:rPr lang="en-US" altLang="zh-CN" sz="2400" b="1" dirty="0">
                <a:latin typeface="Consolas" panose="020B0609020204030204" pitchFamily="49" charset="0"/>
              </a:rPr>
              <a:t>for(</a:t>
            </a:r>
            <a:r>
              <a:rPr lang="en-US" altLang="zh-CN" sz="2400" b="1" dirty="0" err="1">
                <a:latin typeface="Consolas" panose="020B0609020204030204" pitchFamily="49" charset="0"/>
              </a:rPr>
              <a:t>i</a:t>
            </a:r>
            <a:r>
              <a:rPr lang="en-US" altLang="zh-CN" sz="2400" b="1" dirty="0">
                <a:latin typeface="Consolas" panose="020B0609020204030204" pitchFamily="49" charset="0"/>
              </a:rPr>
              <a:t>=0; </a:t>
            </a:r>
            <a:r>
              <a:rPr lang="en-US" altLang="zh-CN" sz="2400" b="1" dirty="0" err="1">
                <a:latin typeface="Consolas" panose="020B0609020204030204" pitchFamily="49" charset="0"/>
              </a:rPr>
              <a:t>i</a:t>
            </a:r>
            <a:r>
              <a:rPr lang="en-US" altLang="zh-CN" sz="2400" b="1" dirty="0">
                <a:latin typeface="Consolas" panose="020B0609020204030204" pitchFamily="49" charset="0"/>
              </a:rPr>
              <a:t>&lt;(n/2-1); </a:t>
            </a:r>
            <a:r>
              <a:rPr lang="en-US" altLang="zh-CN" sz="2400" b="1" dirty="0" err="1">
                <a:latin typeface="Consolas" panose="020B0609020204030204" pitchFamily="49" charset="0"/>
              </a:rPr>
              <a:t>i</a:t>
            </a:r>
            <a:r>
              <a:rPr lang="en-US" altLang="zh-CN" sz="2400" b="1" dirty="0">
                <a:latin typeface="Consolas" panose="020B0609020204030204" pitchFamily="49" charset="0"/>
              </a:rPr>
              <a:t>++)</a:t>
            </a:r>
          </a:p>
          <a:p>
            <a:pPr eaLnBrk="0" hangingPunct="0">
              <a:lnSpc>
                <a:spcPct val="120000"/>
              </a:lnSpc>
            </a:pPr>
            <a:r>
              <a:rPr lang="zh-CN" altLang="en-US" sz="2400" dirty="0">
                <a:latin typeface="Consolas" panose="020B0609020204030204" pitchFamily="49" charset="0"/>
              </a:rPr>
              <a:t>   </a:t>
            </a:r>
            <a:r>
              <a:rPr lang="en-US" altLang="zh-CN" sz="2400" dirty="0">
                <a:latin typeface="Consolas" panose="020B0609020204030204" pitchFamily="49" charset="0"/>
              </a:rPr>
              <a:t>		</a:t>
            </a:r>
            <a:r>
              <a:rPr lang="en-US" altLang="zh-CN" sz="2400" b="1" dirty="0">
                <a:solidFill>
                  <a:schemeClr val="accent2"/>
                </a:solidFill>
                <a:latin typeface="Consolas" panose="020B0609020204030204" pitchFamily="49" charset="0"/>
              </a:rPr>
              <a:t>swap(</a:t>
            </a:r>
            <a:r>
              <a:rPr lang="en-US" altLang="zh-CN" sz="2400" b="1" dirty="0" err="1">
                <a:solidFill>
                  <a:schemeClr val="accent2"/>
                </a:solidFill>
                <a:latin typeface="Consolas" panose="020B0609020204030204" pitchFamily="49" charset="0"/>
              </a:rPr>
              <a:t>pa+i</a:t>
            </a:r>
            <a:r>
              <a:rPr lang="en-US" altLang="zh-CN" sz="2400" b="1" dirty="0">
                <a:solidFill>
                  <a:schemeClr val="accent2"/>
                </a:solidFill>
                <a:latin typeface="Consolas" panose="020B0609020204030204" pitchFamily="49" charset="0"/>
              </a:rPr>
              <a:t>, </a:t>
            </a:r>
            <a:r>
              <a:rPr lang="en-US" altLang="zh-CN" sz="2400" b="1" dirty="0" err="1">
                <a:solidFill>
                  <a:schemeClr val="accent2"/>
                </a:solidFill>
                <a:latin typeface="Consolas" panose="020B0609020204030204" pitchFamily="49" charset="0"/>
              </a:rPr>
              <a:t>pa+n-1-i</a:t>
            </a:r>
            <a:r>
              <a:rPr lang="en-US" altLang="zh-CN" sz="2400" b="1" dirty="0">
                <a:solidFill>
                  <a:schemeClr val="accent2"/>
                </a:solidFill>
                <a:latin typeface="Consolas" panose="020B0609020204030204" pitchFamily="49" charset="0"/>
              </a:rPr>
              <a:t>);</a:t>
            </a:r>
            <a:r>
              <a:rPr lang="en-US" altLang="zh-CN" sz="2400" dirty="0">
                <a:latin typeface="Consolas" panose="020B0609020204030204" pitchFamily="49" charset="0"/>
              </a:rPr>
              <a:t> </a:t>
            </a:r>
          </a:p>
          <a:p>
            <a:pPr eaLnBrk="0" hangingPunct="0">
              <a:lnSpc>
                <a:spcPct val="120000"/>
              </a:lnSpc>
            </a:pPr>
            <a:r>
              <a:rPr lang="en-US" altLang="zh-CN" sz="2400" dirty="0">
                <a:latin typeface="Consolas" panose="020B0609020204030204" pitchFamily="49" charset="0"/>
              </a:rPr>
              <a:t>   </a:t>
            </a:r>
            <a:endParaRPr lang="zh-CN" altLang="en-US" sz="2400" dirty="0">
              <a:latin typeface="Consolas" panose="020B0609020204030204" pitchFamily="49" charset="0"/>
            </a:endParaRPr>
          </a:p>
          <a:p>
            <a:pPr eaLnBrk="0" hangingPunct="0">
              <a:lnSpc>
                <a:spcPct val="120000"/>
              </a:lnSpc>
            </a:pPr>
            <a:r>
              <a:rPr lang="en-US" altLang="zh-CN" sz="2400" dirty="0">
                <a:latin typeface="Consolas" panose="020B0609020204030204" pitchFamily="49" charset="0"/>
              </a:rPr>
              <a:t>}</a:t>
            </a:r>
          </a:p>
        </p:txBody>
      </p:sp>
      <p:sp>
        <p:nvSpPr>
          <p:cNvPr id="38914" name="文本框 38913">
            <a:extLst>
              <a:ext uri="{FF2B5EF4-FFF2-40B4-BE49-F238E27FC236}">
                <a16:creationId xmlns:a16="http://schemas.microsoft.com/office/drawing/2014/main" id="{5A031A0C-D74F-445A-83D3-A0BABB8F64BF}"/>
              </a:ext>
            </a:extLst>
          </p:cNvPr>
          <p:cNvSpPr txBox="1">
            <a:spLocks noChangeArrowheads="1"/>
          </p:cNvSpPr>
          <p:nvPr/>
        </p:nvSpPr>
        <p:spPr bwMode="auto">
          <a:xfrm>
            <a:off x="1687513" y="466725"/>
            <a:ext cx="7294562" cy="517525"/>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800" b="1">
                <a:solidFill>
                  <a:schemeClr val="bg1"/>
                </a:solidFill>
              </a:rPr>
              <a:t>例</a:t>
            </a:r>
            <a:r>
              <a:rPr lang="en-US" altLang="zh-CN" sz="2800" b="1">
                <a:solidFill>
                  <a:schemeClr val="bg1"/>
                </a:solidFill>
              </a:rPr>
              <a:t>7.</a:t>
            </a:r>
            <a:r>
              <a:rPr lang="zh-CN" altLang="en-US" sz="2800" b="1">
                <a:solidFill>
                  <a:schemeClr val="bg1"/>
                </a:solidFill>
              </a:rPr>
              <a:t>７ 将数组ａ中ｎ个整数按相反顺序存放。</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p:cTn id="7" dur="500" fill="hold"/>
                                        <p:tgtEl>
                                          <p:spTgt spid="38914"/>
                                        </p:tgtEl>
                                        <p:attrNameLst>
                                          <p:attrName>ppt_x</p:attrName>
                                        </p:attrNameLst>
                                      </p:cBhvr>
                                      <p:tavLst>
                                        <p:tav tm="0">
                                          <p:val>
                                            <p:strVal val="0-#ppt_w/2"/>
                                          </p:val>
                                        </p:tav>
                                        <p:tav tm="100000">
                                          <p:val>
                                            <p:strVal val="#ppt_x"/>
                                          </p:val>
                                        </p:tav>
                                      </p:tavLst>
                                    </p:anim>
                                    <p:anim calcmode="lin" valueType="num">
                                      <p:cBhvr>
                                        <p:cTn id="8" dur="500" fill="hold"/>
                                        <p:tgtEl>
                                          <p:spTgt spid="389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467544" y="1268760"/>
            <a:ext cx="8458200" cy="4611687"/>
          </a:xfrm>
        </p:spPr>
        <p:txBody>
          <a:bodyPr/>
          <a:lstStyle/>
          <a:p>
            <a:pPr eaLnBrk="1" hangingPunct="1">
              <a:lnSpc>
                <a:spcPct val="90000"/>
              </a:lnSpc>
              <a:buFontTx/>
              <a:buNone/>
            </a:pPr>
            <a:r>
              <a:rPr lang="en-US" altLang="zh-CN" sz="2400" dirty="0">
                <a:latin typeface="Consolas" panose="020B0609020204030204" pitchFamily="49" charset="0"/>
              </a:rPr>
              <a:t>#define SIZE 10</a:t>
            </a:r>
          </a:p>
          <a:p>
            <a:pPr eaLnBrk="1" hangingPunct="1">
              <a:buFontTx/>
              <a:buNone/>
            </a:pPr>
            <a:r>
              <a:rPr lang="en-US" altLang="zh-CN" sz="2400" dirty="0">
                <a:solidFill>
                  <a:schemeClr val="accent2"/>
                </a:solidFill>
                <a:latin typeface="Consolas" panose="020B0609020204030204" pitchFamily="49" charset="0"/>
              </a:rPr>
              <a:t>void swap(int *, int *);/*</a:t>
            </a:r>
            <a:r>
              <a:rPr lang="zh-CN" altLang="en-US" sz="2400" dirty="0">
                <a:solidFill>
                  <a:schemeClr val="accent2"/>
                </a:solidFill>
                <a:latin typeface="Consolas" panose="020B0609020204030204" pitchFamily="49" charset="0"/>
              </a:rPr>
              <a:t>函数原型*/</a:t>
            </a:r>
            <a:endParaRPr lang="en-US" altLang="zh-CN" sz="2400" dirty="0">
              <a:latin typeface="Consolas" panose="020B0609020204030204" pitchFamily="49" charset="0"/>
            </a:endParaRPr>
          </a:p>
          <a:p>
            <a:pPr marL="0" indent="0" eaLnBrk="0" hangingPunct="0">
              <a:lnSpc>
                <a:spcPct val="120000"/>
              </a:lnSpc>
              <a:buNone/>
            </a:pPr>
            <a:r>
              <a:rPr lang="en-US" altLang="zh-CN" sz="2400" dirty="0">
                <a:latin typeface="Consolas" panose="020B0609020204030204" pitchFamily="49" charset="0"/>
              </a:rPr>
              <a:t>void inverse(</a:t>
            </a:r>
            <a:r>
              <a:rPr lang="en-US" altLang="zh-CN" sz="2400" dirty="0">
                <a:solidFill>
                  <a:srgbClr val="0000FF"/>
                </a:solidFill>
                <a:latin typeface="Consolas" panose="020B0609020204030204" pitchFamily="49" charset="0"/>
              </a:rPr>
              <a:t>int *</a:t>
            </a:r>
            <a:r>
              <a:rPr lang="en-US" altLang="zh-CN" sz="2400" dirty="0">
                <a:latin typeface="Consolas" panose="020B0609020204030204" pitchFamily="49" charset="0"/>
              </a:rPr>
              <a:t> ,int);</a:t>
            </a:r>
          </a:p>
          <a:p>
            <a:pPr marL="0" indent="0" eaLnBrk="0" hangingPunct="0">
              <a:lnSpc>
                <a:spcPct val="120000"/>
              </a:lnSpc>
              <a:buNone/>
            </a:pPr>
            <a:r>
              <a:rPr lang="en-US" altLang="zh-CN" sz="2400" dirty="0">
                <a:latin typeface="Consolas" panose="020B0609020204030204" pitchFamily="49" charset="0"/>
              </a:rPr>
              <a:t>void </a:t>
            </a:r>
            <a:r>
              <a:rPr lang="en-US" altLang="zh-CN" sz="2400" dirty="0" err="1">
                <a:latin typeface="Consolas" panose="020B0609020204030204" pitchFamily="49" charset="0"/>
              </a:rPr>
              <a:t>outArray2</a:t>
            </a:r>
            <a:r>
              <a:rPr lang="en-US" altLang="zh-CN" sz="2400" dirty="0">
                <a:latin typeface="Consolas" panose="020B0609020204030204" pitchFamily="49" charset="0"/>
              </a:rPr>
              <a:t>(</a:t>
            </a:r>
            <a:r>
              <a:rPr lang="en-US" altLang="zh-CN" sz="2400" dirty="0">
                <a:solidFill>
                  <a:srgbClr val="0000FF"/>
                </a:solidFill>
                <a:latin typeface="Consolas" panose="020B0609020204030204" pitchFamily="49" charset="0"/>
              </a:rPr>
              <a:t>int *</a:t>
            </a:r>
            <a:r>
              <a:rPr lang="en-US" altLang="zh-CN" sz="2400" dirty="0">
                <a:latin typeface="Consolas" panose="020B0609020204030204" pitchFamily="49" charset="0"/>
              </a:rPr>
              <a:t>,int);</a:t>
            </a:r>
          </a:p>
          <a:p>
            <a:pPr eaLnBrk="1" hangingPunct="1">
              <a:lnSpc>
                <a:spcPct val="90000"/>
              </a:lnSpc>
              <a:buFontTx/>
              <a:buNone/>
            </a:pPr>
            <a:r>
              <a:rPr lang="en-US" altLang="zh-CN" sz="2400" dirty="0">
                <a:latin typeface="Consolas" panose="020B0609020204030204" pitchFamily="49" charset="0"/>
              </a:rPr>
              <a:t>int 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int a[SIZE]={2,1,6,9,8,36,27,25,12,7};</a:t>
            </a:r>
          </a:p>
          <a:p>
            <a:pPr eaLnBrk="1" hangingPunct="1">
              <a:lnSpc>
                <a:spcPct val="90000"/>
              </a:lnSpc>
              <a:buFontTx/>
              <a:buNone/>
            </a:pPr>
            <a:r>
              <a:rPr lang="en-US" altLang="zh-CN" sz="2400" dirty="0">
                <a:latin typeface="Consolas" panose="020B0609020204030204" pitchFamily="49" charset="0"/>
              </a:rPr>
              <a:t> 	 inverse(</a:t>
            </a:r>
            <a:r>
              <a:rPr lang="en-US" altLang="zh-CN" sz="2400" dirty="0" err="1">
                <a:latin typeface="Consolas" panose="020B0609020204030204" pitchFamily="49" charset="0"/>
              </a:rPr>
              <a:t>a,SIZE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outArray2</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return 0;</a:t>
            </a:r>
          </a:p>
          <a:p>
            <a:pPr eaLnBrk="1" hangingPunct="1">
              <a:lnSpc>
                <a:spcPct val="90000"/>
              </a:lnSpc>
              <a:buFontTx/>
              <a:buNone/>
            </a:pPr>
            <a:r>
              <a:rPr lang="en-US" altLang="zh-CN" sz="2400" dirty="0">
                <a:latin typeface="Consolas" panose="020B0609020204030204" pitchFamily="49" charset="0"/>
              </a:rPr>
              <a:t>} </a:t>
            </a:r>
            <a:endParaRPr lang="zh-CN" altLang="en-US" sz="2400" dirty="0">
              <a:latin typeface="Consolas" panose="020B0609020204030204" pitchFamily="49" charset="0"/>
            </a:endParaRPr>
          </a:p>
        </p:txBody>
      </p:sp>
      <p:sp>
        <p:nvSpPr>
          <p:cNvPr id="64515" name="Rectangle 2"/>
          <p:cNvSpPr>
            <a:spLocks noGrp="1" noChangeArrowheads="1"/>
          </p:cNvSpPr>
          <p:nvPr>
            <p:ph type="title"/>
          </p:nvPr>
        </p:nvSpPr>
        <p:spPr/>
        <p:txBody>
          <a:bodyPr/>
          <a:lstStyle/>
          <a:p>
            <a:pPr eaLnBrk="1" hangingPunct="1"/>
            <a:r>
              <a:rPr lang="zh-CN" altLang="en-US" b="1" dirty="0"/>
              <a:t>测试主程序</a:t>
            </a:r>
          </a:p>
        </p:txBody>
      </p:sp>
    </p:spTree>
    <p:extLst>
      <p:ext uri="{BB962C8B-B14F-4D97-AF65-F5344CB8AC3E}">
        <p14:creationId xmlns:p14="http://schemas.microsoft.com/office/powerpoint/2010/main" val="129788007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4">
            <a:extLst>
              <a:ext uri="{FF2B5EF4-FFF2-40B4-BE49-F238E27FC236}">
                <a16:creationId xmlns:a16="http://schemas.microsoft.com/office/drawing/2014/main" id="{5C6A8CE0-C11E-4CBF-8554-8309B9AE64B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0"/>
              </a:spcBef>
            </a:pPr>
            <a:fld id="{BD35E10D-08AF-45BD-B418-F49F3CCDF114}" type="slidenum">
              <a:rPr lang="zh-CN" altLang="en-US" smtClean="0"/>
              <a:pPr>
                <a:spcBef>
                  <a:spcPct val="0"/>
                </a:spcBef>
              </a:pPr>
              <a:t>17</a:t>
            </a:fld>
            <a:endParaRPr lang="zh-CN" altLang="en-US"/>
          </a:p>
        </p:txBody>
      </p:sp>
      <p:sp>
        <p:nvSpPr>
          <p:cNvPr id="18434" name="Rectangle 2">
            <a:extLst>
              <a:ext uri="{FF2B5EF4-FFF2-40B4-BE49-F238E27FC236}">
                <a16:creationId xmlns:a16="http://schemas.microsoft.com/office/drawing/2014/main" id="{3B44BA1C-6CF0-40AA-B4AE-082EDDD43E10}"/>
              </a:ext>
            </a:extLst>
          </p:cNvPr>
          <p:cNvSpPr>
            <a:spLocks noGrp="1" noChangeArrowheads="1"/>
          </p:cNvSpPr>
          <p:nvPr>
            <p:ph type="title"/>
          </p:nvPr>
        </p:nvSpPr>
        <p:spPr/>
        <p:txBody>
          <a:bodyPr/>
          <a:lstStyle/>
          <a:p>
            <a:pPr eaLnBrk="1" hangingPunct="1"/>
            <a:r>
              <a:rPr lang="zh-CN" altLang="en-US" b="1"/>
              <a:t>指针用在二维数组传</a:t>
            </a:r>
            <a:r>
              <a:rPr lang="en-US" altLang="zh-CN" b="1"/>
              <a:t>参</a:t>
            </a:r>
          </a:p>
        </p:txBody>
      </p:sp>
      <p:sp>
        <p:nvSpPr>
          <p:cNvPr id="123908" name="Rectangle 3">
            <a:extLst>
              <a:ext uri="{FF2B5EF4-FFF2-40B4-BE49-F238E27FC236}">
                <a16:creationId xmlns:a16="http://schemas.microsoft.com/office/drawing/2014/main" id="{95F748F0-1EA3-48C7-8038-4D60BF7D4AD5}"/>
              </a:ext>
            </a:extLst>
          </p:cNvPr>
          <p:cNvSpPr>
            <a:spLocks noGrp="1" noChangeArrowheads="1"/>
          </p:cNvSpPr>
          <p:nvPr>
            <p:ph idx="1"/>
          </p:nvPr>
        </p:nvSpPr>
        <p:spPr>
          <a:xfrm>
            <a:off x="611188" y="1319213"/>
            <a:ext cx="7847012" cy="4846637"/>
          </a:xfrm>
        </p:spPr>
        <p:txBody>
          <a:bodyPr/>
          <a:lstStyle/>
          <a:p>
            <a:pPr eaLnBrk="1" hangingPunct="1">
              <a:lnSpc>
                <a:spcPct val="90000"/>
              </a:lnSpc>
              <a:buFont typeface="Wingdings" panose="05000000000000000000" pitchFamily="2" charset="2"/>
              <a:buChar char="Ø"/>
            </a:pPr>
            <a:r>
              <a:rPr lang="zh-CN" altLang="en-US" b="1" noProof="1"/>
              <a:t>定义一个函数，用于输出各种列数的二维数组</a:t>
            </a:r>
          </a:p>
          <a:p>
            <a:pPr marL="0" indent="0" eaLnBrk="1" hangingPunct="1">
              <a:lnSpc>
                <a:spcPct val="90000"/>
              </a:lnSpc>
              <a:buFont typeface="Wingdings" panose="05000000000000000000" pitchFamily="2" charset="2"/>
              <a:buNone/>
            </a:pPr>
            <a:r>
              <a:rPr lang="en-US" altLang="zh-CN" sz="2400" noProof="1">
                <a:solidFill>
                  <a:srgbClr val="0070C0"/>
                </a:solidFill>
                <a:latin typeface="Consolas" panose="020B0609020204030204" pitchFamily="49" charset="0"/>
              </a:rPr>
              <a:t>int m[3][4];  printMatrix( *m, 3, 4);</a:t>
            </a:r>
          </a:p>
          <a:p>
            <a:pPr eaLnBrk="1" hangingPunct="1">
              <a:lnSpc>
                <a:spcPct val="90000"/>
              </a:lnSpc>
              <a:buFontTx/>
              <a:buNone/>
            </a:pPr>
            <a:r>
              <a:rPr lang="en-US" altLang="zh-CN" sz="2400" noProof="1">
                <a:latin typeface="Consolas" panose="020B0609020204030204" pitchFamily="49" charset="0"/>
              </a:rPr>
              <a:t>void printMatrix(const int * pm, int rows,int cols)</a:t>
            </a:r>
          </a:p>
          <a:p>
            <a:pPr eaLnBrk="1" hangingPunct="1">
              <a:lnSpc>
                <a:spcPct val="90000"/>
              </a:lnSpc>
              <a:buFontTx/>
              <a:buNone/>
            </a:pPr>
            <a:r>
              <a:rPr lang="en-US" altLang="zh-CN" sz="2400" noProof="1">
                <a:latin typeface="Consolas" panose="020B0609020204030204" pitchFamily="49" charset="0"/>
              </a:rPr>
              <a:t>{</a:t>
            </a:r>
          </a:p>
          <a:p>
            <a:pPr eaLnBrk="1" hangingPunct="1">
              <a:lnSpc>
                <a:spcPct val="90000"/>
              </a:lnSpc>
              <a:buFontTx/>
              <a:buNone/>
            </a:pPr>
            <a:r>
              <a:rPr lang="en-US" altLang="zh-CN" sz="2400" noProof="1">
                <a:latin typeface="Consolas" panose="020B0609020204030204" pitchFamily="49" charset="0"/>
              </a:rPr>
              <a:t>   int i, j;</a:t>
            </a:r>
          </a:p>
          <a:p>
            <a:pPr eaLnBrk="1" hangingPunct="1">
              <a:lnSpc>
                <a:spcPct val="90000"/>
              </a:lnSpc>
              <a:buFontTx/>
              <a:buNone/>
            </a:pPr>
            <a:r>
              <a:rPr lang="en-US" altLang="zh-CN" sz="2400" noProof="1">
                <a:latin typeface="Consolas" panose="020B0609020204030204" pitchFamily="49" charset="0"/>
              </a:rPr>
              <a:t>   for (i=0; i&lt;rows; i++){</a:t>
            </a:r>
          </a:p>
          <a:p>
            <a:pPr eaLnBrk="1" hangingPunct="1">
              <a:lnSpc>
                <a:spcPct val="90000"/>
              </a:lnSpc>
              <a:buFontTx/>
              <a:buNone/>
            </a:pPr>
            <a:r>
              <a:rPr lang="en-US" altLang="zh-CN" sz="2400" noProof="1">
                <a:latin typeface="Consolas" panose="020B0609020204030204" pitchFamily="49" charset="0"/>
              </a:rPr>
              <a:t>      for(j=0; j&lt;cols; j++)</a:t>
            </a:r>
          </a:p>
          <a:p>
            <a:pPr eaLnBrk="1" hangingPunct="1">
              <a:lnSpc>
                <a:spcPct val="90000"/>
              </a:lnSpc>
              <a:buFontTx/>
              <a:buNone/>
            </a:pPr>
            <a:r>
              <a:rPr lang="en-US" altLang="zh-CN" sz="2400" noProof="1">
                <a:latin typeface="Consolas" panose="020B0609020204030204" pitchFamily="49" charset="0"/>
              </a:rPr>
              <a:t>           printf("%d\t</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a:t>
            </a:r>
            <a:r>
              <a:rPr lang="en-US" altLang="zh-CN" sz="2400" noProof="1">
                <a:latin typeface="Consolas" panose="020B0609020204030204" pitchFamily="49" charset="0"/>
                <a:sym typeface="+mn-ea"/>
              </a:rPr>
              <a:t>pm[i*cols+j]</a:t>
            </a:r>
            <a:r>
              <a:rPr lang="en-US" altLang="zh-CN" sz="2400" noProof="1">
                <a:latin typeface="Consolas" panose="020B0609020204030204" pitchFamily="49" charset="0"/>
              </a:rPr>
              <a:t>);</a:t>
            </a:r>
          </a:p>
          <a:p>
            <a:pPr eaLnBrk="1" hangingPunct="1">
              <a:lnSpc>
                <a:spcPct val="90000"/>
              </a:lnSpc>
              <a:buFontTx/>
              <a:buNone/>
            </a:pPr>
            <a:endParaRPr lang="en-US" altLang="zh-CN" sz="2400" noProof="1">
              <a:latin typeface="Consolas" panose="020B0609020204030204" pitchFamily="49" charset="0"/>
            </a:endParaRPr>
          </a:p>
          <a:p>
            <a:pPr eaLnBrk="1" hangingPunct="1">
              <a:lnSpc>
                <a:spcPct val="90000"/>
              </a:lnSpc>
              <a:buFontTx/>
              <a:buNone/>
            </a:pPr>
            <a:r>
              <a:rPr lang="en-US" altLang="zh-CN" sz="2400" noProof="1">
                <a:latin typeface="Consolas" panose="020B0609020204030204" pitchFamily="49" charset="0"/>
              </a:rPr>
              <a:t>      printf(</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\n</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a:t>
            </a:r>
          </a:p>
          <a:p>
            <a:pPr eaLnBrk="1" hangingPunct="1">
              <a:lnSpc>
                <a:spcPct val="90000"/>
              </a:lnSpc>
              <a:buFontTx/>
              <a:buNone/>
            </a:pPr>
            <a:r>
              <a:rPr lang="en-US" altLang="zh-CN" sz="2400" noProof="1">
                <a:latin typeface="Consolas" panose="020B0609020204030204" pitchFamily="49" charset="0"/>
              </a:rPr>
              <a:t>   }</a:t>
            </a:r>
          </a:p>
          <a:p>
            <a:pPr eaLnBrk="1" hangingPunct="1">
              <a:lnSpc>
                <a:spcPct val="90000"/>
              </a:lnSpc>
              <a:buFontTx/>
              <a:buNone/>
            </a:pPr>
            <a:r>
              <a:rPr lang="en-US" altLang="zh-CN" sz="2400" noProof="1">
                <a:latin typeface="Consolas" panose="020B0609020204030204" pitchFamily="49" charset="0"/>
              </a:rPr>
              <a:t>}</a:t>
            </a:r>
          </a:p>
        </p:txBody>
      </p:sp>
      <p:sp>
        <p:nvSpPr>
          <p:cNvPr id="18436" name="AutoShape 5">
            <a:extLst>
              <a:ext uri="{FF2B5EF4-FFF2-40B4-BE49-F238E27FC236}">
                <a16:creationId xmlns:a16="http://schemas.microsoft.com/office/drawing/2014/main" id="{7A73B8F9-3C97-477A-BE65-73B077C8354B}"/>
              </a:ext>
            </a:extLst>
          </p:cNvPr>
          <p:cNvSpPr>
            <a:spLocks/>
          </p:cNvSpPr>
          <p:nvPr/>
        </p:nvSpPr>
        <p:spPr bwMode="auto">
          <a:xfrm>
            <a:off x="4464050" y="2771775"/>
            <a:ext cx="4572000" cy="647700"/>
          </a:xfrm>
          <a:prstGeom prst="borderCallout2">
            <a:avLst>
              <a:gd name="adj1" fmla="val 17648"/>
              <a:gd name="adj2" fmla="val -1667"/>
              <a:gd name="adj3" fmla="val 17648"/>
              <a:gd name="adj4" fmla="val -2954"/>
              <a:gd name="adj5" fmla="val -17894"/>
              <a:gd name="adj6" fmla="val -4306"/>
            </a:avLst>
          </a:prstGeom>
          <a:solidFill>
            <a:srgbClr val="CCFFFF"/>
          </a:solidFill>
          <a:ln w="9525">
            <a:solidFill>
              <a:schemeClr val="accent1"/>
            </a:solidFill>
            <a:miter lim="800000"/>
            <a:headEnd/>
            <a:tailEnd/>
          </a:ln>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r>
              <a:rPr lang="zh-CN" altLang="en-US" sz="2000" b="1" dirty="0"/>
              <a:t>一级指针做形参，无须给列数。</a:t>
            </a:r>
          </a:p>
        </p:txBody>
      </p:sp>
      <p:sp>
        <p:nvSpPr>
          <p:cNvPr id="18437" name="Line 6">
            <a:extLst>
              <a:ext uri="{FF2B5EF4-FFF2-40B4-BE49-F238E27FC236}">
                <a16:creationId xmlns:a16="http://schemas.microsoft.com/office/drawing/2014/main" id="{0BAB2DDE-8746-4513-A245-72E5A69B137E}"/>
              </a:ext>
            </a:extLst>
          </p:cNvPr>
          <p:cNvSpPr>
            <a:spLocks noChangeShapeType="1"/>
          </p:cNvSpPr>
          <p:nvPr/>
        </p:nvSpPr>
        <p:spPr bwMode="auto">
          <a:xfrm>
            <a:off x="3347864" y="2564904"/>
            <a:ext cx="15128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8438" name="AutoShape 4">
            <a:extLst>
              <a:ext uri="{FF2B5EF4-FFF2-40B4-BE49-F238E27FC236}">
                <a16:creationId xmlns:a16="http://schemas.microsoft.com/office/drawing/2014/main" id="{9A68D82B-D570-48DA-929D-89CBA2800FA6}"/>
              </a:ext>
            </a:extLst>
          </p:cNvPr>
          <p:cNvSpPr>
            <a:spLocks/>
          </p:cNvSpPr>
          <p:nvPr/>
        </p:nvSpPr>
        <p:spPr bwMode="auto">
          <a:xfrm>
            <a:off x="4355976" y="5035389"/>
            <a:ext cx="3816424" cy="719138"/>
          </a:xfrm>
          <a:prstGeom prst="borderCallout2">
            <a:avLst>
              <a:gd name="adj1" fmla="val 15894"/>
              <a:gd name="adj2" fmla="val -2074"/>
              <a:gd name="adj3" fmla="val 15894"/>
              <a:gd name="adj4" fmla="val -4454"/>
              <a:gd name="adj5" fmla="val -38412"/>
              <a:gd name="adj6" fmla="val -6917"/>
            </a:avLst>
          </a:prstGeom>
          <a:solidFill>
            <a:srgbClr val="CCFFFF"/>
          </a:solidFill>
          <a:ln w="9525">
            <a:solidFill>
              <a:schemeClr val="accent1"/>
            </a:solidFill>
            <a:miter lim="800000"/>
            <a:headEnd/>
            <a:tailEnd/>
          </a:ln>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r>
              <a:rPr lang="zh-CN" altLang="en-US" sz="2000" b="1" dirty="0"/>
              <a:t>用指针计算</a:t>
            </a:r>
            <a:r>
              <a:rPr lang="en-US" altLang="zh-CN" sz="2000" b="1" dirty="0"/>
              <a:t>matrix[</a:t>
            </a:r>
            <a:r>
              <a:rPr lang="en-US" altLang="zh-CN" sz="2000" b="1" dirty="0" err="1"/>
              <a:t>i</a:t>
            </a:r>
            <a:r>
              <a:rPr lang="en-US" altLang="zh-CN" sz="2000" b="1" dirty="0"/>
              <a:t>][j]</a:t>
            </a:r>
            <a:r>
              <a:rPr lang="zh-CN" altLang="en-US" sz="2000" b="1" dirty="0"/>
              <a:t>地址进行间接访问</a:t>
            </a:r>
            <a:r>
              <a:rPr lang="en-US" altLang="zh-CN" sz="2000" b="1" dirty="0"/>
              <a:t>,</a:t>
            </a:r>
            <a:r>
              <a:rPr lang="zh-CN" altLang="en-US" sz="2000" b="1" dirty="0">
                <a:solidFill>
                  <a:srgbClr val="FF0000"/>
                </a:solidFill>
              </a:rPr>
              <a:t>这里不能用</a:t>
            </a:r>
            <a:r>
              <a:rPr lang="en-US" altLang="zh-CN" sz="2000" b="1" dirty="0">
                <a:solidFill>
                  <a:srgbClr val="FF0000"/>
                </a:solidFill>
              </a:rPr>
              <a:t>pm[</a:t>
            </a:r>
            <a:r>
              <a:rPr lang="en-US" altLang="zh-CN" sz="2000" b="1" dirty="0" err="1">
                <a:solidFill>
                  <a:srgbClr val="FF0000"/>
                </a:solidFill>
              </a:rPr>
              <a:t>i</a:t>
            </a:r>
            <a:r>
              <a:rPr lang="en-US" altLang="zh-CN" sz="2000" b="1" dirty="0">
                <a:solidFill>
                  <a:srgbClr val="FF0000"/>
                </a:solidFill>
              </a:rPr>
              <a:t>][j]</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4">
            <a:extLst>
              <a:ext uri="{FF2B5EF4-FFF2-40B4-BE49-F238E27FC236}">
                <a16:creationId xmlns:a16="http://schemas.microsoft.com/office/drawing/2014/main" id="{D950BE39-F06E-46F7-9445-36C5DF113D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0"/>
              </a:spcBef>
            </a:pPr>
            <a:fld id="{EB4BA814-73DD-4198-8235-01D1A1D75A70}" type="slidenum">
              <a:rPr lang="zh-CN" altLang="en-US" smtClean="0"/>
              <a:pPr>
                <a:spcBef>
                  <a:spcPct val="0"/>
                </a:spcBef>
              </a:pPr>
              <a:t>18</a:t>
            </a:fld>
            <a:endParaRPr lang="zh-CN" altLang="en-US"/>
          </a:p>
        </p:txBody>
      </p:sp>
      <p:sp>
        <p:nvSpPr>
          <p:cNvPr id="19458" name="Rectangle 2">
            <a:extLst>
              <a:ext uri="{FF2B5EF4-FFF2-40B4-BE49-F238E27FC236}">
                <a16:creationId xmlns:a16="http://schemas.microsoft.com/office/drawing/2014/main" id="{A52C9A48-FA5C-4EEF-8FF4-FD5CA4D1BF6F}"/>
              </a:ext>
            </a:extLst>
          </p:cNvPr>
          <p:cNvSpPr>
            <a:spLocks noGrp="1" noChangeArrowheads="1"/>
          </p:cNvSpPr>
          <p:nvPr>
            <p:ph type="title"/>
          </p:nvPr>
        </p:nvSpPr>
        <p:spPr/>
        <p:txBody>
          <a:bodyPr/>
          <a:lstStyle/>
          <a:p>
            <a:pPr eaLnBrk="1" hangingPunct="1"/>
            <a:r>
              <a:rPr lang="zh-CN" altLang="en-US" b="1"/>
              <a:t>指针用在二维数组传</a:t>
            </a:r>
            <a:r>
              <a:rPr lang="en-US" altLang="zh-CN" b="1"/>
              <a:t>参</a:t>
            </a:r>
          </a:p>
        </p:txBody>
      </p:sp>
      <p:sp>
        <p:nvSpPr>
          <p:cNvPr id="123908" name="Rectangle 3">
            <a:extLst>
              <a:ext uri="{FF2B5EF4-FFF2-40B4-BE49-F238E27FC236}">
                <a16:creationId xmlns:a16="http://schemas.microsoft.com/office/drawing/2014/main" id="{B4A26561-40A2-4B8D-809D-B29059EB71B5}"/>
              </a:ext>
            </a:extLst>
          </p:cNvPr>
          <p:cNvSpPr>
            <a:spLocks noGrp="1" noChangeArrowheads="1"/>
          </p:cNvSpPr>
          <p:nvPr>
            <p:ph idx="1"/>
          </p:nvPr>
        </p:nvSpPr>
        <p:spPr>
          <a:xfrm>
            <a:off x="611188" y="1319213"/>
            <a:ext cx="7847012" cy="4846637"/>
          </a:xfrm>
        </p:spPr>
        <p:txBody>
          <a:bodyPr/>
          <a:lstStyle/>
          <a:p>
            <a:pPr eaLnBrk="1" hangingPunct="1">
              <a:lnSpc>
                <a:spcPct val="90000"/>
              </a:lnSpc>
              <a:buFont typeface="Wingdings" panose="05000000000000000000" pitchFamily="2" charset="2"/>
              <a:buChar char="Ø"/>
            </a:pPr>
            <a:r>
              <a:rPr lang="zh-CN" altLang="en-US" b="1" noProof="1"/>
              <a:t>定义一个函数，用于输入二维数组</a:t>
            </a:r>
          </a:p>
          <a:p>
            <a:pPr marL="0" indent="0" eaLnBrk="1" hangingPunct="1">
              <a:lnSpc>
                <a:spcPct val="90000"/>
              </a:lnSpc>
              <a:buFont typeface="Wingdings" panose="05000000000000000000" pitchFamily="2" charset="2"/>
              <a:buNone/>
            </a:pPr>
            <a:r>
              <a:rPr lang="en-US" altLang="zh-CN" sz="2400" noProof="1">
                <a:solidFill>
                  <a:srgbClr val="0070C0"/>
                </a:solidFill>
                <a:latin typeface="Consolas" panose="020B0609020204030204" pitchFamily="49" charset="0"/>
              </a:rPr>
              <a:t>int m[3][4];  inputMatrix( *m, 3, 4);</a:t>
            </a:r>
          </a:p>
          <a:p>
            <a:pPr eaLnBrk="1" hangingPunct="1">
              <a:lnSpc>
                <a:spcPct val="90000"/>
              </a:lnSpc>
              <a:buFontTx/>
              <a:buNone/>
            </a:pPr>
            <a:r>
              <a:rPr lang="en-US" altLang="zh-CN" sz="2400" noProof="1">
                <a:latin typeface="Consolas" panose="020B0609020204030204" pitchFamily="49" charset="0"/>
              </a:rPr>
              <a:t>void inputMatrix(int * pm, int rows,int cols)</a:t>
            </a:r>
          </a:p>
          <a:p>
            <a:pPr eaLnBrk="1" hangingPunct="1">
              <a:lnSpc>
                <a:spcPct val="90000"/>
              </a:lnSpc>
              <a:buFontTx/>
              <a:buNone/>
            </a:pPr>
            <a:r>
              <a:rPr lang="en-US" altLang="zh-CN" sz="2400" noProof="1">
                <a:latin typeface="Consolas" panose="020B0609020204030204" pitchFamily="49" charset="0"/>
              </a:rPr>
              <a:t>{</a:t>
            </a:r>
          </a:p>
          <a:p>
            <a:pPr eaLnBrk="1" hangingPunct="1">
              <a:lnSpc>
                <a:spcPct val="90000"/>
              </a:lnSpc>
              <a:buFontTx/>
              <a:buNone/>
            </a:pPr>
            <a:r>
              <a:rPr lang="en-US" altLang="zh-CN" sz="2400" noProof="1">
                <a:latin typeface="Consolas" panose="020B0609020204030204" pitchFamily="49" charset="0"/>
              </a:rPr>
              <a:t>   int i, j;</a:t>
            </a:r>
          </a:p>
          <a:p>
            <a:pPr eaLnBrk="1" hangingPunct="1">
              <a:lnSpc>
                <a:spcPct val="90000"/>
              </a:lnSpc>
              <a:buFontTx/>
              <a:buNone/>
            </a:pPr>
            <a:r>
              <a:rPr lang="en-US" altLang="zh-CN" sz="2400" noProof="1">
                <a:latin typeface="Consolas" panose="020B0609020204030204" pitchFamily="49" charset="0"/>
              </a:rPr>
              <a:t>   for (i=0; i&lt;rows; i++){</a:t>
            </a:r>
          </a:p>
          <a:p>
            <a:pPr eaLnBrk="1" hangingPunct="1">
              <a:lnSpc>
                <a:spcPct val="90000"/>
              </a:lnSpc>
              <a:buFontTx/>
              <a:buNone/>
            </a:pPr>
            <a:r>
              <a:rPr lang="en-US" altLang="zh-CN" sz="2400" noProof="1">
                <a:latin typeface="Consolas" panose="020B0609020204030204" pitchFamily="49" charset="0"/>
              </a:rPr>
              <a:t>      for(j=0; j&lt;cols; j++)</a:t>
            </a:r>
          </a:p>
          <a:p>
            <a:pPr eaLnBrk="1" hangingPunct="1">
              <a:lnSpc>
                <a:spcPct val="90000"/>
              </a:lnSpc>
              <a:buFontTx/>
              <a:buNone/>
            </a:pPr>
            <a:r>
              <a:rPr lang="en-US" altLang="zh-CN" sz="2400" noProof="1">
                <a:latin typeface="Consolas" panose="020B0609020204030204" pitchFamily="49" charset="0"/>
              </a:rPr>
              <a:t>           scanf("%d",</a:t>
            </a:r>
            <a:r>
              <a:rPr lang="en-US" altLang="zh-CN" sz="2400" noProof="1">
                <a:latin typeface="Consolas" panose="020B0609020204030204" pitchFamily="49" charset="0"/>
                <a:sym typeface="+mn-ea"/>
              </a:rPr>
              <a:t>pm+i*cols+j</a:t>
            </a:r>
            <a:r>
              <a:rPr lang="en-US" altLang="zh-CN" sz="2400" noProof="1">
                <a:latin typeface="Consolas" panose="020B0609020204030204" pitchFamily="49" charset="0"/>
              </a:rPr>
              <a:t>);</a:t>
            </a:r>
          </a:p>
          <a:p>
            <a:pPr eaLnBrk="1" hangingPunct="1">
              <a:lnSpc>
                <a:spcPct val="90000"/>
              </a:lnSpc>
              <a:buFontTx/>
              <a:buNone/>
            </a:pPr>
            <a:endParaRPr lang="en-US" altLang="zh-CN" sz="2400" noProof="1">
              <a:latin typeface="Consolas" panose="020B0609020204030204" pitchFamily="49" charset="0"/>
            </a:endParaRPr>
          </a:p>
          <a:p>
            <a:pPr eaLnBrk="1" hangingPunct="1">
              <a:lnSpc>
                <a:spcPct val="90000"/>
              </a:lnSpc>
              <a:buFontTx/>
              <a:buNone/>
            </a:pPr>
            <a:r>
              <a:rPr lang="en-US" altLang="zh-CN" sz="2400" noProof="1">
                <a:latin typeface="Consolas" panose="020B0609020204030204" pitchFamily="49" charset="0"/>
              </a:rPr>
              <a:t>      printf(</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\n</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a:t>
            </a:r>
          </a:p>
          <a:p>
            <a:pPr eaLnBrk="1" hangingPunct="1">
              <a:lnSpc>
                <a:spcPct val="90000"/>
              </a:lnSpc>
              <a:buFontTx/>
              <a:buNone/>
            </a:pPr>
            <a:r>
              <a:rPr lang="en-US" altLang="zh-CN" sz="2400" noProof="1">
                <a:latin typeface="Consolas" panose="020B0609020204030204" pitchFamily="49" charset="0"/>
              </a:rPr>
              <a:t>   }</a:t>
            </a:r>
          </a:p>
          <a:p>
            <a:pPr eaLnBrk="1" hangingPunct="1">
              <a:lnSpc>
                <a:spcPct val="90000"/>
              </a:lnSpc>
              <a:buFontTx/>
              <a:buNone/>
            </a:pPr>
            <a:r>
              <a:rPr lang="en-US" altLang="zh-CN" sz="2400" noProof="1">
                <a:latin typeface="Consolas" panose="020B0609020204030204" pitchFamily="49" charset="0"/>
              </a:rPr>
              <a:t>}</a:t>
            </a:r>
          </a:p>
        </p:txBody>
      </p:sp>
      <p:sp>
        <p:nvSpPr>
          <p:cNvPr id="19460" name="AutoShape 5">
            <a:extLst>
              <a:ext uri="{FF2B5EF4-FFF2-40B4-BE49-F238E27FC236}">
                <a16:creationId xmlns:a16="http://schemas.microsoft.com/office/drawing/2014/main" id="{D558EFFD-D674-4FDD-AB17-5D1F2FD93F85}"/>
              </a:ext>
            </a:extLst>
          </p:cNvPr>
          <p:cNvSpPr>
            <a:spLocks/>
          </p:cNvSpPr>
          <p:nvPr/>
        </p:nvSpPr>
        <p:spPr bwMode="auto">
          <a:xfrm>
            <a:off x="4464050" y="2771775"/>
            <a:ext cx="4572000" cy="647700"/>
          </a:xfrm>
          <a:prstGeom prst="borderCallout2">
            <a:avLst>
              <a:gd name="adj1" fmla="val 17648"/>
              <a:gd name="adj2" fmla="val -1667"/>
              <a:gd name="adj3" fmla="val 17648"/>
              <a:gd name="adj4" fmla="val -2954"/>
              <a:gd name="adj5" fmla="val -17894"/>
              <a:gd name="adj6" fmla="val -4306"/>
            </a:avLst>
          </a:prstGeom>
          <a:solidFill>
            <a:srgbClr val="CCFFFF"/>
          </a:solidFill>
          <a:ln w="9525">
            <a:solidFill>
              <a:schemeClr val="accent1"/>
            </a:solidFill>
            <a:miter lim="800000"/>
            <a:headEnd/>
            <a:tailEnd/>
          </a:ln>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r>
              <a:rPr lang="zh-CN" altLang="en-US" sz="2000" b="1" dirty="0"/>
              <a:t>一级指针做形参，无须给列数。</a:t>
            </a:r>
          </a:p>
        </p:txBody>
      </p:sp>
      <p:sp>
        <p:nvSpPr>
          <p:cNvPr id="19461" name="Line 6">
            <a:extLst>
              <a:ext uri="{FF2B5EF4-FFF2-40B4-BE49-F238E27FC236}">
                <a16:creationId xmlns:a16="http://schemas.microsoft.com/office/drawing/2014/main" id="{803B90CB-F146-45DA-8ABB-4E69A4C8962F}"/>
              </a:ext>
            </a:extLst>
          </p:cNvPr>
          <p:cNvSpPr>
            <a:spLocks noChangeShapeType="1"/>
          </p:cNvSpPr>
          <p:nvPr/>
        </p:nvSpPr>
        <p:spPr bwMode="auto">
          <a:xfrm>
            <a:off x="3497139" y="2564904"/>
            <a:ext cx="151288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测试主程序</a:t>
            </a:r>
          </a:p>
        </p:txBody>
      </p:sp>
      <p:sp>
        <p:nvSpPr>
          <p:cNvPr id="3" name="内容占位符 2"/>
          <p:cNvSpPr>
            <a:spLocks noGrp="1"/>
          </p:cNvSpPr>
          <p:nvPr>
            <p:ph idx="1"/>
          </p:nvPr>
        </p:nvSpPr>
        <p:spPr>
          <a:xfrm>
            <a:off x="342900" y="1268760"/>
            <a:ext cx="8458200" cy="5184427"/>
          </a:xfrm>
        </p:spPr>
        <p:txBody>
          <a:bodyPr/>
          <a:lstStyle/>
          <a:p>
            <a:pPr marL="0" indent="0">
              <a:buNone/>
            </a:pPr>
            <a:r>
              <a:rPr lang="zh-CN" altLang="en-US" sz="2000" dirty="0">
                <a:latin typeface="Consolas" panose="020B0609020204030204" pitchFamily="49" charset="0"/>
              </a:rPr>
              <a:t>#include &lt;stdio.h&gt;</a:t>
            </a:r>
          </a:p>
          <a:p>
            <a:pPr marL="0" indent="0">
              <a:buNone/>
            </a:pPr>
            <a:r>
              <a:rPr lang="zh-CN" altLang="en-US" sz="2000" dirty="0">
                <a:latin typeface="Consolas" panose="020B0609020204030204" pitchFamily="49" charset="0"/>
              </a:rPr>
              <a:t>#define </a:t>
            </a:r>
            <a:r>
              <a:rPr lang="en-US" altLang="zh-CN" sz="2000" dirty="0">
                <a:latin typeface="Consolas" panose="020B0609020204030204" pitchFamily="49" charset="0"/>
              </a:rPr>
              <a:t>COLS</a:t>
            </a:r>
            <a:r>
              <a:rPr lang="zh-CN" altLang="en-US" sz="2000" dirty="0">
                <a:latin typeface="Consolas" panose="020B0609020204030204" pitchFamily="49" charset="0"/>
              </a:rPr>
              <a:t> </a:t>
            </a:r>
            <a:r>
              <a:rPr lang="en-US" altLang="zh-CN" sz="2000" dirty="0">
                <a:latin typeface="Consolas" panose="020B0609020204030204" pitchFamily="49" charset="0"/>
              </a:rPr>
              <a:t>5</a:t>
            </a:r>
            <a:r>
              <a:rPr lang="zh-CN" altLang="en-US" sz="2000" dirty="0">
                <a:latin typeface="Consolas" panose="020B0609020204030204" pitchFamily="49" charset="0"/>
              </a:rPr>
              <a:t>    </a:t>
            </a:r>
          </a:p>
          <a:p>
            <a:pPr marL="0" indent="0">
              <a:buNone/>
            </a:pPr>
            <a:r>
              <a:rPr lang="zh-CN" altLang="en-US" sz="2000" dirty="0">
                <a:latin typeface="Consolas" panose="020B0609020204030204" pitchFamily="49" charset="0"/>
              </a:rPr>
              <a:t>#define </a:t>
            </a:r>
            <a:r>
              <a:rPr lang="en-US" altLang="zh-CN" sz="2000" dirty="0">
                <a:latin typeface="Consolas" panose="020B0609020204030204" pitchFamily="49" charset="0"/>
              </a:rPr>
              <a:t>ROWS</a:t>
            </a:r>
            <a:r>
              <a:rPr lang="zh-CN" altLang="en-US" sz="2000" dirty="0">
                <a:latin typeface="Consolas" panose="020B0609020204030204" pitchFamily="49" charset="0"/>
              </a:rPr>
              <a:t> 5  </a:t>
            </a: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printMatrix</a:t>
            </a:r>
            <a:r>
              <a:rPr lang="en-US" altLang="zh-CN" sz="2000" dirty="0">
                <a:latin typeface="Consolas" panose="020B0609020204030204" pitchFamily="49" charset="0"/>
              </a:rPr>
              <a:t>(</a:t>
            </a:r>
            <a:r>
              <a:rPr lang="en-US" altLang="zh-CN" sz="2000" noProof="1">
                <a:latin typeface="Consolas" panose="020B0609020204030204" pitchFamily="49" charset="0"/>
              </a:rPr>
              <a:t>int *,int,int</a:t>
            </a:r>
            <a:r>
              <a:rPr lang="en-US" altLang="zh-CN" sz="2000" dirty="0">
                <a:latin typeface="Consolas" panose="020B0609020204030204" pitchFamily="49" charset="0"/>
              </a:rPr>
              <a:t>);</a:t>
            </a:r>
          </a:p>
          <a:p>
            <a:pPr marL="0" indent="0">
              <a:buNone/>
            </a:pPr>
            <a:r>
              <a:rPr lang="en-US" altLang="zh-CN" sz="2000" noProof="1">
                <a:latin typeface="Consolas" panose="020B0609020204030204" pitchFamily="49" charset="0"/>
              </a:rPr>
              <a:t>void inputMatrix(int *,int,int);</a:t>
            </a:r>
            <a:r>
              <a:rPr lang="zh-CN" altLang="en-US" sz="2000" dirty="0">
                <a:latin typeface="Consolas" panose="020B0609020204030204" pitchFamily="49" charset="0"/>
              </a:rPr>
              <a:t>  </a:t>
            </a:r>
          </a:p>
          <a:p>
            <a:pPr marL="0" indent="0">
              <a:buNone/>
            </a:pPr>
            <a:r>
              <a:rPr lang="zh-CN" altLang="en-US" sz="2000" dirty="0">
                <a:latin typeface="Consolas" panose="020B0609020204030204" pitchFamily="49" charset="0"/>
              </a:rPr>
              <a:t>int main(void){</a:t>
            </a:r>
          </a:p>
          <a:p>
            <a:pPr marL="0" indent="0">
              <a:buNone/>
            </a:pPr>
            <a:r>
              <a:rPr lang="zh-CN" altLang="en-US" sz="2000" dirty="0">
                <a:latin typeface="Consolas" panose="020B0609020204030204" pitchFamily="49" charset="0"/>
              </a:rPr>
              <a:t>    </a:t>
            </a:r>
            <a:r>
              <a:rPr lang="en-US" altLang="zh-CN" sz="2000" dirty="0">
                <a:latin typeface="Consolas" panose="020B0609020204030204" pitchFamily="49" charset="0"/>
              </a:rPr>
              <a:t>int</a:t>
            </a:r>
            <a:r>
              <a:rPr lang="zh-CN" altLang="en-US" sz="2000" dirty="0">
                <a:latin typeface="Consolas" panose="020B0609020204030204" pitchFamily="49" charset="0"/>
              </a:rPr>
              <a:t> </a:t>
            </a:r>
            <a:r>
              <a:rPr lang="en-US" altLang="zh-CN" sz="2000" dirty="0">
                <a:latin typeface="Consolas" panose="020B0609020204030204" pitchFamily="49" charset="0"/>
              </a:rPr>
              <a:t>matrix</a:t>
            </a:r>
            <a:r>
              <a:rPr lang="zh-CN" altLang="en-US" sz="2000" dirty="0">
                <a:latin typeface="Consolas" panose="020B0609020204030204" pitchFamily="49" charset="0"/>
              </a:rPr>
              <a:t>[</a:t>
            </a:r>
            <a:r>
              <a:rPr lang="en-US" altLang="zh-CN" sz="2000" dirty="0">
                <a:latin typeface="Consolas" panose="020B0609020204030204" pitchFamily="49" charset="0"/>
              </a:rPr>
              <a:t>ROWS</a:t>
            </a:r>
            <a:r>
              <a:rPr lang="zh-CN" altLang="en-US" sz="2000" dirty="0">
                <a:latin typeface="Consolas" panose="020B0609020204030204" pitchFamily="49" charset="0"/>
              </a:rPr>
              <a:t>][</a:t>
            </a:r>
            <a:r>
              <a:rPr lang="en-US" altLang="zh-CN" sz="2000" dirty="0">
                <a:latin typeface="Consolas" panose="020B0609020204030204" pitchFamily="49" charset="0"/>
              </a:rPr>
              <a:t>COLS</a:t>
            </a:r>
            <a:r>
              <a:rPr lang="zh-CN" altLang="en-US" sz="2000" dirty="0">
                <a:latin typeface="Consolas" panose="020B0609020204030204" pitchFamily="49" charset="0"/>
              </a:rPr>
              <a:t>]=</a:t>
            </a:r>
            <a:r>
              <a:rPr lang="en-US" altLang="zh-CN" sz="2000" dirty="0">
                <a:latin typeface="Consolas" panose="020B0609020204030204" pitchFamily="49" charset="0"/>
              </a:rPr>
              <a:t>{0};</a:t>
            </a:r>
          </a:p>
          <a:p>
            <a:pPr marL="0" indent="0">
              <a:buNone/>
            </a:pPr>
            <a:r>
              <a:rPr lang="en-US" altLang="zh-CN" sz="2000" noProof="1">
                <a:latin typeface="Consolas" panose="020B0609020204030204" pitchFamily="49" charset="0"/>
              </a:rPr>
              <a:t>    inputMatrix(matrix[0],ROWS,COLS);</a:t>
            </a:r>
            <a:endParaRPr lang="zh-CN" altLang="en-US" sz="2000" dirty="0">
              <a:latin typeface="Consolas" panose="020B0609020204030204" pitchFamily="49" charset="0"/>
            </a:endParaRP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printMatrix</a:t>
            </a:r>
            <a:r>
              <a:rPr lang="en-US" altLang="zh-CN" sz="2000" dirty="0">
                <a:latin typeface="Consolas" panose="020B0609020204030204" pitchFamily="49" charset="0"/>
              </a:rPr>
              <a:t>(</a:t>
            </a:r>
            <a:r>
              <a:rPr lang="en-US" altLang="zh-CN" sz="2000" noProof="1">
                <a:latin typeface="Consolas" panose="020B0609020204030204" pitchFamily="49" charset="0"/>
              </a:rPr>
              <a:t>matrix[0],</a:t>
            </a:r>
            <a:r>
              <a:rPr lang="en-US" altLang="zh-CN" sz="2000" dirty="0" err="1">
                <a:latin typeface="Consolas" panose="020B0609020204030204" pitchFamily="49" charset="0"/>
              </a:rPr>
              <a:t>ROWS,COLS</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a:t>
            </a:r>
            <a:endParaRPr lang="zh-CN" altLang="en-US" sz="2000" dirty="0">
              <a:latin typeface="Consolas" panose="020B0609020204030204" pitchFamily="49" charset="0"/>
            </a:endParaRPr>
          </a:p>
          <a:p>
            <a:pPr marL="0" indent="0">
              <a:buNone/>
            </a:pPr>
            <a:r>
              <a:rPr lang="zh-CN" altLang="en-US" sz="2000" dirty="0">
                <a:latin typeface="Consolas" panose="020B0609020204030204" pitchFamily="49" charset="0"/>
              </a:rPr>
              <a:t>    </a:t>
            </a:r>
          </a:p>
        </p:txBody>
      </p:sp>
      <p:sp>
        <p:nvSpPr>
          <p:cNvPr id="4" name="灯片编号占位符 3"/>
          <p:cNvSpPr>
            <a:spLocks noGrp="1"/>
          </p:cNvSpPr>
          <p:nvPr>
            <p:ph type="sldNum" sz="quarter" idx="11"/>
          </p:nvPr>
        </p:nvSpPr>
        <p:spPr/>
        <p:txBody>
          <a:bodyPr/>
          <a:lstStyle/>
          <a:p>
            <a:pPr>
              <a:defRPr/>
            </a:pPr>
            <a:fld id="{ACFCF81A-63DF-425F-8382-179C6EBDE7B5}" type="slidenum">
              <a:rPr lang="zh-CN" altLang="en-US"/>
              <a:t>19</a:t>
            </a:fld>
            <a:endParaRPr lang="en-US" altLang="zh-CN"/>
          </a:p>
        </p:txBody>
      </p:sp>
    </p:spTree>
    <p:extLst>
      <p:ext uri="{BB962C8B-B14F-4D97-AF65-F5344CB8AC3E}">
        <p14:creationId xmlns:p14="http://schemas.microsoft.com/office/powerpoint/2010/main" val="211559300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5">
            <a:extLst>
              <a:ext uri="{FF2B5EF4-FFF2-40B4-BE49-F238E27FC236}">
                <a16:creationId xmlns:a16="http://schemas.microsoft.com/office/drawing/2014/main" id="{C28D6E33-EDA7-417A-81B7-6414F5271A7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234939D-7164-42A4-8601-0446BA7FE57A}" type="slidenum">
              <a:rPr lang="zh-CN" altLang="en-US" smtClean="0"/>
              <a:pPr/>
              <a:t>20</a:t>
            </a:fld>
            <a:endParaRPr lang="zh-CN" altLang="en-US"/>
          </a:p>
        </p:txBody>
      </p:sp>
      <p:sp>
        <p:nvSpPr>
          <p:cNvPr id="192515" name="Rectangle 3">
            <a:extLst>
              <a:ext uri="{FF2B5EF4-FFF2-40B4-BE49-F238E27FC236}">
                <a16:creationId xmlns:a16="http://schemas.microsoft.com/office/drawing/2014/main" id="{365A18A9-F396-4937-B32E-F1D8224D35EB}"/>
              </a:ext>
            </a:extLst>
          </p:cNvPr>
          <p:cNvSpPr>
            <a:spLocks noGrp="1" noChangeArrowheads="1"/>
          </p:cNvSpPr>
          <p:nvPr>
            <p:ph idx="1"/>
          </p:nvPr>
        </p:nvSpPr>
        <p:spPr>
          <a:xfrm>
            <a:off x="323850" y="1412875"/>
            <a:ext cx="8640763" cy="4248150"/>
          </a:xfrm>
        </p:spPr>
        <p:txBody>
          <a:bodyPr/>
          <a:lstStyle/>
          <a:p>
            <a:pPr marL="533400" indent="-533400" eaLnBrk="1" hangingPunct="1">
              <a:buFontTx/>
              <a:buNone/>
            </a:pPr>
            <a:r>
              <a:rPr lang="zh-CN" altLang="en-US" sz="2400" b="1" dirty="0"/>
              <a:t>传递指针的</a:t>
            </a:r>
            <a:r>
              <a:rPr lang="en-US" altLang="zh-CN" sz="2400" b="1" dirty="0"/>
              <a:t>4</a:t>
            </a:r>
            <a:r>
              <a:rPr lang="zh-CN" altLang="en-US" sz="2400" b="1" dirty="0"/>
              <a:t>种情况：</a:t>
            </a:r>
          </a:p>
          <a:p>
            <a:pPr marL="533400" indent="-533400" eaLnBrk="1" hangingPunct="1">
              <a:buFontTx/>
              <a:buNone/>
            </a:pPr>
            <a:r>
              <a:rPr lang="en-US" altLang="zh-CN" sz="2400" b="1" dirty="0">
                <a:solidFill>
                  <a:srgbClr val="0000FF"/>
                </a:solidFill>
              </a:rPr>
              <a:t>1. int * </a:t>
            </a:r>
            <a:r>
              <a:rPr lang="en-US" altLang="zh-CN" sz="2400" b="1" dirty="0" err="1">
                <a:solidFill>
                  <a:srgbClr val="0000FF"/>
                </a:solidFill>
              </a:rPr>
              <a:t>iPtr</a:t>
            </a:r>
            <a:r>
              <a:rPr lang="en-US" altLang="zh-CN" sz="2400" b="1" dirty="0">
                <a:solidFill>
                  <a:srgbClr val="0000FF"/>
                </a:solidFill>
              </a:rPr>
              <a:t> ； </a:t>
            </a:r>
            <a:r>
              <a:rPr lang="en-US" altLang="zh-CN" sz="2400" b="1" i="1" dirty="0"/>
              <a:t>/*</a:t>
            </a:r>
            <a:r>
              <a:rPr lang="zh-CN" altLang="en-US" sz="2400" b="1" i="1" dirty="0"/>
              <a:t>指向非常量数据的非常量指针。</a:t>
            </a:r>
            <a:r>
              <a:rPr lang="en-US" altLang="zh-CN" sz="2400" b="1" i="1" dirty="0" err="1"/>
              <a:t>i</a:t>
            </a:r>
            <a:r>
              <a:rPr lang="zh-CN" altLang="en-US" sz="2400" b="1" i="1" dirty="0"/>
              <a:t>和</a:t>
            </a:r>
            <a:r>
              <a:rPr lang="en-US" altLang="zh-CN" sz="2400" b="1" i="1" dirty="0" err="1"/>
              <a:t>iPtr</a:t>
            </a:r>
            <a:r>
              <a:rPr lang="zh-CN" altLang="en-US" sz="2400" b="1" i="1" dirty="0"/>
              <a:t>皆能被修改*</a:t>
            </a:r>
            <a:r>
              <a:rPr lang="en-US" altLang="zh-CN" sz="2400" b="1" i="1" dirty="0"/>
              <a:t>/</a:t>
            </a:r>
          </a:p>
          <a:p>
            <a:pPr marL="533400" indent="-533400" eaLnBrk="1" hangingPunct="1">
              <a:buFontTx/>
              <a:buNone/>
            </a:pPr>
            <a:r>
              <a:rPr lang="en-US" altLang="zh-CN" sz="2400" b="1" dirty="0">
                <a:solidFill>
                  <a:srgbClr val="0000FF"/>
                </a:solidFill>
              </a:rPr>
              <a:t>2. int * </a:t>
            </a:r>
            <a:r>
              <a:rPr lang="en-US" altLang="zh-CN" sz="2400" b="1" dirty="0">
                <a:solidFill>
                  <a:srgbClr val="FF0000"/>
                </a:solidFill>
              </a:rPr>
              <a:t>const</a:t>
            </a:r>
            <a:r>
              <a:rPr lang="en-US" altLang="zh-CN" sz="2400" b="1" dirty="0">
                <a:solidFill>
                  <a:srgbClr val="0000FF"/>
                </a:solidFill>
              </a:rPr>
              <a:t>  </a:t>
            </a:r>
            <a:r>
              <a:rPr lang="en-US" altLang="zh-CN" sz="2400" b="1" dirty="0" err="1">
                <a:solidFill>
                  <a:srgbClr val="0000FF"/>
                </a:solidFill>
              </a:rPr>
              <a:t>iPtr</a:t>
            </a:r>
            <a:r>
              <a:rPr lang="en-US" altLang="zh-CN" sz="2400" b="1" dirty="0">
                <a:solidFill>
                  <a:srgbClr val="0000FF"/>
                </a:solidFill>
              </a:rPr>
              <a:t>； </a:t>
            </a:r>
            <a:r>
              <a:rPr lang="en-US" altLang="zh-CN" sz="2400" b="1" i="1" dirty="0"/>
              <a:t>/*</a:t>
            </a:r>
            <a:r>
              <a:rPr lang="zh-CN" altLang="en-US" sz="2400" b="1" i="1" dirty="0"/>
              <a:t>指向非常量数据的指针常量。</a:t>
            </a:r>
            <a:r>
              <a:rPr lang="en-US" altLang="zh-CN" sz="2400" b="1" i="1" dirty="0" err="1"/>
              <a:t>iPtr</a:t>
            </a:r>
            <a:r>
              <a:rPr lang="zh-CN" altLang="en-US" sz="2400" b="1" i="1" dirty="0"/>
              <a:t>不能被修改，只能指向</a:t>
            </a:r>
            <a:r>
              <a:rPr lang="en-US" altLang="zh-CN" sz="2400" b="1" i="1" dirty="0" err="1"/>
              <a:t>i</a:t>
            </a:r>
            <a:r>
              <a:rPr lang="zh-CN" altLang="en-US" sz="2400" b="1" i="1" dirty="0"/>
              <a:t>，但</a:t>
            </a:r>
            <a:r>
              <a:rPr lang="en-US" altLang="zh-CN" sz="2400" b="1" i="1" dirty="0" err="1"/>
              <a:t>iPtr</a:t>
            </a:r>
            <a:r>
              <a:rPr lang="zh-CN" altLang="en-US" sz="2400" b="1" i="1" dirty="0"/>
              <a:t>指向的变量可以被修改*</a:t>
            </a:r>
            <a:r>
              <a:rPr lang="en-US" altLang="zh-CN" sz="2400" b="1" i="1" dirty="0"/>
              <a:t>/</a:t>
            </a:r>
            <a:endParaRPr lang="en-US" altLang="zh-CN" sz="2400" b="1" dirty="0"/>
          </a:p>
          <a:p>
            <a:pPr marL="533400" indent="-533400" eaLnBrk="1" hangingPunct="1">
              <a:buFontTx/>
              <a:buNone/>
            </a:pPr>
            <a:r>
              <a:rPr lang="en-US" altLang="zh-CN" sz="2400" b="1" dirty="0">
                <a:solidFill>
                  <a:srgbClr val="0000FF"/>
                </a:solidFill>
              </a:rPr>
              <a:t>3. </a:t>
            </a:r>
            <a:r>
              <a:rPr lang="en-US" altLang="zh-CN" sz="2400" b="1" dirty="0">
                <a:solidFill>
                  <a:srgbClr val="FF0000"/>
                </a:solidFill>
              </a:rPr>
              <a:t>const </a:t>
            </a:r>
            <a:r>
              <a:rPr lang="en-US" altLang="zh-CN" sz="2400" b="1" dirty="0">
                <a:solidFill>
                  <a:srgbClr val="0000FF"/>
                </a:solidFill>
              </a:rPr>
              <a:t>int * </a:t>
            </a:r>
            <a:r>
              <a:rPr lang="en-US" altLang="zh-CN" sz="2400" b="1" dirty="0" err="1">
                <a:solidFill>
                  <a:srgbClr val="0000FF"/>
                </a:solidFill>
              </a:rPr>
              <a:t>iPtr</a:t>
            </a:r>
            <a:r>
              <a:rPr lang="en-US" altLang="zh-CN" sz="2400" b="1" dirty="0">
                <a:solidFill>
                  <a:srgbClr val="0000FF"/>
                </a:solidFill>
              </a:rPr>
              <a:t> </a:t>
            </a:r>
            <a:r>
              <a:rPr lang="en-US" altLang="zh-CN" sz="2400" b="1" dirty="0"/>
              <a:t>；</a:t>
            </a:r>
            <a:r>
              <a:rPr lang="en-US" altLang="zh-CN" sz="2400" b="1" i="1" dirty="0"/>
              <a:t>/*</a:t>
            </a:r>
            <a:r>
              <a:rPr lang="zh-CN" altLang="en-US" sz="2400" b="1" i="1" dirty="0"/>
              <a:t>指向常量数据的非常量指针。</a:t>
            </a:r>
            <a:r>
              <a:rPr lang="en-US" altLang="zh-CN" sz="2400" b="1" i="1" dirty="0" err="1"/>
              <a:t>iPtr</a:t>
            </a:r>
            <a:r>
              <a:rPr lang="zh-CN" altLang="en-US" sz="2400" b="1" i="1" dirty="0"/>
              <a:t>可以修改，即可以指向其他变量；但</a:t>
            </a:r>
            <a:r>
              <a:rPr lang="en-US" altLang="zh-CN" sz="2400" b="1" i="1" dirty="0" err="1"/>
              <a:t>iPtr</a:t>
            </a:r>
            <a:r>
              <a:rPr lang="zh-CN" altLang="en-US" sz="2400" b="1" i="1" dirty="0"/>
              <a:t>指向的变量不能被修改*</a:t>
            </a:r>
            <a:r>
              <a:rPr lang="en-US" altLang="zh-CN" sz="2400" b="1" i="1" dirty="0"/>
              <a:t>/</a:t>
            </a:r>
          </a:p>
          <a:p>
            <a:pPr marL="533400" indent="-533400" eaLnBrk="1" hangingPunct="1">
              <a:buFontTx/>
              <a:buNone/>
            </a:pPr>
            <a:r>
              <a:rPr lang="en-US" altLang="zh-CN" sz="2400" b="1" dirty="0">
                <a:solidFill>
                  <a:srgbClr val="FF0000"/>
                </a:solidFill>
              </a:rPr>
              <a:t>4. const</a:t>
            </a:r>
            <a:r>
              <a:rPr lang="en-US" altLang="zh-CN" sz="2400" b="1" dirty="0">
                <a:solidFill>
                  <a:srgbClr val="0000FF"/>
                </a:solidFill>
              </a:rPr>
              <a:t> int * </a:t>
            </a:r>
            <a:r>
              <a:rPr lang="en-US" altLang="zh-CN" sz="2400" b="1" dirty="0">
                <a:solidFill>
                  <a:srgbClr val="FF0000"/>
                </a:solidFill>
              </a:rPr>
              <a:t>const</a:t>
            </a:r>
            <a:r>
              <a:rPr lang="en-US" altLang="zh-CN" sz="2400" b="1" dirty="0">
                <a:solidFill>
                  <a:srgbClr val="FF66CC"/>
                </a:solidFill>
              </a:rPr>
              <a:t> </a:t>
            </a:r>
            <a:r>
              <a:rPr lang="en-US" altLang="zh-CN" sz="2400" b="1" dirty="0" err="1">
                <a:solidFill>
                  <a:srgbClr val="0000FF"/>
                </a:solidFill>
              </a:rPr>
              <a:t>iPtr</a:t>
            </a:r>
            <a:r>
              <a:rPr lang="en-US" altLang="zh-CN" sz="2400" b="1" dirty="0"/>
              <a:t>；</a:t>
            </a:r>
            <a:r>
              <a:rPr lang="en-US" altLang="zh-CN" sz="2400" b="1" i="1" dirty="0"/>
              <a:t>/*</a:t>
            </a:r>
            <a:r>
              <a:rPr lang="zh-CN" altLang="en-US" sz="2400" b="1" i="1" dirty="0"/>
              <a:t>指向常量数据的常量指针。</a:t>
            </a:r>
            <a:r>
              <a:rPr lang="en-US" altLang="zh-CN" sz="2400" b="1" i="1" dirty="0" err="1"/>
              <a:t>iPtr</a:t>
            </a:r>
            <a:r>
              <a:rPr lang="zh-CN" altLang="en-US" sz="2400" b="1" i="1" dirty="0"/>
              <a:t>和</a:t>
            </a:r>
            <a:r>
              <a:rPr lang="en-US" altLang="zh-CN" sz="2400" b="1" i="1" dirty="0" err="1"/>
              <a:t>iPtr</a:t>
            </a:r>
            <a:r>
              <a:rPr lang="zh-CN" altLang="en-US" sz="2400" b="1" i="1" dirty="0"/>
              <a:t>指向的变量皆不能被修改*</a:t>
            </a:r>
            <a:r>
              <a:rPr lang="en-US" altLang="zh-CN" sz="2400" b="1" i="1" dirty="0"/>
              <a:t>/</a:t>
            </a:r>
          </a:p>
        </p:txBody>
      </p:sp>
      <p:sp>
        <p:nvSpPr>
          <p:cNvPr id="192517" name="Text Box 5">
            <a:extLst>
              <a:ext uri="{FF2B5EF4-FFF2-40B4-BE49-F238E27FC236}">
                <a16:creationId xmlns:a16="http://schemas.microsoft.com/office/drawing/2014/main" id="{0E6C9865-B9B5-4531-89A9-36DD03DBCCA6}"/>
              </a:ext>
            </a:extLst>
          </p:cNvPr>
          <p:cNvSpPr txBox="1">
            <a:spLocks noChangeArrowheads="1"/>
          </p:cNvSpPr>
          <p:nvPr/>
        </p:nvSpPr>
        <p:spPr bwMode="auto">
          <a:xfrm>
            <a:off x="755650" y="5373688"/>
            <a:ext cx="7239000" cy="480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90000"/>
              </a:lnSpc>
              <a:spcBef>
                <a:spcPct val="50000"/>
              </a:spcBef>
              <a:buClr>
                <a:schemeClr val="accent2"/>
              </a:buClr>
              <a:buSzPct val="75000"/>
              <a:buFont typeface="Monotype Sorts" charset="2"/>
              <a:buNone/>
            </a:pPr>
            <a:r>
              <a:rPr lang="zh-CN" altLang="en-US" sz="2800" b="1" dirty="0">
                <a:latin typeface="Arial Unicode MS" pitchFamily="34" charset="-122"/>
              </a:rPr>
              <a:t>根据实际需要来使用</a:t>
            </a:r>
            <a:r>
              <a:rPr lang="en-US" altLang="zh-CN" sz="2800" b="1" dirty="0">
                <a:latin typeface="Arial Unicode MS" pitchFamily="34" charset="-122"/>
              </a:rPr>
              <a:t>const</a:t>
            </a:r>
            <a:r>
              <a:rPr lang="zh-CN" altLang="en-US" sz="2800" b="1" dirty="0">
                <a:latin typeface="Arial Unicode MS" pitchFamily="34" charset="-122"/>
              </a:rPr>
              <a:t>限定符</a:t>
            </a:r>
          </a:p>
        </p:txBody>
      </p:sp>
      <p:sp>
        <p:nvSpPr>
          <p:cNvPr id="90116" name="Rectangle 7">
            <a:extLst>
              <a:ext uri="{FF2B5EF4-FFF2-40B4-BE49-F238E27FC236}">
                <a16:creationId xmlns:a16="http://schemas.microsoft.com/office/drawing/2014/main" id="{162529E1-CA4E-40BC-A4B7-9304FF7DCC75}"/>
              </a:ext>
            </a:extLst>
          </p:cNvPr>
          <p:cNvSpPr>
            <a:spLocks noGrp="1" noChangeArrowheads="1"/>
          </p:cNvSpPr>
          <p:nvPr>
            <p:ph type="title"/>
          </p:nvPr>
        </p:nvSpPr>
        <p:spPr/>
        <p:txBody>
          <a:bodyPr/>
          <a:lstStyle/>
          <a:p>
            <a:pPr eaLnBrk="1" hangingPunct="1"/>
            <a:r>
              <a:rPr lang="zh-CN" altLang="en-US" b="1" dirty="0"/>
              <a:t>对指针使用const限定符</a:t>
            </a:r>
          </a:p>
        </p:txBody>
      </p:sp>
    </p:spTree>
    <p:extLst>
      <p:ext uri="{BB962C8B-B14F-4D97-AF65-F5344CB8AC3E}">
        <p14:creationId xmlns:p14="http://schemas.microsoft.com/office/powerpoint/2010/main" val="42245564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2515">
                                            <p:txEl>
                                              <p:pRg st="2" end="2"/>
                                            </p:txEl>
                                          </p:spTgt>
                                        </p:tgtEl>
                                        <p:attrNameLst>
                                          <p:attrName>style.visibility</p:attrName>
                                        </p:attrNameLst>
                                      </p:cBhvr>
                                      <p:to>
                                        <p:strVal val="visible"/>
                                      </p:to>
                                    </p:set>
                                    <p:animEffect transition="in" filter="dissolve">
                                      <p:cBhvr>
                                        <p:cTn id="7" dur="500"/>
                                        <p:tgtEl>
                                          <p:spTgt spid="19251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2515">
                                            <p:txEl>
                                              <p:pRg st="3" end="3"/>
                                            </p:txEl>
                                          </p:spTgt>
                                        </p:tgtEl>
                                        <p:attrNameLst>
                                          <p:attrName>style.visibility</p:attrName>
                                        </p:attrNameLst>
                                      </p:cBhvr>
                                      <p:to>
                                        <p:strVal val="visible"/>
                                      </p:to>
                                    </p:set>
                                    <p:animEffect transition="in" filter="dissolve">
                                      <p:cBhvr>
                                        <p:cTn id="12" dur="500"/>
                                        <p:tgtEl>
                                          <p:spTgt spid="19251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2515">
                                            <p:txEl>
                                              <p:pRg st="4" end="4"/>
                                            </p:txEl>
                                          </p:spTgt>
                                        </p:tgtEl>
                                        <p:attrNameLst>
                                          <p:attrName>style.visibility</p:attrName>
                                        </p:attrNameLst>
                                      </p:cBhvr>
                                      <p:to>
                                        <p:strVal val="visible"/>
                                      </p:to>
                                    </p:set>
                                    <p:animEffect transition="in" filter="dissolve">
                                      <p:cBhvr>
                                        <p:cTn id="17" dur="500"/>
                                        <p:tgtEl>
                                          <p:spTgt spid="19251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92517"/>
                                        </p:tgtEl>
                                        <p:attrNameLst>
                                          <p:attrName>style.visibility</p:attrName>
                                        </p:attrNameLst>
                                      </p:cBhvr>
                                      <p:to>
                                        <p:strVal val="visible"/>
                                      </p:to>
                                    </p:set>
                                    <p:animEffect transition="in" filter="barn(outHorizontal)">
                                      <p:cBhvr>
                                        <p:cTn id="22" dur="500"/>
                                        <p:tgtEl>
                                          <p:spTgt spid="192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5">
            <a:extLst>
              <a:ext uri="{FF2B5EF4-FFF2-40B4-BE49-F238E27FC236}">
                <a16:creationId xmlns:a16="http://schemas.microsoft.com/office/drawing/2014/main" id="{885D8C1E-A134-402C-81A1-94D16955307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BE408A33-B63D-4544-932F-7466F494F718}" type="slidenum">
              <a:rPr lang="zh-CN" altLang="en-US" smtClean="0"/>
              <a:pPr/>
              <a:t>21</a:t>
            </a:fld>
            <a:endParaRPr lang="zh-CN" altLang="en-US"/>
          </a:p>
        </p:txBody>
      </p:sp>
      <p:sp>
        <p:nvSpPr>
          <p:cNvPr id="31746" name="Rectangle 2">
            <a:extLst>
              <a:ext uri="{FF2B5EF4-FFF2-40B4-BE49-F238E27FC236}">
                <a16:creationId xmlns:a16="http://schemas.microsoft.com/office/drawing/2014/main" id="{80C1DEFE-E300-4DE4-8BB8-AE07639B4560}"/>
              </a:ext>
            </a:extLst>
          </p:cNvPr>
          <p:cNvSpPr>
            <a:spLocks noGrp="1" noChangeArrowheads="1"/>
          </p:cNvSpPr>
          <p:nvPr>
            <p:ph type="title"/>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3 </a:t>
            </a:r>
            <a:r>
              <a:rPr lang="zh-CN" altLang="en-US" b="1" dirty="0"/>
              <a:t>动态分配数组</a:t>
            </a:r>
          </a:p>
        </p:txBody>
      </p:sp>
      <p:sp>
        <p:nvSpPr>
          <p:cNvPr id="31747" name="Rectangle 3">
            <a:extLst>
              <a:ext uri="{FF2B5EF4-FFF2-40B4-BE49-F238E27FC236}">
                <a16:creationId xmlns:a16="http://schemas.microsoft.com/office/drawing/2014/main" id="{BEE4CB20-40E1-43CB-93C8-B8C7E8C29394}"/>
              </a:ext>
            </a:extLst>
          </p:cNvPr>
          <p:cNvSpPr>
            <a:spLocks noGrp="1" noChangeArrowheads="1"/>
          </p:cNvSpPr>
          <p:nvPr>
            <p:ph idx="1"/>
          </p:nvPr>
        </p:nvSpPr>
        <p:spPr>
          <a:xfrm>
            <a:off x="539750" y="1319213"/>
            <a:ext cx="8062913" cy="4611687"/>
          </a:xfrm>
        </p:spPr>
        <p:txBody>
          <a:bodyPr/>
          <a:lstStyle/>
          <a:p>
            <a:pPr algn="just" eaLnBrk="1" hangingPunct="1">
              <a:buFontTx/>
              <a:buNone/>
            </a:pPr>
            <a:r>
              <a:rPr lang="zh-CN" altLang="en-US" b="1" dirty="0"/>
              <a:t>库函数</a:t>
            </a:r>
            <a:r>
              <a:rPr lang="en-US" altLang="zh-CN" b="1" dirty="0"/>
              <a:t>malloc()</a:t>
            </a:r>
          </a:p>
          <a:p>
            <a:pPr algn="just" eaLnBrk="1" hangingPunct="1">
              <a:buFontTx/>
              <a:buNone/>
            </a:pPr>
            <a:r>
              <a:rPr lang="en-US" altLang="zh-CN" b="1" dirty="0">
                <a:latin typeface="宋体" panose="02010600030101010101" pitchFamily="2" charset="-122"/>
              </a:rPr>
              <a:t>·</a:t>
            </a:r>
            <a:r>
              <a:rPr lang="zh-CN" altLang="en-US" b="1" dirty="0"/>
              <a:t>用法：</a:t>
            </a:r>
            <a:endParaRPr lang="en-US" altLang="zh-CN" b="1" dirty="0"/>
          </a:p>
          <a:p>
            <a:pPr algn="just" eaLnBrk="1" hangingPunct="1">
              <a:buFontTx/>
              <a:buNone/>
            </a:pPr>
            <a:r>
              <a:rPr lang="en-US" altLang="zh-CN" b="1" dirty="0"/>
              <a:t>	</a:t>
            </a:r>
            <a:r>
              <a:rPr lang="en-US" altLang="zh-CN" b="1" dirty="0">
                <a:latin typeface="Consolas" panose="020B0609020204030204" pitchFamily="49" charset="0"/>
              </a:rPr>
              <a:t>#include&lt;</a:t>
            </a:r>
            <a:r>
              <a:rPr lang="en-US" altLang="zh-CN" b="1" dirty="0" err="1">
                <a:latin typeface="Consolas" panose="020B0609020204030204" pitchFamily="49" charset="0"/>
              </a:rPr>
              <a:t>stdlib.h</a:t>
            </a:r>
            <a:r>
              <a:rPr lang="en-US" altLang="zh-CN" b="1" dirty="0">
                <a:latin typeface="Consolas" panose="020B0609020204030204" pitchFamily="49" charset="0"/>
              </a:rPr>
              <a:t>&gt;</a:t>
            </a:r>
          </a:p>
          <a:p>
            <a:pPr algn="just" eaLnBrk="1" hangingPunct="1">
              <a:buFontTx/>
              <a:buNone/>
            </a:pPr>
            <a:r>
              <a:rPr lang="en-US" altLang="zh-CN" b="1" dirty="0">
                <a:solidFill>
                  <a:schemeClr val="accent2"/>
                </a:solidFill>
                <a:latin typeface="Consolas" panose="020B0609020204030204" pitchFamily="49" charset="0"/>
              </a:rPr>
              <a:t>	void * malloc(unsigned size);</a:t>
            </a:r>
          </a:p>
          <a:p>
            <a:pPr algn="just" eaLnBrk="1" hangingPunct="1">
              <a:buFontTx/>
              <a:buNone/>
            </a:pPr>
            <a:r>
              <a:rPr lang="en-US" altLang="zh-CN" b="1" dirty="0">
                <a:latin typeface="宋体" panose="02010600030101010101" pitchFamily="2" charset="-122"/>
              </a:rPr>
              <a:t>·</a:t>
            </a:r>
            <a:r>
              <a:rPr lang="zh-CN" altLang="en-US" b="1" dirty="0"/>
              <a:t>功能：在内存的堆区分配</a:t>
            </a:r>
            <a:r>
              <a:rPr lang="en-US" altLang="zh-CN" b="1" dirty="0"/>
              <a:t>size</a:t>
            </a:r>
            <a:r>
              <a:rPr lang="zh-CN" altLang="en-US" b="1" dirty="0"/>
              <a:t>个字节的连续空 	       间。</a:t>
            </a:r>
          </a:p>
          <a:p>
            <a:pPr algn="just" eaLnBrk="1" hangingPunct="1">
              <a:buFontTx/>
              <a:buNone/>
            </a:pPr>
            <a:r>
              <a:rPr lang="zh-CN" altLang="en-US" b="1" dirty="0">
                <a:latin typeface="宋体" panose="02010600030101010101" pitchFamily="2" charset="-122"/>
              </a:rPr>
              <a:t>·</a:t>
            </a:r>
            <a:r>
              <a:rPr lang="zh-CN" altLang="en-US" b="1" dirty="0"/>
              <a:t>返回值：若申请成功，则返回新分配内存块的起	       始地址；否则，返回</a:t>
            </a:r>
            <a:r>
              <a:rPr lang="en-US" altLang="zh-CN" b="1" dirty="0"/>
              <a:t>NULL。</a:t>
            </a:r>
          </a:p>
          <a:p>
            <a:pPr algn="just" eaLnBrk="1" hangingPunct="1">
              <a:buFontTx/>
              <a:buNone/>
            </a:pPr>
            <a:endParaRPr lang="en-US" altLang="zh-CN" sz="900" b="1" dirty="0"/>
          </a:p>
          <a:p>
            <a:pPr algn="just" eaLnBrk="1" hangingPunct="1">
              <a:buFontTx/>
              <a:buNone/>
            </a:pPr>
            <a:r>
              <a:rPr lang="en-US" altLang="zh-CN" b="1" dirty="0"/>
              <a:t>  malloc()</a:t>
            </a:r>
            <a:r>
              <a:rPr lang="zh-CN" altLang="en-US" b="1" dirty="0"/>
              <a:t>函数的返回值是一个无类型指针，它可以指向任何类型的数据。</a:t>
            </a:r>
          </a:p>
          <a:p>
            <a:pPr eaLnBrk="1" hangingPunct="1"/>
            <a:endParaRPr lang="zh-CN" altLang="en-US" sz="2400" b="1"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5">
            <a:extLst>
              <a:ext uri="{FF2B5EF4-FFF2-40B4-BE49-F238E27FC236}">
                <a16:creationId xmlns:a16="http://schemas.microsoft.com/office/drawing/2014/main" id="{C8724B47-9E93-4337-828C-0FBF7CDC088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77371B9D-2AE1-491B-8C3C-99209CD006FA}" type="slidenum">
              <a:rPr lang="zh-CN" altLang="en-US" smtClean="0"/>
              <a:pPr/>
              <a:t>22</a:t>
            </a:fld>
            <a:endParaRPr lang="zh-CN" altLang="en-US"/>
          </a:p>
        </p:txBody>
      </p:sp>
      <p:sp>
        <p:nvSpPr>
          <p:cNvPr id="27650" name="Rectangle 2">
            <a:extLst>
              <a:ext uri="{FF2B5EF4-FFF2-40B4-BE49-F238E27FC236}">
                <a16:creationId xmlns:a16="http://schemas.microsoft.com/office/drawing/2014/main" id="{3983E127-4346-45AD-B2E8-18A9C7CBB6AA}"/>
              </a:ext>
            </a:extLst>
          </p:cNvPr>
          <p:cNvSpPr>
            <a:spLocks noGrp="1" noChangeArrowheads="1"/>
          </p:cNvSpPr>
          <p:nvPr>
            <p:ph type="title"/>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3 </a:t>
            </a:r>
            <a:r>
              <a:rPr lang="zh-CN" altLang="en-US" b="1" dirty="0"/>
              <a:t>动态分配数组</a:t>
            </a:r>
          </a:p>
        </p:txBody>
      </p:sp>
      <p:sp>
        <p:nvSpPr>
          <p:cNvPr id="27651" name="Rectangle 3">
            <a:extLst>
              <a:ext uri="{FF2B5EF4-FFF2-40B4-BE49-F238E27FC236}">
                <a16:creationId xmlns:a16="http://schemas.microsoft.com/office/drawing/2014/main" id="{78930AB4-488C-4634-973B-D9121F9302D6}"/>
              </a:ext>
            </a:extLst>
          </p:cNvPr>
          <p:cNvSpPr>
            <a:spLocks noGrp="1" noChangeArrowheads="1"/>
          </p:cNvSpPr>
          <p:nvPr>
            <p:ph idx="1"/>
          </p:nvPr>
        </p:nvSpPr>
        <p:spPr>
          <a:xfrm>
            <a:off x="685800" y="1319213"/>
            <a:ext cx="7918450" cy="4989512"/>
          </a:xfrm>
        </p:spPr>
        <p:txBody>
          <a:bodyPr/>
          <a:lstStyle/>
          <a:p>
            <a:pPr algn="just" eaLnBrk="1" hangingPunct="1"/>
            <a:r>
              <a:rPr lang="zh-CN" altLang="en-US" b="1" dirty="0"/>
              <a:t>在程序运行过程中，数组的大小是不能改变的。这种数组称为</a:t>
            </a:r>
            <a:r>
              <a:rPr lang="zh-CN" altLang="en-US" b="1" dirty="0">
                <a:solidFill>
                  <a:schemeClr val="accent2"/>
                </a:solidFill>
              </a:rPr>
              <a:t>静态数组</a:t>
            </a:r>
            <a:r>
              <a:rPr lang="zh-CN" altLang="en-US" b="1" dirty="0"/>
              <a:t>。静态数组的缺点是：对于事先无法准确估计数据量的情况，无法做到既满足处理需要，又不浪费内存空间。</a:t>
            </a:r>
          </a:p>
          <a:p>
            <a:pPr eaLnBrk="1" hangingPunct="1">
              <a:buFontTx/>
              <a:buNone/>
            </a:pPr>
            <a:r>
              <a:rPr lang="en-US" altLang="zh-CN" b="1" dirty="0"/>
              <a:t>	      #define SIZE 1000</a:t>
            </a:r>
          </a:p>
          <a:p>
            <a:pPr eaLnBrk="1" hangingPunct="1">
              <a:buFontTx/>
              <a:buNone/>
            </a:pPr>
            <a:r>
              <a:rPr lang="en-US" altLang="zh-CN" b="1" dirty="0"/>
              <a:t>	     int a[SIZE];</a:t>
            </a:r>
          </a:p>
          <a:p>
            <a:pPr eaLnBrk="1" hangingPunct="1"/>
            <a:r>
              <a:rPr lang="zh-CN" altLang="en-US" b="1" dirty="0"/>
              <a:t>但有时我们并不知道我们需要多大的数组，直到程序开始运行。我们最好能做到以下情形：</a:t>
            </a:r>
          </a:p>
          <a:p>
            <a:pPr eaLnBrk="1" hangingPunct="1">
              <a:buFontTx/>
              <a:buNone/>
            </a:pPr>
            <a:r>
              <a:rPr lang="en-US" altLang="zh-CN" b="1" dirty="0"/>
              <a:t>	     int a[</a:t>
            </a:r>
            <a:r>
              <a:rPr lang="zh-CN" altLang="en-US" b="1" dirty="0"/>
              <a:t>实际需要的大小</a:t>
            </a:r>
            <a:r>
              <a:rPr lang="en-US" altLang="zh-CN" b="1" dirty="0"/>
              <a:t>];</a:t>
            </a:r>
          </a:p>
          <a:p>
            <a:pPr eaLnBrk="1" hangingPunct="1">
              <a:buFontTx/>
              <a:buNone/>
            </a:pPr>
            <a:r>
              <a:rPr lang="en-US" altLang="zh-CN" b="1" dirty="0">
                <a:solidFill>
                  <a:srgbClr val="FF0000"/>
                </a:solidFill>
              </a:rPr>
              <a:t>C99</a:t>
            </a:r>
            <a:r>
              <a:rPr lang="zh-CN" altLang="en-US" b="1" dirty="0">
                <a:solidFill>
                  <a:srgbClr val="FF0000"/>
                </a:solidFill>
              </a:rPr>
              <a:t>允许动态定义数组</a:t>
            </a:r>
            <a:r>
              <a:rPr lang="en-US" altLang="zh-CN" b="1" dirty="0">
                <a:solidFill>
                  <a:srgbClr val="FF0000"/>
                </a:solidFill>
              </a:rPr>
              <a:t>int a[n];</a:t>
            </a:r>
            <a:endParaRPr lang="zh-CN" altLang="en-US" b="1" dirty="0">
              <a:solidFill>
                <a:srgbClr val="FF0000"/>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5A255FC-5F28-4B87-ADCF-9267A93876BD}"/>
              </a:ext>
            </a:extLst>
          </p:cNvPr>
          <p:cNvSpPr>
            <a:spLocks noGrp="1" noChangeArrowheads="1"/>
          </p:cNvSpPr>
          <p:nvPr>
            <p:ph type="title"/>
          </p:nvPr>
        </p:nvSpPr>
        <p:spPr/>
        <p:txBody>
          <a:bodyPr/>
          <a:lstStyle/>
          <a:p>
            <a:r>
              <a:rPr lang="zh-CN" altLang="en-US" dirty="0">
                <a:sym typeface="宋体" panose="02010600030101010101" pitchFamily="2" charset="-122"/>
              </a:rPr>
              <a:t>什么时候需要用动态分配数组？</a:t>
            </a:r>
            <a:endParaRPr lang="zh-CN" altLang="en-US" dirty="0"/>
          </a:p>
        </p:txBody>
      </p:sp>
      <p:sp>
        <p:nvSpPr>
          <p:cNvPr id="43010" name="内容占位符 2">
            <a:extLst>
              <a:ext uri="{FF2B5EF4-FFF2-40B4-BE49-F238E27FC236}">
                <a16:creationId xmlns:a16="http://schemas.microsoft.com/office/drawing/2014/main" id="{693C7175-C6BD-4CE6-8372-B968037D11ED}"/>
              </a:ext>
            </a:extLst>
          </p:cNvPr>
          <p:cNvSpPr>
            <a:spLocks noGrp="1" noChangeArrowheads="1"/>
          </p:cNvSpPr>
          <p:nvPr>
            <p:ph idx="1"/>
          </p:nvPr>
        </p:nvSpPr>
        <p:spPr>
          <a:xfrm>
            <a:off x="392113" y="1319213"/>
            <a:ext cx="8470900" cy="4611687"/>
          </a:xfrm>
        </p:spPr>
        <p:txBody>
          <a:bodyPr/>
          <a:lstStyle/>
          <a:p>
            <a:pPr marL="0" indent="0">
              <a:lnSpc>
                <a:spcPct val="140000"/>
              </a:lnSpc>
              <a:buFontTx/>
              <a:buNone/>
            </a:pPr>
            <a:r>
              <a:rPr lang="en-US" altLang="zh-CN" b="1" dirty="0">
                <a:sym typeface="宋体" panose="02010600030101010101" pitchFamily="2" charset="-122"/>
              </a:rPr>
              <a:t>1</a:t>
            </a:r>
            <a:r>
              <a:rPr lang="zh-CN" altLang="en-US" b="1" dirty="0">
                <a:sym typeface="宋体" panose="02010600030101010101" pitchFamily="2" charset="-122"/>
              </a:rPr>
              <a:t>、当我们需要在子函数中定义数组，并在此函数返回后，仍能保存此数组不被销毁时。</a:t>
            </a:r>
          </a:p>
          <a:p>
            <a:pPr marL="0" indent="0">
              <a:lnSpc>
                <a:spcPct val="140000"/>
              </a:lnSpc>
              <a:buFontTx/>
              <a:buNone/>
            </a:pPr>
            <a:r>
              <a:rPr lang="zh-CN" altLang="en-US" b="1" dirty="0">
                <a:sym typeface="宋体" panose="02010600030101010101" pitchFamily="2" charset="-122"/>
              </a:rPr>
              <a:t>参考</a:t>
            </a:r>
            <a:r>
              <a:rPr lang="zh-CN" altLang="en-US" b="1" dirty="0">
                <a:solidFill>
                  <a:srgbClr val="0000FF"/>
                </a:solidFill>
                <a:sym typeface="宋体" panose="02010600030101010101" pitchFamily="2" charset="-122"/>
              </a:rPr>
              <a:t>例</a:t>
            </a:r>
            <a:r>
              <a:rPr lang="zh-CN" altLang="zh-CN" b="1" dirty="0">
                <a:solidFill>
                  <a:srgbClr val="0000FF"/>
                </a:solidFill>
              </a:rPr>
              <a:t>char* </a:t>
            </a:r>
            <a:r>
              <a:rPr lang="en-US" altLang="zh-CN" b="1" dirty="0">
                <a:solidFill>
                  <a:srgbClr val="0000FF"/>
                </a:solidFill>
              </a:rPr>
              <a:t>a</a:t>
            </a:r>
            <a:r>
              <a:rPr lang="zh-CN" altLang="zh-CN" b="1" dirty="0">
                <a:solidFill>
                  <a:srgbClr val="0000FF"/>
                </a:solidFill>
              </a:rPr>
              <a:t>llocStrFromHeap(int len)</a:t>
            </a:r>
            <a:r>
              <a:rPr lang="en-US" altLang="zh-CN" b="1" dirty="0">
                <a:solidFill>
                  <a:srgbClr val="0000FF"/>
                </a:solidFill>
              </a:rPr>
              <a:t>;</a:t>
            </a:r>
          </a:p>
          <a:p>
            <a:pPr marL="0" indent="0">
              <a:lnSpc>
                <a:spcPct val="140000"/>
              </a:lnSpc>
              <a:buFontTx/>
              <a:buNone/>
            </a:pPr>
            <a:r>
              <a:rPr lang="en-US" altLang="zh-CN" b="1" dirty="0">
                <a:latin typeface="宋体" panose="02010600030101010101" pitchFamily="2" charset="-122"/>
              </a:rPr>
              <a:t>2</a:t>
            </a:r>
            <a:r>
              <a:rPr lang="zh-CN" altLang="en-US" b="1" dirty="0">
                <a:latin typeface="宋体" panose="02010600030101010101" pitchFamily="2" charset="-122"/>
              </a:rPr>
              <a:t>、当一个数组的大小，会在程序运行过程中发生变化，而我们又不愿意浪费空间时。</a:t>
            </a:r>
          </a:p>
          <a:p>
            <a:pPr marL="0" indent="0">
              <a:lnSpc>
                <a:spcPct val="140000"/>
              </a:lnSpc>
              <a:buFontTx/>
              <a:buNone/>
            </a:pPr>
            <a:r>
              <a:rPr lang="zh-CN" altLang="en-US" b="1" dirty="0">
                <a:sym typeface="宋体" panose="02010600030101010101" pitchFamily="2" charset="-122"/>
              </a:rPr>
              <a:t>参考同</a:t>
            </a:r>
            <a:r>
              <a:rPr lang="zh-CN" altLang="en-US" b="1" dirty="0">
                <a:solidFill>
                  <a:srgbClr val="0000FF"/>
                </a:solidFill>
                <a:sym typeface="宋体" panose="02010600030101010101" pitchFamily="2" charset="-122"/>
              </a:rPr>
              <a:t>上例</a:t>
            </a:r>
          </a:p>
        </p:txBody>
      </p:sp>
    </p:spTree>
    <p:extLst>
      <p:ext uri="{BB962C8B-B14F-4D97-AF65-F5344CB8AC3E}">
        <p14:creationId xmlns:p14="http://schemas.microsoft.com/office/powerpoint/2010/main" val="382631851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a:extLst>
              <a:ext uri="{FF2B5EF4-FFF2-40B4-BE49-F238E27FC236}">
                <a16:creationId xmlns:a16="http://schemas.microsoft.com/office/drawing/2014/main" id="{4496AE46-2CBC-468E-8B50-F4BCDB142F52}"/>
              </a:ext>
            </a:extLst>
          </p:cNvPr>
          <p:cNvSpPr>
            <a:spLocks noGrp="1" noChangeArrowheads="1"/>
          </p:cNvSpPr>
          <p:nvPr>
            <p:ph type="title"/>
          </p:nvPr>
        </p:nvSpPr>
        <p:spPr/>
        <p:txBody>
          <a:bodyPr/>
          <a:lstStyle/>
          <a:p>
            <a:r>
              <a:rPr lang="zh-CN" altLang="en-US" b="1"/>
              <a:t>动态分配内存</a:t>
            </a:r>
          </a:p>
        </p:txBody>
      </p:sp>
      <p:sp>
        <p:nvSpPr>
          <p:cNvPr id="28674" name="内容占位符 2">
            <a:extLst>
              <a:ext uri="{FF2B5EF4-FFF2-40B4-BE49-F238E27FC236}">
                <a16:creationId xmlns:a16="http://schemas.microsoft.com/office/drawing/2014/main" id="{42A4486F-8D48-4EA5-A1CE-18142D20E420}"/>
              </a:ext>
            </a:extLst>
          </p:cNvPr>
          <p:cNvSpPr>
            <a:spLocks noGrp="1" noChangeArrowheads="1"/>
          </p:cNvSpPr>
          <p:nvPr>
            <p:ph idx="1"/>
          </p:nvPr>
        </p:nvSpPr>
        <p:spPr>
          <a:xfrm>
            <a:off x="233363" y="1319213"/>
            <a:ext cx="8902700" cy="4611687"/>
          </a:xfrm>
        </p:spPr>
        <p:txBody>
          <a:bodyPr/>
          <a:lstStyle/>
          <a:p>
            <a:r>
              <a:rPr lang="zh-CN" altLang="en-US" b="1" dirty="0"/>
              <a:t>数组内存的静态分配和动态分配的区别主要是两个：</a:t>
            </a:r>
          </a:p>
          <a:p>
            <a:pPr lvl="1"/>
            <a:r>
              <a:rPr lang="zh-CN" altLang="en-US" b="1" dirty="0"/>
              <a:t>一是时间不同。静态分配发生在程序编译和连接的时候。动态分配则发生在程序调入和执行的时候。</a:t>
            </a:r>
          </a:p>
          <a:p>
            <a:pPr lvl="1"/>
            <a:r>
              <a:rPr lang="zh-CN" altLang="en-US" b="1" dirty="0"/>
              <a:t>二是空间不同。</a:t>
            </a:r>
          </a:p>
          <a:p>
            <a:pPr lvl="2"/>
            <a:r>
              <a:rPr lang="zh-CN" altLang="en-US" b="1" dirty="0"/>
              <a:t>栈分配：不带</a:t>
            </a:r>
            <a:r>
              <a:rPr lang="en-US" altLang="zh-CN" b="1" dirty="0"/>
              <a:t>static</a:t>
            </a:r>
            <a:r>
              <a:rPr lang="zh-CN" altLang="en-US" b="1" dirty="0"/>
              <a:t>修饰且在函数内定义的数组空间都在栈区的函数栈中，随着函数返回就自动释放；</a:t>
            </a:r>
          </a:p>
          <a:p>
            <a:pPr lvl="2"/>
            <a:r>
              <a:rPr lang="zh-CN" altLang="en-US" b="1" dirty="0"/>
              <a:t>堆分配：堆都是动态分配的，没有静态分配的堆。由函数malloc（包括calloc，realloc）进行分配，必须由程序自己释放（</a:t>
            </a:r>
            <a:r>
              <a:rPr lang="en-US" altLang="zh-CN" b="1" dirty="0"/>
              <a:t>free</a:t>
            </a:r>
            <a:r>
              <a:rPr lang="zh-CN" altLang="en-US" b="1" dirty="0"/>
              <a:t>函数）。</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2C016-621C-4601-992C-4DF07019CAC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EFCD71-06F5-4075-959F-46AED717B09A}"/>
              </a:ext>
            </a:extLst>
          </p:cNvPr>
          <p:cNvSpPr>
            <a:spLocks noGrp="1"/>
          </p:cNvSpPr>
          <p:nvPr>
            <p:ph idx="1"/>
          </p:nvPr>
        </p:nvSpPr>
        <p:spPr/>
        <p:txBody>
          <a:bodyPr/>
          <a:lstStyle/>
          <a:p>
            <a:endParaRPr lang="zh-CN" altLang="en-US"/>
          </a:p>
        </p:txBody>
      </p:sp>
      <p:graphicFrame>
        <p:nvGraphicFramePr>
          <p:cNvPr id="4" name="Object 7">
            <a:extLst>
              <a:ext uri="{FF2B5EF4-FFF2-40B4-BE49-F238E27FC236}">
                <a16:creationId xmlns:a16="http://schemas.microsoft.com/office/drawing/2014/main" id="{9056A48B-20E3-4DB7-A3AF-0CD16DB48DBF}"/>
              </a:ext>
            </a:extLst>
          </p:cNvPr>
          <p:cNvGraphicFramePr>
            <a:graphicFrameLocks noChangeAspect="1"/>
          </p:cNvGraphicFramePr>
          <p:nvPr>
            <p:extLst>
              <p:ext uri="{D42A27DB-BD31-4B8C-83A1-F6EECF244321}">
                <p14:modId xmlns:p14="http://schemas.microsoft.com/office/powerpoint/2010/main" val="1162274927"/>
              </p:ext>
            </p:extLst>
          </p:nvPr>
        </p:nvGraphicFramePr>
        <p:xfrm>
          <a:off x="1979712" y="1319213"/>
          <a:ext cx="3830638" cy="4464050"/>
        </p:xfrm>
        <a:graphic>
          <a:graphicData uri="http://schemas.openxmlformats.org/presentationml/2006/ole">
            <mc:AlternateContent xmlns:mc="http://schemas.openxmlformats.org/markup-compatibility/2006">
              <mc:Choice xmlns:v="urn:schemas-microsoft-com:vml" Requires="v">
                <p:oleObj r:id="rId2" imgW="3098880" imgH="3611880" progId="Visio.Drawing.11">
                  <p:embed/>
                </p:oleObj>
              </mc:Choice>
              <mc:Fallback>
                <p:oleObj r:id="rId2" imgW="3098880" imgH="3611880" progId="Visio.Drawing.11">
                  <p:embed/>
                  <p:pic>
                    <p:nvPicPr>
                      <p:cNvPr id="41987" name="Object 7">
                        <a:extLst>
                          <a:ext uri="{FF2B5EF4-FFF2-40B4-BE49-F238E27FC236}">
                            <a16:creationId xmlns:a16="http://schemas.microsoft.com/office/drawing/2014/main" id="{122ECB03-8B1C-429A-B396-F09DE5B6B1C2}"/>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1319213"/>
                        <a:ext cx="3830638" cy="44640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Oval 17">
            <a:extLst>
              <a:ext uri="{FF2B5EF4-FFF2-40B4-BE49-F238E27FC236}">
                <a16:creationId xmlns:a16="http://schemas.microsoft.com/office/drawing/2014/main" id="{8D041105-7F93-47C7-89D1-3A00119C677A}"/>
              </a:ext>
            </a:extLst>
          </p:cNvPr>
          <p:cNvSpPr>
            <a:spLocks noChangeArrowheads="1"/>
          </p:cNvSpPr>
          <p:nvPr/>
        </p:nvSpPr>
        <p:spPr bwMode="auto">
          <a:xfrm>
            <a:off x="4067944" y="1412776"/>
            <a:ext cx="719137" cy="358775"/>
          </a:xfrm>
          <a:prstGeom prst="ellipse">
            <a:avLst/>
          </a:prstGeom>
          <a:noFill/>
          <a:ln w="2857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26419137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5">
            <a:extLst>
              <a:ext uri="{FF2B5EF4-FFF2-40B4-BE49-F238E27FC236}">
                <a16:creationId xmlns:a16="http://schemas.microsoft.com/office/drawing/2014/main" id="{76DAC563-791B-4A56-9C1A-0B3D729E5C2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E57ED4D-67AF-49DB-9EDD-AB048C12A835}" type="slidenum">
              <a:rPr lang="zh-CN" altLang="en-US" smtClean="0"/>
              <a:pPr/>
              <a:t>26</a:t>
            </a:fld>
            <a:endParaRPr lang="zh-CN" altLang="en-US"/>
          </a:p>
        </p:txBody>
      </p:sp>
      <p:sp>
        <p:nvSpPr>
          <p:cNvPr id="30722" name="Rectangle 2">
            <a:extLst>
              <a:ext uri="{FF2B5EF4-FFF2-40B4-BE49-F238E27FC236}">
                <a16:creationId xmlns:a16="http://schemas.microsoft.com/office/drawing/2014/main" id="{6359669F-C252-42B9-A903-9A0F3B2AD0DA}"/>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3 </a:t>
            </a:r>
            <a:r>
              <a:rPr lang="zh-CN" altLang="en-US" b="1"/>
              <a:t>动态数组</a:t>
            </a:r>
          </a:p>
        </p:txBody>
      </p:sp>
      <p:sp>
        <p:nvSpPr>
          <p:cNvPr id="30723" name="Rectangle 3">
            <a:extLst>
              <a:ext uri="{FF2B5EF4-FFF2-40B4-BE49-F238E27FC236}">
                <a16:creationId xmlns:a16="http://schemas.microsoft.com/office/drawing/2014/main" id="{353C9457-0E74-47A4-9E26-D8712B866FDB}"/>
              </a:ext>
            </a:extLst>
          </p:cNvPr>
          <p:cNvSpPr>
            <a:spLocks noGrp="1" noChangeArrowheads="1"/>
          </p:cNvSpPr>
          <p:nvPr>
            <p:ph idx="1"/>
          </p:nvPr>
        </p:nvSpPr>
        <p:spPr>
          <a:xfrm>
            <a:off x="233363" y="1319213"/>
            <a:ext cx="8704262" cy="4918075"/>
          </a:xfrm>
        </p:spPr>
        <p:txBody>
          <a:bodyPr/>
          <a:lstStyle/>
          <a:p>
            <a:pPr eaLnBrk="1" hangingPunct="1"/>
            <a:r>
              <a:rPr lang="zh-CN" altLang="en-US" b="1" dirty="0"/>
              <a:t> 我们可以定义一个指针，然后调用</a:t>
            </a:r>
            <a:r>
              <a:rPr lang="zh-CN" altLang="en-US" b="1" dirty="0">
                <a:solidFill>
                  <a:srgbClr val="FF0000"/>
                </a:solidFill>
                <a:latin typeface="微软雅黑" panose="020B0503020204020204" pitchFamily="34" charset="-122"/>
                <a:ea typeface="微软雅黑" panose="020B0503020204020204" pitchFamily="34" charset="-122"/>
              </a:rPr>
              <a:t>内存申请库函数</a:t>
            </a:r>
            <a:r>
              <a:rPr lang="zh-CN" altLang="en-US" b="1" dirty="0"/>
              <a:t>在堆区分配一片连续的内存，并将内存的起始地址保存在这个指针中，这就建立了一个</a:t>
            </a:r>
            <a:r>
              <a:rPr lang="zh-CN" altLang="en-US" b="1" dirty="0">
                <a:solidFill>
                  <a:schemeClr val="accent2"/>
                </a:solidFill>
              </a:rPr>
              <a:t>动态数组</a:t>
            </a:r>
            <a:r>
              <a:rPr lang="zh-CN" altLang="en-US" b="1" dirty="0"/>
              <a:t>。然后通过指针可以访问动态数组的各个元素。</a:t>
            </a:r>
          </a:p>
          <a:p>
            <a:pPr eaLnBrk="1" hangingPunct="1">
              <a:buFontTx/>
              <a:buNone/>
            </a:pPr>
            <a:r>
              <a:rPr lang="en-US" altLang="zh-CN" b="1" dirty="0"/>
              <a:t> 	     int * pa;</a:t>
            </a:r>
          </a:p>
          <a:p>
            <a:pPr eaLnBrk="1" hangingPunct="1">
              <a:buFontTx/>
              <a:buNone/>
            </a:pPr>
            <a:r>
              <a:rPr lang="en-US" altLang="zh-CN" b="1" dirty="0"/>
              <a:t>	     pa = (int *)</a:t>
            </a:r>
            <a:r>
              <a:rPr lang="en-US" altLang="zh-CN" b="1" dirty="0">
                <a:solidFill>
                  <a:schemeClr val="accent2"/>
                </a:solidFill>
              </a:rPr>
              <a:t>malloc( </a:t>
            </a:r>
            <a:r>
              <a:rPr lang="en-US" altLang="zh-CN" b="1" dirty="0" err="1">
                <a:solidFill>
                  <a:schemeClr val="accent2"/>
                </a:solidFill>
              </a:rPr>
              <a:t>sizeof</a:t>
            </a:r>
            <a:r>
              <a:rPr lang="en-US" altLang="zh-CN" b="1" dirty="0">
                <a:solidFill>
                  <a:schemeClr val="accent2"/>
                </a:solidFill>
              </a:rPr>
              <a:t>(int) * n );</a:t>
            </a:r>
            <a:endParaRPr lang="zh-CN" altLang="en-US" b="1" dirty="0"/>
          </a:p>
        </p:txBody>
      </p:sp>
      <p:grpSp>
        <p:nvGrpSpPr>
          <p:cNvPr id="30724" name="Group 22">
            <a:extLst>
              <a:ext uri="{FF2B5EF4-FFF2-40B4-BE49-F238E27FC236}">
                <a16:creationId xmlns:a16="http://schemas.microsoft.com/office/drawing/2014/main" id="{B64C90C4-B6BF-4C54-92DE-872B3E96A92E}"/>
              </a:ext>
            </a:extLst>
          </p:cNvPr>
          <p:cNvGrpSpPr>
            <a:grpSpLocks/>
          </p:cNvGrpSpPr>
          <p:nvPr/>
        </p:nvGrpSpPr>
        <p:grpSpPr bwMode="auto">
          <a:xfrm>
            <a:off x="885825" y="4397375"/>
            <a:ext cx="7489825" cy="1406525"/>
            <a:chOff x="702" y="1682"/>
            <a:chExt cx="4718" cy="886"/>
          </a:xfrm>
        </p:grpSpPr>
        <p:grpSp>
          <p:nvGrpSpPr>
            <p:cNvPr id="30725" name="Group 20">
              <a:extLst>
                <a:ext uri="{FF2B5EF4-FFF2-40B4-BE49-F238E27FC236}">
                  <a16:creationId xmlns:a16="http://schemas.microsoft.com/office/drawing/2014/main" id="{99ACB491-D5B1-44C2-A464-623417322F3D}"/>
                </a:ext>
              </a:extLst>
            </p:cNvPr>
            <p:cNvGrpSpPr>
              <a:grpSpLocks/>
            </p:cNvGrpSpPr>
            <p:nvPr/>
          </p:nvGrpSpPr>
          <p:grpSpPr bwMode="auto">
            <a:xfrm>
              <a:off x="702" y="1682"/>
              <a:ext cx="4718" cy="886"/>
              <a:chOff x="702" y="1116"/>
              <a:chExt cx="4718" cy="886"/>
            </a:xfrm>
          </p:grpSpPr>
          <p:pic>
            <p:nvPicPr>
              <p:cNvPr id="30726" name="Picture 4">
                <a:extLst>
                  <a:ext uri="{FF2B5EF4-FFF2-40B4-BE49-F238E27FC236}">
                    <a16:creationId xmlns:a16="http://schemas.microsoft.com/office/drawing/2014/main" id="{89B933E6-9597-4B8D-BA2B-6AA6D1310D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 y="1389"/>
                <a:ext cx="308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 Box 5">
                <a:extLst>
                  <a:ext uri="{FF2B5EF4-FFF2-40B4-BE49-F238E27FC236}">
                    <a16:creationId xmlns:a16="http://schemas.microsoft.com/office/drawing/2014/main" id="{761EC7AD-E818-4E85-9884-43B98555266C}"/>
                  </a:ext>
                </a:extLst>
              </p:cNvPr>
              <p:cNvSpPr txBox="1">
                <a:spLocks noChangeArrowheads="1"/>
              </p:cNvSpPr>
              <p:nvPr/>
            </p:nvSpPr>
            <p:spPr bwMode="auto">
              <a:xfrm>
                <a:off x="4513" y="1389"/>
                <a:ext cx="907" cy="2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a:t>整型数组</a:t>
                </a:r>
              </a:p>
            </p:txBody>
          </p:sp>
          <p:sp>
            <p:nvSpPr>
              <p:cNvPr id="276486" name="Text Box 6">
                <a:extLst>
                  <a:ext uri="{FF2B5EF4-FFF2-40B4-BE49-F238E27FC236}">
                    <a16:creationId xmlns:a16="http://schemas.microsoft.com/office/drawing/2014/main" id="{D29964A2-C0CF-445B-A113-E8F66A0D4DA5}"/>
                  </a:ext>
                </a:extLst>
              </p:cNvPr>
              <p:cNvSpPr txBox="1">
                <a:spLocks noChangeArrowheads="1"/>
              </p:cNvSpPr>
              <p:nvPr/>
            </p:nvSpPr>
            <p:spPr bwMode="auto">
              <a:xfrm>
                <a:off x="1520" y="1752"/>
                <a:ext cx="272" cy="250"/>
              </a:xfrm>
              <a:prstGeom prst="rect">
                <a:avLst/>
              </a:prstGeom>
              <a:noFill/>
              <a:ln w="9525">
                <a:noFill/>
                <a:miter lim="800000"/>
              </a:ln>
              <a:effectLst>
                <a:prstShdw prst="shdw18" dist="17961" dir="13500000">
                  <a:schemeClr val="bg1">
                    <a:gamma/>
                    <a:shade val="60000"/>
                    <a:invGamma/>
                  </a:schemeClr>
                </a:prstShdw>
              </a:effectLst>
            </p:spPr>
            <p:txBody>
              <a:bodyPr>
                <a:spAutoFit/>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2000" b="1">
                    <a:sym typeface="+mn-ea"/>
                  </a:rPr>
                  <a:t>0</a:t>
                </a:r>
              </a:p>
            </p:txBody>
          </p:sp>
          <p:sp>
            <p:nvSpPr>
              <p:cNvPr id="30729" name="Text Box 7">
                <a:extLst>
                  <a:ext uri="{FF2B5EF4-FFF2-40B4-BE49-F238E27FC236}">
                    <a16:creationId xmlns:a16="http://schemas.microsoft.com/office/drawing/2014/main" id="{9201B83F-9418-4B57-9225-6863855F22BB}"/>
                  </a:ext>
                </a:extLst>
              </p:cNvPr>
              <p:cNvSpPr txBox="1">
                <a:spLocks noChangeArrowheads="1"/>
              </p:cNvSpPr>
              <p:nvPr/>
            </p:nvSpPr>
            <p:spPr bwMode="auto">
              <a:xfrm>
                <a:off x="4150" y="1752"/>
                <a:ext cx="454"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n</a:t>
                </a:r>
                <a:r>
                  <a:rPr lang="zh-CN" altLang="en-US" sz="2000" b="1"/>
                  <a:t>－</a:t>
                </a:r>
                <a:r>
                  <a:rPr lang="en-US" altLang="zh-CN" sz="2000" b="1"/>
                  <a:t>1</a:t>
                </a:r>
              </a:p>
            </p:txBody>
          </p:sp>
          <p:sp>
            <p:nvSpPr>
              <p:cNvPr id="30730" name="Text Box 10">
                <a:extLst>
                  <a:ext uri="{FF2B5EF4-FFF2-40B4-BE49-F238E27FC236}">
                    <a16:creationId xmlns:a16="http://schemas.microsoft.com/office/drawing/2014/main" id="{DEB62C67-3B32-45CA-A727-057DFFAA5121}"/>
                  </a:ext>
                </a:extLst>
              </p:cNvPr>
              <p:cNvSpPr txBox="1">
                <a:spLocks noChangeArrowheads="1"/>
              </p:cNvSpPr>
              <p:nvPr/>
            </p:nvSpPr>
            <p:spPr bwMode="auto">
              <a:xfrm>
                <a:off x="837" y="1404"/>
                <a:ext cx="384" cy="294"/>
              </a:xfrm>
              <a:prstGeom prst="rect">
                <a:avLst/>
              </a:prstGeom>
              <a:solidFill>
                <a:srgbClr val="CCFFCC"/>
              </a:solidFill>
              <a:ln w="9525">
                <a:solidFill>
                  <a:schemeClr val="tx1"/>
                </a:solidFill>
                <a:miter lim="800000"/>
                <a:headEnd/>
                <a:tailEnd/>
              </a:ln>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spcBef>
                    <a:spcPct val="50000"/>
                  </a:spcBef>
                </a:pPr>
                <a:endParaRPr lang="zh-CN" altLang="en-US" sz="2400"/>
              </a:p>
            </p:txBody>
          </p:sp>
          <p:sp>
            <p:nvSpPr>
              <p:cNvPr id="30731" name="Text Box 11">
                <a:extLst>
                  <a:ext uri="{FF2B5EF4-FFF2-40B4-BE49-F238E27FC236}">
                    <a16:creationId xmlns:a16="http://schemas.microsoft.com/office/drawing/2014/main" id="{47424922-A397-4F52-A023-220956749B2E}"/>
                  </a:ext>
                </a:extLst>
              </p:cNvPr>
              <p:cNvSpPr txBox="1">
                <a:spLocks noChangeArrowheads="1"/>
              </p:cNvSpPr>
              <p:nvPr/>
            </p:nvSpPr>
            <p:spPr bwMode="auto">
              <a:xfrm>
                <a:off x="702" y="1116"/>
                <a:ext cx="72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dirty="0"/>
                  <a:t>    pa</a:t>
                </a:r>
              </a:p>
            </p:txBody>
          </p:sp>
          <p:sp>
            <p:nvSpPr>
              <p:cNvPr id="276494" name="Line 14">
                <a:extLst>
                  <a:ext uri="{FF2B5EF4-FFF2-40B4-BE49-F238E27FC236}">
                    <a16:creationId xmlns:a16="http://schemas.microsoft.com/office/drawing/2014/main" id="{5148E9F8-863A-4CBE-B57A-EA2CDE41ED21}"/>
                  </a:ext>
                </a:extLst>
              </p:cNvPr>
              <p:cNvSpPr>
                <a:spLocks noChangeShapeType="1"/>
              </p:cNvSpPr>
              <p:nvPr/>
            </p:nvSpPr>
            <p:spPr bwMode="auto">
              <a:xfrm>
                <a:off x="1066" y="1570"/>
                <a:ext cx="363"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grpSp>
        <p:sp>
          <p:nvSpPr>
            <p:cNvPr id="30733" name="Oval 21">
              <a:extLst>
                <a:ext uri="{FF2B5EF4-FFF2-40B4-BE49-F238E27FC236}">
                  <a16:creationId xmlns:a16="http://schemas.microsoft.com/office/drawing/2014/main" id="{72F13402-B946-4CEF-A0E3-61E8C0AE10CA}"/>
                </a:ext>
              </a:extLst>
            </p:cNvPr>
            <p:cNvSpPr>
              <a:spLocks noChangeArrowheads="1"/>
            </p:cNvSpPr>
            <p:nvPr/>
          </p:nvSpPr>
          <p:spPr bwMode="auto">
            <a:xfrm>
              <a:off x="1016" y="2112"/>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zh-CN" altLang="en-US" b="1"/>
            </a:p>
          </p:txBody>
        </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2011855D-5D21-4415-AB72-06FE9A8D0F6F}"/>
              </a:ext>
            </a:extLst>
          </p:cNvPr>
          <p:cNvSpPr>
            <a:spLocks noGrp="1" noChangeArrowheads="1"/>
          </p:cNvSpPr>
          <p:nvPr>
            <p:ph type="title"/>
          </p:nvPr>
        </p:nvSpPr>
        <p:spPr/>
        <p:txBody>
          <a:bodyPr/>
          <a:lstStyle/>
          <a:p>
            <a:endParaRPr lang="zh-CN" altLang="en-US"/>
          </a:p>
        </p:txBody>
      </p:sp>
      <p:sp>
        <p:nvSpPr>
          <p:cNvPr id="32770" name="内容占位符 2">
            <a:extLst>
              <a:ext uri="{FF2B5EF4-FFF2-40B4-BE49-F238E27FC236}">
                <a16:creationId xmlns:a16="http://schemas.microsoft.com/office/drawing/2014/main" id="{87012356-CC12-4B53-A77C-084586468D8D}"/>
              </a:ext>
            </a:extLst>
          </p:cNvPr>
          <p:cNvSpPr>
            <a:spLocks noGrp="1" noChangeArrowheads="1"/>
          </p:cNvSpPr>
          <p:nvPr>
            <p:ph idx="1"/>
          </p:nvPr>
        </p:nvSpPr>
        <p:spPr>
          <a:xfrm>
            <a:off x="6350" y="1333500"/>
            <a:ext cx="4110038" cy="4610100"/>
          </a:xfrm>
          <a:ln w="38100">
            <a:solidFill>
              <a:srgbClr val="92D050"/>
            </a:solidFill>
            <a:miter lim="800000"/>
            <a:headEnd/>
            <a:tailEnd/>
          </a:ln>
        </p:spPr>
        <p:txBody>
          <a:bodyPr/>
          <a:lstStyle/>
          <a:p>
            <a:pPr marL="0" indent="0">
              <a:buFontTx/>
              <a:buNone/>
            </a:pPr>
            <a:r>
              <a:rPr lang="en-US" altLang="zh-CN" sz="2400" dirty="0">
                <a:latin typeface="Consolas" panose="020B0609020204030204" pitchFamily="49" charset="0"/>
              </a:rPr>
              <a:t>/*</a:t>
            </a:r>
            <a:r>
              <a:rPr lang="zh-CN" altLang="en-US" sz="2400" dirty="0">
                <a:latin typeface="Consolas" panose="020B0609020204030204" pitchFamily="49" charset="0"/>
              </a:rPr>
              <a:t>栈内存分配</a:t>
            </a:r>
            <a:r>
              <a:rPr lang="en-US" altLang="zh-CN" sz="2400" dirty="0">
                <a:latin typeface="Consolas" panose="020B0609020204030204" pitchFamily="49" charset="0"/>
              </a:rPr>
              <a:t>*/</a:t>
            </a:r>
          </a:p>
          <a:p>
            <a:pPr marL="0" indent="0">
              <a:buFontTx/>
              <a:buNone/>
            </a:pPr>
            <a:r>
              <a:rPr lang="en-US" altLang="zh-CN" sz="2400" dirty="0">
                <a:latin typeface="Consolas" panose="020B0609020204030204" pitchFamily="49" charset="0"/>
              </a:rPr>
              <a:t>int</a:t>
            </a:r>
            <a:r>
              <a:rPr lang="zh-CN" altLang="en-US" sz="2400" dirty="0">
                <a:latin typeface="Consolas" panose="020B0609020204030204" pitchFamily="49" charset="0"/>
              </a:rPr>
              <a:t>* </a:t>
            </a:r>
            <a:r>
              <a:rPr lang="en-US" altLang="zh-CN" sz="2400" dirty="0">
                <a:latin typeface="Consolas" panose="020B0609020204030204" pitchFamily="49" charset="0"/>
              </a:rPr>
              <a:t>a</a:t>
            </a:r>
            <a:r>
              <a:rPr lang="zh-CN" altLang="en-US" sz="2400" dirty="0">
                <a:latin typeface="Consolas" panose="020B0609020204030204" pitchFamily="49" charset="0"/>
              </a:rPr>
              <a:t>llocStrFromStack(</a:t>
            </a:r>
            <a:r>
              <a:rPr lang="zh-CN" altLang="zh-CN" sz="2400" dirty="0">
                <a:latin typeface="Consolas" panose="020B0609020204030204" pitchFamily="49" charset="0"/>
              </a:rPr>
              <a:t>int len</a:t>
            </a:r>
            <a:r>
              <a:rPr lang="zh-CN" altLang="en-US" sz="2400" dirty="0">
                <a:latin typeface="Consolas" panose="020B0609020204030204" pitchFamily="49" charset="0"/>
              </a:rPr>
              <a:t>)</a:t>
            </a:r>
          </a:p>
          <a:p>
            <a:pPr marL="0" indent="0">
              <a:buFontTx/>
              <a:buNone/>
            </a:pPr>
            <a:r>
              <a:rPr lang="zh-CN" altLang="en-US" sz="2400" dirty="0">
                <a:latin typeface="Consolas" panose="020B0609020204030204" pitchFamily="49" charset="0"/>
              </a:rPr>
              <a:t>{</a:t>
            </a:r>
          </a:p>
          <a:p>
            <a:pPr marL="0" indent="0">
              <a:buFontTx/>
              <a:buNone/>
            </a:pPr>
            <a:r>
              <a:rPr lang="zh-CN" altLang="zh-CN" sz="2400" dirty="0">
                <a:latin typeface="Consolas" panose="020B0609020204030204" pitchFamily="49" charset="0"/>
              </a:rPr>
              <a:t>    if ( len &lt;= 0 ) </a:t>
            </a:r>
          </a:p>
          <a:p>
            <a:pPr marL="0" indent="0">
              <a:buFontTx/>
              <a:buNone/>
            </a:pPr>
            <a:r>
              <a:rPr lang="en-US" altLang="zh-CN" sz="2400" dirty="0">
                <a:latin typeface="Consolas" panose="020B0609020204030204" pitchFamily="49" charset="0"/>
              </a:rPr>
              <a:t>	 </a:t>
            </a:r>
            <a:r>
              <a:rPr lang="zh-CN" altLang="zh-CN" sz="2400" dirty="0">
                <a:latin typeface="Consolas" panose="020B0609020204030204" pitchFamily="49" charset="0"/>
              </a:rPr>
              <a:t>return NULL;</a:t>
            </a:r>
          </a:p>
          <a:p>
            <a:pPr marL="0" indent="0">
              <a:buFontTx/>
              <a:buNone/>
            </a:pPr>
            <a:r>
              <a:rPr lang="zh-CN" altLang="en-US" sz="2400" dirty="0">
                <a:latin typeface="Consolas" panose="020B0609020204030204" pitchFamily="49" charset="0"/>
              </a:rPr>
              <a:t> </a:t>
            </a:r>
            <a:r>
              <a:rPr lang="en-US" altLang="zh-CN" sz="2400" dirty="0">
                <a:latin typeface="Consolas" panose="020B0609020204030204" pitchFamily="49" charset="0"/>
              </a:rPr>
              <a:t>   int</a:t>
            </a:r>
            <a:r>
              <a:rPr lang="zh-CN" altLang="en-US" sz="2400" dirty="0">
                <a:latin typeface="Consolas" panose="020B0609020204030204" pitchFamily="49" charset="0"/>
              </a:rPr>
              <a:t> </a:t>
            </a:r>
            <a:r>
              <a:rPr lang="en-US" altLang="zh-CN" sz="2400" dirty="0">
                <a:latin typeface="Consolas" panose="020B0609020204030204" pitchFamily="49" charset="0"/>
              </a:rPr>
              <a:t>a</a:t>
            </a:r>
            <a:r>
              <a:rPr lang="zh-CN" altLang="en-US" sz="2400" dirty="0">
                <a:latin typeface="Consolas" panose="020B0609020204030204" pitchFamily="49" charset="0"/>
              </a:rPr>
              <a:t>[</a:t>
            </a:r>
            <a:r>
              <a:rPr lang="en-US" altLang="zh-CN" sz="2400" dirty="0" err="1">
                <a:latin typeface="Consolas" panose="020B0609020204030204" pitchFamily="49" charset="0"/>
              </a:rPr>
              <a:t>len</a:t>
            </a:r>
            <a:r>
              <a:rPr lang="zh-CN" altLang="en-US" sz="2400" dirty="0">
                <a:latin typeface="Consolas" panose="020B0609020204030204" pitchFamily="49" charset="0"/>
              </a:rPr>
              <a:t>];</a:t>
            </a:r>
          </a:p>
          <a:p>
            <a:pPr marL="0" indent="0">
              <a:buFontTx/>
              <a:buNone/>
            </a:pPr>
            <a:r>
              <a:rPr lang="zh-CN" altLang="en-US" sz="2400" dirty="0">
                <a:latin typeface="Consolas" panose="020B0609020204030204" pitchFamily="49" charset="0"/>
              </a:rPr>
              <a:t>      return </a:t>
            </a:r>
            <a:r>
              <a:rPr lang="en-US" altLang="zh-CN" sz="2400" dirty="0">
                <a:latin typeface="Consolas" panose="020B0609020204030204" pitchFamily="49" charset="0"/>
              </a:rPr>
              <a:t>a</a:t>
            </a:r>
            <a:r>
              <a:rPr lang="zh-CN" altLang="en-US" sz="2400" dirty="0">
                <a:latin typeface="Consolas" panose="020B0609020204030204" pitchFamily="49" charset="0"/>
              </a:rPr>
              <a:t>;</a:t>
            </a:r>
          </a:p>
          <a:p>
            <a:pPr marL="0" indent="0">
              <a:buFontTx/>
              <a:buNone/>
            </a:pPr>
            <a:r>
              <a:rPr lang="zh-CN" altLang="en-US" sz="2400" dirty="0">
                <a:latin typeface="Consolas" panose="020B0609020204030204" pitchFamily="49" charset="0"/>
              </a:rPr>
              <a:t>}</a:t>
            </a:r>
          </a:p>
          <a:p>
            <a:pPr marL="0" indent="0">
              <a:buFontTx/>
              <a:buNone/>
            </a:pPr>
            <a:endParaRPr lang="zh-CN" altLang="en-US" sz="2400" dirty="0">
              <a:latin typeface="Consolas" panose="020B0609020204030204" pitchFamily="49" charset="0"/>
            </a:endParaRPr>
          </a:p>
        </p:txBody>
      </p:sp>
      <p:sp>
        <p:nvSpPr>
          <p:cNvPr id="32771" name="内容占位符 2">
            <a:extLst>
              <a:ext uri="{FF2B5EF4-FFF2-40B4-BE49-F238E27FC236}">
                <a16:creationId xmlns:a16="http://schemas.microsoft.com/office/drawing/2014/main" id="{A8AF0268-2096-41F2-81A2-80E727B2B15D}"/>
              </a:ext>
            </a:extLst>
          </p:cNvPr>
          <p:cNvSpPr>
            <a:spLocks noGrp="1" noChangeArrowheads="1"/>
          </p:cNvSpPr>
          <p:nvPr/>
        </p:nvSpPr>
        <p:spPr bwMode="auto">
          <a:xfrm>
            <a:off x="4117975" y="1333500"/>
            <a:ext cx="5013325" cy="4610100"/>
          </a:xfrm>
          <a:prstGeom prst="rect">
            <a:avLst/>
          </a:prstGeom>
          <a:noFill/>
          <a:ln w="952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en-US" altLang="zh-CN" sz="2400" dirty="0">
                <a:latin typeface="Consolas" panose="020B0609020204030204" pitchFamily="49" charset="0"/>
              </a:rPr>
              <a:t>/*</a:t>
            </a:r>
            <a:r>
              <a:rPr lang="zh-CN" altLang="en-US" sz="2400" dirty="0">
                <a:latin typeface="Consolas" panose="020B0609020204030204" pitchFamily="49" charset="0"/>
              </a:rPr>
              <a:t>堆内存分配</a:t>
            </a:r>
            <a:r>
              <a:rPr lang="en-US" altLang="zh-CN" sz="2400" dirty="0">
                <a:latin typeface="Consolas" panose="020B0609020204030204" pitchFamily="49" charset="0"/>
              </a:rPr>
              <a:t>*/</a:t>
            </a:r>
          </a:p>
          <a:p>
            <a:pPr eaLnBrk="0" hangingPunct="0">
              <a:spcBef>
                <a:spcPct val="20000"/>
              </a:spcBef>
            </a:pPr>
            <a:r>
              <a:rPr lang="en-US" altLang="zh-CN" sz="2400" dirty="0">
                <a:latin typeface="Consolas" panose="020B0609020204030204" pitchFamily="49" charset="0"/>
              </a:rPr>
              <a:t>int</a:t>
            </a:r>
            <a:r>
              <a:rPr lang="zh-CN" altLang="zh-CN" sz="2400" dirty="0">
                <a:latin typeface="Consolas" panose="020B0609020204030204" pitchFamily="49" charset="0"/>
              </a:rPr>
              <a:t>* </a:t>
            </a:r>
            <a:r>
              <a:rPr lang="en-US" altLang="zh-CN" sz="2400" dirty="0">
                <a:latin typeface="Consolas" panose="020B0609020204030204" pitchFamily="49" charset="0"/>
              </a:rPr>
              <a:t>a</a:t>
            </a:r>
            <a:r>
              <a:rPr lang="zh-CN" altLang="zh-CN" sz="2400" dirty="0">
                <a:latin typeface="Consolas" panose="020B0609020204030204" pitchFamily="49" charset="0"/>
              </a:rPr>
              <a:t>llocStrFromHeap(int len){</a:t>
            </a:r>
          </a:p>
          <a:p>
            <a:pPr eaLnBrk="0" hangingPunct="0">
              <a:spcBef>
                <a:spcPct val="20000"/>
              </a:spcBef>
            </a:pPr>
            <a:r>
              <a:rPr lang="en-US" altLang="zh-CN" sz="2400" dirty="0">
                <a:latin typeface="Consolas" panose="020B0609020204030204" pitchFamily="49" charset="0"/>
              </a:rPr>
              <a:t>    </a:t>
            </a:r>
            <a:r>
              <a:rPr lang="zh-CN" altLang="zh-CN" sz="2400" dirty="0">
                <a:latin typeface="Consolas" panose="020B0609020204030204" pitchFamily="49" charset="0"/>
              </a:rPr>
              <a:t>if ( len &lt;= 0 )</a:t>
            </a:r>
            <a:endParaRPr lang="en-US" altLang="zh-CN" sz="2400" dirty="0">
              <a:latin typeface="Consolas" panose="020B0609020204030204" pitchFamily="49" charset="0"/>
            </a:endParaRPr>
          </a:p>
          <a:p>
            <a:pPr eaLnBrk="0" hangingPunct="0">
              <a:spcBef>
                <a:spcPct val="20000"/>
              </a:spcBef>
            </a:pPr>
            <a:r>
              <a:rPr lang="en-US" altLang="zh-CN" sz="2400" dirty="0">
                <a:latin typeface="Consolas" panose="020B0609020204030204" pitchFamily="49" charset="0"/>
              </a:rPr>
              <a:t>	</a:t>
            </a:r>
            <a:r>
              <a:rPr lang="zh-CN" altLang="zh-CN" sz="2400" dirty="0">
                <a:latin typeface="Consolas" panose="020B0609020204030204" pitchFamily="49" charset="0"/>
              </a:rPr>
              <a:t> return NULL;</a:t>
            </a:r>
          </a:p>
          <a:p>
            <a:pPr eaLnBrk="0" hangingPunct="0">
              <a:spcBef>
                <a:spcPct val="20000"/>
              </a:spcBef>
            </a:pPr>
            <a:r>
              <a:rPr lang="zh-CN" altLang="zh-CN" sz="2400" dirty="0">
                <a:latin typeface="Consolas" panose="020B0609020204030204" pitchFamily="49" charset="0"/>
              </a:rPr>
              <a:t>    </a:t>
            </a:r>
            <a:r>
              <a:rPr lang="en-US" altLang="zh-CN" sz="2400" dirty="0">
                <a:latin typeface="Consolas" panose="020B0609020204030204" pitchFamily="49" charset="0"/>
              </a:rPr>
              <a:t>else</a:t>
            </a:r>
            <a:r>
              <a:rPr lang="zh-CN" altLang="zh-CN" sz="2400" dirty="0">
                <a:latin typeface="Consolas" panose="020B0609020204030204" pitchFamily="49" charset="0"/>
              </a:rPr>
              <a:t> return (</a:t>
            </a:r>
            <a:r>
              <a:rPr lang="en-US" altLang="zh-CN" sz="2400" dirty="0">
                <a:latin typeface="Consolas" panose="020B0609020204030204" pitchFamily="49" charset="0"/>
              </a:rPr>
              <a:t>int</a:t>
            </a:r>
            <a:r>
              <a:rPr lang="zh-CN" altLang="zh-CN" sz="2400" dirty="0">
                <a:latin typeface="Consolas" panose="020B0609020204030204" pitchFamily="49" charset="0"/>
              </a:rPr>
              <a:t>*)malloc(len</a:t>
            </a:r>
            <a:r>
              <a:rPr lang="en-US" altLang="zh-CN" sz="2400" dirty="0">
                <a:latin typeface="Consolas" panose="020B0609020204030204" pitchFamily="49" charset="0"/>
              </a:rPr>
              <a:t>*</a:t>
            </a:r>
            <a:r>
              <a:rPr lang="en-US" altLang="zh-CN" sz="2400" dirty="0" err="1">
                <a:latin typeface="Consolas" panose="020B0609020204030204" pitchFamily="49" charset="0"/>
              </a:rPr>
              <a:t>sizeof</a:t>
            </a:r>
            <a:r>
              <a:rPr lang="en-US" altLang="zh-CN" sz="2400" dirty="0">
                <a:latin typeface="Consolas" panose="020B0609020204030204" pitchFamily="49" charset="0"/>
              </a:rPr>
              <a:t>(int)</a:t>
            </a:r>
            <a:r>
              <a:rPr lang="zh-CN" altLang="zh-CN" sz="2400" dirty="0">
                <a:latin typeface="Consolas" panose="020B0609020204030204" pitchFamily="49" charset="0"/>
              </a:rPr>
              <a:t>);</a:t>
            </a:r>
          </a:p>
          <a:p>
            <a:pPr eaLnBrk="0" hangingPunct="0">
              <a:spcBef>
                <a:spcPct val="20000"/>
              </a:spcBef>
            </a:pPr>
            <a:r>
              <a:rPr lang="zh-CN" altLang="zh-CN" sz="2400" dirty="0">
                <a:latin typeface="Consolas" panose="020B0609020204030204" pitchFamily="49" charset="0"/>
              </a:rPr>
              <a: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a:extLst>
              <a:ext uri="{FF2B5EF4-FFF2-40B4-BE49-F238E27FC236}">
                <a16:creationId xmlns:a16="http://schemas.microsoft.com/office/drawing/2014/main" id="{10751651-F36E-4453-9C07-F504585A23C1}"/>
              </a:ext>
            </a:extLst>
          </p:cNvPr>
          <p:cNvSpPr>
            <a:spLocks noGrp="1" noChangeArrowheads="1"/>
          </p:cNvSpPr>
          <p:nvPr>
            <p:ph type="title"/>
          </p:nvPr>
        </p:nvSpPr>
        <p:spPr/>
        <p:txBody>
          <a:bodyPr/>
          <a:lstStyle/>
          <a:p>
            <a:r>
              <a:rPr lang="zh-CN" altLang="en-US" dirty="0"/>
              <a:t>测试主程序</a:t>
            </a:r>
          </a:p>
        </p:txBody>
      </p:sp>
      <p:sp>
        <p:nvSpPr>
          <p:cNvPr id="34818" name="内容占位符 2">
            <a:extLst>
              <a:ext uri="{FF2B5EF4-FFF2-40B4-BE49-F238E27FC236}">
                <a16:creationId xmlns:a16="http://schemas.microsoft.com/office/drawing/2014/main" id="{E08A6240-F041-4416-86C3-D2FA00D0294D}"/>
              </a:ext>
            </a:extLst>
          </p:cNvPr>
          <p:cNvSpPr>
            <a:spLocks noGrp="1" noChangeArrowheads="1"/>
          </p:cNvSpPr>
          <p:nvPr>
            <p:ph idx="1"/>
          </p:nvPr>
        </p:nvSpPr>
        <p:spPr>
          <a:xfrm>
            <a:off x="485775" y="1227138"/>
            <a:ext cx="7772400" cy="4611687"/>
          </a:xfrm>
        </p:spPr>
        <p:txBody>
          <a:bodyPr/>
          <a:lstStyle/>
          <a:p>
            <a:pPr marL="0" indent="0">
              <a:lnSpc>
                <a:spcPct val="90000"/>
              </a:lnSpc>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lnSpc>
                <a:spcPct val="90000"/>
              </a:lnSpc>
              <a:buNone/>
            </a:pPr>
            <a:r>
              <a:rPr lang="en-US" altLang="zh-CN" sz="2000" dirty="0">
                <a:latin typeface="Consolas" panose="020B0609020204030204" pitchFamily="49" charset="0"/>
              </a:rPr>
              <a:t>void </a:t>
            </a:r>
            <a:r>
              <a:rPr lang="en-US" altLang="zh-CN" sz="2000" dirty="0" err="1">
                <a:latin typeface="Consolas" panose="020B0609020204030204" pitchFamily="49" charset="0"/>
              </a:rPr>
              <a:t>outArray1</a:t>
            </a:r>
            <a:r>
              <a:rPr lang="en-US" altLang="zh-CN" sz="2000" dirty="0">
                <a:latin typeface="Consolas" panose="020B0609020204030204" pitchFamily="49" charset="0"/>
              </a:rPr>
              <a:t>(int a[],int n);</a:t>
            </a:r>
          </a:p>
          <a:p>
            <a:pPr marL="0" indent="0">
              <a:lnSpc>
                <a:spcPct val="90000"/>
              </a:lnSpc>
              <a:buNone/>
            </a:pPr>
            <a:r>
              <a:rPr lang="en-US" altLang="zh-CN" sz="2000" dirty="0">
                <a:latin typeface="Consolas" panose="020B0609020204030204" pitchFamily="49" charset="0"/>
              </a:rPr>
              <a:t>int* </a:t>
            </a:r>
            <a:r>
              <a:rPr lang="en-US" altLang="zh-CN" sz="2000" dirty="0" err="1">
                <a:latin typeface="Consolas" panose="020B0609020204030204" pitchFamily="49" charset="0"/>
              </a:rPr>
              <a:t>allocStrFromStack</a:t>
            </a:r>
            <a:r>
              <a:rPr lang="en-US" altLang="zh-CN" sz="2000" dirty="0">
                <a:latin typeface="Consolas" panose="020B0609020204030204" pitchFamily="49" charset="0"/>
              </a:rPr>
              <a:t>(int);</a:t>
            </a:r>
          </a:p>
          <a:p>
            <a:pPr marL="0" indent="0">
              <a:lnSpc>
                <a:spcPct val="90000"/>
              </a:lnSpc>
              <a:buNone/>
            </a:pPr>
            <a:r>
              <a:rPr lang="en-US" altLang="zh-CN" sz="2000" dirty="0">
                <a:latin typeface="Consolas" panose="020B0609020204030204" pitchFamily="49" charset="0"/>
              </a:rPr>
              <a:t>int* </a:t>
            </a:r>
            <a:r>
              <a:rPr lang="en-US" altLang="zh-CN" sz="2000" dirty="0" err="1">
                <a:latin typeface="Consolas" panose="020B0609020204030204" pitchFamily="49" charset="0"/>
              </a:rPr>
              <a:t>allocStrFromHeap</a:t>
            </a:r>
            <a:r>
              <a:rPr lang="en-US" altLang="zh-CN" sz="2000" dirty="0">
                <a:latin typeface="Consolas" panose="020B0609020204030204" pitchFamily="49" charset="0"/>
              </a:rPr>
              <a:t>(int);</a:t>
            </a:r>
          </a:p>
          <a:p>
            <a:pPr marL="0" indent="0">
              <a:lnSpc>
                <a:spcPct val="90000"/>
              </a:lnSpc>
              <a:buFontTx/>
              <a:buNone/>
            </a:pPr>
            <a:r>
              <a:rPr lang="en-US" altLang="zh-CN" sz="2000" dirty="0">
                <a:latin typeface="Consolas" panose="020B0609020204030204" pitchFamily="49" charset="0"/>
              </a:rPr>
              <a:t>int main()</a:t>
            </a:r>
          </a:p>
          <a:p>
            <a:pPr marL="0" indent="0">
              <a:lnSpc>
                <a:spcPct val="9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n,len</a:t>
            </a:r>
            <a:r>
              <a:rPr lang="en-US" altLang="zh-CN" sz="2000" dirty="0">
                <a:latin typeface="Consolas" panose="020B0609020204030204" pitchFamily="49" charset="0"/>
              </a:rPr>
              <a:t>;</a:t>
            </a:r>
          </a:p>
          <a:p>
            <a:pPr marL="0" indent="0">
              <a:lnSpc>
                <a:spcPct val="90000"/>
              </a:lnSpc>
              <a:buFontTx/>
              <a:buNone/>
            </a:pPr>
            <a:r>
              <a:rPr lang="en-US" altLang="zh-CN" sz="2000" dirty="0">
                <a:latin typeface="Consolas" panose="020B0609020204030204" pitchFamily="49" charset="0"/>
              </a:rPr>
              <a:t>	int * </a:t>
            </a:r>
            <a:r>
              <a:rPr lang="en-US" altLang="zh-CN" sz="2000" dirty="0" err="1">
                <a:latin typeface="Consolas" panose="020B0609020204030204" pitchFamily="49" charset="0"/>
              </a:rPr>
              <a:t>p1</a:t>
            </a:r>
            <a:r>
              <a:rPr lang="en-US" altLang="zh-CN" sz="2000" dirty="0">
                <a:latin typeface="Consolas" panose="020B0609020204030204" pitchFamily="49" charset="0"/>
              </a:rPr>
              <a:t>,</a:t>
            </a:r>
            <a:r>
              <a:rPr lang="zh-CN" altLang="en-US" sz="2000" dirty="0">
                <a:latin typeface="Consolas" panose="020B0609020204030204" pitchFamily="49" charset="0"/>
              </a:rPr>
              <a:t> </a:t>
            </a:r>
            <a:r>
              <a:rPr lang="en-US" altLang="zh-CN" sz="2000" dirty="0">
                <a:latin typeface="Consolas" panose="020B0609020204030204" pitchFamily="49" charset="0"/>
              </a:rPr>
              <a:t>*</a:t>
            </a:r>
            <a:r>
              <a:rPr lang="zh-CN" altLang="en-US" sz="2000" dirty="0">
                <a:latin typeface="Consolas" panose="020B0609020204030204" pitchFamily="49" charset="0"/>
              </a:rPr>
              <a:t> </a:t>
            </a:r>
            <a:r>
              <a:rPr lang="en-US" altLang="zh-CN" sz="2000" dirty="0" err="1">
                <a:latin typeface="Consolas" panose="020B0609020204030204" pitchFamily="49" charset="0"/>
              </a:rPr>
              <a:t>p2</a:t>
            </a:r>
            <a:r>
              <a:rPr lang="en-US" altLang="zh-CN" sz="2000" dirty="0">
                <a:latin typeface="Consolas" panose="020B0609020204030204" pitchFamily="49" charset="0"/>
              </a:rPr>
              <a:t>;</a:t>
            </a:r>
          </a:p>
          <a:p>
            <a:pPr marL="0" indent="0">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d",&amp;n</a:t>
            </a:r>
            <a:r>
              <a:rPr lang="en-US" altLang="zh-CN" sz="2000" dirty="0">
                <a:latin typeface="Consolas" panose="020B0609020204030204" pitchFamily="49" charset="0"/>
              </a:rPr>
              <a:t>);</a:t>
            </a:r>
          </a:p>
          <a:p>
            <a:pPr marL="0" indent="0">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p1</a:t>
            </a:r>
            <a:r>
              <a:rPr lang="en-US" altLang="zh-CN" sz="2000" dirty="0">
                <a:latin typeface="Consolas" panose="020B0609020204030204" pitchFamily="49" charset="0"/>
              </a:rPr>
              <a:t>=a</a:t>
            </a:r>
            <a:r>
              <a:rPr lang="zh-CN" altLang="en-US" sz="2000" dirty="0">
                <a:latin typeface="Consolas" panose="020B0609020204030204" pitchFamily="49" charset="0"/>
              </a:rPr>
              <a:t>llocStrFromStack</a:t>
            </a:r>
            <a:r>
              <a:rPr lang="en-US" altLang="zh-CN" sz="2000" dirty="0">
                <a:latin typeface="Consolas" panose="020B0609020204030204" pitchFamily="49" charset="0"/>
              </a:rPr>
              <a:t>(n);</a:t>
            </a:r>
          </a:p>
          <a:p>
            <a:pPr marL="0" indent="0">
              <a:lnSpc>
                <a:spcPct val="90000"/>
              </a:lnSpc>
              <a:buFontTx/>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outArray1</a:t>
            </a:r>
            <a:r>
              <a:rPr lang="en-US" altLang="zh-CN" sz="2000" dirty="0">
                <a:solidFill>
                  <a:srgbClr val="FF0000"/>
                </a:solidFill>
                <a:latin typeface="Consolas" panose="020B0609020204030204" pitchFamily="49" charset="0"/>
              </a:rPr>
              <a:t>(</a:t>
            </a:r>
            <a:r>
              <a:rPr lang="en-US" altLang="zh-CN" sz="2000" dirty="0" err="1">
                <a:solidFill>
                  <a:srgbClr val="FF0000"/>
                </a:solidFill>
                <a:latin typeface="Consolas" panose="020B0609020204030204" pitchFamily="49" charset="0"/>
              </a:rPr>
              <a:t>p1,n</a:t>
            </a:r>
            <a:r>
              <a:rPr lang="en-US" altLang="zh-CN" sz="2000" dirty="0">
                <a:solidFill>
                  <a:srgbClr val="FF0000"/>
                </a:solidFill>
                <a:latin typeface="Consolas" panose="020B0609020204030204" pitchFamily="49" charset="0"/>
              </a:rPr>
              <a:t>);//</a:t>
            </a:r>
            <a:r>
              <a:rPr lang="zh-CN" altLang="en-US" sz="2000" dirty="0">
                <a:solidFill>
                  <a:srgbClr val="FF0000"/>
                </a:solidFill>
                <a:latin typeface="Consolas" panose="020B0609020204030204" pitchFamily="49" charset="0"/>
              </a:rPr>
              <a:t>非法访问已经释放的函数栈内数组</a:t>
            </a:r>
          </a:p>
          <a:p>
            <a:pPr marL="0" indent="0">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p2</a:t>
            </a:r>
            <a:r>
              <a:rPr lang="en-US" altLang="zh-CN" sz="2000" dirty="0">
                <a:latin typeface="Consolas" panose="020B0609020204030204" pitchFamily="49" charset="0"/>
              </a:rPr>
              <a:t>=</a:t>
            </a:r>
            <a:r>
              <a:rPr lang="en-US" altLang="zh-CN" sz="2000" dirty="0">
                <a:latin typeface="Consolas" panose="020B0609020204030204" pitchFamily="49" charset="0"/>
                <a:sym typeface="宋体" panose="02010600030101010101" pitchFamily="2" charset="-122"/>
              </a:rPr>
              <a:t>a</a:t>
            </a:r>
            <a:r>
              <a:rPr lang="zh-CN" altLang="en-US" sz="2000" dirty="0">
                <a:latin typeface="Consolas" panose="020B0609020204030204" pitchFamily="49" charset="0"/>
                <a:sym typeface="宋体" panose="02010600030101010101" pitchFamily="2" charset="-122"/>
              </a:rPr>
              <a:t>llocStrFrom</a:t>
            </a:r>
            <a:r>
              <a:rPr lang="en-US" altLang="zh-CN" sz="2000" dirty="0">
                <a:latin typeface="Consolas" panose="020B0609020204030204" pitchFamily="49" charset="0"/>
                <a:sym typeface="宋体" panose="02010600030101010101" pitchFamily="2" charset="-122"/>
              </a:rPr>
              <a:t>Heap(n);</a:t>
            </a:r>
          </a:p>
          <a:p>
            <a:pPr marL="0" indent="0">
              <a:lnSpc>
                <a:spcPct val="90000"/>
              </a:lnSpc>
              <a:buNone/>
            </a:pPr>
            <a:r>
              <a:rPr lang="en-US" altLang="zh-CN" sz="2000" dirty="0">
                <a:latin typeface="Consolas" panose="020B0609020204030204" pitchFamily="49" charset="0"/>
                <a:sym typeface="宋体" panose="02010600030101010101" pitchFamily="2" charset="-122"/>
              </a:rPr>
              <a:t>	</a:t>
            </a:r>
            <a:r>
              <a:rPr lang="en-US" altLang="zh-CN" sz="2000" dirty="0" err="1">
                <a:latin typeface="Consolas" panose="020B0609020204030204" pitchFamily="49" charset="0"/>
                <a:sym typeface="宋体" panose="02010600030101010101" pitchFamily="2" charset="-122"/>
              </a:rPr>
              <a:t>len</a:t>
            </a:r>
            <a:r>
              <a:rPr lang="en-US" altLang="zh-CN" sz="2000" dirty="0">
                <a:latin typeface="Consolas" panose="020B0609020204030204" pitchFamily="49" charset="0"/>
                <a:sym typeface="宋体" panose="02010600030101010101" pitchFamily="2" charset="-122"/>
              </a:rPr>
              <a:t>=</a:t>
            </a:r>
            <a:r>
              <a:rPr lang="en-US" altLang="zh-CN" sz="2000" dirty="0" err="1">
                <a:latin typeface="Consolas" panose="020B0609020204030204" pitchFamily="49" charset="0"/>
                <a:sym typeface="宋体" panose="02010600030101010101" pitchFamily="2" charset="-122"/>
              </a:rPr>
              <a:t>createArrayTail</a:t>
            </a:r>
            <a:r>
              <a:rPr lang="en-US" altLang="zh-CN" sz="2000" dirty="0">
                <a:latin typeface="Consolas" panose="020B0609020204030204" pitchFamily="49" charset="0"/>
                <a:sym typeface="宋体" panose="02010600030101010101" pitchFamily="2" charset="-122"/>
              </a:rPr>
              <a:t>(</a:t>
            </a:r>
            <a:r>
              <a:rPr lang="en-US" altLang="zh-CN" sz="2000" dirty="0" err="1">
                <a:latin typeface="Consolas" panose="020B0609020204030204" pitchFamily="49" charset="0"/>
                <a:sym typeface="宋体" panose="02010600030101010101" pitchFamily="2" charset="-122"/>
              </a:rPr>
              <a:t>p2,n</a:t>
            </a:r>
            <a:r>
              <a:rPr lang="en-US" altLang="zh-CN" sz="2000" dirty="0">
                <a:latin typeface="Consolas" panose="020B0609020204030204" pitchFamily="49" charset="0"/>
                <a:sym typeface="宋体" panose="02010600030101010101" pitchFamily="2" charset="-122"/>
              </a:rPr>
              <a:t>);</a:t>
            </a:r>
          </a:p>
          <a:p>
            <a:pPr marL="0" indent="0">
              <a:lnSpc>
                <a:spcPct val="90000"/>
              </a:lnSpc>
              <a:buFontTx/>
              <a:buNone/>
            </a:pPr>
            <a:r>
              <a:rPr lang="en-US" altLang="zh-CN" sz="2000" dirty="0">
                <a:latin typeface="Consolas" panose="020B0609020204030204" pitchFamily="49" charset="0"/>
                <a:sym typeface="宋体" panose="02010600030101010101" pitchFamily="2" charset="-122"/>
              </a:rPr>
              <a:t>	</a:t>
            </a:r>
            <a:r>
              <a:rPr lang="en-US" altLang="zh-CN" sz="2000" dirty="0" err="1">
                <a:latin typeface="Consolas" panose="020B0609020204030204" pitchFamily="49" charset="0"/>
                <a:sym typeface="宋体" panose="02010600030101010101" pitchFamily="2" charset="-122"/>
              </a:rPr>
              <a:t>outArray1</a:t>
            </a:r>
            <a:r>
              <a:rPr lang="en-US" altLang="zh-CN" sz="2000" dirty="0">
                <a:latin typeface="Consolas" panose="020B0609020204030204" pitchFamily="49" charset="0"/>
                <a:sym typeface="宋体" panose="02010600030101010101" pitchFamily="2" charset="-122"/>
              </a:rPr>
              <a:t>(</a:t>
            </a:r>
            <a:r>
              <a:rPr lang="en-US" altLang="zh-CN" sz="2000" dirty="0" err="1">
                <a:latin typeface="Consolas" panose="020B0609020204030204" pitchFamily="49" charset="0"/>
                <a:sym typeface="宋体" panose="02010600030101010101" pitchFamily="2" charset="-122"/>
              </a:rPr>
              <a:t>p2,len</a:t>
            </a:r>
            <a:r>
              <a:rPr lang="en-US" altLang="zh-CN" sz="2000" dirty="0">
                <a:latin typeface="Consolas" panose="020B0609020204030204" pitchFamily="49" charset="0"/>
                <a:sym typeface="宋体" panose="02010600030101010101" pitchFamily="2" charset="-122"/>
              </a:rPr>
              <a:t>);</a:t>
            </a:r>
          </a:p>
          <a:p>
            <a:pPr marL="0" indent="0">
              <a:lnSpc>
                <a:spcPct val="90000"/>
              </a:lnSpc>
              <a:buFontTx/>
              <a:buNone/>
            </a:pPr>
            <a:r>
              <a:rPr lang="en-US" altLang="zh-CN" sz="2000" dirty="0">
                <a:latin typeface="Consolas" panose="020B0609020204030204" pitchFamily="49" charset="0"/>
                <a:sym typeface="宋体" panose="02010600030101010101" pitchFamily="2" charset="-122"/>
              </a:rPr>
              <a:t>	</a:t>
            </a:r>
            <a:r>
              <a:rPr lang="en-US" altLang="zh-CN" sz="2000" dirty="0">
                <a:solidFill>
                  <a:srgbClr val="0000FF"/>
                </a:solidFill>
                <a:latin typeface="Consolas" panose="020B0609020204030204" pitchFamily="49" charset="0"/>
                <a:sym typeface="宋体" panose="02010600030101010101" pitchFamily="2" charset="-122"/>
              </a:rPr>
              <a:t>free(</a:t>
            </a:r>
            <a:r>
              <a:rPr lang="en-US" altLang="zh-CN" sz="2000" dirty="0" err="1">
                <a:solidFill>
                  <a:srgbClr val="0000FF"/>
                </a:solidFill>
                <a:latin typeface="Consolas" panose="020B0609020204030204" pitchFamily="49" charset="0"/>
                <a:sym typeface="宋体" panose="02010600030101010101" pitchFamily="2" charset="-122"/>
              </a:rPr>
              <a:t>p2</a:t>
            </a:r>
            <a:r>
              <a:rPr lang="en-US" altLang="zh-CN" sz="2000" dirty="0">
                <a:solidFill>
                  <a:srgbClr val="0000FF"/>
                </a:solidFill>
                <a:latin typeface="Consolas" panose="020B0609020204030204" pitchFamily="49" charset="0"/>
                <a:sym typeface="宋体" panose="02010600030101010101" pitchFamily="2" charset="-122"/>
              </a:rPr>
              <a:t>);</a:t>
            </a:r>
          </a:p>
          <a:p>
            <a:pPr marL="0" indent="0">
              <a:lnSpc>
                <a:spcPct val="90000"/>
              </a:lnSpc>
              <a:buFontTx/>
              <a:buNone/>
            </a:pPr>
            <a:r>
              <a:rPr lang="en-US" altLang="zh-CN" sz="2000" dirty="0">
                <a:latin typeface="Consolas" panose="020B0609020204030204" pitchFamily="49" charset="0"/>
                <a:sym typeface="宋体" panose="02010600030101010101" pitchFamily="2" charset="-122"/>
              </a:rPr>
              <a:t>	return 0;</a:t>
            </a:r>
          </a:p>
          <a:p>
            <a:pPr marL="0" indent="0">
              <a:lnSpc>
                <a:spcPct val="90000"/>
              </a:lnSpc>
              <a:buFontTx/>
              <a:buNone/>
            </a:pPr>
            <a:r>
              <a:rPr lang="en-US" altLang="zh-CN" sz="2000" dirty="0">
                <a:latin typeface="Consolas" panose="020B0609020204030204" pitchFamily="49" charset="0"/>
              </a:rPr>
              <a:t>}</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5">
            <a:extLst>
              <a:ext uri="{FF2B5EF4-FFF2-40B4-BE49-F238E27FC236}">
                <a16:creationId xmlns:a16="http://schemas.microsoft.com/office/drawing/2014/main" id="{65100AB7-F63E-40F1-9C9D-C61E17B0D72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CDD8FEAB-2FF5-4C85-9190-C9E99BD95B09}" type="slidenum">
              <a:rPr lang="zh-CN" altLang="en-US" smtClean="0"/>
              <a:pPr/>
              <a:t>29</a:t>
            </a:fld>
            <a:endParaRPr lang="zh-CN" altLang="en-US"/>
          </a:p>
        </p:txBody>
      </p:sp>
      <p:sp>
        <p:nvSpPr>
          <p:cNvPr id="35842" name="Rectangle 2">
            <a:extLst>
              <a:ext uri="{FF2B5EF4-FFF2-40B4-BE49-F238E27FC236}">
                <a16:creationId xmlns:a16="http://schemas.microsoft.com/office/drawing/2014/main" id="{F5622D8F-BCFA-4595-9E1C-B486E585CCB5}"/>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3 </a:t>
            </a:r>
            <a:r>
              <a:rPr lang="zh-CN" altLang="en-US" b="1"/>
              <a:t>动态数组</a:t>
            </a:r>
          </a:p>
        </p:txBody>
      </p:sp>
      <p:sp>
        <p:nvSpPr>
          <p:cNvPr id="77827" name="Rectangle 3">
            <a:extLst>
              <a:ext uri="{FF2B5EF4-FFF2-40B4-BE49-F238E27FC236}">
                <a16:creationId xmlns:a16="http://schemas.microsoft.com/office/drawing/2014/main" id="{BE07FD16-0A40-4EA4-B34A-1482E3AA6F41}"/>
              </a:ext>
            </a:extLst>
          </p:cNvPr>
          <p:cNvSpPr>
            <a:spLocks noGrp="1"/>
          </p:cNvSpPr>
          <p:nvPr>
            <p:ph idx="1"/>
          </p:nvPr>
        </p:nvSpPr>
        <p:spPr>
          <a:xfrm>
            <a:off x="685800" y="1319213"/>
            <a:ext cx="7989888" cy="4918075"/>
          </a:xfrm>
        </p:spPr>
        <p:txBody>
          <a:bodyPr/>
          <a:lstStyle/>
          <a:p>
            <a:pPr eaLnBrk="1" hangingPunct="1">
              <a:buFontTx/>
              <a:buNone/>
            </a:pPr>
            <a:r>
              <a:rPr lang="zh-CN" altLang="en-US" b="1" noProof="1"/>
              <a:t>二、如何访问动态数组元素</a:t>
            </a:r>
          </a:p>
          <a:p>
            <a:pPr eaLnBrk="1" hangingPunct="1"/>
            <a:endParaRPr lang="zh-CN" altLang="en-US" b="1" noProof="1"/>
          </a:p>
          <a:p>
            <a:pPr eaLnBrk="1" hangingPunct="1"/>
            <a:endParaRPr lang="zh-CN" altLang="en-US" b="1" noProof="1"/>
          </a:p>
          <a:p>
            <a:pPr marL="0" indent="0" algn="just">
              <a:buFontTx/>
              <a:buNone/>
            </a:pPr>
            <a:endParaRPr lang="en-US" altLang="zh-CN" noProof="1">
              <a:sym typeface="+mn-ea"/>
            </a:endParaRPr>
          </a:p>
          <a:p>
            <a:pPr marL="0" indent="0" algn="just">
              <a:buFontTx/>
              <a:buNone/>
            </a:pPr>
            <a:r>
              <a:rPr lang="en-US" altLang="zh-CN" sz="2400" noProof="1">
                <a:latin typeface="Consolas" panose="020B0609020204030204" pitchFamily="49" charset="0"/>
                <a:sym typeface="+mn-ea"/>
              </a:rPr>
              <a:t>int * pa;</a:t>
            </a:r>
          </a:p>
          <a:p>
            <a:pPr marL="0" indent="0" algn="just">
              <a:buFontTx/>
              <a:buNone/>
            </a:pPr>
            <a:r>
              <a:rPr lang="en-US" altLang="zh-CN" sz="2400" noProof="1">
                <a:solidFill>
                  <a:srgbClr val="0000FF"/>
                </a:solidFill>
                <a:latin typeface="Consolas" panose="020B0609020204030204" pitchFamily="49" charset="0"/>
                <a:sym typeface="+mn-ea"/>
              </a:rPr>
              <a:t>pa= (int *)malloc(sizeof(int)*n);	</a:t>
            </a:r>
          </a:p>
          <a:p>
            <a:pPr marL="0" indent="0" eaLnBrk="1" hangingPunct="1">
              <a:buFontTx/>
              <a:buNone/>
            </a:pPr>
            <a:r>
              <a:rPr lang="en-US" altLang="zh-CN" sz="2400" noProof="1">
                <a:latin typeface="Consolas" panose="020B0609020204030204" pitchFamily="49" charset="0"/>
              </a:rPr>
              <a:t>for(i=0; i&lt;n; i++) scanf(</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%d", pa+</a:t>
            </a:r>
            <a:r>
              <a:rPr lang="en-US" altLang="zh-CN" sz="2400" noProof="1">
                <a:latin typeface="Consolas" panose="020B0609020204030204" pitchFamily="49" charset="0"/>
                <a:sym typeface="+mn-ea"/>
              </a:rPr>
              <a:t>i</a:t>
            </a:r>
            <a:r>
              <a:rPr lang="en-US" altLang="zh-CN" sz="2400" noProof="1">
                <a:latin typeface="Consolas" panose="020B0609020204030204" pitchFamily="49" charset="0"/>
              </a:rPr>
              <a:t>);</a:t>
            </a:r>
          </a:p>
          <a:p>
            <a:pPr eaLnBrk="1" hangingPunct="1">
              <a:buFontTx/>
              <a:buNone/>
            </a:pPr>
            <a:r>
              <a:rPr lang="en-US" altLang="zh-CN" sz="2400" noProof="1">
                <a:latin typeface="Consolas" panose="020B0609020204030204" pitchFamily="49" charset="0"/>
              </a:rPr>
              <a:t>for(i=0; i&lt;n; i++) printf(</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%d</a:t>
            </a:r>
            <a:r>
              <a:rPr lang="en-US" altLang="zh-CN" sz="2400" noProof="1">
                <a:latin typeface="Consolas" panose="020B0609020204030204" pitchFamily="49" charset="0"/>
                <a:sym typeface="+mn-ea"/>
              </a:rPr>
              <a:t>"</a:t>
            </a:r>
            <a:r>
              <a:rPr lang="en-US" altLang="zh-CN" sz="2400" noProof="1">
                <a:latin typeface="Consolas" panose="020B0609020204030204" pitchFamily="49" charset="0"/>
              </a:rPr>
              <a:t>,pa[i]);</a:t>
            </a:r>
          </a:p>
          <a:p>
            <a:pPr eaLnBrk="1" hangingPunct="1">
              <a:buFontTx/>
              <a:buNone/>
            </a:pPr>
            <a:r>
              <a:rPr lang="en-US" altLang="zh-CN" sz="2400" noProof="1">
                <a:latin typeface="Consolas" panose="020B0609020204030204" pitchFamily="49" charset="0"/>
              </a:rPr>
              <a:t>        /*</a:t>
            </a:r>
            <a:r>
              <a:rPr lang="zh-CN" altLang="en-US" sz="2400" noProof="1">
                <a:latin typeface="Consolas" panose="020B0609020204030204" pitchFamily="49" charset="0"/>
              </a:rPr>
              <a:t>或者</a:t>
            </a:r>
            <a:r>
              <a:rPr lang="en-US" altLang="zh-CN" sz="2400" noProof="1">
                <a:latin typeface="Consolas" panose="020B0609020204030204" pitchFamily="49" charset="0"/>
              </a:rPr>
              <a:t>printf("%d", *(pa+i));*/</a:t>
            </a:r>
          </a:p>
        </p:txBody>
      </p:sp>
      <p:grpSp>
        <p:nvGrpSpPr>
          <p:cNvPr id="35844" name="Group 4">
            <a:extLst>
              <a:ext uri="{FF2B5EF4-FFF2-40B4-BE49-F238E27FC236}">
                <a16:creationId xmlns:a16="http://schemas.microsoft.com/office/drawing/2014/main" id="{A3BF3F7A-380B-46D6-B46B-C12E8016C5AD}"/>
              </a:ext>
            </a:extLst>
          </p:cNvPr>
          <p:cNvGrpSpPr>
            <a:grpSpLocks/>
          </p:cNvGrpSpPr>
          <p:nvPr/>
        </p:nvGrpSpPr>
        <p:grpSpPr bwMode="auto">
          <a:xfrm>
            <a:off x="935038" y="1816100"/>
            <a:ext cx="7489825" cy="1406525"/>
            <a:chOff x="702" y="1682"/>
            <a:chExt cx="4718" cy="886"/>
          </a:xfrm>
        </p:grpSpPr>
        <p:grpSp>
          <p:nvGrpSpPr>
            <p:cNvPr id="35845" name="Group 5">
              <a:extLst>
                <a:ext uri="{FF2B5EF4-FFF2-40B4-BE49-F238E27FC236}">
                  <a16:creationId xmlns:a16="http://schemas.microsoft.com/office/drawing/2014/main" id="{B4689AF2-8E0B-4F7F-9D50-7A6B8FCE1774}"/>
                </a:ext>
              </a:extLst>
            </p:cNvPr>
            <p:cNvGrpSpPr>
              <a:grpSpLocks/>
            </p:cNvGrpSpPr>
            <p:nvPr/>
          </p:nvGrpSpPr>
          <p:grpSpPr bwMode="auto">
            <a:xfrm>
              <a:off x="702" y="1682"/>
              <a:ext cx="4718" cy="886"/>
              <a:chOff x="702" y="1116"/>
              <a:chExt cx="4718" cy="886"/>
            </a:xfrm>
          </p:grpSpPr>
          <p:pic>
            <p:nvPicPr>
              <p:cNvPr id="35846" name="Picture 6">
                <a:extLst>
                  <a:ext uri="{FF2B5EF4-FFF2-40B4-BE49-F238E27FC236}">
                    <a16:creationId xmlns:a16="http://schemas.microsoft.com/office/drawing/2014/main" id="{E7EF6737-DD35-4F01-A130-7AD7F1971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 y="1389"/>
                <a:ext cx="308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Text Box 7">
                <a:extLst>
                  <a:ext uri="{FF2B5EF4-FFF2-40B4-BE49-F238E27FC236}">
                    <a16:creationId xmlns:a16="http://schemas.microsoft.com/office/drawing/2014/main" id="{C3D7BB41-3CDD-401E-922D-A75C598CED8E}"/>
                  </a:ext>
                </a:extLst>
              </p:cNvPr>
              <p:cNvSpPr txBox="1">
                <a:spLocks noChangeArrowheads="1"/>
              </p:cNvSpPr>
              <p:nvPr/>
            </p:nvSpPr>
            <p:spPr bwMode="auto">
              <a:xfrm>
                <a:off x="4513" y="1389"/>
                <a:ext cx="907" cy="2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a:t>整型数组</a:t>
                </a:r>
              </a:p>
            </p:txBody>
          </p:sp>
          <p:sp>
            <p:nvSpPr>
              <p:cNvPr id="277512" name="Text Box 8">
                <a:extLst>
                  <a:ext uri="{FF2B5EF4-FFF2-40B4-BE49-F238E27FC236}">
                    <a16:creationId xmlns:a16="http://schemas.microsoft.com/office/drawing/2014/main" id="{F1C72ABF-8F58-4FFD-A70C-B2E2B5A32476}"/>
                  </a:ext>
                </a:extLst>
              </p:cNvPr>
              <p:cNvSpPr txBox="1">
                <a:spLocks noChangeArrowheads="1"/>
              </p:cNvSpPr>
              <p:nvPr/>
            </p:nvSpPr>
            <p:spPr bwMode="auto">
              <a:xfrm>
                <a:off x="1520" y="1752"/>
                <a:ext cx="272" cy="250"/>
              </a:xfrm>
              <a:prstGeom prst="rect">
                <a:avLst/>
              </a:prstGeom>
              <a:noFill/>
              <a:ln w="9525">
                <a:noFill/>
                <a:miter lim="800000"/>
              </a:ln>
              <a:effectLst>
                <a:prstShdw prst="shdw18" dist="17961" dir="13500000">
                  <a:schemeClr val="bg1">
                    <a:gamma/>
                    <a:shade val="60000"/>
                    <a:invGamma/>
                  </a:schemeClr>
                </a:prstShdw>
              </a:effectLst>
            </p:spPr>
            <p:txBody>
              <a:bodyPr>
                <a:spAutoFit/>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2000" b="1">
                    <a:sym typeface="+mn-ea"/>
                  </a:rPr>
                  <a:t>0</a:t>
                </a:r>
              </a:p>
            </p:txBody>
          </p:sp>
          <p:sp>
            <p:nvSpPr>
              <p:cNvPr id="35849" name="Text Box 9">
                <a:extLst>
                  <a:ext uri="{FF2B5EF4-FFF2-40B4-BE49-F238E27FC236}">
                    <a16:creationId xmlns:a16="http://schemas.microsoft.com/office/drawing/2014/main" id="{25D2064B-B957-4456-B4BF-C0D235D293BD}"/>
                  </a:ext>
                </a:extLst>
              </p:cNvPr>
              <p:cNvSpPr txBox="1">
                <a:spLocks noChangeArrowheads="1"/>
              </p:cNvSpPr>
              <p:nvPr/>
            </p:nvSpPr>
            <p:spPr bwMode="auto">
              <a:xfrm>
                <a:off x="4150" y="1752"/>
                <a:ext cx="454"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n</a:t>
                </a:r>
                <a:r>
                  <a:rPr lang="zh-CN" altLang="en-US" sz="2000" b="1"/>
                  <a:t>－</a:t>
                </a:r>
                <a:r>
                  <a:rPr lang="en-US" altLang="zh-CN" sz="2000" b="1"/>
                  <a:t>1</a:t>
                </a:r>
              </a:p>
            </p:txBody>
          </p:sp>
          <p:sp>
            <p:nvSpPr>
              <p:cNvPr id="35850" name="Text Box 10">
                <a:extLst>
                  <a:ext uri="{FF2B5EF4-FFF2-40B4-BE49-F238E27FC236}">
                    <a16:creationId xmlns:a16="http://schemas.microsoft.com/office/drawing/2014/main" id="{992C4475-7AAB-4AEA-AE5A-00BCB63603C0}"/>
                  </a:ext>
                </a:extLst>
              </p:cNvPr>
              <p:cNvSpPr txBox="1">
                <a:spLocks noChangeArrowheads="1"/>
              </p:cNvSpPr>
              <p:nvPr/>
            </p:nvSpPr>
            <p:spPr bwMode="auto">
              <a:xfrm>
                <a:off x="837" y="1404"/>
                <a:ext cx="384" cy="294"/>
              </a:xfrm>
              <a:prstGeom prst="rect">
                <a:avLst/>
              </a:prstGeom>
              <a:solidFill>
                <a:srgbClr val="CCFFCC"/>
              </a:solidFill>
              <a:ln w="9525">
                <a:solidFill>
                  <a:schemeClr val="tx1"/>
                </a:solidFill>
                <a:miter lim="800000"/>
                <a:headEnd/>
                <a:tailEnd/>
              </a:ln>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spcBef>
                    <a:spcPct val="50000"/>
                  </a:spcBef>
                </a:pPr>
                <a:endParaRPr lang="zh-CN" altLang="en-US" sz="2400"/>
              </a:p>
            </p:txBody>
          </p:sp>
          <p:sp>
            <p:nvSpPr>
              <p:cNvPr id="35851" name="Text Box 11">
                <a:extLst>
                  <a:ext uri="{FF2B5EF4-FFF2-40B4-BE49-F238E27FC236}">
                    <a16:creationId xmlns:a16="http://schemas.microsoft.com/office/drawing/2014/main" id="{EE9A66A1-B318-4112-AB6E-41E21F63EB4F}"/>
                  </a:ext>
                </a:extLst>
              </p:cNvPr>
              <p:cNvSpPr txBox="1">
                <a:spLocks noChangeArrowheads="1"/>
              </p:cNvSpPr>
              <p:nvPr/>
            </p:nvSpPr>
            <p:spPr bwMode="auto">
              <a:xfrm>
                <a:off x="702" y="1116"/>
                <a:ext cx="72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dirty="0"/>
                  <a:t>    pa</a:t>
                </a:r>
              </a:p>
            </p:txBody>
          </p:sp>
          <p:sp>
            <p:nvSpPr>
              <p:cNvPr id="277516" name="Line 12">
                <a:extLst>
                  <a:ext uri="{FF2B5EF4-FFF2-40B4-BE49-F238E27FC236}">
                    <a16:creationId xmlns:a16="http://schemas.microsoft.com/office/drawing/2014/main" id="{AD9107BC-595C-4CBB-9EBE-C48D050AE96C}"/>
                  </a:ext>
                </a:extLst>
              </p:cNvPr>
              <p:cNvSpPr>
                <a:spLocks noChangeShapeType="1"/>
              </p:cNvSpPr>
              <p:nvPr/>
            </p:nvSpPr>
            <p:spPr bwMode="auto">
              <a:xfrm>
                <a:off x="1066" y="1570"/>
                <a:ext cx="363"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grpSp>
        <p:sp>
          <p:nvSpPr>
            <p:cNvPr id="35853" name="Oval 13">
              <a:extLst>
                <a:ext uri="{FF2B5EF4-FFF2-40B4-BE49-F238E27FC236}">
                  <a16:creationId xmlns:a16="http://schemas.microsoft.com/office/drawing/2014/main" id="{FDEE0EA5-E1C5-434F-9BB7-BDA87A558318}"/>
                </a:ext>
              </a:extLst>
            </p:cNvPr>
            <p:cNvSpPr>
              <a:spLocks noChangeArrowheads="1"/>
            </p:cNvSpPr>
            <p:nvPr/>
          </p:nvSpPr>
          <p:spPr bwMode="auto">
            <a:xfrm>
              <a:off x="1016" y="2112"/>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zh-CN" altLang="en-US" b="1"/>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5">
            <a:extLst>
              <a:ext uri="{FF2B5EF4-FFF2-40B4-BE49-F238E27FC236}">
                <a16:creationId xmlns:a16="http://schemas.microsoft.com/office/drawing/2014/main" id="{69812483-757D-4A9E-BFA7-8F9910CA6A2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A198D82B-B11A-499D-AC1A-0B687D3C9580}" type="slidenum">
              <a:rPr lang="zh-CN" altLang="en-US" smtClean="0"/>
              <a:pPr/>
              <a:t>30</a:t>
            </a:fld>
            <a:endParaRPr lang="zh-CN" altLang="en-US"/>
          </a:p>
        </p:txBody>
      </p:sp>
      <p:sp>
        <p:nvSpPr>
          <p:cNvPr id="36866" name="Rectangle 2">
            <a:extLst>
              <a:ext uri="{FF2B5EF4-FFF2-40B4-BE49-F238E27FC236}">
                <a16:creationId xmlns:a16="http://schemas.microsoft.com/office/drawing/2014/main" id="{C757E6C4-2379-4286-8661-DA5619382229}"/>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3 </a:t>
            </a:r>
            <a:r>
              <a:rPr lang="zh-CN" altLang="en-US" b="1"/>
              <a:t>动态数组</a:t>
            </a:r>
          </a:p>
        </p:txBody>
      </p:sp>
      <p:sp>
        <p:nvSpPr>
          <p:cNvPr id="99331" name="Rectangle 3">
            <a:extLst>
              <a:ext uri="{FF2B5EF4-FFF2-40B4-BE49-F238E27FC236}">
                <a16:creationId xmlns:a16="http://schemas.microsoft.com/office/drawing/2014/main" id="{F406E355-9B8B-4427-BF73-DE8FB1447F6C}"/>
              </a:ext>
            </a:extLst>
          </p:cNvPr>
          <p:cNvSpPr>
            <a:spLocks noGrp="1"/>
          </p:cNvSpPr>
          <p:nvPr>
            <p:ph idx="1"/>
          </p:nvPr>
        </p:nvSpPr>
        <p:spPr/>
        <p:txBody>
          <a:bodyPr/>
          <a:lstStyle/>
          <a:p>
            <a:pPr eaLnBrk="1" hangingPunct="1">
              <a:lnSpc>
                <a:spcPct val="90000"/>
              </a:lnSpc>
            </a:pPr>
            <a:r>
              <a:rPr lang="zh-CN" altLang="en-US" b="1" noProof="1">
                <a:sym typeface="+mn-ea"/>
              </a:rPr>
              <a:t>三、释放动态数组占用的存储空间</a:t>
            </a:r>
            <a:endParaRPr lang="zh-CN" altLang="en-US" b="1" noProof="1"/>
          </a:p>
          <a:p>
            <a:pPr eaLnBrk="1" hangingPunct="1">
              <a:lnSpc>
                <a:spcPct val="90000"/>
              </a:lnSpc>
            </a:pPr>
            <a:r>
              <a:rPr lang="zh-CN" altLang="en-US" b="1" noProof="1"/>
              <a:t>如果你丢失了指针，这些区域将变成不能及时释放的内存块。堆管理器认为你在继续使用它们，但你不知道它们在哪里。</a:t>
            </a:r>
          </a:p>
          <a:p>
            <a:pPr eaLnBrk="1" hangingPunct="1">
              <a:lnSpc>
                <a:spcPct val="90000"/>
              </a:lnSpc>
            </a:pPr>
            <a:endParaRPr lang="zh-CN" altLang="en-US" b="1" noProof="1"/>
          </a:p>
          <a:p>
            <a:pPr eaLnBrk="1" hangingPunct="1">
              <a:lnSpc>
                <a:spcPct val="90000"/>
              </a:lnSpc>
            </a:pPr>
            <a:endParaRPr lang="zh-CN" altLang="en-US" b="1" noProof="1"/>
          </a:p>
          <a:p>
            <a:pPr eaLnBrk="1" hangingPunct="1">
              <a:lnSpc>
                <a:spcPct val="90000"/>
              </a:lnSpc>
            </a:pPr>
            <a:r>
              <a:rPr lang="zh-CN" altLang="en-US" b="1" noProof="1"/>
              <a:t>为了避免出现不能及时释放的内存块，你应该在不用时释放由</a:t>
            </a:r>
            <a:r>
              <a:rPr lang="en-US" altLang="zh-CN" b="1" noProof="1"/>
              <a:t>malloc</a:t>
            </a:r>
            <a:r>
              <a:rPr lang="zh-CN" altLang="en-US" b="1" noProof="1"/>
              <a:t>申请的内存。</a:t>
            </a:r>
          </a:p>
          <a:p>
            <a:pPr marL="0" indent="0" eaLnBrk="1" hangingPunct="1">
              <a:lnSpc>
                <a:spcPct val="90000"/>
              </a:lnSpc>
              <a:buFontTx/>
              <a:buNone/>
            </a:pPr>
            <a:r>
              <a:rPr lang="en-US" altLang="zh-CN" b="1" noProof="1">
                <a:solidFill>
                  <a:schemeClr val="accent2"/>
                </a:solidFill>
                <a:sym typeface="+mn-ea"/>
              </a:rPr>
              <a:t>	free(pa);</a:t>
            </a:r>
            <a:endParaRPr lang="zh-CN" altLang="en-US" b="1" noProof="1"/>
          </a:p>
          <a:p>
            <a:pPr eaLnBrk="1" hangingPunct="1">
              <a:lnSpc>
                <a:spcPct val="90000"/>
              </a:lnSpc>
            </a:pPr>
            <a:endParaRPr lang="zh-CN" altLang="en-US" b="1" noProof="1"/>
          </a:p>
        </p:txBody>
      </p:sp>
      <p:pic>
        <p:nvPicPr>
          <p:cNvPr id="36868" name="Picture 6">
            <a:extLst>
              <a:ext uri="{FF2B5EF4-FFF2-40B4-BE49-F238E27FC236}">
                <a16:creationId xmlns:a16="http://schemas.microsoft.com/office/drawing/2014/main" id="{5AB807ED-033B-41C7-8694-5505FBFEB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1563" y="3286125"/>
            <a:ext cx="489426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 Box 7">
            <a:extLst>
              <a:ext uri="{FF2B5EF4-FFF2-40B4-BE49-F238E27FC236}">
                <a16:creationId xmlns:a16="http://schemas.microsoft.com/office/drawing/2014/main" id="{2A195EF9-4F3F-47A6-9AFB-E794B6F7BB2E}"/>
              </a:ext>
            </a:extLst>
          </p:cNvPr>
          <p:cNvSpPr txBox="1">
            <a:spLocks noChangeArrowheads="1"/>
          </p:cNvSpPr>
          <p:nvPr/>
        </p:nvSpPr>
        <p:spPr bwMode="auto">
          <a:xfrm>
            <a:off x="7237413" y="3286125"/>
            <a:ext cx="1439862"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a:t>整型数组</a:t>
            </a:r>
          </a:p>
        </p:txBody>
      </p:sp>
      <p:sp>
        <p:nvSpPr>
          <p:cNvPr id="36870" name="Text Box 10">
            <a:extLst>
              <a:ext uri="{FF2B5EF4-FFF2-40B4-BE49-F238E27FC236}">
                <a16:creationId xmlns:a16="http://schemas.microsoft.com/office/drawing/2014/main" id="{BAE3BBE7-75E1-45C7-AC6F-DBBA3931A842}"/>
              </a:ext>
            </a:extLst>
          </p:cNvPr>
          <p:cNvSpPr txBox="1">
            <a:spLocks noChangeArrowheads="1"/>
          </p:cNvSpPr>
          <p:nvPr/>
        </p:nvSpPr>
        <p:spPr bwMode="auto">
          <a:xfrm>
            <a:off x="1185863" y="3309938"/>
            <a:ext cx="609600" cy="466725"/>
          </a:xfrm>
          <a:prstGeom prst="rect">
            <a:avLst/>
          </a:prstGeom>
          <a:solidFill>
            <a:srgbClr val="CCFFCC"/>
          </a:solidFill>
          <a:ln w="9525">
            <a:solidFill>
              <a:schemeClr val="tx1"/>
            </a:solidFill>
            <a:miter lim="800000"/>
            <a:headEnd/>
            <a:tailEnd/>
          </a:ln>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spcBef>
                <a:spcPct val="50000"/>
              </a:spcBef>
            </a:pPr>
            <a:endParaRPr lang="zh-CN" altLang="en-US" sz="2400"/>
          </a:p>
        </p:txBody>
      </p:sp>
      <p:sp>
        <p:nvSpPr>
          <p:cNvPr id="36871" name="Text Box 11">
            <a:extLst>
              <a:ext uri="{FF2B5EF4-FFF2-40B4-BE49-F238E27FC236}">
                <a16:creationId xmlns:a16="http://schemas.microsoft.com/office/drawing/2014/main" id="{1DBC3F56-A918-477C-A7C0-BFD21819315E}"/>
              </a:ext>
            </a:extLst>
          </p:cNvPr>
          <p:cNvSpPr txBox="1">
            <a:spLocks noChangeArrowheads="1"/>
          </p:cNvSpPr>
          <p:nvPr/>
        </p:nvSpPr>
        <p:spPr bwMode="auto">
          <a:xfrm>
            <a:off x="971550" y="2852738"/>
            <a:ext cx="11541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dirty="0"/>
              <a:t>    pa</a:t>
            </a:r>
          </a:p>
        </p:txBody>
      </p:sp>
      <p:sp>
        <p:nvSpPr>
          <p:cNvPr id="370702" name="Line 14">
            <a:extLst>
              <a:ext uri="{FF2B5EF4-FFF2-40B4-BE49-F238E27FC236}">
                <a16:creationId xmlns:a16="http://schemas.microsoft.com/office/drawing/2014/main" id="{0C7C28B3-3611-48D4-B579-27D3D411D234}"/>
              </a:ext>
            </a:extLst>
          </p:cNvPr>
          <p:cNvSpPr>
            <a:spLocks noChangeShapeType="1"/>
          </p:cNvSpPr>
          <p:nvPr/>
        </p:nvSpPr>
        <p:spPr bwMode="auto">
          <a:xfrm flipV="1">
            <a:off x="1187450" y="3357563"/>
            <a:ext cx="576263" cy="358775"/>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6873" name="Oval 15">
            <a:extLst>
              <a:ext uri="{FF2B5EF4-FFF2-40B4-BE49-F238E27FC236}">
                <a16:creationId xmlns:a16="http://schemas.microsoft.com/office/drawing/2014/main" id="{60BF3F35-5AFB-4E06-A7A3-9E8D6CDA325D}"/>
              </a:ext>
            </a:extLst>
          </p:cNvPr>
          <p:cNvSpPr>
            <a:spLocks noChangeArrowheads="1"/>
          </p:cNvSpPr>
          <p:nvPr/>
        </p:nvSpPr>
        <p:spPr bwMode="auto">
          <a:xfrm>
            <a:off x="2124075" y="2924175"/>
            <a:ext cx="5256213" cy="1152525"/>
          </a:xfrm>
          <a:prstGeom prst="ellipse">
            <a:avLst/>
          </a:prstGeom>
          <a:noFill/>
          <a:ln w="9525">
            <a:solidFill>
              <a:srgbClr val="FF0000"/>
            </a:solidFill>
            <a:prstDash val="dash"/>
            <a:round/>
            <a:headEnd/>
            <a:tailEnd/>
          </a:ln>
          <a:effectLst>
            <a:prstShdw prst="shdw17" dist="17961" dir="135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36874" name="Text Box 16">
            <a:extLst>
              <a:ext uri="{FF2B5EF4-FFF2-40B4-BE49-F238E27FC236}">
                <a16:creationId xmlns:a16="http://schemas.microsoft.com/office/drawing/2014/main" id="{D611392E-944C-4226-9804-8FFEC1CB9508}"/>
              </a:ext>
            </a:extLst>
          </p:cNvPr>
          <p:cNvSpPr txBox="1">
            <a:spLocks noChangeArrowheads="1"/>
          </p:cNvSpPr>
          <p:nvPr/>
        </p:nvSpPr>
        <p:spPr bwMode="auto">
          <a:xfrm>
            <a:off x="6588125" y="2708275"/>
            <a:ext cx="936625"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a:solidFill>
                  <a:srgbClr val="FF0000"/>
                </a:solidFill>
              </a:rPr>
              <a:t>孤立</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5">
            <a:extLst>
              <a:ext uri="{FF2B5EF4-FFF2-40B4-BE49-F238E27FC236}">
                <a16:creationId xmlns:a16="http://schemas.microsoft.com/office/drawing/2014/main" id="{98CB254D-D11C-45CB-86BE-4ABF6892012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8F3B183D-0300-4BCA-8FCC-524BD5A3F3A0}" type="slidenum">
              <a:rPr lang="zh-CN" altLang="en-US" smtClean="0"/>
              <a:pPr/>
              <a:t>31</a:t>
            </a:fld>
            <a:endParaRPr lang="zh-CN" altLang="en-US"/>
          </a:p>
        </p:txBody>
      </p:sp>
      <p:sp>
        <p:nvSpPr>
          <p:cNvPr id="37890" name="Rectangle 2">
            <a:extLst>
              <a:ext uri="{FF2B5EF4-FFF2-40B4-BE49-F238E27FC236}">
                <a16:creationId xmlns:a16="http://schemas.microsoft.com/office/drawing/2014/main" id="{CF07D438-71FD-421E-9229-1CFBD0DB761D}"/>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3 </a:t>
            </a:r>
            <a:r>
              <a:rPr lang="zh-CN" altLang="en-US" b="1"/>
              <a:t>动态数组</a:t>
            </a:r>
          </a:p>
        </p:txBody>
      </p:sp>
      <p:sp>
        <p:nvSpPr>
          <p:cNvPr id="37891" name="Rectangle 3">
            <a:extLst>
              <a:ext uri="{FF2B5EF4-FFF2-40B4-BE49-F238E27FC236}">
                <a16:creationId xmlns:a16="http://schemas.microsoft.com/office/drawing/2014/main" id="{AA305EF3-5EBD-4DFC-B856-8582C9400959}"/>
              </a:ext>
            </a:extLst>
          </p:cNvPr>
          <p:cNvSpPr>
            <a:spLocks noGrp="1" noChangeArrowheads="1"/>
          </p:cNvSpPr>
          <p:nvPr>
            <p:ph idx="1"/>
          </p:nvPr>
        </p:nvSpPr>
        <p:spPr/>
        <p:txBody>
          <a:bodyPr/>
          <a:lstStyle/>
          <a:p>
            <a:pPr algn="just" eaLnBrk="1" hangingPunct="1">
              <a:buFontTx/>
              <a:buNone/>
            </a:pPr>
            <a:r>
              <a:rPr lang="zh-CN" altLang="en-US" b="1" dirty="0"/>
              <a:t>库函数</a:t>
            </a:r>
            <a:r>
              <a:rPr lang="en-US" altLang="zh-CN" b="1" dirty="0"/>
              <a:t>free()</a:t>
            </a:r>
          </a:p>
          <a:p>
            <a:pPr algn="just" eaLnBrk="1" hangingPunct="1">
              <a:buFontTx/>
              <a:buNone/>
            </a:pPr>
            <a:r>
              <a:rPr lang="en-US" altLang="zh-CN" b="1" dirty="0">
                <a:latin typeface="宋体" panose="02010600030101010101" pitchFamily="2" charset="-122"/>
              </a:rPr>
              <a:t>·</a:t>
            </a:r>
            <a:r>
              <a:rPr lang="zh-CN" altLang="en-US" b="1" dirty="0"/>
              <a:t>用法：</a:t>
            </a:r>
            <a:endParaRPr lang="en-US" altLang="zh-CN" b="1" dirty="0"/>
          </a:p>
          <a:p>
            <a:pPr lvl="1" algn="just" eaLnBrk="1" hangingPunct="1">
              <a:buNone/>
            </a:pPr>
            <a:r>
              <a:rPr lang="en-US" altLang="zh-CN" sz="2400" b="1" dirty="0">
                <a:latin typeface="Consolas" panose="020B0609020204030204" pitchFamily="49" charset="0"/>
              </a:rPr>
              <a:t>#include&lt;</a:t>
            </a:r>
            <a:r>
              <a:rPr lang="en-US" altLang="zh-CN" sz="2400" b="1" dirty="0" err="1">
                <a:latin typeface="Consolas" panose="020B0609020204030204" pitchFamily="49" charset="0"/>
              </a:rPr>
              <a:t>stdlib.h</a:t>
            </a:r>
            <a:r>
              <a:rPr lang="en-US" altLang="zh-CN" sz="2400" b="1" dirty="0">
                <a:latin typeface="Consolas" panose="020B0609020204030204" pitchFamily="49" charset="0"/>
              </a:rPr>
              <a:t>&gt;</a:t>
            </a:r>
          </a:p>
          <a:p>
            <a:pPr lvl="1" algn="just" eaLnBrk="1" hangingPunct="1">
              <a:buNone/>
            </a:pPr>
            <a:r>
              <a:rPr lang="en-US" altLang="zh-CN" sz="2400" b="1" dirty="0">
                <a:solidFill>
                  <a:schemeClr val="accent2"/>
                </a:solidFill>
                <a:latin typeface="Consolas" panose="020B0609020204030204" pitchFamily="49" charset="0"/>
              </a:rPr>
              <a:t>void  free(void * </a:t>
            </a:r>
            <a:r>
              <a:rPr lang="en-US" altLang="zh-CN" sz="2400" b="1" dirty="0" err="1">
                <a:solidFill>
                  <a:schemeClr val="accent2"/>
                </a:solidFill>
                <a:latin typeface="Consolas" panose="020B0609020204030204" pitchFamily="49" charset="0"/>
              </a:rPr>
              <a:t>ptr</a:t>
            </a:r>
            <a:r>
              <a:rPr lang="en-US" altLang="zh-CN" sz="2400" b="1" dirty="0">
                <a:solidFill>
                  <a:schemeClr val="accent2"/>
                </a:solidFill>
                <a:latin typeface="Consolas" panose="020B0609020204030204" pitchFamily="49" charset="0"/>
              </a:rPr>
              <a:t>);</a:t>
            </a:r>
          </a:p>
          <a:p>
            <a:pPr algn="just" eaLnBrk="1" hangingPunct="1">
              <a:buFontTx/>
              <a:buNone/>
            </a:pPr>
            <a:r>
              <a:rPr lang="en-US" altLang="zh-CN" b="1" dirty="0">
                <a:latin typeface="宋体" panose="02010600030101010101" pitchFamily="2" charset="-122"/>
              </a:rPr>
              <a:t>·</a:t>
            </a:r>
            <a:r>
              <a:rPr lang="zh-CN" altLang="en-US" b="1" dirty="0"/>
              <a:t>功能：释放由</a:t>
            </a:r>
            <a:r>
              <a:rPr lang="en-US" altLang="zh-CN" b="1" dirty="0" err="1"/>
              <a:t>ptr</a:t>
            </a:r>
            <a:r>
              <a:rPr lang="zh-CN" altLang="en-US" b="1" dirty="0"/>
              <a:t>指向的内存块（</a:t>
            </a:r>
            <a:r>
              <a:rPr lang="en-US" altLang="zh-CN" b="1" dirty="0" err="1"/>
              <a:t>ptr</a:t>
            </a:r>
            <a:r>
              <a:rPr lang="zh-CN" altLang="en-US" b="1" dirty="0"/>
              <a:t>是       	       	      调用</a:t>
            </a:r>
            <a:r>
              <a:rPr lang="en-US" altLang="zh-CN" b="1" dirty="0"/>
              <a:t>malloc() </a:t>
            </a:r>
            <a:r>
              <a:rPr lang="zh-CN" altLang="en-US" b="1" dirty="0"/>
              <a:t>函数的返回值）。</a:t>
            </a:r>
          </a:p>
          <a:p>
            <a:pPr algn="just" eaLnBrk="1" hangingPunct="1">
              <a:buFontTx/>
              <a:buNone/>
            </a:pPr>
            <a:r>
              <a:rPr lang="zh-CN" altLang="en-US" b="1" dirty="0">
                <a:latin typeface="宋体" panose="02010600030101010101" pitchFamily="2" charset="-122"/>
              </a:rPr>
              <a:t>·</a:t>
            </a:r>
            <a:r>
              <a:rPr lang="zh-CN" altLang="en-US" b="1" dirty="0"/>
              <a:t>返回值：无。</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5">
            <a:extLst>
              <a:ext uri="{FF2B5EF4-FFF2-40B4-BE49-F238E27FC236}">
                <a16:creationId xmlns:a16="http://schemas.microsoft.com/office/drawing/2014/main" id="{D53FCF95-CF91-4EBA-A79E-A390C298E89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52CB22F-112A-43F2-A13D-C30F495BE6B7}" type="slidenum">
              <a:rPr lang="zh-CN" altLang="en-US" smtClean="0"/>
              <a:pPr/>
              <a:t>32</a:t>
            </a:fld>
            <a:endParaRPr lang="zh-CN" altLang="en-US"/>
          </a:p>
        </p:txBody>
      </p:sp>
      <p:sp>
        <p:nvSpPr>
          <p:cNvPr id="38914" name="Rectangle 2">
            <a:extLst>
              <a:ext uri="{FF2B5EF4-FFF2-40B4-BE49-F238E27FC236}">
                <a16:creationId xmlns:a16="http://schemas.microsoft.com/office/drawing/2014/main" id="{1B8C445E-E50F-440C-BC33-E457A395D445}"/>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sym typeface="宋体" panose="02010600030101010101" pitchFamily="2" charset="-122"/>
              </a:rPr>
              <a:t>7.</a:t>
            </a:r>
            <a:r>
              <a:rPr lang="en-US" altLang="zh-CN" b="1">
                <a:latin typeface="微软雅黑" panose="020B0503020204020204" pitchFamily="34" charset="-122"/>
                <a:ea typeface="微软雅黑" panose="020B0503020204020204" pitchFamily="34" charset="-122"/>
                <a:sym typeface="宋体" panose="02010600030101010101" pitchFamily="2" charset="-122"/>
              </a:rPr>
              <a:t>3 </a:t>
            </a:r>
            <a:r>
              <a:rPr lang="zh-CN" altLang="en-US" b="1">
                <a:sym typeface="宋体" panose="02010600030101010101" pitchFamily="2" charset="-122"/>
              </a:rPr>
              <a:t>动态数组</a:t>
            </a:r>
            <a:endParaRPr lang="zh-CN" altLang="en-US" b="1"/>
          </a:p>
        </p:txBody>
      </p:sp>
      <p:sp>
        <p:nvSpPr>
          <p:cNvPr id="102403" name="Rectangle 3">
            <a:extLst>
              <a:ext uri="{FF2B5EF4-FFF2-40B4-BE49-F238E27FC236}">
                <a16:creationId xmlns:a16="http://schemas.microsoft.com/office/drawing/2014/main" id="{EC60DE8B-A02F-4765-B724-2EAFC4A9312D}"/>
              </a:ext>
            </a:extLst>
          </p:cNvPr>
          <p:cNvSpPr>
            <a:spLocks noGrp="1"/>
          </p:cNvSpPr>
          <p:nvPr>
            <p:ph idx="1"/>
          </p:nvPr>
        </p:nvSpPr>
        <p:spPr>
          <a:xfrm>
            <a:off x="685800" y="1319213"/>
            <a:ext cx="7772400" cy="5133975"/>
          </a:xfrm>
        </p:spPr>
        <p:txBody>
          <a:bodyPr/>
          <a:lstStyle/>
          <a:p>
            <a:pPr marL="0" indent="0" eaLnBrk="1" hangingPunct="1">
              <a:buFontTx/>
              <a:buNone/>
            </a:pPr>
            <a:r>
              <a:rPr lang="zh-CN" altLang="en-US" sz="2400" b="1" noProof="1">
                <a:sym typeface="+mn-ea"/>
              </a:rPr>
              <a:t>四、释放了内存后，将指针</a:t>
            </a:r>
            <a:r>
              <a:rPr lang="en-US" altLang="zh-CN" sz="2400" b="1" noProof="1">
                <a:sym typeface="+mn-ea"/>
              </a:rPr>
              <a:t>pa</a:t>
            </a:r>
            <a:r>
              <a:rPr lang="zh-CN" altLang="en-US" sz="2400" b="1" noProof="1">
                <a:sym typeface="+mn-ea"/>
              </a:rPr>
              <a:t>赋值为</a:t>
            </a:r>
            <a:r>
              <a:rPr lang="en-US" altLang="zh-CN" sz="2400" b="1" noProof="1">
                <a:sym typeface="+mn-ea"/>
              </a:rPr>
              <a:t>NULL</a:t>
            </a:r>
            <a:r>
              <a:rPr lang="zh-CN" altLang="en-US" sz="2400" b="1" noProof="1">
                <a:sym typeface="+mn-ea"/>
              </a:rPr>
              <a:t>，防止产生</a:t>
            </a:r>
            <a:r>
              <a:rPr lang="zh-CN" altLang="en-US" sz="2400" b="1" noProof="1">
                <a:latin typeface="宋体" panose="02010600030101010101" pitchFamily="2" charset="-122"/>
                <a:sym typeface="+mn-ea"/>
              </a:rPr>
              <a:t>"</a:t>
            </a:r>
            <a:r>
              <a:rPr lang="zh-CN" altLang="en-US" sz="2400" b="1" noProof="1">
                <a:sym typeface="+mn-ea"/>
              </a:rPr>
              <a:t>野指针</a:t>
            </a:r>
            <a:r>
              <a:rPr lang="zh-CN" altLang="en-US" sz="2400" b="1" noProof="1">
                <a:latin typeface="宋体" panose="02010600030101010101" pitchFamily="2" charset="-122"/>
                <a:sym typeface="+mn-ea"/>
              </a:rPr>
              <a:t>"。</a:t>
            </a:r>
            <a:endParaRPr lang="zh-CN" altLang="en-US" sz="2400" b="1" noProof="1"/>
          </a:p>
          <a:p>
            <a:pPr eaLnBrk="1" hangingPunct="1"/>
            <a:r>
              <a:rPr lang="zh-CN" altLang="en-US" sz="2400" b="1" noProof="1"/>
              <a:t>当你释放了内存区域，堆管理器重新收回这些区域，但你的指针仍然指向堆区域，但你无权再使用指针指向的这些区域。</a:t>
            </a:r>
          </a:p>
          <a:p>
            <a:pPr eaLnBrk="1" hangingPunct="1"/>
            <a:endParaRPr lang="zh-CN" altLang="en-US" sz="2400" b="1" noProof="1"/>
          </a:p>
          <a:p>
            <a:pPr eaLnBrk="1" hangingPunct="1"/>
            <a:endParaRPr lang="zh-CN" altLang="en-US" sz="2400" b="1" noProof="1"/>
          </a:p>
          <a:p>
            <a:pPr eaLnBrk="1" hangingPunct="1"/>
            <a:endParaRPr lang="zh-CN" altLang="en-US" sz="2400" b="1" noProof="1"/>
          </a:p>
          <a:p>
            <a:pPr eaLnBrk="1" hangingPunct="1">
              <a:buFontTx/>
              <a:buNone/>
            </a:pPr>
            <a:r>
              <a:rPr lang="en-US" altLang="zh-CN" sz="2400" b="1" noProof="1">
                <a:latin typeface="Consolas" panose="020B0609020204030204" pitchFamily="49" charset="0"/>
              </a:rPr>
              <a:t>       free(pa);</a:t>
            </a:r>
          </a:p>
          <a:p>
            <a:pPr eaLnBrk="1" hangingPunct="1">
              <a:buFontTx/>
              <a:buNone/>
            </a:pPr>
            <a:r>
              <a:rPr lang="en-US" altLang="zh-CN" sz="2400" b="1" noProof="1">
                <a:solidFill>
                  <a:srgbClr val="0000FF"/>
                </a:solidFill>
                <a:latin typeface="Consolas" panose="020B0609020204030204" pitchFamily="49" charset="0"/>
              </a:rPr>
              <a:t>       pa=NULL</a:t>
            </a:r>
            <a:r>
              <a:rPr lang="zh-CN" altLang="en-US" sz="2400" b="1" noProof="1">
                <a:solidFill>
                  <a:srgbClr val="0000FF"/>
                </a:solidFill>
                <a:latin typeface="Consolas" panose="020B0609020204030204" pitchFamily="49" charset="0"/>
              </a:rPr>
              <a:t>；</a:t>
            </a:r>
          </a:p>
        </p:txBody>
      </p:sp>
      <p:grpSp>
        <p:nvGrpSpPr>
          <p:cNvPr id="38916" name="Group 4">
            <a:extLst>
              <a:ext uri="{FF2B5EF4-FFF2-40B4-BE49-F238E27FC236}">
                <a16:creationId xmlns:a16="http://schemas.microsoft.com/office/drawing/2014/main" id="{3FFCF549-C1FD-4BC7-8F1A-2AC975069067}"/>
              </a:ext>
            </a:extLst>
          </p:cNvPr>
          <p:cNvGrpSpPr>
            <a:grpSpLocks/>
          </p:cNvGrpSpPr>
          <p:nvPr/>
        </p:nvGrpSpPr>
        <p:grpSpPr bwMode="auto">
          <a:xfrm>
            <a:off x="971550" y="3209925"/>
            <a:ext cx="7489825" cy="1406525"/>
            <a:chOff x="702" y="1682"/>
            <a:chExt cx="4718" cy="886"/>
          </a:xfrm>
        </p:grpSpPr>
        <p:grpSp>
          <p:nvGrpSpPr>
            <p:cNvPr id="38917" name="Group 5">
              <a:extLst>
                <a:ext uri="{FF2B5EF4-FFF2-40B4-BE49-F238E27FC236}">
                  <a16:creationId xmlns:a16="http://schemas.microsoft.com/office/drawing/2014/main" id="{91794381-830D-429D-9F3F-3C95A9A4E308}"/>
                </a:ext>
              </a:extLst>
            </p:cNvPr>
            <p:cNvGrpSpPr>
              <a:grpSpLocks/>
            </p:cNvGrpSpPr>
            <p:nvPr/>
          </p:nvGrpSpPr>
          <p:grpSpPr bwMode="auto">
            <a:xfrm>
              <a:off x="702" y="1682"/>
              <a:ext cx="4718" cy="886"/>
              <a:chOff x="702" y="1116"/>
              <a:chExt cx="4718" cy="886"/>
            </a:xfrm>
          </p:grpSpPr>
          <p:pic>
            <p:nvPicPr>
              <p:cNvPr id="38918" name="Picture 6">
                <a:extLst>
                  <a:ext uri="{FF2B5EF4-FFF2-40B4-BE49-F238E27FC236}">
                    <a16:creationId xmlns:a16="http://schemas.microsoft.com/office/drawing/2014/main" id="{E416DA8B-9979-4E24-BDE7-ECE92BA5E0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 y="1389"/>
                <a:ext cx="308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 Box 7">
                <a:extLst>
                  <a:ext uri="{FF2B5EF4-FFF2-40B4-BE49-F238E27FC236}">
                    <a16:creationId xmlns:a16="http://schemas.microsoft.com/office/drawing/2014/main" id="{90D56723-2BC4-4FA4-9314-DB1C001D1580}"/>
                  </a:ext>
                </a:extLst>
              </p:cNvPr>
              <p:cNvSpPr txBox="1">
                <a:spLocks noChangeArrowheads="1"/>
              </p:cNvSpPr>
              <p:nvPr/>
            </p:nvSpPr>
            <p:spPr bwMode="auto">
              <a:xfrm>
                <a:off x="4513" y="1389"/>
                <a:ext cx="907" cy="2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a:t>整型数组</a:t>
                </a:r>
              </a:p>
            </p:txBody>
          </p:sp>
          <p:sp>
            <p:nvSpPr>
              <p:cNvPr id="371720" name="Text Box 8">
                <a:extLst>
                  <a:ext uri="{FF2B5EF4-FFF2-40B4-BE49-F238E27FC236}">
                    <a16:creationId xmlns:a16="http://schemas.microsoft.com/office/drawing/2014/main" id="{44B1AA10-65E8-4B4D-8638-6C56401C5911}"/>
                  </a:ext>
                </a:extLst>
              </p:cNvPr>
              <p:cNvSpPr txBox="1">
                <a:spLocks noChangeArrowheads="1"/>
              </p:cNvSpPr>
              <p:nvPr/>
            </p:nvSpPr>
            <p:spPr bwMode="auto">
              <a:xfrm>
                <a:off x="1520" y="1752"/>
                <a:ext cx="272" cy="250"/>
              </a:xfrm>
              <a:prstGeom prst="rect">
                <a:avLst/>
              </a:prstGeom>
              <a:noFill/>
              <a:ln w="9525">
                <a:noFill/>
                <a:miter lim="800000"/>
              </a:ln>
              <a:effectLst>
                <a:prstShdw prst="shdw18" dist="17961" dir="13500000">
                  <a:schemeClr val="bg1">
                    <a:gamma/>
                    <a:shade val="60000"/>
                    <a:invGamma/>
                  </a:schemeClr>
                </a:prstShdw>
              </a:effectLst>
            </p:spPr>
            <p:txBody>
              <a:bodyPr>
                <a:spAutoFit/>
              </a:bodyPr>
              <a:lstStyle>
                <a:lvl1pPr eaLnBrk="0" hangingPunct="0">
                  <a:defRPr kumimoj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en-US" altLang="zh-CN" sz="2000" b="1">
                    <a:sym typeface="+mn-ea"/>
                  </a:rPr>
                  <a:t>0</a:t>
                </a:r>
              </a:p>
            </p:txBody>
          </p:sp>
          <p:sp>
            <p:nvSpPr>
              <p:cNvPr id="38921" name="Text Box 9">
                <a:extLst>
                  <a:ext uri="{FF2B5EF4-FFF2-40B4-BE49-F238E27FC236}">
                    <a16:creationId xmlns:a16="http://schemas.microsoft.com/office/drawing/2014/main" id="{FFD55024-80E6-4C97-B7C6-2D0B3599B2FC}"/>
                  </a:ext>
                </a:extLst>
              </p:cNvPr>
              <p:cNvSpPr txBox="1">
                <a:spLocks noChangeArrowheads="1"/>
              </p:cNvSpPr>
              <p:nvPr/>
            </p:nvSpPr>
            <p:spPr bwMode="auto">
              <a:xfrm>
                <a:off x="4150" y="1752"/>
                <a:ext cx="454"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n</a:t>
                </a:r>
                <a:r>
                  <a:rPr lang="zh-CN" altLang="en-US" sz="2000" b="1"/>
                  <a:t>－</a:t>
                </a:r>
                <a:r>
                  <a:rPr lang="en-US" altLang="zh-CN" sz="2000" b="1"/>
                  <a:t>1</a:t>
                </a:r>
              </a:p>
            </p:txBody>
          </p:sp>
          <p:sp>
            <p:nvSpPr>
              <p:cNvPr id="38922" name="Text Box 10">
                <a:extLst>
                  <a:ext uri="{FF2B5EF4-FFF2-40B4-BE49-F238E27FC236}">
                    <a16:creationId xmlns:a16="http://schemas.microsoft.com/office/drawing/2014/main" id="{4B0325CD-8132-4EB9-8D3B-3ED15AB3D53D}"/>
                  </a:ext>
                </a:extLst>
              </p:cNvPr>
              <p:cNvSpPr txBox="1">
                <a:spLocks noChangeArrowheads="1"/>
              </p:cNvSpPr>
              <p:nvPr/>
            </p:nvSpPr>
            <p:spPr bwMode="auto">
              <a:xfrm>
                <a:off x="837" y="1404"/>
                <a:ext cx="384" cy="294"/>
              </a:xfrm>
              <a:prstGeom prst="rect">
                <a:avLst/>
              </a:prstGeom>
              <a:solidFill>
                <a:srgbClr val="CCFFCC"/>
              </a:solidFill>
              <a:ln w="9525">
                <a:solidFill>
                  <a:schemeClr val="tx1"/>
                </a:solidFill>
                <a:miter lim="800000"/>
                <a:headEnd/>
                <a:tailEnd/>
              </a:ln>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spcBef>
                    <a:spcPct val="50000"/>
                  </a:spcBef>
                </a:pPr>
                <a:endParaRPr lang="zh-CN" altLang="en-US" sz="2400"/>
              </a:p>
            </p:txBody>
          </p:sp>
          <p:sp>
            <p:nvSpPr>
              <p:cNvPr id="38923" name="Text Box 11">
                <a:extLst>
                  <a:ext uri="{FF2B5EF4-FFF2-40B4-BE49-F238E27FC236}">
                    <a16:creationId xmlns:a16="http://schemas.microsoft.com/office/drawing/2014/main" id="{A2BAC3F4-0DCC-4CE7-8995-DADB7087D6CF}"/>
                  </a:ext>
                </a:extLst>
              </p:cNvPr>
              <p:cNvSpPr txBox="1">
                <a:spLocks noChangeArrowheads="1"/>
              </p:cNvSpPr>
              <p:nvPr/>
            </p:nvSpPr>
            <p:spPr bwMode="auto">
              <a:xfrm>
                <a:off x="702" y="1116"/>
                <a:ext cx="72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400" dirty="0"/>
                  <a:t>    pa</a:t>
                </a:r>
              </a:p>
            </p:txBody>
          </p:sp>
          <p:sp>
            <p:nvSpPr>
              <p:cNvPr id="371724" name="Line 12">
                <a:extLst>
                  <a:ext uri="{FF2B5EF4-FFF2-40B4-BE49-F238E27FC236}">
                    <a16:creationId xmlns:a16="http://schemas.microsoft.com/office/drawing/2014/main" id="{8ECAA5A4-135E-455C-911F-5BFD46F95C67}"/>
                  </a:ext>
                </a:extLst>
              </p:cNvPr>
              <p:cNvSpPr>
                <a:spLocks noChangeShapeType="1"/>
              </p:cNvSpPr>
              <p:nvPr/>
            </p:nvSpPr>
            <p:spPr bwMode="auto">
              <a:xfrm>
                <a:off x="1066" y="1570"/>
                <a:ext cx="363"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grpSp>
        <p:sp>
          <p:nvSpPr>
            <p:cNvPr id="38925" name="Oval 13">
              <a:extLst>
                <a:ext uri="{FF2B5EF4-FFF2-40B4-BE49-F238E27FC236}">
                  <a16:creationId xmlns:a16="http://schemas.microsoft.com/office/drawing/2014/main" id="{BA9DC63C-6071-4138-8433-9A51493E368C}"/>
                </a:ext>
              </a:extLst>
            </p:cNvPr>
            <p:cNvSpPr>
              <a:spLocks noChangeArrowheads="1"/>
            </p:cNvSpPr>
            <p:nvPr/>
          </p:nvSpPr>
          <p:spPr bwMode="auto">
            <a:xfrm>
              <a:off x="1016" y="2112"/>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zh-CN" altLang="en-US" b="1"/>
            </a:p>
          </p:txBody>
        </p:sp>
      </p:grpSp>
      <p:sp>
        <p:nvSpPr>
          <p:cNvPr id="371726" name="Oval 14">
            <a:extLst>
              <a:ext uri="{FF2B5EF4-FFF2-40B4-BE49-F238E27FC236}">
                <a16:creationId xmlns:a16="http://schemas.microsoft.com/office/drawing/2014/main" id="{43A72DDB-7989-4EE9-BEBD-E52236C2DF19}"/>
              </a:ext>
            </a:extLst>
          </p:cNvPr>
          <p:cNvSpPr>
            <a:spLocks noChangeArrowheads="1"/>
          </p:cNvSpPr>
          <p:nvPr/>
        </p:nvSpPr>
        <p:spPr bwMode="auto">
          <a:xfrm>
            <a:off x="1944688" y="3295650"/>
            <a:ext cx="5256212" cy="1152525"/>
          </a:xfrm>
          <a:prstGeom prst="ellipse">
            <a:avLst/>
          </a:prstGeom>
          <a:noFill/>
          <a:ln w="9525">
            <a:solidFill>
              <a:schemeClr val="accent2"/>
            </a:solidFill>
            <a:prstDash val="dash"/>
            <a:round/>
          </a:ln>
          <a:effectLst>
            <a:prstShdw prst="shdw18" dist="17961" dir="13500000">
              <a:schemeClr val="accent2">
                <a:gamma/>
                <a:shade val="60000"/>
                <a:invGamma/>
              </a:schemeClr>
            </a:prstShdw>
          </a:effectLst>
        </p:spPr>
        <p:txBody>
          <a:bodyPr wrap="none" anchor="ctr"/>
          <a:lstStyle/>
          <a:p>
            <a:pPr>
              <a:buFontTx/>
              <a:buNone/>
              <a:defRPr/>
            </a:pPr>
            <a:endParaRPr kumimoji="1" lang="zh-CN" altLang="en-US"/>
          </a:p>
        </p:txBody>
      </p:sp>
      <p:sp>
        <p:nvSpPr>
          <p:cNvPr id="38927" name="Text Box 15">
            <a:extLst>
              <a:ext uri="{FF2B5EF4-FFF2-40B4-BE49-F238E27FC236}">
                <a16:creationId xmlns:a16="http://schemas.microsoft.com/office/drawing/2014/main" id="{81B76F26-A3A8-4727-A6BA-4BDB1B0CF7D0}"/>
              </a:ext>
            </a:extLst>
          </p:cNvPr>
          <p:cNvSpPr txBox="1">
            <a:spLocks noChangeArrowheads="1"/>
          </p:cNvSpPr>
          <p:nvPr/>
        </p:nvSpPr>
        <p:spPr bwMode="auto">
          <a:xfrm>
            <a:off x="6692900" y="3013075"/>
            <a:ext cx="1368425"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dirty="0">
                <a:solidFill>
                  <a:schemeClr val="accent2"/>
                </a:solidFill>
              </a:rPr>
              <a:t>释放了</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a:extLst>
              <a:ext uri="{FF2B5EF4-FFF2-40B4-BE49-F238E27FC236}">
                <a16:creationId xmlns:a16="http://schemas.microsoft.com/office/drawing/2014/main" id="{AE9702A5-A27F-4FBB-8B46-B243FFA064A8}"/>
              </a:ext>
            </a:extLst>
          </p:cNvPr>
          <p:cNvSpPr>
            <a:spLocks noGrp="1" noChangeArrowheads="1"/>
          </p:cNvSpPr>
          <p:nvPr>
            <p:ph type="title"/>
          </p:nvPr>
        </p:nvSpPr>
        <p:spPr/>
        <p:txBody>
          <a:bodyPr/>
          <a:lstStyle/>
          <a:p>
            <a:r>
              <a:rPr lang="zh-CN" altLang="en-US"/>
              <a:t>realloc函数</a:t>
            </a:r>
          </a:p>
        </p:txBody>
      </p:sp>
      <p:sp>
        <p:nvSpPr>
          <p:cNvPr id="39938" name="内容占位符 2">
            <a:extLst>
              <a:ext uri="{FF2B5EF4-FFF2-40B4-BE49-F238E27FC236}">
                <a16:creationId xmlns:a16="http://schemas.microsoft.com/office/drawing/2014/main" id="{8672CC5E-6530-4937-B912-8EC75CD38554}"/>
              </a:ext>
            </a:extLst>
          </p:cNvPr>
          <p:cNvSpPr>
            <a:spLocks noGrp="1" noChangeArrowheads="1"/>
          </p:cNvSpPr>
          <p:nvPr>
            <p:ph idx="1"/>
          </p:nvPr>
        </p:nvSpPr>
        <p:spPr>
          <a:xfrm>
            <a:off x="336550" y="1340768"/>
            <a:ext cx="8470900" cy="4611687"/>
          </a:xfrm>
        </p:spPr>
        <p:txBody>
          <a:bodyPr/>
          <a:lstStyle/>
          <a:p>
            <a:pPr marL="0" indent="0">
              <a:buFontTx/>
              <a:buNone/>
            </a:pPr>
            <a:r>
              <a:rPr lang="zh-CN" altLang="en-US" sz="2400" b="1" dirty="0">
                <a:latin typeface="Consolas" panose="020B0609020204030204" pitchFamily="49" charset="0"/>
              </a:rPr>
              <a:t>void *realloc(void *ptr, unsigned int size)</a:t>
            </a:r>
            <a:r>
              <a:rPr lang="en-US" altLang="zh-CN" sz="2400" b="1" dirty="0">
                <a:latin typeface="Consolas" panose="020B0609020204030204" pitchFamily="49" charset="0"/>
              </a:rPr>
              <a:t>;</a:t>
            </a:r>
          </a:p>
          <a:p>
            <a:pPr marL="0" indent="0">
              <a:buFontTx/>
              <a:buNone/>
            </a:pPr>
            <a:r>
              <a:rPr lang="zh-CN" altLang="en-US" b="1" dirty="0"/>
              <a:t>功能：重新定义所开辟内存空间的大小。其中ptr所指的内存空间是用内存分配函数已开辟的，size为新的空间大小，其值可比原来大或小。函数返回新存储区的起始地址（该地址可能与以前的地址不同）。</a:t>
            </a:r>
          </a:p>
          <a:p>
            <a:pPr marL="0" indent="0">
              <a:buFontTx/>
              <a:buNone/>
            </a:pPr>
            <a:r>
              <a:rPr lang="zh-CN" altLang="en-US" b="1" dirty="0"/>
              <a:t>例如</a:t>
            </a:r>
            <a:r>
              <a:rPr lang="en-US" altLang="zh-CN" b="1" dirty="0"/>
              <a:t>:</a:t>
            </a:r>
          </a:p>
          <a:p>
            <a:pPr marL="0" indent="0">
              <a:buFontTx/>
              <a:buNone/>
            </a:pPr>
            <a:r>
              <a:rPr lang="en-US" altLang="zh-CN" sz="2400" b="1" dirty="0">
                <a:solidFill>
                  <a:srgbClr val="FF0000"/>
                </a:solidFill>
                <a:latin typeface="Consolas" panose="020B0609020204030204" pitchFamily="49" charset="0"/>
              </a:rPr>
              <a:t>float * </a:t>
            </a:r>
            <a:r>
              <a:rPr lang="zh-CN" altLang="en-US" sz="2400" b="1" dirty="0">
                <a:solidFill>
                  <a:srgbClr val="FF0000"/>
                </a:solidFill>
                <a:latin typeface="Consolas" panose="020B0609020204030204" pitchFamily="49" charset="0"/>
              </a:rPr>
              <a:t>p</a:t>
            </a:r>
            <a:r>
              <a:rPr lang="en-US" altLang="zh-CN" sz="2400" b="1" dirty="0">
                <a:solidFill>
                  <a:srgbClr val="FF0000"/>
                </a:solidFill>
                <a:latin typeface="Consolas" panose="020B0609020204030204" pitchFamily="49" charset="0"/>
              </a:rPr>
              <a:t>fa</a:t>
            </a:r>
            <a:r>
              <a:rPr lang="zh-CN" altLang="en-US" sz="2400" b="1" dirty="0">
                <a:solidFill>
                  <a:srgbClr val="FF0000"/>
                </a:solidFill>
                <a:latin typeface="Consolas" panose="020B0609020204030204" pitchFamily="49" charset="0"/>
              </a:rPr>
              <a:t>=(float *)</a:t>
            </a:r>
            <a:r>
              <a:rPr lang="en-US" altLang="zh-CN" sz="2400" b="1" dirty="0">
                <a:solidFill>
                  <a:srgbClr val="FF0000"/>
                </a:solidFill>
                <a:latin typeface="Consolas" panose="020B0609020204030204" pitchFamily="49" charset="0"/>
              </a:rPr>
              <a:t>mall</a:t>
            </a:r>
            <a:r>
              <a:rPr lang="zh-CN" altLang="en-US" sz="2400" b="1" dirty="0">
                <a:solidFill>
                  <a:srgbClr val="FF0000"/>
                </a:solidFill>
                <a:latin typeface="Consolas" panose="020B0609020204030204" pitchFamily="49" charset="0"/>
              </a:rPr>
              <a:t>oc(</a:t>
            </a:r>
            <a:r>
              <a:rPr lang="en-US" altLang="zh-CN" sz="2400" b="1" dirty="0">
                <a:solidFill>
                  <a:srgbClr val="FF0000"/>
                </a:solidFill>
                <a:latin typeface="Consolas" panose="020B0609020204030204" pitchFamily="49" charset="0"/>
              </a:rPr>
              <a:t>10*</a:t>
            </a:r>
            <a:r>
              <a:rPr lang="en-US" altLang="zh-CN" sz="2400" b="1" dirty="0" err="1">
                <a:solidFill>
                  <a:srgbClr val="FF0000"/>
                </a:solidFill>
                <a:latin typeface="Consolas" panose="020B0609020204030204" pitchFamily="49" charset="0"/>
              </a:rPr>
              <a:t>sizeof</a:t>
            </a:r>
            <a:r>
              <a:rPr lang="en-US" altLang="zh-CN" sz="2400" b="1" dirty="0">
                <a:solidFill>
                  <a:srgbClr val="FF0000"/>
                </a:solidFill>
                <a:latin typeface="Consolas" panose="020B0609020204030204" pitchFamily="49" charset="0"/>
              </a:rPr>
              <a:t>(float))</a:t>
            </a:r>
            <a:r>
              <a:rPr lang="zh-CN" altLang="en-US" sz="2400" b="1" dirty="0">
                <a:solidFill>
                  <a:srgbClr val="FF0000"/>
                </a:solidFill>
                <a:latin typeface="Consolas" panose="020B0609020204030204" pitchFamily="49" charset="0"/>
              </a:rPr>
              <a:t>;</a:t>
            </a:r>
          </a:p>
          <a:p>
            <a:pPr marL="0" indent="0">
              <a:buFontTx/>
              <a:buNone/>
            </a:pPr>
            <a:r>
              <a:rPr lang="zh-CN" altLang="en-US" sz="2400" b="1" dirty="0">
                <a:solidFill>
                  <a:srgbClr val="FF0000"/>
                </a:solidFill>
                <a:latin typeface="Consolas" panose="020B0609020204030204" pitchFamily="49" charset="0"/>
              </a:rPr>
              <a:t>p</a:t>
            </a:r>
            <a:r>
              <a:rPr lang="en-US" altLang="zh-CN" sz="2400" b="1" dirty="0">
                <a:solidFill>
                  <a:srgbClr val="FF0000"/>
                </a:solidFill>
                <a:latin typeface="Consolas" panose="020B0609020204030204" pitchFamily="49" charset="0"/>
              </a:rPr>
              <a:t>fa</a:t>
            </a:r>
            <a:r>
              <a:rPr lang="zh-CN" altLang="en-US" sz="2400" b="1" dirty="0">
                <a:solidFill>
                  <a:srgbClr val="FF0000"/>
                </a:solidFill>
                <a:latin typeface="Consolas" panose="020B0609020204030204" pitchFamily="49" charset="0"/>
              </a:rPr>
              <a:t>=(float *)realloc(p1,16</a:t>
            </a:r>
            <a:r>
              <a:rPr lang="en-US" altLang="zh-CN" sz="2400" b="1" dirty="0">
                <a:solidFill>
                  <a:srgbClr val="FF0000"/>
                </a:solidFill>
                <a:latin typeface="Consolas" panose="020B0609020204030204" pitchFamily="49" charset="0"/>
                <a:sym typeface="宋体" panose="02010600030101010101" pitchFamily="2" charset="-122"/>
              </a:rPr>
              <a:t>*</a:t>
            </a:r>
            <a:r>
              <a:rPr lang="en-US" altLang="zh-CN" sz="2400" b="1" dirty="0" err="1">
                <a:solidFill>
                  <a:srgbClr val="FF0000"/>
                </a:solidFill>
                <a:latin typeface="Consolas" panose="020B0609020204030204" pitchFamily="49" charset="0"/>
                <a:sym typeface="宋体" panose="02010600030101010101" pitchFamily="2" charset="-122"/>
              </a:rPr>
              <a:t>sizeof</a:t>
            </a:r>
            <a:r>
              <a:rPr lang="en-US" altLang="zh-CN" sz="2400" b="1" dirty="0">
                <a:solidFill>
                  <a:srgbClr val="FF0000"/>
                </a:solidFill>
                <a:latin typeface="Consolas" panose="020B0609020204030204" pitchFamily="49" charset="0"/>
                <a:sym typeface="宋体" panose="02010600030101010101" pitchFamily="2" charset="-122"/>
              </a:rPr>
              <a:t>(float)</a:t>
            </a:r>
            <a:r>
              <a:rPr lang="zh-CN" altLang="en-US" sz="2400" b="1" dirty="0">
                <a:solidFill>
                  <a:srgbClr val="FF0000"/>
                </a:solidFill>
                <a:latin typeface="Consolas" panose="020B0609020204030204" pitchFamily="49" charset="0"/>
              </a:rPr>
              <a:t>);</a:t>
            </a:r>
          </a:p>
          <a:p>
            <a:pPr marL="0" indent="0">
              <a:buFontTx/>
              <a:buNone/>
            </a:pPr>
            <a:r>
              <a:rPr lang="zh-CN" altLang="en-US" b="1" dirty="0"/>
              <a:t>将原先开辟的</a:t>
            </a:r>
            <a:r>
              <a:rPr lang="en-US" altLang="zh-CN" b="1" dirty="0"/>
              <a:t>10</a:t>
            </a:r>
            <a:r>
              <a:rPr lang="zh-CN" altLang="en-US" b="1" dirty="0"/>
              <a:t>个小数空间调整为16个小数空间。</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5">
            <a:extLst>
              <a:ext uri="{FF2B5EF4-FFF2-40B4-BE49-F238E27FC236}">
                <a16:creationId xmlns:a16="http://schemas.microsoft.com/office/drawing/2014/main" id="{70AA1E08-7D19-4AA7-B3A6-0EBBF011D78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ACE337F1-2CAC-4A97-A007-D9C27F989E76}" type="slidenum">
              <a:rPr lang="zh-CN" altLang="en-US" smtClean="0"/>
              <a:pPr/>
              <a:t>34</a:t>
            </a:fld>
            <a:endParaRPr lang="zh-CN" altLang="en-US"/>
          </a:p>
        </p:txBody>
      </p:sp>
      <p:sp>
        <p:nvSpPr>
          <p:cNvPr id="40962" name="Rectangle 4">
            <a:extLst>
              <a:ext uri="{FF2B5EF4-FFF2-40B4-BE49-F238E27FC236}">
                <a16:creationId xmlns:a16="http://schemas.microsoft.com/office/drawing/2014/main" id="{90D6651E-7E81-488F-BECA-B6CEAF7CE6CC}"/>
              </a:ext>
            </a:extLst>
          </p:cNvPr>
          <p:cNvSpPr>
            <a:spLocks noGrp="1" noChangeArrowheads="1"/>
          </p:cNvSpPr>
          <p:nvPr>
            <p:ph idx="1"/>
          </p:nvPr>
        </p:nvSpPr>
        <p:spPr>
          <a:xfrm>
            <a:off x="295275" y="1125538"/>
            <a:ext cx="8645525" cy="5562600"/>
          </a:xfrm>
        </p:spPr>
        <p:txBody>
          <a:bodyPr/>
          <a:lstStyle/>
          <a:p>
            <a:pPr marL="0" indent="0" algn="just" eaLnBrk="1" hangingPunct="1">
              <a:buFontTx/>
              <a:buNone/>
            </a:pPr>
            <a:r>
              <a:rPr lang="en-US" altLang="zh-CN" sz="2400" dirty="0">
                <a:latin typeface="Consolas" panose="020B0609020204030204" pitchFamily="49" charset="0"/>
              </a:rPr>
              <a:t>#include&lt;</a:t>
            </a:r>
            <a:r>
              <a:rPr lang="en-US" altLang="zh-CN" sz="2400" dirty="0" err="1">
                <a:latin typeface="Consolas" panose="020B0609020204030204" pitchFamily="49" charset="0"/>
              </a:rPr>
              <a:t>stdlib.h</a:t>
            </a:r>
            <a:r>
              <a:rPr lang="en-US" altLang="zh-CN" sz="2400" dirty="0">
                <a:latin typeface="Consolas" panose="020B0609020204030204" pitchFamily="49" charset="0"/>
              </a:rPr>
              <a:t>&gt; </a:t>
            </a:r>
          </a:p>
          <a:p>
            <a:pPr marL="0" indent="0" algn="just" eaLnBrk="1" hangingPunct="1">
              <a:buFontTx/>
              <a:buNone/>
            </a:pPr>
            <a:r>
              <a:rPr lang="en-US" altLang="zh-CN" sz="2400" dirty="0">
                <a:latin typeface="Consolas" panose="020B0609020204030204" pitchFamily="49" charset="0"/>
              </a:rPr>
              <a:t>#include&lt;</a:t>
            </a:r>
            <a:r>
              <a:rPr lang="en-US" altLang="zh-CN" sz="2400" dirty="0" err="1">
                <a:latin typeface="Consolas" panose="020B0609020204030204" pitchFamily="49" charset="0"/>
              </a:rPr>
              <a:t>stdio.h</a:t>
            </a:r>
            <a:r>
              <a:rPr lang="en-US" altLang="zh-CN" sz="2400" dirty="0">
                <a:latin typeface="Consolas" panose="020B0609020204030204" pitchFamily="49" charset="0"/>
              </a:rPr>
              <a:t>&gt; </a:t>
            </a:r>
          </a:p>
          <a:p>
            <a:pPr marL="0" indent="0" algn="just" eaLnBrk="1" hangingPunct="1">
              <a:buFontTx/>
              <a:buNone/>
            </a:pPr>
            <a:r>
              <a:rPr lang="en-US" altLang="zh-CN" sz="2400" dirty="0">
                <a:latin typeface="Consolas" panose="020B0609020204030204" pitchFamily="49" charset="0"/>
              </a:rPr>
              <a:t>#define SIZE 10 </a:t>
            </a:r>
          </a:p>
          <a:p>
            <a:pPr marL="0" indent="0">
              <a:lnSpc>
                <a:spcPct val="90000"/>
              </a:lnSpc>
              <a:buNone/>
            </a:pPr>
            <a:r>
              <a:rPr lang="en-US" altLang="zh-CN" sz="2400" dirty="0">
                <a:latin typeface="Consolas" panose="020B0609020204030204" pitchFamily="49" charset="0"/>
              </a:rPr>
              <a:t>void </a:t>
            </a:r>
            <a:r>
              <a:rPr lang="en-US" altLang="zh-CN" sz="2400" dirty="0" err="1">
                <a:latin typeface="Consolas" panose="020B0609020204030204" pitchFamily="49" charset="0"/>
              </a:rPr>
              <a:t>outArray2</a:t>
            </a:r>
            <a:r>
              <a:rPr lang="en-US" altLang="zh-CN" sz="2400" dirty="0">
                <a:latin typeface="Consolas" panose="020B0609020204030204" pitchFamily="49" charset="0"/>
              </a:rPr>
              <a:t>(int *,int);</a:t>
            </a:r>
          </a:p>
          <a:p>
            <a:pPr marL="0" indent="0">
              <a:lnSpc>
                <a:spcPct val="90000"/>
              </a:lnSpc>
              <a:buNone/>
            </a:pPr>
            <a:r>
              <a:rPr lang="en-US" altLang="zh-CN" sz="2400" dirty="0">
                <a:latin typeface="Consolas" panose="020B0609020204030204" pitchFamily="49" charset="0"/>
              </a:rPr>
              <a:t>int* </a:t>
            </a:r>
            <a:r>
              <a:rPr lang="en-US" altLang="zh-CN" sz="2400" dirty="0" err="1">
                <a:latin typeface="Consolas" panose="020B0609020204030204" pitchFamily="49" charset="0"/>
              </a:rPr>
              <a:t>allocStrFromHeap</a:t>
            </a:r>
            <a:r>
              <a:rPr lang="en-US" altLang="zh-CN" sz="2400" dirty="0">
                <a:latin typeface="Consolas" panose="020B0609020204030204" pitchFamily="49" charset="0"/>
              </a:rPr>
              <a:t>(int);</a:t>
            </a:r>
          </a:p>
          <a:p>
            <a:pPr marL="0" indent="0" algn="just" eaLnBrk="1" hangingPunct="1">
              <a:buFontTx/>
              <a:buNone/>
            </a:pPr>
            <a:r>
              <a:rPr lang="en-US" altLang="zh-CN" sz="2400" dirty="0">
                <a:latin typeface="Consolas" panose="020B0609020204030204" pitchFamily="49" charset="0"/>
              </a:rPr>
              <a:t>int main(){</a:t>
            </a:r>
          </a:p>
          <a:p>
            <a:pPr marL="0" indent="0" algn="just" eaLnBrk="1" hangingPunct="1">
              <a:buFontTx/>
              <a:buNone/>
            </a:pPr>
            <a:r>
              <a:rPr lang="en-US" altLang="zh-CN" sz="2400" dirty="0">
                <a:latin typeface="Consolas" panose="020B0609020204030204" pitchFamily="49" charset="0"/>
              </a:rPr>
              <a:t>    int * </a:t>
            </a:r>
            <a:r>
              <a:rPr lang="en-US" altLang="zh-CN" sz="2400" dirty="0" err="1">
                <a:latin typeface="Consolas" panose="020B0609020204030204" pitchFamily="49" charset="0"/>
              </a:rPr>
              <a:t>pa,buf</a:t>
            </a:r>
            <a:r>
              <a:rPr lang="en-US" altLang="zh-CN" sz="2400" dirty="0">
                <a:latin typeface="Consolas" panose="020B0609020204030204" pitchFamily="49" charset="0"/>
              </a:rPr>
              <a:t>[SIZE],</a:t>
            </a:r>
            <a:r>
              <a:rPr lang="en-US" altLang="zh-CN" sz="2400" dirty="0" err="1">
                <a:latin typeface="Consolas" panose="020B0609020204030204" pitchFamily="49" charset="0"/>
              </a:rPr>
              <a:t>n,len,i,cmd</a:t>
            </a:r>
            <a:r>
              <a:rPr lang="en-US" altLang="zh-CN" sz="2400" dirty="0">
                <a:latin typeface="Consolas" panose="020B0609020204030204" pitchFamily="49" charset="0"/>
              </a:rPr>
              <a:t>;</a:t>
            </a:r>
          </a:p>
          <a:p>
            <a:pPr marL="0" indent="0" algn="just" eaLnBrk="1" hangingPunct="1">
              <a:buFontTx/>
              <a:buNone/>
            </a:pPr>
            <a:r>
              <a:rPr lang="en-US" altLang="zh-CN" sz="2400" dirty="0">
                <a:latin typeface="Consolas" panose="020B0609020204030204" pitchFamily="49" charset="0"/>
              </a:rPr>
              <a:t>    n=</a:t>
            </a:r>
            <a:r>
              <a:rPr lang="en-US" altLang="zh-CN" sz="2400" dirty="0" err="1">
                <a:latin typeface="Consolas" panose="020B0609020204030204" pitchFamily="49" charset="0"/>
              </a:rPr>
              <a:t>createArrayTail</a:t>
            </a:r>
            <a:r>
              <a:rPr lang="en-US" altLang="zh-CN" sz="2400" dirty="0">
                <a:latin typeface="Consolas" panose="020B0609020204030204" pitchFamily="49" charset="0"/>
              </a:rPr>
              <a:t>(</a:t>
            </a:r>
            <a:r>
              <a:rPr lang="en-US" altLang="zh-CN" sz="2400" dirty="0" err="1">
                <a:latin typeface="Consolas" panose="020B0609020204030204" pitchFamily="49" charset="0"/>
              </a:rPr>
              <a:t>buf,SIZE</a:t>
            </a:r>
            <a:r>
              <a:rPr lang="en-US" altLang="zh-CN" sz="2400" dirty="0">
                <a:latin typeface="Consolas" panose="020B0609020204030204" pitchFamily="49" charset="0"/>
              </a:rPr>
              <a:t>);</a:t>
            </a:r>
          </a:p>
          <a:p>
            <a:pPr marL="0" indent="0" algn="just" eaLnBrk="1" hangingPunct="1">
              <a:buFontTx/>
              <a:buNone/>
            </a:pPr>
            <a:r>
              <a:rPr lang="en-US" altLang="zh-CN" sz="2400" dirty="0">
                <a:latin typeface="Consolas" panose="020B0609020204030204" pitchFamily="49" charset="0"/>
              </a:rPr>
              <a:t>    pa=</a:t>
            </a:r>
            <a:r>
              <a:rPr lang="en-US" altLang="zh-CN" sz="2400" dirty="0" err="1">
                <a:latin typeface="Consolas" panose="020B0609020204030204" pitchFamily="49" charset="0"/>
              </a:rPr>
              <a:t>allocStrFromHeap</a:t>
            </a:r>
            <a:r>
              <a:rPr lang="en-US" altLang="zh-CN" sz="2400" dirty="0">
                <a:latin typeface="Consolas" panose="020B0609020204030204" pitchFamily="49" charset="0"/>
              </a:rPr>
              <a:t>(n);</a:t>
            </a:r>
          </a:p>
          <a:p>
            <a:pPr marL="0" indent="0" algn="just" eaLnBrk="1" hangingPunct="1">
              <a:buFontTx/>
              <a:buNone/>
            </a:pPr>
            <a:r>
              <a:rPr lang="en-US" altLang="zh-CN" sz="2400" dirty="0">
                <a:latin typeface="Consolas" panose="020B0609020204030204" pitchFamily="49" charset="0"/>
              </a:rPr>
              <a:t>    for (</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en-US" altLang="zh-CN" sz="2400" dirty="0" err="1">
                <a:latin typeface="Consolas" panose="020B0609020204030204" pitchFamily="49" charset="0"/>
              </a:rPr>
              <a:t>0;i</a:t>
            </a:r>
            <a:r>
              <a:rPr lang="en-US" altLang="zh-CN" sz="2400" dirty="0">
                <a:latin typeface="Consolas" panose="020B0609020204030204" pitchFamily="49" charset="0"/>
              </a:rPr>
              <a:t>&lt;</a:t>
            </a:r>
            <a:r>
              <a:rPr lang="en-US" altLang="zh-CN" sz="2400" dirty="0" err="1">
                <a:latin typeface="Consolas" panose="020B0609020204030204" pitchFamily="49" charset="0"/>
              </a:rPr>
              <a:t>n;i</a:t>
            </a:r>
            <a:r>
              <a:rPr lang="en-US" altLang="zh-CN" sz="2400" dirty="0">
                <a:latin typeface="Consolas" panose="020B0609020204030204" pitchFamily="49" charset="0"/>
              </a:rPr>
              <a:t>++) </a:t>
            </a:r>
          </a:p>
          <a:p>
            <a:pPr marL="0" indent="0" algn="just" eaLnBrk="1" hangingPunct="1">
              <a:buFontTx/>
              <a:buNone/>
            </a:pPr>
            <a:r>
              <a:rPr lang="en-US" altLang="zh-CN" sz="2400" dirty="0">
                <a:latin typeface="Consolas" panose="020B0609020204030204" pitchFamily="49" charset="0"/>
              </a:rPr>
              <a:t>        pa[</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en-US" altLang="zh-CN" sz="2400" dirty="0" err="1">
                <a:latin typeface="Consolas" panose="020B0609020204030204" pitchFamily="49" charset="0"/>
              </a:rPr>
              <a:t>buf</a:t>
            </a:r>
            <a:r>
              <a:rPr lang="en-US" altLang="zh-CN" sz="2400" dirty="0">
                <a:latin typeface="Consolas" panose="020B0609020204030204" pitchFamily="49" charset="0"/>
              </a:rPr>
              <a:t>[</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marL="0" indent="0" algn="just" eaLnBrk="1" hangingPunct="1">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outArray2</a:t>
            </a:r>
            <a:r>
              <a:rPr lang="en-US" altLang="zh-CN" sz="2400" dirty="0">
                <a:latin typeface="Consolas" panose="020B0609020204030204" pitchFamily="49" charset="0"/>
              </a:rPr>
              <a:t>(</a:t>
            </a:r>
            <a:r>
              <a:rPr lang="en-US" altLang="zh-CN" sz="2400" dirty="0" err="1">
                <a:latin typeface="Consolas" panose="020B0609020204030204" pitchFamily="49" charset="0"/>
              </a:rPr>
              <a:t>pa,n</a:t>
            </a:r>
            <a:r>
              <a:rPr lang="en-US" altLang="zh-CN" sz="2400" dirty="0">
                <a:latin typeface="Consolas" panose="020B0609020204030204" pitchFamily="49" charset="0"/>
              </a:rPr>
              <a:t>);</a:t>
            </a:r>
          </a:p>
          <a:p>
            <a:pPr marL="0" indent="0" algn="just" eaLnBrk="1" hangingPunct="1">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len</a:t>
            </a:r>
            <a:r>
              <a:rPr lang="en-US" altLang="zh-CN" sz="2400" dirty="0">
                <a:latin typeface="Consolas" panose="020B0609020204030204" pitchFamily="49" charset="0"/>
              </a:rPr>
              <a:t> = n;</a:t>
            </a:r>
          </a:p>
        </p:txBody>
      </p:sp>
      <p:sp>
        <p:nvSpPr>
          <p:cNvPr id="40963" name="Rectangle 5">
            <a:extLst>
              <a:ext uri="{FF2B5EF4-FFF2-40B4-BE49-F238E27FC236}">
                <a16:creationId xmlns:a16="http://schemas.microsoft.com/office/drawing/2014/main" id="{20614719-A7CE-455F-B254-11860B77EB38}"/>
              </a:ext>
            </a:extLst>
          </p:cNvPr>
          <p:cNvSpPr>
            <a:spLocks noChangeArrowheads="1"/>
          </p:cNvSpPr>
          <p:nvPr/>
        </p:nvSpPr>
        <p:spPr bwMode="auto">
          <a:xfrm>
            <a:off x="4886203" y="332656"/>
            <a:ext cx="40959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r>
              <a:rPr lang="zh-CN" altLang="zh-CN" sz="3200" b="1" dirty="0">
                <a:solidFill>
                  <a:srgbClr val="FF0000"/>
                </a:solidFill>
              </a:rPr>
              <a:t>7.3 动态数组</a:t>
            </a:r>
            <a:r>
              <a:rPr lang="zh-CN" altLang="en-US" sz="3200" b="1" dirty="0">
                <a:solidFill>
                  <a:srgbClr val="FF0000"/>
                </a:solidFill>
              </a:rPr>
              <a:t>应用举例</a:t>
            </a:r>
            <a:endParaRPr lang="zh-CN" altLang="zh-CN" sz="3200" b="1" dirty="0">
              <a:solidFill>
                <a:srgbClr val="FF0000"/>
              </a:solidFill>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5">
            <a:extLst>
              <a:ext uri="{FF2B5EF4-FFF2-40B4-BE49-F238E27FC236}">
                <a16:creationId xmlns:a16="http://schemas.microsoft.com/office/drawing/2014/main" id="{B1EC9816-7AFA-4A99-B2B8-5D61A690739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1BF6596A-E7AA-40D0-8232-13C6D75E33F5}" type="slidenum">
              <a:rPr lang="zh-CN" altLang="en-US" smtClean="0"/>
              <a:pPr/>
              <a:t>35</a:t>
            </a:fld>
            <a:endParaRPr lang="zh-CN" altLang="en-US"/>
          </a:p>
        </p:txBody>
      </p:sp>
      <p:sp>
        <p:nvSpPr>
          <p:cNvPr id="41986" name="Rectangle 4">
            <a:extLst>
              <a:ext uri="{FF2B5EF4-FFF2-40B4-BE49-F238E27FC236}">
                <a16:creationId xmlns:a16="http://schemas.microsoft.com/office/drawing/2014/main" id="{B869E4DA-3596-4C6F-BCEF-989665A439AD}"/>
              </a:ext>
            </a:extLst>
          </p:cNvPr>
          <p:cNvSpPr>
            <a:spLocks noGrp="1" noChangeArrowheads="1"/>
          </p:cNvSpPr>
          <p:nvPr>
            <p:ph idx="1"/>
          </p:nvPr>
        </p:nvSpPr>
        <p:spPr>
          <a:xfrm>
            <a:off x="304800" y="1228725"/>
            <a:ext cx="8645525" cy="5095875"/>
          </a:xfrm>
        </p:spPr>
        <p:txBody>
          <a:bodyPr/>
          <a:lstStyle/>
          <a:p>
            <a:pPr marL="0" indent="0" algn="just" eaLnBrk="1" hangingPunct="1">
              <a:buFontTx/>
              <a:buNone/>
            </a:pPr>
            <a:r>
              <a:rPr lang="en-US" altLang="zh-CN" sz="2000" dirty="0">
                <a:latin typeface="Consolas" panose="020B0609020204030204" pitchFamily="49" charset="0"/>
              </a:rPr>
              <a:t>	do{</a:t>
            </a:r>
          </a:p>
          <a:p>
            <a:pPr marL="0" indent="0" algn="just" eaLnBrk="1" hangingPunct="1">
              <a:buFontTx/>
              <a:buNone/>
            </a:pPr>
            <a:r>
              <a:rPr lang="en-US" altLang="zh-CN" sz="2000" dirty="0">
                <a:latin typeface="Consolas" panose="020B0609020204030204" pitchFamily="49" charset="0"/>
              </a:rPr>
              <a:t>	    n=</a:t>
            </a:r>
            <a:r>
              <a:rPr lang="en-US" altLang="zh-CN" sz="2000" dirty="0" err="1">
                <a:latin typeface="Consolas" panose="020B0609020204030204" pitchFamily="49" charset="0"/>
              </a:rPr>
              <a:t>createArrayTail</a:t>
            </a:r>
            <a:r>
              <a:rPr lang="en-US" altLang="zh-CN" sz="2000" dirty="0">
                <a:latin typeface="Consolas" panose="020B0609020204030204" pitchFamily="49" charset="0"/>
              </a:rPr>
              <a:t>(</a:t>
            </a:r>
            <a:r>
              <a:rPr lang="en-US" altLang="zh-CN" sz="2000" dirty="0" err="1">
                <a:latin typeface="Consolas" panose="020B0609020204030204" pitchFamily="49" charset="0"/>
              </a:rPr>
              <a:t>buf,SIZE</a:t>
            </a:r>
            <a:r>
              <a:rPr lang="en-US" altLang="zh-CN" sz="2000" dirty="0">
                <a:latin typeface="Consolas" panose="020B0609020204030204" pitchFamily="49" charset="0"/>
              </a:rPr>
              <a:t>);</a:t>
            </a:r>
          </a:p>
          <a:p>
            <a:pPr marL="0" indent="0" algn="just" eaLnBrk="1" hangingPunct="1">
              <a:buFontTx/>
              <a:buNone/>
            </a:pPr>
            <a:r>
              <a:rPr lang="en-US" altLang="zh-CN" sz="2000" dirty="0">
                <a:latin typeface="Consolas" panose="020B0609020204030204" pitchFamily="49" charset="0"/>
              </a:rPr>
              <a:t>	    pa=(int *)</a:t>
            </a:r>
            <a:r>
              <a:rPr lang="en-US" altLang="zh-CN" sz="2000" dirty="0" err="1">
                <a:latin typeface="Consolas" panose="020B0609020204030204" pitchFamily="49" charset="0"/>
              </a:rPr>
              <a:t>realloc</a:t>
            </a:r>
            <a:r>
              <a:rPr lang="en-US" altLang="zh-CN" sz="2000" dirty="0">
                <a:latin typeface="Consolas" panose="020B0609020204030204" pitchFamily="49" charset="0"/>
              </a:rPr>
              <a:t>(</a:t>
            </a:r>
            <a:r>
              <a:rPr lang="en-US" altLang="zh-CN" sz="2000" dirty="0" err="1">
                <a:latin typeface="Consolas" panose="020B0609020204030204" pitchFamily="49" charset="0"/>
              </a:rPr>
              <a:t>pa,sizeof</a:t>
            </a:r>
            <a:r>
              <a:rPr lang="en-US" altLang="zh-CN" sz="2000" dirty="0">
                <a:latin typeface="Consolas" panose="020B0609020204030204" pitchFamily="49" charset="0"/>
              </a:rPr>
              <a:t>(int)*(</a:t>
            </a:r>
            <a:r>
              <a:rPr lang="en-US" altLang="zh-CN" sz="2000" dirty="0" err="1">
                <a:latin typeface="Consolas" panose="020B0609020204030204" pitchFamily="49" charset="0"/>
              </a:rPr>
              <a:t>len+n</a:t>
            </a:r>
            <a:r>
              <a:rPr lang="en-US" altLang="zh-CN" sz="2000" dirty="0">
                <a:latin typeface="Consolas" panose="020B0609020204030204" pitchFamily="49" charset="0"/>
              </a:rPr>
              <a:t>));</a:t>
            </a:r>
          </a:p>
          <a:p>
            <a:pPr marL="0" indent="0" algn="just" eaLnBrk="1" hangingPunct="1">
              <a:buFontTx/>
              <a:buNone/>
            </a:pPr>
            <a:r>
              <a:rPr lang="en-US" altLang="zh-CN" sz="2000" dirty="0">
                <a:latin typeface="Consolas" panose="020B0609020204030204" pitchFamily="49" charset="0"/>
              </a:rPr>
              <a:t>          for (</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0;i</a:t>
            </a:r>
            <a:r>
              <a:rPr lang="en-US" altLang="zh-CN" sz="2000" dirty="0">
                <a:latin typeface="Consolas" panose="020B0609020204030204" pitchFamily="49" charset="0"/>
              </a:rPr>
              <a:t>&lt;</a:t>
            </a:r>
            <a:r>
              <a:rPr lang="en-US" altLang="zh-CN" sz="2000" dirty="0" err="1">
                <a:latin typeface="Consolas" panose="020B0609020204030204" pitchFamily="49" charset="0"/>
              </a:rPr>
              <a:t>n;i</a:t>
            </a:r>
            <a:r>
              <a:rPr lang="en-US" altLang="zh-CN" sz="2000" dirty="0">
                <a:latin typeface="Consolas" panose="020B0609020204030204" pitchFamily="49" charset="0"/>
              </a:rPr>
              <a:t>++) </a:t>
            </a:r>
          </a:p>
          <a:p>
            <a:pPr marL="0" indent="0" algn="just" eaLnBrk="1" hangingPunct="1">
              <a:buFontTx/>
              <a:buNone/>
            </a:pPr>
            <a:r>
              <a:rPr lang="en-US" altLang="zh-CN" sz="2000" dirty="0">
                <a:latin typeface="Consolas" panose="020B0609020204030204" pitchFamily="49" charset="0"/>
              </a:rPr>
              <a:t>              pa[</a:t>
            </a:r>
            <a:r>
              <a:rPr lang="en-US" altLang="zh-CN" sz="2000" dirty="0" err="1">
                <a:latin typeface="Consolas" panose="020B0609020204030204" pitchFamily="49" charset="0"/>
              </a:rPr>
              <a:t>len+i</a:t>
            </a:r>
            <a:r>
              <a:rPr lang="en-US" altLang="zh-CN" sz="2000" dirty="0">
                <a:latin typeface="Consolas" panose="020B0609020204030204" pitchFamily="49" charset="0"/>
              </a:rPr>
              <a:t>]=</a:t>
            </a:r>
            <a:r>
              <a:rPr lang="en-US" altLang="zh-CN" sz="2000" dirty="0" err="1">
                <a:latin typeface="Consolas" panose="020B0609020204030204" pitchFamily="49" charset="0"/>
              </a:rPr>
              <a:t>buf</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lgn="just" eaLnBrk="1" hangingPunct="1">
              <a:buNone/>
            </a:pPr>
            <a:r>
              <a:rPr lang="en-US" altLang="zh-CN" sz="2000" dirty="0">
                <a:latin typeface="Consolas" panose="020B0609020204030204" pitchFamily="49" charset="0"/>
              </a:rPr>
              <a:t>	    </a:t>
            </a:r>
            <a:r>
              <a:rPr lang="en-US" altLang="zh-CN" sz="2000" dirty="0" err="1">
                <a:latin typeface="Consolas" panose="020B0609020204030204" pitchFamily="49" charset="0"/>
              </a:rPr>
              <a:t>len</a:t>
            </a:r>
            <a:r>
              <a:rPr lang="en-US" altLang="zh-CN" sz="2000" dirty="0">
                <a:latin typeface="Consolas" panose="020B0609020204030204" pitchFamily="49" charset="0"/>
              </a:rPr>
              <a:t> += n;</a:t>
            </a:r>
          </a:p>
          <a:p>
            <a:pPr marL="0" indent="0" algn="just" eaLnBrk="1" hangingPunct="1">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outArray2</a:t>
            </a:r>
            <a:r>
              <a:rPr lang="en-US" altLang="zh-CN" sz="2000" dirty="0">
                <a:latin typeface="Consolas" panose="020B0609020204030204" pitchFamily="49" charset="0"/>
              </a:rPr>
              <a:t>(</a:t>
            </a:r>
            <a:r>
              <a:rPr lang="en-US" altLang="zh-CN" sz="2000" dirty="0" err="1">
                <a:latin typeface="Consolas" panose="020B0609020204030204" pitchFamily="49" charset="0"/>
              </a:rPr>
              <a:t>pa,len</a:t>
            </a:r>
            <a:r>
              <a:rPr lang="en-US" altLang="zh-CN" sz="2000" dirty="0">
                <a:latin typeface="Consolas" panose="020B0609020204030204" pitchFamily="49" charset="0"/>
              </a:rPr>
              <a:t>); </a:t>
            </a:r>
          </a:p>
          <a:p>
            <a:pPr marL="0" indent="0" algn="just" eaLnBrk="1" hangingPunct="1">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("Enter 1 continue to read </a:t>
            </a:r>
            <a:r>
              <a:rPr lang="en-US" altLang="zh-CN" sz="2000" dirty="0" err="1">
                <a:latin typeface="Consolas" panose="020B0609020204030204" pitchFamily="49" charset="0"/>
              </a:rPr>
              <a:t>datas,otherwise</a:t>
            </a:r>
            <a:r>
              <a:rPr lang="en-US" altLang="zh-CN" sz="2000" dirty="0">
                <a:latin typeface="Consolas" panose="020B0609020204030204" pitchFamily="49" charset="0"/>
              </a:rPr>
              <a:t> enter 0:");</a:t>
            </a:r>
          </a:p>
          <a:p>
            <a:pPr marL="0" indent="0" algn="just" eaLnBrk="1" hangingPunct="1">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("%d",&amp;</a:t>
            </a:r>
            <a:r>
              <a:rPr lang="en-US" altLang="zh-CN" sz="2000" dirty="0" err="1">
                <a:latin typeface="Consolas" panose="020B0609020204030204" pitchFamily="49" charset="0"/>
              </a:rPr>
              <a:t>cmd</a:t>
            </a:r>
            <a:r>
              <a:rPr lang="en-US" altLang="zh-CN" sz="2000" dirty="0">
                <a:latin typeface="Consolas" panose="020B0609020204030204" pitchFamily="49" charset="0"/>
              </a:rPr>
              <a:t>);</a:t>
            </a:r>
          </a:p>
          <a:p>
            <a:pPr marL="0" indent="0" algn="just" eaLnBrk="1" hangingPunct="1">
              <a:buFontTx/>
              <a:buNone/>
            </a:pPr>
            <a:r>
              <a:rPr lang="en-US" altLang="zh-CN" sz="2000" dirty="0">
                <a:latin typeface="Consolas" panose="020B0609020204030204" pitchFamily="49" charset="0"/>
              </a:rPr>
              <a:t>	}while (</a:t>
            </a:r>
            <a:r>
              <a:rPr lang="en-US" altLang="zh-CN" sz="2000" dirty="0" err="1">
                <a:latin typeface="Consolas" panose="020B0609020204030204" pitchFamily="49" charset="0"/>
              </a:rPr>
              <a:t>cmd</a:t>
            </a:r>
            <a:r>
              <a:rPr lang="en-US" altLang="zh-CN" sz="2000" dirty="0">
                <a:latin typeface="Consolas" panose="020B0609020204030204" pitchFamily="49" charset="0"/>
              </a:rPr>
              <a:t>==1);</a:t>
            </a:r>
          </a:p>
          <a:p>
            <a:pPr marL="0" indent="0" algn="just" eaLnBrk="1" hangingPunct="1">
              <a:buFontTx/>
              <a:buNone/>
            </a:pPr>
            <a:r>
              <a:rPr lang="en-US" altLang="zh-CN" sz="2000" dirty="0">
                <a:latin typeface="Consolas" panose="020B0609020204030204" pitchFamily="49" charset="0"/>
              </a:rPr>
              <a:t>      free(pa);</a:t>
            </a:r>
          </a:p>
          <a:p>
            <a:pPr marL="0" indent="0" algn="just" eaLnBrk="1" hangingPunct="1">
              <a:buFontTx/>
              <a:buNone/>
            </a:pPr>
            <a:r>
              <a:rPr lang="en-US" altLang="zh-CN" sz="2000" dirty="0">
                <a:latin typeface="Consolas" panose="020B0609020204030204" pitchFamily="49" charset="0"/>
              </a:rPr>
              <a:t>      return 0; </a:t>
            </a:r>
          </a:p>
          <a:p>
            <a:pPr marL="0" indent="0" algn="just" eaLnBrk="1" hangingPunct="1">
              <a:buFontTx/>
              <a:buNone/>
            </a:pPr>
            <a:r>
              <a:rPr lang="en-US" altLang="zh-CN" sz="2000" dirty="0">
                <a:latin typeface="Consolas" panose="020B0609020204030204" pitchFamily="49" charset="0"/>
              </a:rPr>
              <a:t>}</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尾插法创建数组子函数</a:t>
            </a:r>
          </a:p>
        </p:txBody>
      </p:sp>
      <p:sp>
        <p:nvSpPr>
          <p:cNvPr id="3" name="内容占位符 2"/>
          <p:cNvSpPr>
            <a:spLocks noGrp="1"/>
          </p:cNvSpPr>
          <p:nvPr>
            <p:ph idx="1"/>
          </p:nvPr>
        </p:nvSpPr>
        <p:spPr>
          <a:xfrm>
            <a:off x="467544" y="1340768"/>
            <a:ext cx="8496944" cy="4611687"/>
          </a:xfrm>
        </p:spPr>
        <p:txBody>
          <a:bodyPr/>
          <a:lstStyle/>
          <a:p>
            <a:pPr marL="0" indent="0">
              <a:buNone/>
            </a:pPr>
            <a:r>
              <a:rPr lang="en-US" altLang="zh-CN" sz="2400" b="1" dirty="0"/>
              <a:t>//</a:t>
            </a:r>
            <a:r>
              <a:rPr lang="zh-CN" altLang="en-US" sz="2400" b="1" dirty="0"/>
              <a:t>接收键盘输入的任意个整数</a:t>
            </a:r>
            <a:r>
              <a:rPr lang="en-US" altLang="zh-CN" sz="2400" b="1" dirty="0"/>
              <a:t>,</a:t>
            </a:r>
            <a:r>
              <a:rPr lang="zh-CN" altLang="en-US" sz="2400" b="1" dirty="0"/>
              <a:t>直到换行符结束</a:t>
            </a:r>
            <a:r>
              <a:rPr lang="en-US" altLang="zh-CN" sz="2400" b="1" dirty="0"/>
              <a:t>.</a:t>
            </a:r>
          </a:p>
          <a:p>
            <a:pPr marL="0" indent="0">
              <a:buNone/>
            </a:pPr>
            <a:r>
              <a:rPr lang="zh-CN" altLang="en-US" sz="2400" dirty="0">
                <a:latin typeface="Consolas" panose="020B0609020204030204" pitchFamily="49" charset="0"/>
                <a:sym typeface="+mn-ea"/>
              </a:rPr>
              <a:t>int </a:t>
            </a:r>
            <a:r>
              <a:rPr lang="en-US" altLang="zh-CN" sz="2400" dirty="0" err="1">
                <a:latin typeface="Consolas" panose="020B0609020204030204" pitchFamily="49" charset="0"/>
                <a:sym typeface="+mn-ea"/>
              </a:rPr>
              <a:t>createArrayTail</a:t>
            </a:r>
            <a:r>
              <a:rPr lang="en-US" altLang="zh-CN" sz="2400" dirty="0">
                <a:latin typeface="Consolas" panose="020B0609020204030204" pitchFamily="49" charset="0"/>
                <a:sym typeface="+mn-ea"/>
              </a:rPr>
              <a:t>(int a[], int size)</a:t>
            </a:r>
            <a:r>
              <a:rPr lang="zh-CN" altLang="en-US" sz="2400" dirty="0">
                <a:latin typeface="Consolas" panose="020B0609020204030204" pitchFamily="49" charset="0"/>
                <a:sym typeface="+mn-ea"/>
              </a:rPr>
              <a:t>{</a:t>
            </a:r>
            <a:endParaRPr lang="en-US" altLang="zh-CN" sz="2400" dirty="0">
              <a:latin typeface="Consolas" panose="020B0609020204030204" pitchFamily="49" charset="0"/>
              <a:sym typeface="+mn-ea"/>
            </a:endParaRPr>
          </a:p>
          <a:p>
            <a:pPr marL="0" indent="0">
              <a:buNone/>
            </a:pPr>
            <a:r>
              <a:rPr lang="zh-CN" altLang="en-US" sz="2400" dirty="0">
                <a:latin typeface="Consolas" panose="020B0609020204030204" pitchFamily="49" charset="0"/>
                <a:sym typeface="+mn-ea"/>
              </a:rPr>
              <a:t>	int </a:t>
            </a:r>
            <a:r>
              <a:rPr lang="en-US" altLang="zh-CN" sz="2400" dirty="0" err="1">
                <a:latin typeface="Consolas" panose="020B0609020204030204" pitchFamily="49" charset="0"/>
                <a:sym typeface="+mn-ea"/>
              </a:rPr>
              <a:t>i,num</a:t>
            </a:r>
            <a:r>
              <a:rPr lang="zh-CN" altLang="en-US" sz="2400" dirty="0">
                <a:latin typeface="Consolas" panose="020B0609020204030204" pitchFamily="49" charset="0"/>
                <a:sym typeface="+mn-ea"/>
              </a:rPr>
              <a:t>;</a:t>
            </a:r>
            <a:r>
              <a:rPr lang="en-US" altLang="zh-CN" sz="2400" dirty="0">
                <a:latin typeface="Consolas" panose="020B0609020204030204" pitchFamily="49" charset="0"/>
                <a:sym typeface="+mn-ea"/>
              </a:rPr>
              <a:t>	</a:t>
            </a:r>
            <a:r>
              <a:rPr lang="zh-CN" altLang="en-US" sz="2400" dirty="0">
                <a:latin typeface="Consolas" panose="020B0609020204030204" pitchFamily="49" charset="0"/>
                <a:sym typeface="+mn-ea"/>
              </a:rPr>
              <a:t>char ch=0;</a:t>
            </a:r>
            <a:endParaRPr lang="zh-CN" altLang="en-US" sz="2400" dirty="0">
              <a:latin typeface="Consolas" panose="020B0609020204030204" pitchFamily="49" charset="0"/>
            </a:endParaRPr>
          </a:p>
          <a:p>
            <a:pPr marL="0" indent="0">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("Enter integers by a line to create array.\n");</a:t>
            </a:r>
          </a:p>
          <a:p>
            <a:pPr marL="0" indent="0">
              <a:buNone/>
            </a:pPr>
            <a:r>
              <a:rPr lang="zh-CN" altLang="en-US" sz="2400" dirty="0">
                <a:latin typeface="Consolas" panose="020B0609020204030204" pitchFamily="49" charset="0"/>
                <a:sym typeface="+mn-ea"/>
              </a:rPr>
              <a:t>	</a:t>
            </a:r>
            <a:r>
              <a:rPr lang="en-US" altLang="zh-CN" sz="2400" dirty="0">
                <a:latin typeface="Consolas" panose="020B0609020204030204" pitchFamily="49" charset="0"/>
                <a:sym typeface="+mn-ea"/>
              </a:rPr>
              <a:t>for</a:t>
            </a:r>
            <a:r>
              <a:rPr lang="zh-CN" altLang="en-US" sz="2400" dirty="0">
                <a:latin typeface="Consolas" panose="020B0609020204030204" pitchFamily="49" charset="0"/>
                <a:sym typeface="+mn-ea"/>
              </a:rPr>
              <a:t>(</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=0; </a:t>
            </a:r>
            <a:r>
              <a:rPr lang="en-US" altLang="zh-CN" sz="2400" dirty="0" err="1">
                <a:latin typeface="Consolas" panose="020B0609020204030204" pitchFamily="49" charset="0"/>
                <a:sym typeface="+mn-ea"/>
              </a:rPr>
              <a:t>i</a:t>
            </a:r>
            <a:r>
              <a:rPr lang="zh-CN" altLang="en-US" sz="2400" dirty="0">
                <a:latin typeface="Consolas" panose="020B0609020204030204" pitchFamily="49" charset="0"/>
                <a:sym typeface="+mn-ea"/>
              </a:rPr>
              <a:t>&lt;</a:t>
            </a:r>
            <a:r>
              <a:rPr lang="en-US" altLang="zh-CN" sz="2400" dirty="0">
                <a:latin typeface="Consolas" panose="020B0609020204030204" pitchFamily="49" charset="0"/>
                <a:sym typeface="+mn-ea"/>
              </a:rPr>
              <a:t>size</a:t>
            </a:r>
            <a:r>
              <a:rPr lang="zh-CN" altLang="en-US" sz="2400" dirty="0">
                <a:latin typeface="Consolas" panose="020B0609020204030204" pitchFamily="49" charset="0"/>
                <a:sym typeface="+mn-ea"/>
              </a:rPr>
              <a:t> &amp;&amp; </a:t>
            </a:r>
            <a:r>
              <a:rPr lang="en-US" altLang="zh-CN" sz="2400" dirty="0">
                <a:latin typeface="Consolas" panose="020B0609020204030204" pitchFamily="49" charset="0"/>
                <a:sym typeface="+mn-ea"/>
              </a:rPr>
              <a:t>'\n'</a:t>
            </a:r>
            <a:r>
              <a:rPr lang="zh-CN" altLang="en-US" sz="2400" dirty="0">
                <a:latin typeface="Consolas" panose="020B0609020204030204" pitchFamily="49" charset="0"/>
                <a:sym typeface="+mn-ea"/>
              </a:rPr>
              <a:t>!=ch</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a:t>
            </a:r>
            <a:r>
              <a:rPr lang="zh-CN" altLang="en-US" sz="2400" dirty="0">
                <a:latin typeface="Consolas" panose="020B0609020204030204" pitchFamily="49" charset="0"/>
                <a:sym typeface="+mn-ea"/>
              </a:rPr>
              <a:t>){</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scanf("%d",&amp;n</a:t>
            </a:r>
            <a:r>
              <a:rPr lang="en-US" altLang="zh-CN" sz="2400" dirty="0">
                <a:latin typeface="Consolas" panose="020B0609020204030204" pitchFamily="49" charset="0"/>
                <a:sym typeface="+mn-ea"/>
              </a:rPr>
              <a:t>um</a:t>
            </a:r>
            <a:r>
              <a:rPr lang="zh-CN" altLang="en-US" sz="2400" dirty="0">
                <a:latin typeface="Consolas" panose="020B0609020204030204" pitchFamily="49" charset="0"/>
                <a:sym typeface="+mn-ea"/>
              </a:rPr>
              <a:t>);</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a:t>
            </a:r>
            <a:r>
              <a:rPr lang="en-US" altLang="zh-CN" sz="2400" dirty="0">
                <a:latin typeface="Consolas" panose="020B0609020204030204" pitchFamily="49" charset="0"/>
                <a:sym typeface="+mn-ea"/>
              </a:rPr>
              <a:t>a</a:t>
            </a:r>
            <a:r>
              <a:rPr lang="zh-CN" altLang="en-US" sz="2400" dirty="0">
                <a:latin typeface="Consolas" panose="020B0609020204030204" pitchFamily="49" charset="0"/>
                <a:sym typeface="+mn-ea"/>
              </a:rPr>
              <a:t>[</a:t>
            </a:r>
            <a:r>
              <a:rPr lang="en-US" altLang="zh-CN" sz="2400" dirty="0" err="1">
                <a:latin typeface="Consolas" panose="020B0609020204030204" pitchFamily="49" charset="0"/>
                <a:sym typeface="+mn-ea"/>
              </a:rPr>
              <a:t>i</a:t>
            </a:r>
            <a:r>
              <a:rPr lang="zh-CN" altLang="en-US" sz="2400" dirty="0">
                <a:latin typeface="Consolas" panose="020B0609020204030204" pitchFamily="49" charset="0"/>
                <a:sym typeface="+mn-ea"/>
              </a:rPr>
              <a:t>]=n</a:t>
            </a:r>
            <a:r>
              <a:rPr lang="en-US" altLang="zh-CN" sz="2400" dirty="0">
                <a:latin typeface="Consolas" panose="020B0609020204030204" pitchFamily="49" charset="0"/>
                <a:sym typeface="+mn-ea"/>
              </a:rPr>
              <a:t>um</a:t>
            </a:r>
            <a:r>
              <a:rPr lang="zh-CN" altLang="en-US" sz="2400" dirty="0">
                <a:latin typeface="Consolas" panose="020B0609020204030204" pitchFamily="49" charset="0"/>
                <a:sym typeface="+mn-ea"/>
              </a:rPr>
              <a:t>;</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ch=getchar();		</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a:t>
            </a:r>
          </a:p>
          <a:p>
            <a:pPr marL="0" indent="0">
              <a:buNone/>
            </a:pPr>
            <a:r>
              <a:rPr lang="en-US" altLang="zh-CN" sz="2400" dirty="0">
                <a:latin typeface="Consolas" panose="020B0609020204030204" pitchFamily="49" charset="0"/>
                <a:sym typeface="+mn-ea"/>
              </a:rPr>
              <a:t>	return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a:t>
            </a:r>
          </a:p>
          <a:p>
            <a:pPr marL="0" indent="0">
              <a:buNone/>
            </a:pPr>
            <a:r>
              <a:rPr lang="en-US" altLang="zh-CN" sz="2400" dirty="0">
                <a:latin typeface="Consolas" panose="020B0609020204030204" pitchFamily="49" charset="0"/>
                <a:sym typeface="+mn-ea"/>
              </a:rPr>
              <a:t>}</a:t>
            </a:r>
            <a:endParaRPr lang="zh-CN" altLang="en-US" sz="2400" dirty="0">
              <a:latin typeface="Consolas" panose="020B0609020204030204" pitchFamily="49" charset="0"/>
            </a:endParaRPr>
          </a:p>
          <a:p>
            <a:endParaRPr lang="zh-CN" altLang="en-US" sz="24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a:extLst>
              <a:ext uri="{FF2B5EF4-FFF2-40B4-BE49-F238E27FC236}">
                <a16:creationId xmlns:a16="http://schemas.microsoft.com/office/drawing/2014/main" id="{4E0FC75F-E75B-4D5D-8452-71034714AF1B}"/>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37</a:t>
            </a:fld>
            <a:endParaRPr lang="zh-CN" altLang="en-US"/>
          </a:p>
        </p:txBody>
      </p:sp>
      <p:sp>
        <p:nvSpPr>
          <p:cNvPr id="24578" name="Rectangle 4">
            <a:extLst>
              <a:ext uri="{FF2B5EF4-FFF2-40B4-BE49-F238E27FC236}">
                <a16:creationId xmlns:a16="http://schemas.microsoft.com/office/drawing/2014/main" id="{0F89FB19-A951-45BF-9BC0-EAC7D14E29D2}"/>
              </a:ext>
            </a:extLst>
          </p:cNvPr>
          <p:cNvSpPr>
            <a:spLocks noGrp="1" noChangeArrowheads="1"/>
          </p:cNvSpPr>
          <p:nvPr>
            <p:ph type="title"/>
          </p:nvPr>
        </p:nvSpPr>
        <p:spPr>
          <a:xfrm>
            <a:off x="903288" y="404813"/>
            <a:ext cx="7772400" cy="720725"/>
          </a:xfrm>
        </p:spPr>
        <p:txBody>
          <a:bodyPr/>
          <a:lstStyle/>
          <a:p>
            <a:pPr eaLnBrk="1" hangingPunct="1"/>
            <a:r>
              <a:rPr lang="zh-CN" altLang="en-US" b="1"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指针和</a:t>
            </a:r>
            <a:r>
              <a:rPr lang="zh-CN" altLang="en-US" b="1" dirty="0"/>
              <a:t>字符串常量</a:t>
            </a:r>
            <a:endParaRPr lang="en-US" altLang="zh-CN" b="1" dirty="0"/>
          </a:p>
        </p:txBody>
      </p:sp>
      <p:sp>
        <p:nvSpPr>
          <p:cNvPr id="24579" name="Rectangle 5">
            <a:extLst>
              <a:ext uri="{FF2B5EF4-FFF2-40B4-BE49-F238E27FC236}">
                <a16:creationId xmlns:a16="http://schemas.microsoft.com/office/drawing/2014/main" id="{CEFC013C-C9FC-4701-B768-1F65DDE998F8}"/>
              </a:ext>
            </a:extLst>
          </p:cNvPr>
          <p:cNvSpPr>
            <a:spLocks noGrp="1" noChangeArrowheads="1"/>
          </p:cNvSpPr>
          <p:nvPr>
            <p:ph idx="1"/>
          </p:nvPr>
        </p:nvSpPr>
        <p:spPr>
          <a:xfrm>
            <a:off x="3802063" y="1311275"/>
            <a:ext cx="5292725" cy="2646363"/>
          </a:xfrm>
          <a:solidFill>
            <a:srgbClr val="FFFF99"/>
          </a:solidFill>
          <a:ln>
            <a:solidFill>
              <a:schemeClr val="accent1"/>
            </a:solidFill>
            <a:miter lim="800000"/>
            <a:headEnd/>
            <a:tailEnd/>
          </a:ln>
        </p:spPr>
        <p:txBody>
          <a:bodyPr/>
          <a:lstStyle/>
          <a:p>
            <a:pPr eaLnBrk="1" hangingPunct="1">
              <a:lnSpc>
                <a:spcPct val="90000"/>
              </a:lnSpc>
              <a:buFontTx/>
              <a:buNone/>
            </a:pPr>
            <a:r>
              <a:rPr lang="en-US" altLang="zh-CN" sz="2400" dirty="0">
                <a:latin typeface="Consolas" panose="020B0609020204030204" pitchFamily="49" charset="0"/>
              </a:rPr>
              <a:t>int</a:t>
            </a:r>
            <a:r>
              <a:rPr lang="zh-CN" altLang="en-US" sz="2400" dirty="0">
                <a:latin typeface="Consolas" panose="020B0609020204030204" pitchFamily="49" charset="0"/>
              </a:rPr>
              <a:t> </a:t>
            </a:r>
            <a:r>
              <a:rPr lang="en-US" altLang="zh-CN" sz="2400" dirty="0">
                <a:latin typeface="Consolas" panose="020B0609020204030204" pitchFamily="49" charset="0"/>
              </a:rPr>
              <a:t>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char </a:t>
            </a:r>
            <a:r>
              <a:rPr lang="en-US" altLang="zh-CN" sz="2400" dirty="0" err="1">
                <a:latin typeface="Consolas" panose="020B0609020204030204" pitchFamily="49" charset="0"/>
              </a:rPr>
              <a:t>string1</a:t>
            </a:r>
            <a:r>
              <a:rPr lang="en-US" altLang="zh-CN" sz="2400" dirty="0">
                <a:latin typeface="Consolas" panose="020B0609020204030204" pitchFamily="49" charset="0"/>
              </a:rPr>
              <a:t>[10], </a:t>
            </a:r>
            <a:r>
              <a:rPr lang="en-US" altLang="zh-CN" sz="2400" dirty="0" err="1">
                <a:latin typeface="Consolas" panose="020B0609020204030204" pitchFamily="49" charset="0"/>
              </a:rPr>
              <a:t>string3</a:t>
            </a:r>
            <a:r>
              <a:rPr lang="en-US" altLang="zh-CN" sz="2400" dirty="0">
                <a:latin typeface="Consolas" panose="020B0609020204030204" pitchFamily="49" charset="0"/>
              </a:rPr>
              <a:t>[10];</a:t>
            </a:r>
          </a:p>
          <a:p>
            <a:pPr eaLnBrk="1" hangingPunct="1">
              <a:lnSpc>
                <a:spcPct val="90000"/>
              </a:lnSpc>
              <a:buFontTx/>
              <a:buNone/>
            </a:pPr>
            <a:r>
              <a:rPr lang="en-US" altLang="zh-CN" sz="2400" dirty="0">
                <a:latin typeface="Consolas" panose="020B0609020204030204" pitchFamily="49" charset="0"/>
              </a:rPr>
              <a:t> const char * </a:t>
            </a:r>
            <a:r>
              <a:rPr lang="en-US" altLang="zh-CN" sz="2400" dirty="0" err="1">
                <a:latin typeface="Consolas" panose="020B0609020204030204" pitchFamily="49" charset="0"/>
              </a:rPr>
              <a:t>string2</a:t>
            </a:r>
            <a:r>
              <a:rPr lang="en-US" altLang="zh-CN" sz="2400" dirty="0">
                <a:latin typeface="Consolas" panose="020B0609020204030204" pitchFamily="49" charset="0"/>
              </a:rPr>
              <a:t> ="Hello";</a:t>
            </a:r>
          </a:p>
          <a:p>
            <a:pPr eaLnBrk="1" hangingPunct="1">
              <a:lnSpc>
                <a:spcPct val="90000"/>
              </a:lnSpc>
              <a:buFontTx/>
              <a:buNone/>
            </a:pPr>
            <a:r>
              <a:rPr lang="en-US" altLang="zh-CN" sz="2400" dirty="0">
                <a:latin typeface="Consolas" panose="020B0609020204030204" pitchFamily="49" charset="0"/>
              </a:rPr>
              <a:t>  char </a:t>
            </a:r>
            <a:r>
              <a:rPr lang="en-US" altLang="zh-CN" sz="2400" dirty="0" err="1">
                <a:latin typeface="Consolas" panose="020B0609020204030204" pitchFamily="49" charset="0"/>
              </a:rPr>
              <a:t>string4</a:t>
            </a:r>
            <a:r>
              <a:rPr lang="en-US" altLang="zh-CN" sz="2400" dirty="0">
                <a:latin typeface="Consolas" panose="020B0609020204030204" pitchFamily="49" charset="0"/>
              </a:rPr>
              <a:t>[]="Good Bye";</a:t>
            </a:r>
          </a:p>
          <a:p>
            <a:pPr eaLnBrk="1" hangingPunct="1">
              <a:lnSpc>
                <a:spcPct val="90000"/>
              </a:lnSpc>
              <a:buFontTx/>
              <a:buNone/>
            </a:pPr>
            <a:r>
              <a:rPr lang="en-US" altLang="zh-CN" sz="2400" dirty="0">
                <a:latin typeface="Consolas" panose="020B0609020204030204" pitchFamily="49" charset="0"/>
              </a:rPr>
              <a:t>     ……</a:t>
            </a:r>
          </a:p>
          <a:p>
            <a:pPr eaLnBrk="1" hangingPunct="1">
              <a:lnSpc>
                <a:spcPct val="90000"/>
              </a:lnSpc>
              <a:buFontTx/>
              <a:buNone/>
            </a:pPr>
            <a:r>
              <a:rPr lang="en-US" altLang="zh-CN" sz="2400" dirty="0">
                <a:latin typeface="Consolas" panose="020B0609020204030204" pitchFamily="49" charset="0"/>
              </a:rPr>
              <a:t>}</a:t>
            </a:r>
          </a:p>
        </p:txBody>
      </p:sp>
      <p:sp>
        <p:nvSpPr>
          <p:cNvPr id="24580" name="Text Box 18">
            <a:extLst>
              <a:ext uri="{FF2B5EF4-FFF2-40B4-BE49-F238E27FC236}">
                <a16:creationId xmlns:a16="http://schemas.microsoft.com/office/drawing/2014/main" id="{6A2CDC7D-344E-4EB9-8122-23EC103FEA00}"/>
              </a:ext>
            </a:extLst>
          </p:cNvPr>
          <p:cNvSpPr txBox="1">
            <a:spLocks noChangeArrowheads="1"/>
          </p:cNvSpPr>
          <p:nvPr/>
        </p:nvSpPr>
        <p:spPr bwMode="auto">
          <a:xfrm>
            <a:off x="0" y="1484313"/>
            <a:ext cx="4176713" cy="43021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200" b="1" dirty="0"/>
              <a:t>在内存的常量区里保存"</a:t>
            </a:r>
            <a:r>
              <a:rPr lang="en-US" altLang="zh-CN" sz="2200" b="1" dirty="0"/>
              <a:t>Hello"</a:t>
            </a:r>
          </a:p>
        </p:txBody>
      </p:sp>
      <p:sp>
        <p:nvSpPr>
          <p:cNvPr id="24581" name="Text Box 19">
            <a:extLst>
              <a:ext uri="{FF2B5EF4-FFF2-40B4-BE49-F238E27FC236}">
                <a16:creationId xmlns:a16="http://schemas.microsoft.com/office/drawing/2014/main" id="{795BC4DE-13F9-4DA9-864E-D5A57066B17C}"/>
              </a:ext>
            </a:extLst>
          </p:cNvPr>
          <p:cNvSpPr txBox="1">
            <a:spLocks noChangeArrowheads="1"/>
          </p:cNvSpPr>
          <p:nvPr/>
        </p:nvSpPr>
        <p:spPr bwMode="auto">
          <a:xfrm>
            <a:off x="684213" y="5443538"/>
            <a:ext cx="2592387" cy="398462"/>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数组</a:t>
            </a:r>
            <a:r>
              <a:rPr lang="en-US" altLang="zh-CN" sz="2000" b="1"/>
              <a:t>string1</a:t>
            </a:r>
          </a:p>
        </p:txBody>
      </p:sp>
      <p:sp>
        <p:nvSpPr>
          <p:cNvPr id="24582" name="Text Box 20">
            <a:extLst>
              <a:ext uri="{FF2B5EF4-FFF2-40B4-BE49-F238E27FC236}">
                <a16:creationId xmlns:a16="http://schemas.microsoft.com/office/drawing/2014/main" id="{AEC78347-15F7-4B57-90B1-5B5DF285352A}"/>
              </a:ext>
            </a:extLst>
          </p:cNvPr>
          <p:cNvSpPr txBox="1">
            <a:spLocks noChangeArrowheads="1"/>
          </p:cNvSpPr>
          <p:nvPr/>
        </p:nvSpPr>
        <p:spPr bwMode="auto">
          <a:xfrm>
            <a:off x="684213" y="5026025"/>
            <a:ext cx="2592387" cy="398463"/>
          </a:xfrm>
          <a:prstGeom prst="rect">
            <a:avLst/>
          </a:prstGeom>
          <a:solidFill>
            <a:srgbClr val="FFFF66"/>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dirty="0"/>
              <a:t>指针</a:t>
            </a:r>
            <a:r>
              <a:rPr lang="en-US" altLang="zh-CN" sz="2000" b="1" dirty="0" err="1"/>
              <a:t>string2</a:t>
            </a:r>
            <a:endParaRPr lang="en-US" altLang="zh-CN" sz="2000" b="1" dirty="0"/>
          </a:p>
        </p:txBody>
      </p:sp>
      <p:sp>
        <p:nvSpPr>
          <p:cNvPr id="24583" name="Text Box 21">
            <a:extLst>
              <a:ext uri="{FF2B5EF4-FFF2-40B4-BE49-F238E27FC236}">
                <a16:creationId xmlns:a16="http://schemas.microsoft.com/office/drawing/2014/main" id="{D145CA42-103F-44E7-8AE5-1B3509F38786}"/>
              </a:ext>
            </a:extLst>
          </p:cNvPr>
          <p:cNvSpPr txBox="1">
            <a:spLocks noChangeArrowheads="1"/>
          </p:cNvSpPr>
          <p:nvPr/>
        </p:nvSpPr>
        <p:spPr bwMode="auto">
          <a:xfrm>
            <a:off x="3276600" y="5445125"/>
            <a:ext cx="2160588"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10</a:t>
            </a:r>
            <a:r>
              <a:rPr lang="zh-CN" altLang="en-US" sz="2000" b="1"/>
              <a:t>字节</a:t>
            </a:r>
          </a:p>
        </p:txBody>
      </p:sp>
      <p:sp>
        <p:nvSpPr>
          <p:cNvPr id="24584" name="Text Box 22">
            <a:extLst>
              <a:ext uri="{FF2B5EF4-FFF2-40B4-BE49-F238E27FC236}">
                <a16:creationId xmlns:a16="http://schemas.microsoft.com/office/drawing/2014/main" id="{3C836E42-CF7E-44DE-8279-A4FD48F1C76E}"/>
              </a:ext>
            </a:extLst>
          </p:cNvPr>
          <p:cNvSpPr txBox="1">
            <a:spLocks noChangeArrowheads="1"/>
          </p:cNvSpPr>
          <p:nvPr/>
        </p:nvSpPr>
        <p:spPr bwMode="auto">
          <a:xfrm>
            <a:off x="4789488" y="4981873"/>
            <a:ext cx="3743670" cy="92333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dirty="0"/>
              <a:t>8</a:t>
            </a:r>
            <a:r>
              <a:rPr lang="zh-CN" altLang="en-US" sz="2000" b="1" dirty="0"/>
              <a:t>字节（</a:t>
            </a:r>
            <a:r>
              <a:rPr lang="en-US" altLang="zh-CN" sz="2000" b="1" dirty="0" err="1"/>
              <a:t>sizeof</a:t>
            </a:r>
            <a:r>
              <a:rPr lang="en-US" altLang="zh-CN" sz="2000" b="1" dirty="0"/>
              <a:t>(char *)</a:t>
            </a:r>
            <a:r>
              <a:rPr lang="zh-CN" altLang="en-US" sz="2000" b="1" dirty="0"/>
              <a:t>值为</a:t>
            </a:r>
            <a:r>
              <a:rPr lang="en-US" altLang="zh-CN" sz="2000" b="1" dirty="0"/>
              <a:t>8</a:t>
            </a:r>
            <a:r>
              <a:rPr lang="zh-CN" altLang="en-US" sz="2000" b="1" dirty="0"/>
              <a:t>）指针的字节数和计算机字长一致</a:t>
            </a:r>
            <a:r>
              <a:rPr lang="en-US" altLang="zh-CN" sz="2000" b="1" dirty="0"/>
              <a:t>.</a:t>
            </a:r>
            <a:endParaRPr lang="zh-CN" altLang="en-US" sz="2000" b="1" dirty="0"/>
          </a:p>
        </p:txBody>
      </p:sp>
      <p:sp>
        <p:nvSpPr>
          <p:cNvPr id="24585" name="Text Box 23">
            <a:extLst>
              <a:ext uri="{FF2B5EF4-FFF2-40B4-BE49-F238E27FC236}">
                <a16:creationId xmlns:a16="http://schemas.microsoft.com/office/drawing/2014/main" id="{2D30B8C8-FE8A-41D7-A86B-FF992B9030F3}"/>
              </a:ext>
            </a:extLst>
          </p:cNvPr>
          <p:cNvSpPr txBox="1">
            <a:spLocks noChangeArrowheads="1"/>
          </p:cNvSpPr>
          <p:nvPr/>
        </p:nvSpPr>
        <p:spPr bwMode="auto">
          <a:xfrm>
            <a:off x="684213" y="4622800"/>
            <a:ext cx="2592387" cy="398463"/>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数组</a:t>
            </a:r>
            <a:r>
              <a:rPr lang="en-US" altLang="zh-CN" sz="2000" b="1"/>
              <a:t>string3</a:t>
            </a:r>
          </a:p>
        </p:txBody>
      </p:sp>
      <p:sp>
        <p:nvSpPr>
          <p:cNvPr id="24586" name="Text Box 24">
            <a:extLst>
              <a:ext uri="{FF2B5EF4-FFF2-40B4-BE49-F238E27FC236}">
                <a16:creationId xmlns:a16="http://schemas.microsoft.com/office/drawing/2014/main" id="{4E192BCC-2191-4843-9A42-B3FBFBBCEC52}"/>
              </a:ext>
            </a:extLst>
          </p:cNvPr>
          <p:cNvSpPr txBox="1">
            <a:spLocks noChangeArrowheads="1"/>
          </p:cNvSpPr>
          <p:nvPr/>
        </p:nvSpPr>
        <p:spPr bwMode="auto">
          <a:xfrm>
            <a:off x="684213" y="4219575"/>
            <a:ext cx="2592387" cy="398463"/>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数组</a:t>
            </a:r>
            <a:r>
              <a:rPr lang="en-US" altLang="zh-CN" sz="2000" b="1"/>
              <a:t>string4</a:t>
            </a:r>
          </a:p>
        </p:txBody>
      </p:sp>
      <p:sp>
        <p:nvSpPr>
          <p:cNvPr id="24587" name="Text Box 25">
            <a:extLst>
              <a:ext uri="{FF2B5EF4-FFF2-40B4-BE49-F238E27FC236}">
                <a16:creationId xmlns:a16="http://schemas.microsoft.com/office/drawing/2014/main" id="{F6A9DAF1-62B1-4982-89F8-A2C19DB88A46}"/>
              </a:ext>
            </a:extLst>
          </p:cNvPr>
          <p:cNvSpPr txBox="1">
            <a:spLocks noChangeArrowheads="1"/>
          </p:cNvSpPr>
          <p:nvPr/>
        </p:nvSpPr>
        <p:spPr bwMode="auto">
          <a:xfrm>
            <a:off x="3276600" y="4148138"/>
            <a:ext cx="2160588"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9</a:t>
            </a:r>
            <a:r>
              <a:rPr lang="zh-CN" altLang="en-US" sz="2000" b="1"/>
              <a:t>字节</a:t>
            </a:r>
          </a:p>
        </p:txBody>
      </p:sp>
      <p:sp>
        <p:nvSpPr>
          <p:cNvPr id="24588" name="Text Box 26">
            <a:extLst>
              <a:ext uri="{FF2B5EF4-FFF2-40B4-BE49-F238E27FC236}">
                <a16:creationId xmlns:a16="http://schemas.microsoft.com/office/drawing/2014/main" id="{1A9810E7-A8C9-4411-AE60-69F86CB76A3A}"/>
              </a:ext>
            </a:extLst>
          </p:cNvPr>
          <p:cNvSpPr txBox="1">
            <a:spLocks noChangeArrowheads="1"/>
          </p:cNvSpPr>
          <p:nvPr/>
        </p:nvSpPr>
        <p:spPr bwMode="auto">
          <a:xfrm>
            <a:off x="3276600" y="4581525"/>
            <a:ext cx="2160588"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10</a:t>
            </a:r>
            <a:r>
              <a:rPr lang="zh-CN" altLang="en-US" sz="2000" b="1"/>
              <a:t>字节</a:t>
            </a:r>
          </a:p>
        </p:txBody>
      </p:sp>
      <p:sp>
        <p:nvSpPr>
          <p:cNvPr id="355355" name="Line 27">
            <a:extLst>
              <a:ext uri="{FF2B5EF4-FFF2-40B4-BE49-F238E27FC236}">
                <a16:creationId xmlns:a16="http://schemas.microsoft.com/office/drawing/2014/main" id="{748450CF-68B4-4E64-B366-D360F19E3FB4}"/>
              </a:ext>
            </a:extLst>
          </p:cNvPr>
          <p:cNvSpPr>
            <a:spLocks noChangeShapeType="1"/>
          </p:cNvSpPr>
          <p:nvPr/>
        </p:nvSpPr>
        <p:spPr bwMode="auto">
          <a:xfrm>
            <a:off x="684213" y="2132013"/>
            <a:ext cx="0" cy="2160587"/>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55356" name="Line 28">
            <a:extLst>
              <a:ext uri="{FF2B5EF4-FFF2-40B4-BE49-F238E27FC236}">
                <a16:creationId xmlns:a16="http://schemas.microsoft.com/office/drawing/2014/main" id="{A630277D-3DC7-4954-AADE-C02E7D59D25D}"/>
              </a:ext>
            </a:extLst>
          </p:cNvPr>
          <p:cNvSpPr>
            <a:spLocks noChangeShapeType="1"/>
          </p:cNvSpPr>
          <p:nvPr/>
        </p:nvSpPr>
        <p:spPr bwMode="auto">
          <a:xfrm>
            <a:off x="3276600" y="2058988"/>
            <a:ext cx="0" cy="2160587"/>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24591" name="Text Box 29">
            <a:extLst>
              <a:ext uri="{FF2B5EF4-FFF2-40B4-BE49-F238E27FC236}">
                <a16:creationId xmlns:a16="http://schemas.microsoft.com/office/drawing/2014/main" id="{AFBFDF17-6BE8-47CB-A718-7C955EE48355}"/>
              </a:ext>
            </a:extLst>
          </p:cNvPr>
          <p:cNvSpPr txBox="1">
            <a:spLocks noChangeArrowheads="1"/>
          </p:cNvSpPr>
          <p:nvPr/>
        </p:nvSpPr>
        <p:spPr bwMode="auto">
          <a:xfrm>
            <a:off x="684213" y="2492375"/>
            <a:ext cx="2592387" cy="398463"/>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a:t>
            </a:r>
            <a:r>
              <a:rPr lang="en-US" altLang="zh-CN" sz="2000" b="1"/>
              <a:t>Hello"</a:t>
            </a:r>
          </a:p>
        </p:txBody>
      </p:sp>
      <p:sp>
        <p:nvSpPr>
          <p:cNvPr id="355361" name="Line 33">
            <a:extLst>
              <a:ext uri="{FF2B5EF4-FFF2-40B4-BE49-F238E27FC236}">
                <a16:creationId xmlns:a16="http://schemas.microsoft.com/office/drawing/2014/main" id="{5544AE3E-1312-4BA2-BD74-E026B1827AC8}"/>
              </a:ext>
            </a:extLst>
          </p:cNvPr>
          <p:cNvSpPr>
            <a:spLocks noChangeShapeType="1"/>
          </p:cNvSpPr>
          <p:nvPr/>
        </p:nvSpPr>
        <p:spPr bwMode="auto">
          <a:xfrm flipH="1">
            <a:off x="395288" y="5227638"/>
            <a:ext cx="288925" cy="0"/>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55362" name="Line 34">
            <a:extLst>
              <a:ext uri="{FF2B5EF4-FFF2-40B4-BE49-F238E27FC236}">
                <a16:creationId xmlns:a16="http://schemas.microsoft.com/office/drawing/2014/main" id="{1EF33CF5-D907-4BF0-BA57-33062D035551}"/>
              </a:ext>
            </a:extLst>
          </p:cNvPr>
          <p:cNvSpPr>
            <a:spLocks noChangeShapeType="1"/>
          </p:cNvSpPr>
          <p:nvPr/>
        </p:nvSpPr>
        <p:spPr bwMode="auto">
          <a:xfrm>
            <a:off x="395288" y="2635250"/>
            <a:ext cx="0" cy="2592388"/>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55363" name="Line 35">
            <a:extLst>
              <a:ext uri="{FF2B5EF4-FFF2-40B4-BE49-F238E27FC236}">
                <a16:creationId xmlns:a16="http://schemas.microsoft.com/office/drawing/2014/main" id="{DD0C7137-ABB9-4BD6-AB7B-6E7F5757F9BC}"/>
              </a:ext>
            </a:extLst>
          </p:cNvPr>
          <p:cNvSpPr>
            <a:spLocks noChangeShapeType="1"/>
          </p:cNvSpPr>
          <p:nvPr/>
        </p:nvSpPr>
        <p:spPr bwMode="auto">
          <a:xfrm>
            <a:off x="395288" y="2635250"/>
            <a:ext cx="288925"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文本框 77825">
            <a:extLst>
              <a:ext uri="{FF2B5EF4-FFF2-40B4-BE49-F238E27FC236}">
                <a16:creationId xmlns:a16="http://schemas.microsoft.com/office/drawing/2014/main" id="{05CF70CF-F03C-4AE2-97FF-882214824759}"/>
              </a:ext>
            </a:extLst>
          </p:cNvPr>
          <p:cNvSpPr txBox="1">
            <a:spLocks noChangeArrowheads="1"/>
          </p:cNvSpPr>
          <p:nvPr/>
        </p:nvSpPr>
        <p:spPr bwMode="auto">
          <a:xfrm>
            <a:off x="4040206" y="549275"/>
            <a:ext cx="505298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buNone/>
            </a:pPr>
            <a:r>
              <a:rPr lang="zh-CN" altLang="en-US" sz="2800" b="1" dirty="0">
                <a:solidFill>
                  <a:srgbClr val="FF0000"/>
                </a:solidFill>
              </a:rPr>
              <a:t>字符常量指针 不是 字符数组！</a:t>
            </a:r>
            <a:endParaRPr lang="zh-CN" altLang="en-US" sz="2800" dirty="0">
              <a:solidFill>
                <a:srgbClr val="FF0000"/>
              </a:solidFill>
            </a:endParaRPr>
          </a:p>
        </p:txBody>
      </p:sp>
      <p:sp>
        <p:nvSpPr>
          <p:cNvPr id="77827" name="文本框 77826">
            <a:extLst>
              <a:ext uri="{FF2B5EF4-FFF2-40B4-BE49-F238E27FC236}">
                <a16:creationId xmlns:a16="http://schemas.microsoft.com/office/drawing/2014/main" id="{215C16FB-5CF1-4622-9952-3A32AF53B80B}"/>
              </a:ext>
            </a:extLst>
          </p:cNvPr>
          <p:cNvSpPr txBox="1">
            <a:spLocks noChangeArrowheads="1"/>
          </p:cNvSpPr>
          <p:nvPr/>
        </p:nvSpPr>
        <p:spPr bwMode="auto">
          <a:xfrm>
            <a:off x="466725" y="1268413"/>
            <a:ext cx="8496300" cy="448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buNone/>
            </a:pPr>
            <a:r>
              <a:rPr lang="zh-CN" altLang="en-US" sz="2400" dirty="0">
                <a:latin typeface="Consolas" panose="020B0609020204030204" pitchFamily="49" charset="0"/>
              </a:rPr>
              <a:t>int main()</a:t>
            </a:r>
          </a:p>
          <a:p>
            <a:pPr eaLnBrk="0" hangingPunct="0">
              <a:buNone/>
            </a:pPr>
            <a:r>
              <a:rPr lang="zh-CN" altLang="en-US" sz="2400" dirty="0">
                <a:latin typeface="Consolas" panose="020B0609020204030204" pitchFamily="49" charset="0"/>
              </a:rPr>
              <a:t>{  </a:t>
            </a:r>
            <a:r>
              <a:rPr lang="en-US" altLang="zh-CN" sz="2400" dirty="0">
                <a:solidFill>
                  <a:srgbClr val="FF0000"/>
                </a:solidFill>
                <a:latin typeface="Consolas" panose="020B0609020204030204" pitchFamily="49" charset="0"/>
              </a:rPr>
              <a:t>const</a:t>
            </a:r>
            <a:r>
              <a:rPr lang="en-US" altLang="zh-CN" sz="2400" dirty="0">
                <a:latin typeface="Consolas" panose="020B0609020204030204" pitchFamily="49" charset="0"/>
              </a:rPr>
              <a:t> </a:t>
            </a:r>
            <a:r>
              <a:rPr lang="zh-CN" altLang="en-US" sz="2400" dirty="0">
                <a:solidFill>
                  <a:srgbClr val="FF0000"/>
                </a:solidFill>
                <a:latin typeface="Consolas" panose="020B0609020204030204" pitchFamily="49" charset="0"/>
              </a:rPr>
              <a:t>char </a:t>
            </a:r>
            <a:r>
              <a:rPr lang="en-US" altLang="zh-CN" sz="2400" dirty="0">
                <a:solidFill>
                  <a:srgbClr val="FF0000"/>
                </a:solidFill>
                <a:latin typeface="Consolas" panose="020B0609020204030204" pitchFamily="49" charset="0"/>
              </a:rPr>
              <a:t>* </a:t>
            </a:r>
            <a:r>
              <a:rPr lang="zh-CN" altLang="en-US" sz="2400" dirty="0">
                <a:solidFill>
                  <a:srgbClr val="FF0000"/>
                </a:solidFill>
                <a:latin typeface="Consolas" panose="020B0609020204030204" pitchFamily="49" charset="0"/>
              </a:rPr>
              <a:t>p1="I am a teacher.";</a:t>
            </a:r>
          </a:p>
          <a:p>
            <a:pPr eaLnBrk="0" hangingPunct="0">
              <a:buNone/>
            </a:pPr>
            <a:r>
              <a:rPr lang="zh-CN" altLang="en-US" sz="2400" dirty="0">
                <a:solidFill>
                  <a:srgbClr val="FF0000"/>
                </a:solidFill>
                <a:latin typeface="Consolas" panose="020B0609020204030204" pitchFamily="49" charset="0"/>
              </a:rPr>
              <a:t>   </a:t>
            </a:r>
            <a:r>
              <a:rPr lang="en-US" altLang="zh-CN" sz="2400" dirty="0">
                <a:solidFill>
                  <a:srgbClr val="FF0000"/>
                </a:solidFill>
                <a:latin typeface="Consolas" panose="020B0609020204030204" pitchFamily="49" charset="0"/>
              </a:rPr>
              <a:t>const </a:t>
            </a:r>
            <a:r>
              <a:rPr lang="zh-CN" altLang="en-US" sz="2400" dirty="0">
                <a:solidFill>
                  <a:srgbClr val="FF0000"/>
                </a:solidFill>
                <a:latin typeface="Consolas" panose="020B0609020204030204" pitchFamily="49" charset="0"/>
              </a:rPr>
              <a:t>char </a:t>
            </a:r>
            <a:r>
              <a:rPr lang="en-US" altLang="zh-CN" sz="2400" dirty="0">
                <a:solidFill>
                  <a:srgbClr val="FF0000"/>
                </a:solidFill>
                <a:latin typeface="Consolas" panose="020B0609020204030204" pitchFamily="49" charset="0"/>
              </a:rPr>
              <a:t>* </a:t>
            </a:r>
            <a:r>
              <a:rPr lang="zh-CN" altLang="en-US" sz="2400" dirty="0">
                <a:solidFill>
                  <a:srgbClr val="FF0000"/>
                </a:solidFill>
                <a:latin typeface="Consolas" panose="020B0609020204030204" pitchFamily="49" charset="0"/>
              </a:rPr>
              <a:t>p2="you are a student.";</a:t>
            </a:r>
          </a:p>
          <a:p>
            <a:pPr eaLnBrk="0" hangingPunct="0">
              <a:buNone/>
            </a:pPr>
            <a:r>
              <a:rPr lang="zh-CN" altLang="en-US" sz="2400" dirty="0">
                <a:latin typeface="Consolas" panose="020B0609020204030204" pitchFamily="49" charset="0"/>
              </a:rPr>
              <a:t>   printf("string a=%s\nstring b=%s\n",p1,p2);</a:t>
            </a:r>
          </a:p>
          <a:p>
            <a:pPr eaLnBrk="0" hangingPunct="0">
              <a:buNone/>
            </a:pPr>
            <a:r>
              <a:rPr lang="zh-CN" altLang="en-US" sz="2400" dirty="0">
                <a:latin typeface="Consolas" panose="020B0609020204030204" pitchFamily="49" charset="0"/>
              </a:rPr>
              <a:t>   printf("copy string a to string b:\n");</a:t>
            </a:r>
          </a:p>
          <a:p>
            <a:pPr eaLnBrk="0" hangingPunct="0">
              <a:buNone/>
            </a:pPr>
            <a:r>
              <a:rPr lang="zh-CN" altLang="en-US" sz="2400" dirty="0">
                <a:latin typeface="Consolas" panose="020B0609020204030204" pitchFamily="49" charset="0"/>
              </a:rPr>
              <a:t>   </a:t>
            </a:r>
            <a:r>
              <a:rPr lang="zh-CN" altLang="en-US" sz="2400" dirty="0">
                <a:solidFill>
                  <a:srgbClr val="FF0000"/>
                </a:solidFill>
                <a:latin typeface="Consolas" panose="020B0609020204030204" pitchFamily="49" charset="0"/>
              </a:rPr>
              <a:t>str</a:t>
            </a:r>
            <a:r>
              <a:rPr lang="en-US" altLang="zh-CN" sz="2400" dirty="0">
                <a:solidFill>
                  <a:srgbClr val="FF0000"/>
                </a:solidFill>
                <a:latin typeface="Consolas" panose="020B0609020204030204" pitchFamily="49" charset="0"/>
              </a:rPr>
              <a:t>c</a:t>
            </a:r>
            <a:r>
              <a:rPr lang="zh-CN" altLang="en-US" sz="2400" dirty="0">
                <a:solidFill>
                  <a:srgbClr val="FF0000"/>
                </a:solidFill>
                <a:latin typeface="Consolas" panose="020B0609020204030204" pitchFamily="49" charset="0"/>
              </a:rPr>
              <a:t>py(p</a:t>
            </a:r>
            <a:r>
              <a:rPr lang="en-US" altLang="zh-CN" sz="2400" dirty="0">
                <a:solidFill>
                  <a:srgbClr val="FF0000"/>
                </a:solidFill>
                <a:latin typeface="Consolas" panose="020B0609020204030204" pitchFamily="49" charset="0"/>
              </a:rPr>
              <a:t>1</a:t>
            </a:r>
            <a:r>
              <a:rPr lang="zh-CN" altLang="en-US" sz="2400" dirty="0">
                <a:solidFill>
                  <a:srgbClr val="FF0000"/>
                </a:solidFill>
                <a:latin typeface="Consolas" panose="020B0609020204030204" pitchFamily="49" charset="0"/>
              </a:rPr>
              <a:t>,p</a:t>
            </a:r>
            <a:r>
              <a:rPr lang="en-US" altLang="zh-CN" sz="2400" dirty="0">
                <a:solidFill>
                  <a:srgbClr val="FF0000"/>
                </a:solidFill>
                <a:latin typeface="Consolas" panose="020B0609020204030204" pitchFamily="49" charset="0"/>
              </a:rPr>
              <a:t>2</a:t>
            </a:r>
            <a:r>
              <a:rPr lang="zh-CN" altLang="en-US" sz="2400" dirty="0">
                <a:solidFill>
                  <a:srgbClr val="FF0000"/>
                </a:solidFill>
                <a:latin typeface="Consolas" panose="020B0609020204030204" pitchFamily="49" charset="0"/>
              </a:rPr>
              <a:t>);</a:t>
            </a:r>
            <a:r>
              <a:rPr lang="en-US" altLang="zh-CN" sz="2400" dirty="0">
                <a:solidFill>
                  <a:srgbClr val="FF0000"/>
                </a:solidFill>
                <a:latin typeface="Consolas" panose="020B0609020204030204" pitchFamily="49" charset="0"/>
              </a:rPr>
              <a:t>//error</a:t>
            </a:r>
            <a:endParaRPr lang="zh-CN" altLang="en-US" sz="2400" dirty="0">
              <a:solidFill>
                <a:srgbClr val="FF0000"/>
              </a:solidFill>
              <a:latin typeface="Consolas" panose="020B0609020204030204" pitchFamily="49" charset="0"/>
            </a:endParaRPr>
          </a:p>
          <a:p>
            <a:pPr eaLnBrk="0" hangingPunct="0">
              <a:buNone/>
            </a:pPr>
            <a:r>
              <a:rPr lang="zh-CN" altLang="en-US" sz="2400" dirty="0">
                <a:latin typeface="Consolas" panose="020B0609020204030204" pitchFamily="49" charset="0"/>
              </a:rPr>
              <a:t>   printf("\nstring a=%s\nstring b=%s\n",p1,p2);</a:t>
            </a:r>
          </a:p>
          <a:p>
            <a:pPr eaLnBrk="0" hangingPunct="0">
              <a:buNone/>
            </a:pPr>
            <a:r>
              <a:rPr lang="zh-CN" altLang="en-US" sz="2400" dirty="0">
                <a:latin typeface="Consolas" panose="020B0609020204030204" pitchFamily="49" charset="0"/>
              </a:rPr>
              <a:t>   if (str</a:t>
            </a:r>
            <a:r>
              <a:rPr lang="en-US" altLang="zh-CN" sz="2400" dirty="0">
                <a:latin typeface="Consolas" panose="020B0609020204030204" pitchFamily="49" charset="0"/>
              </a:rPr>
              <a:t>c</a:t>
            </a:r>
            <a:r>
              <a:rPr lang="zh-CN" altLang="en-US" sz="2400" dirty="0">
                <a:latin typeface="Consolas" panose="020B0609020204030204" pitchFamily="49" charset="0"/>
              </a:rPr>
              <a:t>mp(p1,p2)==0)</a:t>
            </a:r>
          </a:p>
          <a:p>
            <a:pPr eaLnBrk="0" hangingPunct="0">
              <a:buNone/>
            </a:pPr>
            <a:r>
              <a:rPr lang="zh-CN" altLang="en-US" sz="2400" dirty="0">
                <a:latin typeface="Consolas" panose="020B0609020204030204" pitchFamily="49" charset="0"/>
              </a:rPr>
              <a:t>   		printf("p1==p2\n");</a:t>
            </a:r>
          </a:p>
          <a:p>
            <a:pPr eaLnBrk="0" hangingPunct="0">
              <a:buNone/>
            </a:pPr>
            <a:r>
              <a:rPr lang="zh-CN" altLang="en-US" sz="2400" dirty="0">
                <a:latin typeface="Consolas" panose="020B0609020204030204" pitchFamily="49" charset="0"/>
              </a:rPr>
              <a:t>   else printf("p1!=p2\n");</a:t>
            </a:r>
          </a:p>
          <a:p>
            <a:pPr eaLnBrk="0" hangingPunct="0">
              <a:buNone/>
            </a:pPr>
            <a:r>
              <a:rPr lang="zh-CN" altLang="en-US" sz="2400" dirty="0">
                <a:latin typeface="Consolas" panose="020B0609020204030204" pitchFamily="49" charset="0"/>
              </a:rPr>
              <a:t>}</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p:cTn id="7" dur="500" fill="hold"/>
                                        <p:tgtEl>
                                          <p:spTgt spid="77826"/>
                                        </p:tgtEl>
                                        <p:attrNameLst>
                                          <p:attrName>ppt_x</p:attrName>
                                        </p:attrNameLst>
                                      </p:cBhvr>
                                      <p:tavLst>
                                        <p:tav tm="0">
                                          <p:val>
                                            <p:strVal val="0-#ppt_w/2"/>
                                          </p:val>
                                        </p:tav>
                                        <p:tav tm="100000">
                                          <p:val>
                                            <p:strVal val="#ppt_x"/>
                                          </p:val>
                                        </p:tav>
                                      </p:tavLst>
                                    </p:anim>
                                    <p:anim calcmode="lin" valueType="num">
                                      <p:cBhvr>
                                        <p:cTn id="8" dur="500" fill="hold"/>
                                        <p:tgtEl>
                                          <p:spTgt spid="778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27"/>
                                        </p:tgtEl>
                                        <p:attrNameLst>
                                          <p:attrName>style.visibility</p:attrName>
                                        </p:attrNameLst>
                                      </p:cBhvr>
                                      <p:to>
                                        <p:strVal val="visible"/>
                                      </p:to>
                                    </p:set>
                                    <p:anim calcmode="lin" valueType="num">
                                      <p:cBhvr>
                                        <p:cTn id="13" dur="500" fill="hold"/>
                                        <p:tgtEl>
                                          <p:spTgt spid="77827"/>
                                        </p:tgtEl>
                                        <p:attrNameLst>
                                          <p:attrName>ppt_x</p:attrName>
                                        </p:attrNameLst>
                                      </p:cBhvr>
                                      <p:tavLst>
                                        <p:tav tm="0">
                                          <p:val>
                                            <p:strVal val="0-#ppt_w/2"/>
                                          </p:val>
                                        </p:tav>
                                        <p:tav tm="100000">
                                          <p:val>
                                            <p:strVal val="#ppt_x"/>
                                          </p:val>
                                        </p:tav>
                                      </p:tavLst>
                                    </p:anim>
                                    <p:anim calcmode="lin" valueType="num">
                                      <p:cBhvr>
                                        <p:cTn id="14"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77827" grpId="0" bldLvl="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5">
            <a:extLst>
              <a:ext uri="{FF2B5EF4-FFF2-40B4-BE49-F238E27FC236}">
                <a16:creationId xmlns:a16="http://schemas.microsoft.com/office/drawing/2014/main" id="{925A1FEC-1D42-4B96-BC6C-4C0AFC8358BA}"/>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44DBBC51-0E19-4A81-AABF-FFE77A568F12}" type="slidenum">
              <a:rPr lang="zh-CN" altLang="en-US" smtClean="0"/>
              <a:pPr/>
              <a:t>39</a:t>
            </a:fld>
            <a:endParaRPr lang="zh-CN" altLang="en-US"/>
          </a:p>
        </p:txBody>
      </p:sp>
      <p:sp>
        <p:nvSpPr>
          <p:cNvPr id="51202" name="Rectangle 2">
            <a:extLst>
              <a:ext uri="{FF2B5EF4-FFF2-40B4-BE49-F238E27FC236}">
                <a16:creationId xmlns:a16="http://schemas.microsoft.com/office/drawing/2014/main" id="{89AB8B02-099E-4A76-9976-519EF4CE39B8}"/>
              </a:ext>
            </a:extLst>
          </p:cNvPr>
          <p:cNvSpPr>
            <a:spLocks noGrp="1" noChangeArrowheads="1"/>
          </p:cNvSpPr>
          <p:nvPr>
            <p:ph type="title"/>
          </p:nvPr>
        </p:nvSpPr>
        <p:spPr>
          <a:xfrm>
            <a:off x="1371600" y="404813"/>
            <a:ext cx="7772400" cy="720725"/>
          </a:xfrm>
        </p:spPr>
        <p:txBody>
          <a:bodyPr/>
          <a:lstStyle/>
          <a:p>
            <a:pPr eaLnBrk="1" hangingPunct="1"/>
            <a:r>
              <a:rPr lang="zh-CN" altLang="en-US" b="1">
                <a:latin typeface="微软雅黑" panose="020B0503020204020204" pitchFamily="34" charset="-122"/>
                <a:ea typeface="微软雅黑" panose="020B0503020204020204" pitchFamily="34" charset="-122"/>
              </a:rPr>
              <a:t>7.4 指针数组</a:t>
            </a:r>
            <a:endParaRPr lang="zh-CN" altLang="en-US" b="1"/>
          </a:p>
        </p:txBody>
      </p:sp>
      <p:sp>
        <p:nvSpPr>
          <p:cNvPr id="51203" name="Rectangle 3">
            <a:extLst>
              <a:ext uri="{FF2B5EF4-FFF2-40B4-BE49-F238E27FC236}">
                <a16:creationId xmlns:a16="http://schemas.microsoft.com/office/drawing/2014/main" id="{24883D81-72D6-49BD-BBD2-E9AD9924B08F}"/>
              </a:ext>
            </a:extLst>
          </p:cNvPr>
          <p:cNvSpPr>
            <a:spLocks noGrp="1" noChangeArrowheads="1"/>
          </p:cNvSpPr>
          <p:nvPr>
            <p:ph idx="1"/>
          </p:nvPr>
        </p:nvSpPr>
        <p:spPr/>
        <p:txBody>
          <a:bodyPr/>
          <a:lstStyle/>
          <a:p>
            <a:pPr eaLnBrk="1" hangingPunct="1">
              <a:buFontTx/>
              <a:buNone/>
            </a:pPr>
            <a:r>
              <a:rPr lang="zh-CN" altLang="en-US" b="1"/>
              <a:t>【例</a:t>
            </a:r>
            <a:r>
              <a:rPr lang="en-US" altLang="zh-CN" b="1"/>
              <a:t>9】</a:t>
            </a:r>
            <a:r>
              <a:rPr lang="zh-CN" altLang="en-US" b="1"/>
              <a:t>有若干计算机图书，请按字母顺序，从小到大输出书名。</a:t>
            </a:r>
          </a:p>
          <a:p>
            <a:pPr eaLnBrk="1" hangingPunct="1">
              <a:buFontTx/>
              <a:buNone/>
            </a:pPr>
            <a:r>
              <a:rPr lang="zh-CN" altLang="en-US" b="1"/>
              <a:t>     解题要求：使用排序函数完成排序，在主函数中进行输入输出。</a:t>
            </a:r>
          </a:p>
        </p:txBody>
      </p:sp>
      <p:grpSp>
        <p:nvGrpSpPr>
          <p:cNvPr id="2" name="Group 4">
            <a:extLst>
              <a:ext uri="{FF2B5EF4-FFF2-40B4-BE49-F238E27FC236}">
                <a16:creationId xmlns:a16="http://schemas.microsoft.com/office/drawing/2014/main" id="{AE443E71-E873-4D25-9255-29E4D913CEEA}"/>
              </a:ext>
            </a:extLst>
          </p:cNvPr>
          <p:cNvGrpSpPr>
            <a:grpSpLocks/>
          </p:cNvGrpSpPr>
          <p:nvPr/>
        </p:nvGrpSpPr>
        <p:grpSpPr bwMode="auto">
          <a:xfrm>
            <a:off x="3679825" y="2852738"/>
            <a:ext cx="3660775" cy="2936875"/>
            <a:chOff x="3216" y="1169"/>
            <a:chExt cx="2306" cy="1850"/>
          </a:xfrm>
        </p:grpSpPr>
        <p:sp>
          <p:nvSpPr>
            <p:cNvPr id="51205" name="Rectangle 5">
              <a:extLst>
                <a:ext uri="{FF2B5EF4-FFF2-40B4-BE49-F238E27FC236}">
                  <a16:creationId xmlns:a16="http://schemas.microsoft.com/office/drawing/2014/main" id="{32DCB964-6174-42CC-9534-19884F436E4C}"/>
                </a:ext>
              </a:extLst>
            </p:cNvPr>
            <p:cNvSpPr>
              <a:spLocks noChangeArrowheads="1"/>
            </p:cNvSpPr>
            <p:nvPr/>
          </p:nvSpPr>
          <p:spPr bwMode="auto">
            <a:xfrm>
              <a:off x="3216" y="1394"/>
              <a:ext cx="901" cy="1558"/>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51206" name="Line 6">
              <a:extLst>
                <a:ext uri="{FF2B5EF4-FFF2-40B4-BE49-F238E27FC236}">
                  <a16:creationId xmlns:a16="http://schemas.microsoft.com/office/drawing/2014/main" id="{D5307935-9C3F-4BF5-AB97-17A1347AF321}"/>
                </a:ext>
              </a:extLst>
            </p:cNvPr>
            <p:cNvSpPr>
              <a:spLocks noChangeShapeType="1"/>
            </p:cNvSpPr>
            <p:nvPr/>
          </p:nvSpPr>
          <p:spPr bwMode="auto">
            <a:xfrm flipV="1">
              <a:off x="3216" y="1672"/>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7" name="Line 7">
              <a:extLst>
                <a:ext uri="{FF2B5EF4-FFF2-40B4-BE49-F238E27FC236}">
                  <a16:creationId xmlns:a16="http://schemas.microsoft.com/office/drawing/2014/main" id="{4109280F-0738-42DC-ACE5-6CB5B9D36C56}"/>
                </a:ext>
              </a:extLst>
            </p:cNvPr>
            <p:cNvSpPr>
              <a:spLocks noChangeShapeType="1"/>
            </p:cNvSpPr>
            <p:nvPr/>
          </p:nvSpPr>
          <p:spPr bwMode="auto">
            <a:xfrm>
              <a:off x="3216" y="1939"/>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8" name="Line 8">
              <a:extLst>
                <a:ext uri="{FF2B5EF4-FFF2-40B4-BE49-F238E27FC236}">
                  <a16:creationId xmlns:a16="http://schemas.microsoft.com/office/drawing/2014/main" id="{BD3B0FD7-7B5F-457A-9006-2C603CE1E7AD}"/>
                </a:ext>
              </a:extLst>
            </p:cNvPr>
            <p:cNvSpPr>
              <a:spLocks noChangeShapeType="1"/>
            </p:cNvSpPr>
            <p:nvPr/>
          </p:nvSpPr>
          <p:spPr bwMode="auto">
            <a:xfrm>
              <a:off x="3216" y="2195"/>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9" name="Line 9">
              <a:extLst>
                <a:ext uri="{FF2B5EF4-FFF2-40B4-BE49-F238E27FC236}">
                  <a16:creationId xmlns:a16="http://schemas.microsoft.com/office/drawing/2014/main" id="{5AFE0FFC-BA61-417F-9464-E986BD28652F}"/>
                </a:ext>
              </a:extLst>
            </p:cNvPr>
            <p:cNvSpPr>
              <a:spLocks noChangeShapeType="1"/>
            </p:cNvSpPr>
            <p:nvPr/>
          </p:nvSpPr>
          <p:spPr bwMode="auto">
            <a:xfrm>
              <a:off x="3216" y="2461"/>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0" name="Text Box 10">
              <a:extLst>
                <a:ext uri="{FF2B5EF4-FFF2-40B4-BE49-F238E27FC236}">
                  <a16:creationId xmlns:a16="http://schemas.microsoft.com/office/drawing/2014/main" id="{83C08F88-01F6-4491-B8A8-EBCFE429BC95}"/>
                </a:ext>
              </a:extLst>
            </p:cNvPr>
            <p:cNvSpPr txBox="1">
              <a:spLocks noChangeArrowheads="1"/>
            </p:cNvSpPr>
            <p:nvPr/>
          </p:nvSpPr>
          <p:spPr bwMode="auto">
            <a:xfrm>
              <a:off x="3339" y="1414"/>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name[0]</a:t>
              </a:r>
            </a:p>
          </p:txBody>
        </p:sp>
        <p:sp>
          <p:nvSpPr>
            <p:cNvPr id="51211" name="Text Box 11">
              <a:extLst>
                <a:ext uri="{FF2B5EF4-FFF2-40B4-BE49-F238E27FC236}">
                  <a16:creationId xmlns:a16="http://schemas.microsoft.com/office/drawing/2014/main" id="{A59CF9C5-754F-459D-9562-811C70AA998A}"/>
                </a:ext>
              </a:extLst>
            </p:cNvPr>
            <p:cNvSpPr txBox="1">
              <a:spLocks noChangeArrowheads="1"/>
            </p:cNvSpPr>
            <p:nvPr/>
          </p:nvSpPr>
          <p:spPr bwMode="auto">
            <a:xfrm>
              <a:off x="3350" y="1680"/>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name[1]</a:t>
              </a:r>
            </a:p>
          </p:txBody>
        </p:sp>
        <p:sp>
          <p:nvSpPr>
            <p:cNvPr id="51212" name="Text Box 12">
              <a:extLst>
                <a:ext uri="{FF2B5EF4-FFF2-40B4-BE49-F238E27FC236}">
                  <a16:creationId xmlns:a16="http://schemas.microsoft.com/office/drawing/2014/main" id="{1BC1E40E-E311-4469-A731-48830818E975}"/>
                </a:ext>
              </a:extLst>
            </p:cNvPr>
            <p:cNvSpPr txBox="1">
              <a:spLocks noChangeArrowheads="1"/>
            </p:cNvSpPr>
            <p:nvPr/>
          </p:nvSpPr>
          <p:spPr bwMode="auto">
            <a:xfrm>
              <a:off x="3350" y="1936"/>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name[2]</a:t>
              </a:r>
            </a:p>
          </p:txBody>
        </p:sp>
        <p:sp>
          <p:nvSpPr>
            <p:cNvPr id="51213" name="Text Box 13">
              <a:extLst>
                <a:ext uri="{FF2B5EF4-FFF2-40B4-BE49-F238E27FC236}">
                  <a16:creationId xmlns:a16="http://schemas.microsoft.com/office/drawing/2014/main" id="{F5C836F9-64D0-477E-906E-EB56296B7E5E}"/>
                </a:ext>
              </a:extLst>
            </p:cNvPr>
            <p:cNvSpPr txBox="1">
              <a:spLocks noChangeArrowheads="1"/>
            </p:cNvSpPr>
            <p:nvPr/>
          </p:nvSpPr>
          <p:spPr bwMode="auto">
            <a:xfrm>
              <a:off x="3350" y="2214"/>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name[3]</a:t>
              </a:r>
            </a:p>
          </p:txBody>
        </p:sp>
        <p:sp>
          <p:nvSpPr>
            <p:cNvPr id="51214" name="Text Box 14">
              <a:extLst>
                <a:ext uri="{FF2B5EF4-FFF2-40B4-BE49-F238E27FC236}">
                  <a16:creationId xmlns:a16="http://schemas.microsoft.com/office/drawing/2014/main" id="{06AA38D7-E4B6-4436-8344-5CDC1F06E5A5}"/>
                </a:ext>
              </a:extLst>
            </p:cNvPr>
            <p:cNvSpPr txBox="1">
              <a:spLocks noChangeArrowheads="1"/>
            </p:cNvSpPr>
            <p:nvPr/>
          </p:nvSpPr>
          <p:spPr bwMode="auto">
            <a:xfrm>
              <a:off x="3350" y="2480"/>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name[4]</a:t>
              </a:r>
            </a:p>
          </p:txBody>
        </p:sp>
        <p:sp>
          <p:nvSpPr>
            <p:cNvPr id="51215" name="Text Box 15">
              <a:extLst>
                <a:ext uri="{FF2B5EF4-FFF2-40B4-BE49-F238E27FC236}">
                  <a16:creationId xmlns:a16="http://schemas.microsoft.com/office/drawing/2014/main" id="{30AFAA3F-5CD8-4DD0-AE2E-A0B37E06DE06}"/>
                </a:ext>
              </a:extLst>
            </p:cNvPr>
            <p:cNvSpPr txBox="1">
              <a:spLocks noChangeArrowheads="1"/>
            </p:cNvSpPr>
            <p:nvPr/>
          </p:nvSpPr>
          <p:spPr bwMode="auto">
            <a:xfrm>
              <a:off x="3444" y="1169"/>
              <a:ext cx="4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solidFill>
                    <a:srgbClr val="0000FF"/>
                  </a:solidFill>
                </a:rPr>
                <a:t>name</a:t>
              </a:r>
            </a:p>
          </p:txBody>
        </p:sp>
        <p:sp>
          <p:nvSpPr>
            <p:cNvPr id="51216" name="Text Box 16">
              <a:extLst>
                <a:ext uri="{FF2B5EF4-FFF2-40B4-BE49-F238E27FC236}">
                  <a16:creationId xmlns:a16="http://schemas.microsoft.com/office/drawing/2014/main" id="{C2E098E2-AEC7-4471-8A10-30679B352ECE}"/>
                </a:ext>
              </a:extLst>
            </p:cNvPr>
            <p:cNvSpPr txBox="1">
              <a:spLocks noChangeArrowheads="1"/>
            </p:cNvSpPr>
            <p:nvPr/>
          </p:nvSpPr>
          <p:spPr bwMode="auto">
            <a:xfrm>
              <a:off x="4617" y="1922"/>
              <a:ext cx="655" cy="251"/>
            </a:xfrm>
            <a:prstGeom prst="rect">
              <a:avLst/>
            </a:prstGeom>
            <a:solidFill>
              <a:srgbClr val="FFCCFF"/>
            </a:solidFill>
            <a:ln w="9525">
              <a:solidFill>
                <a:schemeClr val="tx1"/>
              </a:solidFill>
              <a:miter lim="800000"/>
              <a:headEnd/>
              <a:tailEnd/>
            </a:ln>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2000"/>
                <a:t>"</a:t>
              </a:r>
              <a:r>
                <a:rPr lang="en-US" altLang="zh-CN" sz="2000"/>
                <a:t>Pascal"</a:t>
              </a:r>
            </a:p>
          </p:txBody>
        </p:sp>
        <p:sp>
          <p:nvSpPr>
            <p:cNvPr id="51217" name="Text Box 17">
              <a:extLst>
                <a:ext uri="{FF2B5EF4-FFF2-40B4-BE49-F238E27FC236}">
                  <a16:creationId xmlns:a16="http://schemas.microsoft.com/office/drawing/2014/main" id="{AF9EE260-BA34-4EF3-8EE3-85BAB9D4D13F}"/>
                </a:ext>
              </a:extLst>
            </p:cNvPr>
            <p:cNvSpPr txBox="1">
              <a:spLocks noChangeArrowheads="1"/>
            </p:cNvSpPr>
            <p:nvPr/>
          </p:nvSpPr>
          <p:spPr bwMode="auto">
            <a:xfrm>
              <a:off x="4615" y="2210"/>
              <a:ext cx="652" cy="251"/>
            </a:xfrm>
            <a:prstGeom prst="rect">
              <a:avLst/>
            </a:prstGeom>
            <a:solidFill>
              <a:srgbClr val="FFCCFF"/>
            </a:solidFill>
            <a:ln w="9525">
              <a:solidFill>
                <a:schemeClr val="tx1"/>
              </a:solidFill>
              <a:miter lim="800000"/>
              <a:headEnd/>
              <a:tailEnd/>
            </a:ln>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2000"/>
                <a:t>"</a:t>
              </a:r>
              <a:r>
                <a:rPr lang="en-US" altLang="zh-CN" sz="2000"/>
                <a:t>BASIC</a:t>
              </a:r>
            </a:p>
          </p:txBody>
        </p:sp>
        <p:sp>
          <p:nvSpPr>
            <p:cNvPr id="51218" name="Text Box 18">
              <a:extLst>
                <a:ext uri="{FF2B5EF4-FFF2-40B4-BE49-F238E27FC236}">
                  <a16:creationId xmlns:a16="http://schemas.microsoft.com/office/drawing/2014/main" id="{A125D5AF-7C7F-446B-9234-015EFA56A5F3}"/>
                </a:ext>
              </a:extLst>
            </p:cNvPr>
            <p:cNvSpPr txBox="1">
              <a:spLocks noChangeArrowheads="1"/>
            </p:cNvSpPr>
            <p:nvPr/>
          </p:nvSpPr>
          <p:spPr bwMode="auto">
            <a:xfrm>
              <a:off x="4608" y="2496"/>
              <a:ext cx="371" cy="251"/>
            </a:xfrm>
            <a:prstGeom prst="rect">
              <a:avLst/>
            </a:prstGeom>
            <a:solidFill>
              <a:srgbClr val="FFCCFF"/>
            </a:solidFill>
            <a:ln w="9525">
              <a:solidFill>
                <a:schemeClr val="tx1"/>
              </a:solidFill>
              <a:miter lim="800000"/>
              <a:headEnd/>
              <a:tailEnd/>
            </a:ln>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2000"/>
                <a:t>"</a:t>
              </a:r>
              <a:r>
                <a:rPr lang="en-US" altLang="zh-CN" sz="2000"/>
                <a:t>C"</a:t>
              </a:r>
            </a:p>
          </p:txBody>
        </p:sp>
        <p:sp>
          <p:nvSpPr>
            <p:cNvPr id="51219" name="Rectangle 19">
              <a:extLst>
                <a:ext uri="{FF2B5EF4-FFF2-40B4-BE49-F238E27FC236}">
                  <a16:creationId xmlns:a16="http://schemas.microsoft.com/office/drawing/2014/main" id="{72C00C69-E090-415B-BB5B-3F850DD3D456}"/>
                </a:ext>
              </a:extLst>
            </p:cNvPr>
            <p:cNvSpPr>
              <a:spLocks noChangeArrowheads="1"/>
            </p:cNvSpPr>
            <p:nvPr/>
          </p:nvSpPr>
          <p:spPr bwMode="auto">
            <a:xfrm>
              <a:off x="4605" y="1406"/>
              <a:ext cx="531" cy="233"/>
            </a:xfrm>
            <a:prstGeom prst="rect">
              <a:avLst/>
            </a:prstGeom>
            <a:solidFill>
              <a:srgbClr val="FFCCFF"/>
            </a:solidFill>
            <a:ln w="9525">
              <a:solidFill>
                <a:schemeClr val="tx1"/>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zh-CN" altLang="en-US" sz="2000"/>
                <a:t>"</a:t>
              </a:r>
              <a:r>
                <a:rPr lang="en-US" altLang="zh-CN" sz="2000"/>
                <a:t>Ada"</a:t>
              </a:r>
            </a:p>
          </p:txBody>
        </p:sp>
        <p:sp>
          <p:nvSpPr>
            <p:cNvPr id="51220" name="Text Box 20">
              <a:extLst>
                <a:ext uri="{FF2B5EF4-FFF2-40B4-BE49-F238E27FC236}">
                  <a16:creationId xmlns:a16="http://schemas.microsoft.com/office/drawing/2014/main" id="{B597DCC0-5E89-4FAC-B517-40998FAE691A}"/>
                </a:ext>
              </a:extLst>
            </p:cNvPr>
            <p:cNvSpPr txBox="1">
              <a:spLocks noChangeArrowheads="1"/>
            </p:cNvSpPr>
            <p:nvPr/>
          </p:nvSpPr>
          <p:spPr bwMode="auto">
            <a:xfrm>
              <a:off x="4605" y="1661"/>
              <a:ext cx="917" cy="251"/>
            </a:xfrm>
            <a:prstGeom prst="rect">
              <a:avLst/>
            </a:prstGeom>
            <a:solidFill>
              <a:srgbClr val="FFCCFF"/>
            </a:solidFill>
            <a:ln w="9525">
              <a:solidFill>
                <a:schemeClr val="tx1"/>
              </a:solidFill>
              <a:miter lim="800000"/>
              <a:headEnd/>
              <a:tailEnd/>
            </a:ln>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t>"</a:t>
              </a:r>
              <a:r>
                <a:rPr lang="en-US" altLang="zh-CN" sz="2000"/>
                <a:t>FORTRAN</a:t>
              </a:r>
            </a:p>
          </p:txBody>
        </p:sp>
        <p:sp>
          <p:nvSpPr>
            <p:cNvPr id="51221" name="Line 21">
              <a:extLst>
                <a:ext uri="{FF2B5EF4-FFF2-40B4-BE49-F238E27FC236}">
                  <a16:creationId xmlns:a16="http://schemas.microsoft.com/office/drawing/2014/main" id="{AF28EF0A-A47B-4F8B-B2FE-91109EA9C9AC}"/>
                </a:ext>
              </a:extLst>
            </p:cNvPr>
            <p:cNvSpPr>
              <a:spLocks noChangeShapeType="1"/>
            </p:cNvSpPr>
            <p:nvPr/>
          </p:nvSpPr>
          <p:spPr bwMode="auto">
            <a:xfrm>
              <a:off x="3216" y="2708"/>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2" name="Text Box 22">
              <a:extLst>
                <a:ext uri="{FF2B5EF4-FFF2-40B4-BE49-F238E27FC236}">
                  <a16:creationId xmlns:a16="http://schemas.microsoft.com/office/drawing/2014/main" id="{ED52025F-6E52-4EFF-A42B-5F3111AD782B}"/>
                </a:ext>
              </a:extLst>
            </p:cNvPr>
            <p:cNvSpPr txBox="1">
              <a:spLocks noChangeArrowheads="1"/>
            </p:cNvSpPr>
            <p:nvPr/>
          </p:nvSpPr>
          <p:spPr bwMode="auto">
            <a:xfrm>
              <a:off x="3360" y="2717"/>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name[5]</a:t>
              </a:r>
            </a:p>
          </p:txBody>
        </p:sp>
        <p:sp>
          <p:nvSpPr>
            <p:cNvPr id="51223" name="Text Box 23">
              <a:extLst>
                <a:ext uri="{FF2B5EF4-FFF2-40B4-BE49-F238E27FC236}">
                  <a16:creationId xmlns:a16="http://schemas.microsoft.com/office/drawing/2014/main" id="{3093D439-C322-4E15-B5A9-80903B8006BD}"/>
                </a:ext>
              </a:extLst>
            </p:cNvPr>
            <p:cNvSpPr txBox="1">
              <a:spLocks noChangeArrowheads="1"/>
            </p:cNvSpPr>
            <p:nvPr/>
          </p:nvSpPr>
          <p:spPr bwMode="auto">
            <a:xfrm>
              <a:off x="4618" y="2768"/>
              <a:ext cx="903" cy="251"/>
            </a:xfrm>
            <a:prstGeom prst="rect">
              <a:avLst/>
            </a:prstGeom>
            <a:solidFill>
              <a:srgbClr val="FFCCFF"/>
            </a:solidFill>
            <a:ln w="9525">
              <a:solidFill>
                <a:schemeClr val="tx1"/>
              </a:solidFill>
              <a:miter lim="800000"/>
              <a:headEnd/>
              <a:tailEnd/>
            </a:ln>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2000"/>
                <a:t>"</a:t>
              </a:r>
              <a:r>
                <a:rPr lang="en-US" altLang="zh-CN" sz="2000"/>
                <a:t>FoxBASE"</a:t>
              </a:r>
            </a:p>
          </p:txBody>
        </p:sp>
      </p:grpSp>
      <p:grpSp>
        <p:nvGrpSpPr>
          <p:cNvPr id="3" name="Group 24">
            <a:extLst>
              <a:ext uri="{FF2B5EF4-FFF2-40B4-BE49-F238E27FC236}">
                <a16:creationId xmlns:a16="http://schemas.microsoft.com/office/drawing/2014/main" id="{0645F9DC-2719-48FF-A8EB-51983C3F7CA2}"/>
              </a:ext>
            </a:extLst>
          </p:cNvPr>
          <p:cNvGrpSpPr>
            <a:grpSpLocks/>
          </p:cNvGrpSpPr>
          <p:nvPr/>
        </p:nvGrpSpPr>
        <p:grpSpPr bwMode="auto">
          <a:xfrm>
            <a:off x="5127625" y="3478213"/>
            <a:ext cx="762000" cy="2057400"/>
            <a:chOff x="4128" y="1536"/>
            <a:chExt cx="480" cy="1296"/>
          </a:xfrm>
        </p:grpSpPr>
        <p:sp>
          <p:nvSpPr>
            <p:cNvPr id="51225" name="Line 25">
              <a:extLst>
                <a:ext uri="{FF2B5EF4-FFF2-40B4-BE49-F238E27FC236}">
                  <a16:creationId xmlns:a16="http://schemas.microsoft.com/office/drawing/2014/main" id="{A2779EDD-6E64-4D1D-933C-6F53EE980D3D}"/>
                </a:ext>
              </a:extLst>
            </p:cNvPr>
            <p:cNvSpPr>
              <a:spLocks noChangeShapeType="1"/>
            </p:cNvSpPr>
            <p:nvPr/>
          </p:nvSpPr>
          <p:spPr bwMode="auto">
            <a:xfrm>
              <a:off x="4128" y="1536"/>
              <a:ext cx="48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6" name="Line 26">
              <a:extLst>
                <a:ext uri="{FF2B5EF4-FFF2-40B4-BE49-F238E27FC236}">
                  <a16:creationId xmlns:a16="http://schemas.microsoft.com/office/drawing/2014/main" id="{A7D47EC1-4880-4FCF-B954-0D489FD16DA5}"/>
                </a:ext>
              </a:extLst>
            </p:cNvPr>
            <p:cNvSpPr>
              <a:spLocks noChangeShapeType="1"/>
            </p:cNvSpPr>
            <p:nvPr/>
          </p:nvSpPr>
          <p:spPr bwMode="auto">
            <a:xfrm>
              <a:off x="4128" y="1824"/>
              <a:ext cx="480" cy="48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7" name="Line 27">
              <a:extLst>
                <a:ext uri="{FF2B5EF4-FFF2-40B4-BE49-F238E27FC236}">
                  <a16:creationId xmlns:a16="http://schemas.microsoft.com/office/drawing/2014/main" id="{82872BCC-CD16-4AEE-B6FF-7F4E29518F80}"/>
                </a:ext>
              </a:extLst>
            </p:cNvPr>
            <p:cNvSpPr>
              <a:spLocks noChangeShapeType="1"/>
            </p:cNvSpPr>
            <p:nvPr/>
          </p:nvSpPr>
          <p:spPr bwMode="auto">
            <a:xfrm>
              <a:off x="4128" y="2064"/>
              <a:ext cx="480" cy="52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8" name="Line 28">
              <a:extLst>
                <a:ext uri="{FF2B5EF4-FFF2-40B4-BE49-F238E27FC236}">
                  <a16:creationId xmlns:a16="http://schemas.microsoft.com/office/drawing/2014/main" id="{B4BE5638-8ADE-43C7-8FCD-1FAF264E5AC9}"/>
                </a:ext>
              </a:extLst>
            </p:cNvPr>
            <p:cNvSpPr>
              <a:spLocks noChangeShapeType="1"/>
            </p:cNvSpPr>
            <p:nvPr/>
          </p:nvSpPr>
          <p:spPr bwMode="auto">
            <a:xfrm flipV="1">
              <a:off x="4128" y="1824"/>
              <a:ext cx="480" cy="48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9" name="Line 29">
              <a:extLst>
                <a:ext uri="{FF2B5EF4-FFF2-40B4-BE49-F238E27FC236}">
                  <a16:creationId xmlns:a16="http://schemas.microsoft.com/office/drawing/2014/main" id="{B707763E-2B7A-4246-866F-51C6E4F13687}"/>
                </a:ext>
              </a:extLst>
            </p:cNvPr>
            <p:cNvSpPr>
              <a:spLocks noChangeShapeType="1"/>
            </p:cNvSpPr>
            <p:nvPr/>
          </p:nvSpPr>
          <p:spPr bwMode="auto">
            <a:xfrm>
              <a:off x="4128" y="2592"/>
              <a:ext cx="480" cy="24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0" name="Line 30">
              <a:extLst>
                <a:ext uri="{FF2B5EF4-FFF2-40B4-BE49-F238E27FC236}">
                  <a16:creationId xmlns:a16="http://schemas.microsoft.com/office/drawing/2014/main" id="{26743C36-4CE8-4B74-99BE-C4F5D3977D42}"/>
                </a:ext>
              </a:extLst>
            </p:cNvPr>
            <p:cNvSpPr>
              <a:spLocks noChangeShapeType="1"/>
            </p:cNvSpPr>
            <p:nvPr/>
          </p:nvSpPr>
          <p:spPr bwMode="auto">
            <a:xfrm flipV="1">
              <a:off x="4128" y="2064"/>
              <a:ext cx="480" cy="76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31">
            <a:extLst>
              <a:ext uri="{FF2B5EF4-FFF2-40B4-BE49-F238E27FC236}">
                <a16:creationId xmlns:a16="http://schemas.microsoft.com/office/drawing/2014/main" id="{66EE723D-7E59-4CBE-AA33-82B6C587A398}"/>
              </a:ext>
            </a:extLst>
          </p:cNvPr>
          <p:cNvGrpSpPr>
            <a:grpSpLocks/>
          </p:cNvGrpSpPr>
          <p:nvPr/>
        </p:nvGrpSpPr>
        <p:grpSpPr bwMode="auto">
          <a:xfrm>
            <a:off x="5127625" y="3432175"/>
            <a:ext cx="762000" cy="2163763"/>
            <a:chOff x="2832" y="2544"/>
            <a:chExt cx="480" cy="1363"/>
          </a:xfrm>
        </p:grpSpPr>
        <p:sp>
          <p:nvSpPr>
            <p:cNvPr id="51232" name="Line 32">
              <a:extLst>
                <a:ext uri="{FF2B5EF4-FFF2-40B4-BE49-F238E27FC236}">
                  <a16:creationId xmlns:a16="http://schemas.microsoft.com/office/drawing/2014/main" id="{A52953D7-FE74-4C8A-A632-6B581E7E68FE}"/>
                </a:ext>
              </a:extLst>
            </p:cNvPr>
            <p:cNvSpPr>
              <a:spLocks noChangeShapeType="1"/>
            </p:cNvSpPr>
            <p:nvPr/>
          </p:nvSpPr>
          <p:spPr bwMode="auto">
            <a:xfrm>
              <a:off x="2832" y="285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3" name="Line 33">
              <a:extLst>
                <a:ext uri="{FF2B5EF4-FFF2-40B4-BE49-F238E27FC236}">
                  <a16:creationId xmlns:a16="http://schemas.microsoft.com/office/drawing/2014/main" id="{D6B4BE4D-875A-444C-A1B8-D880E73DAFC5}"/>
                </a:ext>
              </a:extLst>
            </p:cNvPr>
            <p:cNvSpPr>
              <a:spLocks noChangeShapeType="1"/>
            </p:cNvSpPr>
            <p:nvPr/>
          </p:nvSpPr>
          <p:spPr bwMode="auto">
            <a:xfrm>
              <a:off x="2832" y="309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4" name="Line 34">
              <a:extLst>
                <a:ext uri="{FF2B5EF4-FFF2-40B4-BE49-F238E27FC236}">
                  <a16:creationId xmlns:a16="http://schemas.microsoft.com/office/drawing/2014/main" id="{2216C230-60FF-4245-AB44-90DC69171323}"/>
                </a:ext>
              </a:extLst>
            </p:cNvPr>
            <p:cNvSpPr>
              <a:spLocks noChangeShapeType="1"/>
            </p:cNvSpPr>
            <p:nvPr/>
          </p:nvSpPr>
          <p:spPr bwMode="auto">
            <a:xfrm>
              <a:off x="2832" y="3379"/>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5" name="Line 35">
              <a:extLst>
                <a:ext uri="{FF2B5EF4-FFF2-40B4-BE49-F238E27FC236}">
                  <a16:creationId xmlns:a16="http://schemas.microsoft.com/office/drawing/2014/main" id="{9F635EF0-BE60-4E97-A225-6F2DB6A3D964}"/>
                </a:ext>
              </a:extLst>
            </p:cNvPr>
            <p:cNvSpPr>
              <a:spLocks noChangeShapeType="1"/>
            </p:cNvSpPr>
            <p:nvPr/>
          </p:nvSpPr>
          <p:spPr bwMode="auto">
            <a:xfrm>
              <a:off x="2832" y="3619"/>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6" name="Line 36">
              <a:extLst>
                <a:ext uri="{FF2B5EF4-FFF2-40B4-BE49-F238E27FC236}">
                  <a16:creationId xmlns:a16="http://schemas.microsoft.com/office/drawing/2014/main" id="{DB6F4736-36D5-4B3A-956F-C46B27B60EE0}"/>
                </a:ext>
              </a:extLst>
            </p:cNvPr>
            <p:cNvSpPr>
              <a:spLocks noChangeShapeType="1"/>
            </p:cNvSpPr>
            <p:nvPr/>
          </p:nvSpPr>
          <p:spPr bwMode="auto">
            <a:xfrm>
              <a:off x="2832" y="390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7" name="Line 37">
              <a:extLst>
                <a:ext uri="{FF2B5EF4-FFF2-40B4-BE49-F238E27FC236}">
                  <a16:creationId xmlns:a16="http://schemas.microsoft.com/office/drawing/2014/main" id="{6BE6E0E4-3D11-4F27-A93D-17E1A528D9CB}"/>
                </a:ext>
              </a:extLst>
            </p:cNvPr>
            <p:cNvSpPr>
              <a:spLocks noChangeShapeType="1"/>
            </p:cNvSpPr>
            <p:nvPr/>
          </p:nvSpPr>
          <p:spPr bwMode="auto">
            <a:xfrm>
              <a:off x="2832" y="2544"/>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subTnLst>
                                    <p:audio>
                                      <p:cMediaNode>
                                        <p:cTn display="0" masterRel="sameClick">
                                          <p:stCondLst>
                                            <p:cond evt="begin" delay="0">
                                              <p:tn val="15"/>
                                            </p:cond>
                                          </p:stCondLst>
                                          <p:endCondLst>
                                            <p:cond evt="onStopAudio" delay="0">
                                              <p:tgtEl>
                                                <p:sldTgt/>
                                              </p:tgtEl>
                                            </p:cond>
                                          </p:endCondLst>
                                        </p:cTn>
                                        <p:tgtEl>
                                          <p:sndTgt r:embed="rId3"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灯片编号占位符 5">
            <a:extLst>
              <a:ext uri="{FF2B5EF4-FFF2-40B4-BE49-F238E27FC236}">
                <a16:creationId xmlns:a16="http://schemas.microsoft.com/office/drawing/2014/main" id="{AA12FB2C-FEBC-4C14-9F11-0C0D62EB0884}"/>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40</a:t>
            </a:fld>
            <a:endParaRPr lang="zh-CN" altLang="en-US"/>
          </a:p>
        </p:txBody>
      </p:sp>
      <p:sp>
        <p:nvSpPr>
          <p:cNvPr id="52226" name="Rectangle 5">
            <a:extLst>
              <a:ext uri="{FF2B5EF4-FFF2-40B4-BE49-F238E27FC236}">
                <a16:creationId xmlns:a16="http://schemas.microsoft.com/office/drawing/2014/main" id="{5D47A328-0A95-435D-B217-B462C7173263}"/>
              </a:ext>
            </a:extLst>
          </p:cNvPr>
          <p:cNvSpPr>
            <a:spLocks noGrp="1" noChangeArrowheads="1"/>
          </p:cNvSpPr>
          <p:nvPr>
            <p:ph idx="1"/>
          </p:nvPr>
        </p:nvSpPr>
        <p:spPr>
          <a:xfrm>
            <a:off x="466725" y="1295400"/>
            <a:ext cx="8677275" cy="1752600"/>
          </a:xfrm>
        </p:spPr>
        <p:txBody>
          <a:bodyPr/>
          <a:lstStyle/>
          <a:p>
            <a:pPr eaLnBrk="1" hangingPunct="1">
              <a:lnSpc>
                <a:spcPct val="90000"/>
              </a:lnSpc>
              <a:buClr>
                <a:srgbClr val="FF00FF"/>
              </a:buClr>
              <a:buFont typeface="Wingdings" panose="05000000000000000000" pitchFamily="2" charset="2"/>
              <a:buChar char="q"/>
            </a:pPr>
            <a:r>
              <a:rPr lang="zh-CN" altLang="en-US" b="1"/>
              <a:t>指针数组</a:t>
            </a:r>
            <a:endParaRPr lang="zh-CN" altLang="en-US" b="1">
              <a:solidFill>
                <a:srgbClr val="FF66CC"/>
              </a:solidFill>
            </a:endParaRPr>
          </a:p>
          <a:p>
            <a:pPr eaLnBrk="1" hangingPunct="1">
              <a:lnSpc>
                <a:spcPct val="90000"/>
              </a:lnSpc>
              <a:buClr>
                <a:srgbClr val="FF00FF"/>
              </a:buClr>
              <a:buFont typeface="Wingdings" panose="05000000000000000000" pitchFamily="2" charset="2"/>
              <a:buNone/>
            </a:pPr>
            <a:r>
              <a:rPr lang="zh-CN" altLang="en-US">
                <a:solidFill>
                  <a:srgbClr val="FF66CC"/>
                </a:solidFill>
                <a:ea typeface="楷体_GB2312" pitchFamily="49" charset="-122"/>
              </a:rPr>
              <a:t>  </a:t>
            </a:r>
            <a:r>
              <a:rPr lang="zh-CN" altLang="en-US" b="1"/>
              <a:t>数组中的元素为指针变量。常用于处理多个字符串。</a:t>
            </a:r>
          </a:p>
          <a:p>
            <a:pPr eaLnBrk="1" hangingPunct="1">
              <a:lnSpc>
                <a:spcPct val="90000"/>
              </a:lnSpc>
              <a:buClr>
                <a:srgbClr val="FF00FF"/>
              </a:buClr>
              <a:buFont typeface="Wingdings" panose="05000000000000000000" pitchFamily="2" charset="2"/>
              <a:buNone/>
            </a:pPr>
            <a:endParaRPr lang="zh-CN" altLang="en-US" sz="900">
              <a:ea typeface="楷体_GB2312" pitchFamily="49" charset="-122"/>
            </a:endParaRPr>
          </a:p>
          <a:p>
            <a:pPr lvl="1" eaLnBrk="1" hangingPunct="1">
              <a:lnSpc>
                <a:spcPct val="90000"/>
              </a:lnSpc>
              <a:buFontTx/>
              <a:buNone/>
            </a:pPr>
            <a:r>
              <a:rPr lang="zh-CN" altLang="en-US" b="1">
                <a:solidFill>
                  <a:schemeClr val="accent2"/>
                </a:solidFill>
              </a:rPr>
              <a:t>数据类型 * 数组名[数组长度]；</a:t>
            </a:r>
            <a:endParaRPr lang="zh-CN" altLang="en-US">
              <a:solidFill>
                <a:schemeClr val="accent2"/>
              </a:solidFill>
              <a:ea typeface="楷体_GB2312" pitchFamily="49" charset="-122"/>
            </a:endParaRPr>
          </a:p>
          <a:p>
            <a:pPr lvl="1" algn="just" eaLnBrk="1" hangingPunct="1">
              <a:lnSpc>
                <a:spcPct val="90000"/>
              </a:lnSpc>
            </a:pPr>
            <a:endParaRPr lang="zh-CN" altLang="en-US">
              <a:solidFill>
                <a:schemeClr val="accent2"/>
              </a:solidFill>
              <a:ea typeface="楷体_GB2312" pitchFamily="49" charset="-122"/>
            </a:endParaRPr>
          </a:p>
        </p:txBody>
      </p:sp>
      <p:sp>
        <p:nvSpPr>
          <p:cNvPr id="52227" name="Text Box 7">
            <a:extLst>
              <a:ext uri="{FF2B5EF4-FFF2-40B4-BE49-F238E27FC236}">
                <a16:creationId xmlns:a16="http://schemas.microsoft.com/office/drawing/2014/main" id="{EC37B62D-F9D7-4798-87F8-C60BAA29978E}"/>
              </a:ext>
            </a:extLst>
          </p:cNvPr>
          <p:cNvSpPr txBox="1">
            <a:spLocks noChangeArrowheads="1"/>
          </p:cNvSpPr>
          <p:nvPr/>
        </p:nvSpPr>
        <p:spPr bwMode="auto">
          <a:xfrm>
            <a:off x="755650" y="2997200"/>
            <a:ext cx="7704138" cy="492125"/>
          </a:xfrm>
          <a:prstGeom prst="rect">
            <a:avLst/>
          </a:prstGeom>
          <a:solidFill>
            <a:srgbClr val="CCFFCC"/>
          </a:solidFill>
          <a:ln w="38100">
            <a:solidFill>
              <a:schemeClr val="hlink"/>
            </a:solidFill>
            <a:miter lim="800000"/>
            <a:headEnd/>
            <a:tailEnd/>
          </a:ln>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r>
              <a:rPr lang="en-US" altLang="zh-CN" sz="2600" b="1"/>
              <a:t>char * name[SIZE]; </a:t>
            </a:r>
            <a:endParaRPr lang="zh-CN" altLang="en-US" sz="2600" b="1">
              <a:ea typeface="楷体_GB2312" pitchFamily="49" charset="-122"/>
            </a:endParaRPr>
          </a:p>
        </p:txBody>
      </p:sp>
      <p:sp>
        <p:nvSpPr>
          <p:cNvPr id="52228" name="Rectangle 9">
            <a:extLst>
              <a:ext uri="{FF2B5EF4-FFF2-40B4-BE49-F238E27FC236}">
                <a16:creationId xmlns:a16="http://schemas.microsoft.com/office/drawing/2014/main" id="{0BAA36A7-1965-4684-A0A4-F9F901D40188}"/>
              </a:ext>
            </a:extLst>
          </p:cNvPr>
          <p:cNvSpPr>
            <a:spLocks noGrp="1" noChangeArrowheads="1"/>
          </p:cNvSpPr>
          <p:nvPr>
            <p:ph type="title"/>
          </p:nvPr>
        </p:nvSpPr>
        <p:spPr/>
        <p:txBody>
          <a:bodyPr/>
          <a:lstStyle/>
          <a:p>
            <a:pPr eaLnBrk="1" hangingPunct="1"/>
            <a:r>
              <a:rPr lang="zh-CN" altLang="en-US" b="1">
                <a:latin typeface="微软雅黑" panose="020B0503020204020204" pitchFamily="34" charset="-122"/>
                <a:ea typeface="微软雅黑" panose="020B0503020204020204" pitchFamily="34" charset="-122"/>
              </a:rPr>
              <a:t>7.</a:t>
            </a:r>
            <a:r>
              <a:rPr lang="en-US" altLang="zh-CN" b="1">
                <a:latin typeface="微软雅黑" panose="020B0503020204020204" pitchFamily="34" charset="-122"/>
                <a:ea typeface="微软雅黑" panose="020B0503020204020204" pitchFamily="34" charset="-122"/>
              </a:rPr>
              <a:t>4 </a:t>
            </a:r>
            <a:r>
              <a:rPr lang="zh-CN" altLang="en-US" b="1"/>
              <a:t>指针数组</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5">
            <a:extLst>
              <a:ext uri="{FF2B5EF4-FFF2-40B4-BE49-F238E27FC236}">
                <a16:creationId xmlns:a16="http://schemas.microsoft.com/office/drawing/2014/main" id="{D1623991-8B46-4FDF-A4E7-4331695879F4}"/>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41</a:t>
            </a:fld>
            <a:endParaRPr lang="zh-CN" altLang="en-US"/>
          </a:p>
        </p:txBody>
      </p:sp>
      <p:sp>
        <p:nvSpPr>
          <p:cNvPr id="54274" name="Rectangle 2">
            <a:extLst>
              <a:ext uri="{FF2B5EF4-FFF2-40B4-BE49-F238E27FC236}">
                <a16:creationId xmlns:a16="http://schemas.microsoft.com/office/drawing/2014/main" id="{4E46B028-7DFA-4D80-949B-88DD99BE98E9}"/>
              </a:ext>
            </a:extLst>
          </p:cNvPr>
          <p:cNvSpPr>
            <a:spLocks noGrp="1" noChangeArrowheads="1"/>
          </p:cNvSpPr>
          <p:nvPr>
            <p:ph type="title"/>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7.4 指针数组</a:t>
            </a:r>
            <a:endParaRPr lang="zh-CN" altLang="en-US" dirty="0"/>
          </a:p>
        </p:txBody>
      </p:sp>
      <p:sp>
        <p:nvSpPr>
          <p:cNvPr id="54275" name="Rectangle 3">
            <a:extLst>
              <a:ext uri="{FF2B5EF4-FFF2-40B4-BE49-F238E27FC236}">
                <a16:creationId xmlns:a16="http://schemas.microsoft.com/office/drawing/2014/main" id="{8AA2C86B-A898-45D1-BD1B-5C2E2071DBC1}"/>
              </a:ext>
            </a:extLst>
          </p:cNvPr>
          <p:cNvSpPr>
            <a:spLocks noGrp="1" noChangeArrowheads="1"/>
          </p:cNvSpPr>
          <p:nvPr>
            <p:ph idx="1"/>
          </p:nvPr>
        </p:nvSpPr>
        <p:spPr>
          <a:xfrm>
            <a:off x="444500" y="1125538"/>
            <a:ext cx="8394700" cy="5039766"/>
          </a:xfrm>
        </p:spPr>
        <p:txBody>
          <a:bodyPr/>
          <a:lstStyle/>
          <a:p>
            <a:pPr eaLnBrk="1" hangingPunct="1">
              <a:lnSpc>
                <a:spcPct val="90000"/>
              </a:lnSpc>
              <a:buFontTx/>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eaLnBrk="1" hangingPunct="1">
              <a:lnSpc>
                <a:spcPct val="90000"/>
              </a:lnSpc>
              <a:buFontTx/>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stdlib.h</a:t>
            </a:r>
            <a:r>
              <a:rPr lang="en-US" altLang="zh-CN" sz="2000" dirty="0">
                <a:latin typeface="Consolas" panose="020B0609020204030204" pitchFamily="49" charset="0"/>
              </a:rPr>
              <a:t>&gt;</a:t>
            </a:r>
          </a:p>
          <a:p>
            <a:pPr eaLnBrk="1" hangingPunct="1">
              <a:lnSpc>
                <a:spcPct val="90000"/>
              </a:lnSpc>
              <a:buFontTx/>
              <a:buNone/>
            </a:pPr>
            <a:r>
              <a:rPr lang="en-US" altLang="zh-CN" sz="2000" dirty="0">
                <a:latin typeface="Consolas" panose="020B0609020204030204" pitchFamily="49" charset="0"/>
              </a:rPr>
              <a:t>#define SIZE 1000</a:t>
            </a:r>
          </a:p>
          <a:p>
            <a:pPr eaLnBrk="1" hangingPunct="1">
              <a:lnSpc>
                <a:spcPct val="90000"/>
              </a:lnSpc>
              <a:buFontTx/>
              <a:buNone/>
            </a:pPr>
            <a:r>
              <a:rPr lang="en-US" altLang="zh-CN" sz="2000" dirty="0">
                <a:latin typeface="Consolas" panose="020B0609020204030204" pitchFamily="49" charset="0"/>
              </a:rPr>
              <a:t>#define LEN 256</a:t>
            </a:r>
          </a:p>
          <a:p>
            <a:pPr eaLnBrk="1" hangingPunct="1">
              <a:lnSpc>
                <a:spcPct val="90000"/>
              </a:lnSpc>
              <a:buFontTx/>
              <a:buNone/>
            </a:pPr>
            <a:r>
              <a:rPr lang="en-US" altLang="zh-CN" sz="2000" dirty="0">
                <a:latin typeface="Consolas" panose="020B0609020204030204" pitchFamily="49" charset="0"/>
              </a:rPr>
              <a:t>void </a:t>
            </a:r>
            <a:r>
              <a:rPr lang="en-US" altLang="zh-CN" sz="2000" dirty="0" err="1">
                <a:latin typeface="Consolas" panose="020B0609020204030204" pitchFamily="49" charset="0"/>
              </a:rPr>
              <a:t>strSort</a:t>
            </a:r>
            <a:r>
              <a:rPr lang="en-US" altLang="zh-CN" sz="2000" dirty="0">
                <a:latin typeface="Consolas" panose="020B0609020204030204" pitchFamily="49" charset="0"/>
              </a:rPr>
              <a:t>(char * a[], int n);</a:t>
            </a:r>
          </a:p>
          <a:p>
            <a:pPr eaLnBrk="1" hangingPunct="1">
              <a:lnSpc>
                <a:spcPct val="90000"/>
              </a:lnSpc>
              <a:buFontTx/>
              <a:buNone/>
            </a:pPr>
            <a:r>
              <a:rPr lang="en-US" altLang="zh-CN" sz="2000" dirty="0">
                <a:latin typeface="Consolas" panose="020B0609020204030204" pitchFamily="49" charset="0"/>
              </a:rPr>
              <a:t>int main(void)</a:t>
            </a:r>
          </a:p>
          <a:p>
            <a:pPr eaLnBrk="1" hangingPunct="1">
              <a:lnSpc>
                <a:spcPct val="9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n,i</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 char * name[SIZE];</a:t>
            </a:r>
          </a:p>
          <a:p>
            <a:pPr eaLnBrk="1" hangingPunct="1">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input lines number:");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d",&amp;n</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getchar</a:t>
            </a:r>
            <a:r>
              <a:rPr lang="en-US" altLang="zh-CN" sz="2000" dirty="0">
                <a:latin typeface="Consolas" panose="020B0609020204030204" pitchFamily="49" charset="0"/>
              </a:rPr>
              <a:t>();//</a:t>
            </a:r>
            <a:r>
              <a:rPr lang="zh-CN" altLang="en-US" sz="2000" dirty="0">
                <a:latin typeface="Consolas" panose="020B0609020204030204" pitchFamily="49" charset="0"/>
              </a:rPr>
              <a:t>读取回车符，否则系统会认为输入的第一个串会是空串 </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n-1;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       name[</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 =(char *) malloc(LEN);</a:t>
            </a:r>
          </a:p>
          <a:p>
            <a:pPr eaLnBrk="1" hangingPunct="1">
              <a:lnSpc>
                <a:spcPct val="80000"/>
              </a:lnSpc>
              <a:buFontTx/>
              <a:buNone/>
            </a:pPr>
            <a:r>
              <a:rPr lang="en-US" altLang="zh-CN" sz="2000" dirty="0">
                <a:latin typeface="Consolas" panose="020B0609020204030204" pitchFamily="49" charset="0"/>
              </a:rPr>
              <a:t>         if ( name[</a:t>
            </a:r>
            <a:r>
              <a:rPr lang="en-US" altLang="zh-CN" sz="2000" dirty="0" err="1">
                <a:latin typeface="Consolas" panose="020B0609020204030204" pitchFamily="49" charset="0"/>
              </a:rPr>
              <a:t>i</a:t>
            </a:r>
            <a:r>
              <a:rPr lang="en-US" altLang="zh-CN" sz="2000" dirty="0">
                <a:latin typeface="Consolas" panose="020B0609020204030204" pitchFamily="49" charset="0"/>
              </a:rPr>
              <a:t>]==NULL)</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%d string malloc failed\n",i+1);</a:t>
            </a:r>
          </a:p>
          <a:p>
            <a:pPr eaLnBrk="1" hangingPunct="1">
              <a:lnSpc>
                <a:spcPct val="80000"/>
              </a:lnSpc>
              <a:buFontTx/>
              <a:buNone/>
            </a:pPr>
            <a:r>
              <a:rPr lang="en-US" altLang="zh-CN" sz="2000" dirty="0">
                <a:latin typeface="Consolas" panose="020B0609020204030204" pitchFamily="49" charset="0"/>
              </a:rPr>
              <a:t>         else  </a:t>
            </a:r>
            <a:r>
              <a:rPr lang="en-US" altLang="zh-CN" sz="2000" dirty="0" err="1">
                <a:solidFill>
                  <a:srgbClr val="FF0000"/>
                </a:solidFill>
                <a:latin typeface="Consolas" panose="020B0609020204030204" pitchFamily="49" charset="0"/>
              </a:rPr>
              <a:t>fgets</a:t>
            </a:r>
            <a:r>
              <a:rPr lang="en-US" altLang="zh-CN" sz="2000" dirty="0">
                <a:solidFill>
                  <a:srgbClr val="FF0000"/>
                </a:solidFill>
                <a:latin typeface="Consolas" panose="020B0609020204030204" pitchFamily="49" charset="0"/>
              </a:rPr>
              <a:t>(name[</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a:t>
            </a:r>
            <a:r>
              <a:rPr lang="en-US" altLang="zh-CN" sz="2000" dirty="0" err="1">
                <a:solidFill>
                  <a:srgbClr val="FF0000"/>
                </a:solidFill>
                <a:latin typeface="Consolas" panose="020B0609020204030204" pitchFamily="49" charset="0"/>
              </a:rPr>
              <a:t>LEN,stdin</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a:t>
            </a:r>
            <a:r>
              <a:rPr lang="zh-CN" altLang="en-US" sz="2000" dirty="0">
                <a:latin typeface="Consolas" panose="020B0609020204030204" pitchFamily="49" charset="0"/>
              </a:rPr>
              <a:t>读取字符串 </a:t>
            </a:r>
          </a:p>
          <a:p>
            <a:pPr eaLnBrk="1" hangingPunct="1">
              <a:lnSpc>
                <a:spcPct val="80000"/>
              </a:lnSpc>
              <a:buFontTx/>
              <a:buNone/>
            </a:pPr>
            <a:r>
              <a:rPr lang="zh-CN" altLang="en-US" sz="2000" dirty="0">
                <a:latin typeface="Consolas" panose="020B0609020204030204" pitchFamily="49" charset="0"/>
              </a:rPr>
              <a:t>   </a:t>
            </a:r>
            <a:r>
              <a:rPr lang="en-US" altLang="zh-CN" sz="2000" dirty="0">
                <a:latin typeface="Consolas" panose="020B0609020204030204" pitchFamily="49" charset="0"/>
              </a:rPr>
              <a:t>}</a:t>
            </a:r>
          </a:p>
          <a:p>
            <a:pPr eaLnBrk="1" hangingPunct="1">
              <a:lnSpc>
                <a:spcPct val="90000"/>
              </a:lnSpc>
              <a:buFontTx/>
              <a:buNone/>
            </a:pPr>
            <a:endParaRPr lang="zh-CN" altLang="en-US" sz="2000" dirty="0">
              <a:latin typeface="Consolas" panose="020B0609020204030204" pitchFamily="49"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5">
            <a:extLst>
              <a:ext uri="{FF2B5EF4-FFF2-40B4-BE49-F238E27FC236}">
                <a16:creationId xmlns:a16="http://schemas.microsoft.com/office/drawing/2014/main" id="{9E231F99-9569-4ECE-89A8-4ADDBAF4FADE}"/>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42</a:t>
            </a:fld>
            <a:endParaRPr lang="zh-CN" altLang="en-US"/>
          </a:p>
        </p:txBody>
      </p:sp>
      <p:sp>
        <p:nvSpPr>
          <p:cNvPr id="55298" name="Rectangle 2">
            <a:extLst>
              <a:ext uri="{FF2B5EF4-FFF2-40B4-BE49-F238E27FC236}">
                <a16:creationId xmlns:a16="http://schemas.microsoft.com/office/drawing/2014/main" id="{068B2045-BE83-43D5-B4E8-5337298A53CE}"/>
              </a:ext>
            </a:extLst>
          </p:cNvPr>
          <p:cNvSpPr>
            <a:spLocks noGrp="1" noChangeArrowheads="1"/>
          </p:cNvSpPr>
          <p:nvPr>
            <p:ph type="title"/>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7.4 指针数组</a:t>
            </a:r>
            <a:endParaRPr lang="zh-CN" altLang="en-US" dirty="0"/>
          </a:p>
        </p:txBody>
      </p:sp>
      <p:sp>
        <p:nvSpPr>
          <p:cNvPr id="55299" name="Rectangle 3">
            <a:extLst>
              <a:ext uri="{FF2B5EF4-FFF2-40B4-BE49-F238E27FC236}">
                <a16:creationId xmlns:a16="http://schemas.microsoft.com/office/drawing/2014/main" id="{798A3CF3-D4AE-4D9D-AB38-689A194169B8}"/>
              </a:ext>
            </a:extLst>
          </p:cNvPr>
          <p:cNvSpPr>
            <a:spLocks noGrp="1" noChangeArrowheads="1"/>
          </p:cNvSpPr>
          <p:nvPr>
            <p:ph idx="1"/>
          </p:nvPr>
        </p:nvSpPr>
        <p:spPr>
          <a:xfrm>
            <a:off x="412750" y="1268760"/>
            <a:ext cx="8318500" cy="4611687"/>
          </a:xfrm>
        </p:spPr>
        <p:txBody>
          <a:bodyPr/>
          <a:lstStyle/>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strSort</a:t>
            </a:r>
            <a:r>
              <a:rPr lang="en-US" altLang="zh-CN" sz="2000" dirty="0">
                <a:latin typeface="Consolas" panose="020B0609020204030204" pitchFamily="49" charset="0"/>
              </a:rPr>
              <a:t>(name, n); /*n</a:t>
            </a:r>
            <a:r>
              <a:rPr lang="zh-CN" altLang="en-US" sz="2000" dirty="0">
                <a:latin typeface="Consolas" panose="020B0609020204030204" pitchFamily="49" charset="0"/>
              </a:rPr>
              <a:t>书名按字典序升序排序</a:t>
            </a:r>
            <a:r>
              <a:rPr lang="en-US" altLang="zh-CN" sz="2000" dirty="0">
                <a:latin typeface="Consolas" panose="020B0609020204030204" pitchFamily="49" charset="0"/>
              </a:rPr>
              <a:t>*/</a:t>
            </a:r>
            <a:endParaRPr lang="zh-CN" altLang="en-US" sz="2000" dirty="0">
              <a:latin typeface="Consolas" panose="020B0609020204030204" pitchFamily="49" charset="0"/>
            </a:endParaRPr>
          </a:p>
          <a:p>
            <a:pPr eaLnBrk="1" hangingPunct="1">
              <a:lnSpc>
                <a:spcPct val="80000"/>
              </a:lnSpc>
              <a:buFontTx/>
              <a:buNone/>
            </a:pPr>
            <a:endParaRPr lang="zh-CN" altLang="en-US" sz="2000" dirty="0">
              <a:latin typeface="Consolas" panose="020B0609020204030204" pitchFamily="49" charset="0"/>
            </a:endParaRPr>
          </a:p>
          <a:p>
            <a:pPr eaLnBrk="1" hangingPunct="1">
              <a:lnSpc>
                <a:spcPct val="80000"/>
              </a:lnSpc>
              <a:buFontTx/>
              <a:buNone/>
            </a:pPr>
            <a:r>
              <a:rPr lang="zh-CN" altLang="en-US"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sorted strings :\n");</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n-1;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fputs</a:t>
            </a:r>
            <a:r>
              <a:rPr lang="en-US" altLang="zh-CN" sz="2000" dirty="0">
                <a:latin typeface="Consolas" panose="020B0609020204030204" pitchFamily="49" charset="0"/>
              </a:rPr>
              <a:t>(name[</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stdout</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a:t>
            </a:r>
            <a:r>
              <a:rPr lang="zh-CN" altLang="en-US" sz="2000" dirty="0">
                <a:latin typeface="Consolas" panose="020B0609020204030204" pitchFamily="49" charset="0"/>
              </a:rPr>
              <a:t>内存释放</a:t>
            </a:r>
            <a:r>
              <a:rPr lang="en-US" altLang="zh-CN" sz="2000" dirty="0">
                <a:latin typeface="Consolas" panose="020B0609020204030204" pitchFamily="49" charset="0"/>
              </a:rPr>
              <a:t>,</a:t>
            </a:r>
            <a:r>
              <a:rPr lang="zh-CN" altLang="en-US" sz="2000" dirty="0">
                <a:latin typeface="Consolas" panose="020B0609020204030204" pitchFamily="49" charset="0"/>
              </a:rPr>
              <a:t>先释放字符串再释放指针数组</a:t>
            </a:r>
          </a:p>
          <a:p>
            <a:pPr eaLnBrk="1" hangingPunct="1">
              <a:lnSpc>
                <a:spcPct val="80000"/>
              </a:lnSpc>
              <a:buFontTx/>
              <a:buNone/>
            </a:pPr>
            <a:r>
              <a:rPr lang="zh-CN" altLang="en-US" sz="2000" dirty="0">
                <a:latin typeface="Consolas" panose="020B0609020204030204" pitchFamily="49" charset="0"/>
              </a:rPr>
              <a:t>      </a:t>
            </a:r>
            <a:r>
              <a:rPr lang="en-US" altLang="zh-CN" sz="2000" dirty="0">
                <a:latin typeface="Consolas" panose="020B0609020204030204" pitchFamily="49" charset="0"/>
              </a:rPr>
              <a:t>for(</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n-1;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free(name[</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name[</a:t>
            </a:r>
            <a:r>
              <a:rPr lang="en-US" altLang="zh-CN" sz="2000" dirty="0" err="1">
                <a:latin typeface="Consolas" panose="020B0609020204030204" pitchFamily="49" charset="0"/>
              </a:rPr>
              <a:t>i</a:t>
            </a:r>
            <a:r>
              <a:rPr lang="en-US" altLang="zh-CN" sz="2000" dirty="0">
                <a:latin typeface="Consolas" panose="020B0609020204030204" pitchFamily="49" charset="0"/>
              </a:rPr>
              <a:t>] = NULL;      </a:t>
            </a:r>
          </a:p>
          <a:p>
            <a:pPr eaLnBrk="1" hangingPunct="1">
              <a:lnSpc>
                <a:spcPct val="80000"/>
              </a:lnSpc>
              <a:buFontTx/>
              <a:buNone/>
            </a:pPr>
            <a:r>
              <a:rPr lang="en-US" altLang="zh-CN" sz="2000" dirty="0">
                <a:latin typeface="Consolas" panose="020B0609020204030204" pitchFamily="49" charset="0"/>
              </a:rPr>
              <a:t>	   } </a:t>
            </a:r>
          </a:p>
          <a:p>
            <a:pPr eaLnBrk="1" hangingPunct="1">
              <a:lnSpc>
                <a:spcPct val="80000"/>
              </a:lnSpc>
              <a:buFontTx/>
              <a:buNone/>
            </a:pPr>
            <a:r>
              <a:rPr lang="en-US" altLang="zh-CN" sz="2000" dirty="0">
                <a:latin typeface="Consolas" panose="020B0609020204030204" pitchFamily="49" charset="0"/>
              </a:rPr>
              <a:t>   return 0;</a:t>
            </a:r>
          </a:p>
          <a:p>
            <a:pPr eaLnBrk="1" hangingPunct="1">
              <a:lnSpc>
                <a:spcPct val="80000"/>
              </a:lnSpc>
              <a:buFontTx/>
              <a:buNone/>
            </a:pPr>
            <a:r>
              <a:rPr lang="en-US" altLang="zh-CN" sz="2000" dirty="0">
                <a:latin typeface="Consolas" panose="020B0609020204030204" pitchFamily="49" charset="0"/>
              </a:rPr>
              <a:t>} </a:t>
            </a:r>
            <a:endParaRPr lang="zh-CN" altLang="en-US" sz="2000" dirty="0">
              <a:latin typeface="Consolas" panose="020B0609020204030204" pitchFamily="49"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4">
            <a:extLst>
              <a:ext uri="{FF2B5EF4-FFF2-40B4-BE49-F238E27FC236}">
                <a16:creationId xmlns:a16="http://schemas.microsoft.com/office/drawing/2014/main" id="{D34FE99C-98E3-4FCC-B408-D7685996C60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0A28DB56-EEEE-437C-AAFB-1B12E27D9FB1}" type="slidenum">
              <a:rPr lang="zh-CN" altLang="en-US" smtClean="0"/>
              <a:pPr/>
              <a:t>43</a:t>
            </a:fld>
            <a:endParaRPr lang="zh-CN" altLang="en-US"/>
          </a:p>
        </p:txBody>
      </p:sp>
      <p:graphicFrame>
        <p:nvGraphicFramePr>
          <p:cNvPr id="56322" name="Object 4">
            <a:extLst>
              <a:ext uri="{FF2B5EF4-FFF2-40B4-BE49-F238E27FC236}">
                <a16:creationId xmlns:a16="http://schemas.microsoft.com/office/drawing/2014/main" id="{60C5E291-5B8D-4253-93FE-DFF99EE2A19E}"/>
              </a:ext>
            </a:extLst>
          </p:cNvPr>
          <p:cNvGraphicFramePr>
            <a:graphicFrameLocks noGrp="1" noChangeAspect="1"/>
          </p:cNvGraphicFramePr>
          <p:nvPr>
            <p:ph/>
          </p:nvPr>
        </p:nvGraphicFramePr>
        <p:xfrm>
          <a:off x="468313" y="1196975"/>
          <a:ext cx="8426450" cy="5121275"/>
        </p:xfrm>
        <a:graphic>
          <a:graphicData uri="http://schemas.openxmlformats.org/presentationml/2006/ole">
            <mc:AlternateContent xmlns:mc="http://schemas.openxmlformats.org/markup-compatibility/2006">
              <mc:Choice xmlns:v="urn:schemas-microsoft-com:vml" Requires="v">
                <p:oleObj r:id="rId2" imgW="5200560" imgH="3273120" progId="Visio.Drawing.11">
                  <p:embed/>
                </p:oleObj>
              </mc:Choice>
              <mc:Fallback>
                <p:oleObj r:id="rId2" imgW="5200560" imgH="3273120" progId="Visio.Drawing.11">
                  <p:embed/>
                  <p:pic>
                    <p:nvPicPr>
                      <p:cNvPr id="56322" name="Object 4">
                        <a:extLst>
                          <a:ext uri="{FF2B5EF4-FFF2-40B4-BE49-F238E27FC236}">
                            <a16:creationId xmlns:a16="http://schemas.microsoft.com/office/drawing/2014/main" id="{60C5E291-5B8D-4253-93FE-DFF99EE2A19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196975"/>
                        <a:ext cx="8426450" cy="51212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3" name="Text Box 6">
            <a:extLst>
              <a:ext uri="{FF2B5EF4-FFF2-40B4-BE49-F238E27FC236}">
                <a16:creationId xmlns:a16="http://schemas.microsoft.com/office/drawing/2014/main" id="{113901F0-04D3-4B3D-9497-C622D61E2D4C}"/>
              </a:ext>
            </a:extLst>
          </p:cNvPr>
          <p:cNvSpPr txBox="1">
            <a:spLocks noChangeArrowheads="1"/>
          </p:cNvSpPr>
          <p:nvPr/>
        </p:nvSpPr>
        <p:spPr bwMode="auto">
          <a:xfrm>
            <a:off x="3059832" y="360470"/>
            <a:ext cx="5300240" cy="75713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20000"/>
              </a:spcBef>
              <a:buNone/>
            </a:pPr>
            <a:r>
              <a:rPr lang="en-US" altLang="zh-CN" sz="2400" b="1" dirty="0">
                <a:solidFill>
                  <a:srgbClr val="FF0000"/>
                </a:solidFill>
              </a:rPr>
              <a:t>void  sort(char * a[], int n);</a:t>
            </a:r>
          </a:p>
          <a:p>
            <a:pPr algn="just">
              <a:lnSpc>
                <a:spcPct val="80000"/>
              </a:lnSpc>
              <a:spcBef>
                <a:spcPct val="20000"/>
              </a:spcBef>
              <a:buNone/>
            </a:pPr>
            <a:r>
              <a:rPr lang="zh-CN" altLang="en-US" sz="2400" b="1" dirty="0">
                <a:solidFill>
                  <a:srgbClr val="FF0000"/>
                </a:solidFill>
              </a:rPr>
              <a:t>对指针数组中各字符串进行字典排序</a:t>
            </a:r>
          </a:p>
        </p:txBody>
      </p:sp>
      <p:grpSp>
        <p:nvGrpSpPr>
          <p:cNvPr id="56324" name="Group 58">
            <a:extLst>
              <a:ext uri="{FF2B5EF4-FFF2-40B4-BE49-F238E27FC236}">
                <a16:creationId xmlns:a16="http://schemas.microsoft.com/office/drawing/2014/main" id="{4B3D7907-0404-419D-A3EE-DC625465144F}"/>
              </a:ext>
            </a:extLst>
          </p:cNvPr>
          <p:cNvGrpSpPr>
            <a:grpSpLocks/>
          </p:cNvGrpSpPr>
          <p:nvPr/>
        </p:nvGrpSpPr>
        <p:grpSpPr bwMode="auto">
          <a:xfrm>
            <a:off x="395288" y="4149725"/>
            <a:ext cx="4321175" cy="2232025"/>
            <a:chOff x="113" y="2568"/>
            <a:chExt cx="2722" cy="1406"/>
          </a:xfrm>
        </p:grpSpPr>
        <p:sp>
          <p:nvSpPr>
            <p:cNvPr id="56325" name="Rectangle 36">
              <a:extLst>
                <a:ext uri="{FF2B5EF4-FFF2-40B4-BE49-F238E27FC236}">
                  <a16:creationId xmlns:a16="http://schemas.microsoft.com/office/drawing/2014/main" id="{0E9E5CCD-A95B-43D5-878A-997E05A102CF}"/>
                </a:ext>
              </a:extLst>
            </p:cNvPr>
            <p:cNvSpPr>
              <a:spLocks noChangeArrowheads="1"/>
            </p:cNvSpPr>
            <p:nvPr/>
          </p:nvSpPr>
          <p:spPr bwMode="auto">
            <a:xfrm>
              <a:off x="113" y="2812"/>
              <a:ext cx="901" cy="1045"/>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56326" name="Line 37">
              <a:extLst>
                <a:ext uri="{FF2B5EF4-FFF2-40B4-BE49-F238E27FC236}">
                  <a16:creationId xmlns:a16="http://schemas.microsoft.com/office/drawing/2014/main" id="{D20B7311-72F4-4CE4-9086-F39BF11F08F6}"/>
                </a:ext>
              </a:extLst>
            </p:cNvPr>
            <p:cNvSpPr>
              <a:spLocks noChangeShapeType="1"/>
            </p:cNvSpPr>
            <p:nvPr/>
          </p:nvSpPr>
          <p:spPr bwMode="auto">
            <a:xfrm flipV="1">
              <a:off x="113" y="3090"/>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7" name="Line 38">
              <a:extLst>
                <a:ext uri="{FF2B5EF4-FFF2-40B4-BE49-F238E27FC236}">
                  <a16:creationId xmlns:a16="http://schemas.microsoft.com/office/drawing/2014/main" id="{96DC90B9-B3AF-4CBB-B9E9-47A8CB0BF302}"/>
                </a:ext>
              </a:extLst>
            </p:cNvPr>
            <p:cNvSpPr>
              <a:spLocks noChangeShapeType="1"/>
            </p:cNvSpPr>
            <p:nvPr/>
          </p:nvSpPr>
          <p:spPr bwMode="auto">
            <a:xfrm>
              <a:off x="113" y="3357"/>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8" name="Line 39">
              <a:extLst>
                <a:ext uri="{FF2B5EF4-FFF2-40B4-BE49-F238E27FC236}">
                  <a16:creationId xmlns:a16="http://schemas.microsoft.com/office/drawing/2014/main" id="{9B0333CB-80DD-4483-8FF3-AA78A7CC6AB6}"/>
                </a:ext>
              </a:extLst>
            </p:cNvPr>
            <p:cNvSpPr>
              <a:spLocks noChangeShapeType="1"/>
            </p:cNvSpPr>
            <p:nvPr/>
          </p:nvSpPr>
          <p:spPr bwMode="auto">
            <a:xfrm>
              <a:off x="113" y="3613"/>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9" name="Text Box 40">
              <a:extLst>
                <a:ext uri="{FF2B5EF4-FFF2-40B4-BE49-F238E27FC236}">
                  <a16:creationId xmlns:a16="http://schemas.microsoft.com/office/drawing/2014/main" id="{41A8AAB1-C5F8-49AF-BD77-C5618B5F41E1}"/>
                </a:ext>
              </a:extLst>
            </p:cNvPr>
            <p:cNvSpPr txBox="1">
              <a:spLocks noChangeArrowheads="1"/>
            </p:cNvSpPr>
            <p:nvPr/>
          </p:nvSpPr>
          <p:spPr bwMode="auto">
            <a:xfrm>
              <a:off x="373" y="2832"/>
              <a:ext cx="3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a[0]</a:t>
              </a:r>
            </a:p>
          </p:txBody>
        </p:sp>
        <p:sp>
          <p:nvSpPr>
            <p:cNvPr id="56330" name="Text Box 41">
              <a:extLst>
                <a:ext uri="{FF2B5EF4-FFF2-40B4-BE49-F238E27FC236}">
                  <a16:creationId xmlns:a16="http://schemas.microsoft.com/office/drawing/2014/main" id="{94AED51C-7165-44CA-9DF3-8FCD95C36AA3}"/>
                </a:ext>
              </a:extLst>
            </p:cNvPr>
            <p:cNvSpPr txBox="1">
              <a:spLocks noChangeArrowheads="1"/>
            </p:cNvSpPr>
            <p:nvPr/>
          </p:nvSpPr>
          <p:spPr bwMode="auto">
            <a:xfrm>
              <a:off x="432" y="309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a:t>
              </a:r>
            </a:p>
          </p:txBody>
        </p:sp>
        <p:sp>
          <p:nvSpPr>
            <p:cNvPr id="56331" name="Text Box 42">
              <a:extLst>
                <a:ext uri="{FF2B5EF4-FFF2-40B4-BE49-F238E27FC236}">
                  <a16:creationId xmlns:a16="http://schemas.microsoft.com/office/drawing/2014/main" id="{639D5467-B36E-4B9B-B6C8-A0CE599BD18C}"/>
                </a:ext>
              </a:extLst>
            </p:cNvPr>
            <p:cNvSpPr txBox="1">
              <a:spLocks noChangeArrowheads="1"/>
            </p:cNvSpPr>
            <p:nvPr/>
          </p:nvSpPr>
          <p:spPr bwMode="auto">
            <a:xfrm>
              <a:off x="237" y="3354"/>
              <a:ext cx="6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a[size-2]</a:t>
              </a:r>
            </a:p>
          </p:txBody>
        </p:sp>
        <p:sp>
          <p:nvSpPr>
            <p:cNvPr id="56332" name="Text Box 43">
              <a:extLst>
                <a:ext uri="{FF2B5EF4-FFF2-40B4-BE49-F238E27FC236}">
                  <a16:creationId xmlns:a16="http://schemas.microsoft.com/office/drawing/2014/main" id="{A64EDB44-AF30-4DAB-BA5D-BD4A9185D928}"/>
                </a:ext>
              </a:extLst>
            </p:cNvPr>
            <p:cNvSpPr txBox="1">
              <a:spLocks noChangeArrowheads="1"/>
            </p:cNvSpPr>
            <p:nvPr/>
          </p:nvSpPr>
          <p:spPr bwMode="auto">
            <a:xfrm>
              <a:off x="235" y="3632"/>
              <a:ext cx="6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000"/>
                <a:t>a[size-1]</a:t>
              </a:r>
            </a:p>
          </p:txBody>
        </p:sp>
        <p:sp>
          <p:nvSpPr>
            <p:cNvPr id="56333" name="Text Box 44">
              <a:extLst>
                <a:ext uri="{FF2B5EF4-FFF2-40B4-BE49-F238E27FC236}">
                  <a16:creationId xmlns:a16="http://schemas.microsoft.com/office/drawing/2014/main" id="{A5AA4980-8737-47A1-8CB5-3D0081F22000}"/>
                </a:ext>
              </a:extLst>
            </p:cNvPr>
            <p:cNvSpPr txBox="1">
              <a:spLocks noChangeArrowheads="1"/>
            </p:cNvSpPr>
            <p:nvPr/>
          </p:nvSpPr>
          <p:spPr bwMode="auto">
            <a:xfrm>
              <a:off x="471" y="256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400">
                  <a:solidFill>
                    <a:srgbClr val="0000FF"/>
                  </a:solidFill>
                </a:rPr>
                <a:t>a</a:t>
              </a:r>
            </a:p>
          </p:txBody>
        </p:sp>
        <p:sp>
          <p:nvSpPr>
            <p:cNvPr id="56334" name="Line 45">
              <a:extLst>
                <a:ext uri="{FF2B5EF4-FFF2-40B4-BE49-F238E27FC236}">
                  <a16:creationId xmlns:a16="http://schemas.microsoft.com/office/drawing/2014/main" id="{8146AF7C-1A65-45B9-A541-C6B84DAB1578}"/>
                </a:ext>
              </a:extLst>
            </p:cNvPr>
            <p:cNvSpPr>
              <a:spLocks noChangeShapeType="1"/>
            </p:cNvSpPr>
            <p:nvPr/>
          </p:nvSpPr>
          <p:spPr bwMode="auto">
            <a:xfrm>
              <a:off x="1025" y="325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35" name="Line 46">
              <a:extLst>
                <a:ext uri="{FF2B5EF4-FFF2-40B4-BE49-F238E27FC236}">
                  <a16:creationId xmlns:a16="http://schemas.microsoft.com/office/drawing/2014/main" id="{31C6CC73-3981-4D59-96FF-753A252D39D9}"/>
                </a:ext>
              </a:extLst>
            </p:cNvPr>
            <p:cNvSpPr>
              <a:spLocks noChangeShapeType="1"/>
            </p:cNvSpPr>
            <p:nvPr/>
          </p:nvSpPr>
          <p:spPr bwMode="auto">
            <a:xfrm>
              <a:off x="1025" y="349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36" name="Line 47">
              <a:extLst>
                <a:ext uri="{FF2B5EF4-FFF2-40B4-BE49-F238E27FC236}">
                  <a16:creationId xmlns:a16="http://schemas.microsoft.com/office/drawing/2014/main" id="{68963C64-A777-4A42-BB64-EB3873B3B4A8}"/>
                </a:ext>
              </a:extLst>
            </p:cNvPr>
            <p:cNvSpPr>
              <a:spLocks noChangeShapeType="1"/>
            </p:cNvSpPr>
            <p:nvPr/>
          </p:nvSpPr>
          <p:spPr bwMode="auto">
            <a:xfrm>
              <a:off x="1025" y="3785"/>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37" name="Line 48">
              <a:extLst>
                <a:ext uri="{FF2B5EF4-FFF2-40B4-BE49-F238E27FC236}">
                  <a16:creationId xmlns:a16="http://schemas.microsoft.com/office/drawing/2014/main" id="{9637804E-8FE1-4463-80FB-6E13C2F089AA}"/>
                </a:ext>
              </a:extLst>
            </p:cNvPr>
            <p:cNvSpPr>
              <a:spLocks noChangeShapeType="1"/>
            </p:cNvSpPr>
            <p:nvPr/>
          </p:nvSpPr>
          <p:spPr bwMode="auto">
            <a:xfrm>
              <a:off x="1025" y="295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56338" name="Picture 54">
              <a:extLst>
                <a:ext uri="{FF2B5EF4-FFF2-40B4-BE49-F238E27FC236}">
                  <a16:creationId xmlns:a16="http://schemas.microsoft.com/office/drawing/2014/main" id="{1D450D1A-B91D-4968-9EFD-E6C407802F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 y="2795"/>
              <a:ext cx="134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9" name="Picture 55">
              <a:extLst>
                <a:ext uri="{FF2B5EF4-FFF2-40B4-BE49-F238E27FC236}">
                  <a16:creationId xmlns:a16="http://schemas.microsoft.com/office/drawing/2014/main" id="{845C21E8-BD1F-435F-A41D-E799F56C33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 y="3115"/>
              <a:ext cx="134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0" name="Picture 56">
              <a:extLst>
                <a:ext uri="{FF2B5EF4-FFF2-40B4-BE49-F238E27FC236}">
                  <a16:creationId xmlns:a16="http://schemas.microsoft.com/office/drawing/2014/main" id="{812486C3-F7E4-427A-89BF-6A919A670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 y="3385"/>
              <a:ext cx="134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1" name="Picture 57">
              <a:extLst>
                <a:ext uri="{FF2B5EF4-FFF2-40B4-BE49-F238E27FC236}">
                  <a16:creationId xmlns:a16="http://schemas.microsoft.com/office/drawing/2014/main" id="{59F853BE-6481-4EDF-B3BF-190A9BB1A8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 y="3704"/>
              <a:ext cx="134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5">
            <a:extLst>
              <a:ext uri="{FF2B5EF4-FFF2-40B4-BE49-F238E27FC236}">
                <a16:creationId xmlns:a16="http://schemas.microsoft.com/office/drawing/2014/main" id="{5A3F2E26-6D4C-4F67-80C6-F9B7BE3329EE}"/>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44</a:t>
            </a:fld>
            <a:endParaRPr lang="zh-CN" altLang="en-US"/>
          </a:p>
        </p:txBody>
      </p:sp>
      <p:sp>
        <p:nvSpPr>
          <p:cNvPr id="57346" name="Rectangle 4">
            <a:extLst>
              <a:ext uri="{FF2B5EF4-FFF2-40B4-BE49-F238E27FC236}">
                <a16:creationId xmlns:a16="http://schemas.microsoft.com/office/drawing/2014/main" id="{083770B2-DE54-4154-8D07-FE38B11C724E}"/>
              </a:ext>
            </a:extLst>
          </p:cNvPr>
          <p:cNvSpPr>
            <a:spLocks noGrp="1" noChangeArrowheads="1"/>
          </p:cNvSpPr>
          <p:nvPr>
            <p:ph idx="1"/>
          </p:nvPr>
        </p:nvSpPr>
        <p:spPr>
          <a:xfrm>
            <a:off x="388615" y="1209092"/>
            <a:ext cx="8458200" cy="5388260"/>
          </a:xfrm>
        </p:spPr>
        <p:txBody>
          <a:bodyPr/>
          <a:lstStyle/>
          <a:p>
            <a:pPr marL="0" indent="0" algn="just" eaLnBrk="1" hangingPunct="1">
              <a:lnSpc>
                <a:spcPct val="80000"/>
              </a:lnSpc>
              <a:buFontTx/>
              <a:buNone/>
            </a:pPr>
            <a:r>
              <a:rPr lang="en-US" altLang="zh-CN" sz="2000" dirty="0">
                <a:latin typeface="Consolas" panose="020B0609020204030204" pitchFamily="49" charset="0"/>
              </a:rPr>
              <a:t>void  </a:t>
            </a:r>
            <a:r>
              <a:rPr lang="en-US" altLang="zh-CN" sz="2000" dirty="0" err="1">
                <a:latin typeface="Consolas" panose="020B0609020204030204" pitchFamily="49" charset="0"/>
              </a:rPr>
              <a:t>strSort</a:t>
            </a:r>
            <a:r>
              <a:rPr lang="en-US" altLang="zh-CN" sz="2000" dirty="0">
                <a:latin typeface="Consolas" panose="020B0609020204030204" pitchFamily="49" charset="0"/>
              </a:rPr>
              <a:t>(char * a[], int n){</a:t>
            </a:r>
          </a:p>
          <a:p>
            <a:pPr marL="0" indent="0" algn="just" eaLnBrk="1" hangingPunct="1">
              <a:lnSpc>
                <a:spcPct val="80000"/>
              </a:lnSpc>
              <a:buFontTx/>
              <a:buNone/>
            </a:pPr>
            <a:r>
              <a:rPr lang="en-US" altLang="zh-CN" sz="2000" dirty="0">
                <a:latin typeface="Consolas" panose="020B0609020204030204" pitchFamily="49" charset="0"/>
              </a:rPr>
              <a:t>   	char * </a:t>
            </a:r>
            <a:r>
              <a:rPr lang="en-US" altLang="zh-CN" sz="2000" dirty="0" err="1">
                <a:latin typeface="Consolas" panose="020B0609020204030204" pitchFamily="49" charset="0"/>
              </a:rPr>
              <a:t>pt</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i</a:t>
            </a:r>
            <a:r>
              <a:rPr lang="en-US" altLang="zh-CN" sz="2000" dirty="0">
                <a:latin typeface="Consolas" panose="020B0609020204030204" pitchFamily="49" charset="0"/>
              </a:rPr>
              <a:t>, j, min;</a:t>
            </a:r>
          </a:p>
          <a:p>
            <a:pPr marL="0" indent="0" algn="just" eaLnBrk="1" hangingPunct="1">
              <a:lnSpc>
                <a:spcPct val="80000"/>
              </a:lnSpc>
              <a:buFontTx/>
              <a:buNone/>
            </a:pPr>
            <a:r>
              <a:rPr lang="en-US" altLang="zh-CN" sz="2000" dirty="0">
                <a:latin typeface="Consolas" panose="020B0609020204030204" pitchFamily="49" charset="0"/>
              </a:rPr>
              <a:t>      /*</a:t>
            </a:r>
            <a:r>
              <a:rPr lang="zh-CN" altLang="en-US" sz="2000" dirty="0">
                <a:latin typeface="Consolas" panose="020B0609020204030204" pitchFamily="49" charset="0"/>
              </a:rPr>
              <a:t>使用选择排序</a:t>
            </a:r>
            <a:r>
              <a:rPr lang="en-US" altLang="zh-CN" sz="2000" dirty="0">
                <a:latin typeface="Consolas" panose="020B0609020204030204" pitchFamily="49" charset="0"/>
              </a:rPr>
              <a:t>, </a:t>
            </a:r>
            <a:r>
              <a:rPr lang="zh-CN" altLang="en-US" sz="2000" dirty="0">
                <a:latin typeface="Consolas" panose="020B0609020204030204" pitchFamily="49" charset="0"/>
              </a:rPr>
              <a:t>外循环每循环一次</a:t>
            </a:r>
            <a:r>
              <a:rPr lang="en-US" altLang="zh-CN" sz="2000" dirty="0">
                <a:latin typeface="Consolas" panose="020B0609020204030204" pitchFamily="49" charset="0"/>
              </a:rPr>
              <a:t>,</a:t>
            </a:r>
            <a:r>
              <a:rPr lang="zh-CN" altLang="en-US" sz="2000" dirty="0">
                <a:latin typeface="Consolas" panose="020B0609020204030204" pitchFamily="49" charset="0"/>
              </a:rPr>
              <a:t>确定</a:t>
            </a:r>
            <a:r>
              <a:rPr lang="en-US" altLang="zh-CN" sz="2000" dirty="0">
                <a:latin typeface="Consolas" panose="020B0609020204030204" pitchFamily="49" charset="0"/>
              </a:rPr>
              <a:t>a[</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zh-CN" altLang="en-US" sz="2000" dirty="0">
                <a:latin typeface="Consolas" panose="020B0609020204030204" pitchFamily="49" charset="0"/>
              </a:rPr>
              <a:t>的值*</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=0; </a:t>
            </a:r>
            <a:r>
              <a:rPr lang="en-US" altLang="zh-CN" sz="2000" dirty="0" err="1">
                <a:latin typeface="Consolas" panose="020B0609020204030204" pitchFamily="49" charset="0"/>
              </a:rPr>
              <a:t>i</a:t>
            </a:r>
            <a:r>
              <a:rPr lang="en-US" altLang="zh-CN" sz="2000" dirty="0">
                <a:latin typeface="Consolas" panose="020B0609020204030204" pitchFamily="49" charset="0"/>
              </a:rPr>
              <a:t>&lt;n-1;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min=</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for(j=</a:t>
            </a:r>
            <a:r>
              <a:rPr lang="en-US" altLang="zh-CN" sz="2000" dirty="0" err="1">
                <a:latin typeface="Consolas" panose="020B0609020204030204" pitchFamily="49" charset="0"/>
              </a:rPr>
              <a:t>i+1</a:t>
            </a:r>
            <a:r>
              <a:rPr lang="en-US" altLang="zh-CN" sz="2000" dirty="0">
                <a:latin typeface="Consolas" panose="020B0609020204030204" pitchFamily="49" charset="0"/>
              </a:rPr>
              <a:t>; j&lt;n; </a:t>
            </a:r>
            <a:r>
              <a:rPr lang="en-US" altLang="zh-CN" sz="2000" dirty="0" err="1">
                <a:latin typeface="Consolas" panose="020B0609020204030204" pitchFamily="49" charset="0"/>
              </a:rPr>
              <a:t>j++</a:t>
            </a: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if(</a:t>
            </a:r>
            <a:r>
              <a:rPr lang="en-US" altLang="zh-CN" sz="2000" dirty="0" err="1">
                <a:latin typeface="Consolas" panose="020B0609020204030204" pitchFamily="49" charset="0"/>
              </a:rPr>
              <a:t>strcmp</a:t>
            </a:r>
            <a:r>
              <a:rPr lang="en-US" altLang="zh-CN" sz="2000" dirty="0">
                <a:latin typeface="Consolas" panose="020B0609020204030204" pitchFamily="49" charset="0"/>
              </a:rPr>
              <a:t>(a[min],a[j])&gt;0)</a:t>
            </a:r>
          </a:p>
          <a:p>
            <a:pPr marL="0" indent="0" algn="just" eaLnBrk="1" hangingPunct="1">
              <a:lnSpc>
                <a:spcPct val="80000"/>
              </a:lnSpc>
              <a:buFontTx/>
              <a:buNone/>
            </a:pPr>
            <a:r>
              <a:rPr lang="en-US" altLang="zh-CN" sz="2000" dirty="0">
                <a:latin typeface="Consolas" panose="020B0609020204030204" pitchFamily="49" charset="0"/>
              </a:rPr>
              <a:t>                min=j; 	</a:t>
            </a:r>
          </a:p>
          <a:p>
            <a:pPr marL="0" indent="0" algn="just" eaLnBrk="1" hangingPunct="1">
              <a:lnSpc>
                <a:spcPct val="80000"/>
              </a:lnSpc>
              <a:buFontTx/>
              <a:buNone/>
            </a:pPr>
            <a:r>
              <a:rPr lang="en-US" altLang="zh-CN" sz="2000" dirty="0">
                <a:latin typeface="Consolas" panose="020B0609020204030204" pitchFamily="49" charset="0"/>
              </a:rPr>
              <a:t>	  	if(min!=</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pt</a:t>
            </a:r>
            <a:r>
              <a:rPr lang="en-US" altLang="zh-CN" sz="2000" dirty="0">
                <a:latin typeface="Consolas" panose="020B0609020204030204" pitchFamily="49" charset="0"/>
              </a:rPr>
              <a:t>=a[min];</a:t>
            </a:r>
          </a:p>
          <a:p>
            <a:pPr marL="0" indent="0" algn="just" eaLnBrk="1" hangingPunct="1">
              <a:lnSpc>
                <a:spcPct val="80000"/>
              </a:lnSpc>
              <a:buFontTx/>
              <a:buNone/>
            </a:pPr>
            <a:r>
              <a:rPr lang="en-US" altLang="zh-CN" sz="2000" dirty="0">
                <a:latin typeface="Consolas" panose="020B0609020204030204" pitchFamily="49" charset="0"/>
              </a:rPr>
              <a:t>			a[min]=a[</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a[</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pt</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a:t>
            </a:r>
          </a:p>
        </p:txBody>
      </p:sp>
      <p:sp>
        <p:nvSpPr>
          <p:cNvPr id="2" name="Rectangle 2">
            <a:extLst>
              <a:ext uri="{FF2B5EF4-FFF2-40B4-BE49-F238E27FC236}">
                <a16:creationId xmlns:a16="http://schemas.microsoft.com/office/drawing/2014/main" id="{00B104A2-8DA6-9FB1-35F3-EC9975F095C3}"/>
              </a:ext>
            </a:extLst>
          </p:cNvPr>
          <p:cNvSpPr>
            <a:spLocks noGrp="1" noChangeArrowheads="1"/>
          </p:cNvSpPr>
          <p:nvPr>
            <p:ph type="title"/>
          </p:nvPr>
        </p:nvSpPr>
        <p:spPr>
          <a:xfrm>
            <a:off x="2627784" y="404813"/>
            <a:ext cx="6408266" cy="720725"/>
          </a:xfrm>
        </p:spPr>
        <p:txBody>
          <a:bodyPr/>
          <a:lstStyle/>
          <a:p>
            <a:pPr eaLnBrk="1" hangingPunct="1"/>
            <a:r>
              <a:rPr lang="zh-CN" altLang="en-US" dirty="0">
                <a:latin typeface="微软雅黑" panose="020B0503020204020204" pitchFamily="34" charset="-122"/>
                <a:ea typeface="微软雅黑" panose="020B0503020204020204" pitchFamily="34" charset="-122"/>
              </a:rPr>
              <a:t>字符串排序</a:t>
            </a:r>
            <a:endParaRPr lang="zh-CN" alt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5">
            <a:extLst>
              <a:ext uri="{FF2B5EF4-FFF2-40B4-BE49-F238E27FC236}">
                <a16:creationId xmlns:a16="http://schemas.microsoft.com/office/drawing/2014/main" id="{5A3F2E26-6D4C-4F67-80C6-F9B7BE3329EE}"/>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45</a:t>
            </a:fld>
            <a:endParaRPr lang="zh-CN" altLang="en-US"/>
          </a:p>
        </p:txBody>
      </p:sp>
      <p:sp>
        <p:nvSpPr>
          <p:cNvPr id="57346" name="Rectangle 4">
            <a:extLst>
              <a:ext uri="{FF2B5EF4-FFF2-40B4-BE49-F238E27FC236}">
                <a16:creationId xmlns:a16="http://schemas.microsoft.com/office/drawing/2014/main" id="{083770B2-DE54-4154-8D07-FE38B11C724E}"/>
              </a:ext>
            </a:extLst>
          </p:cNvPr>
          <p:cNvSpPr>
            <a:spLocks noGrp="1" noChangeArrowheads="1"/>
          </p:cNvSpPr>
          <p:nvPr>
            <p:ph idx="1"/>
          </p:nvPr>
        </p:nvSpPr>
        <p:spPr>
          <a:xfrm>
            <a:off x="388615" y="1209092"/>
            <a:ext cx="8458200" cy="5388260"/>
          </a:xfrm>
        </p:spPr>
        <p:txBody>
          <a:bodyPr/>
          <a:lstStyle/>
          <a:p>
            <a:pPr marL="0" indent="0" algn="just" eaLnBrk="1" hangingPunct="1">
              <a:lnSpc>
                <a:spcPct val="80000"/>
              </a:lnSpc>
              <a:buFontTx/>
              <a:buNone/>
            </a:pPr>
            <a:r>
              <a:rPr lang="en-US" altLang="zh-CN" sz="1800" dirty="0">
                <a:latin typeface="Consolas" panose="020B0609020204030204" pitchFamily="49" charset="0"/>
              </a:rPr>
              <a:t>int main(void){</a:t>
            </a:r>
          </a:p>
          <a:p>
            <a:pPr marL="0" indent="0" algn="just" eaLnBrk="1" hangingPunct="1">
              <a:lnSpc>
                <a:spcPct val="80000"/>
              </a:lnSpc>
              <a:buFontTx/>
              <a:buNone/>
            </a:pPr>
            <a:r>
              <a:rPr lang="en-US" altLang="zh-CN" sz="1800" dirty="0">
                <a:latin typeface="Consolas" panose="020B0609020204030204" pitchFamily="49" charset="0"/>
              </a:rPr>
              <a:t>    char input[SIZE][LEN];</a:t>
            </a:r>
          </a:p>
          <a:p>
            <a:pPr marL="0" indent="0" algn="just" eaLnBrk="1" hangingPunct="1">
              <a:lnSpc>
                <a:spcPct val="80000"/>
              </a:lnSpc>
              <a:buFontTx/>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char *name[SIZE]; </a:t>
            </a:r>
            <a:r>
              <a:rPr lang="en-US" altLang="zh-CN" sz="1800" dirty="0">
                <a:latin typeface="Consolas" panose="020B0609020204030204" pitchFamily="49" charset="0"/>
              </a:rPr>
              <a:t>/* array of pointer variables */</a:t>
            </a:r>
          </a:p>
          <a:p>
            <a:pPr marL="0" indent="0" algn="just" eaLnBrk="1" hangingPunct="1">
              <a:lnSpc>
                <a:spcPct val="80000"/>
              </a:lnSpc>
              <a:buFontTx/>
              <a:buNone/>
            </a:pPr>
            <a:r>
              <a:rPr lang="en-US" altLang="zh-CN" sz="1800" dirty="0">
                <a:latin typeface="Consolas" panose="020B0609020204030204" pitchFamily="49" charset="0"/>
              </a:rPr>
              <a:t>    int </a:t>
            </a:r>
            <a:r>
              <a:rPr lang="en-US" altLang="zh-CN" sz="1800" dirty="0" err="1">
                <a:latin typeface="Consolas" panose="020B0609020204030204" pitchFamily="49" charset="0"/>
              </a:rPr>
              <a:t>ct</a:t>
            </a:r>
            <a:r>
              <a:rPr lang="en-US" altLang="zh-CN" sz="1800" dirty="0">
                <a:latin typeface="Consolas" panose="020B0609020204030204" pitchFamily="49" charset="0"/>
              </a:rPr>
              <a:t> = 0;       /* input count*/</a:t>
            </a:r>
          </a:p>
          <a:p>
            <a:pPr marL="0" indent="0" algn="just" eaLnBrk="1" hangingPunct="1">
              <a:lnSpc>
                <a:spcPct val="80000"/>
              </a:lnSpc>
              <a:buFontTx/>
              <a:buNone/>
            </a:pPr>
            <a:r>
              <a:rPr lang="en-US" altLang="zh-CN" sz="1800" dirty="0">
                <a:latin typeface="Consolas" panose="020B0609020204030204" pitchFamily="49" charset="0"/>
              </a:rPr>
              <a:t>    int k;            /* output count*/</a:t>
            </a:r>
          </a:p>
          <a:p>
            <a:pPr marL="0" indent="0" eaLnBrk="1" hangingPunct="1">
              <a:lnSpc>
                <a:spcPct val="80000"/>
              </a:lnSpc>
              <a:buFontTx/>
              <a:buNone/>
            </a:pPr>
            <a:r>
              <a:rPr lang="en-US" altLang="zh-CN" sz="1800" dirty="0">
                <a:latin typeface="Consolas" panose="020B0609020204030204" pitchFamily="49" charset="0"/>
              </a:rPr>
              <a:t>    </a:t>
            </a:r>
            <a:r>
              <a:rPr lang="en-US" altLang="zh-CN" sz="1800" dirty="0" err="1">
                <a:latin typeface="Consolas" panose="020B0609020204030204" pitchFamily="49" charset="0"/>
              </a:rPr>
              <a:t>printf</a:t>
            </a:r>
            <a:r>
              <a:rPr lang="en-US" altLang="zh-CN" sz="1800" dirty="0">
                <a:latin typeface="Consolas" panose="020B0609020204030204" pitchFamily="49" charset="0"/>
              </a:rPr>
              <a:t>("Input up to %d lines, and I will sort them.\</a:t>
            </a:r>
            <a:r>
              <a:rPr lang="en-US" altLang="zh-CN" sz="1800" dirty="0" err="1">
                <a:latin typeface="Consolas" panose="020B0609020204030204" pitchFamily="49" charset="0"/>
              </a:rPr>
              <a:t>n",SIZE</a:t>
            </a:r>
            <a:r>
              <a:rPr lang="en-US" altLang="zh-CN" sz="1800" dirty="0">
                <a:latin typeface="Consolas" panose="020B0609020204030204" pitchFamily="49" charset="0"/>
              </a:rPr>
              <a:t>);</a:t>
            </a:r>
          </a:p>
          <a:p>
            <a:pPr marL="0" indent="0" eaLnBrk="1" hangingPunct="1">
              <a:lnSpc>
                <a:spcPct val="80000"/>
              </a:lnSpc>
              <a:buFontTx/>
              <a:buNone/>
            </a:pPr>
            <a:r>
              <a:rPr lang="en-US" altLang="zh-CN" sz="1800" dirty="0">
                <a:latin typeface="Consolas" panose="020B0609020204030204" pitchFamily="49" charset="0"/>
              </a:rPr>
              <a:t>    </a:t>
            </a:r>
            <a:r>
              <a:rPr lang="en-US" altLang="zh-CN" sz="1800" dirty="0" err="1">
                <a:latin typeface="Consolas" panose="020B0609020204030204" pitchFamily="49" charset="0"/>
              </a:rPr>
              <a:t>printf</a:t>
            </a:r>
            <a:r>
              <a:rPr lang="en-US" altLang="zh-CN" sz="1800" dirty="0">
                <a:latin typeface="Consolas" panose="020B0609020204030204" pitchFamily="49" charset="0"/>
              </a:rPr>
              <a:t>("To stop, press the Enter key at a line's start.\n");</a:t>
            </a:r>
          </a:p>
          <a:p>
            <a:pPr marL="0" indent="0" eaLnBrk="1" hangingPunct="1">
              <a:lnSpc>
                <a:spcPct val="80000"/>
              </a:lnSpc>
              <a:buFontTx/>
              <a:buNone/>
            </a:pPr>
            <a:r>
              <a:rPr lang="en-US" altLang="zh-CN" sz="1800" dirty="0">
                <a:solidFill>
                  <a:srgbClr val="FF0000"/>
                </a:solidFill>
                <a:latin typeface="Consolas" panose="020B0609020204030204" pitchFamily="49" charset="0"/>
              </a:rPr>
              <a:t>    </a:t>
            </a:r>
            <a:r>
              <a:rPr lang="en-US" altLang="zh-CN" sz="1800" dirty="0" err="1">
                <a:solidFill>
                  <a:srgbClr val="FF0000"/>
                </a:solidFill>
                <a:latin typeface="Consolas" panose="020B0609020204030204" pitchFamily="49" charset="0"/>
              </a:rPr>
              <a:t>fgets</a:t>
            </a:r>
            <a:r>
              <a:rPr lang="en-US" altLang="zh-CN" sz="1800" dirty="0">
                <a:solidFill>
                  <a:srgbClr val="FF0000"/>
                </a:solidFill>
                <a:latin typeface="Consolas" panose="020B0609020204030204" pitchFamily="49" charset="0"/>
              </a:rPr>
              <a:t>(input[</a:t>
            </a:r>
            <a:r>
              <a:rPr lang="en-US" altLang="zh-CN" sz="1800" dirty="0" err="1">
                <a:solidFill>
                  <a:srgbClr val="FF0000"/>
                </a:solidFill>
                <a:latin typeface="Consolas" panose="020B0609020204030204" pitchFamily="49" charset="0"/>
              </a:rPr>
              <a:t>ct</a:t>
            </a:r>
            <a:r>
              <a:rPr lang="en-US" altLang="zh-CN" sz="1800" dirty="0">
                <a:solidFill>
                  <a:srgbClr val="FF0000"/>
                </a:solidFill>
                <a:latin typeface="Consolas" panose="020B0609020204030204" pitchFamily="49" charset="0"/>
              </a:rPr>
              <a:t>],</a:t>
            </a:r>
            <a:r>
              <a:rPr lang="en-US" altLang="zh-CN" sz="1800" dirty="0" err="1">
                <a:solidFill>
                  <a:srgbClr val="FF0000"/>
                </a:solidFill>
                <a:latin typeface="Consolas" panose="020B0609020204030204" pitchFamily="49" charset="0"/>
              </a:rPr>
              <a:t>LEN,stdin</a:t>
            </a:r>
            <a:r>
              <a:rPr lang="en-US" altLang="zh-CN" sz="1800" dirty="0">
                <a:solidFill>
                  <a:srgbClr val="FF0000"/>
                </a:solidFill>
                <a:latin typeface="Consolas" panose="020B0609020204030204" pitchFamily="49" charset="0"/>
              </a:rPr>
              <a:t>); </a:t>
            </a:r>
          </a:p>
          <a:p>
            <a:pPr marL="0" indent="0" algn="just" eaLnBrk="1" hangingPunct="1">
              <a:lnSpc>
                <a:spcPct val="80000"/>
              </a:lnSpc>
              <a:buFontTx/>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ct</a:t>
            </a:r>
            <a:r>
              <a:rPr lang="en-US" altLang="zh-CN" sz="1800" dirty="0">
                <a:latin typeface="Consolas" panose="020B0609020204030204" pitchFamily="49" charset="0"/>
              </a:rPr>
              <a:t> &lt; SIZE &amp;&amp; input[</a:t>
            </a:r>
            <a:r>
              <a:rPr lang="en-US" altLang="zh-CN" sz="1800" dirty="0" err="1">
                <a:latin typeface="Consolas" panose="020B0609020204030204" pitchFamily="49" charset="0"/>
              </a:rPr>
              <a:t>ct</a:t>
            </a:r>
            <a:r>
              <a:rPr lang="en-US" altLang="zh-CN" sz="1800" dirty="0">
                <a:latin typeface="Consolas" panose="020B0609020204030204" pitchFamily="49" charset="0"/>
              </a:rPr>
              <a:t>][0] != '\0'){</a:t>
            </a:r>
          </a:p>
          <a:p>
            <a:pPr marL="0" indent="0" eaLnBrk="1" hangingPunct="1">
              <a:lnSpc>
                <a:spcPct val="80000"/>
              </a:lnSpc>
              <a:buFontTx/>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name[</a:t>
            </a:r>
            <a:r>
              <a:rPr lang="en-US" altLang="zh-CN" sz="1800" dirty="0" err="1">
                <a:solidFill>
                  <a:srgbClr val="FF0000"/>
                </a:solidFill>
                <a:latin typeface="Consolas" panose="020B0609020204030204" pitchFamily="49" charset="0"/>
              </a:rPr>
              <a:t>ct</a:t>
            </a:r>
            <a:r>
              <a:rPr lang="en-US" altLang="zh-CN" sz="1800" dirty="0">
                <a:solidFill>
                  <a:srgbClr val="FF0000"/>
                </a:solidFill>
                <a:latin typeface="Consolas" panose="020B0609020204030204" pitchFamily="49" charset="0"/>
              </a:rPr>
              <a:t>] = input[</a:t>
            </a:r>
            <a:r>
              <a:rPr lang="en-US" altLang="zh-CN" sz="1800" dirty="0" err="1">
                <a:solidFill>
                  <a:srgbClr val="FF0000"/>
                </a:solidFill>
                <a:latin typeface="Consolas" panose="020B0609020204030204" pitchFamily="49" charset="0"/>
              </a:rPr>
              <a:t>ct</a:t>
            </a:r>
            <a:r>
              <a:rPr lang="en-US" altLang="zh-CN" sz="1800" dirty="0">
                <a:solidFill>
                  <a:srgbClr val="FF0000"/>
                </a:solidFill>
                <a:latin typeface="Consolas" panose="020B0609020204030204" pitchFamily="49" charset="0"/>
              </a:rPr>
              <a:t>];  </a:t>
            </a:r>
            <a:r>
              <a:rPr lang="en-US" altLang="zh-CN" sz="1800" dirty="0">
                <a:latin typeface="Consolas" panose="020B0609020204030204" pitchFamily="49" charset="0"/>
              </a:rPr>
              <a:t>/*set </a:t>
            </a:r>
            <a:r>
              <a:rPr lang="en-US" altLang="zh-CN" sz="1800" dirty="0" err="1">
                <a:latin typeface="Consolas" panose="020B0609020204030204" pitchFamily="49" charset="0"/>
              </a:rPr>
              <a:t>ptrs</a:t>
            </a:r>
            <a:r>
              <a:rPr lang="en-US" altLang="zh-CN" sz="1800" dirty="0">
                <a:latin typeface="Consolas" panose="020B0609020204030204" pitchFamily="49" charset="0"/>
              </a:rPr>
              <a:t> to strings*/</a:t>
            </a:r>
          </a:p>
          <a:p>
            <a:pPr marL="0" indent="0" algn="just" eaLnBrk="1" hangingPunct="1">
              <a:lnSpc>
                <a:spcPct val="80000"/>
              </a:lnSpc>
              <a:buFontTx/>
              <a:buNone/>
            </a:pPr>
            <a:r>
              <a:rPr lang="en-US" altLang="zh-CN" sz="1800" dirty="0">
                <a:latin typeface="Consolas" panose="020B0609020204030204" pitchFamily="49" charset="0"/>
              </a:rPr>
              <a:t>        </a:t>
            </a:r>
            <a:r>
              <a:rPr lang="en-US" altLang="zh-CN" sz="1800" dirty="0" err="1">
                <a:latin typeface="Consolas" panose="020B0609020204030204" pitchFamily="49" charset="0"/>
              </a:rPr>
              <a:t>ct</a:t>
            </a:r>
            <a:r>
              <a:rPr lang="en-US" altLang="zh-CN" sz="1800" dirty="0">
                <a:latin typeface="Consolas" panose="020B0609020204030204" pitchFamily="49" charset="0"/>
              </a:rPr>
              <a:t>++;</a:t>
            </a:r>
          </a:p>
          <a:p>
            <a:pPr marL="0" indent="0" algn="just" eaLnBrk="1" hangingPunct="1">
              <a:lnSpc>
                <a:spcPct val="80000"/>
              </a:lnSpc>
              <a:buFontTx/>
              <a:buNone/>
            </a:pPr>
            <a:r>
              <a:rPr lang="en-US" altLang="zh-CN" sz="1800" dirty="0">
                <a:solidFill>
                  <a:srgbClr val="FF0000"/>
                </a:solidFill>
                <a:latin typeface="Consolas" panose="020B0609020204030204" pitchFamily="49" charset="0"/>
              </a:rPr>
              <a:t>	 </a:t>
            </a:r>
            <a:r>
              <a:rPr lang="en-US" altLang="zh-CN" sz="1800" dirty="0" err="1">
                <a:solidFill>
                  <a:srgbClr val="FF0000"/>
                </a:solidFill>
                <a:latin typeface="Consolas" panose="020B0609020204030204" pitchFamily="49" charset="0"/>
              </a:rPr>
              <a:t>fgets</a:t>
            </a:r>
            <a:r>
              <a:rPr lang="en-US" altLang="zh-CN" sz="1800" dirty="0">
                <a:solidFill>
                  <a:srgbClr val="FF0000"/>
                </a:solidFill>
                <a:latin typeface="Consolas" panose="020B0609020204030204" pitchFamily="49" charset="0"/>
              </a:rPr>
              <a:t>(input[</a:t>
            </a:r>
            <a:r>
              <a:rPr lang="en-US" altLang="zh-CN" sz="1800" dirty="0" err="1">
                <a:solidFill>
                  <a:srgbClr val="FF0000"/>
                </a:solidFill>
                <a:latin typeface="Consolas" panose="020B0609020204030204" pitchFamily="49" charset="0"/>
              </a:rPr>
              <a:t>ct</a:t>
            </a:r>
            <a:r>
              <a:rPr lang="en-US" altLang="zh-CN" sz="1800" dirty="0">
                <a:solidFill>
                  <a:srgbClr val="FF0000"/>
                </a:solidFill>
                <a:latin typeface="Consolas" panose="020B0609020204030204" pitchFamily="49" charset="0"/>
              </a:rPr>
              <a:t>],</a:t>
            </a:r>
            <a:r>
              <a:rPr lang="en-US" altLang="zh-CN" sz="1800" dirty="0" err="1">
                <a:solidFill>
                  <a:srgbClr val="FF0000"/>
                </a:solidFill>
                <a:latin typeface="Consolas" panose="020B0609020204030204" pitchFamily="49" charset="0"/>
              </a:rPr>
              <a:t>LEN,stdin</a:t>
            </a:r>
            <a:r>
              <a:rPr lang="en-US" altLang="zh-CN" sz="1800" dirty="0">
                <a:solidFill>
                  <a:srgbClr val="FF0000"/>
                </a:solidFill>
                <a:latin typeface="Consolas" panose="020B0609020204030204" pitchFamily="49" charset="0"/>
              </a:rPr>
              <a:t>);</a:t>
            </a:r>
            <a:endParaRPr lang="en-US" altLang="zh-CN" sz="1800" dirty="0">
              <a:latin typeface="Consolas" panose="020B0609020204030204" pitchFamily="49" charset="0"/>
            </a:endParaRPr>
          </a:p>
          <a:p>
            <a:pPr marL="0" indent="0" algn="just" eaLnBrk="1" hangingPunct="1">
              <a:lnSpc>
                <a:spcPct val="80000"/>
              </a:lnSpc>
              <a:buFontTx/>
              <a:buNone/>
            </a:pPr>
            <a:r>
              <a:rPr lang="en-US" altLang="zh-CN" sz="1800" dirty="0">
                <a:latin typeface="Consolas" panose="020B0609020204030204" pitchFamily="49" charset="0"/>
              </a:rPr>
              <a:t>    }</a:t>
            </a:r>
          </a:p>
          <a:p>
            <a:pPr marL="0" indent="0" algn="just" eaLnBrk="1" hangingPunct="1">
              <a:lnSpc>
                <a:spcPct val="80000"/>
              </a:lnSpc>
              <a:buFontTx/>
              <a:buNone/>
            </a:pPr>
            <a:r>
              <a:rPr lang="en-US" altLang="zh-CN" sz="1800" dirty="0">
                <a:latin typeface="Consolas" panose="020B0609020204030204" pitchFamily="49" charset="0"/>
              </a:rPr>
              <a:t>    </a:t>
            </a:r>
            <a:r>
              <a:rPr lang="en-US" altLang="zh-CN" sz="1800" dirty="0" err="1">
                <a:solidFill>
                  <a:srgbClr val="FF0000"/>
                </a:solidFill>
                <a:latin typeface="Consolas" panose="020B0609020204030204" pitchFamily="49" charset="0"/>
              </a:rPr>
              <a:t>strSort</a:t>
            </a:r>
            <a:r>
              <a:rPr lang="en-US" altLang="zh-CN" sz="1800" dirty="0">
                <a:solidFill>
                  <a:srgbClr val="FF0000"/>
                </a:solidFill>
                <a:latin typeface="Consolas" panose="020B0609020204030204" pitchFamily="49" charset="0"/>
              </a:rPr>
              <a:t>(</a:t>
            </a:r>
            <a:r>
              <a:rPr lang="en-US" altLang="zh-CN" sz="1800" dirty="0" err="1">
                <a:solidFill>
                  <a:srgbClr val="FF0000"/>
                </a:solidFill>
                <a:latin typeface="Consolas" panose="020B0609020204030204" pitchFamily="49" charset="0"/>
              </a:rPr>
              <a:t>name,ct</a:t>
            </a:r>
            <a:r>
              <a:rPr lang="en-US" altLang="zh-CN" sz="1800" dirty="0">
                <a:solidFill>
                  <a:srgbClr val="FF0000"/>
                </a:solidFill>
                <a:latin typeface="Consolas" panose="020B0609020204030204" pitchFamily="49" charset="0"/>
              </a:rPr>
              <a:t>);   </a:t>
            </a:r>
            <a:r>
              <a:rPr lang="en-US" altLang="zh-CN" sz="1800" dirty="0">
                <a:latin typeface="Consolas" panose="020B0609020204030204" pitchFamily="49" charset="0"/>
              </a:rPr>
              <a:t>	/* string sorter */</a:t>
            </a:r>
          </a:p>
          <a:p>
            <a:pPr marL="0" indent="0" algn="just" eaLnBrk="1" hangingPunct="1">
              <a:lnSpc>
                <a:spcPct val="80000"/>
              </a:lnSpc>
              <a:buFontTx/>
              <a:buNone/>
            </a:pPr>
            <a:r>
              <a:rPr lang="en-US" altLang="zh-CN" sz="1800" dirty="0">
                <a:latin typeface="Consolas" panose="020B0609020204030204" pitchFamily="49" charset="0"/>
              </a:rPr>
              <a:t>    puts("\</a:t>
            </a:r>
            <a:r>
              <a:rPr lang="en-US" altLang="zh-CN" sz="1800" dirty="0" err="1">
                <a:latin typeface="Consolas" panose="020B0609020204030204" pitchFamily="49" charset="0"/>
              </a:rPr>
              <a:t>nHere's</a:t>
            </a:r>
            <a:r>
              <a:rPr lang="en-US" altLang="zh-CN" sz="1800" dirty="0">
                <a:latin typeface="Consolas" panose="020B0609020204030204" pitchFamily="49" charset="0"/>
              </a:rPr>
              <a:t> the sorted list:\n");</a:t>
            </a:r>
          </a:p>
          <a:p>
            <a:pPr marL="0" indent="0" algn="just" eaLnBrk="1" hangingPunct="1">
              <a:lnSpc>
                <a:spcPct val="80000"/>
              </a:lnSpc>
              <a:buFontTx/>
              <a:buNone/>
            </a:pPr>
            <a:r>
              <a:rPr lang="en-US" altLang="zh-CN" sz="1800" dirty="0">
                <a:latin typeface="Consolas" panose="020B0609020204030204" pitchFamily="49" charset="0"/>
              </a:rPr>
              <a:t>    for (k = 0; k &lt; </a:t>
            </a:r>
            <a:r>
              <a:rPr lang="en-US" altLang="zh-CN" sz="1800" dirty="0" err="1">
                <a:latin typeface="Consolas" panose="020B0609020204030204" pitchFamily="49" charset="0"/>
              </a:rPr>
              <a:t>ct</a:t>
            </a:r>
            <a:r>
              <a:rPr lang="en-US" altLang="zh-CN" sz="1800" dirty="0">
                <a:latin typeface="Consolas" panose="020B0609020204030204" pitchFamily="49" charset="0"/>
              </a:rPr>
              <a:t>; k++)</a:t>
            </a:r>
          </a:p>
          <a:p>
            <a:pPr marL="0" indent="0" algn="just" eaLnBrk="1" hangingPunct="1">
              <a:lnSpc>
                <a:spcPct val="80000"/>
              </a:lnSpc>
              <a:buFontTx/>
              <a:buNone/>
            </a:pPr>
            <a:r>
              <a:rPr lang="en-US" altLang="zh-CN" sz="1800" dirty="0">
                <a:latin typeface="Consolas" panose="020B0609020204030204" pitchFamily="49" charset="0"/>
              </a:rPr>
              <a:t>        </a:t>
            </a:r>
            <a:r>
              <a:rPr lang="en-US" altLang="zh-CN" sz="1800" dirty="0" err="1">
                <a:solidFill>
                  <a:srgbClr val="FF0000"/>
                </a:solidFill>
                <a:latin typeface="Consolas" panose="020B0609020204030204" pitchFamily="49" charset="0"/>
              </a:rPr>
              <a:t>fputs</a:t>
            </a:r>
            <a:r>
              <a:rPr lang="en-US" altLang="zh-CN" sz="1800" dirty="0">
                <a:solidFill>
                  <a:srgbClr val="FF0000"/>
                </a:solidFill>
                <a:latin typeface="Consolas" panose="020B0609020204030204" pitchFamily="49" charset="0"/>
              </a:rPr>
              <a:t>(name[k],</a:t>
            </a:r>
            <a:r>
              <a:rPr lang="en-US" altLang="zh-CN" sz="1800" dirty="0" err="1">
                <a:solidFill>
                  <a:srgbClr val="FF0000"/>
                </a:solidFill>
                <a:latin typeface="Consolas" panose="020B0609020204030204" pitchFamily="49" charset="0"/>
              </a:rPr>
              <a:t>stdout</a:t>
            </a:r>
            <a:r>
              <a:rPr lang="en-US" altLang="zh-CN" sz="1800" dirty="0">
                <a:solidFill>
                  <a:srgbClr val="FF0000"/>
                </a:solidFill>
                <a:latin typeface="Consolas" panose="020B0609020204030204" pitchFamily="49" charset="0"/>
              </a:rPr>
              <a:t>) </a:t>
            </a:r>
            <a:r>
              <a:rPr lang="en-US" altLang="zh-CN" sz="1800" dirty="0">
                <a:latin typeface="Consolas" panose="020B0609020204030204" pitchFamily="49" charset="0"/>
              </a:rPr>
              <a:t>; 	/* sorted pointers */</a:t>
            </a:r>
          </a:p>
          <a:p>
            <a:pPr marL="0" indent="0" algn="just" eaLnBrk="1" hangingPunct="1">
              <a:lnSpc>
                <a:spcPct val="80000"/>
              </a:lnSpc>
              <a:buFontTx/>
              <a:buNone/>
            </a:pPr>
            <a:r>
              <a:rPr lang="en-US" altLang="zh-CN" sz="1800" dirty="0">
                <a:latin typeface="Consolas" panose="020B0609020204030204" pitchFamily="49" charset="0"/>
              </a:rPr>
              <a:t>    return 0;</a:t>
            </a:r>
          </a:p>
          <a:p>
            <a:pPr marL="0" indent="0" algn="just" eaLnBrk="1" hangingPunct="1">
              <a:lnSpc>
                <a:spcPct val="80000"/>
              </a:lnSpc>
              <a:buFontTx/>
              <a:buNone/>
            </a:pPr>
            <a:r>
              <a:rPr lang="en-US" altLang="zh-CN" sz="1800" dirty="0">
                <a:latin typeface="Consolas" panose="020B0609020204030204" pitchFamily="49" charset="0"/>
              </a:rPr>
              <a:t>}</a:t>
            </a:r>
          </a:p>
        </p:txBody>
      </p:sp>
      <p:sp>
        <p:nvSpPr>
          <p:cNvPr id="2" name="Rectangle 2">
            <a:extLst>
              <a:ext uri="{FF2B5EF4-FFF2-40B4-BE49-F238E27FC236}">
                <a16:creationId xmlns:a16="http://schemas.microsoft.com/office/drawing/2014/main" id="{00B104A2-8DA6-9FB1-35F3-EC9975F095C3}"/>
              </a:ext>
            </a:extLst>
          </p:cNvPr>
          <p:cNvSpPr>
            <a:spLocks noGrp="1" noChangeArrowheads="1"/>
          </p:cNvSpPr>
          <p:nvPr>
            <p:ph type="title"/>
          </p:nvPr>
        </p:nvSpPr>
        <p:spPr>
          <a:xfrm>
            <a:off x="2627784" y="404813"/>
            <a:ext cx="6408266" cy="720725"/>
          </a:xfrm>
        </p:spPr>
        <p:txBody>
          <a:bodyPr/>
          <a:lstStyle/>
          <a:p>
            <a:pPr eaLnBrk="1" hangingPunct="1"/>
            <a:r>
              <a:rPr lang="zh-CN" altLang="en-US" dirty="0">
                <a:latin typeface="微软雅黑" panose="020B0503020204020204" pitchFamily="34" charset="-122"/>
                <a:ea typeface="微软雅黑" panose="020B0503020204020204" pitchFamily="34" charset="-122"/>
              </a:rPr>
              <a:t>二维数组排序多字符串方案</a:t>
            </a:r>
            <a:endParaRPr lang="zh-CN" altLang="en-US" dirty="0"/>
          </a:p>
        </p:txBody>
      </p:sp>
    </p:spTree>
    <p:extLst>
      <p:ext uri="{BB962C8B-B14F-4D97-AF65-F5344CB8AC3E}">
        <p14:creationId xmlns:p14="http://schemas.microsoft.com/office/powerpoint/2010/main" val="290901351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a:extLst>
              <a:ext uri="{FF2B5EF4-FFF2-40B4-BE49-F238E27FC236}">
                <a16:creationId xmlns:a16="http://schemas.microsoft.com/office/drawing/2014/main" id="{0BFF5984-C15F-46A7-A5F7-2F414AC12153}"/>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46</a:t>
            </a:fld>
            <a:endParaRPr lang="zh-CN" altLang="en-US"/>
          </a:p>
        </p:txBody>
      </p:sp>
      <p:sp>
        <p:nvSpPr>
          <p:cNvPr id="60418" name="Rectangle 3">
            <a:extLst>
              <a:ext uri="{FF2B5EF4-FFF2-40B4-BE49-F238E27FC236}">
                <a16:creationId xmlns:a16="http://schemas.microsoft.com/office/drawing/2014/main" id="{6BE0FE11-4ED6-4C9D-810C-8168DCACC738}"/>
              </a:ext>
            </a:extLst>
          </p:cNvPr>
          <p:cNvSpPr>
            <a:spLocks noGrp="1" noChangeArrowheads="1"/>
          </p:cNvSpPr>
          <p:nvPr>
            <p:ph idx="1"/>
          </p:nvPr>
        </p:nvSpPr>
        <p:spPr>
          <a:xfrm>
            <a:off x="684213" y="1268413"/>
            <a:ext cx="7772400" cy="5105400"/>
          </a:xfrm>
        </p:spPr>
        <p:txBody>
          <a:bodyPr/>
          <a:lstStyle/>
          <a:p>
            <a:pPr eaLnBrk="1" hangingPunct="1">
              <a:buFont typeface="Wingdings" panose="05000000000000000000" pitchFamily="2" charset="2"/>
              <a:buChar char="n"/>
            </a:pPr>
            <a:r>
              <a:rPr lang="zh-CN" altLang="en-US" dirty="0"/>
              <a:t>  </a:t>
            </a:r>
            <a:r>
              <a:rPr lang="zh-CN" altLang="en-US" b="1" dirty="0">
                <a:solidFill>
                  <a:schemeClr val="accent2"/>
                </a:solidFill>
              </a:rPr>
              <a:t>问题描述</a:t>
            </a:r>
          </a:p>
          <a:p>
            <a:pPr eaLnBrk="1" hangingPunct="1">
              <a:buFontTx/>
              <a:buNone/>
            </a:pPr>
            <a:r>
              <a:rPr lang="zh-CN" altLang="en-US" b="1" dirty="0">
                <a:solidFill>
                  <a:schemeClr val="accent2"/>
                </a:solidFill>
              </a:rPr>
              <a:t>       每一付牌共有</a:t>
            </a:r>
            <a:r>
              <a:rPr lang="en-US" altLang="zh-CN" b="1" dirty="0">
                <a:solidFill>
                  <a:schemeClr val="accent2"/>
                </a:solidFill>
              </a:rPr>
              <a:t>52</a:t>
            </a:r>
            <a:r>
              <a:rPr lang="zh-CN" altLang="en-US" b="1" dirty="0">
                <a:solidFill>
                  <a:schemeClr val="accent2"/>
                </a:solidFill>
              </a:rPr>
              <a:t>张（不考虑大小王），</a:t>
            </a:r>
            <a:endParaRPr lang="en-US" altLang="zh-CN" b="1" dirty="0">
              <a:solidFill>
                <a:schemeClr val="accent2"/>
              </a:solidFill>
            </a:endParaRPr>
          </a:p>
          <a:p>
            <a:pPr eaLnBrk="1" hangingPunct="1">
              <a:buFontTx/>
              <a:buNone/>
            </a:pPr>
            <a:r>
              <a:rPr lang="en-US" altLang="zh-CN" b="1" dirty="0">
                <a:solidFill>
                  <a:schemeClr val="accent2"/>
                </a:solidFill>
              </a:rPr>
              <a:t>	   </a:t>
            </a:r>
            <a:r>
              <a:rPr lang="zh-CN" altLang="en-US" b="1" dirty="0">
                <a:solidFill>
                  <a:schemeClr val="accent2"/>
                </a:solidFill>
              </a:rPr>
              <a:t>有</a:t>
            </a:r>
            <a:r>
              <a:rPr lang="en-US" altLang="zh-CN" b="1" dirty="0">
                <a:solidFill>
                  <a:schemeClr val="accent2"/>
                </a:solidFill>
              </a:rPr>
              <a:t>13</a:t>
            </a:r>
            <a:r>
              <a:rPr lang="zh-CN" altLang="en-US" b="1" dirty="0">
                <a:solidFill>
                  <a:schemeClr val="accent2"/>
                </a:solidFill>
              </a:rPr>
              <a:t>种面值，每</a:t>
            </a:r>
            <a:r>
              <a:rPr lang="en-US" altLang="zh-CN" b="1" dirty="0">
                <a:solidFill>
                  <a:schemeClr val="accent2"/>
                </a:solidFill>
              </a:rPr>
              <a:t>1</a:t>
            </a:r>
            <a:r>
              <a:rPr lang="zh-CN" altLang="en-US" b="1" dirty="0">
                <a:solidFill>
                  <a:schemeClr val="accent2"/>
                </a:solidFill>
              </a:rPr>
              <a:t>种面值 有</a:t>
            </a:r>
            <a:r>
              <a:rPr lang="en-US" altLang="zh-CN" b="1" dirty="0">
                <a:solidFill>
                  <a:schemeClr val="accent2"/>
                </a:solidFill>
              </a:rPr>
              <a:t>4</a:t>
            </a:r>
            <a:r>
              <a:rPr lang="zh-CN" altLang="en-US" b="1" dirty="0">
                <a:solidFill>
                  <a:schemeClr val="accent2"/>
                </a:solidFill>
              </a:rPr>
              <a:t>种花色。</a:t>
            </a:r>
            <a:endParaRPr lang="en-US" altLang="zh-CN" b="1" dirty="0">
              <a:solidFill>
                <a:schemeClr val="accent2"/>
              </a:solidFill>
            </a:endParaRPr>
          </a:p>
          <a:p>
            <a:pPr eaLnBrk="1" hangingPunct="1">
              <a:buFontTx/>
              <a:buNone/>
            </a:pPr>
            <a:endParaRPr lang="en-US" altLang="zh-CN" b="1" dirty="0">
              <a:solidFill>
                <a:schemeClr val="accent2"/>
              </a:solidFill>
            </a:endParaRPr>
          </a:p>
          <a:p>
            <a:pPr eaLnBrk="1" hangingPunct="1">
              <a:buFontTx/>
              <a:buNone/>
            </a:pPr>
            <a:endParaRPr lang="en-US" altLang="zh-CN" b="1" dirty="0">
              <a:solidFill>
                <a:schemeClr val="accent2"/>
              </a:solidFill>
            </a:endParaRPr>
          </a:p>
          <a:p>
            <a:pPr eaLnBrk="1" hangingPunct="1">
              <a:buFontTx/>
              <a:buNone/>
            </a:pPr>
            <a:endParaRPr lang="en-US" altLang="zh-CN" b="1" dirty="0">
              <a:solidFill>
                <a:schemeClr val="accent2"/>
              </a:solidFill>
            </a:endParaRPr>
          </a:p>
          <a:p>
            <a:pPr eaLnBrk="1" hangingPunct="1">
              <a:buFont typeface="Wingdings" panose="05000000000000000000" pitchFamily="2" charset="2"/>
              <a:buChar char="n"/>
            </a:pPr>
            <a:r>
              <a:rPr lang="zh-CN" altLang="en-US" b="1" dirty="0">
                <a:solidFill>
                  <a:schemeClr val="accent2"/>
                </a:solidFill>
              </a:rPr>
              <a:t>思考：</a:t>
            </a:r>
            <a:endParaRPr lang="en-US" altLang="zh-CN" b="1" dirty="0">
              <a:solidFill>
                <a:schemeClr val="accent2"/>
              </a:solidFill>
            </a:endParaRPr>
          </a:p>
          <a:p>
            <a:pPr marL="971550" lvl="1" indent="-514350" eaLnBrk="1" hangingPunct="1">
              <a:buFont typeface="宋体" panose="02010600030101010101" pitchFamily="2" charset="-122"/>
              <a:buAutoNum type="arabicPeriod"/>
            </a:pPr>
            <a:r>
              <a:rPr lang="zh-CN" altLang="en-US" b="1" dirty="0">
                <a:solidFill>
                  <a:schemeClr val="accent2"/>
                </a:solidFill>
              </a:rPr>
              <a:t>计算机如何表示？（抽象）</a:t>
            </a:r>
            <a:endParaRPr lang="en-US" altLang="zh-CN" b="1" dirty="0">
              <a:solidFill>
                <a:schemeClr val="accent2"/>
              </a:solidFill>
            </a:endParaRPr>
          </a:p>
          <a:p>
            <a:pPr marL="971550" lvl="1" indent="-514350" eaLnBrk="1" hangingPunct="1">
              <a:buFont typeface="宋体" panose="02010600030101010101" pitchFamily="2" charset="-122"/>
              <a:buAutoNum type="arabicPeriod"/>
            </a:pPr>
            <a:r>
              <a:rPr lang="zh-CN" altLang="en-US" b="1" dirty="0">
                <a:solidFill>
                  <a:schemeClr val="accent2"/>
                </a:solidFill>
              </a:rPr>
              <a:t>如何存储？</a:t>
            </a:r>
            <a:endParaRPr lang="en-US" altLang="zh-CN" b="1" dirty="0">
              <a:solidFill>
                <a:schemeClr val="accent2"/>
              </a:solidFill>
            </a:endParaRPr>
          </a:p>
          <a:p>
            <a:pPr marL="971550" lvl="1" indent="-514350" eaLnBrk="1" hangingPunct="1">
              <a:buFont typeface="宋体" panose="02010600030101010101" pitchFamily="2" charset="-122"/>
              <a:buAutoNum type="arabicPeriod"/>
            </a:pPr>
            <a:r>
              <a:rPr lang="zh-CN" altLang="en-US" b="1" dirty="0">
                <a:solidFill>
                  <a:schemeClr val="accent2"/>
                </a:solidFill>
              </a:rPr>
              <a:t>如何模拟洗牌与发牌？</a:t>
            </a:r>
          </a:p>
          <a:p>
            <a:pPr eaLnBrk="1" hangingPunct="1">
              <a:buFontTx/>
              <a:buNone/>
            </a:pPr>
            <a:r>
              <a:rPr lang="zh-CN" altLang="en-US" dirty="0"/>
              <a:t>        </a:t>
            </a:r>
            <a:endParaRPr lang="en-US" altLang="zh-CN" b="1" dirty="0"/>
          </a:p>
        </p:txBody>
      </p:sp>
      <p:sp>
        <p:nvSpPr>
          <p:cNvPr id="60419" name="Rectangle 5">
            <a:extLst>
              <a:ext uri="{FF2B5EF4-FFF2-40B4-BE49-F238E27FC236}">
                <a16:creationId xmlns:a16="http://schemas.microsoft.com/office/drawing/2014/main" id="{A243ABF7-CF97-4FB6-A14F-CB8959E4D586}"/>
              </a:ext>
            </a:extLst>
          </p:cNvPr>
          <p:cNvSpPr>
            <a:spLocks noGrp="1" noChangeArrowheads="1"/>
          </p:cNvSpPr>
          <p:nvPr>
            <p:ph type="title"/>
          </p:nvPr>
        </p:nvSpPr>
        <p:spPr/>
        <p:txBody>
          <a:bodyPr/>
          <a:lstStyle/>
          <a:p>
            <a:pPr eaLnBrk="1" hangingPunct="1"/>
            <a:r>
              <a:rPr lang="en-US" altLang="zh-CN" b="1"/>
              <a:t>  </a:t>
            </a:r>
            <a:r>
              <a:rPr lang="zh-CN" altLang="en-US" b="1"/>
              <a:t>实例研究一：（模拟发牌和洗牌）</a:t>
            </a:r>
          </a:p>
        </p:txBody>
      </p:sp>
      <p:pic>
        <p:nvPicPr>
          <p:cNvPr id="60420" name="Picture 6">
            <a:extLst>
              <a:ext uri="{FF2B5EF4-FFF2-40B4-BE49-F238E27FC236}">
                <a16:creationId xmlns:a16="http://schemas.microsoft.com/office/drawing/2014/main" id="{FB8AE304-6259-4449-B690-188786AFA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3175" y="2852738"/>
            <a:ext cx="4500563"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4">
            <a:extLst>
              <a:ext uri="{FF2B5EF4-FFF2-40B4-BE49-F238E27FC236}">
                <a16:creationId xmlns:a16="http://schemas.microsoft.com/office/drawing/2014/main" id="{975D31B8-02DA-40B2-A4F9-586EE3EC73BF}"/>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pPr>
            <a:fld id="{184253C2-A1F9-42F1-81C8-0D63D8B02D10}" type="slidenum">
              <a:rPr lang="zh-CN" altLang="en-US" smtClean="0"/>
              <a:pPr>
                <a:spcBef>
                  <a:spcPct val="0"/>
                </a:spcBef>
              </a:pPr>
              <a:t>47</a:t>
            </a:fld>
            <a:endParaRPr lang="zh-CN" altLang="en-US"/>
          </a:p>
        </p:txBody>
      </p:sp>
      <p:sp>
        <p:nvSpPr>
          <p:cNvPr id="69634" name="Rectangle 2">
            <a:extLst>
              <a:ext uri="{FF2B5EF4-FFF2-40B4-BE49-F238E27FC236}">
                <a16:creationId xmlns:a16="http://schemas.microsoft.com/office/drawing/2014/main" id="{274AD106-9EC7-4068-9BFB-AFF6CD0B6FEE}"/>
              </a:ext>
            </a:extLst>
          </p:cNvPr>
          <p:cNvSpPr>
            <a:spLocks noGrp="1" noChangeArrowheads="1"/>
          </p:cNvSpPr>
          <p:nvPr>
            <p:ph type="title"/>
          </p:nvPr>
        </p:nvSpPr>
        <p:spPr/>
        <p:txBody>
          <a:bodyPr/>
          <a:lstStyle/>
          <a:p>
            <a:pPr eaLnBrk="1" hangingPunct="1"/>
            <a:r>
              <a:rPr lang="zh-CN" altLang="en-US" b="1" dirty="0"/>
              <a:t>麻烦的显示牌</a:t>
            </a:r>
          </a:p>
        </p:txBody>
      </p:sp>
      <p:sp>
        <p:nvSpPr>
          <p:cNvPr id="69635" name="Rectangle 3">
            <a:extLst>
              <a:ext uri="{FF2B5EF4-FFF2-40B4-BE49-F238E27FC236}">
                <a16:creationId xmlns:a16="http://schemas.microsoft.com/office/drawing/2014/main" id="{772EE71D-898E-4AA5-9A79-4210298B3165}"/>
              </a:ext>
            </a:extLst>
          </p:cNvPr>
          <p:cNvSpPr>
            <a:spLocks noGrp="1" noChangeArrowheads="1"/>
          </p:cNvSpPr>
          <p:nvPr>
            <p:ph idx="1"/>
          </p:nvPr>
        </p:nvSpPr>
        <p:spPr>
          <a:xfrm>
            <a:off x="304800" y="1265086"/>
            <a:ext cx="3619128" cy="5494337"/>
          </a:xfrm>
          <a:ln>
            <a:solidFill>
              <a:schemeClr val="accent1"/>
            </a:solidFill>
          </a:ln>
        </p:spPr>
        <p:txBody>
          <a:bodyPr/>
          <a:lstStyle/>
          <a:p>
            <a:pPr eaLnBrk="1" hangingPunct="1">
              <a:lnSpc>
                <a:spcPct val="80000"/>
              </a:lnSpc>
              <a:buFontTx/>
              <a:buNone/>
            </a:pPr>
            <a:r>
              <a:rPr lang="en-US" altLang="zh-CN" sz="1800" dirty="0">
                <a:latin typeface="Consolas" panose="020B0609020204030204" pitchFamily="49" charset="0"/>
              </a:rPr>
              <a:t>void </a:t>
            </a:r>
            <a:r>
              <a:rPr lang="en-US" altLang="zh-CN" sz="1800" dirty="0" err="1">
                <a:latin typeface="Consolas" panose="020B0609020204030204" pitchFamily="49" charset="0"/>
              </a:rPr>
              <a:t>outputCard</a:t>
            </a:r>
            <a:r>
              <a:rPr lang="en-US" altLang="zh-CN" sz="1800" dirty="0">
                <a:latin typeface="Consolas" panose="020B0609020204030204" pitchFamily="49" charset="0"/>
              </a:rPr>
              <a:t>(int </a:t>
            </a:r>
            <a:r>
              <a:rPr lang="en-US" altLang="zh-CN" sz="1800" dirty="0" err="1">
                <a:latin typeface="Consolas" panose="020B0609020204030204" pitchFamily="49" charset="0"/>
              </a:rPr>
              <a:t>i,int</a:t>
            </a:r>
            <a:r>
              <a:rPr lang="en-US" altLang="zh-CN" sz="1800" dirty="0">
                <a:latin typeface="Consolas" panose="020B0609020204030204" pitchFamily="49" charset="0"/>
              </a:rPr>
              <a:t> </a:t>
            </a:r>
            <a:r>
              <a:rPr lang="en-US" altLang="zh-CN" sz="1800" dirty="0" err="1">
                <a:latin typeface="Consolas" panose="020B0609020204030204" pitchFamily="49" charset="0"/>
              </a:rPr>
              <a:t>row,int</a:t>
            </a:r>
            <a:r>
              <a:rPr lang="en-US" altLang="zh-CN" sz="1800" dirty="0">
                <a:latin typeface="Consolas" panose="020B0609020204030204" pitchFamily="49" charset="0"/>
              </a:rPr>
              <a:t> col)</a:t>
            </a:r>
          </a:p>
          <a:p>
            <a:pPr eaLnBrk="1" hangingPunct="1">
              <a:lnSpc>
                <a:spcPct val="80000"/>
              </a:lnSpc>
              <a:buFontTx/>
              <a:buNone/>
            </a:pPr>
            <a:r>
              <a:rPr lang="en-US" altLang="zh-CN" sz="1800" dirty="0">
                <a:latin typeface="Consolas" panose="020B0609020204030204" pitchFamily="49" charset="0"/>
              </a:rPr>
              <a:t>{</a:t>
            </a:r>
          </a:p>
          <a:p>
            <a:pPr eaLnBrk="1" hangingPunct="1">
              <a:lnSpc>
                <a:spcPct val="80000"/>
              </a:lnSpc>
              <a:buFontTx/>
              <a:buNone/>
            </a:pPr>
            <a:r>
              <a:rPr lang="en-US" altLang="zh-CN" sz="1800" dirty="0">
                <a:latin typeface="Consolas" panose="020B0609020204030204" pitchFamily="49" charset="0"/>
              </a:rPr>
              <a:t>   </a:t>
            </a:r>
            <a:r>
              <a:rPr lang="en-US" altLang="zh-CN" sz="1800" dirty="0" err="1">
                <a:latin typeface="Consolas" panose="020B0609020204030204" pitchFamily="49" charset="0"/>
              </a:rPr>
              <a:t>printf</a:t>
            </a:r>
            <a:r>
              <a:rPr lang="en-US" altLang="zh-CN" sz="1800" dirty="0">
                <a:latin typeface="Consolas" panose="020B0609020204030204" pitchFamily="49" charset="0"/>
              </a:rPr>
              <a:t>("</a:t>
            </a:r>
            <a:r>
              <a:rPr lang="zh-CN" altLang="en-US" sz="1800" dirty="0">
                <a:latin typeface="Consolas" panose="020B0609020204030204" pitchFamily="49" charset="0"/>
              </a:rPr>
              <a:t>第</a:t>
            </a:r>
            <a:r>
              <a:rPr lang="en-US" altLang="zh-CN" sz="1800" dirty="0">
                <a:latin typeface="Consolas" panose="020B0609020204030204" pitchFamily="49" charset="0"/>
              </a:rPr>
              <a:t>%d</a:t>
            </a:r>
            <a:r>
              <a:rPr lang="zh-CN" altLang="en-US" sz="1800" dirty="0">
                <a:latin typeface="Consolas" panose="020B0609020204030204" pitchFamily="49" charset="0"/>
              </a:rPr>
              <a:t>张牌：</a:t>
            </a:r>
            <a:r>
              <a:rPr lang="en-US" altLang="zh-CN" sz="1800" dirty="0">
                <a:latin typeface="Consolas" panose="020B0609020204030204" pitchFamily="49" charset="0"/>
              </a:rPr>
              <a:t>",</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eaLnBrk="1" hangingPunct="1">
              <a:lnSpc>
                <a:spcPct val="80000"/>
              </a:lnSpc>
              <a:buFontTx/>
              <a:buNone/>
            </a:pPr>
            <a:r>
              <a:rPr lang="en-US" altLang="zh-CN" sz="1800" dirty="0">
                <a:latin typeface="Consolas" panose="020B0609020204030204" pitchFamily="49" charset="0"/>
              </a:rPr>
              <a:t>   switch (col){</a:t>
            </a:r>
          </a:p>
          <a:p>
            <a:pPr eaLnBrk="1" hangingPunct="1">
              <a:lnSpc>
                <a:spcPct val="80000"/>
              </a:lnSpc>
              <a:buFontTx/>
              <a:buNone/>
            </a:pPr>
            <a:r>
              <a:rPr lang="en-US" altLang="zh-CN" sz="1800" dirty="0">
                <a:latin typeface="Consolas" panose="020B0609020204030204" pitchFamily="49" charset="0"/>
              </a:rPr>
              <a:t>      case 0:printf("Acer");break;</a:t>
            </a:r>
          </a:p>
          <a:p>
            <a:pPr eaLnBrk="1" hangingPunct="1">
              <a:lnSpc>
                <a:spcPct val="80000"/>
              </a:lnSpc>
              <a:buFontTx/>
              <a:buNone/>
            </a:pPr>
            <a:r>
              <a:rPr lang="en-US" altLang="zh-CN" sz="1800" dirty="0">
                <a:latin typeface="Consolas" panose="020B0609020204030204" pitchFamily="49" charset="0"/>
              </a:rPr>
              <a:t>      case 1:printf("Deuce");break;</a:t>
            </a:r>
          </a:p>
          <a:p>
            <a:pPr eaLnBrk="1" hangingPunct="1">
              <a:lnSpc>
                <a:spcPct val="80000"/>
              </a:lnSpc>
              <a:buFontTx/>
              <a:buNone/>
            </a:pPr>
            <a:r>
              <a:rPr lang="en-US" altLang="zh-CN" sz="1800" dirty="0">
                <a:latin typeface="Consolas" panose="020B0609020204030204" pitchFamily="49" charset="0"/>
              </a:rPr>
              <a:t>      case 2:printf("Three");break;</a:t>
            </a:r>
          </a:p>
          <a:p>
            <a:pPr eaLnBrk="1" hangingPunct="1">
              <a:lnSpc>
                <a:spcPct val="80000"/>
              </a:lnSpc>
              <a:buFontTx/>
              <a:buNone/>
            </a:pPr>
            <a:r>
              <a:rPr lang="en-US" altLang="zh-CN" sz="1800" dirty="0">
                <a:latin typeface="Consolas" panose="020B0609020204030204" pitchFamily="49" charset="0"/>
              </a:rPr>
              <a:t>      case 3:printf("Four");break;</a:t>
            </a:r>
          </a:p>
          <a:p>
            <a:pPr eaLnBrk="1" hangingPunct="1">
              <a:lnSpc>
                <a:spcPct val="80000"/>
              </a:lnSpc>
              <a:buFontTx/>
              <a:buNone/>
            </a:pPr>
            <a:r>
              <a:rPr lang="en-US" altLang="zh-CN" sz="1800" dirty="0">
                <a:latin typeface="Consolas" panose="020B0609020204030204" pitchFamily="49" charset="0"/>
              </a:rPr>
              <a:t>      case 4:printf("Five");break;</a:t>
            </a:r>
          </a:p>
          <a:p>
            <a:pPr eaLnBrk="1" hangingPunct="1">
              <a:lnSpc>
                <a:spcPct val="80000"/>
              </a:lnSpc>
              <a:buFontTx/>
              <a:buNone/>
            </a:pPr>
            <a:r>
              <a:rPr lang="en-US" altLang="zh-CN" sz="1800" dirty="0">
                <a:latin typeface="Consolas" panose="020B0609020204030204" pitchFamily="49" charset="0"/>
              </a:rPr>
              <a:t>      case 5:printf("Six");break;</a:t>
            </a:r>
          </a:p>
          <a:p>
            <a:pPr eaLnBrk="1" hangingPunct="1">
              <a:lnSpc>
                <a:spcPct val="80000"/>
              </a:lnSpc>
              <a:buFontTx/>
              <a:buNone/>
            </a:pPr>
            <a:r>
              <a:rPr lang="en-US" altLang="zh-CN" sz="1800" dirty="0">
                <a:latin typeface="Consolas" panose="020B0609020204030204" pitchFamily="49" charset="0"/>
              </a:rPr>
              <a:t>      case 6:printf("Seven");break;</a:t>
            </a:r>
          </a:p>
          <a:p>
            <a:pPr eaLnBrk="1" hangingPunct="1">
              <a:lnSpc>
                <a:spcPct val="80000"/>
              </a:lnSpc>
              <a:buFontTx/>
              <a:buNone/>
            </a:pPr>
            <a:r>
              <a:rPr lang="en-US" altLang="zh-CN" sz="1800" dirty="0">
                <a:latin typeface="Consolas" panose="020B0609020204030204" pitchFamily="49" charset="0"/>
              </a:rPr>
              <a:t>      case 7:printf("Eight");break;</a:t>
            </a:r>
          </a:p>
        </p:txBody>
      </p:sp>
      <p:sp>
        <p:nvSpPr>
          <p:cNvPr id="5" name="Rectangle 3">
            <a:extLst>
              <a:ext uri="{FF2B5EF4-FFF2-40B4-BE49-F238E27FC236}">
                <a16:creationId xmlns:a16="http://schemas.microsoft.com/office/drawing/2014/main" id="{BFC4C8A7-5A93-4F5C-929A-E765BFD6CA26}"/>
              </a:ext>
            </a:extLst>
          </p:cNvPr>
          <p:cNvSpPr txBox="1">
            <a:spLocks noChangeArrowheads="1"/>
          </p:cNvSpPr>
          <p:nvPr/>
        </p:nvSpPr>
        <p:spPr bwMode="auto">
          <a:xfrm>
            <a:off x="4283968" y="1265085"/>
            <a:ext cx="4555232" cy="549433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eaLnBrk="1" hangingPunct="1">
              <a:lnSpc>
                <a:spcPct val="80000"/>
              </a:lnSpc>
              <a:spcBef>
                <a:spcPct val="20000"/>
              </a:spcBef>
              <a:buFontTx/>
              <a:buNone/>
              <a:defRPr sz="2000" b="1">
                <a:latin typeface="+mn-lt"/>
                <a:ea typeface="+mn-ea"/>
              </a:defRPr>
            </a:lvl1pPr>
            <a:lvl2pPr marL="742950" indent="-285750" eaLnBrk="0" hangingPunct="0">
              <a:spcBef>
                <a:spcPct val="20000"/>
              </a:spcBef>
              <a:buChar char="–"/>
              <a:defRPr sz="2800">
                <a:latin typeface="+mn-lt"/>
                <a:ea typeface="+mn-ea"/>
              </a:defRPr>
            </a:lvl2pPr>
            <a:lvl3pPr marL="1143000" indent="-228600" eaLnBrk="0" hangingPunct="0">
              <a:spcBef>
                <a:spcPct val="20000"/>
              </a:spcBef>
              <a:buSzPct val="65000"/>
              <a:buFont typeface="Wingdings" panose="05000000000000000000" pitchFamily="2" charset="2"/>
              <a:buChar char="n"/>
              <a:defRPr sz="2800">
                <a:latin typeface="+mn-lt"/>
                <a:ea typeface="+mn-ea"/>
              </a:defRPr>
            </a:lvl3pPr>
            <a:lvl4pPr marL="1600200" indent="-228600" eaLnBrk="0" hangingPunct="0">
              <a:spcBef>
                <a:spcPct val="20000"/>
              </a:spcBef>
              <a:buChar char="–"/>
              <a:defRPr sz="2800">
                <a:latin typeface="+mn-lt"/>
                <a:ea typeface="+mn-ea"/>
              </a:defRPr>
            </a:lvl4pPr>
            <a:lvl5pPr marL="2057400" indent="-228600" eaLnBrk="0" hangingPunct="0">
              <a:spcBef>
                <a:spcPct val="20000"/>
              </a:spcBef>
              <a:buChar char="»"/>
              <a:defRPr sz="2800">
                <a:latin typeface="+mn-lt"/>
                <a:ea typeface="+mn-ea"/>
              </a:defRPr>
            </a:lvl5pPr>
            <a:lvl6pPr marL="2514600" indent="-228600" fontAlgn="base">
              <a:spcBef>
                <a:spcPct val="20000"/>
              </a:spcBef>
              <a:spcAft>
                <a:spcPct val="0"/>
              </a:spcAft>
              <a:buChar char="»"/>
              <a:defRPr kumimoji="1" sz="2800">
                <a:latin typeface="+mn-lt"/>
                <a:ea typeface="+mn-ea"/>
              </a:defRPr>
            </a:lvl6pPr>
            <a:lvl7pPr marL="2971800" indent="-228600" fontAlgn="base">
              <a:spcBef>
                <a:spcPct val="20000"/>
              </a:spcBef>
              <a:spcAft>
                <a:spcPct val="0"/>
              </a:spcAft>
              <a:buChar char="»"/>
              <a:defRPr kumimoji="1" sz="2800">
                <a:latin typeface="+mn-lt"/>
                <a:ea typeface="+mn-ea"/>
              </a:defRPr>
            </a:lvl7pPr>
            <a:lvl8pPr marL="3429000" indent="-228600" fontAlgn="base">
              <a:spcBef>
                <a:spcPct val="20000"/>
              </a:spcBef>
              <a:spcAft>
                <a:spcPct val="0"/>
              </a:spcAft>
              <a:buChar char="»"/>
              <a:defRPr kumimoji="1" sz="2800">
                <a:latin typeface="+mn-lt"/>
                <a:ea typeface="+mn-ea"/>
              </a:defRPr>
            </a:lvl8pPr>
            <a:lvl9pPr marL="3886200" indent="-228600" fontAlgn="base">
              <a:spcBef>
                <a:spcPct val="20000"/>
              </a:spcBef>
              <a:spcAft>
                <a:spcPct val="0"/>
              </a:spcAft>
              <a:buChar char="»"/>
              <a:defRPr kumimoji="1" sz="2800">
                <a:latin typeface="+mn-lt"/>
                <a:ea typeface="+mn-ea"/>
              </a:defRPr>
            </a:lvl9pPr>
          </a:lstStyle>
          <a:p>
            <a:r>
              <a:rPr lang="en-US" altLang="zh-CN" sz="1800" b="0" dirty="0">
                <a:latin typeface="Consolas" panose="020B0609020204030204" pitchFamily="49" charset="0"/>
              </a:rPr>
              <a:t>case 8:printf("Nine");break;</a:t>
            </a:r>
          </a:p>
          <a:p>
            <a:r>
              <a:rPr lang="en-US" altLang="zh-CN" sz="1800" b="0" dirty="0">
                <a:latin typeface="Consolas" panose="020B0609020204030204" pitchFamily="49" charset="0"/>
              </a:rPr>
              <a:t>      case 9:printf("Ten");break;</a:t>
            </a:r>
          </a:p>
          <a:p>
            <a:r>
              <a:rPr lang="en-US" altLang="zh-CN" sz="1800" b="0" dirty="0">
                <a:latin typeface="Consolas" panose="020B0609020204030204" pitchFamily="49" charset="0"/>
              </a:rPr>
              <a:t>      case 10:printf("Jack");break;</a:t>
            </a:r>
          </a:p>
          <a:p>
            <a:r>
              <a:rPr lang="en-US" altLang="zh-CN" sz="1800" b="0" dirty="0">
                <a:latin typeface="Consolas" panose="020B0609020204030204" pitchFamily="49" charset="0"/>
              </a:rPr>
              <a:t>      case 11:printf("Queen");break;</a:t>
            </a:r>
          </a:p>
          <a:p>
            <a:r>
              <a:rPr lang="en-US" altLang="zh-CN" sz="1800" b="0" dirty="0">
                <a:latin typeface="Consolas" panose="020B0609020204030204" pitchFamily="49" charset="0"/>
              </a:rPr>
              <a:t>      case 12:printf("King");break;</a:t>
            </a:r>
          </a:p>
          <a:p>
            <a:r>
              <a:rPr lang="en-US" altLang="zh-CN" sz="1800" b="0" dirty="0">
                <a:latin typeface="Consolas" panose="020B0609020204030204" pitchFamily="49" charset="0"/>
              </a:rPr>
              <a:t>      </a:t>
            </a:r>
            <a:r>
              <a:rPr lang="en-US" altLang="zh-CN" sz="1800" b="0" dirty="0" err="1">
                <a:latin typeface="Consolas" panose="020B0609020204030204" pitchFamily="49" charset="0"/>
              </a:rPr>
              <a:t>default:printf</a:t>
            </a:r>
            <a:r>
              <a:rPr lang="en-US" altLang="zh-CN" sz="1800" b="0" dirty="0">
                <a:latin typeface="Consolas" panose="020B0609020204030204" pitchFamily="49" charset="0"/>
              </a:rPr>
              <a:t>("</a:t>
            </a:r>
            <a:r>
              <a:rPr lang="zh-CN" altLang="en-US" sz="1800" b="0" dirty="0">
                <a:latin typeface="Consolas" panose="020B0609020204030204" pitchFamily="49" charset="0"/>
              </a:rPr>
              <a:t>无效的面值 </a:t>
            </a:r>
            <a:r>
              <a:rPr lang="en-US" altLang="zh-CN" sz="1800" b="0" dirty="0">
                <a:latin typeface="Consolas" panose="020B0609020204030204" pitchFamily="49" charset="0"/>
              </a:rPr>
              <a:t>!");</a:t>
            </a:r>
          </a:p>
          <a:p>
            <a:r>
              <a:rPr lang="en-US" altLang="zh-CN" sz="1800" b="0" dirty="0">
                <a:latin typeface="Consolas" panose="020B0609020204030204" pitchFamily="49" charset="0"/>
              </a:rPr>
              <a:t>   }</a:t>
            </a:r>
          </a:p>
          <a:p>
            <a:r>
              <a:rPr lang="en-US" altLang="zh-CN" sz="1800" b="0" dirty="0">
                <a:latin typeface="Consolas" panose="020B0609020204030204" pitchFamily="49" charset="0"/>
              </a:rPr>
              <a:t>   </a:t>
            </a:r>
            <a:r>
              <a:rPr lang="en-US" altLang="zh-CN" sz="1800" b="0" dirty="0" err="1">
                <a:latin typeface="Consolas" panose="020B0609020204030204" pitchFamily="49" charset="0"/>
              </a:rPr>
              <a:t>printf</a:t>
            </a:r>
            <a:r>
              <a:rPr lang="en-US" altLang="zh-CN" sz="1800" b="0" dirty="0">
                <a:latin typeface="Consolas" panose="020B0609020204030204" pitchFamily="49" charset="0"/>
              </a:rPr>
              <a:t>(" of ");</a:t>
            </a:r>
          </a:p>
          <a:p>
            <a:r>
              <a:rPr lang="en-US" altLang="zh-CN" sz="1800" b="0" dirty="0">
                <a:latin typeface="Consolas" panose="020B0609020204030204" pitchFamily="49" charset="0"/>
              </a:rPr>
              <a:t>   switch (row){</a:t>
            </a:r>
          </a:p>
          <a:p>
            <a:r>
              <a:rPr lang="en-US" altLang="zh-CN" sz="1800" b="0" dirty="0">
                <a:latin typeface="Consolas" panose="020B0609020204030204" pitchFamily="49" charset="0"/>
              </a:rPr>
              <a:t>      case 0:printf("Hearts");break;</a:t>
            </a:r>
          </a:p>
          <a:p>
            <a:r>
              <a:rPr lang="en-US" altLang="zh-CN" sz="1800" b="0" dirty="0">
                <a:latin typeface="Consolas" panose="020B0609020204030204" pitchFamily="49" charset="0"/>
              </a:rPr>
              <a:t>      case 1:printf("diamonds");break;</a:t>
            </a:r>
          </a:p>
          <a:p>
            <a:r>
              <a:rPr lang="en-US" altLang="zh-CN" sz="1800" b="0" dirty="0">
                <a:latin typeface="Consolas" panose="020B0609020204030204" pitchFamily="49" charset="0"/>
              </a:rPr>
              <a:t>      case 2:printf("Clubs");break;</a:t>
            </a:r>
          </a:p>
          <a:p>
            <a:r>
              <a:rPr lang="en-US" altLang="zh-CN" sz="1800" b="0" dirty="0">
                <a:latin typeface="Consolas" panose="020B0609020204030204" pitchFamily="49" charset="0"/>
              </a:rPr>
              <a:t>      case 3:printf("Spades");break;</a:t>
            </a:r>
          </a:p>
          <a:p>
            <a:r>
              <a:rPr lang="en-US" altLang="zh-CN" sz="1800" b="0" dirty="0">
                <a:latin typeface="Consolas" panose="020B0609020204030204" pitchFamily="49" charset="0"/>
              </a:rPr>
              <a:t>      </a:t>
            </a:r>
            <a:r>
              <a:rPr lang="en-US" altLang="zh-CN" sz="1800" b="0" dirty="0" err="1">
                <a:latin typeface="Consolas" panose="020B0609020204030204" pitchFamily="49" charset="0"/>
              </a:rPr>
              <a:t>default:printf</a:t>
            </a:r>
            <a:r>
              <a:rPr lang="en-US" altLang="zh-CN" sz="1800" b="0" dirty="0">
                <a:latin typeface="Consolas" panose="020B0609020204030204" pitchFamily="49" charset="0"/>
              </a:rPr>
              <a:t>("</a:t>
            </a:r>
            <a:r>
              <a:rPr lang="zh-CN" altLang="en-US" sz="1800" b="0" dirty="0">
                <a:latin typeface="Consolas" panose="020B0609020204030204" pitchFamily="49" charset="0"/>
              </a:rPr>
              <a:t>无效的花色 </a:t>
            </a:r>
            <a:r>
              <a:rPr lang="en-US" altLang="zh-CN" sz="1800" b="0" dirty="0">
                <a:latin typeface="Consolas" panose="020B0609020204030204" pitchFamily="49" charset="0"/>
              </a:rPr>
              <a:t>!");</a:t>
            </a:r>
          </a:p>
          <a:p>
            <a:r>
              <a:rPr lang="en-US" altLang="zh-CN" sz="1800" b="0" dirty="0">
                <a:latin typeface="Consolas" panose="020B0609020204030204" pitchFamily="49" charset="0"/>
              </a:rPr>
              <a:t>   }</a:t>
            </a:r>
          </a:p>
          <a:p>
            <a:r>
              <a:rPr lang="en-US" altLang="zh-CN" sz="1800" b="0" dirty="0">
                <a:latin typeface="Consolas" panose="020B0609020204030204" pitchFamily="49" charset="0"/>
              </a:rPr>
              <a:t>   </a:t>
            </a:r>
            <a:r>
              <a:rPr lang="en-US" altLang="zh-CN" sz="1800" b="0" dirty="0" err="1">
                <a:latin typeface="Consolas" panose="020B0609020204030204" pitchFamily="49" charset="0"/>
              </a:rPr>
              <a:t>printf</a:t>
            </a:r>
            <a:r>
              <a:rPr lang="en-US" altLang="zh-CN" sz="1800" b="0" dirty="0">
                <a:latin typeface="Consolas" panose="020B0609020204030204" pitchFamily="49" charset="0"/>
              </a:rPr>
              <a:t>("\n");</a:t>
            </a:r>
          </a:p>
          <a:p>
            <a:r>
              <a:rPr lang="en-US" altLang="zh-CN" sz="1800" b="0" dirty="0">
                <a:latin typeface="Consolas" panose="020B0609020204030204" pitchFamily="49" charset="0"/>
              </a:rPr>
              <a:t>}</a:t>
            </a:r>
            <a:endParaRPr lang="zh-CN" altLang="en-US" sz="1800" b="0" dirty="0">
              <a:latin typeface="Consolas" panose="020B0609020204030204" pitchFamily="49"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a:extLst>
              <a:ext uri="{FF2B5EF4-FFF2-40B4-BE49-F238E27FC236}">
                <a16:creationId xmlns:a16="http://schemas.microsoft.com/office/drawing/2014/main" id="{D856AA00-FAE9-4E55-8934-501DDFD2741F}"/>
              </a:ext>
            </a:extLst>
          </p:cNvPr>
          <p:cNvSpPr>
            <a:spLocks noGrp="1" noChangeArrowheads="1"/>
          </p:cNvSpPr>
          <p:nvPr>
            <p:ph type="title"/>
          </p:nvPr>
        </p:nvSpPr>
        <p:spPr/>
        <p:txBody>
          <a:bodyPr/>
          <a:lstStyle/>
          <a:p>
            <a:endParaRPr lang="zh-CN" altLang="en-US"/>
          </a:p>
        </p:txBody>
      </p:sp>
      <p:sp>
        <p:nvSpPr>
          <p:cNvPr id="70658" name="内容占位符 2">
            <a:extLst>
              <a:ext uri="{FF2B5EF4-FFF2-40B4-BE49-F238E27FC236}">
                <a16:creationId xmlns:a16="http://schemas.microsoft.com/office/drawing/2014/main" id="{58AFC604-79B8-46E2-BE11-F8790E3EE3D3}"/>
              </a:ext>
            </a:extLst>
          </p:cNvPr>
          <p:cNvSpPr>
            <a:spLocks noGrp="1" noChangeArrowheads="1"/>
          </p:cNvSpPr>
          <p:nvPr>
            <p:ph idx="1"/>
          </p:nvPr>
        </p:nvSpPr>
        <p:spPr>
          <a:xfrm>
            <a:off x="684213" y="2565400"/>
            <a:ext cx="7773987" cy="1295400"/>
          </a:xfrm>
        </p:spPr>
        <p:txBody>
          <a:bodyPr/>
          <a:lstStyle/>
          <a:p>
            <a:r>
              <a:rPr lang="zh-CN" altLang="en-US" sz="3200">
                <a:solidFill>
                  <a:srgbClr val="FF0000"/>
                </a:solidFill>
                <a:latin typeface="微软雅黑" panose="020B0503020204020204" pitchFamily="34" charset="-122"/>
                <a:ea typeface="微软雅黑" panose="020B0503020204020204" pitchFamily="34" charset="-122"/>
              </a:rPr>
              <a:t>也可采用指针数组输出字符串的方式</a:t>
            </a:r>
          </a:p>
        </p:txBody>
      </p:sp>
      <p:sp>
        <p:nvSpPr>
          <p:cNvPr id="70659" name="灯片编号占位符 3">
            <a:extLst>
              <a:ext uri="{FF2B5EF4-FFF2-40B4-BE49-F238E27FC236}">
                <a16:creationId xmlns:a16="http://schemas.microsoft.com/office/drawing/2014/main" id="{4D622A98-52B0-4807-9DFE-2AA3A03859FB}"/>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pPr>
            <a:fld id="{184253C2-A1F9-42F1-81C8-0D63D8B02D10}" type="slidenum">
              <a:rPr lang="zh-CN" altLang="en-US" smtClean="0"/>
              <a:pPr>
                <a:spcBef>
                  <a:spcPct val="0"/>
                </a:spcBef>
              </a:pPr>
              <a:t>48</a:t>
            </a:fld>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a:extLst>
              <a:ext uri="{FF2B5EF4-FFF2-40B4-BE49-F238E27FC236}">
                <a16:creationId xmlns:a16="http://schemas.microsoft.com/office/drawing/2014/main" id="{D37526F0-FA60-491D-A08D-8ADD48932566}"/>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pPr>
            <a:fld id="{184253C2-A1F9-42F1-81C8-0D63D8B02D10}" type="slidenum">
              <a:rPr lang="zh-CN" altLang="en-US" smtClean="0"/>
              <a:pPr>
                <a:spcBef>
                  <a:spcPct val="0"/>
                </a:spcBef>
              </a:pPr>
              <a:t>49</a:t>
            </a:fld>
            <a:endParaRPr lang="zh-CN" altLang="en-US"/>
          </a:p>
        </p:txBody>
      </p:sp>
      <p:grpSp>
        <p:nvGrpSpPr>
          <p:cNvPr id="71682" name="Group 47">
            <a:extLst>
              <a:ext uri="{FF2B5EF4-FFF2-40B4-BE49-F238E27FC236}">
                <a16:creationId xmlns:a16="http://schemas.microsoft.com/office/drawing/2014/main" id="{E5014DEF-3475-48AB-90D8-D7FF7896D3F8}"/>
              </a:ext>
            </a:extLst>
          </p:cNvPr>
          <p:cNvGrpSpPr>
            <a:grpSpLocks/>
          </p:cNvGrpSpPr>
          <p:nvPr/>
        </p:nvGrpSpPr>
        <p:grpSpPr bwMode="auto">
          <a:xfrm>
            <a:off x="827088" y="1196975"/>
            <a:ext cx="5618162" cy="2209800"/>
            <a:chOff x="521" y="754"/>
            <a:chExt cx="3539" cy="1392"/>
          </a:xfrm>
        </p:grpSpPr>
        <p:sp>
          <p:nvSpPr>
            <p:cNvPr id="71683" name="Rectangle 5">
              <a:extLst>
                <a:ext uri="{FF2B5EF4-FFF2-40B4-BE49-F238E27FC236}">
                  <a16:creationId xmlns:a16="http://schemas.microsoft.com/office/drawing/2014/main" id="{930BB75D-AF63-46C4-BAF2-2C63755F0225}"/>
                </a:ext>
              </a:extLst>
            </p:cNvPr>
            <p:cNvSpPr>
              <a:spLocks noChangeArrowheads="1"/>
            </p:cNvSpPr>
            <p:nvPr/>
          </p:nvSpPr>
          <p:spPr bwMode="auto">
            <a:xfrm>
              <a:off x="521" y="1043"/>
              <a:ext cx="901" cy="1045"/>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84" name="Line 6">
              <a:extLst>
                <a:ext uri="{FF2B5EF4-FFF2-40B4-BE49-F238E27FC236}">
                  <a16:creationId xmlns:a16="http://schemas.microsoft.com/office/drawing/2014/main" id="{56D5779B-7367-4254-9F19-B2580D5E0CF0}"/>
                </a:ext>
              </a:extLst>
            </p:cNvPr>
            <p:cNvSpPr>
              <a:spLocks noChangeShapeType="1"/>
            </p:cNvSpPr>
            <p:nvPr/>
          </p:nvSpPr>
          <p:spPr bwMode="auto">
            <a:xfrm flipV="1">
              <a:off x="521" y="1321"/>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85" name="Line 7">
              <a:extLst>
                <a:ext uri="{FF2B5EF4-FFF2-40B4-BE49-F238E27FC236}">
                  <a16:creationId xmlns:a16="http://schemas.microsoft.com/office/drawing/2014/main" id="{A74DE4E6-0CFF-4D29-8256-BF0732207EDE}"/>
                </a:ext>
              </a:extLst>
            </p:cNvPr>
            <p:cNvSpPr>
              <a:spLocks noChangeShapeType="1"/>
            </p:cNvSpPr>
            <p:nvPr/>
          </p:nvSpPr>
          <p:spPr bwMode="auto">
            <a:xfrm>
              <a:off x="521" y="1588"/>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86" name="Line 8">
              <a:extLst>
                <a:ext uri="{FF2B5EF4-FFF2-40B4-BE49-F238E27FC236}">
                  <a16:creationId xmlns:a16="http://schemas.microsoft.com/office/drawing/2014/main" id="{542FC36C-4175-4FB0-9FBA-1385F5DA35B0}"/>
                </a:ext>
              </a:extLst>
            </p:cNvPr>
            <p:cNvSpPr>
              <a:spLocks noChangeShapeType="1"/>
            </p:cNvSpPr>
            <p:nvPr/>
          </p:nvSpPr>
          <p:spPr bwMode="auto">
            <a:xfrm>
              <a:off x="521" y="1844"/>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87" name="Text Box 13">
              <a:extLst>
                <a:ext uri="{FF2B5EF4-FFF2-40B4-BE49-F238E27FC236}">
                  <a16:creationId xmlns:a16="http://schemas.microsoft.com/office/drawing/2014/main" id="{F8BC0A2D-6A63-4A4B-B0D9-E903707E49C6}"/>
                </a:ext>
              </a:extLst>
            </p:cNvPr>
            <p:cNvSpPr txBox="1">
              <a:spLocks noChangeArrowheads="1"/>
            </p:cNvSpPr>
            <p:nvPr/>
          </p:nvSpPr>
          <p:spPr bwMode="auto">
            <a:xfrm>
              <a:off x="793" y="754"/>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400">
                  <a:solidFill>
                    <a:srgbClr val="0000FF"/>
                  </a:solidFill>
                </a:rPr>
                <a:t>suit</a:t>
              </a:r>
            </a:p>
          </p:txBody>
        </p:sp>
        <p:pic>
          <p:nvPicPr>
            <p:cNvPr id="71688" name="Picture 22">
              <a:extLst>
                <a:ext uri="{FF2B5EF4-FFF2-40B4-BE49-F238E27FC236}">
                  <a16:creationId xmlns:a16="http://schemas.microsoft.com/office/drawing/2014/main" id="{4F3EDC01-5DEB-4C55-8937-304B09FAB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 y="981"/>
              <a:ext cx="190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9" name="Picture 23">
              <a:extLst>
                <a:ext uri="{FF2B5EF4-FFF2-40B4-BE49-F238E27FC236}">
                  <a16:creationId xmlns:a16="http://schemas.microsoft.com/office/drawing/2014/main" id="{60700EE6-625F-4DB6-88E9-7EB77FF31F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5" y="1298"/>
              <a:ext cx="249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Picture 26">
              <a:extLst>
                <a:ext uri="{FF2B5EF4-FFF2-40B4-BE49-F238E27FC236}">
                  <a16:creationId xmlns:a16="http://schemas.microsoft.com/office/drawing/2014/main" id="{AB4CCDB7-D3DC-4315-8A96-819B95B399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 y="1596"/>
              <a:ext cx="143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1" name="Picture 27">
              <a:extLst>
                <a:ext uri="{FF2B5EF4-FFF2-40B4-BE49-F238E27FC236}">
                  <a16:creationId xmlns:a16="http://schemas.microsoft.com/office/drawing/2014/main" id="{A3DCC7F0-7774-4E7D-91CC-72A389940B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5" y="1888"/>
              <a:ext cx="195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2" name="Line 28">
              <a:extLst>
                <a:ext uri="{FF2B5EF4-FFF2-40B4-BE49-F238E27FC236}">
                  <a16:creationId xmlns:a16="http://schemas.microsoft.com/office/drawing/2014/main" id="{EC98C077-8C97-4863-9FCF-099A10A7679D}"/>
                </a:ext>
              </a:extLst>
            </p:cNvPr>
            <p:cNvSpPr>
              <a:spLocks noChangeShapeType="1"/>
            </p:cNvSpPr>
            <p:nvPr/>
          </p:nvSpPr>
          <p:spPr bwMode="auto">
            <a:xfrm>
              <a:off x="1111" y="14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3" name="Line 29">
              <a:extLst>
                <a:ext uri="{FF2B5EF4-FFF2-40B4-BE49-F238E27FC236}">
                  <a16:creationId xmlns:a16="http://schemas.microsoft.com/office/drawing/2014/main" id="{9A177977-283A-4E63-AD44-DC26DE8C2D14}"/>
                </a:ext>
              </a:extLst>
            </p:cNvPr>
            <p:cNvSpPr>
              <a:spLocks noChangeShapeType="1"/>
            </p:cNvSpPr>
            <p:nvPr/>
          </p:nvSpPr>
          <p:spPr bwMode="auto">
            <a:xfrm>
              <a:off x="1111" y="172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4" name="Line 30">
              <a:extLst>
                <a:ext uri="{FF2B5EF4-FFF2-40B4-BE49-F238E27FC236}">
                  <a16:creationId xmlns:a16="http://schemas.microsoft.com/office/drawing/2014/main" id="{67985A9F-3E0C-412B-BA41-F1CC98E6EF60}"/>
                </a:ext>
              </a:extLst>
            </p:cNvPr>
            <p:cNvSpPr>
              <a:spLocks noChangeShapeType="1"/>
            </p:cNvSpPr>
            <p:nvPr/>
          </p:nvSpPr>
          <p:spPr bwMode="auto">
            <a:xfrm>
              <a:off x="1111" y="2016"/>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5" name="Line 31">
              <a:extLst>
                <a:ext uri="{FF2B5EF4-FFF2-40B4-BE49-F238E27FC236}">
                  <a16:creationId xmlns:a16="http://schemas.microsoft.com/office/drawing/2014/main" id="{0CF4FC0E-B5CA-489B-AD44-8014C1253A3B}"/>
                </a:ext>
              </a:extLst>
            </p:cNvPr>
            <p:cNvSpPr>
              <a:spLocks noChangeShapeType="1"/>
            </p:cNvSpPr>
            <p:nvPr/>
          </p:nvSpPr>
          <p:spPr bwMode="auto">
            <a:xfrm>
              <a:off x="1111" y="118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grpSp>
      <p:sp>
        <p:nvSpPr>
          <p:cNvPr id="71696" name="Text Box 32">
            <a:extLst>
              <a:ext uri="{FF2B5EF4-FFF2-40B4-BE49-F238E27FC236}">
                <a16:creationId xmlns:a16="http://schemas.microsoft.com/office/drawing/2014/main" id="{FD4E3E9A-A06C-41FC-AD12-04CC5C1716F4}"/>
              </a:ext>
            </a:extLst>
          </p:cNvPr>
          <p:cNvSpPr txBox="1">
            <a:spLocks noChangeArrowheads="1"/>
          </p:cNvSpPr>
          <p:nvPr/>
        </p:nvSpPr>
        <p:spPr bwMode="auto">
          <a:xfrm>
            <a:off x="2195513" y="260350"/>
            <a:ext cx="6948487" cy="82232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a:t>定义两个指针数组</a:t>
            </a:r>
            <a:r>
              <a:rPr lang="en-US" altLang="zh-CN" sz="2400"/>
              <a:t>suit</a:t>
            </a:r>
            <a:r>
              <a:rPr lang="zh-CN" altLang="en-US" sz="2400"/>
              <a:t>和</a:t>
            </a:r>
            <a:r>
              <a:rPr lang="en-US" altLang="zh-CN" sz="2400"/>
              <a:t>face</a:t>
            </a:r>
            <a:r>
              <a:rPr lang="zh-CN" altLang="en-US" sz="2400"/>
              <a:t>，分别用来翻译</a:t>
            </a:r>
            <a:r>
              <a:rPr lang="en-US" altLang="zh-CN" sz="2400"/>
              <a:t>deck</a:t>
            </a:r>
            <a:r>
              <a:rPr lang="zh-CN" altLang="en-US" sz="2400"/>
              <a:t>的行下标到花色的对应、列下表到面值的对应。</a:t>
            </a:r>
          </a:p>
        </p:txBody>
      </p:sp>
      <p:grpSp>
        <p:nvGrpSpPr>
          <p:cNvPr id="71697" name="Group 46">
            <a:extLst>
              <a:ext uri="{FF2B5EF4-FFF2-40B4-BE49-F238E27FC236}">
                <a16:creationId xmlns:a16="http://schemas.microsoft.com/office/drawing/2014/main" id="{B7439CA0-A311-499F-B5DC-C986BCA9FEFF}"/>
              </a:ext>
            </a:extLst>
          </p:cNvPr>
          <p:cNvGrpSpPr>
            <a:grpSpLocks/>
          </p:cNvGrpSpPr>
          <p:nvPr/>
        </p:nvGrpSpPr>
        <p:grpSpPr bwMode="auto">
          <a:xfrm>
            <a:off x="900113" y="3759200"/>
            <a:ext cx="4103687" cy="2178050"/>
            <a:chOff x="567" y="2368"/>
            <a:chExt cx="2585" cy="1372"/>
          </a:xfrm>
        </p:grpSpPr>
        <p:sp>
          <p:nvSpPr>
            <p:cNvPr id="71698" name="Rectangle 33">
              <a:extLst>
                <a:ext uri="{FF2B5EF4-FFF2-40B4-BE49-F238E27FC236}">
                  <a16:creationId xmlns:a16="http://schemas.microsoft.com/office/drawing/2014/main" id="{52672587-16AB-4530-8415-FBE89A0E7612}"/>
                </a:ext>
              </a:extLst>
            </p:cNvPr>
            <p:cNvSpPr>
              <a:spLocks noChangeArrowheads="1"/>
            </p:cNvSpPr>
            <p:nvPr/>
          </p:nvSpPr>
          <p:spPr bwMode="auto">
            <a:xfrm>
              <a:off x="567" y="2657"/>
              <a:ext cx="901" cy="1045"/>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9" name="Line 34">
              <a:extLst>
                <a:ext uri="{FF2B5EF4-FFF2-40B4-BE49-F238E27FC236}">
                  <a16:creationId xmlns:a16="http://schemas.microsoft.com/office/drawing/2014/main" id="{DF57BDA5-8F9B-4E92-BE78-6C90B72C656D}"/>
                </a:ext>
              </a:extLst>
            </p:cNvPr>
            <p:cNvSpPr>
              <a:spLocks noChangeShapeType="1"/>
            </p:cNvSpPr>
            <p:nvPr/>
          </p:nvSpPr>
          <p:spPr bwMode="auto">
            <a:xfrm flipV="1">
              <a:off x="567" y="2935"/>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0" name="Line 35">
              <a:extLst>
                <a:ext uri="{FF2B5EF4-FFF2-40B4-BE49-F238E27FC236}">
                  <a16:creationId xmlns:a16="http://schemas.microsoft.com/office/drawing/2014/main" id="{25D0562C-92FD-4869-9C58-F22410E128B7}"/>
                </a:ext>
              </a:extLst>
            </p:cNvPr>
            <p:cNvSpPr>
              <a:spLocks noChangeShapeType="1"/>
            </p:cNvSpPr>
            <p:nvPr/>
          </p:nvSpPr>
          <p:spPr bwMode="auto">
            <a:xfrm>
              <a:off x="567" y="3202"/>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1" name="Line 36">
              <a:extLst>
                <a:ext uri="{FF2B5EF4-FFF2-40B4-BE49-F238E27FC236}">
                  <a16:creationId xmlns:a16="http://schemas.microsoft.com/office/drawing/2014/main" id="{6434140B-350B-4DB9-BE9D-7CB3316D0770}"/>
                </a:ext>
              </a:extLst>
            </p:cNvPr>
            <p:cNvSpPr>
              <a:spLocks noChangeShapeType="1"/>
            </p:cNvSpPr>
            <p:nvPr/>
          </p:nvSpPr>
          <p:spPr bwMode="auto">
            <a:xfrm>
              <a:off x="567" y="3458"/>
              <a:ext cx="9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2" name="Text Box 37">
              <a:extLst>
                <a:ext uri="{FF2B5EF4-FFF2-40B4-BE49-F238E27FC236}">
                  <a16:creationId xmlns:a16="http://schemas.microsoft.com/office/drawing/2014/main" id="{CEF169BF-A80B-4889-81D5-B91EFCD734F1}"/>
                </a:ext>
              </a:extLst>
            </p:cNvPr>
            <p:cNvSpPr txBox="1">
              <a:spLocks noChangeArrowheads="1"/>
            </p:cNvSpPr>
            <p:nvPr/>
          </p:nvSpPr>
          <p:spPr bwMode="auto">
            <a:xfrm>
              <a:off x="839" y="2368"/>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400">
                  <a:solidFill>
                    <a:srgbClr val="0000FF"/>
                  </a:solidFill>
                </a:rPr>
                <a:t>face</a:t>
              </a:r>
            </a:p>
          </p:txBody>
        </p:sp>
        <p:sp>
          <p:nvSpPr>
            <p:cNvPr id="71703" name="Line 39">
              <a:extLst>
                <a:ext uri="{FF2B5EF4-FFF2-40B4-BE49-F238E27FC236}">
                  <a16:creationId xmlns:a16="http://schemas.microsoft.com/office/drawing/2014/main" id="{E5BA8BFF-5C9E-4700-84F3-DD3F6C41F771}"/>
                </a:ext>
              </a:extLst>
            </p:cNvPr>
            <p:cNvSpPr>
              <a:spLocks noChangeShapeType="1"/>
            </p:cNvSpPr>
            <p:nvPr/>
          </p:nvSpPr>
          <p:spPr bwMode="auto">
            <a:xfrm>
              <a:off x="1111" y="3297"/>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4" name="Line 40">
              <a:extLst>
                <a:ext uri="{FF2B5EF4-FFF2-40B4-BE49-F238E27FC236}">
                  <a16:creationId xmlns:a16="http://schemas.microsoft.com/office/drawing/2014/main" id="{E41243CD-2D4C-455B-A5D4-71B26B2C5695}"/>
                </a:ext>
              </a:extLst>
            </p:cNvPr>
            <p:cNvSpPr>
              <a:spLocks noChangeShapeType="1"/>
            </p:cNvSpPr>
            <p:nvPr/>
          </p:nvSpPr>
          <p:spPr bwMode="auto">
            <a:xfrm>
              <a:off x="1111" y="3585"/>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5" name="Line 41">
              <a:extLst>
                <a:ext uri="{FF2B5EF4-FFF2-40B4-BE49-F238E27FC236}">
                  <a16:creationId xmlns:a16="http://schemas.microsoft.com/office/drawing/2014/main" id="{0CC4F3E9-6A6F-4BFE-B997-5F1D0C6D47D0}"/>
                </a:ext>
              </a:extLst>
            </p:cNvPr>
            <p:cNvSpPr>
              <a:spLocks noChangeShapeType="1"/>
            </p:cNvSpPr>
            <p:nvPr/>
          </p:nvSpPr>
          <p:spPr bwMode="auto">
            <a:xfrm>
              <a:off x="1111" y="275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6" name="Text Box 42">
              <a:extLst>
                <a:ext uri="{FF2B5EF4-FFF2-40B4-BE49-F238E27FC236}">
                  <a16:creationId xmlns:a16="http://schemas.microsoft.com/office/drawing/2014/main" id="{E04BBAAB-A69E-41D6-AF9C-C923F7A8F945}"/>
                </a:ext>
              </a:extLst>
            </p:cNvPr>
            <p:cNvSpPr txBox="1">
              <a:spLocks noChangeArrowheads="1"/>
            </p:cNvSpPr>
            <p:nvPr/>
          </p:nvSpPr>
          <p:spPr bwMode="auto">
            <a:xfrm>
              <a:off x="840" y="2931"/>
              <a:ext cx="589" cy="231"/>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a:t>
              </a:r>
            </a:p>
          </p:txBody>
        </p:sp>
        <p:pic>
          <p:nvPicPr>
            <p:cNvPr id="71707" name="Picture 43">
              <a:extLst>
                <a:ext uri="{FF2B5EF4-FFF2-40B4-BE49-F238E27FC236}">
                  <a16:creationId xmlns:a16="http://schemas.microsoft.com/office/drawing/2014/main" id="{A417DA3E-55A2-430B-927D-3EDBBF71D7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0" y="2659"/>
              <a:ext cx="104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08" name="Picture 44">
              <a:extLst>
                <a:ext uri="{FF2B5EF4-FFF2-40B4-BE49-F238E27FC236}">
                  <a16:creationId xmlns:a16="http://schemas.microsoft.com/office/drawing/2014/main" id="{2D990169-D4C3-49D9-B6CB-F2D36C2ACB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0" y="3129"/>
              <a:ext cx="1542"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09" name="Picture 45">
              <a:extLst>
                <a:ext uri="{FF2B5EF4-FFF2-40B4-BE49-F238E27FC236}">
                  <a16:creationId xmlns:a16="http://schemas.microsoft.com/office/drawing/2014/main" id="{8FC3B3CC-1DE9-461D-AEC9-4E06060371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0" y="3475"/>
              <a:ext cx="127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10" name="Text Box 48">
            <a:extLst>
              <a:ext uri="{FF2B5EF4-FFF2-40B4-BE49-F238E27FC236}">
                <a16:creationId xmlns:a16="http://schemas.microsoft.com/office/drawing/2014/main" id="{7EF32C2F-539E-45F0-8C8C-BBAB6C84BFA9}"/>
              </a:ext>
            </a:extLst>
          </p:cNvPr>
          <p:cNvSpPr txBox="1">
            <a:spLocks noChangeArrowheads="1"/>
          </p:cNvSpPr>
          <p:nvPr/>
        </p:nvSpPr>
        <p:spPr bwMode="auto">
          <a:xfrm>
            <a:off x="0" y="1700213"/>
            <a:ext cx="1081088" cy="36671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suit[0]</a:t>
            </a:r>
          </a:p>
        </p:txBody>
      </p:sp>
      <p:sp>
        <p:nvSpPr>
          <p:cNvPr id="71711" name="Text Box 49">
            <a:extLst>
              <a:ext uri="{FF2B5EF4-FFF2-40B4-BE49-F238E27FC236}">
                <a16:creationId xmlns:a16="http://schemas.microsoft.com/office/drawing/2014/main" id="{ABCACF0D-C72B-4998-8D85-79A23D636D3F}"/>
              </a:ext>
            </a:extLst>
          </p:cNvPr>
          <p:cNvSpPr txBox="1">
            <a:spLocks noChangeArrowheads="1"/>
          </p:cNvSpPr>
          <p:nvPr/>
        </p:nvSpPr>
        <p:spPr bwMode="auto">
          <a:xfrm>
            <a:off x="0" y="2060575"/>
            <a:ext cx="1081088" cy="3667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suit[1]</a:t>
            </a:r>
          </a:p>
        </p:txBody>
      </p:sp>
      <p:sp>
        <p:nvSpPr>
          <p:cNvPr id="71712" name="Text Box 50">
            <a:extLst>
              <a:ext uri="{FF2B5EF4-FFF2-40B4-BE49-F238E27FC236}">
                <a16:creationId xmlns:a16="http://schemas.microsoft.com/office/drawing/2014/main" id="{532B1342-3933-4D76-95EF-E2CDF80542C0}"/>
              </a:ext>
            </a:extLst>
          </p:cNvPr>
          <p:cNvSpPr txBox="1">
            <a:spLocks noChangeArrowheads="1"/>
          </p:cNvSpPr>
          <p:nvPr/>
        </p:nvSpPr>
        <p:spPr bwMode="auto">
          <a:xfrm>
            <a:off x="0" y="2492375"/>
            <a:ext cx="1081088" cy="3667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suit[2]</a:t>
            </a:r>
          </a:p>
        </p:txBody>
      </p:sp>
      <p:sp>
        <p:nvSpPr>
          <p:cNvPr id="71713" name="Text Box 51">
            <a:extLst>
              <a:ext uri="{FF2B5EF4-FFF2-40B4-BE49-F238E27FC236}">
                <a16:creationId xmlns:a16="http://schemas.microsoft.com/office/drawing/2014/main" id="{35D6A105-2CD5-497F-97BA-4FAA179F72F6}"/>
              </a:ext>
            </a:extLst>
          </p:cNvPr>
          <p:cNvSpPr txBox="1">
            <a:spLocks noChangeArrowheads="1"/>
          </p:cNvSpPr>
          <p:nvPr/>
        </p:nvSpPr>
        <p:spPr bwMode="auto">
          <a:xfrm>
            <a:off x="34925" y="2924175"/>
            <a:ext cx="1081088" cy="3667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suit[3]</a:t>
            </a:r>
          </a:p>
        </p:txBody>
      </p:sp>
      <p:sp>
        <p:nvSpPr>
          <p:cNvPr id="71714" name="Text Box 52">
            <a:extLst>
              <a:ext uri="{FF2B5EF4-FFF2-40B4-BE49-F238E27FC236}">
                <a16:creationId xmlns:a16="http://schemas.microsoft.com/office/drawing/2014/main" id="{BBB71C69-2B95-4E6B-9AD7-645747C02F6B}"/>
              </a:ext>
            </a:extLst>
          </p:cNvPr>
          <p:cNvSpPr txBox="1">
            <a:spLocks noChangeArrowheads="1"/>
          </p:cNvSpPr>
          <p:nvPr/>
        </p:nvSpPr>
        <p:spPr bwMode="auto">
          <a:xfrm>
            <a:off x="34925" y="4292600"/>
            <a:ext cx="1081088" cy="3667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face[0]</a:t>
            </a:r>
          </a:p>
        </p:txBody>
      </p:sp>
      <p:sp>
        <p:nvSpPr>
          <p:cNvPr id="71715" name="Text Box 53">
            <a:extLst>
              <a:ext uri="{FF2B5EF4-FFF2-40B4-BE49-F238E27FC236}">
                <a16:creationId xmlns:a16="http://schemas.microsoft.com/office/drawing/2014/main" id="{609CFB62-5BD2-42F1-B4CD-9434D4AA2D5F}"/>
              </a:ext>
            </a:extLst>
          </p:cNvPr>
          <p:cNvSpPr txBox="1">
            <a:spLocks noChangeArrowheads="1"/>
          </p:cNvSpPr>
          <p:nvPr/>
        </p:nvSpPr>
        <p:spPr bwMode="auto">
          <a:xfrm>
            <a:off x="34925" y="5078413"/>
            <a:ext cx="1081088" cy="36671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face[11]</a:t>
            </a:r>
          </a:p>
        </p:txBody>
      </p:sp>
      <p:sp>
        <p:nvSpPr>
          <p:cNvPr id="71716" name="Text Box 54">
            <a:extLst>
              <a:ext uri="{FF2B5EF4-FFF2-40B4-BE49-F238E27FC236}">
                <a16:creationId xmlns:a16="http://schemas.microsoft.com/office/drawing/2014/main" id="{2BCE9763-7DC6-4643-BEC4-CFC9C677FD16}"/>
              </a:ext>
            </a:extLst>
          </p:cNvPr>
          <p:cNvSpPr txBox="1">
            <a:spLocks noChangeArrowheads="1"/>
          </p:cNvSpPr>
          <p:nvPr/>
        </p:nvSpPr>
        <p:spPr bwMode="auto">
          <a:xfrm>
            <a:off x="34925" y="5510213"/>
            <a:ext cx="1081088" cy="36671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face[12]</a:t>
            </a:r>
          </a:p>
        </p:txBody>
      </p:sp>
      <p:sp>
        <p:nvSpPr>
          <p:cNvPr id="71717" name="Text Box 55">
            <a:extLst>
              <a:ext uri="{FF2B5EF4-FFF2-40B4-BE49-F238E27FC236}">
                <a16:creationId xmlns:a16="http://schemas.microsoft.com/office/drawing/2014/main" id="{84F0CC71-C970-4BED-933C-77F9570A9819}"/>
              </a:ext>
            </a:extLst>
          </p:cNvPr>
          <p:cNvSpPr txBox="1">
            <a:spLocks noChangeArrowheads="1"/>
          </p:cNvSpPr>
          <p:nvPr/>
        </p:nvSpPr>
        <p:spPr bwMode="auto">
          <a:xfrm>
            <a:off x="5292725" y="4076700"/>
            <a:ext cx="3600450" cy="12604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a:t>如果</a:t>
            </a:r>
            <a:r>
              <a:rPr lang="en-US" altLang="zh-CN" sz="2800"/>
              <a:t>deck</a:t>
            </a:r>
            <a:r>
              <a:rPr lang="zh-CN" altLang="en-US" sz="2800"/>
              <a:t>中第</a:t>
            </a:r>
            <a:r>
              <a:rPr lang="en-US" altLang="zh-CN" sz="2800"/>
              <a:t>0</a:t>
            </a:r>
            <a:r>
              <a:rPr lang="zh-CN" altLang="en-US" sz="2800"/>
              <a:t>行第</a:t>
            </a:r>
            <a:r>
              <a:rPr lang="en-US" altLang="zh-CN" sz="2800"/>
              <a:t>0</a:t>
            </a:r>
            <a:r>
              <a:rPr lang="zh-CN" altLang="en-US" sz="2800"/>
              <a:t>列的值是</a:t>
            </a:r>
            <a:r>
              <a:rPr lang="en-US" altLang="zh-CN" sz="2800"/>
              <a:t>10</a:t>
            </a:r>
            <a:r>
              <a:rPr lang="zh-CN" altLang="en-US" sz="2800"/>
              <a:t>，表示第</a:t>
            </a:r>
            <a:r>
              <a:rPr lang="en-US" altLang="zh-CN" sz="2800"/>
              <a:t>10</a:t>
            </a:r>
            <a:r>
              <a:rPr lang="zh-CN" altLang="en-US" sz="2800"/>
              <a:t>张牌是</a:t>
            </a:r>
            <a:r>
              <a:rPr lang="en-US" altLang="zh-CN" sz="2800"/>
              <a:t>heart A</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5">
            <a:extLst>
              <a:ext uri="{FF2B5EF4-FFF2-40B4-BE49-F238E27FC236}">
                <a16:creationId xmlns:a16="http://schemas.microsoft.com/office/drawing/2014/main" id="{BE37866C-C616-4379-842D-91C6E1489EA5}"/>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pPr>
            <a:fld id="{184253C2-A1F9-42F1-81C8-0D63D8B02D10}" type="slidenum">
              <a:rPr lang="zh-CN" altLang="en-US" smtClean="0"/>
              <a:pPr>
                <a:spcBef>
                  <a:spcPct val="0"/>
                </a:spcBef>
              </a:pPr>
              <a:t>50</a:t>
            </a:fld>
            <a:endParaRPr lang="zh-CN" altLang="en-US"/>
          </a:p>
        </p:txBody>
      </p:sp>
      <p:sp>
        <p:nvSpPr>
          <p:cNvPr id="72706" name="Rectangle 3">
            <a:extLst>
              <a:ext uri="{FF2B5EF4-FFF2-40B4-BE49-F238E27FC236}">
                <a16:creationId xmlns:a16="http://schemas.microsoft.com/office/drawing/2014/main" id="{28993A5A-3A19-4BA1-9731-E5BB1518F6B9}"/>
              </a:ext>
            </a:extLst>
          </p:cNvPr>
          <p:cNvSpPr>
            <a:spLocks noGrp="1" noChangeArrowheads="1"/>
          </p:cNvSpPr>
          <p:nvPr>
            <p:ph idx="1"/>
          </p:nvPr>
        </p:nvSpPr>
        <p:spPr>
          <a:xfrm>
            <a:off x="381000" y="836613"/>
            <a:ext cx="8763000" cy="6021387"/>
          </a:xfrm>
        </p:spPr>
        <p:txBody>
          <a:bodyPr/>
          <a:lstStyle/>
          <a:p>
            <a:pPr>
              <a:lnSpc>
                <a:spcPct val="90000"/>
              </a:lnSpc>
              <a:buFontTx/>
              <a:buNone/>
            </a:pPr>
            <a:r>
              <a:rPr lang="zh-CN" altLang="en-US" sz="2000" dirty="0">
                <a:latin typeface="Consolas" panose="020B0609020204030204" pitchFamily="49" charset="0"/>
              </a:rPr>
              <a:t>/*发牌程序*/</a:t>
            </a:r>
          </a:p>
          <a:p>
            <a:pPr>
              <a:lnSpc>
                <a:spcPct val="90000"/>
              </a:lnSpc>
              <a:buFontTx/>
              <a:buNone/>
            </a:pPr>
            <a:r>
              <a:rPr lang="zh-CN" altLang="en-US" sz="2000" dirty="0">
                <a:latin typeface="Consolas" panose="020B0609020204030204" pitchFamily="49" charset="0"/>
              </a:rPr>
              <a:t>#</a:t>
            </a: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a:lnSpc>
                <a:spcPct val="90000"/>
              </a:lnSpc>
              <a:buFontTx/>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stdlib.h</a:t>
            </a:r>
            <a:r>
              <a:rPr lang="en-US" altLang="zh-CN" sz="2000" dirty="0">
                <a:latin typeface="Consolas" panose="020B0609020204030204" pitchFamily="49" charset="0"/>
              </a:rPr>
              <a:t>&gt;</a:t>
            </a:r>
          </a:p>
          <a:p>
            <a:pPr>
              <a:lnSpc>
                <a:spcPct val="90000"/>
              </a:lnSpc>
              <a:buFontTx/>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time.h</a:t>
            </a:r>
            <a:r>
              <a:rPr lang="en-US" altLang="zh-CN" sz="2000" dirty="0">
                <a:latin typeface="Consolas" panose="020B0609020204030204" pitchFamily="49" charset="0"/>
              </a:rPr>
              <a:t>&gt;</a:t>
            </a:r>
          </a:p>
          <a:p>
            <a:pPr>
              <a:lnSpc>
                <a:spcPct val="90000"/>
              </a:lnSpc>
              <a:buFontTx/>
              <a:buNone/>
            </a:pPr>
            <a:r>
              <a:rPr lang="en-US" altLang="zh-CN" sz="2000" dirty="0">
                <a:latin typeface="Consolas" panose="020B0609020204030204" pitchFamily="49" charset="0"/>
              </a:rPr>
              <a:t>void shuffle (int [][13]);</a:t>
            </a:r>
          </a:p>
          <a:p>
            <a:pPr>
              <a:lnSpc>
                <a:spcPct val="90000"/>
              </a:lnSpc>
              <a:buFontTx/>
              <a:buNone/>
            </a:pPr>
            <a:r>
              <a:rPr lang="en-US" altLang="zh-CN" sz="2000" dirty="0">
                <a:latin typeface="Consolas" panose="020B0609020204030204" pitchFamily="49" charset="0"/>
              </a:rPr>
              <a:t>void deal(const int [][13],const char *[],const char *[]);</a:t>
            </a:r>
          </a:p>
          <a:p>
            <a:pPr>
              <a:lnSpc>
                <a:spcPct val="90000"/>
              </a:lnSpc>
              <a:buFontTx/>
              <a:buNone/>
            </a:pPr>
            <a:r>
              <a:rPr lang="en-US" altLang="zh-CN" sz="2000" dirty="0">
                <a:latin typeface="Consolas" panose="020B0609020204030204" pitchFamily="49" charset="0"/>
              </a:rPr>
              <a:t>int main(void)</a:t>
            </a:r>
          </a:p>
          <a:p>
            <a:pPr>
              <a:lnSpc>
                <a:spcPct val="90000"/>
              </a:lnSpc>
              <a:buFontTx/>
              <a:buNone/>
            </a:pPr>
            <a:r>
              <a:rPr lang="en-US" altLang="zh-CN" sz="2000" dirty="0">
                <a:latin typeface="Consolas" panose="020B0609020204030204" pitchFamily="49" charset="0"/>
              </a:rPr>
              <a:t>{</a:t>
            </a:r>
          </a:p>
          <a:p>
            <a:pPr>
              <a:lnSpc>
                <a:spcPct val="90000"/>
              </a:lnSpc>
              <a:buFontTx/>
              <a:buNone/>
            </a:pPr>
            <a:r>
              <a:rPr lang="en-US" altLang="zh-CN" sz="2000" dirty="0">
                <a:latin typeface="Consolas" panose="020B0609020204030204" pitchFamily="49" charset="0"/>
              </a:rPr>
              <a:t>    const </a:t>
            </a:r>
            <a:r>
              <a:rPr lang="en-US" altLang="zh-CN" sz="2000" dirty="0">
                <a:solidFill>
                  <a:srgbClr val="FF0000"/>
                </a:solidFill>
                <a:latin typeface="Consolas" panose="020B0609020204030204" pitchFamily="49" charset="0"/>
              </a:rPr>
              <a:t>char * suit[4]={"Hearts", "diamonds", "Clubs", "Spades"};</a:t>
            </a:r>
          </a:p>
          <a:p>
            <a:pPr>
              <a:lnSpc>
                <a:spcPct val="90000"/>
              </a:lnSpc>
              <a:buFontTx/>
              <a:buNone/>
            </a:pPr>
            <a:r>
              <a:rPr lang="en-US" altLang="zh-CN" sz="2000" dirty="0">
                <a:solidFill>
                  <a:srgbClr val="FF0000"/>
                </a:solidFill>
                <a:latin typeface="Consolas" panose="020B0609020204030204" pitchFamily="49" charset="0"/>
              </a:rPr>
              <a:t>    const char * face[13]={"Acer", "Deuce", "Three", "Four", "Five", 		                  "Six", "Seven", "Eight", "</a:t>
            </a:r>
            <a:r>
              <a:rPr lang="en-US" altLang="zh-CN" sz="2000" dirty="0" err="1">
                <a:solidFill>
                  <a:srgbClr val="FF0000"/>
                </a:solidFill>
                <a:latin typeface="Consolas" panose="020B0609020204030204" pitchFamily="49" charset="0"/>
              </a:rPr>
              <a:t>Nine","Ten</a:t>
            </a:r>
            <a:r>
              <a:rPr lang="en-US" altLang="zh-CN" sz="2000" dirty="0">
                <a:solidFill>
                  <a:srgbClr val="FF0000"/>
                </a:solidFill>
                <a:latin typeface="Consolas" panose="020B0609020204030204" pitchFamily="49" charset="0"/>
              </a:rPr>
              <a:t>",  		                 "Jack", "Queen", "King"};</a:t>
            </a:r>
          </a:p>
          <a:p>
            <a:pPr>
              <a:lnSpc>
                <a:spcPct val="90000"/>
              </a:lnSpc>
              <a:buFontTx/>
              <a:buNone/>
            </a:pPr>
            <a:r>
              <a:rPr lang="en-US" altLang="zh-CN" sz="2000" dirty="0">
                <a:latin typeface="Consolas" panose="020B0609020204030204" pitchFamily="49" charset="0"/>
              </a:rPr>
              <a:t>    int deck[4][13]={0};</a:t>
            </a:r>
          </a:p>
          <a:p>
            <a:pPr>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srand</a:t>
            </a:r>
            <a:r>
              <a:rPr lang="en-US" altLang="zh-CN" sz="2000" dirty="0">
                <a:latin typeface="Consolas" panose="020B0609020204030204" pitchFamily="49" charset="0"/>
              </a:rPr>
              <a:t>((unsigned)time(NULL));</a:t>
            </a:r>
          </a:p>
          <a:p>
            <a:pPr>
              <a:lnSpc>
                <a:spcPct val="90000"/>
              </a:lnSpc>
              <a:buFontTx/>
              <a:buNone/>
            </a:pPr>
            <a:r>
              <a:rPr lang="en-US" altLang="zh-CN" sz="2000" dirty="0">
                <a:latin typeface="Consolas" panose="020B0609020204030204" pitchFamily="49" charset="0"/>
              </a:rPr>
              <a:t>    shuffle(deck);//</a:t>
            </a:r>
            <a:r>
              <a:rPr lang="zh-CN" altLang="en-US" sz="2000" dirty="0">
                <a:latin typeface="Consolas" panose="020B0609020204030204" pitchFamily="49" charset="0"/>
              </a:rPr>
              <a:t>洗牌</a:t>
            </a:r>
          </a:p>
          <a:p>
            <a:pPr>
              <a:lnSpc>
                <a:spcPct val="90000"/>
              </a:lnSpc>
              <a:buFontTx/>
              <a:buNone/>
            </a:pPr>
            <a:r>
              <a:rPr lang="en-US" altLang="zh-CN" sz="2000" dirty="0">
                <a:latin typeface="Consolas" panose="020B0609020204030204" pitchFamily="49" charset="0"/>
              </a:rPr>
              <a:t>    deal(deck, </a:t>
            </a:r>
            <a:r>
              <a:rPr lang="en-US" altLang="zh-CN" sz="2000" dirty="0">
                <a:solidFill>
                  <a:srgbClr val="FF0000"/>
                </a:solidFill>
                <a:latin typeface="Consolas" panose="020B0609020204030204" pitchFamily="49" charset="0"/>
              </a:rPr>
              <a:t>face, suit</a:t>
            </a:r>
            <a:r>
              <a:rPr lang="en-US" altLang="zh-CN" sz="2000" dirty="0">
                <a:latin typeface="Consolas" panose="020B0609020204030204" pitchFamily="49" charset="0"/>
              </a:rPr>
              <a:t>);//</a:t>
            </a:r>
            <a:r>
              <a:rPr lang="zh-CN" altLang="en-US" sz="2000" dirty="0">
                <a:latin typeface="Consolas" panose="020B0609020204030204" pitchFamily="49" charset="0"/>
              </a:rPr>
              <a:t>发牌</a:t>
            </a:r>
          </a:p>
          <a:p>
            <a:pPr>
              <a:lnSpc>
                <a:spcPct val="90000"/>
              </a:lnSpc>
              <a:buFontTx/>
              <a:buNone/>
            </a:pPr>
            <a:r>
              <a:rPr lang="en-US" altLang="zh-CN" sz="2000" dirty="0">
                <a:latin typeface="Consolas" panose="020B0609020204030204" pitchFamily="49" charset="0"/>
              </a:rPr>
              <a:t>    return 0;</a:t>
            </a:r>
          </a:p>
          <a:p>
            <a:pPr>
              <a:lnSpc>
                <a:spcPct val="90000"/>
              </a:lnSpc>
              <a:buFontTx/>
              <a:buNone/>
            </a:pPr>
            <a:r>
              <a:rPr lang="en-US" altLang="zh-CN" sz="2000" dirty="0">
                <a:latin typeface="Consolas" panose="020B0609020204030204" pitchFamily="49" charset="0"/>
              </a:rPr>
              <a:t>}</a:t>
            </a:r>
          </a:p>
        </p:txBody>
      </p:sp>
      <p:grpSp>
        <p:nvGrpSpPr>
          <p:cNvPr id="72707" name="Group 53">
            <a:extLst>
              <a:ext uri="{FF2B5EF4-FFF2-40B4-BE49-F238E27FC236}">
                <a16:creationId xmlns:a16="http://schemas.microsoft.com/office/drawing/2014/main" id="{FF595E1F-CD2E-4AD4-B2F7-E7A813BC4543}"/>
              </a:ext>
            </a:extLst>
          </p:cNvPr>
          <p:cNvGrpSpPr>
            <a:grpSpLocks/>
          </p:cNvGrpSpPr>
          <p:nvPr/>
        </p:nvGrpSpPr>
        <p:grpSpPr bwMode="auto">
          <a:xfrm>
            <a:off x="2627313" y="-26988"/>
            <a:ext cx="5475287" cy="1316038"/>
            <a:chOff x="1655" y="164"/>
            <a:chExt cx="3449" cy="829"/>
          </a:xfrm>
        </p:grpSpPr>
        <p:sp>
          <p:nvSpPr>
            <p:cNvPr id="72708" name="Rectangle 3">
              <a:extLst>
                <a:ext uri="{FF2B5EF4-FFF2-40B4-BE49-F238E27FC236}">
                  <a16:creationId xmlns:a16="http://schemas.microsoft.com/office/drawing/2014/main" id="{69CBC854-3647-417B-AC74-3CD76B027EB8}"/>
                </a:ext>
              </a:extLst>
            </p:cNvPr>
            <p:cNvSpPr>
              <a:spLocks noChangeArrowheads="1"/>
            </p:cNvSpPr>
            <p:nvPr/>
          </p:nvSpPr>
          <p:spPr bwMode="auto">
            <a:xfrm>
              <a:off x="2744" y="239"/>
              <a:ext cx="398" cy="714"/>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09" name="Text Box 7">
              <a:extLst>
                <a:ext uri="{FF2B5EF4-FFF2-40B4-BE49-F238E27FC236}">
                  <a16:creationId xmlns:a16="http://schemas.microsoft.com/office/drawing/2014/main" id="{55EDADD9-44FF-4BA1-B573-EC7223A4F316}"/>
                </a:ext>
              </a:extLst>
            </p:cNvPr>
            <p:cNvSpPr txBox="1">
              <a:spLocks noChangeArrowheads="1"/>
            </p:cNvSpPr>
            <p:nvPr/>
          </p:nvSpPr>
          <p:spPr bwMode="auto">
            <a:xfrm>
              <a:off x="1655" y="164"/>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400">
                  <a:solidFill>
                    <a:srgbClr val="0000FF"/>
                  </a:solidFill>
                </a:rPr>
                <a:t>suit</a:t>
              </a:r>
            </a:p>
          </p:txBody>
        </p:sp>
        <p:pic>
          <p:nvPicPr>
            <p:cNvPr id="72710" name="Picture 8">
              <a:extLst>
                <a:ext uri="{FF2B5EF4-FFF2-40B4-BE49-F238E27FC236}">
                  <a16:creationId xmlns:a16="http://schemas.microsoft.com/office/drawing/2014/main" id="{7E0E9E08-AC3B-4B06-B457-EE467B25A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8" y="196"/>
              <a:ext cx="141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1" name="Picture 9">
              <a:extLst>
                <a:ext uri="{FF2B5EF4-FFF2-40B4-BE49-F238E27FC236}">
                  <a16:creationId xmlns:a16="http://schemas.microsoft.com/office/drawing/2014/main" id="{E39AF36D-C19C-4D37-ACAC-AB8B9C460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8" y="413"/>
              <a:ext cx="18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2" name="Picture 10">
              <a:extLst>
                <a:ext uri="{FF2B5EF4-FFF2-40B4-BE49-F238E27FC236}">
                  <a16:creationId xmlns:a16="http://schemas.microsoft.com/office/drawing/2014/main" id="{25256620-70AC-4B71-95C0-1EB36D05D7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8" y="617"/>
              <a:ext cx="1068"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3" name="Picture 11">
              <a:extLst>
                <a:ext uri="{FF2B5EF4-FFF2-40B4-BE49-F238E27FC236}">
                  <a16:creationId xmlns:a16="http://schemas.microsoft.com/office/drawing/2014/main" id="{F83A9B80-1998-4D37-B87E-5A8C53ED5D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8" y="817"/>
              <a:ext cx="145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4" name="Line 12">
              <a:extLst>
                <a:ext uri="{FF2B5EF4-FFF2-40B4-BE49-F238E27FC236}">
                  <a16:creationId xmlns:a16="http://schemas.microsoft.com/office/drawing/2014/main" id="{76E91256-5EE2-49BF-A79A-1CA0C80CC49A}"/>
                </a:ext>
              </a:extLst>
            </p:cNvPr>
            <p:cNvSpPr>
              <a:spLocks noChangeShapeType="1"/>
            </p:cNvSpPr>
            <p:nvPr/>
          </p:nvSpPr>
          <p:spPr bwMode="auto">
            <a:xfrm>
              <a:off x="2911" y="543"/>
              <a:ext cx="35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15" name="Line 13">
              <a:extLst>
                <a:ext uri="{FF2B5EF4-FFF2-40B4-BE49-F238E27FC236}">
                  <a16:creationId xmlns:a16="http://schemas.microsoft.com/office/drawing/2014/main" id="{A141FE57-97A4-43B3-87AA-CB326DC57A83}"/>
                </a:ext>
              </a:extLst>
            </p:cNvPr>
            <p:cNvSpPr>
              <a:spLocks noChangeShapeType="1"/>
            </p:cNvSpPr>
            <p:nvPr/>
          </p:nvSpPr>
          <p:spPr bwMode="auto">
            <a:xfrm>
              <a:off x="2911" y="707"/>
              <a:ext cx="35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16" name="Line 14">
              <a:extLst>
                <a:ext uri="{FF2B5EF4-FFF2-40B4-BE49-F238E27FC236}">
                  <a16:creationId xmlns:a16="http://schemas.microsoft.com/office/drawing/2014/main" id="{825A8186-0D47-4FB9-84F7-D841812D6CFD}"/>
                </a:ext>
              </a:extLst>
            </p:cNvPr>
            <p:cNvSpPr>
              <a:spLocks noChangeShapeType="1"/>
            </p:cNvSpPr>
            <p:nvPr/>
          </p:nvSpPr>
          <p:spPr bwMode="auto">
            <a:xfrm>
              <a:off x="2911" y="904"/>
              <a:ext cx="35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17" name="Line 15">
              <a:extLst>
                <a:ext uri="{FF2B5EF4-FFF2-40B4-BE49-F238E27FC236}">
                  <a16:creationId xmlns:a16="http://schemas.microsoft.com/office/drawing/2014/main" id="{9E274C5C-2F8C-451A-8C19-363981EF29C9}"/>
                </a:ext>
              </a:extLst>
            </p:cNvPr>
            <p:cNvSpPr>
              <a:spLocks noChangeShapeType="1"/>
            </p:cNvSpPr>
            <p:nvPr/>
          </p:nvSpPr>
          <p:spPr bwMode="auto">
            <a:xfrm>
              <a:off x="2911" y="333"/>
              <a:ext cx="35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18" name="Line 16">
              <a:extLst>
                <a:ext uri="{FF2B5EF4-FFF2-40B4-BE49-F238E27FC236}">
                  <a16:creationId xmlns:a16="http://schemas.microsoft.com/office/drawing/2014/main" id="{AF7F8D77-8239-407A-B604-70FDB3FDE567}"/>
                </a:ext>
              </a:extLst>
            </p:cNvPr>
            <p:cNvSpPr>
              <a:spLocks noChangeShapeType="1"/>
            </p:cNvSpPr>
            <p:nvPr/>
          </p:nvSpPr>
          <p:spPr bwMode="auto">
            <a:xfrm>
              <a:off x="2744" y="453"/>
              <a:ext cx="408"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19" name="Line 17">
              <a:extLst>
                <a:ext uri="{FF2B5EF4-FFF2-40B4-BE49-F238E27FC236}">
                  <a16:creationId xmlns:a16="http://schemas.microsoft.com/office/drawing/2014/main" id="{65AED042-E3F2-4997-9B30-360BD127D4DC}"/>
                </a:ext>
              </a:extLst>
            </p:cNvPr>
            <p:cNvSpPr>
              <a:spLocks noChangeShapeType="1"/>
            </p:cNvSpPr>
            <p:nvPr/>
          </p:nvSpPr>
          <p:spPr bwMode="auto">
            <a:xfrm>
              <a:off x="2744" y="635"/>
              <a:ext cx="408"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0" name="Line 18">
              <a:extLst>
                <a:ext uri="{FF2B5EF4-FFF2-40B4-BE49-F238E27FC236}">
                  <a16:creationId xmlns:a16="http://schemas.microsoft.com/office/drawing/2014/main" id="{7F34E585-CD20-4D41-B611-DA8CC4DEB128}"/>
                </a:ext>
              </a:extLst>
            </p:cNvPr>
            <p:cNvSpPr>
              <a:spLocks noChangeShapeType="1"/>
            </p:cNvSpPr>
            <p:nvPr/>
          </p:nvSpPr>
          <p:spPr bwMode="auto">
            <a:xfrm>
              <a:off x="2744" y="816"/>
              <a:ext cx="408"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1" name="Rectangle 19">
              <a:extLst>
                <a:ext uri="{FF2B5EF4-FFF2-40B4-BE49-F238E27FC236}">
                  <a16:creationId xmlns:a16="http://schemas.microsoft.com/office/drawing/2014/main" id="{7B1E34CE-450E-4142-8759-962EF217E51D}"/>
                </a:ext>
              </a:extLst>
            </p:cNvPr>
            <p:cNvSpPr>
              <a:spLocks noChangeArrowheads="1"/>
            </p:cNvSpPr>
            <p:nvPr/>
          </p:nvSpPr>
          <p:spPr bwMode="auto">
            <a:xfrm>
              <a:off x="2200" y="227"/>
              <a:ext cx="307" cy="210"/>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2" name="Line 21">
              <a:extLst>
                <a:ext uri="{FF2B5EF4-FFF2-40B4-BE49-F238E27FC236}">
                  <a16:creationId xmlns:a16="http://schemas.microsoft.com/office/drawing/2014/main" id="{4E21002E-8BF0-4EEF-9180-1F5A858DD773}"/>
                </a:ext>
              </a:extLst>
            </p:cNvPr>
            <p:cNvSpPr>
              <a:spLocks noChangeShapeType="1"/>
            </p:cNvSpPr>
            <p:nvPr/>
          </p:nvSpPr>
          <p:spPr bwMode="auto">
            <a:xfrm>
              <a:off x="2381" y="317"/>
              <a:ext cx="35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grpSp>
      <p:grpSp>
        <p:nvGrpSpPr>
          <p:cNvPr id="72723" name="Group 55">
            <a:extLst>
              <a:ext uri="{FF2B5EF4-FFF2-40B4-BE49-F238E27FC236}">
                <a16:creationId xmlns:a16="http://schemas.microsoft.com/office/drawing/2014/main" id="{67723C12-8EA5-44E1-BACE-1B81D981A5DA}"/>
              </a:ext>
            </a:extLst>
          </p:cNvPr>
          <p:cNvGrpSpPr>
            <a:grpSpLocks/>
          </p:cNvGrpSpPr>
          <p:nvPr/>
        </p:nvGrpSpPr>
        <p:grpSpPr bwMode="auto">
          <a:xfrm>
            <a:off x="5076825" y="1268413"/>
            <a:ext cx="3816350" cy="1295400"/>
            <a:chOff x="2789" y="981"/>
            <a:chExt cx="2404" cy="816"/>
          </a:xfrm>
        </p:grpSpPr>
        <p:sp>
          <p:nvSpPr>
            <p:cNvPr id="72724" name="Rectangle 37">
              <a:extLst>
                <a:ext uri="{FF2B5EF4-FFF2-40B4-BE49-F238E27FC236}">
                  <a16:creationId xmlns:a16="http://schemas.microsoft.com/office/drawing/2014/main" id="{E1E07F72-C2D4-4FC5-A5A5-387A3E64ADEA}"/>
                </a:ext>
              </a:extLst>
            </p:cNvPr>
            <p:cNvSpPr>
              <a:spLocks noChangeArrowheads="1"/>
            </p:cNvSpPr>
            <p:nvPr/>
          </p:nvSpPr>
          <p:spPr bwMode="auto">
            <a:xfrm>
              <a:off x="3923" y="1026"/>
              <a:ext cx="258" cy="755"/>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5" name="Line 38">
              <a:extLst>
                <a:ext uri="{FF2B5EF4-FFF2-40B4-BE49-F238E27FC236}">
                  <a16:creationId xmlns:a16="http://schemas.microsoft.com/office/drawing/2014/main" id="{95DB9D84-90F1-46F6-8AB3-4F8A410FCBB4}"/>
                </a:ext>
              </a:extLst>
            </p:cNvPr>
            <p:cNvSpPr>
              <a:spLocks noChangeShapeType="1"/>
            </p:cNvSpPr>
            <p:nvPr/>
          </p:nvSpPr>
          <p:spPr bwMode="auto">
            <a:xfrm flipV="1">
              <a:off x="3923" y="1227"/>
              <a:ext cx="2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6" name="Line 40">
              <a:extLst>
                <a:ext uri="{FF2B5EF4-FFF2-40B4-BE49-F238E27FC236}">
                  <a16:creationId xmlns:a16="http://schemas.microsoft.com/office/drawing/2014/main" id="{0EAEBD91-10F7-48CE-ACC0-A544353B6EFB}"/>
                </a:ext>
              </a:extLst>
            </p:cNvPr>
            <p:cNvSpPr>
              <a:spLocks noChangeShapeType="1"/>
            </p:cNvSpPr>
            <p:nvPr/>
          </p:nvSpPr>
          <p:spPr bwMode="auto">
            <a:xfrm>
              <a:off x="3923" y="1604"/>
              <a:ext cx="26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7" name="Line 43">
              <a:extLst>
                <a:ext uri="{FF2B5EF4-FFF2-40B4-BE49-F238E27FC236}">
                  <a16:creationId xmlns:a16="http://schemas.microsoft.com/office/drawing/2014/main" id="{D0F648A3-56B9-4A95-9A67-0B302308F321}"/>
                </a:ext>
              </a:extLst>
            </p:cNvPr>
            <p:cNvSpPr>
              <a:spLocks noChangeShapeType="1"/>
            </p:cNvSpPr>
            <p:nvPr/>
          </p:nvSpPr>
          <p:spPr bwMode="auto">
            <a:xfrm>
              <a:off x="4014" y="1685"/>
              <a:ext cx="3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28" name="Line 44">
              <a:extLst>
                <a:ext uri="{FF2B5EF4-FFF2-40B4-BE49-F238E27FC236}">
                  <a16:creationId xmlns:a16="http://schemas.microsoft.com/office/drawing/2014/main" id="{98C25FBF-0B51-440B-8DA7-E7A1E4693AD8}"/>
                </a:ext>
              </a:extLst>
            </p:cNvPr>
            <p:cNvSpPr>
              <a:spLocks noChangeShapeType="1"/>
            </p:cNvSpPr>
            <p:nvPr/>
          </p:nvSpPr>
          <p:spPr bwMode="auto">
            <a:xfrm>
              <a:off x="4059" y="1140"/>
              <a:ext cx="3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pic>
          <p:nvPicPr>
            <p:cNvPr id="72729" name="Picture 46">
              <a:extLst>
                <a:ext uri="{FF2B5EF4-FFF2-40B4-BE49-F238E27FC236}">
                  <a16:creationId xmlns:a16="http://schemas.microsoft.com/office/drawing/2014/main" id="{BA3814A4-6332-4520-BAC0-B0988DC102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1" y="1075"/>
              <a:ext cx="69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30" name="Picture 48">
              <a:extLst>
                <a:ext uri="{FF2B5EF4-FFF2-40B4-BE49-F238E27FC236}">
                  <a16:creationId xmlns:a16="http://schemas.microsoft.com/office/drawing/2014/main" id="{EF2247CD-1470-42D6-83E2-37FCA8FBA3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6" y="1606"/>
              <a:ext cx="84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31" name="Text Box 49">
              <a:extLst>
                <a:ext uri="{FF2B5EF4-FFF2-40B4-BE49-F238E27FC236}">
                  <a16:creationId xmlns:a16="http://schemas.microsoft.com/office/drawing/2014/main" id="{46994FDA-3394-41E7-BDE7-AFFE9F106BB4}"/>
                </a:ext>
              </a:extLst>
            </p:cNvPr>
            <p:cNvSpPr txBox="1">
              <a:spLocks noChangeArrowheads="1"/>
            </p:cNvSpPr>
            <p:nvPr/>
          </p:nvSpPr>
          <p:spPr bwMode="auto">
            <a:xfrm>
              <a:off x="2789" y="981"/>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400">
                  <a:solidFill>
                    <a:srgbClr val="0000FF"/>
                  </a:solidFill>
                </a:rPr>
                <a:t>face</a:t>
              </a:r>
            </a:p>
          </p:txBody>
        </p:sp>
        <p:sp>
          <p:nvSpPr>
            <p:cNvPr id="72732" name="Rectangle 50">
              <a:extLst>
                <a:ext uri="{FF2B5EF4-FFF2-40B4-BE49-F238E27FC236}">
                  <a16:creationId xmlns:a16="http://schemas.microsoft.com/office/drawing/2014/main" id="{981FCC12-0187-4EF1-9AF1-09E4FCBDEF75}"/>
                </a:ext>
              </a:extLst>
            </p:cNvPr>
            <p:cNvSpPr>
              <a:spLocks noChangeArrowheads="1"/>
            </p:cNvSpPr>
            <p:nvPr/>
          </p:nvSpPr>
          <p:spPr bwMode="auto">
            <a:xfrm>
              <a:off x="3360" y="1027"/>
              <a:ext cx="307" cy="210"/>
            </a:xfrm>
            <a:prstGeom prst="rect">
              <a:avLst/>
            </a:prstGeom>
            <a:solidFill>
              <a:srgbClr val="FFCCFF"/>
            </a:solidFill>
            <a:ln w="9525">
              <a:solidFill>
                <a:srgbClr val="000000"/>
              </a:solidFill>
              <a:miter lim="800000"/>
              <a:headEnd/>
              <a:tailEnd/>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33" name="Line 51">
              <a:extLst>
                <a:ext uri="{FF2B5EF4-FFF2-40B4-BE49-F238E27FC236}">
                  <a16:creationId xmlns:a16="http://schemas.microsoft.com/office/drawing/2014/main" id="{DC947189-31F4-4E65-8991-4ED2ACAFAB19}"/>
                </a:ext>
              </a:extLst>
            </p:cNvPr>
            <p:cNvSpPr>
              <a:spLocks noChangeShapeType="1"/>
            </p:cNvSpPr>
            <p:nvPr/>
          </p:nvSpPr>
          <p:spPr bwMode="auto">
            <a:xfrm>
              <a:off x="3566" y="1118"/>
              <a:ext cx="35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2734" name="Text Box 54">
              <a:extLst>
                <a:ext uri="{FF2B5EF4-FFF2-40B4-BE49-F238E27FC236}">
                  <a16:creationId xmlns:a16="http://schemas.microsoft.com/office/drawing/2014/main" id="{F5A031AB-2F1D-4387-AB74-B1D7381A6769}"/>
                </a:ext>
              </a:extLst>
            </p:cNvPr>
            <p:cNvSpPr txBox="1">
              <a:spLocks noChangeArrowheads="1"/>
            </p:cNvSpPr>
            <p:nvPr/>
          </p:nvSpPr>
          <p:spPr bwMode="auto">
            <a:xfrm>
              <a:off x="3833" y="1298"/>
              <a:ext cx="408" cy="231"/>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a:t>
              </a:r>
            </a:p>
          </p:txBody>
        </p:sp>
      </p:gr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a:extLst>
              <a:ext uri="{FF2B5EF4-FFF2-40B4-BE49-F238E27FC236}">
                <a16:creationId xmlns:a16="http://schemas.microsoft.com/office/drawing/2014/main" id="{E0CEDAF8-5B72-43A8-A60A-31B28C286F91}"/>
              </a:ext>
            </a:extLst>
          </p:cNvPr>
          <p:cNvSpPr>
            <a:spLocks noGrp="1" noChangeArrowheads="1"/>
          </p:cNvSpPr>
          <p:nvPr>
            <p:ph type="title"/>
          </p:nvPr>
        </p:nvSpPr>
        <p:spPr/>
        <p:txBody>
          <a:bodyPr/>
          <a:lstStyle/>
          <a:p>
            <a:endParaRPr lang="zh-CN" altLang="en-US"/>
          </a:p>
        </p:txBody>
      </p:sp>
      <p:sp>
        <p:nvSpPr>
          <p:cNvPr id="73730" name="灯片编号占位符 3">
            <a:extLst>
              <a:ext uri="{FF2B5EF4-FFF2-40B4-BE49-F238E27FC236}">
                <a16:creationId xmlns:a16="http://schemas.microsoft.com/office/drawing/2014/main" id="{3778137C-7280-470A-B943-A86F02FEA799}"/>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pPr>
            <a:fld id="{184253C2-A1F9-42F1-81C8-0D63D8B02D10}" type="slidenum">
              <a:rPr lang="zh-CN" altLang="en-US" smtClean="0"/>
              <a:pPr>
                <a:spcBef>
                  <a:spcPct val="0"/>
                </a:spcBef>
              </a:pPr>
              <a:t>51</a:t>
            </a:fld>
            <a:endParaRPr lang="zh-CN" altLang="en-US"/>
          </a:p>
        </p:txBody>
      </p:sp>
      <p:sp>
        <p:nvSpPr>
          <p:cNvPr id="73731" name="Rectangle 3">
            <a:extLst>
              <a:ext uri="{FF2B5EF4-FFF2-40B4-BE49-F238E27FC236}">
                <a16:creationId xmlns:a16="http://schemas.microsoft.com/office/drawing/2014/main" id="{34898B9C-DC93-4460-9099-CBAF0AD9E9ED}"/>
              </a:ext>
            </a:extLst>
          </p:cNvPr>
          <p:cNvSpPr>
            <a:spLocks noGrp="1" noChangeArrowheads="1"/>
          </p:cNvSpPr>
          <p:nvPr/>
        </p:nvSpPr>
        <p:spPr bwMode="auto">
          <a:xfrm>
            <a:off x="334144" y="1340768"/>
            <a:ext cx="8515350" cy="461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marL="0" indent="0">
              <a:lnSpc>
                <a:spcPct val="80000"/>
              </a:lnSpc>
              <a:spcBef>
                <a:spcPct val="20000"/>
              </a:spcBef>
              <a:buNone/>
            </a:pPr>
            <a:r>
              <a:rPr lang="en-US" altLang="zh-CN" sz="1800" dirty="0">
                <a:latin typeface="Consolas" panose="020B0609020204030204" pitchFamily="49" charset="0"/>
              </a:rPr>
              <a:t>void deal (const int *</a:t>
            </a:r>
            <a:r>
              <a:rPr lang="en-US" altLang="zh-CN" sz="1800" dirty="0" err="1">
                <a:latin typeface="Consolas" panose="020B0609020204030204" pitchFamily="49" charset="0"/>
              </a:rPr>
              <a:t>wdeck</a:t>
            </a:r>
            <a:r>
              <a:rPr lang="en-US" altLang="zh-CN" sz="1800" dirty="0">
                <a:latin typeface="Consolas" panose="020B0609020204030204" pitchFamily="49" charset="0"/>
              </a:rPr>
              <a:t>, char *</a:t>
            </a:r>
            <a:r>
              <a:rPr lang="en-US" altLang="zh-CN" sz="1800" dirty="0" err="1">
                <a:latin typeface="Consolas" panose="020B0609020204030204" pitchFamily="49" charset="0"/>
              </a:rPr>
              <a:t>wface</a:t>
            </a:r>
            <a:r>
              <a:rPr lang="en-US" altLang="zh-CN" sz="1800" dirty="0">
                <a:latin typeface="Consolas" panose="020B0609020204030204" pitchFamily="49" charset="0"/>
              </a:rPr>
              <a:t>, char * </a:t>
            </a:r>
            <a:r>
              <a:rPr lang="en-US" altLang="zh-CN" sz="1800" dirty="0" err="1">
                <a:latin typeface="Consolas" panose="020B0609020204030204" pitchFamily="49" charset="0"/>
              </a:rPr>
              <a:t>wsuit</a:t>
            </a:r>
            <a:r>
              <a:rPr lang="en-US" altLang="zh-CN" sz="1800" dirty="0">
                <a:latin typeface="Consolas" panose="020B0609020204030204" pitchFamily="49" charset="0"/>
              </a:rPr>
              <a:t>) //</a:t>
            </a:r>
            <a:r>
              <a:rPr lang="zh-CN" altLang="en-US" sz="1800" dirty="0">
                <a:latin typeface="Consolas" panose="020B0609020204030204" pitchFamily="49" charset="0"/>
              </a:rPr>
              <a:t>发牌</a:t>
            </a:r>
          </a:p>
          <a:p>
            <a:pPr marL="0" indent="0">
              <a:lnSpc>
                <a:spcPct val="80000"/>
              </a:lnSpc>
              <a:spcBef>
                <a:spcPct val="20000"/>
              </a:spcBef>
              <a:buNone/>
            </a:pPr>
            <a:r>
              <a:rPr lang="en-US" altLang="zh-CN" sz="1800" dirty="0">
                <a:latin typeface="Consolas" panose="020B0609020204030204" pitchFamily="49" charset="0"/>
              </a:rPr>
              <a:t>{</a:t>
            </a:r>
          </a:p>
          <a:p>
            <a:pPr marL="0" indent="0">
              <a:lnSpc>
                <a:spcPct val="80000"/>
              </a:lnSpc>
              <a:spcBef>
                <a:spcPct val="20000"/>
              </a:spcBef>
              <a:buNone/>
            </a:pPr>
            <a:r>
              <a:rPr lang="en-US" altLang="zh-CN" sz="1800" dirty="0">
                <a:latin typeface="Consolas" panose="020B0609020204030204" pitchFamily="49" charset="0"/>
              </a:rPr>
              <a:t>      int </a:t>
            </a:r>
            <a:r>
              <a:rPr lang="en-US" altLang="zh-CN" sz="1800" dirty="0" err="1">
                <a:latin typeface="Consolas" panose="020B0609020204030204" pitchFamily="49" charset="0"/>
              </a:rPr>
              <a:t>card,row,column,found</a:t>
            </a:r>
            <a:r>
              <a:rPr lang="en-US" altLang="zh-CN" sz="1800" dirty="0">
                <a:latin typeface="Consolas" panose="020B0609020204030204" pitchFamily="49" charset="0"/>
              </a:rPr>
              <a:t>;</a:t>
            </a:r>
          </a:p>
          <a:p>
            <a:pPr marL="0" indent="0">
              <a:lnSpc>
                <a:spcPct val="80000"/>
              </a:lnSpc>
              <a:spcBef>
                <a:spcPct val="20000"/>
              </a:spcBef>
              <a:buNone/>
            </a:pPr>
            <a:endParaRPr lang="en-US" altLang="zh-CN" sz="1800" dirty="0">
              <a:latin typeface="Consolas" panose="020B0609020204030204" pitchFamily="49" charset="0"/>
            </a:endParaRPr>
          </a:p>
          <a:p>
            <a:pPr marL="0" indent="0">
              <a:lnSpc>
                <a:spcPct val="80000"/>
              </a:lnSpc>
              <a:spcBef>
                <a:spcPct val="20000"/>
              </a:spcBef>
              <a:buNone/>
            </a:pPr>
            <a:r>
              <a:rPr lang="en-US" altLang="zh-CN" sz="1800" dirty="0">
                <a:latin typeface="Consolas" panose="020B0609020204030204" pitchFamily="49" charset="0"/>
              </a:rPr>
              <a:t>      for (card = </a:t>
            </a:r>
            <a:r>
              <a:rPr lang="en-US" altLang="zh-CN" sz="1800" dirty="0" err="1">
                <a:latin typeface="Consolas" panose="020B0609020204030204" pitchFamily="49" charset="0"/>
              </a:rPr>
              <a:t>1;card</a:t>
            </a:r>
            <a:r>
              <a:rPr lang="en-US" altLang="zh-CN" sz="1800" dirty="0">
                <a:latin typeface="Consolas" panose="020B0609020204030204" pitchFamily="49" charset="0"/>
              </a:rPr>
              <a:t> &lt;= </a:t>
            </a:r>
            <a:r>
              <a:rPr lang="en-US" altLang="zh-CN" sz="1800" dirty="0" err="1">
                <a:latin typeface="Consolas" panose="020B0609020204030204" pitchFamily="49" charset="0"/>
              </a:rPr>
              <a:t>52;card</a:t>
            </a:r>
            <a:r>
              <a:rPr lang="en-US" altLang="zh-CN" sz="1800" dirty="0">
                <a:latin typeface="Consolas" panose="020B0609020204030204" pitchFamily="49" charset="0"/>
              </a:rPr>
              <a:t>++){</a:t>
            </a:r>
          </a:p>
          <a:p>
            <a:pPr marL="0" indent="0">
              <a:lnSpc>
                <a:spcPct val="80000"/>
              </a:lnSpc>
              <a:spcBef>
                <a:spcPct val="20000"/>
              </a:spcBef>
              <a:buNone/>
            </a:pPr>
            <a:r>
              <a:rPr lang="en-US" altLang="zh-CN" sz="1800" dirty="0">
                <a:latin typeface="Consolas" panose="020B0609020204030204" pitchFamily="49" charset="0"/>
              </a:rPr>
              <a:t>     </a:t>
            </a:r>
            <a:r>
              <a:rPr lang="en-US" altLang="zh-CN" sz="1800" dirty="0">
                <a:solidFill>
                  <a:srgbClr val="003399"/>
                </a:solidFill>
                <a:latin typeface="Consolas" panose="020B0609020204030204" pitchFamily="49" charset="0"/>
              </a:rPr>
              <a:t>//</a:t>
            </a:r>
            <a:r>
              <a:rPr lang="zh-CN" altLang="en-US" sz="1800" dirty="0">
                <a:solidFill>
                  <a:srgbClr val="003399"/>
                </a:solidFill>
                <a:latin typeface="Consolas" panose="020B0609020204030204" pitchFamily="49" charset="0"/>
              </a:rPr>
              <a:t>遍历二维数组，查找值为</a:t>
            </a:r>
            <a:r>
              <a:rPr lang="en-US" altLang="zh-CN" sz="1800" dirty="0">
                <a:solidFill>
                  <a:srgbClr val="003399"/>
                </a:solidFill>
                <a:latin typeface="Consolas" panose="020B0609020204030204" pitchFamily="49" charset="0"/>
              </a:rPr>
              <a:t>card</a:t>
            </a:r>
            <a:r>
              <a:rPr lang="zh-CN" altLang="en-US" sz="1800" dirty="0">
                <a:solidFill>
                  <a:srgbClr val="003399"/>
                </a:solidFill>
                <a:latin typeface="Consolas" panose="020B0609020204030204" pitchFamily="49" charset="0"/>
              </a:rPr>
              <a:t>的元素，输出对应的花色和面值</a:t>
            </a:r>
          </a:p>
          <a:p>
            <a:pPr marL="0" indent="0">
              <a:lnSpc>
                <a:spcPct val="80000"/>
              </a:lnSpc>
              <a:spcBef>
                <a:spcPct val="20000"/>
              </a:spcBef>
              <a:buNone/>
            </a:pPr>
            <a:r>
              <a:rPr lang="zh-CN" altLang="en-US" sz="1800" dirty="0">
                <a:latin typeface="Consolas" panose="020B0609020204030204" pitchFamily="49" charset="0"/>
              </a:rPr>
              <a:t>         </a:t>
            </a:r>
            <a:r>
              <a:rPr lang="en-US" altLang="zh-CN" sz="1800" dirty="0">
                <a:latin typeface="Consolas" panose="020B0609020204030204" pitchFamily="49" charset="0"/>
              </a:rPr>
              <a:t>found = 0;</a:t>
            </a:r>
          </a:p>
          <a:p>
            <a:pPr marL="0" indent="0">
              <a:lnSpc>
                <a:spcPct val="80000"/>
              </a:lnSpc>
              <a:spcBef>
                <a:spcPct val="20000"/>
              </a:spcBef>
              <a:buNone/>
            </a:pPr>
            <a:r>
              <a:rPr lang="en-US" altLang="zh-CN" sz="1800" dirty="0">
                <a:latin typeface="Consolas" panose="020B0609020204030204" pitchFamily="49" charset="0"/>
              </a:rPr>
              <a:t>         for (row=0; row &lt;= 3 &amp;&amp; !found; row++)</a:t>
            </a:r>
          </a:p>
          <a:p>
            <a:pPr marL="0" indent="0">
              <a:lnSpc>
                <a:spcPct val="80000"/>
              </a:lnSpc>
              <a:spcBef>
                <a:spcPct val="20000"/>
              </a:spcBef>
              <a:buNone/>
            </a:pPr>
            <a:r>
              <a:rPr lang="en-US" altLang="zh-CN" sz="1800" dirty="0">
                <a:latin typeface="Consolas" panose="020B0609020204030204" pitchFamily="49" charset="0"/>
              </a:rPr>
              <a:t>            for (column=0; column &lt;= 12 &amp;&amp; !found; column++)</a:t>
            </a:r>
          </a:p>
          <a:p>
            <a:pPr marL="0" indent="0">
              <a:lnSpc>
                <a:spcPct val="80000"/>
              </a:lnSpc>
              <a:spcBef>
                <a:spcPct val="20000"/>
              </a:spcBef>
              <a:buNone/>
            </a:pPr>
            <a:r>
              <a:rPr lang="en-US" altLang="zh-CN" sz="1800" dirty="0">
                <a:latin typeface="Consolas" panose="020B0609020204030204" pitchFamily="49" charset="0"/>
              </a:rPr>
              <a:t>               if (</a:t>
            </a:r>
            <a:r>
              <a:rPr lang="en-US" altLang="zh-CN" sz="1800" dirty="0">
                <a:solidFill>
                  <a:srgbClr val="0070C0"/>
                </a:solidFill>
                <a:latin typeface="Consolas" panose="020B0609020204030204" pitchFamily="49" charset="0"/>
                <a:sym typeface="宋体" panose="02010600030101010101" pitchFamily="2" charset="-122"/>
              </a:rPr>
              <a:t>*(</a:t>
            </a:r>
            <a:r>
              <a:rPr lang="en-US" altLang="zh-CN" sz="1800" dirty="0" err="1">
                <a:solidFill>
                  <a:srgbClr val="0070C0"/>
                </a:solidFill>
                <a:latin typeface="Consolas" panose="020B0609020204030204" pitchFamily="49" charset="0"/>
                <a:sym typeface="宋体" panose="02010600030101010101" pitchFamily="2" charset="-122"/>
              </a:rPr>
              <a:t>wdeck+row</a:t>
            </a:r>
            <a:r>
              <a:rPr lang="en-US" altLang="zh-CN" sz="1800" dirty="0">
                <a:solidFill>
                  <a:srgbClr val="0070C0"/>
                </a:solidFill>
                <a:latin typeface="Consolas" panose="020B0609020204030204" pitchFamily="49" charset="0"/>
                <a:sym typeface="宋体" panose="02010600030101010101" pitchFamily="2" charset="-122"/>
              </a:rPr>
              <a:t>*</a:t>
            </a:r>
            <a:r>
              <a:rPr lang="en-US" altLang="zh-CN" sz="1800" dirty="0" err="1">
                <a:solidFill>
                  <a:srgbClr val="0070C0"/>
                </a:solidFill>
                <a:latin typeface="Consolas" panose="020B0609020204030204" pitchFamily="49" charset="0"/>
                <a:sym typeface="宋体" panose="02010600030101010101" pitchFamily="2" charset="-122"/>
              </a:rPr>
              <a:t>13+column</a:t>
            </a:r>
            <a:r>
              <a:rPr lang="en-US" altLang="zh-CN" sz="1800" dirty="0">
                <a:solidFill>
                  <a:srgbClr val="0070C0"/>
                </a:solidFill>
                <a:latin typeface="Consolas" panose="020B0609020204030204" pitchFamily="49" charset="0"/>
                <a:sym typeface="宋体" panose="02010600030101010101" pitchFamily="2" charset="-122"/>
              </a:rPr>
              <a:t>)</a:t>
            </a:r>
            <a:r>
              <a:rPr lang="en-US" altLang="zh-CN" sz="1800" dirty="0">
                <a:latin typeface="Consolas" panose="020B0609020204030204" pitchFamily="49" charset="0"/>
              </a:rPr>
              <a:t>==card){</a:t>
            </a:r>
            <a:endParaRPr lang="en-US" altLang="zh-CN" sz="1800" dirty="0">
              <a:solidFill>
                <a:srgbClr val="0070C0"/>
              </a:solidFill>
              <a:latin typeface="Consolas" panose="020B0609020204030204" pitchFamily="49" charset="0"/>
            </a:endParaRPr>
          </a:p>
          <a:p>
            <a:pPr marL="0" indent="0">
              <a:lnSpc>
                <a:spcPct val="80000"/>
              </a:lnSpc>
              <a:spcBef>
                <a:spcPct val="20000"/>
              </a:spcBef>
              <a:buNone/>
            </a:pPr>
            <a:r>
              <a:rPr lang="en-US" altLang="zh-CN" sz="1800" dirty="0">
                <a:latin typeface="Consolas" panose="020B0609020204030204" pitchFamily="49" charset="0"/>
              </a:rPr>
              <a:t>                   found = 1;</a:t>
            </a:r>
          </a:p>
          <a:p>
            <a:pPr marL="0" indent="0">
              <a:lnSpc>
                <a:spcPct val="80000"/>
              </a:lnSpc>
              <a:spcBef>
                <a:spcPct val="20000"/>
              </a:spcBef>
              <a:buNone/>
            </a:pPr>
            <a:r>
              <a:rPr lang="en-US" altLang="zh-CN" sz="1800" dirty="0">
                <a:latin typeface="Consolas" panose="020B0609020204030204" pitchFamily="49" charset="0"/>
              </a:rPr>
              <a:t>                   </a:t>
            </a:r>
            <a:r>
              <a:rPr lang="en-US" altLang="zh-CN" sz="1800" dirty="0" err="1">
                <a:latin typeface="Consolas" panose="020B0609020204030204" pitchFamily="49" charset="0"/>
                <a:sym typeface="宋体" panose="02010600030101010101" pitchFamily="2" charset="-122"/>
              </a:rPr>
              <a:t>printf</a:t>
            </a:r>
            <a:r>
              <a:rPr lang="en-US" altLang="zh-CN" sz="1800" dirty="0">
                <a:latin typeface="Consolas" panose="020B0609020204030204" pitchFamily="49" charset="0"/>
                <a:sym typeface="宋体" panose="02010600030101010101" pitchFamily="2" charset="-122"/>
              </a:rPr>
              <a:t>("%5s of %-			 </a:t>
            </a:r>
            <a:r>
              <a:rPr lang="en-US" altLang="zh-CN" sz="1800" dirty="0" err="1">
                <a:latin typeface="Consolas" panose="020B0609020204030204" pitchFamily="49" charset="0"/>
                <a:sym typeface="宋体" panose="02010600030101010101" pitchFamily="2" charset="-122"/>
              </a:rPr>
              <a:t>8s%c</a:t>
            </a:r>
            <a:r>
              <a:rPr lang="en-US" altLang="zh-CN" sz="1800" dirty="0">
                <a:latin typeface="Consolas" panose="020B0609020204030204" pitchFamily="49" charset="0"/>
                <a:sym typeface="宋体" panose="02010600030101010101" pitchFamily="2" charset="-122"/>
              </a:rPr>
              <a:t>",</a:t>
            </a:r>
            <a:r>
              <a:rPr lang="en-US" altLang="zh-CN" sz="1800" dirty="0" err="1">
                <a:solidFill>
                  <a:srgbClr val="FF0000"/>
                </a:solidFill>
                <a:latin typeface="Consolas" panose="020B0609020204030204" pitchFamily="49" charset="0"/>
                <a:sym typeface="宋体" panose="02010600030101010101" pitchFamily="2" charset="-122"/>
              </a:rPr>
              <a:t>wface</a:t>
            </a:r>
            <a:r>
              <a:rPr lang="en-US" altLang="zh-CN" sz="1800" dirty="0">
                <a:solidFill>
                  <a:srgbClr val="FF0000"/>
                </a:solidFill>
                <a:latin typeface="Consolas" panose="020B0609020204030204" pitchFamily="49" charset="0"/>
                <a:sym typeface="宋体" panose="02010600030101010101" pitchFamily="2" charset="-122"/>
              </a:rPr>
              <a:t>[column],</a:t>
            </a:r>
            <a:r>
              <a:rPr lang="en-US" altLang="zh-CN" sz="1800" dirty="0" err="1">
                <a:solidFill>
                  <a:srgbClr val="FF0000"/>
                </a:solidFill>
                <a:latin typeface="Consolas" panose="020B0609020204030204" pitchFamily="49" charset="0"/>
                <a:sym typeface="宋体" panose="02010600030101010101" pitchFamily="2" charset="-122"/>
              </a:rPr>
              <a:t>wsuit</a:t>
            </a:r>
            <a:r>
              <a:rPr lang="en-US" altLang="zh-CN" sz="1800" dirty="0">
                <a:solidFill>
                  <a:srgbClr val="FF0000"/>
                </a:solidFill>
                <a:latin typeface="Consolas" panose="020B0609020204030204" pitchFamily="49" charset="0"/>
                <a:sym typeface="宋体" panose="02010600030101010101" pitchFamily="2" charset="-122"/>
              </a:rPr>
              <a:t>[row],</a:t>
            </a:r>
            <a:r>
              <a:rPr lang="en-US" altLang="zh-CN" sz="1800" dirty="0">
                <a:latin typeface="Consolas" panose="020B0609020204030204" pitchFamily="49" charset="0"/>
                <a:sym typeface="宋体" panose="02010600030101010101" pitchFamily="2" charset="-122"/>
              </a:rPr>
              <a:t> </a:t>
            </a:r>
            <a:r>
              <a:rPr lang="en-US" altLang="zh-CN" sz="1800" dirty="0" err="1">
                <a:latin typeface="Consolas" panose="020B0609020204030204" pitchFamily="49" charset="0"/>
                <a:sym typeface="宋体" panose="02010600030101010101" pitchFamily="2" charset="-122"/>
              </a:rPr>
              <a:t>card%2</a:t>
            </a:r>
            <a:r>
              <a:rPr lang="en-US" altLang="zh-CN" sz="1800" dirty="0">
                <a:latin typeface="Consolas" panose="020B0609020204030204" pitchFamily="49" charset="0"/>
                <a:sym typeface="宋体" panose="02010600030101010101" pitchFamily="2" charset="-122"/>
              </a:rPr>
              <a:t>==0? '\n':'\t');</a:t>
            </a:r>
            <a:endParaRPr lang="zh-CN" altLang="en-US" sz="1800" dirty="0">
              <a:solidFill>
                <a:srgbClr val="003399"/>
              </a:solidFill>
              <a:latin typeface="Consolas" panose="020B0609020204030204" pitchFamily="49" charset="0"/>
            </a:endParaRPr>
          </a:p>
          <a:p>
            <a:pPr marL="0" indent="0">
              <a:lnSpc>
                <a:spcPct val="80000"/>
              </a:lnSpc>
              <a:spcBef>
                <a:spcPct val="20000"/>
              </a:spcBef>
              <a:buNone/>
            </a:pPr>
            <a:r>
              <a:rPr lang="en-US" altLang="zh-CN" sz="1800" dirty="0">
                <a:latin typeface="Consolas" panose="020B0609020204030204" pitchFamily="49" charset="0"/>
              </a:rPr>
              <a:t>              }</a:t>
            </a:r>
          </a:p>
          <a:p>
            <a:pPr marL="0" indent="0">
              <a:lnSpc>
                <a:spcPct val="80000"/>
              </a:lnSpc>
              <a:spcBef>
                <a:spcPct val="20000"/>
              </a:spcBef>
              <a:buNone/>
            </a:pPr>
            <a:r>
              <a:rPr lang="en-US" altLang="zh-CN" sz="1800" dirty="0">
                <a:latin typeface="Consolas" panose="020B0609020204030204" pitchFamily="49" charset="0"/>
              </a:rPr>
              <a:t>      }</a:t>
            </a:r>
          </a:p>
          <a:p>
            <a:pPr marL="0" indent="0">
              <a:lnSpc>
                <a:spcPct val="80000"/>
              </a:lnSpc>
              <a:spcBef>
                <a:spcPct val="20000"/>
              </a:spcBef>
              <a:buNone/>
            </a:pPr>
            <a:r>
              <a:rPr lang="en-US" altLang="zh-CN" sz="1800" dirty="0">
                <a:latin typeface="Consolas" panose="020B0609020204030204" pitchFamily="49" charset="0"/>
              </a:rPr>
              <a:t>}</a:t>
            </a:r>
            <a:endParaRPr lang="zh-CN" altLang="en-US" sz="1800" dirty="0">
              <a:latin typeface="Consolas" panose="020B0609020204030204" pitchFamily="49"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5">
            <a:extLst>
              <a:ext uri="{FF2B5EF4-FFF2-40B4-BE49-F238E27FC236}">
                <a16:creationId xmlns:a16="http://schemas.microsoft.com/office/drawing/2014/main" id="{DE12F970-C51A-46D3-AA0F-922FDBAF9D89}"/>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52</a:t>
            </a:fld>
            <a:endParaRPr lang="zh-CN" altLang="en-US"/>
          </a:p>
        </p:txBody>
      </p:sp>
      <p:sp>
        <p:nvSpPr>
          <p:cNvPr id="121859" name="Rectangle 3">
            <a:extLst>
              <a:ext uri="{FF2B5EF4-FFF2-40B4-BE49-F238E27FC236}">
                <a16:creationId xmlns:a16="http://schemas.microsoft.com/office/drawing/2014/main" id="{C7CBF4D1-8210-4B51-89E4-11676FEC1709}"/>
              </a:ext>
            </a:extLst>
          </p:cNvPr>
          <p:cNvSpPr>
            <a:spLocks noGrp="1" noChangeArrowheads="1"/>
          </p:cNvSpPr>
          <p:nvPr>
            <p:ph idx="1"/>
          </p:nvPr>
        </p:nvSpPr>
        <p:spPr>
          <a:xfrm>
            <a:off x="395536" y="1371600"/>
            <a:ext cx="8443664" cy="4114800"/>
          </a:xfrm>
        </p:spPr>
        <p:txBody>
          <a:bodyPr/>
          <a:lstStyle/>
          <a:p>
            <a:pPr eaLnBrk="1" hangingPunct="1">
              <a:defRPr/>
            </a:pPr>
            <a:r>
              <a:rPr kumimoji="1" lang="zh-CN" altLang="en-US" sz="2400" dirty="0"/>
              <a:t> </a:t>
            </a:r>
            <a:r>
              <a:rPr kumimoji="1" lang="zh-CN" altLang="en-US" sz="2400" b="1" dirty="0"/>
              <a:t>什么是函数指针？</a:t>
            </a:r>
          </a:p>
          <a:p>
            <a:pPr eaLnBrk="1" hangingPunct="1">
              <a:buFontTx/>
              <a:buNone/>
              <a:defRPr/>
            </a:pPr>
            <a:r>
              <a:rPr kumimoji="1" lang="zh-CN" altLang="en-US" sz="2400" b="1" dirty="0">
                <a:solidFill>
                  <a:schemeClr val="folHlink"/>
                </a:solidFill>
              </a:rPr>
              <a:t>    </a:t>
            </a:r>
            <a:r>
              <a:rPr kumimoji="1" lang="zh-CN" altLang="en-US" sz="2400" b="1" dirty="0">
                <a:solidFill>
                  <a:schemeClr val="accent2"/>
                </a:solidFill>
                <a:effectLst>
                  <a:outerShdw blurRad="38100" dist="38100" dir="2700000" algn="tl">
                    <a:srgbClr val="C0C0C0"/>
                  </a:outerShdw>
                </a:effectLst>
              </a:rPr>
              <a:t>是指向函数的指针，值为函数代码在内存中的起始地址。</a:t>
            </a:r>
          </a:p>
          <a:p>
            <a:pPr eaLnBrk="1" hangingPunct="1">
              <a:buFontTx/>
              <a:buNone/>
              <a:defRPr/>
            </a:pPr>
            <a:r>
              <a:rPr kumimoji="1" lang="zh-CN" altLang="en-US" sz="2400" b="1" dirty="0">
                <a:solidFill>
                  <a:schemeClr val="accent2"/>
                </a:solidFill>
                <a:effectLst>
                  <a:outerShdw blurRad="38100" dist="38100" dir="2700000" algn="tl">
                    <a:srgbClr val="C0C0C0"/>
                  </a:outerShdw>
                </a:effectLst>
              </a:rPr>
              <a:t>    </a:t>
            </a:r>
            <a:r>
              <a:rPr kumimoji="1" lang="zh-CN" altLang="en-US" sz="2400" b="1" u="sng" dirty="0">
                <a:solidFill>
                  <a:schemeClr val="accent2"/>
                </a:solidFill>
              </a:rPr>
              <a:t>函数名</a:t>
            </a:r>
            <a:r>
              <a:rPr kumimoji="1" lang="zh-CN" altLang="en-US" sz="2400" b="1" dirty="0">
                <a:solidFill>
                  <a:schemeClr val="accent2"/>
                </a:solidFill>
                <a:effectLst>
                  <a:outerShdw blurRad="38100" dist="38100" dir="2700000" algn="tl">
                    <a:srgbClr val="C0C0C0"/>
                  </a:outerShdw>
                </a:effectLst>
              </a:rPr>
              <a:t>实际上是该函数代码在内存存储区域的起始地址。</a:t>
            </a:r>
          </a:p>
          <a:p>
            <a:pPr eaLnBrk="1" hangingPunct="1">
              <a:defRPr/>
            </a:pPr>
            <a:r>
              <a:rPr kumimoji="1" lang="zh-CN" altLang="en-US" sz="2400" b="1" dirty="0"/>
              <a:t> 定义形式</a:t>
            </a:r>
          </a:p>
          <a:p>
            <a:pPr lvl="1" eaLnBrk="1" hangingPunct="1">
              <a:buFontTx/>
              <a:buNone/>
              <a:defRPr/>
            </a:pPr>
            <a:r>
              <a:rPr kumimoji="1" lang="zh-CN" altLang="en-US" sz="2400" b="1" dirty="0">
                <a:solidFill>
                  <a:schemeClr val="accent2"/>
                </a:solidFill>
              </a:rPr>
              <a:t>数据类型   (*指针变量名)(参数类型);</a:t>
            </a:r>
          </a:p>
          <a:p>
            <a:pPr lvl="1"/>
            <a:r>
              <a:rPr lang="en-US" altLang="zh-CN" sz="2400" dirty="0">
                <a:ea typeface="楷体_GB2312" pitchFamily="49" charset="-122"/>
              </a:rPr>
              <a:t>int </a:t>
            </a:r>
            <a:r>
              <a:rPr lang="en-US" altLang="zh-CN" sz="2400" dirty="0" err="1">
                <a:ea typeface="楷体_GB2312" pitchFamily="49" charset="-122"/>
              </a:rPr>
              <a:t>f1</a:t>
            </a:r>
            <a:r>
              <a:rPr lang="en-US" altLang="zh-CN" sz="2400" dirty="0">
                <a:ea typeface="楷体_GB2312" pitchFamily="49" charset="-122"/>
              </a:rPr>
              <a:t>(int, int);    //</a:t>
            </a:r>
            <a:r>
              <a:rPr lang="zh-CN" altLang="en-US" sz="2400" dirty="0">
                <a:ea typeface="楷体_GB2312" pitchFamily="49" charset="-122"/>
              </a:rPr>
              <a:t>普通函数的原型声明。</a:t>
            </a:r>
          </a:p>
          <a:p>
            <a:pPr lvl="1"/>
            <a:r>
              <a:rPr lang="en-US" altLang="zh-CN" sz="2400" dirty="0">
                <a:ea typeface="楷体_GB2312" pitchFamily="49" charset="-122"/>
              </a:rPr>
              <a:t>int * </a:t>
            </a:r>
            <a:r>
              <a:rPr lang="en-US" altLang="zh-CN" sz="2400" dirty="0" err="1">
                <a:ea typeface="楷体_GB2312" pitchFamily="49" charset="-122"/>
              </a:rPr>
              <a:t>f2</a:t>
            </a:r>
            <a:r>
              <a:rPr lang="en-US" altLang="zh-CN" sz="2400" dirty="0">
                <a:ea typeface="楷体_GB2312" pitchFamily="49" charset="-122"/>
              </a:rPr>
              <a:t>(int, int); /*</a:t>
            </a:r>
            <a:r>
              <a:rPr lang="zh-CN" altLang="en-US" sz="2400" dirty="0">
                <a:ea typeface="楷体_GB2312" pitchFamily="49" charset="-122"/>
              </a:rPr>
              <a:t>返回值为指向</a:t>
            </a:r>
            <a:r>
              <a:rPr lang="en-US" altLang="zh-CN" sz="2400" dirty="0">
                <a:ea typeface="楷体_GB2312" pitchFamily="49" charset="-122"/>
              </a:rPr>
              <a:t>int</a:t>
            </a:r>
            <a:r>
              <a:rPr lang="zh-CN" altLang="en-US" sz="2400" dirty="0">
                <a:ea typeface="楷体_GB2312" pitchFamily="49" charset="-122"/>
              </a:rPr>
              <a:t>数据指针的函数原型*</a:t>
            </a:r>
            <a:r>
              <a:rPr lang="en-US" altLang="zh-CN" sz="2400" dirty="0">
                <a:ea typeface="楷体_GB2312" pitchFamily="49" charset="-122"/>
              </a:rPr>
              <a:t>/</a:t>
            </a:r>
          </a:p>
          <a:p>
            <a:pPr lvl="1"/>
            <a:r>
              <a:rPr lang="en-US" altLang="zh-CN" sz="2400" dirty="0">
                <a:solidFill>
                  <a:srgbClr val="FF0000"/>
                </a:solidFill>
                <a:ea typeface="楷体_GB2312" pitchFamily="49" charset="-122"/>
              </a:rPr>
              <a:t>int   (* </a:t>
            </a:r>
            <a:r>
              <a:rPr lang="en-US" altLang="zh-CN" sz="2400" dirty="0" err="1">
                <a:solidFill>
                  <a:srgbClr val="FF0000"/>
                </a:solidFill>
                <a:ea typeface="楷体_GB2312" pitchFamily="49" charset="-122"/>
              </a:rPr>
              <a:t>f3</a:t>
            </a:r>
            <a:r>
              <a:rPr lang="en-US" altLang="zh-CN" sz="2400" dirty="0">
                <a:solidFill>
                  <a:srgbClr val="FF0000"/>
                </a:solidFill>
                <a:ea typeface="楷体_GB2312" pitchFamily="49" charset="-122"/>
              </a:rPr>
              <a:t>)(int</a:t>
            </a:r>
            <a:r>
              <a:rPr lang="zh-CN" altLang="en-US" sz="2400" dirty="0">
                <a:solidFill>
                  <a:srgbClr val="FF0000"/>
                </a:solidFill>
                <a:ea typeface="楷体_GB2312" pitchFamily="49" charset="-122"/>
              </a:rPr>
              <a:t>，</a:t>
            </a:r>
            <a:r>
              <a:rPr lang="en-US" altLang="zh-CN" sz="2400" dirty="0">
                <a:solidFill>
                  <a:srgbClr val="FF0000"/>
                </a:solidFill>
                <a:ea typeface="楷体_GB2312" pitchFamily="49" charset="-122"/>
              </a:rPr>
              <a:t>int);  </a:t>
            </a:r>
            <a:r>
              <a:rPr lang="en-US" altLang="zh-CN" sz="2400" dirty="0">
                <a:ea typeface="楷体_GB2312" pitchFamily="49" charset="-122"/>
              </a:rPr>
              <a:t>/*</a:t>
            </a:r>
            <a:r>
              <a:rPr lang="zh-CN" altLang="en-US" sz="2400" dirty="0">
                <a:ea typeface="楷体_GB2312" pitchFamily="49" charset="-122"/>
              </a:rPr>
              <a:t>函数指针的定义，可指向返回值为整型，有两个整型参数的函数*</a:t>
            </a:r>
            <a:r>
              <a:rPr lang="en-US" altLang="zh-CN" sz="2400" dirty="0">
                <a:ea typeface="楷体_GB2312" pitchFamily="49" charset="-122"/>
              </a:rPr>
              <a:t>/</a:t>
            </a:r>
          </a:p>
          <a:p>
            <a:pPr lvl="1" eaLnBrk="1" hangingPunct="1">
              <a:defRPr/>
            </a:pPr>
            <a:endParaRPr kumimoji="1" lang="zh-CN" altLang="en-US" sz="2400" b="1" dirty="0">
              <a:solidFill>
                <a:schemeClr val="accent2"/>
              </a:solidFill>
            </a:endParaRPr>
          </a:p>
        </p:txBody>
      </p:sp>
      <p:sp>
        <p:nvSpPr>
          <p:cNvPr id="75780" name="Rectangle 2">
            <a:extLst>
              <a:ext uri="{FF2B5EF4-FFF2-40B4-BE49-F238E27FC236}">
                <a16:creationId xmlns:a16="http://schemas.microsoft.com/office/drawing/2014/main" id="{672382BA-8972-490E-93E0-A8B6A12AFC6B}"/>
              </a:ext>
            </a:extLst>
          </p:cNvPr>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r">
              <a:buNone/>
            </a:pPr>
            <a:r>
              <a:rPr lang="zh-CN" altLang="en-US" sz="3200" b="1" dirty="0">
                <a:solidFill>
                  <a:srgbClr val="FF3300"/>
                </a:solidFill>
              </a:rPr>
              <a:t>7.5     指向函数的指针</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文本框 84993">
            <a:extLst>
              <a:ext uri="{FF2B5EF4-FFF2-40B4-BE49-F238E27FC236}">
                <a16:creationId xmlns:a16="http://schemas.microsoft.com/office/drawing/2014/main" id="{FD013426-DE05-459C-8115-DB74162F16EE}"/>
              </a:ext>
            </a:extLst>
          </p:cNvPr>
          <p:cNvSpPr txBox="1">
            <a:spLocks noChangeArrowheads="1"/>
          </p:cNvSpPr>
          <p:nvPr/>
        </p:nvSpPr>
        <p:spPr bwMode="auto">
          <a:xfrm>
            <a:off x="395536" y="1268760"/>
            <a:ext cx="8064500"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buNone/>
            </a:pPr>
            <a:r>
              <a:rPr lang="en-US" altLang="zh-CN" dirty="0">
                <a:latin typeface="Consolas" panose="020B0609020204030204" pitchFamily="49" charset="0"/>
              </a:rPr>
              <a:t>#include &lt;</a:t>
            </a:r>
            <a:r>
              <a:rPr lang="en-US" altLang="zh-CN" dirty="0" err="1">
                <a:latin typeface="Consolas" panose="020B0609020204030204" pitchFamily="49" charset="0"/>
              </a:rPr>
              <a:t>stdio.h</a:t>
            </a:r>
            <a:r>
              <a:rPr lang="en-US" altLang="zh-CN" dirty="0">
                <a:latin typeface="Consolas" panose="020B0609020204030204" pitchFamily="49" charset="0"/>
              </a:rPr>
              <a:t>&gt;</a:t>
            </a:r>
          </a:p>
          <a:p>
            <a:pPr eaLnBrk="0" hangingPunct="0">
              <a:lnSpc>
                <a:spcPct val="90000"/>
              </a:lnSpc>
              <a:buNone/>
            </a:pPr>
            <a:r>
              <a:rPr lang="en-US" altLang="zh-CN" dirty="0">
                <a:latin typeface="Consolas" panose="020B0609020204030204" pitchFamily="49" charset="0"/>
              </a:rPr>
              <a:t>int max(</a:t>
            </a:r>
            <a:r>
              <a:rPr lang="en-US" altLang="zh-CN" dirty="0" err="1">
                <a:latin typeface="Consolas" panose="020B0609020204030204" pitchFamily="49" charset="0"/>
              </a:rPr>
              <a:t>int,int</a:t>
            </a:r>
            <a:r>
              <a:rPr lang="en-US" altLang="zh-CN" dirty="0">
                <a:latin typeface="Consolas" panose="020B0609020204030204" pitchFamily="49" charset="0"/>
              </a:rPr>
              <a:t>);</a:t>
            </a:r>
          </a:p>
          <a:p>
            <a:pPr eaLnBrk="0" hangingPunct="0">
              <a:lnSpc>
                <a:spcPct val="90000"/>
              </a:lnSpc>
              <a:buNone/>
            </a:pPr>
            <a:r>
              <a:rPr lang="en-US" altLang="zh-CN" dirty="0">
                <a:latin typeface="Consolas" panose="020B0609020204030204" pitchFamily="49" charset="0"/>
              </a:rPr>
              <a:t>int main(){</a:t>
            </a:r>
          </a:p>
          <a:p>
            <a:pPr eaLnBrk="0" hangingPunct="0">
              <a:lnSpc>
                <a:spcPct val="90000"/>
              </a:lnSpc>
              <a:buNone/>
            </a:pPr>
            <a:r>
              <a:rPr lang="zh-CN" altLang="en-US" dirty="0">
                <a:latin typeface="Consolas" panose="020B0609020204030204" pitchFamily="49" charset="0"/>
              </a:rPr>
              <a:t>　 </a:t>
            </a:r>
            <a:r>
              <a:rPr lang="en-US" altLang="zh-CN" dirty="0">
                <a:latin typeface="Consolas" panose="020B0609020204030204" pitchFamily="49" charset="0"/>
              </a:rPr>
              <a:t>int </a:t>
            </a:r>
            <a:r>
              <a:rPr lang="en-US" altLang="zh-CN" dirty="0" err="1">
                <a:latin typeface="Consolas" panose="020B0609020204030204" pitchFamily="49" charset="0"/>
              </a:rPr>
              <a:t>a,b,c</a:t>
            </a:r>
            <a:r>
              <a:rPr lang="en-US" altLang="zh-CN" dirty="0">
                <a:latin typeface="Consolas" panose="020B0609020204030204" pitchFamily="49" charset="0"/>
              </a:rPr>
              <a:t>;</a:t>
            </a:r>
          </a:p>
          <a:p>
            <a:pPr eaLnBrk="0" hangingPunct="0">
              <a:lnSpc>
                <a:spcPct val="90000"/>
              </a:lnSpc>
              <a:buNone/>
            </a:pPr>
            <a:r>
              <a:rPr lang="zh-CN" altLang="en-US" dirty="0">
                <a:latin typeface="Consolas" panose="020B0609020204030204" pitchFamily="49" charset="0"/>
              </a:rPr>
              <a:t>　 </a:t>
            </a:r>
            <a:r>
              <a:rPr lang="en-US" altLang="zh-CN" dirty="0" err="1">
                <a:latin typeface="Consolas" panose="020B0609020204030204" pitchFamily="49" charset="0"/>
              </a:rPr>
              <a:t>scanf</a:t>
            </a:r>
            <a:r>
              <a:rPr lang="en-US" altLang="zh-CN" dirty="0">
                <a:latin typeface="Consolas" panose="020B0609020204030204" pitchFamily="49" charset="0"/>
              </a:rPr>
              <a:t>(″%</a:t>
            </a:r>
            <a:r>
              <a:rPr lang="en-US" altLang="zh-CN" dirty="0" err="1">
                <a:latin typeface="Consolas" panose="020B0609020204030204" pitchFamily="49" charset="0"/>
              </a:rPr>
              <a:t>d,%d</a:t>
            </a:r>
            <a:r>
              <a:rPr lang="en-US" altLang="zh-CN" dirty="0">
                <a:latin typeface="Consolas" panose="020B0609020204030204" pitchFamily="49" charset="0"/>
              </a:rPr>
              <a:t>″,&amp;</a:t>
            </a:r>
            <a:r>
              <a:rPr lang="en-US" altLang="zh-CN" dirty="0" err="1">
                <a:latin typeface="Consolas" panose="020B0609020204030204" pitchFamily="49" charset="0"/>
              </a:rPr>
              <a:t>a,&amp;b</a:t>
            </a:r>
            <a:r>
              <a:rPr lang="en-US" altLang="zh-CN" dirty="0">
                <a:latin typeface="Consolas" panose="020B0609020204030204" pitchFamily="49" charset="0"/>
              </a:rPr>
              <a:t>);</a:t>
            </a:r>
          </a:p>
          <a:p>
            <a:pPr eaLnBrk="0" hangingPunct="0">
              <a:lnSpc>
                <a:spcPct val="90000"/>
              </a:lnSpc>
              <a:buNone/>
            </a:pPr>
            <a:r>
              <a:rPr lang="zh-CN" altLang="en-US" dirty="0">
                <a:latin typeface="Consolas" panose="020B0609020204030204" pitchFamily="49" charset="0"/>
              </a:rPr>
              <a:t>     </a:t>
            </a:r>
            <a:r>
              <a:rPr lang="en-US" altLang="zh-CN" b="1" dirty="0">
                <a:solidFill>
                  <a:srgbClr val="FF0000"/>
                </a:solidFill>
                <a:latin typeface="Consolas" panose="020B0609020204030204" pitchFamily="49" charset="0"/>
              </a:rPr>
              <a:t>c=max(</a:t>
            </a:r>
            <a:r>
              <a:rPr lang="en-US" altLang="zh-CN" b="1" dirty="0" err="1">
                <a:solidFill>
                  <a:srgbClr val="FF0000"/>
                </a:solidFill>
                <a:latin typeface="Consolas" panose="020B0609020204030204" pitchFamily="49" charset="0"/>
              </a:rPr>
              <a:t>a,b</a:t>
            </a:r>
            <a:r>
              <a:rPr lang="en-US" altLang="zh-CN" b="1" dirty="0">
                <a:solidFill>
                  <a:srgbClr val="FF0000"/>
                </a:solidFill>
                <a:latin typeface="Consolas" panose="020B0609020204030204" pitchFamily="49" charset="0"/>
              </a:rPr>
              <a:t>);//</a:t>
            </a:r>
            <a:r>
              <a:rPr lang="zh-CN" altLang="en-US" b="1" dirty="0">
                <a:solidFill>
                  <a:srgbClr val="FF0000"/>
                </a:solidFill>
                <a:latin typeface="Consolas" panose="020B0609020204030204" pitchFamily="49" charset="0"/>
              </a:rPr>
              <a:t>函数名调用可以改为函数指针调用</a:t>
            </a:r>
          </a:p>
          <a:p>
            <a:pPr eaLnBrk="0" hangingPunct="0">
              <a:lnSpc>
                <a:spcPct val="90000"/>
              </a:lnSpc>
              <a:buNone/>
            </a:pPr>
            <a:r>
              <a:rPr lang="zh-CN" altLang="en-US" dirty="0">
                <a:latin typeface="Consolas" panose="020B0609020204030204" pitchFamily="49" charset="0"/>
              </a:rPr>
              <a:t>　 </a:t>
            </a:r>
            <a:r>
              <a:rPr lang="en-US" altLang="zh-CN" dirty="0" err="1">
                <a:latin typeface="Consolas" panose="020B0609020204030204" pitchFamily="49" charset="0"/>
              </a:rPr>
              <a:t>printf</a:t>
            </a:r>
            <a:r>
              <a:rPr lang="en-US" altLang="zh-CN" dirty="0">
                <a:latin typeface="Consolas" panose="020B0609020204030204" pitchFamily="49" charset="0"/>
              </a:rPr>
              <a:t>(″a=%</a:t>
            </a:r>
            <a:r>
              <a:rPr lang="en-US" altLang="zh-CN" dirty="0" err="1">
                <a:latin typeface="Consolas" panose="020B0609020204030204" pitchFamily="49" charset="0"/>
              </a:rPr>
              <a:t>d,b</a:t>
            </a:r>
            <a:r>
              <a:rPr lang="en-US" altLang="zh-CN" dirty="0">
                <a:latin typeface="Consolas" panose="020B0609020204030204" pitchFamily="49" charset="0"/>
              </a:rPr>
              <a:t>=%</a:t>
            </a:r>
            <a:r>
              <a:rPr lang="en-US" altLang="zh-CN" dirty="0" err="1">
                <a:latin typeface="Consolas" panose="020B0609020204030204" pitchFamily="49" charset="0"/>
              </a:rPr>
              <a:t>d,max</a:t>
            </a:r>
            <a:r>
              <a:rPr lang="en-US" altLang="zh-CN" dirty="0">
                <a:latin typeface="Consolas" panose="020B0609020204030204" pitchFamily="49" charset="0"/>
              </a:rPr>
              <a:t>=%d″,</a:t>
            </a:r>
            <a:r>
              <a:rPr lang="en-US" altLang="zh-CN" dirty="0" err="1">
                <a:latin typeface="Consolas" panose="020B0609020204030204" pitchFamily="49" charset="0"/>
              </a:rPr>
              <a:t>a,b,c</a:t>
            </a:r>
            <a:r>
              <a:rPr lang="en-US" altLang="zh-CN" dirty="0">
                <a:latin typeface="Consolas" panose="020B0609020204030204" pitchFamily="49" charset="0"/>
              </a:rPr>
              <a:t>);</a:t>
            </a:r>
          </a:p>
          <a:p>
            <a:pPr eaLnBrk="0" hangingPunct="0">
              <a:lnSpc>
                <a:spcPct val="90000"/>
              </a:lnSpc>
              <a:buNone/>
            </a:pPr>
            <a:r>
              <a:rPr lang="en-US" altLang="zh-CN" dirty="0">
                <a:latin typeface="Consolas" panose="020B0609020204030204" pitchFamily="49" charset="0"/>
              </a:rPr>
              <a:t>}</a:t>
            </a:r>
          </a:p>
          <a:p>
            <a:pPr eaLnBrk="0" hangingPunct="0">
              <a:lnSpc>
                <a:spcPct val="90000"/>
              </a:lnSpc>
              <a:buNone/>
            </a:pPr>
            <a:r>
              <a:rPr lang="en-US" altLang="zh-CN" dirty="0">
                <a:latin typeface="Consolas" panose="020B0609020204030204" pitchFamily="49" charset="0"/>
              </a:rPr>
              <a:t>int  max(int x, int y){</a:t>
            </a:r>
          </a:p>
          <a:p>
            <a:pPr eaLnBrk="0" hangingPunct="0">
              <a:lnSpc>
                <a:spcPct val="90000"/>
              </a:lnSpc>
              <a:buNone/>
            </a:pPr>
            <a:r>
              <a:rPr lang="zh-CN" altLang="en-US" dirty="0">
                <a:latin typeface="Consolas" panose="020B0609020204030204" pitchFamily="49" charset="0"/>
              </a:rPr>
              <a:t>  </a:t>
            </a:r>
            <a:r>
              <a:rPr lang="en-US" altLang="zh-CN" dirty="0">
                <a:latin typeface="Consolas" panose="020B0609020204030204" pitchFamily="49" charset="0"/>
              </a:rPr>
              <a:t>int z;</a:t>
            </a:r>
          </a:p>
          <a:p>
            <a:pPr eaLnBrk="0" hangingPunct="0">
              <a:lnSpc>
                <a:spcPct val="90000"/>
              </a:lnSpc>
              <a:buNone/>
            </a:pPr>
            <a:r>
              <a:rPr lang="zh-CN" altLang="en-US" dirty="0">
                <a:latin typeface="Consolas" panose="020B0609020204030204" pitchFamily="49" charset="0"/>
              </a:rPr>
              <a:t>    </a:t>
            </a:r>
            <a:r>
              <a:rPr lang="en-US" altLang="zh-CN" dirty="0">
                <a:latin typeface="Consolas" panose="020B0609020204030204" pitchFamily="49" charset="0"/>
              </a:rPr>
              <a:t>if(x&lt;y) z=x;</a:t>
            </a:r>
          </a:p>
          <a:p>
            <a:pPr eaLnBrk="0" hangingPunct="0">
              <a:lnSpc>
                <a:spcPct val="90000"/>
              </a:lnSpc>
              <a:buNone/>
            </a:pPr>
            <a:r>
              <a:rPr lang="zh-CN" altLang="en-US" dirty="0">
                <a:latin typeface="Consolas" panose="020B0609020204030204" pitchFamily="49" charset="0"/>
              </a:rPr>
              <a:t>　</a:t>
            </a:r>
            <a:r>
              <a:rPr lang="en-US" altLang="zh-CN" dirty="0">
                <a:latin typeface="Consolas" panose="020B0609020204030204" pitchFamily="49" charset="0"/>
              </a:rPr>
              <a:t>else z=y;</a:t>
            </a:r>
          </a:p>
          <a:p>
            <a:pPr eaLnBrk="0" hangingPunct="0">
              <a:lnSpc>
                <a:spcPct val="90000"/>
              </a:lnSpc>
              <a:buNone/>
            </a:pPr>
            <a:r>
              <a:rPr lang="zh-CN" altLang="en-US" dirty="0">
                <a:latin typeface="Consolas" panose="020B0609020204030204" pitchFamily="49" charset="0"/>
              </a:rPr>
              <a:t>    </a:t>
            </a:r>
            <a:r>
              <a:rPr lang="en-US" altLang="zh-CN" dirty="0">
                <a:latin typeface="Consolas" panose="020B0609020204030204" pitchFamily="49" charset="0"/>
              </a:rPr>
              <a:t>return(z);</a:t>
            </a:r>
          </a:p>
          <a:p>
            <a:pPr eaLnBrk="0" hangingPunct="0">
              <a:lnSpc>
                <a:spcPct val="90000"/>
              </a:lnSpc>
              <a:buNone/>
            </a:pPr>
            <a:r>
              <a:rPr lang="en-US" altLang="zh-CN" dirty="0">
                <a:latin typeface="Consolas" panose="020B0609020204030204" pitchFamily="49" charset="0"/>
              </a:rPr>
              <a:t>}</a:t>
            </a:r>
          </a:p>
        </p:txBody>
      </p:sp>
      <p:sp>
        <p:nvSpPr>
          <p:cNvPr id="2" name="Rectangle 2">
            <a:extLst>
              <a:ext uri="{FF2B5EF4-FFF2-40B4-BE49-F238E27FC236}">
                <a16:creationId xmlns:a16="http://schemas.microsoft.com/office/drawing/2014/main" id="{9B4AD3AA-0564-A3E1-589D-386C0B803057}"/>
              </a:ext>
            </a:extLst>
          </p:cNvPr>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r">
              <a:buNone/>
            </a:pPr>
            <a:r>
              <a:rPr lang="zh-CN" altLang="en-US" sz="3200" b="1" dirty="0">
                <a:solidFill>
                  <a:srgbClr val="FF3300"/>
                </a:solidFill>
              </a:rPr>
              <a:t>普通函数调用示例</a:t>
            </a:r>
          </a:p>
        </p:txBody>
      </p:sp>
    </p:spTree>
  </p:cSld>
  <p:clrMapOvr>
    <a:masterClrMapping/>
  </p:clrMapOvr>
  <p:transition>
    <p:strips dir="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文本框 86017">
            <a:extLst>
              <a:ext uri="{FF2B5EF4-FFF2-40B4-BE49-F238E27FC236}">
                <a16:creationId xmlns:a16="http://schemas.microsoft.com/office/drawing/2014/main" id="{91C64EA3-1294-4A0E-BF4B-3E08BA3C39A4}"/>
              </a:ext>
            </a:extLst>
          </p:cNvPr>
          <p:cNvSpPr txBox="1">
            <a:spLocks noChangeArrowheads="1"/>
          </p:cNvSpPr>
          <p:nvPr/>
        </p:nvSpPr>
        <p:spPr bwMode="auto">
          <a:xfrm>
            <a:off x="455613" y="1363663"/>
            <a:ext cx="7993062" cy="448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buNone/>
            </a:pPr>
            <a:r>
              <a:rPr lang="en-US" altLang="zh-CN" sz="2400" dirty="0">
                <a:latin typeface="Consolas" panose="020B0609020204030204" pitchFamily="49" charset="0"/>
              </a:rPr>
              <a:t>//</a:t>
            </a:r>
            <a:r>
              <a:rPr lang="zh-CN" altLang="en-US" sz="2400" dirty="0">
                <a:latin typeface="Consolas" panose="020B0609020204030204" pitchFamily="49" charset="0"/>
              </a:rPr>
              <a:t>将上例的</a:t>
            </a:r>
            <a:r>
              <a:rPr lang="en-US" altLang="zh-CN" sz="2400" b="1" dirty="0">
                <a:latin typeface="Consolas" panose="020B0609020204030204" pitchFamily="49" charset="0"/>
              </a:rPr>
              <a:t>main</a:t>
            </a:r>
            <a:r>
              <a:rPr lang="zh-CN" altLang="en-US" sz="2400" dirty="0">
                <a:latin typeface="Consolas" panose="020B0609020204030204" pitchFamily="49" charset="0"/>
              </a:rPr>
              <a:t>函数改写为</a:t>
            </a:r>
          </a:p>
          <a:p>
            <a:pPr eaLnBrk="0" hangingPunct="0">
              <a:buNone/>
            </a:pPr>
            <a:r>
              <a:rPr lang="en-US" altLang="zh-CN" sz="2400" dirty="0">
                <a:latin typeface="Consolas" panose="020B0609020204030204" pitchFamily="49" charset="0"/>
              </a:rPr>
              <a:t>#include &lt;</a:t>
            </a:r>
            <a:r>
              <a:rPr lang="en-US" altLang="zh-CN" sz="2400" dirty="0" err="1">
                <a:latin typeface="Consolas" panose="020B0609020204030204" pitchFamily="49" charset="0"/>
              </a:rPr>
              <a:t>stdio.h</a:t>
            </a:r>
            <a:r>
              <a:rPr lang="en-US" altLang="zh-CN" sz="2400" dirty="0">
                <a:latin typeface="Consolas" panose="020B0609020204030204" pitchFamily="49" charset="0"/>
              </a:rPr>
              <a:t>&gt;</a:t>
            </a:r>
          </a:p>
          <a:p>
            <a:pPr eaLnBrk="0" hangingPunct="0">
              <a:buNone/>
            </a:pPr>
            <a:r>
              <a:rPr lang="en-US" altLang="zh-CN" sz="2400" dirty="0">
                <a:latin typeface="Consolas" panose="020B0609020204030204" pitchFamily="49" charset="0"/>
              </a:rPr>
              <a:t>int max(</a:t>
            </a:r>
            <a:r>
              <a:rPr lang="en-US" altLang="zh-CN" sz="2400" dirty="0" err="1">
                <a:latin typeface="Consolas" panose="020B0609020204030204" pitchFamily="49" charset="0"/>
              </a:rPr>
              <a:t>int,int</a:t>
            </a:r>
            <a:r>
              <a:rPr lang="en-US" altLang="zh-CN" sz="2400" dirty="0">
                <a:latin typeface="Consolas" panose="020B0609020204030204" pitchFamily="49" charset="0"/>
              </a:rPr>
              <a:t>);</a:t>
            </a:r>
          </a:p>
          <a:p>
            <a:pPr eaLnBrk="0" hangingPunct="0">
              <a:lnSpc>
                <a:spcPct val="90000"/>
              </a:lnSpc>
              <a:buNone/>
            </a:pPr>
            <a:r>
              <a:rPr lang="en-US" altLang="zh-CN" sz="2400" dirty="0">
                <a:latin typeface="Consolas" panose="020B0609020204030204" pitchFamily="49" charset="0"/>
              </a:rPr>
              <a:t>int main(){</a:t>
            </a:r>
            <a:r>
              <a:rPr lang="zh-CN" altLang="en-US" sz="2400" dirty="0">
                <a:latin typeface="Consolas" panose="020B0609020204030204" pitchFamily="49" charset="0"/>
              </a:rPr>
              <a:t>   </a:t>
            </a:r>
            <a:endParaRPr lang="en-US" altLang="zh-CN" sz="2400" dirty="0">
              <a:latin typeface="Consolas" panose="020B0609020204030204" pitchFamily="49" charset="0"/>
            </a:endParaRPr>
          </a:p>
          <a:p>
            <a:pPr eaLnBrk="0" hangingPunct="0">
              <a:lnSpc>
                <a:spcPct val="90000"/>
              </a:lnSpc>
              <a:buNone/>
            </a:pPr>
            <a:r>
              <a:rPr lang="en-US" altLang="zh-CN" sz="2400" dirty="0">
                <a:latin typeface="Consolas" panose="020B0609020204030204" pitchFamily="49" charset="0"/>
              </a:rPr>
              <a:t>     </a:t>
            </a:r>
            <a:r>
              <a:rPr lang="en-US" altLang="zh-CN" sz="2400" b="1" dirty="0">
                <a:solidFill>
                  <a:srgbClr val="FF0000"/>
                </a:solidFill>
                <a:latin typeface="Consolas" panose="020B0609020204030204" pitchFamily="49" charset="0"/>
              </a:rPr>
              <a:t>int (*p)(</a:t>
            </a:r>
            <a:r>
              <a:rPr lang="en-US" altLang="zh-CN" sz="2400" b="1" dirty="0" err="1">
                <a:solidFill>
                  <a:srgbClr val="FF0000"/>
                </a:solidFill>
                <a:latin typeface="Consolas" panose="020B0609020204030204" pitchFamily="49" charset="0"/>
              </a:rPr>
              <a:t>int,int</a:t>
            </a:r>
            <a:r>
              <a:rPr lang="en-US" altLang="zh-CN" sz="2400" b="1" dirty="0">
                <a:solidFill>
                  <a:srgbClr val="FF0000"/>
                </a:solidFill>
                <a:latin typeface="Consolas" panose="020B0609020204030204" pitchFamily="49" charset="0"/>
              </a:rPr>
              <a:t>);</a:t>
            </a:r>
          </a:p>
          <a:p>
            <a:pPr eaLnBrk="0" hangingPunct="0">
              <a:lnSpc>
                <a:spcPct val="90000"/>
              </a:lnSpc>
              <a:buNone/>
            </a:pPr>
            <a:r>
              <a:rPr lang="zh-CN" altLang="en-US" sz="2400" dirty="0">
                <a:latin typeface="Consolas" panose="020B0609020204030204" pitchFamily="49" charset="0"/>
              </a:rPr>
              <a:t>　 </a:t>
            </a:r>
            <a:r>
              <a:rPr lang="en-US" altLang="zh-CN" sz="2400" dirty="0">
                <a:latin typeface="Consolas" panose="020B0609020204030204" pitchFamily="49" charset="0"/>
              </a:rPr>
              <a:t>int </a:t>
            </a:r>
            <a:r>
              <a:rPr lang="en-US" altLang="zh-CN" sz="2400" dirty="0" err="1">
                <a:latin typeface="Consolas" panose="020B0609020204030204" pitchFamily="49" charset="0"/>
              </a:rPr>
              <a:t>a,b,c</a:t>
            </a:r>
            <a:r>
              <a:rPr lang="en-US" altLang="zh-CN" sz="2400" dirty="0">
                <a:latin typeface="Consolas" panose="020B0609020204030204" pitchFamily="49" charset="0"/>
              </a:rPr>
              <a:t>;</a:t>
            </a:r>
          </a:p>
          <a:p>
            <a:pPr eaLnBrk="0" hangingPunct="0">
              <a:lnSpc>
                <a:spcPct val="90000"/>
              </a:lnSpc>
              <a:buNone/>
            </a:pPr>
            <a:r>
              <a:rPr lang="zh-CN" altLang="en-US" sz="2400" dirty="0">
                <a:latin typeface="Consolas" panose="020B0609020204030204" pitchFamily="49" charset="0"/>
              </a:rPr>
              <a:t>　 </a:t>
            </a:r>
            <a:r>
              <a:rPr lang="en-US" altLang="zh-CN" sz="2400" dirty="0" err="1">
                <a:latin typeface="Consolas" panose="020B0609020204030204" pitchFamily="49" charset="0"/>
              </a:rPr>
              <a:t>scanf</a:t>
            </a:r>
            <a:r>
              <a:rPr lang="en-US" altLang="zh-CN" sz="2400" dirty="0">
                <a:latin typeface="Consolas" panose="020B0609020204030204" pitchFamily="49" charset="0"/>
              </a:rPr>
              <a:t>(″%</a:t>
            </a:r>
            <a:r>
              <a:rPr lang="en-US" altLang="zh-CN" sz="2400" dirty="0" err="1">
                <a:latin typeface="Consolas" panose="020B0609020204030204" pitchFamily="49" charset="0"/>
              </a:rPr>
              <a:t>d,%d</a:t>
            </a:r>
            <a:r>
              <a:rPr lang="en-US" altLang="zh-CN" sz="2400" dirty="0">
                <a:latin typeface="Consolas" panose="020B0609020204030204" pitchFamily="49" charset="0"/>
              </a:rPr>
              <a:t>″,&amp;</a:t>
            </a:r>
            <a:r>
              <a:rPr lang="en-US" altLang="zh-CN" sz="2400" dirty="0" err="1">
                <a:latin typeface="Consolas" panose="020B0609020204030204" pitchFamily="49" charset="0"/>
              </a:rPr>
              <a:t>a,&amp;b</a:t>
            </a:r>
            <a:r>
              <a:rPr lang="en-US" altLang="zh-CN" sz="2400" dirty="0">
                <a:latin typeface="Consolas" panose="020B0609020204030204" pitchFamily="49" charset="0"/>
              </a:rPr>
              <a:t>);</a:t>
            </a:r>
          </a:p>
          <a:p>
            <a:pPr eaLnBrk="0" hangingPunct="0">
              <a:lnSpc>
                <a:spcPct val="90000"/>
              </a:lnSpc>
              <a:buNone/>
            </a:pPr>
            <a:r>
              <a:rPr lang="en-US" altLang="zh-CN" sz="2400" dirty="0">
                <a:latin typeface="Consolas" panose="020B0609020204030204" pitchFamily="49" charset="0"/>
              </a:rPr>
              <a:t>     </a:t>
            </a:r>
            <a:r>
              <a:rPr lang="en-US" altLang="zh-CN" sz="2400" b="1" dirty="0">
                <a:solidFill>
                  <a:srgbClr val="FF0000"/>
                </a:solidFill>
                <a:latin typeface="Consolas" panose="020B0609020204030204" pitchFamily="49" charset="0"/>
              </a:rPr>
              <a:t>p=max;</a:t>
            </a:r>
          </a:p>
          <a:p>
            <a:pPr eaLnBrk="0" hangingPunct="0">
              <a:lnSpc>
                <a:spcPct val="90000"/>
              </a:lnSpc>
              <a:buNone/>
            </a:pPr>
            <a:r>
              <a:rPr lang="zh-CN" altLang="en-US" sz="2400" dirty="0">
                <a:latin typeface="Consolas" panose="020B0609020204030204" pitchFamily="49" charset="0"/>
              </a:rPr>
              <a:t>     </a:t>
            </a:r>
            <a:r>
              <a:rPr lang="en-US" altLang="zh-CN" sz="2400" b="1" dirty="0">
                <a:solidFill>
                  <a:srgbClr val="FF0000"/>
                </a:solidFill>
                <a:latin typeface="Consolas" panose="020B0609020204030204" pitchFamily="49" charset="0"/>
              </a:rPr>
              <a:t>c=(*p)(</a:t>
            </a:r>
            <a:r>
              <a:rPr lang="en-US" altLang="zh-CN" sz="2400" b="1" dirty="0" err="1">
                <a:solidFill>
                  <a:srgbClr val="FF0000"/>
                </a:solidFill>
                <a:latin typeface="Consolas" panose="020B0609020204030204" pitchFamily="49" charset="0"/>
              </a:rPr>
              <a:t>a,b</a:t>
            </a:r>
            <a:r>
              <a:rPr lang="en-US" altLang="zh-CN" sz="2400" b="1" dirty="0">
                <a:solidFill>
                  <a:srgbClr val="FF0000"/>
                </a:solidFill>
                <a:latin typeface="Consolas" panose="020B0609020204030204" pitchFamily="49" charset="0"/>
              </a:rPr>
              <a:t>);//</a:t>
            </a:r>
            <a:r>
              <a:rPr lang="zh-CN" altLang="en-US" sz="2400" b="1" dirty="0">
                <a:solidFill>
                  <a:srgbClr val="FF0000"/>
                </a:solidFill>
                <a:latin typeface="Consolas" panose="020B0609020204030204" pitchFamily="49" charset="0"/>
              </a:rPr>
              <a:t>函数名调用改为函数指针调用</a:t>
            </a:r>
          </a:p>
          <a:p>
            <a:pPr eaLnBrk="0" hangingPunct="0">
              <a:lnSpc>
                <a:spcPct val="90000"/>
              </a:lnSpc>
              <a:buNone/>
            </a:pPr>
            <a:r>
              <a:rPr lang="zh-CN" altLang="en-US"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a:t>
            </a:r>
            <a:r>
              <a:rPr lang="en-US" altLang="zh-CN" sz="2400" dirty="0" err="1">
                <a:latin typeface="Consolas" panose="020B0609020204030204" pitchFamily="49" charset="0"/>
              </a:rPr>
              <a:t>d,b</a:t>
            </a:r>
            <a:r>
              <a:rPr lang="en-US" altLang="zh-CN" sz="2400" dirty="0">
                <a:latin typeface="Consolas" panose="020B0609020204030204" pitchFamily="49" charset="0"/>
              </a:rPr>
              <a:t>=%</a:t>
            </a:r>
            <a:r>
              <a:rPr lang="en-US" altLang="zh-CN" sz="2400" dirty="0" err="1">
                <a:latin typeface="Consolas" panose="020B0609020204030204" pitchFamily="49" charset="0"/>
              </a:rPr>
              <a:t>d,max</a:t>
            </a:r>
            <a:r>
              <a:rPr lang="en-US" altLang="zh-CN" sz="2400" dirty="0">
                <a:latin typeface="Consolas" panose="020B0609020204030204" pitchFamily="49" charset="0"/>
              </a:rPr>
              <a:t>=%d″,</a:t>
            </a:r>
            <a:r>
              <a:rPr lang="en-US" altLang="zh-CN" sz="2400" dirty="0" err="1">
                <a:latin typeface="Consolas" panose="020B0609020204030204" pitchFamily="49" charset="0"/>
              </a:rPr>
              <a:t>a,b,c</a:t>
            </a:r>
            <a:r>
              <a:rPr lang="en-US" altLang="zh-CN" sz="2400" dirty="0">
                <a:latin typeface="Consolas" panose="020B0609020204030204" pitchFamily="49" charset="0"/>
              </a:rPr>
              <a:t>);</a:t>
            </a:r>
          </a:p>
          <a:p>
            <a:pPr eaLnBrk="0" hangingPunct="0">
              <a:lnSpc>
                <a:spcPct val="9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2" name="Rectangle 2">
            <a:extLst>
              <a:ext uri="{FF2B5EF4-FFF2-40B4-BE49-F238E27FC236}">
                <a16:creationId xmlns:a16="http://schemas.microsoft.com/office/drawing/2014/main" id="{9FCCCDB8-FDBA-EC96-2172-D40B46605B01}"/>
              </a:ext>
            </a:extLst>
          </p:cNvPr>
          <p:cNvSpPr>
            <a:spLocks noChangeArrowheads="1"/>
          </p:cNvSpPr>
          <p:nvPr/>
        </p:nvSpPr>
        <p:spPr bwMode="auto">
          <a:xfrm>
            <a:off x="2483768" y="404813"/>
            <a:ext cx="655228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r">
              <a:buNone/>
            </a:pPr>
            <a:r>
              <a:rPr lang="zh-CN" altLang="en-US" sz="3200" b="1" dirty="0">
                <a:solidFill>
                  <a:srgbClr val="FF3300"/>
                </a:solidFill>
              </a:rPr>
              <a:t>函数指针使用示例</a:t>
            </a:r>
          </a:p>
        </p:txBody>
      </p:sp>
    </p:spTree>
  </p:cSld>
  <p:clrMapOvr>
    <a:masterClrMapping/>
  </p:clrMapOvr>
  <p:transition>
    <p:strips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5">
            <a:extLst>
              <a:ext uri="{FF2B5EF4-FFF2-40B4-BE49-F238E27FC236}">
                <a16:creationId xmlns:a16="http://schemas.microsoft.com/office/drawing/2014/main" id="{5244BD84-6718-4C1F-B8D5-E5292368F3A9}"/>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55</a:t>
            </a:fld>
            <a:endParaRPr lang="zh-CN" altLang="en-US"/>
          </a:p>
        </p:txBody>
      </p:sp>
      <p:sp>
        <p:nvSpPr>
          <p:cNvPr id="78850" name="Rectangle 3">
            <a:extLst>
              <a:ext uri="{FF2B5EF4-FFF2-40B4-BE49-F238E27FC236}">
                <a16:creationId xmlns:a16="http://schemas.microsoft.com/office/drawing/2014/main" id="{62ECF7CC-CD44-4A84-A1F1-F31C580CA2AA}"/>
              </a:ext>
            </a:extLst>
          </p:cNvPr>
          <p:cNvSpPr>
            <a:spLocks noGrp="1" noChangeArrowheads="1"/>
          </p:cNvSpPr>
          <p:nvPr>
            <p:ph idx="1"/>
          </p:nvPr>
        </p:nvSpPr>
        <p:spPr>
          <a:xfrm>
            <a:off x="395288" y="1319213"/>
            <a:ext cx="8748712" cy="4611687"/>
          </a:xfrm>
        </p:spPr>
        <p:txBody>
          <a:bodyPr/>
          <a:lstStyle/>
          <a:p>
            <a:pPr eaLnBrk="1" hangingPunct="1">
              <a:lnSpc>
                <a:spcPct val="90000"/>
              </a:lnSpc>
              <a:buFontTx/>
              <a:buNone/>
            </a:pPr>
            <a:r>
              <a:rPr lang="zh-CN" altLang="en-US" sz="2000" dirty="0">
                <a:latin typeface="Consolas" panose="020B0609020204030204" pitchFamily="49" charset="0"/>
              </a:rPr>
              <a:t>先来看一下两个函数的定义：</a:t>
            </a:r>
          </a:p>
          <a:p>
            <a:pPr eaLnBrk="1" hangingPunct="1">
              <a:lnSpc>
                <a:spcPct val="90000"/>
              </a:lnSpc>
              <a:buFontTx/>
              <a:buNone/>
            </a:pPr>
            <a:r>
              <a:rPr lang="en-US" altLang="zh-CN" sz="2000" dirty="0">
                <a:latin typeface="Consolas" panose="020B0609020204030204" pitchFamily="49" charset="0"/>
              </a:rPr>
              <a:t>/*</a:t>
            </a:r>
            <a:r>
              <a:rPr lang="zh-CN" altLang="en-US" sz="2000" dirty="0">
                <a:latin typeface="Consolas" panose="020B0609020204030204" pitchFamily="49" charset="0"/>
              </a:rPr>
              <a:t>若</a:t>
            </a:r>
            <a:r>
              <a:rPr lang="en-US" altLang="zh-CN" sz="2000" dirty="0">
                <a:latin typeface="Consolas" panose="020B0609020204030204" pitchFamily="49" charset="0"/>
              </a:rPr>
              <a:t>b&lt;a, </a:t>
            </a:r>
            <a:r>
              <a:rPr lang="zh-CN" altLang="en-US" sz="2000" dirty="0">
                <a:latin typeface="Consolas" panose="020B0609020204030204" pitchFamily="49" charset="0"/>
              </a:rPr>
              <a:t>即</a:t>
            </a:r>
            <a:r>
              <a:rPr lang="en-US" altLang="zh-CN" sz="2000" dirty="0" err="1">
                <a:latin typeface="Consolas" panose="020B0609020204030204" pitchFamily="49" charset="0"/>
              </a:rPr>
              <a:t>a、b</a:t>
            </a:r>
            <a:r>
              <a:rPr lang="zh-CN" altLang="en-US" sz="2000" dirty="0">
                <a:latin typeface="Consolas" panose="020B0609020204030204" pitchFamily="49" charset="0"/>
              </a:rPr>
              <a:t>不是以升序排列的</a:t>
            </a:r>
            <a:r>
              <a:rPr lang="en-US" altLang="zh-CN" sz="2000" dirty="0">
                <a:latin typeface="Consolas" panose="020B0609020204030204" pitchFamily="49" charset="0"/>
              </a:rPr>
              <a:t>,</a:t>
            </a:r>
            <a:r>
              <a:rPr lang="zh-CN" altLang="en-US" sz="2000" dirty="0">
                <a:latin typeface="Consolas" panose="020B0609020204030204" pitchFamily="49" charset="0"/>
              </a:rPr>
              <a:t>则返回值1，否则返回值0</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int ascending(const int a, const int b)</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return b&lt;a;</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endParaRPr lang="en-US" altLang="zh-CN" sz="2000" dirty="0">
              <a:latin typeface="Consolas" panose="020B0609020204030204" pitchFamily="49" charset="0"/>
            </a:endParaRPr>
          </a:p>
          <a:p>
            <a:pPr eaLnBrk="1" hangingPunct="1">
              <a:lnSpc>
                <a:spcPct val="90000"/>
              </a:lnSpc>
              <a:buFontTx/>
              <a:buNone/>
            </a:pPr>
            <a:r>
              <a:rPr lang="en-US" altLang="zh-CN" sz="2000" dirty="0">
                <a:latin typeface="Consolas" panose="020B0609020204030204" pitchFamily="49" charset="0"/>
              </a:rPr>
              <a:t>/*</a:t>
            </a:r>
            <a:r>
              <a:rPr lang="zh-CN" altLang="en-US" sz="2000" dirty="0">
                <a:latin typeface="Consolas" panose="020B0609020204030204" pitchFamily="49" charset="0"/>
              </a:rPr>
              <a:t>若</a:t>
            </a:r>
            <a:r>
              <a:rPr lang="en-US" altLang="zh-CN" sz="2000" dirty="0">
                <a:latin typeface="Consolas" panose="020B0609020204030204" pitchFamily="49" charset="0"/>
              </a:rPr>
              <a:t>b&gt;a,</a:t>
            </a:r>
            <a:r>
              <a:rPr lang="zh-CN" altLang="en-US" sz="2000" dirty="0">
                <a:latin typeface="Consolas" panose="020B0609020204030204" pitchFamily="49" charset="0"/>
              </a:rPr>
              <a:t>即</a:t>
            </a:r>
            <a:r>
              <a:rPr lang="en-US" altLang="zh-CN" sz="2000" dirty="0" err="1">
                <a:latin typeface="Consolas" panose="020B0609020204030204" pitchFamily="49" charset="0"/>
              </a:rPr>
              <a:t>a、b</a:t>
            </a:r>
            <a:r>
              <a:rPr lang="zh-CN" altLang="en-US" sz="2000" dirty="0">
                <a:latin typeface="Consolas" panose="020B0609020204030204" pitchFamily="49" charset="0"/>
              </a:rPr>
              <a:t>不是以降序排列的,则返回值</a:t>
            </a:r>
            <a:r>
              <a:rPr lang="en-US" altLang="zh-CN" sz="2000" dirty="0">
                <a:latin typeface="Consolas" panose="020B0609020204030204" pitchFamily="49" charset="0"/>
              </a:rPr>
              <a:t>1, </a:t>
            </a:r>
            <a:r>
              <a:rPr lang="zh-CN" altLang="en-US" sz="2000" dirty="0">
                <a:latin typeface="Consolas" panose="020B0609020204030204" pitchFamily="49" charset="0"/>
              </a:rPr>
              <a:t>，否则返回值0*/</a:t>
            </a:r>
            <a:endParaRPr lang="en-US" altLang="zh-CN" sz="2000" dirty="0">
              <a:latin typeface="Consolas" panose="020B0609020204030204" pitchFamily="49" charset="0"/>
            </a:endParaRPr>
          </a:p>
          <a:p>
            <a:pPr eaLnBrk="1" hangingPunct="1">
              <a:lnSpc>
                <a:spcPct val="90000"/>
              </a:lnSpc>
              <a:buFontTx/>
              <a:buNone/>
            </a:pPr>
            <a:r>
              <a:rPr lang="en-US" altLang="zh-CN" sz="2000" dirty="0">
                <a:latin typeface="Consolas" panose="020B0609020204030204" pitchFamily="49" charset="0"/>
              </a:rPr>
              <a:t>int </a:t>
            </a:r>
            <a:r>
              <a:rPr lang="en-US" altLang="zh-CN" sz="2000" dirty="0" err="1">
                <a:latin typeface="Consolas" panose="020B0609020204030204" pitchFamily="49" charset="0"/>
              </a:rPr>
              <a:t>decending</a:t>
            </a:r>
            <a:r>
              <a:rPr lang="en-US" altLang="zh-CN" sz="2000" dirty="0">
                <a:latin typeface="Consolas" panose="020B0609020204030204" pitchFamily="49" charset="0"/>
              </a:rPr>
              <a:t>(const int a, const int b)</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return b&gt;a;</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endParaRPr lang="en-US" altLang="zh-CN" sz="2000" dirty="0">
              <a:latin typeface="Consolas" panose="020B0609020204030204" pitchFamily="49" charset="0"/>
            </a:endParaRPr>
          </a:p>
        </p:txBody>
      </p:sp>
      <p:sp>
        <p:nvSpPr>
          <p:cNvPr id="78851" name="Rectangle 4">
            <a:extLst>
              <a:ext uri="{FF2B5EF4-FFF2-40B4-BE49-F238E27FC236}">
                <a16:creationId xmlns:a16="http://schemas.microsoft.com/office/drawing/2014/main" id="{AB3D362C-BCDA-43D2-B262-EEF5CB8A3D3E}"/>
              </a:ext>
            </a:extLst>
          </p:cNvPr>
          <p:cNvSpPr>
            <a:spLocks noGrp="1" noChangeArrowheads="1"/>
          </p:cNvSpPr>
          <p:nvPr>
            <p:ph type="title"/>
          </p:nvPr>
        </p:nvSpPr>
        <p:spPr>
          <a:xfrm>
            <a:off x="3635375" y="404664"/>
            <a:ext cx="5508625" cy="700236"/>
          </a:xfrm>
        </p:spPr>
        <p:txBody>
          <a:bodyPr lIns="92075" tIns="46038" rIns="92075" bIns="46038"/>
          <a:lstStyle/>
          <a:p>
            <a:pPr algn="l" eaLnBrk="1" hangingPunct="1"/>
            <a:r>
              <a:rPr lang="en-US" altLang="zh-CN" sz="2600" b="1" dirty="0"/>
              <a:t>7.5 </a:t>
            </a:r>
            <a:r>
              <a:rPr lang="zh-CN" altLang="en-US" sz="2600" b="1" dirty="0"/>
              <a:t>使用函数指针的多用途排序程序</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5">
            <a:extLst>
              <a:ext uri="{FF2B5EF4-FFF2-40B4-BE49-F238E27FC236}">
                <a16:creationId xmlns:a16="http://schemas.microsoft.com/office/drawing/2014/main" id="{ACA6507A-AC18-4F51-B990-7ED49994F629}"/>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56</a:t>
            </a:fld>
            <a:endParaRPr lang="zh-CN" altLang="en-US"/>
          </a:p>
        </p:txBody>
      </p:sp>
      <p:sp>
        <p:nvSpPr>
          <p:cNvPr id="79874" name="Rectangle 4">
            <a:extLst>
              <a:ext uri="{FF2B5EF4-FFF2-40B4-BE49-F238E27FC236}">
                <a16:creationId xmlns:a16="http://schemas.microsoft.com/office/drawing/2014/main" id="{34B099C6-169D-4569-B819-7864E1332F94}"/>
              </a:ext>
            </a:extLst>
          </p:cNvPr>
          <p:cNvSpPr>
            <a:spLocks noGrp="1" noChangeArrowheads="1"/>
          </p:cNvSpPr>
          <p:nvPr>
            <p:ph type="title"/>
          </p:nvPr>
        </p:nvSpPr>
        <p:spPr>
          <a:xfrm>
            <a:off x="3995738" y="76200"/>
            <a:ext cx="4919662" cy="1104900"/>
          </a:xfrm>
        </p:spPr>
        <p:txBody>
          <a:bodyPr lIns="92075" tIns="46038" rIns="92075" bIns="46038"/>
          <a:lstStyle/>
          <a:p>
            <a:pPr algn="l" eaLnBrk="1" hangingPunct="1"/>
            <a:r>
              <a:rPr lang="zh-CN" altLang="en-US" sz="2600" b="1"/>
              <a:t>基于以上两个函数的</a:t>
            </a:r>
            <a:r>
              <a:rPr lang="zh-CN" altLang="en-US" sz="2600" b="1">
                <a:solidFill>
                  <a:srgbClr val="FF0000"/>
                </a:solidFill>
              </a:rPr>
              <a:t>不使用</a:t>
            </a:r>
            <a:r>
              <a:rPr lang="zh-CN" altLang="en-US" sz="2600" b="1"/>
              <a:t>函数指针的多用途排序程序如下：</a:t>
            </a:r>
          </a:p>
        </p:txBody>
      </p:sp>
      <p:sp>
        <p:nvSpPr>
          <p:cNvPr id="79875" name="Rectangle 5">
            <a:extLst>
              <a:ext uri="{FF2B5EF4-FFF2-40B4-BE49-F238E27FC236}">
                <a16:creationId xmlns:a16="http://schemas.microsoft.com/office/drawing/2014/main" id="{6FC537E6-C156-428D-9127-D08D3D38266A}"/>
              </a:ext>
            </a:extLst>
          </p:cNvPr>
          <p:cNvSpPr>
            <a:spLocks noGrp="1" noChangeArrowheads="1"/>
          </p:cNvSpPr>
          <p:nvPr>
            <p:ph idx="1"/>
          </p:nvPr>
        </p:nvSpPr>
        <p:spPr>
          <a:xfrm>
            <a:off x="467544" y="1183035"/>
            <a:ext cx="7848600" cy="5181600"/>
          </a:xfrm>
        </p:spPr>
        <p:txBody>
          <a:bodyPr lIns="92075" tIns="46038" rIns="92075" bIns="46038"/>
          <a:lstStyle/>
          <a:p>
            <a:pPr eaLnBrk="1" hangingPunct="1">
              <a:lnSpc>
                <a:spcPct val="90000"/>
              </a:lnSpc>
              <a:buFontTx/>
              <a:buNone/>
            </a:pPr>
            <a:r>
              <a:rPr lang="en-US" altLang="zh-CN" sz="1800" dirty="0">
                <a:latin typeface="Consolas" panose="020B0609020204030204" pitchFamily="49" charset="0"/>
              </a:rPr>
              <a:t>void bubble(int * work, const int n, </a:t>
            </a:r>
            <a:r>
              <a:rPr lang="en-US" altLang="zh-CN" sz="1800" dirty="0">
                <a:solidFill>
                  <a:srgbClr val="FF0000"/>
                </a:solidFill>
                <a:latin typeface="Consolas" panose="020B0609020204030204" pitchFamily="49" charset="0"/>
              </a:rPr>
              <a:t>int order</a:t>
            </a:r>
            <a:r>
              <a:rPr lang="en-US" altLang="zh-CN" sz="1800" dirty="0">
                <a:latin typeface="Consolas" panose="020B0609020204030204" pitchFamily="49" charset="0"/>
              </a:rPr>
              <a:t> )</a:t>
            </a:r>
          </a:p>
          <a:p>
            <a:pPr eaLnBrk="1" hangingPunct="1">
              <a:lnSpc>
                <a:spcPct val="90000"/>
              </a:lnSpc>
              <a:buFontTx/>
              <a:buNone/>
            </a:pPr>
            <a:r>
              <a:rPr lang="en-US" altLang="zh-CN" sz="1800" dirty="0">
                <a:latin typeface="Consolas" panose="020B0609020204030204" pitchFamily="49" charset="0"/>
              </a:rPr>
              <a:t>{</a:t>
            </a:r>
          </a:p>
          <a:p>
            <a:pPr eaLnBrk="1" hangingPunct="1">
              <a:lnSpc>
                <a:spcPct val="90000"/>
              </a:lnSpc>
              <a:buFontTx/>
              <a:buNone/>
            </a:pPr>
            <a:r>
              <a:rPr lang="en-US" altLang="zh-CN" sz="1800" dirty="0">
                <a:latin typeface="Consolas" panose="020B0609020204030204" pitchFamily="49" charset="0"/>
              </a:rPr>
              <a:t>	int </a:t>
            </a:r>
            <a:r>
              <a:rPr lang="en-US" altLang="zh-CN" sz="1800" dirty="0" err="1">
                <a:latin typeface="Consolas" panose="020B0609020204030204" pitchFamily="49" charset="0"/>
              </a:rPr>
              <a:t>pass,count</a:t>
            </a:r>
            <a:r>
              <a:rPr lang="en-US" altLang="zh-CN" sz="1800" dirty="0">
                <a:latin typeface="Consolas" panose="020B0609020204030204" pitchFamily="49" charset="0"/>
              </a:rPr>
              <a:t>;</a:t>
            </a:r>
          </a:p>
          <a:p>
            <a:pPr eaLnBrk="1" hangingPunct="1">
              <a:lnSpc>
                <a:spcPct val="90000"/>
              </a:lnSpc>
              <a:buFontTx/>
              <a:buNone/>
            </a:pPr>
            <a:r>
              <a:rPr lang="en-US" altLang="zh-CN" sz="1800" dirty="0">
                <a:latin typeface="Consolas" panose="020B0609020204030204" pitchFamily="49" charset="0"/>
              </a:rPr>
              <a:t>     void swap(int *,int *);</a:t>
            </a:r>
          </a:p>
          <a:p>
            <a:pPr eaLnBrk="1" hangingPunct="1">
              <a:lnSpc>
                <a:spcPct val="90000"/>
              </a:lnSpc>
              <a:buFontTx/>
              <a:buNone/>
            </a:pPr>
            <a:endParaRPr lang="en-US" altLang="zh-CN" sz="1800" dirty="0">
              <a:latin typeface="Consolas" panose="020B0609020204030204" pitchFamily="49" charset="0"/>
            </a:endParaRPr>
          </a:p>
          <a:p>
            <a:pPr eaLnBrk="1" hangingPunct="1">
              <a:lnSpc>
                <a:spcPct val="90000"/>
              </a:lnSpc>
              <a:buFontTx/>
              <a:buNone/>
            </a:pPr>
            <a:r>
              <a:rPr lang="en-US" altLang="zh-CN" sz="1800" dirty="0">
                <a:latin typeface="Consolas" panose="020B0609020204030204" pitchFamily="49" charset="0"/>
              </a:rPr>
              <a:t>	for(pass=</a:t>
            </a:r>
            <a:r>
              <a:rPr lang="en-US" altLang="zh-CN" sz="1800" dirty="0" err="1">
                <a:latin typeface="Consolas" panose="020B0609020204030204" pitchFamily="49" charset="0"/>
              </a:rPr>
              <a:t>1;pass</a:t>
            </a:r>
            <a:r>
              <a:rPr lang="en-US" altLang="zh-CN" sz="1800" dirty="0">
                <a:latin typeface="Consolas" panose="020B0609020204030204" pitchFamily="49" charset="0"/>
              </a:rPr>
              <a:t>&lt;=</a:t>
            </a:r>
            <a:r>
              <a:rPr lang="en-US" altLang="zh-CN" sz="1800" dirty="0" err="1">
                <a:latin typeface="Consolas" panose="020B0609020204030204" pitchFamily="49" charset="0"/>
              </a:rPr>
              <a:t>n-1;pass</a:t>
            </a:r>
            <a:r>
              <a:rPr lang="en-US" altLang="zh-CN" sz="1800" dirty="0">
                <a:latin typeface="Consolas" panose="020B0609020204030204" pitchFamily="49" charset="0"/>
              </a:rPr>
              <a:t>++)</a:t>
            </a:r>
          </a:p>
          <a:p>
            <a:pPr eaLnBrk="1" hangingPunct="1">
              <a:lnSpc>
                <a:spcPct val="90000"/>
              </a:lnSpc>
              <a:buFontTx/>
              <a:buNone/>
            </a:pPr>
            <a:r>
              <a:rPr lang="en-US" altLang="zh-CN" sz="1800" dirty="0">
                <a:latin typeface="Consolas" panose="020B0609020204030204" pitchFamily="49" charset="0"/>
              </a:rPr>
              <a:t>	    for(count=</a:t>
            </a:r>
            <a:r>
              <a:rPr lang="en-US" altLang="zh-CN" sz="1800" dirty="0" err="1">
                <a:latin typeface="Consolas" panose="020B0609020204030204" pitchFamily="49" charset="0"/>
              </a:rPr>
              <a:t>0;count</a:t>
            </a:r>
            <a:r>
              <a:rPr lang="en-US" altLang="zh-CN" sz="1800" dirty="0">
                <a:latin typeface="Consolas" panose="020B0609020204030204" pitchFamily="49" charset="0"/>
              </a:rPr>
              <a:t>&lt;=</a:t>
            </a:r>
            <a:r>
              <a:rPr lang="en-US" altLang="zh-CN" sz="1800" dirty="0" err="1">
                <a:latin typeface="Consolas" panose="020B0609020204030204" pitchFamily="49" charset="0"/>
              </a:rPr>
              <a:t>n-1-pass;count</a:t>
            </a:r>
            <a:r>
              <a:rPr lang="en-US" altLang="zh-CN" sz="1800" dirty="0">
                <a:latin typeface="Consolas" panose="020B0609020204030204" pitchFamily="49" charset="0"/>
              </a:rPr>
              <a:t>++)</a:t>
            </a:r>
          </a:p>
          <a:p>
            <a:pPr eaLnBrk="1" hangingPunct="1">
              <a:lnSpc>
                <a:spcPct val="90000"/>
              </a:lnSpc>
              <a:buFontTx/>
              <a:buNone/>
            </a:pPr>
            <a:r>
              <a:rPr lang="en-US" altLang="zh-CN" sz="1800" dirty="0">
                <a:latin typeface="Consolas" panose="020B0609020204030204" pitchFamily="49" charset="0"/>
              </a:rPr>
              <a:t>		if ( </a:t>
            </a:r>
            <a:r>
              <a:rPr lang="en-US" altLang="zh-CN" sz="1800" dirty="0">
                <a:solidFill>
                  <a:srgbClr val="FF0000"/>
                </a:solidFill>
                <a:latin typeface="Consolas" panose="020B0609020204030204" pitchFamily="49" charset="0"/>
              </a:rPr>
              <a:t>order==1</a:t>
            </a:r>
            <a:r>
              <a:rPr lang="en-US" altLang="zh-CN" sz="1800" dirty="0">
                <a:latin typeface="Consolas" panose="020B0609020204030204" pitchFamily="49" charset="0"/>
              </a:rPr>
              <a:t> )/*</a:t>
            </a:r>
            <a:r>
              <a:rPr lang="zh-CN" altLang="en-US" sz="1800" dirty="0">
                <a:latin typeface="Consolas" panose="020B0609020204030204" pitchFamily="49" charset="0"/>
              </a:rPr>
              <a:t>如果是要求升序排序*/</a:t>
            </a:r>
          </a:p>
          <a:p>
            <a:pPr eaLnBrk="1" hangingPunct="1">
              <a:lnSpc>
                <a:spcPct val="90000"/>
              </a:lnSpc>
              <a:buFontTx/>
              <a:buNone/>
            </a:pPr>
            <a:r>
              <a:rPr lang="zh-CN" altLang="en-US" sz="1800" dirty="0">
                <a:latin typeface="Consolas" panose="020B0609020204030204" pitchFamily="49" charset="0"/>
              </a:rPr>
              <a:t>        </a:t>
            </a:r>
            <a:r>
              <a:rPr lang="en-US" altLang="zh-CN" sz="1800" dirty="0">
                <a:solidFill>
                  <a:srgbClr val="FF66CC"/>
                </a:solidFill>
                <a:latin typeface="Consolas" panose="020B0609020204030204" pitchFamily="49" charset="0"/>
              </a:rPr>
              <a:t>/* </a:t>
            </a:r>
            <a:r>
              <a:rPr lang="zh-CN" altLang="en-US" sz="1800" dirty="0">
                <a:solidFill>
                  <a:srgbClr val="FF66CC"/>
                </a:solidFill>
                <a:latin typeface="Consolas" panose="020B0609020204030204" pitchFamily="49" charset="0"/>
              </a:rPr>
              <a:t>如果</a:t>
            </a:r>
            <a:r>
              <a:rPr lang="en-US" altLang="zh-CN" sz="1800" dirty="0">
                <a:solidFill>
                  <a:srgbClr val="FF66CC"/>
                </a:solidFill>
                <a:latin typeface="Consolas" panose="020B0609020204030204" pitchFamily="49" charset="0"/>
              </a:rPr>
              <a:t>work[count]</a:t>
            </a:r>
            <a:r>
              <a:rPr lang="zh-CN" altLang="en-US" sz="1800" dirty="0">
                <a:solidFill>
                  <a:srgbClr val="FF66CC"/>
                </a:solidFill>
                <a:latin typeface="Consolas" panose="020B0609020204030204" pitchFamily="49" charset="0"/>
              </a:rPr>
              <a:t>和</a:t>
            </a:r>
            <a:r>
              <a:rPr lang="en-US" altLang="zh-CN" sz="1800" dirty="0">
                <a:solidFill>
                  <a:srgbClr val="FF66CC"/>
                </a:solidFill>
                <a:latin typeface="Consolas" panose="020B0609020204030204" pitchFamily="49" charset="0"/>
              </a:rPr>
              <a:t>work[</a:t>
            </a:r>
            <a:r>
              <a:rPr lang="en-US" altLang="zh-CN" sz="1800" dirty="0" err="1">
                <a:solidFill>
                  <a:srgbClr val="FF66CC"/>
                </a:solidFill>
                <a:latin typeface="Consolas" panose="020B0609020204030204" pitchFamily="49" charset="0"/>
              </a:rPr>
              <a:t>count+1</a:t>
            </a:r>
            <a:r>
              <a:rPr lang="en-US" altLang="zh-CN" sz="1800" dirty="0">
                <a:solidFill>
                  <a:srgbClr val="FF66CC"/>
                </a:solidFill>
                <a:latin typeface="Consolas" panose="020B0609020204030204" pitchFamily="49" charset="0"/>
              </a:rPr>
              <a:t>]</a:t>
            </a:r>
            <a:r>
              <a:rPr lang="zh-CN" altLang="en-US" sz="1800" dirty="0">
                <a:solidFill>
                  <a:srgbClr val="FF66CC"/>
                </a:solidFill>
                <a:latin typeface="Consolas" panose="020B0609020204030204" pitchFamily="49" charset="0"/>
              </a:rPr>
              <a:t>不以升序排列则交换*/</a:t>
            </a:r>
          </a:p>
          <a:p>
            <a:pPr eaLnBrk="1" hangingPunct="1">
              <a:lnSpc>
                <a:spcPct val="90000"/>
              </a:lnSpc>
              <a:buFontTx/>
              <a:buNone/>
            </a:pPr>
            <a:r>
              <a:rPr lang="zh-CN" altLang="en-US" sz="1800" dirty="0">
                <a:latin typeface="Consolas" panose="020B0609020204030204" pitchFamily="49" charset="0"/>
              </a:rPr>
              <a:t>		   </a:t>
            </a:r>
            <a:r>
              <a:rPr lang="en-US" altLang="zh-CN" sz="1800" dirty="0">
                <a:latin typeface="Consolas" panose="020B0609020204030204" pitchFamily="49" charset="0"/>
              </a:rPr>
              <a:t>if (ascending(work[count],work[</a:t>
            </a:r>
            <a:r>
              <a:rPr lang="en-US" altLang="zh-CN" sz="1800" dirty="0" err="1">
                <a:latin typeface="Consolas" panose="020B0609020204030204" pitchFamily="49" charset="0"/>
              </a:rPr>
              <a:t>count+1</a:t>
            </a:r>
            <a:r>
              <a:rPr lang="en-US" altLang="zh-CN" sz="1800" dirty="0">
                <a:latin typeface="Consolas" panose="020B0609020204030204" pitchFamily="49" charset="0"/>
              </a:rPr>
              <a:t>])) 		       swap(&amp; work[count],&amp;work[</a:t>
            </a:r>
            <a:r>
              <a:rPr lang="en-US" altLang="zh-CN" sz="1800" dirty="0" err="1">
                <a:latin typeface="Consolas" panose="020B0609020204030204" pitchFamily="49" charset="0"/>
              </a:rPr>
              <a:t>count+1</a:t>
            </a:r>
            <a:r>
              <a:rPr lang="en-US" altLang="zh-CN" sz="1800" dirty="0">
                <a:latin typeface="Consolas" panose="020B0609020204030204" pitchFamily="49" charset="0"/>
              </a:rPr>
              <a:t>]);</a:t>
            </a:r>
          </a:p>
          <a:p>
            <a:pPr eaLnBrk="1" hangingPunct="1">
              <a:lnSpc>
                <a:spcPct val="90000"/>
              </a:lnSpc>
              <a:buFontTx/>
              <a:buNone/>
            </a:pPr>
            <a:r>
              <a:rPr lang="en-US" altLang="zh-CN" sz="1800" dirty="0">
                <a:latin typeface="Consolas" panose="020B0609020204030204" pitchFamily="49" charset="0"/>
              </a:rPr>
              <a:t>          else/*</a:t>
            </a:r>
            <a:r>
              <a:rPr lang="zh-CN" altLang="en-US" sz="1800" dirty="0">
                <a:latin typeface="Consolas" panose="020B0609020204030204" pitchFamily="49" charset="0"/>
              </a:rPr>
              <a:t>如果是要求降序排序*/</a:t>
            </a:r>
            <a:endParaRPr lang="en-US" altLang="zh-CN" sz="1800" dirty="0">
              <a:latin typeface="Consolas" panose="020B0609020204030204" pitchFamily="49" charset="0"/>
            </a:endParaRPr>
          </a:p>
          <a:p>
            <a:pPr eaLnBrk="1" hangingPunct="1">
              <a:lnSpc>
                <a:spcPct val="90000"/>
              </a:lnSpc>
              <a:buFontTx/>
              <a:buNone/>
            </a:pPr>
            <a:r>
              <a:rPr lang="en-US" altLang="zh-CN" sz="1800" dirty="0">
                <a:latin typeface="Consolas" panose="020B0609020204030204" pitchFamily="49" charset="0"/>
              </a:rPr>
              <a:t>		</a:t>
            </a:r>
            <a:r>
              <a:rPr lang="en-US" altLang="zh-CN" sz="1800" dirty="0">
                <a:solidFill>
                  <a:srgbClr val="FF66CC"/>
                </a:solidFill>
                <a:latin typeface="Consolas" panose="020B0609020204030204" pitchFamily="49" charset="0"/>
              </a:rPr>
              <a:t>/* </a:t>
            </a:r>
            <a:r>
              <a:rPr lang="zh-CN" altLang="en-US" sz="1800" dirty="0">
                <a:solidFill>
                  <a:srgbClr val="FF66CC"/>
                </a:solidFill>
                <a:latin typeface="Consolas" panose="020B0609020204030204" pitchFamily="49" charset="0"/>
              </a:rPr>
              <a:t>如果</a:t>
            </a:r>
            <a:r>
              <a:rPr lang="en-US" altLang="zh-CN" sz="1800" dirty="0">
                <a:solidFill>
                  <a:srgbClr val="FF66CC"/>
                </a:solidFill>
                <a:latin typeface="Consolas" panose="020B0609020204030204" pitchFamily="49" charset="0"/>
              </a:rPr>
              <a:t>work[count]</a:t>
            </a:r>
            <a:r>
              <a:rPr lang="zh-CN" altLang="en-US" sz="1800" dirty="0">
                <a:solidFill>
                  <a:srgbClr val="FF66CC"/>
                </a:solidFill>
                <a:latin typeface="Consolas" panose="020B0609020204030204" pitchFamily="49" charset="0"/>
              </a:rPr>
              <a:t>和</a:t>
            </a:r>
            <a:r>
              <a:rPr lang="en-US" altLang="zh-CN" sz="1800" dirty="0">
                <a:solidFill>
                  <a:srgbClr val="FF66CC"/>
                </a:solidFill>
                <a:latin typeface="Consolas" panose="020B0609020204030204" pitchFamily="49" charset="0"/>
              </a:rPr>
              <a:t>work[</a:t>
            </a:r>
            <a:r>
              <a:rPr lang="en-US" altLang="zh-CN" sz="1800" dirty="0" err="1">
                <a:solidFill>
                  <a:srgbClr val="FF66CC"/>
                </a:solidFill>
                <a:latin typeface="Consolas" panose="020B0609020204030204" pitchFamily="49" charset="0"/>
              </a:rPr>
              <a:t>count+1</a:t>
            </a:r>
            <a:r>
              <a:rPr lang="en-US" altLang="zh-CN" sz="1800" dirty="0">
                <a:solidFill>
                  <a:srgbClr val="FF66CC"/>
                </a:solidFill>
                <a:latin typeface="Consolas" panose="020B0609020204030204" pitchFamily="49" charset="0"/>
              </a:rPr>
              <a:t>]</a:t>
            </a:r>
            <a:r>
              <a:rPr lang="zh-CN" altLang="en-US" sz="1800" dirty="0">
                <a:solidFill>
                  <a:srgbClr val="FF66CC"/>
                </a:solidFill>
                <a:latin typeface="Consolas" panose="020B0609020204030204" pitchFamily="49" charset="0"/>
              </a:rPr>
              <a:t>不以降序排列则交换*/</a:t>
            </a:r>
          </a:p>
          <a:p>
            <a:pPr eaLnBrk="1" hangingPunct="1">
              <a:lnSpc>
                <a:spcPct val="90000"/>
              </a:lnSpc>
              <a:buFontTx/>
              <a:buNone/>
            </a:pPr>
            <a:r>
              <a:rPr lang="zh-CN" altLang="en-US" sz="1800" dirty="0">
                <a:latin typeface="Consolas" panose="020B0609020204030204" pitchFamily="49" charset="0"/>
              </a:rPr>
              <a:t>		    </a:t>
            </a:r>
            <a:r>
              <a:rPr lang="en-US" altLang="zh-CN" sz="1800" dirty="0">
                <a:latin typeface="Consolas" panose="020B0609020204030204" pitchFamily="49" charset="0"/>
              </a:rPr>
              <a:t>if (descending(work[count],work[</a:t>
            </a:r>
            <a:r>
              <a:rPr lang="en-US" altLang="zh-CN" sz="1800" dirty="0" err="1">
                <a:latin typeface="Consolas" panose="020B0609020204030204" pitchFamily="49" charset="0"/>
              </a:rPr>
              <a:t>count+1</a:t>
            </a:r>
            <a:r>
              <a:rPr lang="en-US" altLang="zh-CN" sz="1800" dirty="0">
                <a:latin typeface="Consolas" panose="020B0609020204030204" pitchFamily="49" charset="0"/>
              </a:rPr>
              <a:t>])) 		       swap(&amp; work[count],&amp;work[</a:t>
            </a:r>
            <a:r>
              <a:rPr lang="en-US" altLang="zh-CN" sz="1800" dirty="0" err="1">
                <a:latin typeface="Consolas" panose="020B0609020204030204" pitchFamily="49" charset="0"/>
              </a:rPr>
              <a:t>count+1</a:t>
            </a:r>
            <a:r>
              <a:rPr lang="en-US" altLang="zh-CN" sz="1800" dirty="0">
                <a:latin typeface="Consolas" panose="020B0609020204030204" pitchFamily="49" charset="0"/>
              </a:rPr>
              <a:t>]);</a:t>
            </a:r>
          </a:p>
          <a:p>
            <a:pPr eaLnBrk="1" hangingPunct="1">
              <a:lnSpc>
                <a:spcPct val="90000"/>
              </a:lnSpc>
              <a:buFontTx/>
              <a:buNone/>
            </a:pPr>
            <a:r>
              <a:rPr lang="en-US" altLang="zh-CN" sz="1800" dirty="0">
                <a:latin typeface="Consolas" panose="020B0609020204030204" pitchFamily="49" charset="0"/>
              </a:rPr>
              <a:t>}</a:t>
            </a:r>
            <a:endParaRPr lang="zh-CN" altLang="en-US" sz="1800" dirty="0">
              <a:latin typeface="Consolas" panose="020B0609020204030204" pitchFamily="49"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5">
            <a:extLst>
              <a:ext uri="{FF2B5EF4-FFF2-40B4-BE49-F238E27FC236}">
                <a16:creationId xmlns:a16="http://schemas.microsoft.com/office/drawing/2014/main" id="{9BC21AC5-359E-40DA-B910-EBA386E27306}"/>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57</a:t>
            </a:fld>
            <a:endParaRPr lang="zh-CN" altLang="en-US"/>
          </a:p>
        </p:txBody>
      </p:sp>
      <p:sp>
        <p:nvSpPr>
          <p:cNvPr id="80898" name="Rectangle 3">
            <a:extLst>
              <a:ext uri="{FF2B5EF4-FFF2-40B4-BE49-F238E27FC236}">
                <a16:creationId xmlns:a16="http://schemas.microsoft.com/office/drawing/2014/main" id="{3269C78F-35B5-4373-952D-AB33ADF639D8}"/>
              </a:ext>
            </a:extLst>
          </p:cNvPr>
          <p:cNvSpPr>
            <a:spLocks noGrp="1" noChangeArrowheads="1"/>
          </p:cNvSpPr>
          <p:nvPr>
            <p:ph idx="1"/>
          </p:nvPr>
        </p:nvSpPr>
        <p:spPr>
          <a:xfrm>
            <a:off x="467544" y="1200150"/>
            <a:ext cx="7772400" cy="5029200"/>
          </a:xfrm>
        </p:spPr>
        <p:txBody>
          <a:bodyPr/>
          <a:lstStyle/>
          <a:p>
            <a:pPr eaLnBrk="1" hangingPunct="1">
              <a:lnSpc>
                <a:spcPct val="90000"/>
              </a:lnSpc>
              <a:buFontTx/>
              <a:buNone/>
            </a:pPr>
            <a:r>
              <a:rPr lang="en-US" altLang="zh-CN" sz="2000" dirty="0">
                <a:latin typeface="Consolas" panose="020B0609020204030204" pitchFamily="49" charset="0"/>
              </a:rPr>
              <a:t>int main()</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t>
            </a:r>
          </a:p>
          <a:p>
            <a:pPr eaLnBrk="1" hangingPunct="1">
              <a:lnSpc>
                <a:spcPct val="90000"/>
              </a:lnSpc>
              <a:buFontTx/>
              <a:buNone/>
            </a:pPr>
            <a:r>
              <a:rPr lang="en-US" altLang="zh-CN" sz="2000" dirty="0">
                <a:latin typeface="Consolas" panose="020B0609020204030204" pitchFamily="49" charset="0"/>
              </a:rPr>
              <a:t>    if (order==1){</a:t>
            </a:r>
          </a:p>
          <a:p>
            <a:pPr eaLnBrk="1" hangingPunct="1">
              <a:lnSpc>
                <a:spcPct val="90000"/>
              </a:lnSpc>
              <a:buFontTx/>
              <a:buNone/>
            </a:pPr>
            <a:r>
              <a:rPr lang="en-US" altLang="zh-CN" sz="2000" dirty="0">
                <a:latin typeface="Consolas" panose="020B0609020204030204" pitchFamily="49" charset="0"/>
              </a:rPr>
              <a:t>           bubble(a, n, </a:t>
            </a:r>
            <a:r>
              <a:rPr lang="en-US" altLang="zh-CN" sz="2000" dirty="0">
                <a:solidFill>
                  <a:srgbClr val="FF0000"/>
                </a:solidFill>
                <a:latin typeface="Consolas" panose="020B0609020204030204" pitchFamily="49" charset="0"/>
              </a:rPr>
              <a:t>ascending</a:t>
            </a:r>
            <a:r>
              <a:rPr lang="en-US" altLang="zh-CN" sz="2000" dirty="0">
                <a:latin typeface="Consolas" panose="020B0609020204030204" pitchFamily="49" charset="0"/>
              </a:rPr>
              <a:t>);/*</a:t>
            </a:r>
            <a:r>
              <a:rPr lang="zh-CN" altLang="en-US" sz="2000" dirty="0">
                <a:latin typeface="Consolas" panose="020B0609020204030204" pitchFamily="49" charset="0"/>
              </a:rPr>
              <a:t>将函数名作为实参*/</a:t>
            </a:r>
          </a:p>
          <a:p>
            <a:pPr eaLnBrk="1" hangingPunct="1">
              <a:lnSpc>
                <a:spcPct val="90000"/>
              </a:lnSpc>
              <a:buFontTx/>
              <a:buNone/>
            </a:pPr>
            <a:r>
              <a:rPr lang="en-US" altLang="zh-CN" sz="2000" dirty="0">
                <a:latin typeface="Consolas" panose="020B0609020204030204" pitchFamily="49" charset="0"/>
              </a:rPr>
              <a:t>         ……</a:t>
            </a:r>
          </a:p>
          <a:p>
            <a:pPr eaLnBrk="1" hangingPunct="1">
              <a:lnSpc>
                <a:spcPct val="90000"/>
              </a:lnSpc>
              <a:buFontTx/>
              <a:buNone/>
            </a:pPr>
            <a:r>
              <a:rPr lang="en-US" altLang="zh-CN" sz="2000" dirty="0">
                <a:latin typeface="Consolas" panose="020B0609020204030204" pitchFamily="49" charset="0"/>
              </a:rPr>
              <a:t>    }</a:t>
            </a:r>
          </a:p>
          <a:p>
            <a:pPr eaLnBrk="1" hangingPunct="1">
              <a:lnSpc>
                <a:spcPct val="90000"/>
              </a:lnSpc>
              <a:buFontTx/>
              <a:buNone/>
            </a:pPr>
            <a:r>
              <a:rPr lang="en-US" altLang="zh-CN" sz="2000" dirty="0">
                <a:latin typeface="Consolas" panose="020B0609020204030204" pitchFamily="49" charset="0"/>
              </a:rPr>
              <a:t>	else{</a:t>
            </a:r>
          </a:p>
          <a:p>
            <a:pPr eaLnBrk="1" hangingPunct="1">
              <a:lnSpc>
                <a:spcPct val="90000"/>
              </a:lnSpc>
              <a:buFontTx/>
              <a:buNone/>
            </a:pPr>
            <a:r>
              <a:rPr lang="en-US" altLang="zh-CN" sz="2000" dirty="0">
                <a:latin typeface="Consolas" panose="020B0609020204030204" pitchFamily="49" charset="0"/>
              </a:rPr>
              <a:t>           bubble(a, n, </a:t>
            </a:r>
            <a:r>
              <a:rPr lang="en-US" altLang="zh-CN" sz="2000" dirty="0">
                <a:solidFill>
                  <a:srgbClr val="FF0000"/>
                </a:solidFill>
                <a:latin typeface="Consolas" panose="020B0609020204030204" pitchFamily="49" charset="0"/>
              </a:rPr>
              <a:t>descending</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a:t>
            </a:r>
          </a:p>
          <a:p>
            <a:pPr eaLnBrk="1" hangingPunct="1">
              <a:lnSpc>
                <a:spcPct val="90000"/>
              </a:lnSpc>
              <a:buFontTx/>
              <a:buNone/>
            </a:pPr>
            <a:r>
              <a:rPr lang="en-US" altLang="zh-CN" sz="2000" dirty="0">
                <a:latin typeface="Consolas" panose="020B0609020204030204" pitchFamily="49" charset="0"/>
              </a:rPr>
              <a:t>    }</a:t>
            </a:r>
          </a:p>
          <a:p>
            <a:pPr eaLnBrk="1" hangingPunct="1">
              <a:lnSpc>
                <a:spcPct val="90000"/>
              </a:lnSpc>
              <a:buFontTx/>
              <a:buNone/>
            </a:pPr>
            <a:r>
              <a:rPr lang="en-US" altLang="zh-CN" sz="2000" dirty="0">
                <a:latin typeface="Consolas" panose="020B0609020204030204" pitchFamily="49" charset="0"/>
              </a:rPr>
              <a:t>  ……</a:t>
            </a:r>
          </a:p>
          <a:p>
            <a:pPr eaLnBrk="1" hangingPunct="1">
              <a:lnSpc>
                <a:spcPct val="90000"/>
              </a:lnSpc>
              <a:buFontTx/>
              <a:buNone/>
            </a:pPr>
            <a:r>
              <a:rPr lang="en-US" altLang="zh-CN" sz="2000" dirty="0">
                <a:latin typeface="Consolas" panose="020B0609020204030204" pitchFamily="49" charset="0"/>
              </a:rPr>
              <a:t>}</a:t>
            </a:r>
          </a:p>
        </p:txBody>
      </p:sp>
      <p:sp>
        <p:nvSpPr>
          <p:cNvPr id="80899" name="Rectangle 4">
            <a:extLst>
              <a:ext uri="{FF2B5EF4-FFF2-40B4-BE49-F238E27FC236}">
                <a16:creationId xmlns:a16="http://schemas.microsoft.com/office/drawing/2014/main" id="{9D6DC3FA-4957-484E-AE87-CD11616BDDA1}"/>
              </a:ext>
            </a:extLst>
          </p:cNvPr>
          <p:cNvSpPr>
            <a:spLocks noGrp="1" noChangeArrowheads="1"/>
          </p:cNvSpPr>
          <p:nvPr>
            <p:ph type="title"/>
          </p:nvPr>
        </p:nvSpPr>
        <p:spPr>
          <a:xfrm>
            <a:off x="2483768" y="0"/>
            <a:ext cx="6660232" cy="1104900"/>
          </a:xfrm>
        </p:spPr>
        <p:txBody>
          <a:bodyPr lIns="92075" tIns="46038" rIns="92075" bIns="46038"/>
          <a:lstStyle/>
          <a:p>
            <a:pPr algn="l" eaLnBrk="1" hangingPunct="1"/>
            <a:r>
              <a:rPr lang="zh-CN" altLang="en-US" b="1" dirty="0"/>
              <a:t>使用函数指针的多用途排序程序</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5">
            <a:extLst>
              <a:ext uri="{FF2B5EF4-FFF2-40B4-BE49-F238E27FC236}">
                <a16:creationId xmlns:a16="http://schemas.microsoft.com/office/drawing/2014/main" id="{669780B0-69AC-49A1-9C38-4494B11796E1}"/>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58</a:t>
            </a:fld>
            <a:endParaRPr lang="zh-CN" altLang="en-US"/>
          </a:p>
        </p:txBody>
      </p:sp>
      <p:sp>
        <p:nvSpPr>
          <p:cNvPr id="81922" name="Rectangle 3">
            <a:extLst>
              <a:ext uri="{FF2B5EF4-FFF2-40B4-BE49-F238E27FC236}">
                <a16:creationId xmlns:a16="http://schemas.microsoft.com/office/drawing/2014/main" id="{98214A73-EE06-4AD8-810E-3DBA3E3967CF}"/>
              </a:ext>
            </a:extLst>
          </p:cNvPr>
          <p:cNvSpPr>
            <a:spLocks noGrp="1" noChangeArrowheads="1"/>
          </p:cNvSpPr>
          <p:nvPr>
            <p:ph idx="1"/>
          </p:nvPr>
        </p:nvSpPr>
        <p:spPr>
          <a:xfrm>
            <a:off x="299616" y="1671899"/>
            <a:ext cx="8305800" cy="4114800"/>
          </a:xfrm>
        </p:spPr>
        <p:txBody>
          <a:bodyPr/>
          <a:lstStyle/>
          <a:p>
            <a:pPr eaLnBrk="1" hangingPunct="1">
              <a:buFontTx/>
              <a:buNone/>
            </a:pPr>
            <a:r>
              <a:rPr lang="en-US" altLang="zh-CN" sz="2000" dirty="0">
                <a:latin typeface="Consolas" panose="020B0609020204030204" pitchFamily="49" charset="0"/>
              </a:rPr>
              <a:t>void bubble(int * work, const int n, </a:t>
            </a:r>
            <a:r>
              <a:rPr lang="en-US" altLang="zh-CN" sz="2000" dirty="0">
                <a:solidFill>
                  <a:schemeClr val="accent2"/>
                </a:solidFill>
                <a:latin typeface="Consolas" panose="020B0609020204030204" pitchFamily="49" charset="0"/>
              </a:rPr>
              <a:t>int (* compare)(</a:t>
            </a:r>
            <a:r>
              <a:rPr lang="en-US" altLang="zh-CN" sz="2000" dirty="0" err="1">
                <a:solidFill>
                  <a:schemeClr val="accent2"/>
                </a:solidFill>
                <a:latin typeface="Consolas" panose="020B0609020204030204" pitchFamily="49" charset="0"/>
              </a:rPr>
              <a:t>int,int</a:t>
            </a:r>
            <a:r>
              <a:rPr lang="en-US" altLang="zh-CN" sz="2000" dirty="0">
                <a:solidFill>
                  <a:schemeClr val="accent2"/>
                </a:solidFill>
                <a:latin typeface="Consolas" panose="020B0609020204030204" pitchFamily="49" charset="0"/>
              </a:rPr>
              <a:t>)</a:t>
            </a:r>
            <a:r>
              <a:rPr lang="en-US" altLang="zh-CN" sz="2000" dirty="0">
                <a:latin typeface="Consolas" panose="020B0609020204030204" pitchFamily="49" charset="0"/>
              </a:rPr>
              <a:t> )</a:t>
            </a:r>
          </a:p>
          <a:p>
            <a:pPr eaLnBrk="1" hangingPunct="1">
              <a:buFontTx/>
              <a:buNone/>
            </a:pPr>
            <a:r>
              <a:rPr lang="en-US" altLang="zh-CN" sz="2000" dirty="0">
                <a:latin typeface="Consolas" panose="020B0609020204030204" pitchFamily="49" charset="0"/>
              </a:rPr>
              <a:t>{</a:t>
            </a:r>
          </a:p>
          <a:p>
            <a:pPr eaLnBrk="1" hangingPunct="1">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pass,count</a:t>
            </a:r>
            <a:r>
              <a:rPr lang="en-US" altLang="zh-CN" sz="2000" dirty="0">
                <a:latin typeface="Consolas" panose="020B0609020204030204" pitchFamily="49" charset="0"/>
              </a:rPr>
              <a:t>;</a:t>
            </a:r>
          </a:p>
          <a:p>
            <a:pPr eaLnBrk="1" hangingPunct="1">
              <a:buFontTx/>
              <a:buNone/>
            </a:pPr>
            <a:r>
              <a:rPr lang="en-US" altLang="zh-CN" sz="2000" dirty="0">
                <a:latin typeface="Consolas" panose="020B0609020204030204" pitchFamily="49" charset="0"/>
              </a:rPr>
              <a:t>     void swap(int *,int *);</a:t>
            </a:r>
          </a:p>
          <a:p>
            <a:pPr eaLnBrk="1" hangingPunct="1">
              <a:buFontTx/>
              <a:buNone/>
            </a:pPr>
            <a:endParaRPr lang="en-US" altLang="zh-CN" sz="2000" dirty="0">
              <a:latin typeface="Consolas" panose="020B0609020204030204" pitchFamily="49" charset="0"/>
            </a:endParaRPr>
          </a:p>
          <a:p>
            <a:pPr eaLnBrk="1" hangingPunct="1">
              <a:buFontTx/>
              <a:buNone/>
            </a:pPr>
            <a:r>
              <a:rPr lang="en-US" altLang="zh-CN" sz="2000" dirty="0">
                <a:latin typeface="Consolas" panose="020B0609020204030204" pitchFamily="49" charset="0"/>
              </a:rPr>
              <a:t>	for(pass=</a:t>
            </a:r>
            <a:r>
              <a:rPr lang="en-US" altLang="zh-CN" sz="2000" dirty="0" err="1">
                <a:latin typeface="Consolas" panose="020B0609020204030204" pitchFamily="49" charset="0"/>
              </a:rPr>
              <a:t>1;pass</a:t>
            </a:r>
            <a:r>
              <a:rPr lang="en-US" altLang="zh-CN" sz="2000" dirty="0">
                <a:latin typeface="Consolas" panose="020B0609020204030204" pitchFamily="49" charset="0"/>
              </a:rPr>
              <a:t>&lt;=</a:t>
            </a:r>
            <a:r>
              <a:rPr lang="en-US" altLang="zh-CN" sz="2000" dirty="0" err="1">
                <a:latin typeface="Consolas" panose="020B0609020204030204" pitchFamily="49" charset="0"/>
              </a:rPr>
              <a:t>last;pass</a:t>
            </a:r>
            <a:r>
              <a:rPr lang="en-US" altLang="zh-CN" sz="2000" dirty="0">
                <a:latin typeface="Consolas" panose="020B0609020204030204" pitchFamily="49" charset="0"/>
              </a:rPr>
              <a:t>++)</a:t>
            </a:r>
          </a:p>
          <a:p>
            <a:pPr eaLnBrk="1" hangingPunct="1">
              <a:buFontTx/>
              <a:buNone/>
            </a:pPr>
            <a:r>
              <a:rPr lang="en-US" altLang="zh-CN" sz="2000" dirty="0">
                <a:latin typeface="Consolas" panose="020B0609020204030204" pitchFamily="49" charset="0"/>
              </a:rPr>
              <a:t>	    for(count=</a:t>
            </a:r>
            <a:r>
              <a:rPr lang="en-US" altLang="zh-CN" sz="2000" dirty="0" err="1">
                <a:latin typeface="Consolas" panose="020B0609020204030204" pitchFamily="49" charset="0"/>
              </a:rPr>
              <a:t>0;count</a:t>
            </a:r>
            <a:r>
              <a:rPr lang="en-US" altLang="zh-CN" sz="2000" dirty="0">
                <a:latin typeface="Consolas" panose="020B0609020204030204" pitchFamily="49" charset="0"/>
              </a:rPr>
              <a:t>&lt;=</a:t>
            </a:r>
            <a:r>
              <a:rPr lang="en-US" altLang="zh-CN" sz="2000" dirty="0" err="1">
                <a:latin typeface="Consolas" panose="020B0609020204030204" pitchFamily="49" charset="0"/>
              </a:rPr>
              <a:t>last-pass;count</a:t>
            </a:r>
            <a:r>
              <a:rPr lang="en-US" altLang="zh-CN" sz="2000" dirty="0">
                <a:latin typeface="Consolas" panose="020B0609020204030204" pitchFamily="49" charset="0"/>
              </a:rPr>
              <a:t>++)</a:t>
            </a:r>
          </a:p>
          <a:p>
            <a:pPr eaLnBrk="1" hangingPunct="1">
              <a:buFontTx/>
              <a:buNone/>
            </a:pPr>
            <a:r>
              <a:rPr lang="en-US" altLang="zh-CN" sz="2000" dirty="0">
                <a:latin typeface="Consolas" panose="020B0609020204030204" pitchFamily="49" charset="0"/>
              </a:rPr>
              <a:t>		if (</a:t>
            </a:r>
            <a:r>
              <a:rPr lang="en-US" altLang="zh-CN" sz="2000" dirty="0">
                <a:solidFill>
                  <a:schemeClr val="accent2"/>
                </a:solidFill>
                <a:latin typeface="Consolas" panose="020B0609020204030204" pitchFamily="49" charset="0"/>
              </a:rPr>
              <a:t>(</a:t>
            </a:r>
            <a:r>
              <a:rPr lang="zh-CN" altLang="en-US" sz="2000" dirty="0">
                <a:solidFill>
                  <a:schemeClr val="accent2"/>
                </a:solidFill>
                <a:latin typeface="Consolas" panose="020B0609020204030204" pitchFamily="49" charset="0"/>
              </a:rPr>
              <a:t>*</a:t>
            </a:r>
            <a:r>
              <a:rPr lang="en-US" altLang="zh-CN" sz="2000" dirty="0">
                <a:solidFill>
                  <a:schemeClr val="accent2"/>
                </a:solidFill>
                <a:latin typeface="Consolas" panose="020B0609020204030204" pitchFamily="49" charset="0"/>
              </a:rPr>
              <a:t>compare)(work[count],work[</a:t>
            </a:r>
            <a:r>
              <a:rPr lang="en-US" altLang="zh-CN" sz="2000" dirty="0" err="1">
                <a:solidFill>
                  <a:schemeClr val="accent2"/>
                </a:solidFill>
                <a:latin typeface="Consolas" panose="020B0609020204030204" pitchFamily="49" charset="0"/>
              </a:rPr>
              <a:t>count+1</a:t>
            </a:r>
            <a:r>
              <a:rPr lang="en-US" altLang="zh-CN" sz="2000" dirty="0">
                <a:solidFill>
                  <a:schemeClr val="accent2"/>
                </a:solidFill>
                <a:latin typeface="Consolas" panose="020B0609020204030204" pitchFamily="49" charset="0"/>
              </a:rPr>
              <a:t>])</a:t>
            </a:r>
            <a:r>
              <a:rPr lang="en-US" altLang="zh-CN" sz="2000" dirty="0">
                <a:latin typeface="Consolas" panose="020B0609020204030204" pitchFamily="49" charset="0"/>
              </a:rPr>
              <a:t> )</a:t>
            </a:r>
          </a:p>
          <a:p>
            <a:pPr eaLnBrk="1" hangingPunct="1">
              <a:buFontTx/>
              <a:buNone/>
            </a:pPr>
            <a:r>
              <a:rPr lang="en-US" altLang="zh-CN" sz="2000" dirty="0">
                <a:latin typeface="Consolas" panose="020B0609020204030204" pitchFamily="49" charset="0"/>
              </a:rPr>
              <a:t>			swap(&amp; work[count],&amp;work[</a:t>
            </a:r>
            <a:r>
              <a:rPr lang="en-US" altLang="zh-CN" sz="2000" dirty="0" err="1">
                <a:latin typeface="Consolas" panose="020B0609020204030204" pitchFamily="49" charset="0"/>
              </a:rPr>
              <a:t>count+1</a:t>
            </a:r>
            <a:r>
              <a:rPr lang="en-US" altLang="zh-CN" sz="2000" dirty="0">
                <a:latin typeface="Consolas" panose="020B0609020204030204" pitchFamily="49" charset="0"/>
              </a:rPr>
              <a:t>]);</a:t>
            </a:r>
          </a:p>
          <a:p>
            <a:pPr eaLnBrk="1" hangingPunct="1">
              <a:buFontTx/>
              <a:buNone/>
            </a:pPr>
            <a:r>
              <a:rPr lang="en-US" altLang="zh-CN" sz="2000" dirty="0">
                <a:latin typeface="Consolas" panose="020B0609020204030204" pitchFamily="49" charset="0"/>
              </a:rPr>
              <a:t>}</a:t>
            </a:r>
          </a:p>
        </p:txBody>
      </p:sp>
      <p:sp>
        <p:nvSpPr>
          <p:cNvPr id="81923" name="Text Box 4">
            <a:extLst>
              <a:ext uri="{FF2B5EF4-FFF2-40B4-BE49-F238E27FC236}">
                <a16:creationId xmlns:a16="http://schemas.microsoft.com/office/drawing/2014/main" id="{05F951FF-8F0D-4D06-9E31-A58A1745D400}"/>
              </a:ext>
            </a:extLst>
          </p:cNvPr>
          <p:cNvSpPr txBox="1">
            <a:spLocks noChangeArrowheads="1"/>
          </p:cNvSpPr>
          <p:nvPr/>
        </p:nvSpPr>
        <p:spPr bwMode="auto">
          <a:xfrm>
            <a:off x="423664" y="1301925"/>
            <a:ext cx="7924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90000"/>
              </a:lnSpc>
              <a:spcBef>
                <a:spcPct val="50000"/>
              </a:spcBef>
              <a:buClr>
                <a:schemeClr val="accent2"/>
              </a:buClr>
              <a:buSzPct val="75000"/>
              <a:buFont typeface="Monotype Sorts" charset="2"/>
              <a:buNone/>
            </a:pPr>
            <a:r>
              <a:rPr lang="en-US" altLang="zh-CN" b="1" dirty="0">
                <a:solidFill>
                  <a:srgbClr val="FF0000"/>
                </a:solidFill>
                <a:latin typeface="Consolas" panose="020B0609020204030204" pitchFamily="49" charset="0"/>
              </a:rPr>
              <a:t>bubble(</a:t>
            </a:r>
            <a:r>
              <a:rPr lang="en-US" altLang="zh-CN" b="1" dirty="0" err="1">
                <a:solidFill>
                  <a:srgbClr val="FF0000"/>
                </a:solidFill>
                <a:latin typeface="Consolas" panose="020B0609020204030204" pitchFamily="49" charset="0"/>
              </a:rPr>
              <a:t>a,n,ascending</a:t>
            </a:r>
            <a:r>
              <a:rPr lang="en-US" altLang="zh-CN" b="1" dirty="0">
                <a:solidFill>
                  <a:srgbClr val="FF0000"/>
                </a:solidFill>
                <a:latin typeface="Consolas" panose="020B0609020204030204" pitchFamily="49" charset="0"/>
              </a:rPr>
              <a:t>);      bubble(</a:t>
            </a:r>
            <a:r>
              <a:rPr lang="en-US" altLang="zh-CN" b="1" dirty="0" err="1">
                <a:solidFill>
                  <a:srgbClr val="FF0000"/>
                </a:solidFill>
                <a:latin typeface="Consolas" panose="020B0609020204030204" pitchFamily="49" charset="0"/>
              </a:rPr>
              <a:t>a,n,descending</a:t>
            </a:r>
            <a:r>
              <a:rPr lang="en-US" altLang="zh-CN" b="1" dirty="0">
                <a:solidFill>
                  <a:srgbClr val="FF0000"/>
                </a:solidFill>
                <a:latin typeface="Consolas" panose="020B0609020204030204" pitchFamily="49" charset="0"/>
              </a:rPr>
              <a:t>);</a:t>
            </a:r>
          </a:p>
        </p:txBody>
      </p:sp>
      <p:sp>
        <p:nvSpPr>
          <p:cNvPr id="81924" name="Rectangle 3">
            <a:extLst>
              <a:ext uri="{FF2B5EF4-FFF2-40B4-BE49-F238E27FC236}">
                <a16:creationId xmlns:a16="http://schemas.microsoft.com/office/drawing/2014/main" id="{6A269EF6-B8A0-409D-AE32-DA66E0FB1FEE}"/>
              </a:ext>
            </a:extLst>
          </p:cNvPr>
          <p:cNvSpPr>
            <a:spLocks noGrp="1" noChangeArrowheads="1"/>
          </p:cNvSpPr>
          <p:nvPr>
            <p:ph type="title"/>
          </p:nvPr>
        </p:nvSpPr>
        <p:spPr>
          <a:xfrm>
            <a:off x="2555875" y="0"/>
            <a:ext cx="6588125" cy="1104900"/>
          </a:xfrm>
        </p:spPr>
        <p:txBody>
          <a:bodyPr lIns="92075" tIns="46038" rIns="92075" bIns="46038"/>
          <a:lstStyle/>
          <a:p>
            <a:pPr algn="l" eaLnBrk="1" hangingPunct="1"/>
            <a:r>
              <a:rPr lang="en-US" altLang="zh-CN" b="1"/>
              <a:t>7.5 </a:t>
            </a:r>
            <a:r>
              <a:rPr lang="zh-CN" altLang="en-US" b="1"/>
              <a:t>使用函数指针的多用途排序程序</a:t>
            </a:r>
          </a:p>
        </p:txBody>
      </p:sp>
      <p:sp>
        <p:nvSpPr>
          <p:cNvPr id="81925" name="AutoShape 4">
            <a:extLst>
              <a:ext uri="{FF2B5EF4-FFF2-40B4-BE49-F238E27FC236}">
                <a16:creationId xmlns:a16="http://schemas.microsoft.com/office/drawing/2014/main" id="{9CCB50FD-0683-4267-872C-05FD99C4FF53}"/>
              </a:ext>
            </a:extLst>
          </p:cNvPr>
          <p:cNvSpPr>
            <a:spLocks noChangeArrowheads="1"/>
          </p:cNvSpPr>
          <p:nvPr/>
        </p:nvSpPr>
        <p:spPr bwMode="auto">
          <a:xfrm>
            <a:off x="5617741" y="2490788"/>
            <a:ext cx="2987675" cy="1223962"/>
          </a:xfrm>
          <a:prstGeom prst="wedgeRoundRectCallout">
            <a:avLst>
              <a:gd name="adj1" fmla="val -33741"/>
              <a:gd name="adj2" fmla="val -85019"/>
              <a:gd name="adj3" fmla="val 16667"/>
            </a:avLst>
          </a:prstGeom>
          <a:noFill/>
          <a:ln w="9525">
            <a:solidFill>
              <a:srgbClr val="66FFCC"/>
            </a:solidFill>
            <a:miter lim="800000"/>
            <a:headEnd/>
            <a:tailEnd/>
          </a:ln>
          <a:effectLst>
            <a:prstShdw prst="shdw17" dist="17961" dir="13500000">
              <a:srgbClr val="3D997A"/>
            </a:prstShdw>
          </a:effectLst>
        </p:spPr>
        <p:txBody>
          <a:bodyPr anchor="ct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zh-CN" altLang="en-US" sz="2000" b="1"/>
              <a:t>由传递给</a:t>
            </a:r>
            <a:r>
              <a:rPr lang="en-US" altLang="zh-CN" sz="2000" b="1"/>
              <a:t>compare</a:t>
            </a:r>
            <a:r>
              <a:rPr lang="zh-CN" altLang="en-US" sz="2000" b="1"/>
              <a:t>的指向函数的指针来决定是升序还是降序</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513F46-3EE1-4A5E-B6DA-A606F34E2701}"/>
              </a:ext>
            </a:extLst>
          </p:cNvPr>
          <p:cNvSpPr>
            <a:spLocks noGrp="1"/>
          </p:cNvSpPr>
          <p:nvPr>
            <p:ph type="title"/>
          </p:nvPr>
        </p:nvSpPr>
        <p:spPr/>
        <p:txBody>
          <a:bodyPr/>
          <a:lstStyle/>
          <a:p>
            <a:r>
              <a:rPr lang="zh-CN" altLang="en-US" dirty="0"/>
              <a:t>使用函数指针的排序库函数</a:t>
            </a:r>
          </a:p>
        </p:txBody>
      </p:sp>
      <p:sp>
        <p:nvSpPr>
          <p:cNvPr id="3" name="内容占位符 2">
            <a:extLst>
              <a:ext uri="{FF2B5EF4-FFF2-40B4-BE49-F238E27FC236}">
                <a16:creationId xmlns:a16="http://schemas.microsoft.com/office/drawing/2014/main" id="{F9EE5EAE-F521-4F76-89A9-DD40F0F57B62}"/>
              </a:ext>
            </a:extLst>
          </p:cNvPr>
          <p:cNvSpPr>
            <a:spLocks noGrp="1"/>
          </p:cNvSpPr>
          <p:nvPr>
            <p:ph idx="1"/>
          </p:nvPr>
        </p:nvSpPr>
        <p:spPr>
          <a:xfrm>
            <a:off x="395536" y="1268760"/>
            <a:ext cx="8062664" cy="4702075"/>
          </a:xfrm>
        </p:spPr>
        <p:txBody>
          <a:bodyPr/>
          <a:lstStyle/>
          <a:p>
            <a:pPr marL="0" indent="0">
              <a:buNone/>
            </a:pPr>
            <a:r>
              <a:rPr lang="en-US" altLang="zh-CN" sz="2400" dirty="0">
                <a:effectLst/>
                <a:latin typeface="Consolas" panose="020B0609020204030204" pitchFamily="49" charset="0"/>
              </a:rPr>
              <a:t>#include &lt;</a:t>
            </a:r>
            <a:r>
              <a:rPr lang="en-US" altLang="zh-CN" sz="2400" dirty="0" err="1">
                <a:effectLst/>
                <a:latin typeface="Consolas" panose="020B0609020204030204" pitchFamily="49" charset="0"/>
              </a:rPr>
              <a:t>stdlib.h</a:t>
            </a:r>
            <a:r>
              <a:rPr lang="en-US" altLang="zh-CN" sz="2400" dirty="0">
                <a:effectLst/>
                <a:latin typeface="Consolas" panose="020B0609020204030204" pitchFamily="49" charset="0"/>
              </a:rPr>
              <a:t>&gt;</a:t>
            </a:r>
          </a:p>
          <a:p>
            <a:pPr marL="0" indent="0">
              <a:buNone/>
            </a:pPr>
            <a:r>
              <a:rPr lang="en-US" altLang="zh-CN" sz="2400" dirty="0">
                <a:effectLst/>
                <a:latin typeface="Consolas" panose="020B0609020204030204" pitchFamily="49" charset="0"/>
              </a:rPr>
              <a:t>void </a:t>
            </a:r>
            <a:r>
              <a:rPr lang="en-US" altLang="zh-CN" sz="2400" dirty="0" err="1">
                <a:effectLst/>
                <a:latin typeface="Consolas" panose="020B0609020204030204" pitchFamily="49" charset="0"/>
              </a:rPr>
              <a:t>qsort</a:t>
            </a:r>
            <a:r>
              <a:rPr lang="en-US" altLang="zh-CN" sz="2400" dirty="0">
                <a:effectLst/>
                <a:latin typeface="Consolas" panose="020B0609020204030204" pitchFamily="49" charset="0"/>
              </a:rPr>
              <a:t>( void *</a:t>
            </a:r>
            <a:r>
              <a:rPr lang="en-US" altLang="zh-CN" sz="2400" dirty="0" err="1">
                <a:effectLst/>
                <a:latin typeface="Consolas" panose="020B0609020204030204" pitchFamily="49" charset="0"/>
              </a:rPr>
              <a:t>buf</a:t>
            </a:r>
            <a:r>
              <a:rPr lang="en-US" altLang="zh-CN" sz="2400" dirty="0">
                <a:effectLst/>
                <a:latin typeface="Consolas" panose="020B0609020204030204" pitchFamily="49" charset="0"/>
              </a:rPr>
              <a:t>, </a:t>
            </a:r>
            <a:r>
              <a:rPr lang="en-US" altLang="zh-CN" sz="2400" dirty="0" err="1">
                <a:effectLst/>
                <a:latin typeface="Consolas" panose="020B0609020204030204" pitchFamily="49" charset="0"/>
              </a:rPr>
              <a:t>size_t</a:t>
            </a:r>
            <a:r>
              <a:rPr lang="en-US" altLang="zh-CN" sz="2400" dirty="0">
                <a:effectLst/>
                <a:latin typeface="Consolas" panose="020B0609020204030204" pitchFamily="49" charset="0"/>
              </a:rPr>
              <a:t> num, </a:t>
            </a:r>
            <a:r>
              <a:rPr lang="en-US" altLang="zh-CN" sz="2400" dirty="0" err="1">
                <a:effectLst/>
                <a:latin typeface="Consolas" panose="020B0609020204030204" pitchFamily="49" charset="0"/>
              </a:rPr>
              <a:t>size_t</a:t>
            </a:r>
            <a:r>
              <a:rPr lang="en-US" altLang="zh-CN" sz="2400" dirty="0">
                <a:effectLst/>
                <a:latin typeface="Consolas" panose="020B0609020204030204" pitchFamily="49" charset="0"/>
              </a:rPr>
              <a:t> size, int (*compare)(const void *, const void *) );</a:t>
            </a:r>
          </a:p>
          <a:p>
            <a:pPr marL="0" indent="0">
              <a:buNone/>
            </a:pPr>
            <a:r>
              <a:rPr lang="zh-CN" altLang="zh-CN" sz="1600" b="1" dirty="0">
                <a:effectLst/>
                <a:ea typeface="宋体" panose="02010600030101010101" pitchFamily="2" charset="-122"/>
              </a:rPr>
              <a:t>功能：</a:t>
            </a:r>
            <a:r>
              <a:rPr lang="zh-CN" altLang="zh-CN" sz="1800" kern="100" dirty="0">
                <a:effectLst/>
                <a:ea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a:t>
            </a:r>
            <a:r>
              <a:rPr lang="en-US" altLang="zh-CN" sz="1800" i="1" kern="100" dirty="0" err="1">
                <a:effectLst/>
                <a:latin typeface="Times New Roman" panose="02020603050405020304" pitchFamily="18" charset="0"/>
                <a:ea typeface="宋体" panose="02010600030101010101" pitchFamily="2" charset="-122"/>
              </a:rPr>
              <a:t>buf</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指向的数据</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包含</a:t>
            </a:r>
            <a:r>
              <a:rPr lang="en-US" altLang="zh-CN" sz="1800" i="1" kern="100" dirty="0">
                <a:effectLst/>
                <a:latin typeface="Times New Roman" panose="02020603050405020304" pitchFamily="18" charset="0"/>
                <a:ea typeface="宋体" panose="02010600030101010101" pitchFamily="2" charset="-122"/>
              </a:rPr>
              <a:t>num</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项</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每项的大小为</a:t>
            </a:r>
            <a:r>
              <a:rPr lang="en-US" altLang="zh-CN" sz="1800" i="1" kern="100" dirty="0">
                <a:effectLst/>
                <a:latin typeface="Times New Roman" panose="02020603050405020304" pitchFamily="18" charset="0"/>
                <a:ea typeface="宋体" panose="02010600030101010101" pitchFamily="2" charset="-122"/>
              </a:rPr>
              <a:t>size</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进行快速排序。如果函数</a:t>
            </a:r>
            <a:r>
              <a:rPr lang="en-US" altLang="zh-CN" sz="1800" i="1" kern="100" dirty="0">
                <a:effectLst/>
                <a:latin typeface="Times New Roman" panose="02020603050405020304" pitchFamily="18" charset="0"/>
                <a:ea typeface="宋体" panose="02010600030101010101" pitchFamily="2" charset="-122"/>
              </a:rPr>
              <a:t>compare</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的第一个参数小于第二个参数，返回负值；如果等于返回零值；如果大于返回正值。函数对</a:t>
            </a:r>
            <a:r>
              <a:rPr lang="en-US" altLang="zh-CN" sz="1800" i="1" kern="100" dirty="0" err="1">
                <a:effectLst/>
                <a:latin typeface="Times New Roman" panose="02020603050405020304" pitchFamily="18" charset="0"/>
                <a:ea typeface="宋体" panose="02010600030101010101" pitchFamily="2" charset="-122"/>
              </a:rPr>
              <a:t>buf</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指向的数据按升序排序。</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400" kern="100" dirty="0">
                <a:latin typeface="Consolas" panose="020B0609020204030204" pitchFamily="49" charset="0"/>
                <a:ea typeface="宋体" panose="02010600030101010101" pitchFamily="2" charset="-122"/>
                <a:cs typeface="Times New Roman" panose="02020603050405020304" pitchFamily="18" charset="0"/>
              </a:rPr>
              <a:t>void *</a:t>
            </a:r>
            <a:r>
              <a:rPr lang="en-US" altLang="zh-CN" sz="2400" kern="100" dirty="0" err="1">
                <a:latin typeface="Consolas" panose="020B0609020204030204" pitchFamily="49" charset="0"/>
                <a:ea typeface="宋体" panose="02010600030101010101" pitchFamily="2" charset="-122"/>
                <a:cs typeface="Times New Roman" panose="02020603050405020304" pitchFamily="18" charset="0"/>
              </a:rPr>
              <a:t>bsearch</a:t>
            </a:r>
            <a:r>
              <a:rPr lang="en-US" altLang="zh-CN" sz="2400" kern="100" dirty="0">
                <a:latin typeface="Consolas" panose="020B0609020204030204" pitchFamily="49" charset="0"/>
                <a:ea typeface="宋体" panose="02010600030101010101" pitchFamily="2" charset="-122"/>
                <a:cs typeface="Times New Roman" panose="02020603050405020304" pitchFamily="18" charset="0"/>
              </a:rPr>
              <a:t>( const void *key, const void *</a:t>
            </a:r>
            <a:r>
              <a:rPr lang="en-US" altLang="zh-CN" sz="2400" kern="100" dirty="0" err="1">
                <a:latin typeface="Consolas" panose="020B0609020204030204" pitchFamily="49" charset="0"/>
                <a:ea typeface="宋体" panose="02010600030101010101" pitchFamily="2" charset="-122"/>
                <a:cs typeface="Times New Roman" panose="02020603050405020304" pitchFamily="18" charset="0"/>
              </a:rPr>
              <a:t>buf</a:t>
            </a:r>
            <a:r>
              <a:rPr lang="en-US" altLang="zh-CN" sz="2400" kern="100" dirty="0">
                <a:latin typeface="Consolas" panose="020B0609020204030204" pitchFamily="49" charset="0"/>
                <a:ea typeface="宋体" panose="02010600030101010101" pitchFamily="2" charset="-122"/>
                <a:cs typeface="Times New Roman" panose="02020603050405020304" pitchFamily="18" charset="0"/>
              </a:rPr>
              <a:t>, </a:t>
            </a:r>
            <a:r>
              <a:rPr lang="en-US" altLang="zh-CN" sz="2400" kern="100" dirty="0" err="1">
                <a:latin typeface="Consolas" panose="020B0609020204030204" pitchFamily="49" charset="0"/>
                <a:ea typeface="宋体" panose="02010600030101010101" pitchFamily="2" charset="-122"/>
                <a:cs typeface="Times New Roman" panose="02020603050405020304" pitchFamily="18" charset="0"/>
              </a:rPr>
              <a:t>size_t</a:t>
            </a:r>
            <a:r>
              <a:rPr lang="en-US" altLang="zh-CN" sz="2400" kern="100" dirty="0">
                <a:latin typeface="Consolas" panose="020B0609020204030204" pitchFamily="49" charset="0"/>
                <a:ea typeface="宋体" panose="02010600030101010101" pitchFamily="2" charset="-122"/>
                <a:cs typeface="Times New Roman" panose="02020603050405020304" pitchFamily="18" charset="0"/>
              </a:rPr>
              <a:t> num, </a:t>
            </a:r>
            <a:r>
              <a:rPr lang="en-US" altLang="zh-CN" sz="2400" kern="100" dirty="0" err="1">
                <a:latin typeface="Consolas" panose="020B0609020204030204" pitchFamily="49" charset="0"/>
                <a:ea typeface="宋体" panose="02010600030101010101" pitchFamily="2" charset="-122"/>
                <a:cs typeface="Times New Roman" panose="02020603050405020304" pitchFamily="18" charset="0"/>
              </a:rPr>
              <a:t>size_t</a:t>
            </a:r>
            <a:r>
              <a:rPr lang="en-US" altLang="zh-CN" sz="2400" kern="100" dirty="0">
                <a:latin typeface="Consolas" panose="020B0609020204030204" pitchFamily="49" charset="0"/>
                <a:ea typeface="宋体" panose="02010600030101010101" pitchFamily="2" charset="-122"/>
                <a:cs typeface="Times New Roman" panose="02020603050405020304" pitchFamily="18" charset="0"/>
              </a:rPr>
              <a:t> size, int (*compare)(const void *, const void *) ); </a:t>
            </a:r>
          </a:p>
          <a:p>
            <a:pPr marL="0" indent="0">
              <a:buNone/>
            </a:pPr>
            <a:r>
              <a:rPr lang="zh-CN" altLang="en-US" sz="1800" dirty="0">
                <a:ea typeface="宋体" panose="02010600030101010101" pitchFamily="2" charset="-122"/>
              </a:rPr>
              <a:t>功能： 函数用折半查找法在从数组元素</a:t>
            </a:r>
            <a:r>
              <a:rPr lang="en-US" altLang="zh-CN" sz="1800" dirty="0" err="1">
                <a:ea typeface="宋体" panose="02010600030101010101" pitchFamily="2" charset="-122"/>
              </a:rPr>
              <a:t>buf</a:t>
            </a:r>
            <a:r>
              <a:rPr lang="en-US" altLang="zh-CN" sz="1800" dirty="0">
                <a:ea typeface="宋体" panose="02010600030101010101" pitchFamily="2" charset="-122"/>
              </a:rPr>
              <a:t>[0]</a:t>
            </a:r>
            <a:r>
              <a:rPr lang="zh-CN" altLang="en-US" sz="1800" dirty="0">
                <a:ea typeface="宋体" panose="02010600030101010101" pitchFamily="2" charset="-122"/>
              </a:rPr>
              <a:t>到</a:t>
            </a:r>
            <a:r>
              <a:rPr lang="en-US" altLang="zh-CN" sz="1800" dirty="0" err="1">
                <a:ea typeface="宋体" panose="02010600030101010101" pitchFamily="2" charset="-122"/>
              </a:rPr>
              <a:t>buf</a:t>
            </a:r>
            <a:r>
              <a:rPr lang="en-US" altLang="zh-CN" sz="1800" dirty="0">
                <a:ea typeface="宋体" panose="02010600030101010101" pitchFamily="2" charset="-122"/>
              </a:rPr>
              <a:t>[num-1] </a:t>
            </a:r>
            <a:r>
              <a:rPr lang="zh-CN" altLang="en-US" sz="1800" dirty="0">
                <a:ea typeface="宋体" panose="02010600030101010101" pitchFamily="2" charset="-122"/>
              </a:rPr>
              <a:t>匹配参数</a:t>
            </a:r>
            <a:r>
              <a:rPr lang="en-US" altLang="zh-CN" sz="1800" dirty="0">
                <a:ea typeface="宋体" panose="02010600030101010101" pitchFamily="2" charset="-122"/>
              </a:rPr>
              <a:t>key</a:t>
            </a:r>
            <a:r>
              <a:rPr lang="zh-CN" altLang="en-US" sz="1800" dirty="0">
                <a:ea typeface="宋体" panose="02010600030101010101" pitchFamily="2" charset="-122"/>
              </a:rPr>
              <a:t>。如果函数</a:t>
            </a:r>
            <a:r>
              <a:rPr lang="en-US" altLang="zh-CN" sz="1800" dirty="0">
                <a:ea typeface="宋体" panose="02010600030101010101" pitchFamily="2" charset="-122"/>
              </a:rPr>
              <a:t>compare </a:t>
            </a:r>
            <a:r>
              <a:rPr lang="zh-CN" altLang="en-US" sz="1800" dirty="0">
                <a:ea typeface="宋体" panose="02010600030101010101" pitchFamily="2" charset="-122"/>
              </a:rPr>
              <a:t>的第一个参数小于第二个参数，返回负值；如果等于返回零值；如果大于返回正值。数组</a:t>
            </a:r>
            <a:r>
              <a:rPr lang="en-US" altLang="zh-CN" sz="1800" dirty="0" err="1">
                <a:ea typeface="宋体" panose="02010600030101010101" pitchFamily="2" charset="-122"/>
              </a:rPr>
              <a:t>buf</a:t>
            </a:r>
            <a:r>
              <a:rPr lang="en-US" altLang="zh-CN" sz="1800" dirty="0">
                <a:ea typeface="宋体" panose="02010600030101010101" pitchFamily="2" charset="-122"/>
              </a:rPr>
              <a:t> </a:t>
            </a:r>
            <a:r>
              <a:rPr lang="zh-CN" altLang="en-US" sz="1800" dirty="0">
                <a:ea typeface="宋体" panose="02010600030101010101" pitchFamily="2" charset="-122"/>
              </a:rPr>
              <a:t>中的元素应以升序排列。函数</a:t>
            </a:r>
            <a:r>
              <a:rPr lang="en-US" altLang="zh-CN" sz="1800" dirty="0" err="1">
                <a:ea typeface="宋体" panose="02010600030101010101" pitchFamily="2" charset="-122"/>
              </a:rPr>
              <a:t>bsearch</a:t>
            </a:r>
            <a:r>
              <a:rPr lang="en-US" altLang="zh-CN" sz="1800" dirty="0">
                <a:ea typeface="宋体" panose="02010600030101010101" pitchFamily="2" charset="-122"/>
              </a:rPr>
              <a:t>()</a:t>
            </a:r>
            <a:r>
              <a:rPr lang="zh-CN" altLang="en-US" sz="1800" dirty="0">
                <a:ea typeface="宋体" panose="02010600030101010101" pitchFamily="2" charset="-122"/>
              </a:rPr>
              <a:t>的返回值是指向匹配项，如果没有发现匹配项，返回</a:t>
            </a:r>
            <a:r>
              <a:rPr lang="en-US" altLang="zh-CN" sz="1800" dirty="0">
                <a:ea typeface="宋体" panose="02010600030101010101" pitchFamily="2" charset="-122"/>
              </a:rPr>
              <a:t>NULL</a:t>
            </a:r>
            <a:r>
              <a:rPr lang="zh-CN" altLang="en-US" sz="1800" dirty="0">
                <a:ea typeface="宋体" panose="02010600030101010101" pitchFamily="2" charset="-122"/>
              </a:rPr>
              <a:t>。 </a:t>
            </a:r>
            <a:endParaRPr lang="en-US" altLang="zh-CN" sz="1800" kern="100" dirty="0">
              <a:latin typeface="Consolas" panose="020B0609020204030204" pitchFamily="49" charset="0"/>
              <a:ea typeface="宋体" panose="02010600030101010101" pitchFamily="2" charset="-122"/>
              <a:cs typeface="Times New Roman" panose="02020603050405020304" pitchFamily="18" charset="0"/>
            </a:endParaRPr>
          </a:p>
          <a:p>
            <a:pPr marL="0" indent="0">
              <a:buNone/>
            </a:pPr>
            <a:endParaRPr lang="zh-CN" altLang="en-US" sz="2400" dirty="0">
              <a:latin typeface="Consolas" panose="020B0609020204030204" pitchFamily="49" charset="0"/>
            </a:endParaRPr>
          </a:p>
        </p:txBody>
      </p:sp>
    </p:spTree>
    <p:extLst>
      <p:ext uri="{BB962C8B-B14F-4D97-AF65-F5344CB8AC3E}">
        <p14:creationId xmlns:p14="http://schemas.microsoft.com/office/powerpoint/2010/main" val="3549912762"/>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2B497C77-954B-46D6-B174-51826C0579E4}"/>
              </a:ext>
            </a:extLst>
          </p:cNvPr>
          <p:cNvSpPr>
            <a:spLocks noGrp="1"/>
          </p:cNvSpPr>
          <p:nvPr>
            <p:ph type="title"/>
          </p:nvPr>
        </p:nvSpPr>
        <p:spPr/>
        <p:txBody>
          <a:bodyPr/>
          <a:lstStyle/>
          <a:p>
            <a:r>
              <a:rPr lang="zh-CN" altLang="en-US" dirty="0"/>
              <a:t>多字符串</a:t>
            </a:r>
            <a:r>
              <a:rPr lang="en-US" altLang="zh-CN" dirty="0" err="1"/>
              <a:t>qsort</a:t>
            </a:r>
            <a:r>
              <a:rPr lang="zh-CN" altLang="en-US" dirty="0"/>
              <a:t>调用实例</a:t>
            </a:r>
          </a:p>
        </p:txBody>
      </p:sp>
      <p:sp>
        <p:nvSpPr>
          <p:cNvPr id="7" name="内容占位符 6">
            <a:extLst>
              <a:ext uri="{FF2B5EF4-FFF2-40B4-BE49-F238E27FC236}">
                <a16:creationId xmlns:a16="http://schemas.microsoft.com/office/drawing/2014/main" id="{4DFA9679-4F4A-43FF-B0F3-9A8786523199}"/>
              </a:ext>
            </a:extLst>
          </p:cNvPr>
          <p:cNvSpPr>
            <a:spLocks noGrp="1"/>
          </p:cNvSpPr>
          <p:nvPr>
            <p:ph idx="1"/>
          </p:nvPr>
        </p:nvSpPr>
        <p:spPr>
          <a:xfrm>
            <a:off x="685800" y="1319213"/>
            <a:ext cx="8134672" cy="4611687"/>
          </a:xfrm>
        </p:spPr>
        <p:txBody>
          <a:bodyPr/>
          <a:lstStyle/>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#include&lt;stdlib.h&gt;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#include&lt;stdio.h&gt;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#include&lt;string.h&gt;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int main(void)</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char string_array[10][50]={"John", "Jane", "Mary", "Rogery", "Dave", "Paul", "Beavis", "Astro", "George", "Elroy"};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Sort the list */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qsort(string_array,10,50,strcmp);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Search for the item "Elroy" and print it */ printf("%s",bsearch("Elroy",string_array,10,50,strcmp));</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return 0;</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a:t>
            </a:r>
            <a:r>
              <a:rPr kumimoji="0" lang="zh-CN" altLang="zh-CN" sz="2000" i="0" u="none" strike="noStrike" cap="none" normalizeH="0" baseline="0" dirty="0">
                <a:ln>
                  <a:noFill/>
                </a:ln>
                <a:solidFill>
                  <a:schemeClr val="tx1"/>
                </a:solidFill>
                <a:effectLst/>
                <a:latin typeface="Consolas" panose="020B0609020204030204" pitchFamily="49" charset="0"/>
              </a:rPr>
              <a:t> </a:t>
            </a:r>
          </a:p>
          <a:p>
            <a:pPr marL="0" indent="0">
              <a:buNone/>
            </a:pP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2570582316"/>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FC2B8-B922-40EF-9179-528C8D64EB7F}"/>
              </a:ext>
            </a:extLst>
          </p:cNvPr>
          <p:cNvSpPr>
            <a:spLocks noGrp="1"/>
          </p:cNvSpPr>
          <p:nvPr>
            <p:ph type="title"/>
          </p:nvPr>
        </p:nvSpPr>
        <p:spPr/>
        <p:txBody>
          <a:bodyPr/>
          <a:lstStyle/>
          <a:p>
            <a:r>
              <a:rPr lang="zh-CN" altLang="en-US" dirty="0"/>
              <a:t>整数数组</a:t>
            </a:r>
            <a:r>
              <a:rPr lang="en-US" altLang="zh-CN" dirty="0" err="1"/>
              <a:t>qsort</a:t>
            </a:r>
            <a:r>
              <a:rPr lang="zh-CN" altLang="en-US" dirty="0"/>
              <a:t>调用实例</a:t>
            </a:r>
          </a:p>
        </p:txBody>
      </p:sp>
      <p:sp>
        <p:nvSpPr>
          <p:cNvPr id="3" name="内容占位符 2">
            <a:extLst>
              <a:ext uri="{FF2B5EF4-FFF2-40B4-BE49-F238E27FC236}">
                <a16:creationId xmlns:a16="http://schemas.microsoft.com/office/drawing/2014/main" id="{74353F2A-AA2B-41F6-AF5E-591984C7B801}"/>
              </a:ext>
            </a:extLst>
          </p:cNvPr>
          <p:cNvSpPr>
            <a:spLocks noGrp="1"/>
          </p:cNvSpPr>
          <p:nvPr>
            <p:ph idx="1"/>
          </p:nvPr>
        </p:nvSpPr>
        <p:spPr>
          <a:xfrm>
            <a:off x="323082" y="1125538"/>
            <a:ext cx="8712968" cy="5328592"/>
          </a:xfrm>
        </p:spPr>
        <p:txBody>
          <a:bodyPr/>
          <a:lstStyle/>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#include&lt;stdlib.h&gt;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#include&lt;stdio.h&gt;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int main(void)</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a:t>
            </a:r>
            <a:r>
              <a:rPr kumimoji="0" lang="en-US" altLang="zh-CN" sz="2000" i="0" u="none" strike="noStrike" cap="none" normalizeH="0" baseline="0" dirty="0">
                <a:ln>
                  <a:noFill/>
                </a:ln>
                <a:solidFill>
                  <a:srgbClr val="000000"/>
                </a:solidFill>
                <a:effectLst/>
                <a:latin typeface="Consolas" panose="020B0609020204030204" pitchFamily="49" charset="0"/>
              </a:rPr>
              <a:t>int </a:t>
            </a:r>
            <a:r>
              <a:rPr kumimoji="0" lang="zh-CN" altLang="zh-CN" sz="2000" i="0" u="none" strike="noStrike" cap="none" normalizeH="0" baseline="0" dirty="0">
                <a:ln>
                  <a:noFill/>
                </a:ln>
                <a:solidFill>
                  <a:srgbClr val="000000"/>
                </a:solidFill>
                <a:effectLst/>
                <a:latin typeface="Consolas" panose="020B0609020204030204" pitchFamily="49" charset="0"/>
              </a:rPr>
              <a:t>array[10]={</a:t>
            </a:r>
            <a:r>
              <a:rPr kumimoji="0" lang="en-US" altLang="zh-CN" sz="2000" i="0" u="none" strike="noStrike" cap="none" normalizeH="0" baseline="0" dirty="0">
                <a:ln>
                  <a:noFill/>
                </a:ln>
                <a:solidFill>
                  <a:srgbClr val="000000"/>
                </a:solidFill>
                <a:effectLst/>
                <a:latin typeface="Consolas" panose="020B0609020204030204" pitchFamily="49" charset="0"/>
              </a:rPr>
              <a:t>9,8,7,6,5,4,3,2,1,0</a:t>
            </a:r>
            <a:r>
              <a:rPr kumimoji="0" lang="zh-CN" altLang="zh-CN" sz="2000" i="0" u="none" strike="noStrike" cap="none" normalizeH="0" baseline="0" dirty="0">
                <a:ln>
                  <a:noFill/>
                </a:ln>
                <a:solidFill>
                  <a:srgbClr val="000000"/>
                </a:solidFill>
                <a:effectLst/>
                <a:latin typeface="Consolas" panose="020B0609020204030204" pitchFamily="49" charset="0"/>
              </a:rPr>
              <a: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Sort the list */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qsort(</a:t>
            </a:r>
            <a:r>
              <a:rPr kumimoji="0" lang="en-US" altLang="zh-CN" sz="2000" i="0" u="none" strike="noStrike" cap="none" normalizeH="0" baseline="0" dirty="0" err="1">
                <a:ln>
                  <a:noFill/>
                </a:ln>
                <a:solidFill>
                  <a:srgbClr val="000000"/>
                </a:solidFill>
                <a:effectLst/>
                <a:latin typeface="Consolas" panose="020B0609020204030204" pitchFamily="49" charset="0"/>
              </a:rPr>
              <a:t>ar</a:t>
            </a:r>
            <a:r>
              <a:rPr kumimoji="0" lang="zh-CN" altLang="zh-CN" sz="2000" i="0" u="none" strike="noStrike" cap="none" normalizeH="0" baseline="0" dirty="0">
                <a:ln>
                  <a:noFill/>
                </a:ln>
                <a:solidFill>
                  <a:srgbClr val="000000"/>
                </a:solidFill>
                <a:effectLst/>
                <a:latin typeface="Consolas" panose="020B0609020204030204" pitchFamily="49" charset="0"/>
              </a:rPr>
              <a:t>ray,10,</a:t>
            </a:r>
            <a:r>
              <a:rPr kumimoji="0" lang="en-US" altLang="zh-CN" sz="2000" i="0" u="none" strike="noStrike" cap="none" normalizeH="0" baseline="0" dirty="0" err="1">
                <a:ln>
                  <a:noFill/>
                </a:ln>
                <a:solidFill>
                  <a:srgbClr val="000000"/>
                </a:solidFill>
                <a:effectLst/>
                <a:latin typeface="Consolas" panose="020B0609020204030204" pitchFamily="49" charset="0"/>
              </a:rPr>
              <a:t>sizeof</a:t>
            </a:r>
            <a:r>
              <a:rPr kumimoji="0" lang="en-US" altLang="zh-CN" sz="2000" i="0" u="none" strike="noStrike" cap="none" normalizeH="0" baseline="0" dirty="0">
                <a:ln>
                  <a:noFill/>
                </a:ln>
                <a:solidFill>
                  <a:srgbClr val="000000"/>
                </a:solidFill>
                <a:effectLst/>
                <a:latin typeface="Consolas" panose="020B0609020204030204" pitchFamily="49" charset="0"/>
              </a:rPr>
              <a:t>(int)</a:t>
            </a:r>
            <a:r>
              <a:rPr kumimoji="0" lang="zh-CN" altLang="zh-CN" sz="2000" i="0" u="none" strike="noStrike" cap="none" normalizeH="0" baseline="0" dirty="0">
                <a:ln>
                  <a:noFill/>
                </a:ln>
                <a:solidFill>
                  <a:srgbClr val="000000"/>
                </a:solidFill>
                <a:effectLst/>
                <a:latin typeface="Consolas" panose="020B0609020204030204" pitchFamily="49" charset="0"/>
              </a:rPr>
              <a:t>,c</a:t>
            </a:r>
            <a:r>
              <a:rPr kumimoji="0" lang="en-US" altLang="zh-CN" sz="2000" i="0" u="none" strike="noStrike" cap="none" normalizeH="0" baseline="0" dirty="0">
                <a:ln>
                  <a:noFill/>
                </a:ln>
                <a:solidFill>
                  <a:srgbClr val="000000"/>
                </a:solidFill>
                <a:effectLst/>
                <a:latin typeface="Consolas" panose="020B0609020204030204" pitchFamily="49" charset="0"/>
              </a:rPr>
              <a:t>o</a:t>
            </a:r>
            <a:r>
              <a:rPr kumimoji="0" lang="zh-CN" altLang="zh-CN" sz="2000" i="0" u="none" strike="noStrike" cap="none" normalizeH="0" baseline="0" dirty="0">
                <a:ln>
                  <a:noFill/>
                </a:ln>
                <a:solidFill>
                  <a:srgbClr val="000000"/>
                </a:solidFill>
                <a:effectLst/>
                <a:latin typeface="Consolas" panose="020B0609020204030204" pitchFamily="49" charset="0"/>
              </a:rPr>
              <a:t>mp</a:t>
            </a:r>
            <a:r>
              <a:rPr kumimoji="0" lang="en-US" altLang="zh-CN" sz="2000" i="0" u="none" strike="noStrike" cap="none" normalizeH="0" baseline="0" dirty="0">
                <a:ln>
                  <a:noFill/>
                </a:ln>
                <a:solidFill>
                  <a:srgbClr val="000000"/>
                </a:solidFill>
                <a:effectLst/>
                <a:latin typeface="Consolas" panose="020B0609020204030204" pitchFamily="49" charset="0"/>
              </a:rPr>
              <a:t>are</a:t>
            </a:r>
            <a:r>
              <a:rPr kumimoji="0" lang="zh-CN" altLang="zh-CN" sz="2000" i="0" u="none" strike="noStrike" cap="none" normalizeH="0" baseline="0" dirty="0">
                <a:ln>
                  <a:noFill/>
                </a:ln>
                <a:solidFill>
                  <a:srgbClr val="000000"/>
                </a:solidFill>
                <a:effectLst/>
                <a:latin typeface="Consolas" panose="020B0609020204030204" pitchFamily="49" charset="0"/>
              </a:rPr>
              <a: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Search for the item "</a:t>
            </a:r>
            <a:r>
              <a:rPr kumimoji="0" lang="en-US" altLang="zh-CN" sz="2000" i="0" u="none" strike="noStrike" cap="none" normalizeH="0" baseline="0" dirty="0">
                <a:ln>
                  <a:noFill/>
                </a:ln>
                <a:solidFill>
                  <a:srgbClr val="000000"/>
                </a:solidFill>
                <a:effectLst/>
                <a:latin typeface="Consolas" panose="020B0609020204030204" pitchFamily="49" charset="0"/>
              </a:rPr>
              <a:t>4</a:t>
            </a:r>
            <a:r>
              <a:rPr kumimoji="0" lang="zh-CN" altLang="zh-CN" sz="2000" i="0" u="none" strike="noStrike" cap="none" normalizeH="0" baseline="0" dirty="0">
                <a:ln>
                  <a:noFill/>
                </a:ln>
                <a:solidFill>
                  <a:srgbClr val="000000"/>
                </a:solidFill>
                <a:effectLst/>
                <a:latin typeface="Consolas" panose="020B0609020204030204" pitchFamily="49" charset="0"/>
              </a:rPr>
              <a:t>" and print it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lang="en-US" altLang="zh-CN" sz="2000" dirty="0">
                <a:solidFill>
                  <a:srgbClr val="000000"/>
                </a:solidFill>
                <a:latin typeface="Consolas" panose="020B0609020204030204" pitchFamily="49" charset="0"/>
              </a:rPr>
              <a:t> int key=4;</a:t>
            </a: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printf("%</a:t>
            </a:r>
            <a:r>
              <a:rPr kumimoji="0" lang="en-US" altLang="zh-CN" sz="2000" i="0" u="none" strike="noStrike" cap="none" normalizeH="0" baseline="0" dirty="0">
                <a:ln>
                  <a:noFill/>
                </a:ln>
                <a:solidFill>
                  <a:srgbClr val="000000"/>
                </a:solidFill>
                <a:effectLst/>
                <a:latin typeface="Consolas" panose="020B0609020204030204" pitchFamily="49" charset="0"/>
              </a:rPr>
              <a:t>d</a:t>
            </a:r>
            <a:r>
              <a:rPr kumimoji="0" lang="zh-CN" altLang="zh-CN" sz="2000" i="0" u="none" strike="noStrike" cap="none" normalizeH="0" baseline="0" dirty="0">
                <a:ln>
                  <a:noFill/>
                </a:ln>
                <a:solidFill>
                  <a:srgbClr val="000000"/>
                </a:solidFill>
                <a:effectLst/>
                <a:latin typeface="Consolas" panose="020B0609020204030204" pitchFamily="49" charset="0"/>
              </a:rPr>
              <a:t>",</a:t>
            </a:r>
            <a:r>
              <a:rPr kumimoji="0" lang="en-US" altLang="zh-CN" sz="2000" i="0" u="none" strike="noStrike" cap="none" normalizeH="0" baseline="0" dirty="0">
                <a:ln>
                  <a:noFill/>
                </a:ln>
                <a:solidFill>
                  <a:srgbClr val="000000"/>
                </a:solidFill>
                <a:effectLst/>
                <a:latin typeface="Consolas" panose="020B0609020204030204" pitchFamily="49" charset="0"/>
              </a:rPr>
              <a:t>*(int *)</a:t>
            </a:r>
            <a:r>
              <a:rPr kumimoji="0" lang="zh-CN" altLang="zh-CN" sz="2000" i="0" u="none" strike="noStrike" cap="none" normalizeH="0" baseline="0" dirty="0">
                <a:ln>
                  <a:noFill/>
                </a:ln>
                <a:solidFill>
                  <a:srgbClr val="000000"/>
                </a:solidFill>
                <a:effectLst/>
                <a:latin typeface="Consolas" panose="020B0609020204030204" pitchFamily="49" charset="0"/>
              </a:rPr>
              <a:t>bsearch(</a:t>
            </a:r>
            <a:r>
              <a:rPr kumimoji="0" lang="en-US" altLang="zh-CN" sz="2000" i="0" u="none" strike="noStrike" cap="none" normalizeH="0" baseline="0" dirty="0">
                <a:ln>
                  <a:noFill/>
                </a:ln>
                <a:solidFill>
                  <a:srgbClr val="000000"/>
                </a:solidFill>
                <a:effectLst/>
                <a:latin typeface="Consolas" panose="020B0609020204030204" pitchFamily="49" charset="0"/>
              </a:rPr>
              <a:t>&amp;key</a:t>
            </a:r>
            <a:r>
              <a:rPr kumimoji="0" lang="zh-CN" altLang="zh-CN" sz="2000" i="0" u="none" strike="noStrike" cap="none" normalizeH="0" baseline="0" dirty="0">
                <a:ln>
                  <a:noFill/>
                </a:ln>
                <a:solidFill>
                  <a:srgbClr val="000000"/>
                </a:solidFill>
                <a:effectLst/>
                <a:latin typeface="Consolas" panose="020B0609020204030204" pitchFamily="49" charset="0"/>
              </a:rPr>
              <a:t>,array,10,</a:t>
            </a:r>
            <a:r>
              <a:rPr kumimoji="0" lang="en-US" altLang="zh-CN" sz="2000" i="0" u="none" strike="noStrike" cap="none" normalizeH="0" baseline="0" dirty="0">
                <a:ln>
                  <a:noFill/>
                </a:ln>
                <a:solidFill>
                  <a:srgbClr val="000000"/>
                </a:solidFill>
                <a:effectLst/>
                <a:latin typeface="Consolas" panose="020B0609020204030204" pitchFamily="49" charset="0"/>
              </a:rPr>
              <a:t> </a:t>
            </a:r>
            <a:r>
              <a:rPr kumimoji="0" lang="en-US" altLang="zh-CN" sz="2000" i="0" u="none" strike="noStrike" cap="none" normalizeH="0" baseline="0" dirty="0" err="1">
                <a:ln>
                  <a:noFill/>
                </a:ln>
                <a:solidFill>
                  <a:srgbClr val="000000"/>
                </a:solidFill>
                <a:effectLst/>
                <a:latin typeface="Consolas" panose="020B0609020204030204" pitchFamily="49" charset="0"/>
              </a:rPr>
              <a:t>sizeof</a:t>
            </a:r>
            <a:r>
              <a:rPr kumimoji="0" lang="en-US" altLang="zh-CN" sz="2000" i="0" u="none" strike="noStrike" cap="none" normalizeH="0" baseline="0" dirty="0">
                <a:ln>
                  <a:noFill/>
                </a:ln>
                <a:solidFill>
                  <a:srgbClr val="000000"/>
                </a:solidFill>
                <a:effectLst/>
                <a:latin typeface="Consolas" panose="020B0609020204030204" pitchFamily="49" charset="0"/>
              </a:rPr>
              <a:t>(int)</a:t>
            </a:r>
            <a:r>
              <a:rPr kumimoji="0" lang="zh-CN" altLang="zh-CN" sz="2000" i="0" u="none" strike="noStrike" cap="none" normalizeH="0" baseline="0" dirty="0">
                <a:ln>
                  <a:noFill/>
                </a:ln>
                <a:solidFill>
                  <a:srgbClr val="000000"/>
                </a:solidFill>
                <a:effectLst/>
                <a:latin typeface="Consolas" panose="020B0609020204030204" pitchFamily="49" charset="0"/>
              </a:rPr>
              <a:t>, c</a:t>
            </a:r>
            <a:r>
              <a:rPr kumimoji="0" lang="en-US" altLang="zh-CN" sz="2000" i="0" u="none" strike="noStrike" cap="none" normalizeH="0" baseline="0" dirty="0">
                <a:ln>
                  <a:noFill/>
                </a:ln>
                <a:solidFill>
                  <a:srgbClr val="000000"/>
                </a:solidFill>
                <a:effectLst/>
                <a:latin typeface="Consolas" panose="020B0609020204030204" pitchFamily="49" charset="0"/>
              </a:rPr>
              <a:t>o</a:t>
            </a:r>
            <a:r>
              <a:rPr kumimoji="0" lang="zh-CN" altLang="zh-CN" sz="2000" i="0" u="none" strike="noStrike" cap="none" normalizeH="0" baseline="0" dirty="0">
                <a:ln>
                  <a:noFill/>
                </a:ln>
                <a:solidFill>
                  <a:srgbClr val="000000"/>
                </a:solidFill>
                <a:effectLst/>
                <a:latin typeface="Consolas" panose="020B0609020204030204" pitchFamily="49" charset="0"/>
              </a:rPr>
              <a:t>mp</a:t>
            </a:r>
            <a:r>
              <a:rPr kumimoji="0" lang="en-US" altLang="zh-CN" sz="2000" i="0" u="none" strike="noStrike" cap="none" normalizeH="0" baseline="0" dirty="0">
                <a:ln>
                  <a:noFill/>
                </a:ln>
                <a:solidFill>
                  <a:srgbClr val="000000"/>
                </a:solidFill>
                <a:effectLst/>
                <a:latin typeface="Consolas" panose="020B0609020204030204" pitchFamily="49" charset="0"/>
              </a:rPr>
              <a:t>are</a:t>
            </a:r>
            <a:r>
              <a:rPr kumimoji="0" lang="zh-CN" altLang="zh-CN" sz="2000" i="0" u="none" strike="noStrike" cap="none" normalizeH="0" baseline="0" dirty="0">
                <a:ln>
                  <a:noFill/>
                </a:ln>
                <a:solidFill>
                  <a:srgbClr val="000000"/>
                </a:solidFill>
                <a:effectLst/>
                <a:latin typeface="Consolas" panose="020B0609020204030204" pitchFamily="49" charset="0"/>
              </a:rPr>
              <a: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return 0;</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a:t>
            </a:r>
            <a:r>
              <a:rPr kumimoji="0" lang="zh-CN" altLang="zh-CN" sz="2000" i="0" u="none" strike="noStrike" cap="none" normalizeH="0" baseline="0" dirty="0">
                <a:ln>
                  <a:noFill/>
                </a:ln>
                <a:solidFill>
                  <a:schemeClr val="tx1"/>
                </a:solidFill>
                <a:effectLst/>
                <a:latin typeface="Consolas" panose="020B0609020204030204" pitchFamily="49" charset="0"/>
              </a:rPr>
              <a:t> </a:t>
            </a:r>
          </a:p>
          <a:p>
            <a:pPr marL="0" indent="0">
              <a:buNone/>
            </a:pPr>
            <a:r>
              <a:rPr lang="en-US" altLang="zh-CN" sz="2000" b="0" i="0" dirty="0">
                <a:solidFill>
                  <a:srgbClr val="0000FF"/>
                </a:solidFill>
                <a:effectLst/>
                <a:latin typeface="Consolas" panose="020B0609020204030204" pitchFamily="49" charset="0"/>
              </a:rPr>
              <a:t>int</a:t>
            </a:r>
            <a:r>
              <a:rPr lang="en-US" altLang="zh-CN" sz="2000" b="0" i="0" dirty="0">
                <a:solidFill>
                  <a:srgbClr val="000000"/>
                </a:solidFill>
                <a:effectLst/>
                <a:latin typeface="Consolas" panose="020B0609020204030204" pitchFamily="49" charset="0"/>
              </a:rPr>
              <a:t> </a:t>
            </a:r>
            <a:r>
              <a:rPr lang="en-US" altLang="zh-CN" sz="2000" b="0" i="0" dirty="0">
                <a:solidFill>
                  <a:srgbClr val="A31515"/>
                </a:solidFill>
                <a:effectLst/>
                <a:latin typeface="Consolas" panose="020B0609020204030204" pitchFamily="49" charset="0"/>
              </a:rPr>
              <a:t>compare</a:t>
            </a:r>
            <a:r>
              <a:rPr lang="en-US" altLang="zh-CN" sz="2000" b="0" i="0" dirty="0">
                <a:solidFill>
                  <a:srgbClr val="000000"/>
                </a:solidFill>
                <a:effectLst/>
                <a:latin typeface="Consolas" panose="020B0609020204030204" pitchFamily="49" charset="0"/>
              </a:rPr>
              <a:t>(</a:t>
            </a:r>
            <a:r>
              <a:rPr lang="en-US" altLang="zh-CN" sz="2000" b="0" i="0" dirty="0">
                <a:solidFill>
                  <a:srgbClr val="0000FF"/>
                </a:solidFill>
                <a:effectLst/>
                <a:latin typeface="Consolas" panose="020B0609020204030204" pitchFamily="49" charset="0"/>
              </a:rPr>
              <a:t>const</a:t>
            </a: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void</a:t>
            </a:r>
            <a:r>
              <a:rPr lang="en-US" altLang="zh-CN" sz="2000" b="0" i="0" dirty="0">
                <a:solidFill>
                  <a:srgbClr val="000000"/>
                </a:solidFill>
                <a:effectLst/>
                <a:latin typeface="Consolas" panose="020B0609020204030204" pitchFamily="49" charset="0"/>
              </a:rPr>
              <a:t> *</a:t>
            </a:r>
            <a:r>
              <a:rPr lang="en-US" altLang="zh-CN" sz="2000" b="0" i="0" dirty="0" err="1">
                <a:solidFill>
                  <a:srgbClr val="000000"/>
                </a:solidFill>
                <a:effectLst/>
                <a:latin typeface="Consolas" panose="020B0609020204030204" pitchFamily="49" charset="0"/>
              </a:rPr>
              <a:t>p,</a:t>
            </a:r>
            <a:r>
              <a:rPr lang="en-US" altLang="zh-CN" sz="2000" b="0" i="0" dirty="0" err="1">
                <a:solidFill>
                  <a:srgbClr val="0000FF"/>
                </a:solidFill>
                <a:effectLst/>
                <a:latin typeface="Consolas" panose="020B0609020204030204" pitchFamily="49" charset="0"/>
              </a:rPr>
              <a:t>const</a:t>
            </a: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void</a:t>
            </a:r>
            <a:r>
              <a:rPr lang="en-US" altLang="zh-CN" sz="2000" b="0" i="0" dirty="0">
                <a:solidFill>
                  <a:srgbClr val="000000"/>
                </a:solidFill>
                <a:effectLst/>
                <a:latin typeface="Consolas" panose="020B0609020204030204" pitchFamily="49" charset="0"/>
              </a:rPr>
              <a:t> *q) {</a:t>
            </a:r>
          </a:p>
          <a:p>
            <a:pPr marL="0" indent="0">
              <a:buNone/>
            </a:pP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return</a:t>
            </a: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int</a:t>
            </a:r>
            <a:r>
              <a:rPr lang="en-US" altLang="zh-CN" sz="2000" b="0" i="0" dirty="0">
                <a:solidFill>
                  <a:srgbClr val="000000"/>
                </a:solidFill>
                <a:effectLst/>
                <a:latin typeface="Consolas" panose="020B0609020204030204" pitchFamily="49" charset="0"/>
              </a:rPr>
              <a:t> *)p-*(</a:t>
            </a:r>
            <a:r>
              <a:rPr lang="en-US" altLang="zh-CN" sz="2000" b="0" i="0" dirty="0">
                <a:solidFill>
                  <a:srgbClr val="0000FF"/>
                </a:solidFill>
                <a:effectLst/>
                <a:latin typeface="Consolas" panose="020B0609020204030204" pitchFamily="49" charset="0"/>
              </a:rPr>
              <a:t>int</a:t>
            </a:r>
            <a:r>
              <a:rPr lang="en-US" altLang="zh-CN" sz="2000" b="0" i="0" dirty="0">
                <a:solidFill>
                  <a:srgbClr val="000000"/>
                </a:solidFill>
                <a:effectLst/>
                <a:latin typeface="Consolas" panose="020B0609020204030204" pitchFamily="49" charset="0"/>
              </a:rPr>
              <a:t> *)q;</a:t>
            </a:r>
          </a:p>
          <a:p>
            <a:pPr marL="0" indent="0">
              <a:buNone/>
            </a:pPr>
            <a:r>
              <a:rPr lang="en-US" altLang="zh-CN" sz="2000" b="0" i="0" dirty="0">
                <a:solidFill>
                  <a:srgbClr val="000000"/>
                </a:solidFill>
                <a:effectLst/>
                <a:latin typeface="Consolas" panose="020B0609020204030204" pitchFamily="49" charset="0"/>
              </a:rPr>
              <a:t>}</a:t>
            </a: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284431315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72B4C-25CE-410D-AEBB-A56174F9A11E}"/>
              </a:ext>
            </a:extLst>
          </p:cNvPr>
          <p:cNvSpPr>
            <a:spLocks noGrp="1"/>
          </p:cNvSpPr>
          <p:nvPr>
            <p:ph type="title"/>
          </p:nvPr>
        </p:nvSpPr>
        <p:spPr/>
        <p:txBody>
          <a:bodyPr/>
          <a:lstStyle/>
          <a:p>
            <a:r>
              <a:rPr lang="zh-CN" altLang="en-US" dirty="0"/>
              <a:t>多字符串</a:t>
            </a:r>
            <a:r>
              <a:rPr lang="en-US" altLang="zh-CN" dirty="0" err="1"/>
              <a:t>qsort</a:t>
            </a:r>
            <a:r>
              <a:rPr lang="zh-CN" altLang="en-US" dirty="0"/>
              <a:t>降序排列</a:t>
            </a:r>
          </a:p>
        </p:txBody>
      </p:sp>
      <p:sp>
        <p:nvSpPr>
          <p:cNvPr id="3" name="内容占位符 2">
            <a:extLst>
              <a:ext uri="{FF2B5EF4-FFF2-40B4-BE49-F238E27FC236}">
                <a16:creationId xmlns:a16="http://schemas.microsoft.com/office/drawing/2014/main" id="{E53C9521-69E9-43E2-8EF1-3FB22832938D}"/>
              </a:ext>
            </a:extLst>
          </p:cNvPr>
          <p:cNvSpPr>
            <a:spLocks noGrp="1"/>
          </p:cNvSpPr>
          <p:nvPr>
            <p:ph idx="1"/>
          </p:nvPr>
        </p:nvSpPr>
        <p:spPr>
          <a:xfrm>
            <a:off x="395536" y="1125538"/>
            <a:ext cx="7772400" cy="4611687"/>
          </a:xfrm>
        </p:spPr>
        <p:txBody>
          <a:bodyPr/>
          <a:lstStyle/>
          <a:p>
            <a:pPr marL="0" indent="0">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stdlib.h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int compare(const void *</a:t>
            </a:r>
            <a:r>
              <a:rPr lang="en-US" altLang="zh-CN" sz="2000" dirty="0" err="1">
                <a:latin typeface="Consolas" panose="020B0609020204030204" pitchFamily="49" charset="0"/>
              </a:rPr>
              <a:t>p,const</a:t>
            </a:r>
            <a:r>
              <a:rPr lang="en-US" altLang="zh-CN" sz="2000" dirty="0">
                <a:latin typeface="Consolas" panose="020B0609020204030204" pitchFamily="49" charset="0"/>
              </a:rPr>
              <a:t> void *q);</a:t>
            </a:r>
          </a:p>
          <a:p>
            <a:pPr marL="0" indent="0">
              <a:buNone/>
            </a:pPr>
            <a:r>
              <a:rPr lang="en-US" altLang="zh-CN" sz="2000" dirty="0">
                <a:latin typeface="Consolas" panose="020B0609020204030204" pitchFamily="49" charset="0"/>
              </a:rPr>
              <a:t>int main(void){</a:t>
            </a:r>
          </a:p>
          <a:p>
            <a:pPr marL="0" indent="0">
              <a:buNone/>
            </a:pPr>
            <a:r>
              <a:rPr lang="en-US" altLang="zh-CN" sz="2000" dirty="0">
                <a:latin typeface="Consolas" panose="020B0609020204030204" pitchFamily="49" charset="0"/>
              </a:rPr>
              <a:t> char </a:t>
            </a:r>
            <a:r>
              <a:rPr lang="en-US" altLang="zh-CN" sz="2000" dirty="0" err="1">
                <a:latin typeface="Consolas" panose="020B0609020204030204" pitchFamily="49" charset="0"/>
              </a:rPr>
              <a:t>string_array</a:t>
            </a:r>
            <a:r>
              <a:rPr lang="en-US" altLang="zh-CN" sz="2000" dirty="0">
                <a:latin typeface="Consolas" panose="020B0609020204030204" pitchFamily="49" charset="0"/>
              </a:rPr>
              <a:t>[10][50]={"John", "Jane", "Mary", "</a:t>
            </a:r>
            <a:r>
              <a:rPr lang="en-US" altLang="zh-CN" sz="2000" dirty="0" err="1">
                <a:latin typeface="Consolas" panose="020B0609020204030204" pitchFamily="49" charset="0"/>
              </a:rPr>
              <a:t>Rogery</a:t>
            </a:r>
            <a:r>
              <a:rPr lang="en-US" altLang="zh-CN" sz="2000" dirty="0">
                <a:latin typeface="Consolas" panose="020B0609020204030204" pitchFamily="49" charset="0"/>
              </a:rPr>
              <a:t>", "Dave", "Paul", "Beavis", "Astro", "George", "Elroy"};</a:t>
            </a:r>
          </a:p>
          <a:p>
            <a:pPr marL="0" indent="0">
              <a:buNone/>
            </a:pPr>
            <a:r>
              <a:rPr lang="en-US" altLang="zh-CN" sz="2000" dirty="0">
                <a:latin typeface="Consolas" panose="020B0609020204030204" pitchFamily="49" charset="0"/>
              </a:rPr>
              <a:t>/* Sort the list */</a:t>
            </a:r>
          </a:p>
          <a:p>
            <a:pPr marL="0" indent="0">
              <a:buNone/>
            </a:pPr>
            <a:r>
              <a:rPr lang="en-US" altLang="zh-CN" sz="2000" dirty="0" err="1">
                <a:latin typeface="Consolas" panose="020B0609020204030204" pitchFamily="49" charset="0"/>
              </a:rPr>
              <a:t>qsort</a:t>
            </a:r>
            <a:r>
              <a:rPr lang="en-US" altLang="zh-CN" sz="2000" dirty="0">
                <a:latin typeface="Consolas" panose="020B0609020204030204" pitchFamily="49" charset="0"/>
              </a:rPr>
              <a:t>(</a:t>
            </a:r>
            <a:r>
              <a:rPr lang="en-US" altLang="zh-CN" sz="2000" dirty="0" err="1">
                <a:latin typeface="Consolas" panose="020B0609020204030204" pitchFamily="49" charset="0"/>
              </a:rPr>
              <a:t>string_array,10,50,compare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Search for the item "Elroy" and print it */</a:t>
            </a:r>
          </a:p>
          <a:p>
            <a:pPr marL="0" indent="0">
              <a:buNone/>
            </a:pPr>
            <a:r>
              <a:rPr lang="en-US" altLang="zh-CN" sz="2000" dirty="0" err="1">
                <a:latin typeface="Consolas" panose="020B0609020204030204" pitchFamily="49" charset="0"/>
              </a:rPr>
              <a:t>printf</a:t>
            </a:r>
            <a:r>
              <a:rPr lang="en-US" altLang="zh-CN" sz="2000" dirty="0">
                <a:latin typeface="Consolas" panose="020B0609020204030204" pitchFamily="49" charset="0"/>
              </a:rPr>
              <a:t>("%s",</a:t>
            </a:r>
            <a:r>
              <a:rPr lang="en-US" altLang="zh-CN" sz="2000" dirty="0" err="1">
                <a:latin typeface="Consolas" panose="020B0609020204030204" pitchFamily="49" charset="0"/>
              </a:rPr>
              <a:t>bsearch</a:t>
            </a:r>
            <a:r>
              <a:rPr lang="en-US" altLang="zh-CN" sz="2000" dirty="0">
                <a:latin typeface="Consolas" panose="020B0609020204030204" pitchFamily="49" charset="0"/>
              </a:rPr>
              <a:t>("Elroy",</a:t>
            </a:r>
            <a:r>
              <a:rPr lang="en-US" altLang="zh-CN" sz="2000" dirty="0" err="1">
                <a:latin typeface="Consolas" panose="020B0609020204030204" pitchFamily="49" charset="0"/>
              </a:rPr>
              <a:t>string_array,10,50,compare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int compare(const void *</a:t>
            </a:r>
            <a:r>
              <a:rPr lang="en-US" altLang="zh-CN" sz="2000" dirty="0" err="1">
                <a:latin typeface="Consolas" panose="020B0609020204030204" pitchFamily="49" charset="0"/>
              </a:rPr>
              <a:t>p,const</a:t>
            </a:r>
            <a:r>
              <a:rPr lang="en-US" altLang="zh-CN" sz="2000" dirty="0">
                <a:latin typeface="Consolas" panose="020B0609020204030204" pitchFamily="49" charset="0"/>
              </a:rPr>
              <a:t> void *q) {</a:t>
            </a:r>
          </a:p>
          <a:p>
            <a:pPr marL="0" indent="0">
              <a:buNone/>
            </a:pPr>
            <a:r>
              <a:rPr lang="en-US" altLang="zh-CN" sz="2000" dirty="0">
                <a:latin typeface="Consolas" panose="020B0609020204030204" pitchFamily="49" charset="0"/>
              </a:rPr>
              <a:t> return -1*(</a:t>
            </a:r>
            <a:r>
              <a:rPr lang="en-US" altLang="zh-CN" sz="2000" dirty="0" err="1">
                <a:latin typeface="Consolas" panose="020B0609020204030204" pitchFamily="49" charset="0"/>
              </a:rPr>
              <a:t>strcmp</a:t>
            </a:r>
            <a:r>
              <a:rPr lang="en-US" altLang="zh-CN" sz="2000" dirty="0">
                <a:latin typeface="Consolas" panose="020B0609020204030204" pitchFamily="49" charset="0"/>
              </a:rPr>
              <a:t>(</a:t>
            </a:r>
            <a:r>
              <a:rPr lang="en-US" altLang="zh-CN" sz="2000" dirty="0" err="1">
                <a:latin typeface="Consolas" panose="020B0609020204030204" pitchFamily="49" charset="0"/>
              </a:rPr>
              <a:t>p,q</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a:t>
            </a:r>
          </a:p>
          <a:p>
            <a:pPr marL="0" indent="0">
              <a:buNone/>
            </a:pP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154938162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FC2B8-B922-40EF-9179-528C8D64EB7F}"/>
              </a:ext>
            </a:extLst>
          </p:cNvPr>
          <p:cNvSpPr>
            <a:spLocks noGrp="1"/>
          </p:cNvSpPr>
          <p:nvPr>
            <p:ph type="title"/>
          </p:nvPr>
        </p:nvSpPr>
        <p:spPr/>
        <p:txBody>
          <a:bodyPr/>
          <a:lstStyle/>
          <a:p>
            <a:r>
              <a:rPr lang="zh-CN" altLang="en-US" dirty="0"/>
              <a:t>整数数组</a:t>
            </a:r>
            <a:r>
              <a:rPr lang="en-US" altLang="zh-CN" dirty="0" err="1"/>
              <a:t>qsort</a:t>
            </a:r>
            <a:r>
              <a:rPr lang="zh-CN" altLang="en-US" dirty="0"/>
              <a:t>降序排序</a:t>
            </a:r>
          </a:p>
        </p:txBody>
      </p:sp>
      <p:sp>
        <p:nvSpPr>
          <p:cNvPr id="3" name="内容占位符 2">
            <a:extLst>
              <a:ext uri="{FF2B5EF4-FFF2-40B4-BE49-F238E27FC236}">
                <a16:creationId xmlns:a16="http://schemas.microsoft.com/office/drawing/2014/main" id="{74353F2A-AA2B-41F6-AF5E-591984C7B801}"/>
              </a:ext>
            </a:extLst>
          </p:cNvPr>
          <p:cNvSpPr>
            <a:spLocks noGrp="1"/>
          </p:cNvSpPr>
          <p:nvPr>
            <p:ph idx="1"/>
          </p:nvPr>
        </p:nvSpPr>
        <p:spPr>
          <a:xfrm>
            <a:off x="323082" y="1125538"/>
            <a:ext cx="8712968" cy="5328592"/>
          </a:xfrm>
        </p:spPr>
        <p:txBody>
          <a:bodyPr/>
          <a:lstStyle/>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#include&lt;stdlib.h&gt;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#include&lt;stdio.h&gt;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int main(void)</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a:t>
            </a:r>
            <a:r>
              <a:rPr kumimoji="0" lang="en-US" altLang="zh-CN" sz="2000" i="0" u="none" strike="noStrike" cap="none" normalizeH="0" baseline="0" dirty="0">
                <a:ln>
                  <a:noFill/>
                </a:ln>
                <a:solidFill>
                  <a:srgbClr val="000000"/>
                </a:solidFill>
                <a:effectLst/>
                <a:latin typeface="Consolas" panose="020B0609020204030204" pitchFamily="49" charset="0"/>
              </a:rPr>
              <a:t>int </a:t>
            </a:r>
            <a:r>
              <a:rPr kumimoji="0" lang="zh-CN" altLang="zh-CN" sz="2000" i="0" u="none" strike="noStrike" cap="none" normalizeH="0" baseline="0" dirty="0">
                <a:ln>
                  <a:noFill/>
                </a:ln>
                <a:solidFill>
                  <a:srgbClr val="000000"/>
                </a:solidFill>
                <a:effectLst/>
                <a:latin typeface="Consolas" panose="020B0609020204030204" pitchFamily="49" charset="0"/>
              </a:rPr>
              <a:t>array[10]={</a:t>
            </a:r>
            <a:r>
              <a:rPr kumimoji="0" lang="en-US" altLang="zh-CN" sz="2000" i="0" u="none" strike="noStrike" cap="none" normalizeH="0" baseline="0" dirty="0">
                <a:ln>
                  <a:noFill/>
                </a:ln>
                <a:solidFill>
                  <a:srgbClr val="000000"/>
                </a:solidFill>
                <a:effectLst/>
                <a:latin typeface="Consolas" panose="020B0609020204030204" pitchFamily="49" charset="0"/>
              </a:rPr>
              <a:t>9,8,7,6,5,4,3,2,1,0</a:t>
            </a:r>
            <a:r>
              <a:rPr kumimoji="0" lang="zh-CN" altLang="zh-CN" sz="2000" i="0" u="none" strike="noStrike" cap="none" normalizeH="0" baseline="0" dirty="0">
                <a:ln>
                  <a:noFill/>
                </a:ln>
                <a:solidFill>
                  <a:srgbClr val="000000"/>
                </a:solidFill>
                <a:effectLst/>
                <a:latin typeface="Consolas" panose="020B0609020204030204" pitchFamily="49" charset="0"/>
              </a:rPr>
              <a: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Sort the list */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qsort(</a:t>
            </a:r>
            <a:r>
              <a:rPr kumimoji="0" lang="en-US" altLang="zh-CN" sz="2000" i="0" u="none" strike="noStrike" cap="none" normalizeH="0" baseline="0" dirty="0" err="1">
                <a:ln>
                  <a:noFill/>
                </a:ln>
                <a:solidFill>
                  <a:srgbClr val="000000"/>
                </a:solidFill>
                <a:effectLst/>
                <a:latin typeface="Consolas" panose="020B0609020204030204" pitchFamily="49" charset="0"/>
              </a:rPr>
              <a:t>ar</a:t>
            </a:r>
            <a:r>
              <a:rPr kumimoji="0" lang="zh-CN" altLang="zh-CN" sz="2000" i="0" u="none" strike="noStrike" cap="none" normalizeH="0" baseline="0" dirty="0">
                <a:ln>
                  <a:noFill/>
                </a:ln>
                <a:solidFill>
                  <a:srgbClr val="000000"/>
                </a:solidFill>
                <a:effectLst/>
                <a:latin typeface="Consolas" panose="020B0609020204030204" pitchFamily="49" charset="0"/>
              </a:rPr>
              <a:t>ray,10,</a:t>
            </a:r>
            <a:r>
              <a:rPr kumimoji="0" lang="en-US" altLang="zh-CN" sz="2000" i="0" u="none" strike="noStrike" cap="none" normalizeH="0" baseline="0" dirty="0" err="1">
                <a:ln>
                  <a:noFill/>
                </a:ln>
                <a:solidFill>
                  <a:srgbClr val="000000"/>
                </a:solidFill>
                <a:effectLst/>
                <a:latin typeface="Consolas" panose="020B0609020204030204" pitchFamily="49" charset="0"/>
              </a:rPr>
              <a:t>sizeof</a:t>
            </a:r>
            <a:r>
              <a:rPr kumimoji="0" lang="en-US" altLang="zh-CN" sz="2000" i="0" u="none" strike="noStrike" cap="none" normalizeH="0" baseline="0" dirty="0">
                <a:ln>
                  <a:noFill/>
                </a:ln>
                <a:solidFill>
                  <a:srgbClr val="000000"/>
                </a:solidFill>
                <a:effectLst/>
                <a:latin typeface="Consolas" panose="020B0609020204030204" pitchFamily="49" charset="0"/>
              </a:rPr>
              <a:t>(int)</a:t>
            </a:r>
            <a:r>
              <a:rPr kumimoji="0" lang="zh-CN" altLang="zh-CN" sz="2000" i="0" u="none" strike="noStrike" cap="none" normalizeH="0" baseline="0" dirty="0">
                <a:ln>
                  <a:noFill/>
                </a:ln>
                <a:solidFill>
                  <a:srgbClr val="000000"/>
                </a:solidFill>
                <a:effectLst/>
                <a:latin typeface="Consolas" panose="020B0609020204030204" pitchFamily="49" charset="0"/>
              </a:rPr>
              <a:t>,c</a:t>
            </a:r>
            <a:r>
              <a:rPr kumimoji="0" lang="en-US" altLang="zh-CN" sz="2000" i="0" u="none" strike="noStrike" cap="none" normalizeH="0" baseline="0" dirty="0">
                <a:ln>
                  <a:noFill/>
                </a:ln>
                <a:solidFill>
                  <a:srgbClr val="000000"/>
                </a:solidFill>
                <a:effectLst/>
                <a:latin typeface="Consolas" panose="020B0609020204030204" pitchFamily="49" charset="0"/>
              </a:rPr>
              <a:t>o</a:t>
            </a:r>
            <a:r>
              <a:rPr kumimoji="0" lang="zh-CN" altLang="zh-CN" sz="2000" i="0" u="none" strike="noStrike" cap="none" normalizeH="0" baseline="0" dirty="0">
                <a:ln>
                  <a:noFill/>
                </a:ln>
                <a:solidFill>
                  <a:srgbClr val="000000"/>
                </a:solidFill>
                <a:effectLst/>
                <a:latin typeface="Consolas" panose="020B0609020204030204" pitchFamily="49" charset="0"/>
              </a:rPr>
              <a:t>mp</a:t>
            </a:r>
            <a:r>
              <a:rPr kumimoji="0" lang="en-US" altLang="zh-CN" sz="2000" i="0" u="none" strike="noStrike" cap="none" normalizeH="0" baseline="0" dirty="0">
                <a:ln>
                  <a:noFill/>
                </a:ln>
                <a:solidFill>
                  <a:srgbClr val="000000"/>
                </a:solidFill>
                <a:effectLst/>
                <a:latin typeface="Consolas" panose="020B0609020204030204" pitchFamily="49" charset="0"/>
              </a:rPr>
              <a:t>are</a:t>
            </a:r>
            <a:r>
              <a:rPr kumimoji="0" lang="zh-CN" altLang="zh-CN" sz="2000" i="0" u="none" strike="noStrike" cap="none" normalizeH="0" baseline="0" dirty="0">
                <a:ln>
                  <a:noFill/>
                </a:ln>
                <a:solidFill>
                  <a:srgbClr val="000000"/>
                </a:solidFill>
                <a:effectLst/>
                <a:latin typeface="Consolas" panose="020B0609020204030204" pitchFamily="49" charset="0"/>
              </a:rPr>
              <a: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Search for the item "</a:t>
            </a:r>
            <a:r>
              <a:rPr kumimoji="0" lang="en-US" altLang="zh-CN" sz="2000" i="0" u="none" strike="noStrike" cap="none" normalizeH="0" baseline="0" dirty="0">
                <a:ln>
                  <a:noFill/>
                </a:ln>
                <a:solidFill>
                  <a:srgbClr val="000000"/>
                </a:solidFill>
                <a:effectLst/>
                <a:latin typeface="Consolas" panose="020B0609020204030204" pitchFamily="49" charset="0"/>
              </a:rPr>
              <a:t>4</a:t>
            </a:r>
            <a:r>
              <a:rPr kumimoji="0" lang="zh-CN" altLang="zh-CN" sz="2000" i="0" u="none" strike="noStrike" cap="none" normalizeH="0" baseline="0" dirty="0">
                <a:ln>
                  <a:noFill/>
                </a:ln>
                <a:solidFill>
                  <a:srgbClr val="000000"/>
                </a:solidFill>
                <a:effectLst/>
                <a:latin typeface="Consolas" panose="020B0609020204030204" pitchFamily="49" charset="0"/>
              </a:rPr>
              <a:t>" and print it */</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lang="en-US" altLang="zh-CN" sz="2000" dirty="0">
                <a:solidFill>
                  <a:srgbClr val="000000"/>
                </a:solidFill>
                <a:latin typeface="Consolas" panose="020B0609020204030204" pitchFamily="49" charset="0"/>
              </a:rPr>
              <a:t> int key=4;</a:t>
            </a: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printf("%</a:t>
            </a:r>
            <a:r>
              <a:rPr kumimoji="0" lang="en-US" altLang="zh-CN" sz="2000" i="0" u="none" strike="noStrike" cap="none" normalizeH="0" baseline="0" dirty="0">
                <a:ln>
                  <a:noFill/>
                </a:ln>
                <a:solidFill>
                  <a:srgbClr val="000000"/>
                </a:solidFill>
                <a:effectLst/>
                <a:latin typeface="Consolas" panose="020B0609020204030204" pitchFamily="49" charset="0"/>
              </a:rPr>
              <a:t>d</a:t>
            </a:r>
            <a:r>
              <a:rPr kumimoji="0" lang="zh-CN" altLang="zh-CN" sz="2000" i="0" u="none" strike="noStrike" cap="none" normalizeH="0" baseline="0" dirty="0">
                <a:ln>
                  <a:noFill/>
                </a:ln>
                <a:solidFill>
                  <a:srgbClr val="000000"/>
                </a:solidFill>
                <a:effectLst/>
                <a:latin typeface="Consolas" panose="020B0609020204030204" pitchFamily="49" charset="0"/>
              </a:rPr>
              <a:t>",</a:t>
            </a:r>
            <a:r>
              <a:rPr kumimoji="0" lang="en-US" altLang="zh-CN" sz="2000" i="0" u="none" strike="noStrike" cap="none" normalizeH="0" baseline="0" dirty="0">
                <a:ln>
                  <a:noFill/>
                </a:ln>
                <a:solidFill>
                  <a:srgbClr val="000000"/>
                </a:solidFill>
                <a:effectLst/>
                <a:latin typeface="Consolas" panose="020B0609020204030204" pitchFamily="49" charset="0"/>
              </a:rPr>
              <a:t>*(int *)</a:t>
            </a:r>
            <a:r>
              <a:rPr kumimoji="0" lang="zh-CN" altLang="zh-CN" sz="2000" i="0" u="none" strike="noStrike" cap="none" normalizeH="0" baseline="0" dirty="0">
                <a:ln>
                  <a:noFill/>
                </a:ln>
                <a:solidFill>
                  <a:srgbClr val="000000"/>
                </a:solidFill>
                <a:effectLst/>
                <a:latin typeface="Consolas" panose="020B0609020204030204" pitchFamily="49" charset="0"/>
              </a:rPr>
              <a:t>bsearch(</a:t>
            </a:r>
            <a:r>
              <a:rPr kumimoji="0" lang="en-US" altLang="zh-CN" sz="2000" i="0" u="none" strike="noStrike" cap="none" normalizeH="0" baseline="0" dirty="0">
                <a:ln>
                  <a:noFill/>
                </a:ln>
                <a:solidFill>
                  <a:srgbClr val="000000"/>
                </a:solidFill>
                <a:effectLst/>
                <a:latin typeface="Consolas" panose="020B0609020204030204" pitchFamily="49" charset="0"/>
              </a:rPr>
              <a:t>&amp;key</a:t>
            </a:r>
            <a:r>
              <a:rPr kumimoji="0" lang="zh-CN" altLang="zh-CN" sz="2000" i="0" u="none" strike="noStrike" cap="none" normalizeH="0" baseline="0" dirty="0">
                <a:ln>
                  <a:noFill/>
                </a:ln>
                <a:solidFill>
                  <a:srgbClr val="000000"/>
                </a:solidFill>
                <a:effectLst/>
                <a:latin typeface="Consolas" panose="020B0609020204030204" pitchFamily="49" charset="0"/>
              </a:rPr>
              <a:t>,array,10,</a:t>
            </a:r>
            <a:r>
              <a:rPr kumimoji="0" lang="en-US" altLang="zh-CN" sz="2000" i="0" u="none" strike="noStrike" cap="none" normalizeH="0" baseline="0" dirty="0">
                <a:ln>
                  <a:noFill/>
                </a:ln>
                <a:solidFill>
                  <a:srgbClr val="000000"/>
                </a:solidFill>
                <a:effectLst/>
                <a:latin typeface="Consolas" panose="020B0609020204030204" pitchFamily="49" charset="0"/>
              </a:rPr>
              <a:t> </a:t>
            </a:r>
            <a:r>
              <a:rPr kumimoji="0" lang="en-US" altLang="zh-CN" sz="2000" i="0" u="none" strike="noStrike" cap="none" normalizeH="0" baseline="0" dirty="0" err="1">
                <a:ln>
                  <a:noFill/>
                </a:ln>
                <a:solidFill>
                  <a:srgbClr val="000000"/>
                </a:solidFill>
                <a:effectLst/>
                <a:latin typeface="Consolas" panose="020B0609020204030204" pitchFamily="49" charset="0"/>
              </a:rPr>
              <a:t>sizeof</a:t>
            </a:r>
            <a:r>
              <a:rPr kumimoji="0" lang="en-US" altLang="zh-CN" sz="2000" i="0" u="none" strike="noStrike" cap="none" normalizeH="0" baseline="0" dirty="0">
                <a:ln>
                  <a:noFill/>
                </a:ln>
                <a:solidFill>
                  <a:srgbClr val="000000"/>
                </a:solidFill>
                <a:effectLst/>
                <a:latin typeface="Consolas" panose="020B0609020204030204" pitchFamily="49" charset="0"/>
              </a:rPr>
              <a:t>(int)</a:t>
            </a:r>
            <a:r>
              <a:rPr kumimoji="0" lang="zh-CN" altLang="zh-CN" sz="2000" i="0" u="none" strike="noStrike" cap="none" normalizeH="0" baseline="0" dirty="0">
                <a:ln>
                  <a:noFill/>
                </a:ln>
                <a:solidFill>
                  <a:srgbClr val="000000"/>
                </a:solidFill>
                <a:effectLst/>
                <a:latin typeface="Consolas" panose="020B0609020204030204" pitchFamily="49" charset="0"/>
              </a:rPr>
              <a:t>, c</a:t>
            </a:r>
            <a:r>
              <a:rPr kumimoji="0" lang="en-US" altLang="zh-CN" sz="2000" i="0" u="none" strike="noStrike" cap="none" normalizeH="0" baseline="0" dirty="0">
                <a:ln>
                  <a:noFill/>
                </a:ln>
                <a:solidFill>
                  <a:srgbClr val="000000"/>
                </a:solidFill>
                <a:effectLst/>
                <a:latin typeface="Consolas" panose="020B0609020204030204" pitchFamily="49" charset="0"/>
              </a:rPr>
              <a:t>o</a:t>
            </a:r>
            <a:r>
              <a:rPr kumimoji="0" lang="zh-CN" altLang="zh-CN" sz="2000" i="0" u="none" strike="noStrike" cap="none" normalizeH="0" baseline="0" dirty="0">
                <a:ln>
                  <a:noFill/>
                </a:ln>
                <a:solidFill>
                  <a:srgbClr val="000000"/>
                </a:solidFill>
                <a:effectLst/>
                <a:latin typeface="Consolas" panose="020B0609020204030204" pitchFamily="49" charset="0"/>
              </a:rPr>
              <a:t>mp</a:t>
            </a:r>
            <a:r>
              <a:rPr kumimoji="0" lang="en-US" altLang="zh-CN" sz="2000" i="0" u="none" strike="noStrike" cap="none" normalizeH="0" baseline="0" dirty="0">
                <a:ln>
                  <a:noFill/>
                </a:ln>
                <a:solidFill>
                  <a:srgbClr val="000000"/>
                </a:solidFill>
                <a:effectLst/>
                <a:latin typeface="Consolas" panose="020B0609020204030204" pitchFamily="49" charset="0"/>
              </a:rPr>
              <a:t>are</a:t>
            </a:r>
            <a:r>
              <a:rPr kumimoji="0" lang="zh-CN" altLang="zh-CN" sz="2000" i="0" u="none" strike="noStrike" cap="none" normalizeH="0" baseline="0" dirty="0">
                <a:ln>
                  <a:noFill/>
                </a:ln>
                <a:solidFill>
                  <a:srgbClr val="000000"/>
                </a:solidFill>
                <a:effectLst/>
                <a:latin typeface="Consolas" panose="020B0609020204030204" pitchFamily="49" charset="0"/>
              </a:rPr>
              <a:t>));</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 return 0;</a:t>
            </a:r>
            <a:endParaRPr kumimoji="0" lang="en-US" altLang="zh-CN" sz="2000" i="0" u="none" strike="noStrike" cap="none" normalizeH="0" baseline="0" dirty="0">
              <a:ln>
                <a:noFill/>
              </a:ln>
              <a:solidFill>
                <a:srgbClr val="000000"/>
              </a:solidFill>
              <a:effectLst/>
              <a:latin typeface="Consolas" panose="020B0609020204030204" pitchFamily="49" charset="0"/>
            </a:endParaRPr>
          </a:p>
          <a:p>
            <a:pPr marL="0" indent="0">
              <a:buNone/>
            </a:pPr>
            <a:r>
              <a:rPr kumimoji="0" lang="zh-CN" altLang="zh-CN" sz="2000" i="0" u="none" strike="noStrike" cap="none" normalizeH="0" baseline="0" dirty="0">
                <a:ln>
                  <a:noFill/>
                </a:ln>
                <a:solidFill>
                  <a:srgbClr val="000000"/>
                </a:solidFill>
                <a:effectLst/>
                <a:latin typeface="Consolas" panose="020B0609020204030204" pitchFamily="49" charset="0"/>
              </a:rPr>
              <a:t>}</a:t>
            </a:r>
            <a:r>
              <a:rPr kumimoji="0" lang="zh-CN" altLang="zh-CN" sz="2000" i="0" u="none" strike="noStrike" cap="none" normalizeH="0" baseline="0" dirty="0">
                <a:ln>
                  <a:noFill/>
                </a:ln>
                <a:solidFill>
                  <a:schemeClr val="tx1"/>
                </a:solidFill>
                <a:effectLst/>
                <a:latin typeface="Consolas" panose="020B0609020204030204" pitchFamily="49" charset="0"/>
              </a:rPr>
              <a:t> </a:t>
            </a:r>
          </a:p>
          <a:p>
            <a:pPr marL="0" indent="0">
              <a:buNone/>
            </a:pPr>
            <a:r>
              <a:rPr lang="en-US" altLang="zh-CN" sz="2000" b="0" i="0" dirty="0">
                <a:solidFill>
                  <a:srgbClr val="0000FF"/>
                </a:solidFill>
                <a:effectLst/>
                <a:latin typeface="Consolas" panose="020B0609020204030204" pitchFamily="49" charset="0"/>
              </a:rPr>
              <a:t>int</a:t>
            </a:r>
            <a:r>
              <a:rPr lang="en-US" altLang="zh-CN" sz="2000" b="0" i="0" dirty="0">
                <a:solidFill>
                  <a:srgbClr val="000000"/>
                </a:solidFill>
                <a:effectLst/>
                <a:latin typeface="Consolas" panose="020B0609020204030204" pitchFamily="49" charset="0"/>
              </a:rPr>
              <a:t> </a:t>
            </a:r>
            <a:r>
              <a:rPr lang="en-US" altLang="zh-CN" sz="2000" b="0" i="0" dirty="0">
                <a:solidFill>
                  <a:srgbClr val="A31515"/>
                </a:solidFill>
                <a:effectLst/>
                <a:latin typeface="Consolas" panose="020B0609020204030204" pitchFamily="49" charset="0"/>
              </a:rPr>
              <a:t>compare</a:t>
            </a:r>
            <a:r>
              <a:rPr lang="en-US" altLang="zh-CN" sz="2000" b="0" i="0" dirty="0">
                <a:solidFill>
                  <a:srgbClr val="000000"/>
                </a:solidFill>
                <a:effectLst/>
                <a:latin typeface="Consolas" panose="020B0609020204030204" pitchFamily="49" charset="0"/>
              </a:rPr>
              <a:t>(</a:t>
            </a:r>
            <a:r>
              <a:rPr lang="en-US" altLang="zh-CN" sz="2000" b="0" i="0" dirty="0">
                <a:solidFill>
                  <a:srgbClr val="0000FF"/>
                </a:solidFill>
                <a:effectLst/>
                <a:latin typeface="Consolas" panose="020B0609020204030204" pitchFamily="49" charset="0"/>
              </a:rPr>
              <a:t>const</a:t>
            </a: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void</a:t>
            </a:r>
            <a:r>
              <a:rPr lang="en-US" altLang="zh-CN" sz="2000" b="0" i="0" dirty="0">
                <a:solidFill>
                  <a:srgbClr val="000000"/>
                </a:solidFill>
                <a:effectLst/>
                <a:latin typeface="Consolas" panose="020B0609020204030204" pitchFamily="49" charset="0"/>
              </a:rPr>
              <a:t> *</a:t>
            </a:r>
            <a:r>
              <a:rPr lang="en-US" altLang="zh-CN" sz="2000" b="0" i="0" dirty="0" err="1">
                <a:solidFill>
                  <a:srgbClr val="000000"/>
                </a:solidFill>
                <a:effectLst/>
                <a:latin typeface="Consolas" panose="020B0609020204030204" pitchFamily="49" charset="0"/>
              </a:rPr>
              <a:t>p,</a:t>
            </a:r>
            <a:r>
              <a:rPr lang="en-US" altLang="zh-CN" sz="2000" b="0" i="0" dirty="0" err="1">
                <a:solidFill>
                  <a:srgbClr val="0000FF"/>
                </a:solidFill>
                <a:effectLst/>
                <a:latin typeface="Consolas" panose="020B0609020204030204" pitchFamily="49" charset="0"/>
              </a:rPr>
              <a:t>const</a:t>
            </a: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void</a:t>
            </a:r>
            <a:r>
              <a:rPr lang="en-US" altLang="zh-CN" sz="2000" b="0" i="0" dirty="0">
                <a:solidFill>
                  <a:srgbClr val="000000"/>
                </a:solidFill>
                <a:effectLst/>
                <a:latin typeface="Consolas" panose="020B0609020204030204" pitchFamily="49" charset="0"/>
              </a:rPr>
              <a:t> *q) {</a:t>
            </a:r>
          </a:p>
          <a:p>
            <a:pPr marL="0" indent="0">
              <a:buNone/>
            </a:pP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return</a:t>
            </a:r>
            <a:r>
              <a:rPr lang="en-US" altLang="zh-CN" sz="2000" b="0" i="0" dirty="0">
                <a:solidFill>
                  <a:srgbClr val="000000"/>
                </a:solidFill>
                <a:effectLst/>
                <a:latin typeface="Consolas" panose="020B0609020204030204" pitchFamily="49" charset="0"/>
              </a:rPr>
              <a:t> *(</a:t>
            </a:r>
            <a:r>
              <a:rPr lang="en-US" altLang="zh-CN" sz="2000" b="0" i="0" dirty="0">
                <a:solidFill>
                  <a:srgbClr val="0000FF"/>
                </a:solidFill>
                <a:effectLst/>
                <a:latin typeface="Consolas" panose="020B0609020204030204" pitchFamily="49" charset="0"/>
              </a:rPr>
              <a:t>int</a:t>
            </a:r>
            <a:r>
              <a:rPr lang="en-US" altLang="zh-CN" sz="2000" b="0" i="0" dirty="0">
                <a:solidFill>
                  <a:srgbClr val="000000"/>
                </a:solidFill>
                <a:effectLst/>
                <a:latin typeface="Consolas" panose="020B0609020204030204" pitchFamily="49" charset="0"/>
              </a:rPr>
              <a:t> *)q-*(</a:t>
            </a:r>
            <a:r>
              <a:rPr lang="en-US" altLang="zh-CN" sz="2000" b="0" i="0" dirty="0">
                <a:solidFill>
                  <a:srgbClr val="0000FF"/>
                </a:solidFill>
                <a:effectLst/>
                <a:latin typeface="Consolas" panose="020B0609020204030204" pitchFamily="49" charset="0"/>
              </a:rPr>
              <a:t>int</a:t>
            </a:r>
            <a:r>
              <a:rPr lang="en-US" altLang="zh-CN" sz="2000" b="0" i="0" dirty="0">
                <a:solidFill>
                  <a:srgbClr val="000000"/>
                </a:solidFill>
                <a:effectLst/>
                <a:latin typeface="Consolas" panose="020B0609020204030204" pitchFamily="49" charset="0"/>
              </a:rPr>
              <a:t> *)p;</a:t>
            </a:r>
          </a:p>
          <a:p>
            <a:pPr marL="0" indent="0">
              <a:buNone/>
            </a:pPr>
            <a:r>
              <a:rPr lang="en-US" altLang="zh-CN" sz="2000" b="0" i="0" dirty="0">
                <a:solidFill>
                  <a:srgbClr val="000000"/>
                </a:solidFill>
                <a:effectLst/>
                <a:latin typeface="Consolas" panose="020B0609020204030204" pitchFamily="49" charset="0"/>
              </a:rPr>
              <a:t>}</a:t>
            </a: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1394013869"/>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5">
            <a:extLst>
              <a:ext uri="{FF2B5EF4-FFF2-40B4-BE49-F238E27FC236}">
                <a16:creationId xmlns:a16="http://schemas.microsoft.com/office/drawing/2014/main" id="{B049C783-71E7-4299-9912-7549809E5725}"/>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64</a:t>
            </a:fld>
            <a:endParaRPr lang="zh-CN" altLang="en-US"/>
          </a:p>
        </p:txBody>
      </p:sp>
      <p:sp>
        <p:nvSpPr>
          <p:cNvPr id="82946" name="Rectangle 1028">
            <a:extLst>
              <a:ext uri="{FF2B5EF4-FFF2-40B4-BE49-F238E27FC236}">
                <a16:creationId xmlns:a16="http://schemas.microsoft.com/office/drawing/2014/main" id="{D6D8BC3D-3902-4E82-ACCE-B064C6406F00}"/>
              </a:ext>
            </a:extLst>
          </p:cNvPr>
          <p:cNvSpPr>
            <a:spLocks noGrp="1" noChangeArrowheads="1"/>
          </p:cNvSpPr>
          <p:nvPr>
            <p:ph idx="1"/>
          </p:nvPr>
        </p:nvSpPr>
        <p:spPr/>
        <p:txBody>
          <a:bodyPr/>
          <a:lstStyle/>
          <a:p>
            <a:pPr eaLnBrk="1" hangingPunct="1">
              <a:buFontTx/>
              <a:buNone/>
            </a:pPr>
            <a:r>
              <a:rPr lang="zh-CN" altLang="en-US" b="1"/>
              <a:t>使用函数指针的优点：</a:t>
            </a:r>
          </a:p>
          <a:p>
            <a:pPr eaLnBrk="1" hangingPunct="1">
              <a:buFontTx/>
              <a:buNone/>
            </a:pPr>
            <a:r>
              <a:rPr lang="zh-CN" altLang="en-US" b="1"/>
              <a:t>	使程序易于扩展。</a:t>
            </a:r>
          </a:p>
          <a:p>
            <a:pPr eaLnBrk="1" hangingPunct="1">
              <a:buFontTx/>
              <a:buNone/>
            </a:pPr>
            <a:r>
              <a:rPr lang="zh-CN" altLang="en-US" b="1"/>
              <a:t>函数</a:t>
            </a:r>
            <a:r>
              <a:rPr lang="en-US" altLang="zh-CN" b="1"/>
              <a:t>func</a:t>
            </a:r>
            <a:r>
              <a:rPr lang="zh-CN" altLang="en-US" b="1"/>
              <a:t>，参数为指向函数的指针</a:t>
            </a:r>
            <a:r>
              <a:rPr lang="en-US" altLang="zh-CN" b="1"/>
              <a:t>p</a:t>
            </a:r>
            <a:r>
              <a:rPr lang="zh-CN" altLang="en-US" b="1"/>
              <a:t>：</a:t>
            </a:r>
          </a:p>
          <a:p>
            <a:pPr eaLnBrk="1" hangingPunct="1">
              <a:buFontTx/>
              <a:buNone/>
            </a:pPr>
            <a:r>
              <a:rPr lang="en-US" altLang="zh-CN" b="1"/>
              <a:t>   void func( int (*p)(int,int)</a:t>
            </a:r>
            <a:r>
              <a:rPr lang="zh-CN" altLang="en-US" b="1"/>
              <a:t>)</a:t>
            </a:r>
          </a:p>
          <a:p>
            <a:pPr eaLnBrk="1" hangingPunct="1">
              <a:buFontTx/>
              <a:buNone/>
            </a:pPr>
            <a:endParaRPr lang="zh-CN" altLang="en-US" b="1"/>
          </a:p>
        </p:txBody>
      </p:sp>
      <p:sp>
        <p:nvSpPr>
          <p:cNvPr id="82947" name="Text Box 1030">
            <a:extLst>
              <a:ext uri="{FF2B5EF4-FFF2-40B4-BE49-F238E27FC236}">
                <a16:creationId xmlns:a16="http://schemas.microsoft.com/office/drawing/2014/main" id="{6346E656-A3E9-4396-B03C-3AC13B51F126}"/>
              </a:ext>
            </a:extLst>
          </p:cNvPr>
          <p:cNvSpPr txBox="1">
            <a:spLocks noChangeArrowheads="1"/>
          </p:cNvSpPr>
          <p:nvPr/>
        </p:nvSpPr>
        <p:spPr bwMode="auto">
          <a:xfrm>
            <a:off x="827088" y="4076700"/>
            <a:ext cx="2090737" cy="720725"/>
          </a:xfrm>
          <a:prstGeom prst="rect">
            <a:avLst/>
          </a:prstGeom>
          <a:solidFill>
            <a:srgbClr val="FFFF99"/>
          </a:solidFill>
          <a:ln w="25400">
            <a:solidFill>
              <a:schemeClr val="accent2"/>
            </a:solidFill>
            <a:miter lim="800000"/>
            <a:headEnd/>
            <a:tailEnd/>
          </a:ln>
        </p:spPr>
        <p:txBody>
          <a:bodyPr lIns="92075" tIns="46038" rIns="92075" bIns="46038">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90000"/>
              </a:lnSpc>
              <a:spcBef>
                <a:spcPct val="50000"/>
              </a:spcBef>
              <a:buClr>
                <a:schemeClr val="accent2"/>
              </a:buClr>
              <a:buSzPct val="75000"/>
              <a:buFont typeface="Monotype Sorts" charset="2"/>
              <a:buNone/>
            </a:pPr>
            <a:r>
              <a:rPr lang="zh-CN" altLang="en-US" sz="2200" b="1">
                <a:latin typeface="Arial Unicode MS" pitchFamily="34" charset="-122"/>
              </a:rPr>
              <a:t>指向函数1的指针</a:t>
            </a:r>
          </a:p>
        </p:txBody>
      </p:sp>
      <p:sp>
        <p:nvSpPr>
          <p:cNvPr id="82948" name="Text Box 1031">
            <a:extLst>
              <a:ext uri="{FF2B5EF4-FFF2-40B4-BE49-F238E27FC236}">
                <a16:creationId xmlns:a16="http://schemas.microsoft.com/office/drawing/2014/main" id="{B9A43047-8D44-4EF3-B5E3-088A9670C393}"/>
              </a:ext>
            </a:extLst>
          </p:cNvPr>
          <p:cNvSpPr txBox="1">
            <a:spLocks noChangeArrowheads="1"/>
          </p:cNvSpPr>
          <p:nvPr/>
        </p:nvSpPr>
        <p:spPr bwMode="auto">
          <a:xfrm>
            <a:off x="3276600" y="4076700"/>
            <a:ext cx="1604963" cy="720725"/>
          </a:xfrm>
          <a:prstGeom prst="rect">
            <a:avLst/>
          </a:prstGeom>
          <a:solidFill>
            <a:srgbClr val="FFFF99"/>
          </a:solidFill>
          <a:ln w="25400">
            <a:solidFill>
              <a:schemeClr val="accent2"/>
            </a:solidFill>
            <a:miter lim="800000"/>
            <a:headEnd/>
            <a:tailEnd/>
          </a:ln>
        </p:spPr>
        <p:txBody>
          <a:bodyPr lIns="92075" tIns="46038" rIns="92075" bIns="46038">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90000"/>
              </a:lnSpc>
              <a:spcBef>
                <a:spcPct val="50000"/>
              </a:spcBef>
              <a:buClr>
                <a:schemeClr val="accent2"/>
              </a:buClr>
              <a:buSzPct val="75000"/>
              <a:buFont typeface="Monotype Sorts" charset="2"/>
              <a:buNone/>
            </a:pPr>
            <a:r>
              <a:rPr lang="zh-CN" altLang="en-US" sz="2200" b="1"/>
              <a:t>指向函数</a:t>
            </a:r>
            <a:r>
              <a:rPr lang="en-US" altLang="zh-CN" sz="2200" b="1"/>
              <a:t>2</a:t>
            </a:r>
            <a:r>
              <a:rPr lang="zh-CN" altLang="en-US" sz="2200" b="1"/>
              <a:t>的指针</a:t>
            </a:r>
          </a:p>
        </p:txBody>
      </p:sp>
      <p:sp>
        <p:nvSpPr>
          <p:cNvPr id="82949" name="Line 1032">
            <a:extLst>
              <a:ext uri="{FF2B5EF4-FFF2-40B4-BE49-F238E27FC236}">
                <a16:creationId xmlns:a16="http://schemas.microsoft.com/office/drawing/2014/main" id="{362E7ECE-B1C5-471B-8544-093B4048238A}"/>
              </a:ext>
            </a:extLst>
          </p:cNvPr>
          <p:cNvSpPr>
            <a:spLocks noChangeShapeType="1"/>
          </p:cNvSpPr>
          <p:nvPr/>
        </p:nvSpPr>
        <p:spPr bwMode="auto">
          <a:xfrm flipV="1">
            <a:off x="1908175" y="3357563"/>
            <a:ext cx="1531938" cy="7191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50" name="Line 1033">
            <a:extLst>
              <a:ext uri="{FF2B5EF4-FFF2-40B4-BE49-F238E27FC236}">
                <a16:creationId xmlns:a16="http://schemas.microsoft.com/office/drawing/2014/main" id="{5A897368-E11E-4056-930C-FF66BDC10518}"/>
              </a:ext>
            </a:extLst>
          </p:cNvPr>
          <p:cNvSpPr>
            <a:spLocks noChangeShapeType="1"/>
          </p:cNvSpPr>
          <p:nvPr/>
        </p:nvSpPr>
        <p:spPr bwMode="auto">
          <a:xfrm flipH="1" flipV="1">
            <a:off x="3568700" y="3357563"/>
            <a:ext cx="355600" cy="7191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51" name="Text Box 1034">
            <a:extLst>
              <a:ext uri="{FF2B5EF4-FFF2-40B4-BE49-F238E27FC236}">
                <a16:creationId xmlns:a16="http://schemas.microsoft.com/office/drawing/2014/main" id="{1D8FB515-9401-4F9C-9EC3-F09D7E13ACB2}"/>
              </a:ext>
            </a:extLst>
          </p:cNvPr>
          <p:cNvSpPr txBox="1">
            <a:spLocks noChangeArrowheads="1"/>
          </p:cNvSpPr>
          <p:nvPr/>
        </p:nvSpPr>
        <p:spPr bwMode="auto">
          <a:xfrm>
            <a:off x="827088" y="5300663"/>
            <a:ext cx="67818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a:lnSpc>
                <a:spcPct val="90000"/>
              </a:lnSpc>
              <a:spcBef>
                <a:spcPct val="50000"/>
              </a:spcBef>
              <a:buClr>
                <a:schemeClr val="accent2"/>
              </a:buClr>
              <a:buSzPct val="75000"/>
              <a:buFont typeface="Monotype Sorts" charset="2"/>
              <a:buNone/>
            </a:pPr>
            <a:r>
              <a:rPr lang="zh-CN" altLang="en-US" sz="2400" b="1">
                <a:latin typeface="Arial Unicode MS" pitchFamily="34" charset="-122"/>
              </a:rPr>
              <a:t>将来，可以再定义符合此函数原型的函数</a:t>
            </a:r>
            <a:r>
              <a:rPr lang="en-US" altLang="zh-CN" sz="2400" b="1">
                <a:latin typeface="Arial Unicode MS" pitchFamily="34" charset="-122"/>
              </a:rPr>
              <a:t>n，</a:t>
            </a:r>
            <a:r>
              <a:rPr lang="zh-CN" altLang="en-US" sz="2400" b="1">
                <a:latin typeface="Arial Unicode MS" pitchFamily="34" charset="-122"/>
              </a:rPr>
              <a:t>调用时赋值给</a:t>
            </a:r>
            <a:r>
              <a:rPr lang="en-US" altLang="zh-CN" sz="2400" b="1">
                <a:latin typeface="Arial Unicode MS" pitchFamily="34" charset="-122"/>
              </a:rPr>
              <a:t>p，</a:t>
            </a:r>
            <a:r>
              <a:rPr lang="zh-CN" altLang="en-US" sz="2400" b="1">
                <a:latin typeface="Arial Unicode MS" pitchFamily="34" charset="-122"/>
              </a:rPr>
              <a:t>从而扩展程序的功能</a:t>
            </a:r>
          </a:p>
        </p:txBody>
      </p:sp>
      <p:sp>
        <p:nvSpPr>
          <p:cNvPr id="82952" name="Rectangle 5">
            <a:extLst>
              <a:ext uri="{FF2B5EF4-FFF2-40B4-BE49-F238E27FC236}">
                <a16:creationId xmlns:a16="http://schemas.microsoft.com/office/drawing/2014/main" id="{FA86AA39-84F4-4E7E-84B7-6DC2065582C6}"/>
              </a:ext>
            </a:extLst>
          </p:cNvPr>
          <p:cNvSpPr>
            <a:spLocks noGrp="1" noChangeArrowheads="1"/>
          </p:cNvSpPr>
          <p:nvPr>
            <p:ph type="title"/>
          </p:nvPr>
        </p:nvSpPr>
        <p:spPr>
          <a:xfrm>
            <a:off x="2484438" y="0"/>
            <a:ext cx="6659562" cy="1104900"/>
          </a:xfrm>
        </p:spPr>
        <p:txBody>
          <a:bodyPr lIns="92075" tIns="46038" rIns="92075" bIns="46038"/>
          <a:lstStyle/>
          <a:p>
            <a:pPr algn="l" eaLnBrk="1" hangingPunct="1"/>
            <a:r>
              <a:rPr lang="en-US" altLang="zh-CN" b="1"/>
              <a:t>7.5 </a:t>
            </a:r>
            <a:r>
              <a:rPr lang="zh-CN" altLang="en-US" b="1"/>
              <a:t>使用函数指针的多用途排序程序</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5">
            <a:extLst>
              <a:ext uri="{FF2B5EF4-FFF2-40B4-BE49-F238E27FC236}">
                <a16:creationId xmlns:a16="http://schemas.microsoft.com/office/drawing/2014/main" id="{FCEFB50E-CB26-4577-82F4-0FB032CA707E}"/>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65</a:t>
            </a:fld>
            <a:endParaRPr lang="zh-CN" altLang="en-US"/>
          </a:p>
        </p:txBody>
      </p:sp>
      <p:sp>
        <p:nvSpPr>
          <p:cNvPr id="83970" name="Rectangle 3">
            <a:extLst>
              <a:ext uri="{FF2B5EF4-FFF2-40B4-BE49-F238E27FC236}">
                <a16:creationId xmlns:a16="http://schemas.microsoft.com/office/drawing/2014/main" id="{279EA727-954D-4BF9-BD9D-93BC27BDCFFA}"/>
              </a:ext>
            </a:extLst>
          </p:cNvPr>
          <p:cNvSpPr>
            <a:spLocks noGrp="1" noChangeArrowheads="1"/>
          </p:cNvSpPr>
          <p:nvPr>
            <p:ph idx="1"/>
          </p:nvPr>
        </p:nvSpPr>
        <p:spPr/>
        <p:txBody>
          <a:bodyPr/>
          <a:lstStyle/>
          <a:p>
            <a:pPr eaLnBrk="1" hangingPunct="1">
              <a:buFontTx/>
              <a:buNone/>
            </a:pPr>
            <a:r>
              <a:rPr lang="zh-CN" altLang="en-US" sz="2400" b="1"/>
              <a:t>函数指针常用在菜单驱动的系统中：提供用户不同的菜单项，每一个菜单项对应有一个函数来完成其功能。指向每一个函数的指针存放在指针数组中，用户的选择作为数组的下标，根据用户的选择取出对应数组元素中的指针，然后通过该指针来调用函数。</a:t>
            </a:r>
          </a:p>
        </p:txBody>
      </p:sp>
      <p:sp>
        <p:nvSpPr>
          <p:cNvPr id="83971" name="Rectangle 4">
            <a:extLst>
              <a:ext uri="{FF2B5EF4-FFF2-40B4-BE49-F238E27FC236}">
                <a16:creationId xmlns:a16="http://schemas.microsoft.com/office/drawing/2014/main" id="{A1FA40A6-A6C1-4285-B105-641E0030525C}"/>
              </a:ext>
            </a:extLst>
          </p:cNvPr>
          <p:cNvSpPr>
            <a:spLocks noGrp="1" noChangeArrowheads="1"/>
          </p:cNvSpPr>
          <p:nvPr>
            <p:ph type="title"/>
          </p:nvPr>
        </p:nvSpPr>
        <p:spPr/>
        <p:txBody>
          <a:bodyPr lIns="92075" tIns="46038" rIns="92075" bIns="46038"/>
          <a:lstStyle/>
          <a:p>
            <a:pPr eaLnBrk="1" hangingPunct="1"/>
            <a:r>
              <a:rPr lang="en-US" altLang="zh-CN" sz="2600" b="1"/>
              <a:t>7.5 </a:t>
            </a:r>
            <a:r>
              <a:rPr lang="zh-CN" altLang="en-US" sz="2600" b="1"/>
              <a:t>演示指向函数的指针数组</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5">
            <a:extLst>
              <a:ext uri="{FF2B5EF4-FFF2-40B4-BE49-F238E27FC236}">
                <a16:creationId xmlns:a16="http://schemas.microsoft.com/office/drawing/2014/main" id="{21339319-157B-4D4B-BC7E-26A637C0F61F}"/>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66</a:t>
            </a:fld>
            <a:endParaRPr lang="zh-CN" altLang="en-US"/>
          </a:p>
        </p:txBody>
      </p:sp>
      <p:sp>
        <p:nvSpPr>
          <p:cNvPr id="84994" name="Rectangle 3">
            <a:extLst>
              <a:ext uri="{FF2B5EF4-FFF2-40B4-BE49-F238E27FC236}">
                <a16:creationId xmlns:a16="http://schemas.microsoft.com/office/drawing/2014/main" id="{CC55FB52-897F-4DA8-8D91-0B6FF67EADD6}"/>
              </a:ext>
            </a:extLst>
          </p:cNvPr>
          <p:cNvSpPr>
            <a:spLocks noGrp="1" noChangeArrowheads="1"/>
          </p:cNvSpPr>
          <p:nvPr>
            <p:ph idx="1"/>
          </p:nvPr>
        </p:nvSpPr>
        <p:spPr/>
        <p:txBody>
          <a:bodyPr/>
          <a:lstStyle/>
          <a:p>
            <a:pPr eaLnBrk="1" hangingPunct="1">
              <a:lnSpc>
                <a:spcPct val="90000"/>
              </a:lnSpc>
              <a:buFontTx/>
              <a:buNone/>
            </a:pPr>
            <a:r>
              <a:rPr lang="en-US" altLang="zh-CN" sz="2000" dirty="0">
                <a:latin typeface="Consolas" panose="020B0609020204030204" pitchFamily="49" charset="0"/>
              </a:rPr>
              <a:t>int main()</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void   (*f[3])(int)={</a:t>
            </a:r>
            <a:r>
              <a:rPr lang="en-US" altLang="zh-CN" sz="2000" dirty="0" err="1">
                <a:latin typeface="Consolas" panose="020B0609020204030204" pitchFamily="49" charset="0"/>
              </a:rPr>
              <a:t>function1,function2,function3</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int choice;</a:t>
            </a:r>
          </a:p>
          <a:p>
            <a:pPr eaLnBrk="1" hangingPunct="1">
              <a:lnSpc>
                <a:spcPct val="90000"/>
              </a:lnSpc>
              <a:buFontTx/>
              <a:buNone/>
            </a:pPr>
            <a:endParaRPr lang="en-US" altLang="zh-CN" sz="2000" dirty="0">
              <a:latin typeface="Consolas" panose="020B0609020204030204" pitchFamily="49" charset="0"/>
            </a:endParaRPr>
          </a:p>
          <a:p>
            <a:pPr eaLnBrk="1" hangingPunct="1">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("Enter a number between 0 and 2, 3 to end");</a:t>
            </a:r>
          </a:p>
          <a:p>
            <a:pPr eaLnBrk="1" hangingPunct="1">
              <a:lnSpc>
                <a:spcPct val="9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d",&amp;choice</a:t>
            </a:r>
            <a:r>
              <a:rPr lang="en-US" altLang="zh-CN" sz="2000" dirty="0">
                <a:latin typeface="Consolas" panose="020B0609020204030204" pitchFamily="49" charset="0"/>
              </a:rPr>
              <a:t>);</a:t>
            </a:r>
          </a:p>
          <a:p>
            <a:pPr eaLnBrk="1" hangingPunct="1">
              <a:lnSpc>
                <a:spcPct val="90000"/>
              </a:lnSpc>
              <a:buFontTx/>
              <a:buNone/>
            </a:pPr>
            <a:r>
              <a:rPr lang="en-US" altLang="zh-CN" sz="2000" dirty="0">
                <a:latin typeface="Consolas" panose="020B0609020204030204" pitchFamily="49" charset="0"/>
              </a:rPr>
              <a:t>	while(choice&gt;=0 &amp;&amp; choice&lt;3){</a:t>
            </a:r>
          </a:p>
          <a:p>
            <a:pPr eaLnBrk="1" hangingPunct="1">
              <a:lnSpc>
                <a:spcPct val="90000"/>
              </a:lnSpc>
              <a:buFontTx/>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(*f[choice])(choice);</a:t>
            </a:r>
            <a:r>
              <a:rPr lang="en-US" altLang="zh-CN" sz="2000" dirty="0">
                <a:latin typeface="Consolas" panose="020B0609020204030204" pitchFamily="49" charset="0"/>
              </a:rPr>
              <a:t>/*</a:t>
            </a:r>
            <a:r>
              <a:rPr lang="zh-CN" altLang="en-US" sz="2000" dirty="0">
                <a:latin typeface="Consolas" panose="020B0609020204030204" pitchFamily="49" charset="0"/>
              </a:rPr>
              <a:t>调用相应的函数*/</a:t>
            </a:r>
          </a:p>
          <a:p>
            <a:pPr eaLnBrk="1" hangingPunct="1">
              <a:lnSpc>
                <a:spcPct val="90000"/>
              </a:lnSpc>
              <a:buFontTx/>
              <a:buNone/>
            </a:pPr>
            <a:r>
              <a:rPr lang="zh-CN" altLang="en-US"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("Enter a number between 0 and 2, 3 to end");</a:t>
            </a:r>
          </a:p>
          <a:p>
            <a:pPr eaLnBrk="1" hangingPunct="1">
              <a:lnSpc>
                <a:spcPct val="90000"/>
              </a:lnSpc>
              <a:buFontTx/>
              <a:buNone/>
            </a:pPr>
            <a:r>
              <a:rPr lang="zh-CN" altLang="en-US"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d",&amp;choice</a:t>
            </a:r>
            <a:r>
              <a:rPr lang="en-US" altLang="zh-CN" sz="2000" dirty="0">
                <a:latin typeface="Consolas" panose="020B0609020204030204" pitchFamily="49" charset="0"/>
              </a:rPr>
              <a:t>);</a:t>
            </a:r>
          </a:p>
          <a:p>
            <a:pPr eaLnBrk="1" hangingPunct="1">
              <a:lnSpc>
                <a:spcPct val="90000"/>
              </a:lnSpc>
              <a:buFontTx/>
              <a:buNone/>
            </a:pPr>
            <a:r>
              <a:rPr lang="zh-CN" altLang="en-US" sz="2000" dirty="0">
                <a:latin typeface="Consolas" panose="020B0609020204030204" pitchFamily="49" charset="0"/>
              </a:rPr>
              <a:t>     }</a:t>
            </a:r>
          </a:p>
          <a:p>
            <a:pPr eaLnBrk="1" hangingPunct="1">
              <a:lnSpc>
                <a:spcPct val="90000"/>
              </a:lnSpc>
              <a:buFontTx/>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eaLnBrk="1" hangingPunct="1">
              <a:lnSpc>
                <a:spcPct val="90000"/>
              </a:lnSpc>
              <a:buFontTx/>
              <a:buNone/>
            </a:pPr>
            <a:r>
              <a:rPr lang="en-US" altLang="zh-CN" sz="2000" dirty="0">
                <a:latin typeface="Consolas" panose="020B0609020204030204" pitchFamily="49" charset="0"/>
              </a:rPr>
              <a:t>}</a:t>
            </a:r>
          </a:p>
          <a:p>
            <a:pPr eaLnBrk="1" hangingPunct="1">
              <a:lnSpc>
                <a:spcPct val="90000"/>
              </a:lnSpc>
              <a:buFontTx/>
              <a:buNone/>
            </a:pPr>
            <a:endParaRPr lang="en-US" altLang="zh-CN" sz="2000" dirty="0">
              <a:latin typeface="Consolas" panose="020B0609020204030204" pitchFamily="49" charset="0"/>
            </a:endParaRPr>
          </a:p>
        </p:txBody>
      </p:sp>
      <p:sp>
        <p:nvSpPr>
          <p:cNvPr id="84995" name="AutoShape 4">
            <a:extLst>
              <a:ext uri="{FF2B5EF4-FFF2-40B4-BE49-F238E27FC236}">
                <a16:creationId xmlns:a16="http://schemas.microsoft.com/office/drawing/2014/main" id="{CC668542-0EA9-41FA-83AD-C0C38B1A6A0A}"/>
              </a:ext>
            </a:extLst>
          </p:cNvPr>
          <p:cNvSpPr>
            <a:spLocks noChangeArrowheads="1"/>
          </p:cNvSpPr>
          <p:nvPr/>
        </p:nvSpPr>
        <p:spPr bwMode="auto">
          <a:xfrm>
            <a:off x="2209800" y="838200"/>
            <a:ext cx="4090988" cy="990600"/>
          </a:xfrm>
          <a:prstGeom prst="wedgeRoundRectCallout">
            <a:avLst>
              <a:gd name="adj1" fmla="val -47593"/>
              <a:gd name="adj2" fmla="val 68588"/>
              <a:gd name="adj3" fmla="val 16667"/>
            </a:avLst>
          </a:prstGeom>
          <a:solidFill>
            <a:srgbClr val="FFFF99"/>
          </a:solidFill>
          <a:ln w="9525">
            <a:solidFill>
              <a:schemeClr val="tx1"/>
            </a:solidFill>
            <a:miter lim="800000"/>
            <a:headEnd/>
            <a:tailEnd/>
          </a:ln>
        </p:spPr>
        <p:txBody>
          <a:bodyPr lIns="92075" tIns="46038" rIns="92075" bIns="46038"/>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90000"/>
              </a:lnSpc>
              <a:spcBef>
                <a:spcPct val="20000"/>
              </a:spcBef>
              <a:buClr>
                <a:schemeClr val="accent2"/>
              </a:buClr>
              <a:buSzPct val="75000"/>
              <a:buFont typeface="Monotype Sorts" charset="2"/>
              <a:buNone/>
            </a:pPr>
            <a:r>
              <a:rPr lang="zh-CN" altLang="en-US" sz="2000" b="1">
                <a:latin typeface="Arial Unicode MS" pitchFamily="34" charset="-122"/>
              </a:rPr>
              <a:t>声明长度为3的数组</a:t>
            </a:r>
            <a:r>
              <a:rPr lang="en-US" altLang="zh-CN" sz="2000" b="1">
                <a:latin typeface="Arial Unicode MS" pitchFamily="34" charset="-122"/>
              </a:rPr>
              <a:t>f,</a:t>
            </a:r>
            <a:r>
              <a:rPr lang="zh-CN" altLang="en-US" sz="2000" b="1">
                <a:latin typeface="Arial Unicode MS" pitchFamily="34" charset="-122"/>
              </a:rPr>
              <a:t>数组元素的类型是:</a:t>
            </a:r>
            <a:r>
              <a:rPr lang="en-US" altLang="zh-CN" sz="2000" b="1">
                <a:latin typeface="Arial Unicode MS" pitchFamily="34" charset="-122"/>
              </a:rPr>
              <a:t>void (*)(int)，</a:t>
            </a:r>
            <a:r>
              <a:rPr lang="zh-CN" altLang="en-US" sz="2000" b="1">
                <a:latin typeface="Arial Unicode MS" pitchFamily="34" charset="-122"/>
              </a:rPr>
              <a:t>即指向函数的指针</a:t>
            </a:r>
          </a:p>
        </p:txBody>
      </p:sp>
      <p:sp>
        <p:nvSpPr>
          <p:cNvPr id="84996" name="Rectangle 5">
            <a:extLst>
              <a:ext uri="{FF2B5EF4-FFF2-40B4-BE49-F238E27FC236}">
                <a16:creationId xmlns:a16="http://schemas.microsoft.com/office/drawing/2014/main" id="{1B1F59C2-AD5F-4ECD-89F5-902CEEC8ECD7}"/>
              </a:ext>
            </a:extLst>
          </p:cNvPr>
          <p:cNvSpPr>
            <a:spLocks noGrp="1" noChangeArrowheads="1"/>
          </p:cNvSpPr>
          <p:nvPr>
            <p:ph type="title"/>
          </p:nvPr>
        </p:nvSpPr>
        <p:spPr>
          <a:xfrm>
            <a:off x="838200" y="0"/>
            <a:ext cx="7772400" cy="1104900"/>
          </a:xfrm>
        </p:spPr>
        <p:txBody>
          <a:bodyPr lIns="92075" tIns="46038" rIns="92075" bIns="46038"/>
          <a:lstStyle/>
          <a:p>
            <a:pPr eaLnBrk="1" hangingPunct="1"/>
            <a:r>
              <a:rPr lang="en-US" altLang="zh-CN" sz="2600" b="1"/>
              <a:t>7.5 </a:t>
            </a:r>
            <a:r>
              <a:rPr lang="zh-CN" altLang="en-US" sz="2600" b="1"/>
              <a:t>演示指向函数的指针数组</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4"/>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67</a:t>
            </a:fld>
            <a:endParaRPr lang="zh-CN" altLang="en-US" sz="1400" b="1" dirty="0"/>
          </a:p>
        </p:txBody>
      </p:sp>
      <p:graphicFrame>
        <p:nvGraphicFramePr>
          <p:cNvPr id="73731" name="Object 4"/>
          <p:cNvGraphicFramePr>
            <a:graphicFrameLocks noGrp="1" noChangeAspect="1"/>
          </p:cNvGraphicFramePr>
          <p:nvPr>
            <p:ph idx="1"/>
          </p:nvPr>
        </p:nvGraphicFramePr>
        <p:xfrm>
          <a:off x="3348038" y="2640013"/>
          <a:ext cx="2376487" cy="2212975"/>
        </p:xfrm>
        <a:graphic>
          <a:graphicData uri="http://schemas.openxmlformats.org/presentationml/2006/ole">
            <mc:AlternateContent xmlns:mc="http://schemas.openxmlformats.org/markup-compatibility/2006">
              <mc:Choice xmlns:v="urn:schemas-microsoft-com:vml" Requires="v">
                <p:oleObj r:id="rId2" imgW="1132205" imgH="1054100" progId="">
                  <p:embed/>
                </p:oleObj>
              </mc:Choice>
              <mc:Fallback>
                <p:oleObj r:id="rId2" imgW="1132205" imgH="1054100" progId="">
                  <p:embed/>
                  <p:pic>
                    <p:nvPicPr>
                      <p:cNvPr id="73731" name="Object 4"/>
                      <p:cNvPicPr/>
                      <p:nvPr/>
                    </p:nvPicPr>
                    <p:blipFill>
                      <a:blip r:embed="rId3"/>
                      <a:stretch>
                        <a:fillRect/>
                      </a:stretch>
                    </p:blipFill>
                    <p:spPr>
                      <a:xfrm>
                        <a:off x="3348038" y="2640013"/>
                        <a:ext cx="2376487" cy="2212975"/>
                      </a:xfrm>
                      <a:prstGeom prst="rect">
                        <a:avLst/>
                      </a:prstGeom>
                      <a:noFill/>
                      <a:ln w="38100">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prstShdw prst="shdw18" dist="17961" dir="13500000">
            <a:schemeClr val="tx1">
              <a:gamma/>
              <a:shade val="60000"/>
              <a:invGamma/>
            </a:schemeClr>
          </a:prst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prstShdw prst="shdw18" dist="17961" dir="13500000">
            <a:schemeClr val="tx1">
              <a:gamma/>
              <a:shade val="60000"/>
              <a:invGamma/>
            </a:schemeClr>
          </a:prst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prstShdw prst="shdw18" dist="17961" dir="13500000">
            <a:schemeClr val="tx1">
              <a:gamma/>
              <a:shade val="60000"/>
              <a:invGamma/>
            </a:schemeClr>
          </a:prst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prstShdw prst="shdw18" dist="17961" dir="13500000">
            <a:schemeClr val="tx1">
              <a:gamma/>
              <a:shade val="60000"/>
              <a:invGamma/>
            </a:schemeClr>
          </a:prst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1004</TotalTime>
  <Words>7474</Words>
  <Application>Microsoft Office PowerPoint</Application>
  <PresentationFormat>全屏显示(4:3)</PresentationFormat>
  <Paragraphs>883</Paragraphs>
  <Slides>67</Slides>
  <Notes>9</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67</vt:i4>
      </vt:variant>
    </vt:vector>
  </HeadingPairs>
  <TitlesOfParts>
    <vt:vector size="80" baseType="lpstr">
      <vt:lpstr>Arial Unicode MS</vt:lpstr>
      <vt:lpstr>Monotype Sorts</vt:lpstr>
      <vt:lpstr>宋体</vt:lpstr>
      <vt:lpstr>微软雅黑</vt:lpstr>
      <vt:lpstr>Arial</vt:lpstr>
      <vt:lpstr>Comic Sans MS</vt:lpstr>
      <vt:lpstr>Consolas</vt:lpstr>
      <vt:lpstr>Times New Roman</vt:lpstr>
      <vt:lpstr>Wingdings</vt:lpstr>
      <vt:lpstr>经分互动规范介绍</vt:lpstr>
      <vt:lpstr>1_经分互动规范介绍</vt:lpstr>
      <vt:lpstr>Bitmap Image</vt:lpstr>
      <vt:lpstr>Visio.Drawing.11</vt:lpstr>
      <vt:lpstr>PowerPoint 演示文稿</vt:lpstr>
      <vt:lpstr>函数空间的阻隔</vt:lpstr>
      <vt:lpstr>数组传参的效果</vt:lpstr>
      <vt:lpstr>PowerPoint 演示文稿</vt:lpstr>
      <vt:lpstr>7.1 指针~概念与含义</vt:lpstr>
      <vt:lpstr>7.1 指针~概念与含义</vt:lpstr>
      <vt:lpstr>7.1    指针变量的声明</vt:lpstr>
      <vt:lpstr>7.1 指针对指向变量的访问</vt:lpstr>
      <vt:lpstr>7.2 指针和数组</vt:lpstr>
      <vt:lpstr>7.2 指针和数组</vt:lpstr>
      <vt:lpstr>PowerPoint 演示文稿</vt:lpstr>
      <vt:lpstr>测试主程序</vt:lpstr>
      <vt:lpstr>PowerPoint 演示文稿</vt:lpstr>
      <vt:lpstr>测试主程序</vt:lpstr>
      <vt:lpstr>PowerPoint 演示文稿</vt:lpstr>
      <vt:lpstr>测试主程序</vt:lpstr>
      <vt:lpstr>指针用在二维数组传参</vt:lpstr>
      <vt:lpstr>指针用在二维数组传参</vt:lpstr>
      <vt:lpstr>测试主程序</vt:lpstr>
      <vt:lpstr>对指针使用const限定符</vt:lpstr>
      <vt:lpstr>7.3 动态分配数组</vt:lpstr>
      <vt:lpstr>7.3 动态分配数组</vt:lpstr>
      <vt:lpstr>什么时候需要用动态分配数组？</vt:lpstr>
      <vt:lpstr>动态分配内存</vt:lpstr>
      <vt:lpstr>PowerPoint 演示文稿</vt:lpstr>
      <vt:lpstr>7.3 动态数组</vt:lpstr>
      <vt:lpstr>PowerPoint 演示文稿</vt:lpstr>
      <vt:lpstr>测试主程序</vt:lpstr>
      <vt:lpstr>7.3 动态数组</vt:lpstr>
      <vt:lpstr>7.3 动态数组</vt:lpstr>
      <vt:lpstr>7.3 动态数组</vt:lpstr>
      <vt:lpstr>7.3 动态数组</vt:lpstr>
      <vt:lpstr>realloc函数</vt:lpstr>
      <vt:lpstr>PowerPoint 演示文稿</vt:lpstr>
      <vt:lpstr>PowerPoint 演示文稿</vt:lpstr>
      <vt:lpstr>尾插法创建数组子函数</vt:lpstr>
      <vt:lpstr>7.2 指针和字符串常量</vt:lpstr>
      <vt:lpstr>PowerPoint 演示文稿</vt:lpstr>
      <vt:lpstr>7.4 指针数组</vt:lpstr>
      <vt:lpstr>7.4 指针数组</vt:lpstr>
      <vt:lpstr>7.4 指针数组</vt:lpstr>
      <vt:lpstr>7.4 指针数组</vt:lpstr>
      <vt:lpstr>PowerPoint 演示文稿</vt:lpstr>
      <vt:lpstr>字符串排序</vt:lpstr>
      <vt:lpstr>二维数组排序多字符串方案</vt:lpstr>
      <vt:lpstr>  实例研究一：（模拟发牌和洗牌）</vt:lpstr>
      <vt:lpstr>麻烦的显示牌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使用函数指针的多用途排序程序</vt:lpstr>
      <vt:lpstr>基于以上两个函数的不使用函数指针的多用途排序程序如下：</vt:lpstr>
      <vt:lpstr>使用函数指针的多用途排序程序</vt:lpstr>
      <vt:lpstr>7.5 使用函数指针的多用途排序程序</vt:lpstr>
      <vt:lpstr>使用函数指针的排序库函数</vt:lpstr>
      <vt:lpstr>多字符串qsort调用实例</vt:lpstr>
      <vt:lpstr>整数数组qsort调用实例</vt:lpstr>
      <vt:lpstr>多字符串qsort降序排列</vt:lpstr>
      <vt:lpstr>整数数组qsort降序排序</vt:lpstr>
      <vt:lpstr>7.5 使用函数指针的多用途排序程序</vt:lpstr>
      <vt:lpstr>7.5 演示指向函数的指针数组</vt:lpstr>
      <vt:lpstr>7.5 演示指向函数的指针数组</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yanmei zhang</cp:lastModifiedBy>
  <cp:revision>2107</cp:revision>
  <dcterms:created xsi:type="dcterms:W3CDTF">2002-12-06T01:10:53Z</dcterms:created>
  <dcterms:modified xsi:type="dcterms:W3CDTF">2023-12-11T07:51:05Z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