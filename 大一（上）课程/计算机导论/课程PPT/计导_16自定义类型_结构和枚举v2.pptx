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38"/>
  </p:notesMasterIdLst>
  <p:handoutMasterIdLst>
    <p:handoutMasterId r:id="rId48"/>
  </p:handoutMasterIdLst>
  <p:sldIdLst>
    <p:sldId id="336" r:id="rId4"/>
    <p:sldId id="337" r:id="rId5"/>
    <p:sldId id="437" r:id="rId6"/>
    <p:sldId id="438" r:id="rId7"/>
    <p:sldId id="439" r:id="rId8"/>
    <p:sldId id="440" r:id="rId9"/>
    <p:sldId id="339" r:id="rId10"/>
    <p:sldId id="441" r:id="rId11"/>
    <p:sldId id="340" r:id="rId12"/>
    <p:sldId id="502" r:id="rId13"/>
    <p:sldId id="503" r:id="rId14"/>
    <p:sldId id="346" r:id="rId15"/>
    <p:sldId id="260" r:id="rId16"/>
    <p:sldId id="307" r:id="rId17"/>
    <p:sldId id="583" r:id="rId18"/>
    <p:sldId id="584" r:id="rId19"/>
    <p:sldId id="349" r:id="rId20"/>
    <p:sldId id="504" r:id="rId21"/>
    <p:sldId id="590" r:id="rId22"/>
    <p:sldId id="352" r:id="rId23"/>
    <p:sldId id="384" r:id="rId24"/>
    <p:sldId id="383" r:id="rId25"/>
    <p:sldId id="586" r:id="rId26"/>
    <p:sldId id="385" r:id="rId27"/>
    <p:sldId id="579" r:id="rId28"/>
    <p:sldId id="588" r:id="rId29"/>
    <p:sldId id="580" r:id="rId30"/>
    <p:sldId id="582" r:id="rId31"/>
    <p:sldId id="589" r:id="rId32"/>
    <p:sldId id="587" r:id="rId33"/>
    <p:sldId id="505" r:id="rId34"/>
    <p:sldId id="386" r:id="rId35"/>
    <p:sldId id="387" r:id="rId36"/>
    <p:sldId id="388" r:id="rId37"/>
    <p:sldId id="443" r:id="rId39"/>
    <p:sldId id="389" r:id="rId40"/>
    <p:sldId id="390" r:id="rId41"/>
    <p:sldId id="433" r:id="rId42"/>
    <p:sldId id="434" r:id="rId43"/>
    <p:sldId id="572" r:id="rId44"/>
    <p:sldId id="568" r:id="rId45"/>
    <p:sldId id="569" r:id="rId46"/>
    <p:sldId id="512" r:id="rId47"/>
  </p:sldIdLst>
  <p:sldSz cx="9144000" cy="6858000" type="screen4x3"/>
  <p:notesSz cx="6814820" cy="9942195"/>
  <p:custDataLst>
    <p:tags r:id="rId5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566CE4D-4821-4E98-A9CE-DD997BD9DBB2}">
          <p14:sldIdLst>
            <p14:sldId id="336"/>
          </p14:sldIdLst>
        </p14:section>
        <p14:section name="结构的引出" id="{63FD3B4C-A87A-48FB-BF45-6BFE35C1023C}">
          <p14:sldIdLst>
            <p14:sldId id="337"/>
            <p14:sldId id="437"/>
            <p14:sldId id="438"/>
            <p14:sldId id="439"/>
            <p14:sldId id="440"/>
          </p14:sldIdLst>
        </p14:section>
        <p14:section name="结构定义" id="{46B001D5-36E0-4D84-908F-7D34E47094F9}">
          <p14:sldIdLst>
            <p14:sldId id="339"/>
            <p14:sldId id="441"/>
            <p14:sldId id="340"/>
            <p14:sldId id="502"/>
            <p14:sldId id="503"/>
            <p14:sldId id="346"/>
            <p14:sldId id="260"/>
            <p14:sldId id="307"/>
            <p14:sldId id="583"/>
            <p14:sldId id="584"/>
            <p14:sldId id="349"/>
          </p14:sldIdLst>
        </p14:section>
        <p14:section name="结构变量" id="{D774CA55-8CF8-4F76-8FC4-0F631AE3BA6F}">
          <p14:sldIdLst>
            <p14:sldId id="504"/>
            <p14:sldId id="590"/>
          </p14:sldIdLst>
        </p14:section>
        <p14:section name="传递结构" id="{65E5E777-62A4-467D-B6CA-00ECD886E22A}">
          <p14:sldIdLst>
            <p14:sldId id="352"/>
            <p14:sldId id="384"/>
            <p14:sldId id="383"/>
            <p14:sldId id="586"/>
            <p14:sldId id="385"/>
            <p14:sldId id="579"/>
            <p14:sldId id="588"/>
            <p14:sldId id="580"/>
            <p14:sldId id="582"/>
            <p14:sldId id="589"/>
            <p14:sldId id="587"/>
            <p14:sldId id="505"/>
          </p14:sldIdLst>
        </p14:section>
        <p14:section name="洗牌发牌" id="{2D0F945B-C15C-45C2-884C-B821C3A0D460}">
          <p14:sldIdLst>
            <p14:sldId id="386"/>
            <p14:sldId id="387"/>
            <p14:sldId id="388"/>
            <p14:sldId id="443"/>
            <p14:sldId id="389"/>
            <p14:sldId id="390"/>
          </p14:sldIdLst>
        </p14:section>
        <p14:section name="枚举类型" id="{3470FAB5-3D32-4C8F-B92F-6132ACB8F748}">
          <p14:sldIdLst>
            <p14:sldId id="433"/>
            <p14:sldId id="434"/>
            <p14:sldId id="572"/>
            <p14:sldId id="568"/>
            <p14:sldId id="569"/>
            <p14:sldId id="51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003399"/>
    <a:srgbClr val="CCFFCC"/>
    <a:srgbClr val="FF33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1836" autoAdjust="0"/>
  </p:normalViewPr>
  <p:slideViewPr>
    <p:cSldViewPr>
      <p:cViewPr varScale="1">
        <p:scale>
          <a:sx n="61" d="100"/>
          <a:sy n="61" d="100"/>
        </p:scale>
        <p:origin x="1440" y="64"/>
      </p:cViewPr>
      <p:guideLst>
        <p:guide orient="horz" pos="231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3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6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4038"/>
            <a:ext cx="295275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6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4038"/>
            <a:ext cx="295275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noProof="1" dirty="0">
                <a:cs typeface="+mn-ea"/>
              </a:defRPr>
            </a:lvl1pPr>
          </a:lstStyle>
          <a:p>
            <a:fld id="{F5AC209F-8931-4FED-A8C4-C47F0C6AA33E}" type="slidenum">
              <a:rPr lang="en-US" altLang="zh-CN"/>
            </a:fld>
            <a:endParaRPr lang="en-US" altLang="zh-CN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23925" y="746125"/>
            <a:ext cx="496887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9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2813"/>
            <a:ext cx="5453062" cy="447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79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4038"/>
            <a:ext cx="295275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9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4038"/>
            <a:ext cx="295275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noProof="1" dirty="0">
                <a:cs typeface="+mn-ea"/>
              </a:defRPr>
            </a:lvl1pPr>
          </a:lstStyle>
          <a:p>
            <a:fld id="{69D4CB9B-0682-43EE-80EC-F418E558A13D}" type="slidenum">
              <a:rPr lang="en-US" altLang="zh-CN"/>
            </a:fld>
            <a:endParaRPr lang="en-US" altLang="zh-CN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198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198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A25083E-84C1-4175-86F0-AE0AD7525E0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D75C6D-8439-4AB2-90E0-B3E0A21574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CD1F64-0D72-4655-BBDE-86C3301B61F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396F8D-AF4E-47C2-BC37-C689A933000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468590-D652-4543-8D9D-7519BC7E06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F1F3E-831D-470F-B519-2006BB95AA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318F5-65B1-4346-838D-219770C7F41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D31AC-4CAE-4EF7-BA4B-3ABDF77C47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D3468C-3EF0-4834-828C-3C8CE2820A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1B5857-CDDB-496A-8067-BED49E2434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0697BD-3966-4358-AB05-61B950060B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164B3A-BA14-4A2C-BCAB-E5867D918D7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9839B5-23C0-4992-A533-CF315BF20A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CD999-6AB4-4C03-9552-BA16D07EF9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8F93-89A7-45ED-BC64-C1F058EBCA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C58D6D-D3CD-4415-919B-6ED2ADAE04F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6283F-D1C9-4714-889C-EFCEF815FA5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C0FEAF-C605-4494-B1C9-434F1C04FA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94DE97-A0BC-4D81-9D55-668A0BBB900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075447-F276-4ADD-90EF-61148C968A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81A6F4-E663-4D14-BC8C-3B661F80A0B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27B48A-E7F6-4E88-84CA-9D343C3693D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1B0034-BD96-4C39-8E40-1F73D7F694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BC19B1-56B0-474D-8A5A-02955885484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3CF7F-773D-4E5F-B95C-0E37892275B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BAF035-AE9F-4A03-AAB2-85038094B26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47CB84-FD52-4F94-B563-7EDAF98E4E0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0833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50000"/>
              </a:spcBef>
              <a:buFontTx/>
              <a:buNone/>
              <a:defRPr kumimoji="1" sz="14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buFontTx/>
              <a:buNone/>
              <a:defRPr kumimoji="1" sz="14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 noProof="1" dirty="0">
                <a:cs typeface="+mn-ea"/>
              </a:defRPr>
            </a:lvl1pPr>
          </a:lstStyle>
          <a:p>
            <a:fld id="{FDE24FF6-A081-45B2-A35B-5844B028FDBF}" type="slidenum">
              <a:rPr lang="en-US" altLang="zh-CN"/>
            </a:fld>
            <a:endParaRPr lang="en-US" altLang="zh-CN">
              <a:cs typeface="+mn-cs"/>
            </a:endParaRPr>
          </a:p>
        </p:txBody>
      </p:sp>
      <p:grpSp>
        <p:nvGrpSpPr>
          <p:cNvPr id="1031" name="Group 7"/>
          <p:cNvGrpSpPr/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r>
                <a:rPr lang="en-US" altLang="zh-CN" b="0"/>
                <a:t>                  </a:t>
              </a:r>
              <a:endParaRPr lang="en-US" altLang="zh-CN" b="0"/>
            </a:p>
          </p:txBody>
        </p:sp>
        <p:sp>
          <p:nvSpPr>
            <p:cNvPr id="1033" name="Line 9"/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4" name="Line 10"/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" name="Line 11"/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6" name="Line 12"/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7" name="Line 13"/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8" name="Line 14"/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9" name="Line 15"/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040" name="Line 16"/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" name="Text Box 17"/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</p:txBody>
      </p:sp>
      <p:pic>
        <p:nvPicPr>
          <p:cNvPr id="1042" name="Picture 18" descr="bupt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0833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50000"/>
              </a:spcBef>
              <a:buFontTx/>
              <a:buNone/>
              <a:defRPr kumimoji="1" sz="14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buFontTx/>
              <a:buNone/>
              <a:defRPr kumimoji="1" sz="14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 noProof="1" dirty="0">
                <a:cs typeface="+mn-ea"/>
              </a:defRPr>
            </a:lvl1pPr>
          </a:lstStyle>
          <a:p>
            <a:fld id="{699DE4D9-DE8A-46A7-9CE0-75AE81B52C7A}" type="slidenum">
              <a:rPr lang="en-US" altLang="zh-CN"/>
            </a:fld>
            <a:endParaRPr lang="en-US" altLang="zh-CN">
              <a:cs typeface="+mn-cs"/>
            </a:endParaRPr>
          </a:p>
        </p:txBody>
      </p:sp>
      <p:grpSp>
        <p:nvGrpSpPr>
          <p:cNvPr id="2055" name="Group 7"/>
          <p:cNvGrpSpPr/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r>
                <a:rPr lang="en-US" altLang="zh-CN" b="0"/>
                <a:t>                  </a:t>
              </a:r>
              <a:endParaRPr lang="en-US" altLang="zh-CN" b="0"/>
            </a:p>
          </p:txBody>
        </p:sp>
        <p:sp>
          <p:nvSpPr>
            <p:cNvPr id="2057" name="Line 9"/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8" name="Line 10"/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9" name="Line 11"/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0" name="Line 12"/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1" name="Line 13"/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2" name="Line 14"/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3" name="Line 15"/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" name="Text Box 17"/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</p:txBody>
      </p:sp>
      <p:pic>
        <p:nvPicPr>
          <p:cNvPr id="2066" name="Picture 18" descr="bupt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12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D0F308E-63ED-4005-AC8B-86E08448E91E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5124" name="Group 4"/>
          <p:cNvGrpSpPr/>
          <p:nvPr/>
        </p:nvGrpSpPr>
        <p:grpSpPr bwMode="auto">
          <a:xfrm>
            <a:off x="1834313" y="2352675"/>
            <a:ext cx="6159500" cy="863600"/>
            <a:chOff x="1488" y="1152"/>
            <a:chExt cx="2751" cy="62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1488" y="1152"/>
              <a:ext cx="2736" cy="624"/>
            </a:xfrm>
            <a:prstGeom prst="rect">
              <a:avLst/>
            </a:prstGeom>
            <a:gradFill rotWithShape="0">
              <a:gsLst>
                <a:gs pos="0">
                  <a:srgbClr val="3E040E"/>
                </a:gs>
                <a:gs pos="50000">
                  <a:srgbClr val="CF0E30"/>
                </a:gs>
                <a:gs pos="100000">
                  <a:srgbClr val="3E040E"/>
                </a:gs>
              </a:gsLst>
              <a:lin ang="2700000" scaled="1"/>
            </a:gradFill>
            <a:ln w="28575">
              <a:solidFill>
                <a:srgbClr val="F68295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26" name="Text Box 6"/>
            <p:cNvSpPr txBox="1">
              <a:spLocks noChangeArrowheads="1"/>
            </p:cNvSpPr>
            <p:nvPr/>
          </p:nvSpPr>
          <p:spPr bwMode="auto">
            <a:xfrm>
              <a:off x="1536" y="1200"/>
              <a:ext cx="2703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dirty="0">
                  <a:solidFill>
                    <a:schemeClr val="bg1"/>
                  </a:solidFill>
                </a:rPr>
                <a:t>第十四章  结构和枚举</a:t>
              </a:r>
              <a:endParaRPr lang="zh-CN" altLang="en-US" sz="3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127" name="Picture 7" descr="地球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4940300"/>
            <a:ext cx="15843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23475A8-B488-47BC-88DE-E8785E2DF3B0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6146" name="Rectangle 7"/>
          <p:cNvSpPr>
            <a:spLocks noGrp="1" noChangeArrowheads="1"/>
          </p:cNvSpPr>
          <p:nvPr>
            <p:ph idx="1"/>
          </p:nvPr>
        </p:nvSpPr>
        <p:spPr>
          <a:xfrm>
            <a:off x="762000" y="1271588"/>
            <a:ext cx="7848600" cy="5181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14.1  </a:t>
            </a:r>
            <a:r>
              <a:rPr lang="zh-CN" altLang="en-US" b="1" dirty="0"/>
              <a:t>引言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14.2  </a:t>
            </a:r>
            <a:r>
              <a:rPr lang="zh-CN" altLang="en-US" b="1" dirty="0"/>
              <a:t>结构类型的定义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/>
              <a:t>14.3  </a:t>
            </a:r>
            <a:r>
              <a:rPr lang="en-US" altLang="zh-CN" b="1" dirty="0" err="1"/>
              <a:t>类型定义typedef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14.4  </a:t>
            </a:r>
            <a:r>
              <a:rPr lang="zh-CN" altLang="en-US" b="1" dirty="0"/>
              <a:t>在函数间传递结构变量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14.5  </a:t>
            </a:r>
            <a:r>
              <a:rPr lang="zh-CN" altLang="en-US" b="1" dirty="0"/>
              <a:t>结构数组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14.6  </a:t>
            </a:r>
            <a:r>
              <a:rPr lang="en-US" altLang="zh-CN" b="1" dirty="0" err="1"/>
              <a:t>枚举</a:t>
            </a:r>
            <a:endParaRPr lang="zh-CN" altLang="en-US" b="1" dirty="0"/>
          </a:p>
        </p:txBody>
      </p:sp>
      <p:sp>
        <p:nvSpPr>
          <p:cNvPr id="6147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  <a:endParaRPr lang="zh-CN" altLang="en-US" b="1"/>
          </a:p>
        </p:txBody>
      </p:sp>
      <p:pic>
        <p:nvPicPr>
          <p:cNvPr id="6148" name="Picture 9" descr="页面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Box 10"/>
          <p:cNvSpPr txBox="1">
            <a:spLocks noChangeArrowheads="1"/>
          </p:cNvSpPr>
          <p:nvPr/>
        </p:nvSpPr>
        <p:spPr bwMode="auto">
          <a:xfrm>
            <a:off x="539750" y="1341438"/>
            <a:ext cx="6335713" cy="376237"/>
          </a:xfrm>
          <a:prstGeom prst="rect">
            <a:avLst/>
          </a:prstGeom>
          <a:solidFill>
            <a:srgbClr val="FFFF99">
              <a:alpha val="39999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zh-CN" sz="1800" b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F727263-BAF4-452D-A504-11F68556E309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7170" name="Rectangle 6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14.1 </a:t>
            </a:r>
            <a:r>
              <a:rPr lang="zh-CN" altLang="en-US" b="1"/>
              <a:t>引言</a:t>
            </a:r>
            <a:endParaRPr lang="zh-CN" altLang="en-US" b="1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19213"/>
            <a:ext cx="8062913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/>
              <a:t>在日常生活中，我们经常会用到一些表格。例如，下图是一张图书目录：</a:t>
            </a:r>
            <a:endParaRPr lang="zh-CN" altLang="en-US" sz="2400" b="1"/>
          </a:p>
          <a:p>
            <a:pPr eaLnBrk="1" hangingPunct="1">
              <a:lnSpc>
                <a:spcPct val="90000"/>
              </a:lnSpc>
            </a:pPr>
            <a:endParaRPr lang="zh-CN" altLang="en-US" sz="2400" b="1"/>
          </a:p>
          <a:p>
            <a:pPr eaLnBrk="1" hangingPunct="1">
              <a:lnSpc>
                <a:spcPct val="90000"/>
              </a:lnSpc>
            </a:pPr>
            <a:endParaRPr lang="zh-CN" altLang="en-US" sz="2400" b="1"/>
          </a:p>
          <a:p>
            <a:pPr eaLnBrk="1" hangingPunct="1">
              <a:lnSpc>
                <a:spcPct val="90000"/>
              </a:lnSpc>
            </a:pPr>
            <a:endParaRPr lang="zh-CN" altLang="en-US" sz="2400" b="1"/>
          </a:p>
          <a:p>
            <a:pPr eaLnBrk="1" hangingPunct="1">
              <a:lnSpc>
                <a:spcPct val="90000"/>
              </a:lnSpc>
            </a:pPr>
            <a:endParaRPr lang="zh-CN" altLang="en-US" sz="2400" b="1"/>
          </a:p>
          <a:p>
            <a:pPr eaLnBrk="1" hangingPunct="1">
              <a:lnSpc>
                <a:spcPct val="90000"/>
              </a:lnSpc>
            </a:pPr>
            <a:endParaRPr lang="zh-CN" altLang="en-US" sz="2400" b="1"/>
          </a:p>
          <a:p>
            <a:pPr eaLnBrk="1" hangingPunct="1">
              <a:lnSpc>
                <a:spcPct val="90000"/>
              </a:lnSpc>
            </a:pPr>
            <a:endParaRPr lang="zh-CN" altLang="en-US" sz="2400" b="1"/>
          </a:p>
          <a:p>
            <a:pPr eaLnBrk="1" hangingPunct="1">
              <a:lnSpc>
                <a:spcPct val="90000"/>
              </a:lnSpc>
            </a:pPr>
            <a:endParaRPr lang="zh-CN" altLang="en-US" sz="2400" b="1"/>
          </a:p>
          <a:p>
            <a:pPr eaLnBrk="1" hangingPunct="1">
              <a:lnSpc>
                <a:spcPct val="90000"/>
              </a:lnSpc>
            </a:pPr>
            <a:r>
              <a:rPr lang="zh-CN" altLang="en-US" sz="2400" b="1"/>
              <a:t>为了用计算机程序实现对上述表格的管理，需要先将上述表格进行存储。如何存储？</a:t>
            </a:r>
            <a:endParaRPr lang="zh-CN" altLang="en-US" sz="2400" b="1"/>
          </a:p>
        </p:txBody>
      </p:sp>
      <p:graphicFrame>
        <p:nvGraphicFramePr>
          <p:cNvPr id="286800" name="Group 80"/>
          <p:cNvGraphicFramePr>
            <a:graphicFrameLocks noGrp="1"/>
          </p:cNvGraphicFramePr>
          <p:nvPr>
            <p:ph sz="half" idx="1"/>
          </p:nvPr>
        </p:nvGraphicFramePr>
        <p:xfrm>
          <a:off x="1042988" y="2133600"/>
          <a:ext cx="7561262" cy="2670175"/>
        </p:xfrm>
        <a:graphic>
          <a:graphicData uri="http://schemas.openxmlformats.org/drawingml/2006/table">
            <a:tbl>
              <a:tblPr/>
              <a:tblGrid>
                <a:gridCol w="792162"/>
                <a:gridCol w="992188"/>
                <a:gridCol w="993775"/>
                <a:gridCol w="1247775"/>
                <a:gridCol w="903287"/>
                <a:gridCol w="971550"/>
                <a:gridCol w="1660525"/>
              </a:tblGrid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b="1"/>
                        <a:t>书名</a:t>
                      </a:r>
                      <a:endParaRPr lang="zh-CN" b="1"/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b="1"/>
                        <a:t>作者</a:t>
                      </a:r>
                      <a:endParaRPr lang="zh-CN" b="1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b="1"/>
                        <a:t>出版商</a:t>
                      </a:r>
                      <a:endParaRPr lang="zh-CN" b="1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b="1"/>
                        <a:t>版权日期</a:t>
                      </a:r>
                      <a:endParaRPr lang="zh-CN" b="1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b="1"/>
                        <a:t>页数</a:t>
                      </a:r>
                      <a:endParaRPr lang="zh-CN" b="1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b="1"/>
                        <a:t>册数</a:t>
                      </a:r>
                      <a:endParaRPr lang="zh-CN" b="1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b="1"/>
                        <a:t>价格</a:t>
                      </a:r>
                      <a:endParaRPr lang="zh-CN" b="1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/>
                        <a:t>书名</a:t>
                      </a: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出版商</a:t>
                      </a: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2008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800">
                          <a:sym typeface="+mn-ea"/>
                        </a:rPr>
                        <a:t>书名</a:t>
                      </a:r>
                      <a:r>
                        <a:rPr lang="en-US" altLang="zh-CN" sz="1800">
                          <a:sym typeface="+mn-ea"/>
                        </a:rPr>
                        <a:t>2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出版商</a:t>
                      </a:r>
                      <a:r>
                        <a:rPr lang="en-US" altLang="zh-CN" sz="1800">
                          <a:sym typeface="+mn-ea"/>
                        </a:rPr>
                        <a:t>2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2008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800">
                          <a:sym typeface="+mn-ea"/>
                        </a:rPr>
                        <a:t>书名</a:t>
                      </a:r>
                      <a:r>
                        <a:rPr lang="en-US" altLang="zh-CN" sz="1800">
                          <a:sym typeface="+mn-ea"/>
                        </a:rPr>
                        <a:t>3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王五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出版商</a:t>
                      </a:r>
                      <a:r>
                        <a:rPr lang="en-US" altLang="zh-CN" sz="1800">
                          <a:sym typeface="+mn-ea"/>
                        </a:rPr>
                        <a:t>3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2008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……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……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4CE0718-D3CD-443E-92E8-5C53D24005DA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14.1 </a:t>
            </a:r>
            <a:r>
              <a:rPr lang="zh-CN" altLang="en-US" b="1"/>
              <a:t>引言</a:t>
            </a:r>
            <a:endParaRPr lang="zh-CN" altLang="en-US" b="1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b="1" dirty="0"/>
              <a:t>根据以前的知识，可以定义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个数组来存储</a:t>
            </a:r>
            <a:r>
              <a:rPr lang="en-US" altLang="zh-CN" sz="2400" b="1" dirty="0"/>
              <a:t>100</a:t>
            </a:r>
            <a:r>
              <a:rPr lang="zh-CN" altLang="zh-CN" sz="2400" b="1" dirty="0"/>
              <a:t>本图书信息</a:t>
            </a:r>
            <a:r>
              <a:rPr lang="zh-CN" altLang="en-US" sz="2400" b="1" dirty="0"/>
              <a:t>：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	    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char </a:t>
            </a:r>
            <a:r>
              <a:rPr lang="en-US" altLang="zh-CN" sz="2400" dirty="0" err="1">
                <a:latin typeface="Consolas" panose="020B0609020204030204" pitchFamily="49" charset="0"/>
                <a:sym typeface="Arial" panose="020B0604020202020204" pitchFamily="34" charset="0"/>
              </a:rPr>
              <a:t>b</a:t>
            </a:r>
            <a:r>
              <a:rPr lang="en-US" altLang="zh-CN" sz="2400" dirty="0" err="1">
                <a:latin typeface="Consolas" panose="020B0609020204030204" pitchFamily="49" charset="0"/>
              </a:rPr>
              <a:t>ookName</a:t>
            </a:r>
            <a:r>
              <a:rPr lang="en-US" altLang="zh-CN" sz="2400" dirty="0">
                <a:latin typeface="Consolas" panose="020B0609020204030204" pitchFamily="49" charset="0"/>
              </a:rPr>
              <a:t>[100][30];   //</a:t>
            </a:r>
            <a:r>
              <a:rPr lang="zh-CN" altLang="en-US" sz="2400" dirty="0">
                <a:latin typeface="Consolas" panose="020B0609020204030204" pitchFamily="49" charset="0"/>
              </a:rPr>
              <a:t>存储书名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</a:rPr>
              <a:t>char author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[100]</a:t>
            </a:r>
            <a:r>
              <a:rPr lang="en-US" altLang="zh-CN" sz="2400" dirty="0">
                <a:latin typeface="Consolas" panose="020B0609020204030204" pitchFamily="49" charset="0"/>
              </a:rPr>
              <a:t>[30]; //</a:t>
            </a:r>
            <a:r>
              <a:rPr lang="zh-CN" altLang="en-US" sz="2400" dirty="0">
                <a:latin typeface="Consolas" panose="020B0609020204030204" pitchFamily="49" charset="0"/>
              </a:rPr>
              <a:t>存储作者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</a:rPr>
              <a:t>char publisher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[100]</a:t>
            </a:r>
            <a:r>
              <a:rPr lang="en-US" altLang="zh-CN" sz="2400" dirty="0">
                <a:latin typeface="Consolas" panose="020B0609020204030204" pitchFamily="49" charset="0"/>
              </a:rPr>
              <a:t>[30]; //</a:t>
            </a:r>
            <a:r>
              <a:rPr lang="zh-CN" altLang="en-US" sz="2400" dirty="0">
                <a:latin typeface="Consolas" panose="020B0609020204030204" pitchFamily="49" charset="0"/>
              </a:rPr>
              <a:t>存储</a:t>
            </a:r>
            <a:r>
              <a:rPr lang="zh-CN" altLang="en-US" sz="2400" dirty="0">
                <a:latin typeface="Consolas" panose="020B0609020204030204" pitchFamily="49" charset="0"/>
                <a:sym typeface="Arial" panose="020B0604020202020204" pitchFamily="34" charset="0"/>
              </a:rPr>
              <a:t>出版商名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char </a:t>
            </a:r>
            <a:r>
              <a:rPr lang="en-US" altLang="zh-CN" sz="2400" dirty="0">
                <a:latin typeface="Consolas" panose="020B0609020204030204" pitchFamily="49" charset="0"/>
              </a:rPr>
              <a:t>date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[100]</a:t>
            </a:r>
            <a:r>
              <a:rPr lang="en-US" altLang="zh-CN" sz="2400" dirty="0">
                <a:latin typeface="Consolas" panose="020B0609020204030204" pitchFamily="49" charset="0"/>
              </a:rPr>
              <a:t>[10]; //</a:t>
            </a:r>
            <a:r>
              <a:rPr lang="zh-CN" altLang="en-US" sz="2400" dirty="0">
                <a:latin typeface="Consolas" panose="020B0609020204030204" pitchFamily="49" charset="0"/>
              </a:rPr>
              <a:t>存储版权日期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</a:rPr>
              <a:t>int pages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[100]</a:t>
            </a:r>
            <a:r>
              <a:rPr lang="en-US" altLang="zh-CN" sz="2400" dirty="0">
                <a:latin typeface="Consolas" panose="020B0609020204030204" pitchFamily="49" charset="0"/>
              </a:rPr>
              <a:t>; //</a:t>
            </a:r>
            <a:r>
              <a:rPr lang="zh-CN" altLang="en-US" sz="2400" dirty="0">
                <a:latin typeface="Consolas" panose="020B0609020204030204" pitchFamily="49" charset="0"/>
              </a:rPr>
              <a:t>存储页数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</a:rPr>
              <a:t>int copies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[100]</a:t>
            </a:r>
            <a:r>
              <a:rPr lang="en-US" altLang="zh-CN" sz="2400" dirty="0">
                <a:latin typeface="Consolas" panose="020B0609020204030204" pitchFamily="49" charset="0"/>
              </a:rPr>
              <a:t>; //</a:t>
            </a:r>
            <a:r>
              <a:rPr lang="zh-CN" altLang="en-US" sz="2400" dirty="0">
                <a:latin typeface="Consolas" panose="020B0609020204030204" pitchFamily="49" charset="0"/>
              </a:rPr>
              <a:t>存储册数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</a:rPr>
              <a:t>float price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[100]</a:t>
            </a:r>
            <a:r>
              <a:rPr lang="en-US" altLang="zh-CN" sz="2400" dirty="0">
                <a:latin typeface="Consolas" panose="020B0609020204030204" pitchFamily="49" charset="0"/>
              </a:rPr>
              <a:t>; //</a:t>
            </a:r>
            <a:r>
              <a:rPr lang="zh-CN" altLang="en-US" sz="2400" dirty="0">
                <a:latin typeface="Consolas" panose="020B0609020204030204" pitchFamily="49" charset="0"/>
              </a:rPr>
              <a:t>存储价格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0504D5E-7942-47E5-9E94-36EC51918AE1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14.1 </a:t>
            </a:r>
            <a:r>
              <a:rPr lang="zh-CN" altLang="en-US" b="1"/>
              <a:t>引言</a:t>
            </a:r>
            <a:endParaRPr lang="zh-CN" altLang="en-US" b="1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/>
              <a:t>存在的问题：</a:t>
            </a:r>
            <a:endParaRPr lang="zh-CN" altLang="en-US" sz="24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/>
              <a:t>1.</a:t>
            </a:r>
            <a:r>
              <a:rPr lang="zh-CN" altLang="en-US" sz="2400" b="1"/>
              <a:t>任何一本图书的信息分散在内存各处，要了解</a:t>
            </a:r>
            <a:r>
              <a:rPr lang="zh-CN" altLang="en-US" sz="2400" b="1">
                <a:sym typeface="Arial" panose="020B0604020202020204" pitchFamily="34" charset="0"/>
              </a:rPr>
              <a:t>一本图书</a:t>
            </a:r>
            <a:r>
              <a:rPr lang="zh-CN" altLang="en-US" sz="2400" b="1"/>
              <a:t>的信息，必须到各个数组的相应元素中去查找，很不方便。而且因为内存不集中，所以查找效率不高。</a:t>
            </a:r>
            <a:endParaRPr lang="zh-CN" altLang="en-US" sz="24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/>
              <a:t>2.</a:t>
            </a:r>
            <a:r>
              <a:rPr lang="zh-CN" altLang="en-US" sz="2400" b="1"/>
              <a:t>存储结构显得比较零散，不易管理。</a:t>
            </a:r>
            <a:endParaRPr lang="zh-CN" altLang="en-US" sz="2400" b="1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/>
              <a:t>而图书目录可以抽象为线性表（线性表是具有相同数据类型的</a:t>
            </a:r>
            <a:r>
              <a:rPr lang="en-US" altLang="zh-CN" sz="2400" b="1"/>
              <a:t>n(n&gt;=0)</a:t>
            </a:r>
            <a:r>
              <a:rPr lang="zh-CN" altLang="en-US" sz="2400" b="1"/>
              <a:t>个数据元素的有限序列），每</a:t>
            </a:r>
            <a:r>
              <a:rPr lang="zh-CN" altLang="en-US" sz="2400" b="1">
                <a:sym typeface="Arial" panose="020B0604020202020204" pitchFamily="34" charset="0"/>
              </a:rPr>
              <a:t>一本图书</a:t>
            </a:r>
            <a:r>
              <a:rPr lang="zh-CN" altLang="en-US" sz="2400" b="1"/>
              <a:t>的信息是表中的一个元素。有没有可能用一个一维数组来存储图书目录，每个数组元素存储</a:t>
            </a:r>
            <a:r>
              <a:rPr lang="zh-CN" altLang="en-US" sz="2400" b="1">
                <a:sym typeface="Arial" panose="020B0604020202020204" pitchFamily="34" charset="0"/>
              </a:rPr>
              <a:t>一本图书</a:t>
            </a:r>
            <a:r>
              <a:rPr lang="zh-CN" altLang="en-US" sz="2400" b="1"/>
              <a:t>的信息？</a:t>
            </a:r>
            <a:endParaRPr lang="zh-CN" altLang="en-US" sz="24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/>
              <a:t>如果可以，那一个数组元素存储了多个不同类型的数据，那数组元素的类型又该如何定义？</a:t>
            </a:r>
            <a:endParaRPr lang="zh-CN" altLang="en-US" sz="2400" b="1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93DF3F8-CB1A-44E4-A7F7-7B0F5EC5B543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14.1 </a:t>
            </a:r>
            <a:r>
              <a:rPr lang="zh-CN" altLang="en-US" b="1"/>
              <a:t>引言</a:t>
            </a:r>
            <a:endParaRPr lang="zh-CN" altLang="en-US" b="1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600" b="1"/>
              <a:t>C</a:t>
            </a:r>
            <a:r>
              <a:rPr lang="zh-CN" altLang="en-US" sz="2600" b="1"/>
              <a:t>语言在产生的时候，设计者就针对此类问题，设计了一系列用户自定义数据类型。用户可以根据具体问题的需要，设计符合自己要求的新的数据类型。结构和联合就是两种用户自定义的数据类型，结构可以用来解决上述问题。</a:t>
            </a:r>
            <a:endParaRPr lang="zh-CN" altLang="en-US" sz="2600" b="1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27A984E-FEA2-48DE-A786-A3978C062645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14.2 </a:t>
            </a:r>
            <a:r>
              <a:rPr lang="zh-CN" altLang="en-US" b="1"/>
              <a:t>结构的定义</a:t>
            </a:r>
            <a:endParaRPr lang="zh-CN" altLang="en-US" b="1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8062913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一、结构的定义</a:t>
            </a:r>
            <a:endParaRPr lang="zh-CN" altLang="en-US" b="1"/>
          </a:p>
          <a:p>
            <a:pPr eaLnBrk="1" hangingPunct="1">
              <a:buFontTx/>
              <a:buNone/>
            </a:pPr>
            <a:r>
              <a:rPr lang="zh-CN" altLang="en-US" b="1"/>
              <a:t>    结构是用其他类型的对象构造出来的派生数据类型（注意：结构是一种数据类型）。</a:t>
            </a:r>
            <a:endParaRPr lang="zh-CN" altLang="en-US" b="1"/>
          </a:p>
          <a:p>
            <a:pPr eaLnBrk="1" hangingPunct="1"/>
            <a:endParaRPr lang="en-US" altLang="zh-CN" b="1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908175" y="2852738"/>
            <a:ext cx="3671888" cy="2671762"/>
          </a:xfrm>
          <a:prstGeom prst="rect">
            <a:avLst/>
          </a:prstGeom>
          <a:solidFill>
            <a:schemeClr val="hlink"/>
          </a:solidFill>
          <a:ln>
            <a:noFill/>
          </a:ln>
          <a:effectLst>
            <a:prstShdw prst="shdw17" dist="17961" dir="13500000">
              <a:srgbClr val="7A7A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600"/>
              <a:t>struct  </a:t>
            </a:r>
            <a:r>
              <a:rPr lang="zh-CN" altLang="en-US" sz="2600"/>
              <a:t>结构名</a:t>
            </a:r>
            <a:r>
              <a:rPr lang="en-US" altLang="zh-CN" sz="2600"/>
              <a:t>{ </a:t>
            </a:r>
            <a:endParaRPr lang="en-US" altLang="zh-CN" sz="2600"/>
          </a:p>
          <a:p>
            <a:pPr>
              <a:spcBef>
                <a:spcPct val="50000"/>
              </a:spcBef>
            </a:pPr>
            <a:r>
              <a:rPr lang="en-US" altLang="zh-CN" sz="2600"/>
              <a:t>     </a:t>
            </a:r>
            <a:r>
              <a:rPr lang="zh-CN" altLang="en-US" sz="2600"/>
              <a:t>数据类型  数据项</a:t>
            </a:r>
            <a:r>
              <a:rPr lang="en-US" altLang="zh-CN" sz="2600"/>
              <a:t>1;</a:t>
            </a:r>
            <a:br>
              <a:rPr lang="en-US" altLang="zh-CN" sz="2600"/>
            </a:br>
            <a:r>
              <a:rPr lang="en-US" altLang="zh-CN" sz="2600"/>
              <a:t>     </a:t>
            </a:r>
            <a:r>
              <a:rPr lang="zh-CN" altLang="en-US" sz="2600"/>
              <a:t>数据类型  数据项</a:t>
            </a:r>
            <a:r>
              <a:rPr lang="en-US" altLang="zh-CN" sz="2600"/>
              <a:t>2;</a:t>
            </a:r>
            <a:br>
              <a:rPr lang="en-US" altLang="zh-CN" sz="2600"/>
            </a:br>
            <a:r>
              <a:rPr lang="en-US" altLang="zh-CN" sz="2600"/>
              <a:t>                   ……              </a:t>
            </a:r>
            <a:br>
              <a:rPr lang="en-US" altLang="zh-CN" sz="2600"/>
            </a:br>
            <a:r>
              <a:rPr lang="en-US" altLang="zh-CN" sz="2600"/>
              <a:t>     </a:t>
            </a:r>
            <a:r>
              <a:rPr lang="zh-CN" altLang="en-US" sz="2600"/>
              <a:t>数据类型  数据项ｎ</a:t>
            </a:r>
            <a:r>
              <a:rPr lang="en-US" altLang="zh-CN" sz="2600"/>
              <a:t>;</a:t>
            </a:r>
            <a:br>
              <a:rPr lang="en-US" altLang="zh-CN" sz="2600"/>
            </a:br>
            <a:r>
              <a:rPr lang="en-US" altLang="zh-CN" sz="2600"/>
              <a:t>  };	</a:t>
            </a:r>
            <a:endParaRPr lang="en-US" altLang="zh-CN" sz="26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F7692E8-3DDE-45FE-AAE0-E2F48BA69F4C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14.2 </a:t>
            </a:r>
            <a:r>
              <a:rPr lang="zh-CN" altLang="en-US" b="1"/>
              <a:t>结构的定义</a:t>
            </a:r>
            <a:endParaRPr lang="zh-CN" altLang="en-US" b="1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84288"/>
            <a:ext cx="7772400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 dirty="0"/>
              <a:t>上述图书目录的例子可以定义如下形式的结构（为了简化，假设一本书只包括书名、作者名和价格）：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 </a:t>
            </a:r>
            <a:r>
              <a:rPr lang="en-US" altLang="zh-CN" sz="2400" dirty="0" err="1">
                <a:latin typeface="Consolas" panose="020B0609020204030204" pitchFamily="49" charset="0"/>
                <a:sym typeface="Arial" panose="020B0604020202020204" pitchFamily="34" charset="0"/>
              </a:rPr>
              <a:t>MAXTITL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 82 //</a:t>
            </a:r>
            <a:r>
              <a:rPr lang="zh-CN" altLang="en-US" sz="2400" dirty="0">
                <a:latin typeface="Consolas" panose="020B0609020204030204" pitchFamily="49" charset="0"/>
                <a:sym typeface="Arial" panose="020B0604020202020204" pitchFamily="34" charset="0"/>
              </a:rPr>
              <a:t>书名最大长度</a:t>
            </a:r>
            <a:endParaRPr lang="zh-CN" altLang="en-US" sz="24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#define  </a:t>
            </a:r>
            <a:r>
              <a:rPr lang="en-US" altLang="zh-CN" sz="2400" dirty="0" err="1">
                <a:latin typeface="Consolas" panose="020B0609020204030204" pitchFamily="49" charset="0"/>
                <a:sym typeface="宋体" panose="02010600030101010101" pitchFamily="2" charset="-122"/>
              </a:rPr>
              <a:t>MAXAUTL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 42  //</a:t>
            </a:r>
            <a:r>
              <a:rPr lang="zh-CN" altLang="en-US" sz="2400" dirty="0">
                <a:latin typeface="Consolas" panose="020B0609020204030204" pitchFamily="49" charset="0"/>
                <a:sym typeface="宋体" panose="02010600030101010101" pitchFamily="2" charset="-122"/>
              </a:rPr>
              <a:t>作者名最大长度</a:t>
            </a:r>
            <a:endParaRPr lang="zh-CN" altLang="en-US" sz="2400" dirty="0">
              <a:latin typeface="Consolas" panose="020B0609020204030204" pitchFamily="49" charset="0"/>
              <a:sym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struct Book{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char title[</a:t>
            </a:r>
            <a:r>
              <a:rPr lang="en-US" altLang="zh-CN" sz="2400" dirty="0" err="1">
                <a:latin typeface="Consolas" panose="020B0609020204030204" pitchFamily="49" charset="0"/>
              </a:rPr>
              <a:t>MAXTITL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char author[</a:t>
            </a:r>
            <a:r>
              <a:rPr lang="en-US" altLang="zh-CN" sz="2400" dirty="0" err="1">
                <a:latin typeface="Consolas" panose="020B0609020204030204" pitchFamily="49" charset="0"/>
                <a:sym typeface="宋体" panose="02010600030101010101" pitchFamily="2" charset="-122"/>
              </a:rPr>
              <a:t>MAXAUTL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</a:rPr>
              <a:t>float value;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};  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4427538" y="3860800"/>
            <a:ext cx="4752975" cy="2492375"/>
          </a:xfrm>
          <a:prstGeom prst="rect">
            <a:avLst/>
          </a:prstGeom>
          <a:solidFill>
            <a:srgbClr val="66FFFF"/>
          </a:solidFill>
          <a:ln w="9525">
            <a:solidFill>
              <a:srgbClr val="FF3300"/>
            </a:solidFill>
            <a:miter lim="800000"/>
          </a:ln>
          <a:effectLst>
            <a:prstShdw prst="shdw17" dist="17961" dir="13500000">
              <a:srgbClr val="991F00"/>
            </a:prstShdw>
          </a:effec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/>
              <a:t>定义了一个名为</a:t>
            </a:r>
            <a:r>
              <a:rPr lang="en-US" altLang="zh-CN"/>
              <a:t>Book</a:t>
            </a:r>
            <a:r>
              <a:rPr lang="zh-CN" altLang="en-US"/>
              <a:t>的结构（类型）。该结构有</a:t>
            </a:r>
            <a:r>
              <a:rPr lang="en-US" altLang="zh-CN"/>
              <a:t>3</a:t>
            </a:r>
            <a:r>
              <a:rPr lang="zh-CN" altLang="en-US"/>
              <a:t>个数据项：</a:t>
            </a:r>
            <a:r>
              <a:rPr lang="en-US" altLang="zh-CN"/>
              <a:t>title</a:t>
            </a:r>
            <a:r>
              <a:rPr lang="zh-CN" altLang="en-US"/>
              <a:t>、</a:t>
            </a:r>
            <a:r>
              <a:rPr lang="en-US" altLang="zh-CN"/>
              <a:t>aothor</a:t>
            </a:r>
            <a:r>
              <a:rPr lang="zh-CN" altLang="en-US"/>
              <a:t>和</a:t>
            </a:r>
            <a:r>
              <a:rPr lang="en-US" altLang="zh-CN"/>
              <a:t>value</a:t>
            </a:r>
            <a:endParaRPr lang="en-US" altLang="zh-CN"/>
          </a:p>
          <a:p>
            <a:pPr>
              <a:spcBef>
                <a:spcPct val="50000"/>
              </a:spcBef>
            </a:pPr>
            <a:r>
              <a:rPr lang="zh-CN" altLang="en-US"/>
              <a:t>用该结构定义的结构变量可以用来存放一本图书的信息，包括书名、作者名和价格。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220E199-D6AE-4BDE-9D59-58E2247D7775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14.2 </a:t>
            </a:r>
            <a:r>
              <a:rPr lang="zh-CN" altLang="en-US" b="1"/>
              <a:t>结构的定义</a:t>
            </a:r>
            <a:endParaRPr lang="zh-CN" altLang="en-US" b="1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918450" cy="4846637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1.</a:t>
            </a:r>
            <a:r>
              <a:rPr lang="en-US" altLang="zh-CN" sz="2400" b="1" dirty="0">
                <a:latin typeface="宋体" panose="02010600030101010101" pitchFamily="2" charset="-122"/>
              </a:rPr>
              <a:t>"</a:t>
            </a:r>
            <a:r>
              <a:rPr lang="zh-CN" altLang="en-US" sz="2400" b="1" dirty="0"/>
              <a:t>结构名</a:t>
            </a:r>
            <a:r>
              <a:rPr lang="en-US" altLang="zh-CN" sz="2400" b="1" dirty="0">
                <a:latin typeface="宋体" panose="02010600030101010101" pitchFamily="2" charset="-122"/>
              </a:rPr>
              <a:t>"</a:t>
            </a:r>
            <a:r>
              <a:rPr lang="zh-CN" altLang="en-US" sz="2400" b="1" dirty="0"/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"</a:t>
            </a:r>
            <a:r>
              <a:rPr lang="zh-CN" altLang="en-US" sz="2400" b="1" dirty="0"/>
              <a:t>数据项</a:t>
            </a:r>
            <a:r>
              <a:rPr lang="en-US" altLang="zh-CN" sz="2400" b="1" dirty="0">
                <a:latin typeface="宋体" panose="02010600030101010101" pitchFamily="2" charset="-122"/>
              </a:rPr>
              <a:t>"</a:t>
            </a:r>
            <a:r>
              <a:rPr lang="zh-CN" altLang="en-US" sz="2400" b="1" dirty="0"/>
              <a:t>的命名规则，与变量名相同。</a:t>
            </a:r>
            <a:endParaRPr lang="zh-CN" altLang="en-US" sz="2400" b="1" dirty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数据类型相同的数据项，既可逐个、逐行分别定义，也可合并成一行定义。</a:t>
            </a:r>
            <a:endParaRPr lang="zh-CN" altLang="en-US" sz="2400" b="1" dirty="0"/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 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struct Book{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    char title[</a:t>
            </a:r>
            <a:r>
              <a:rPr lang="en-US" altLang="zh-CN" sz="2400" dirty="0" err="1">
                <a:latin typeface="Consolas" panose="020B0609020204030204" pitchFamily="49" charset="0"/>
                <a:sym typeface="Arial" panose="020B0604020202020204" pitchFamily="34" charset="0"/>
              </a:rPr>
              <a:t>MAXTITL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],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author[</a:t>
            </a:r>
            <a:r>
              <a:rPr lang="en-US" altLang="zh-CN" sz="2400" dirty="0" err="1">
                <a:latin typeface="Consolas" panose="020B0609020204030204" pitchFamily="49" charset="0"/>
                <a:sym typeface="宋体" panose="02010600030101010101" pitchFamily="2" charset="-122"/>
              </a:rPr>
              <a:t>MAXAUTL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]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lvl="1" eaLnBrk="1" hangingPunct="1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  <a:sym typeface="Arial" panose="020B0604020202020204" pitchFamily="34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float value;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 };  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3. </a:t>
            </a:r>
            <a:r>
              <a:rPr lang="zh-CN" altLang="en-US" sz="2400" b="1" dirty="0"/>
              <a:t>结构中的数据项，可以是不同类型（和数组不同）。既可以是整形、字符型、浮点型、指针，也允许是数组或者另一个已经定义的结构。</a:t>
            </a:r>
            <a:endParaRPr lang="en-US" altLang="zh-CN" sz="2400" b="1" dirty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4.</a:t>
            </a:r>
            <a:r>
              <a:rPr lang="zh-CN" altLang="en-US" sz="2400" b="1" dirty="0"/>
              <a:t>１个数据项称为结构的１个成员（或分量）。同一结构中的成员不能同名，不同结构中的成员可以同名。</a:t>
            </a:r>
            <a:endParaRPr lang="en-US" altLang="zh-CN" sz="2400" b="1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5. </a:t>
            </a:r>
            <a:r>
              <a:rPr lang="zh-CN" altLang="en-US" sz="2400" b="1" dirty="0"/>
              <a:t>结构既可以在函数外定义，也可以在函数内定义。但函数内定义的结构只能在本函数中使用。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314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#include &lt;stdio.h&gt;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#define MAXTITL  </a:t>
            </a:r>
            <a:r>
              <a:rPr lang="en-US" altLang="zh-CN" sz="2200" dirty="0">
                <a:latin typeface="Consolas" panose="020B0609020204030204" pitchFamily="49" charset="0"/>
              </a:rPr>
              <a:t>82</a:t>
            </a:r>
            <a:r>
              <a:rPr lang="zh-CN" altLang="en-US" sz="2200" dirty="0">
                <a:latin typeface="Consolas" panose="020B0609020204030204" pitchFamily="49" charset="0"/>
              </a:rPr>
              <a:t>              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#define MAXAUTL  </a:t>
            </a:r>
            <a:r>
              <a:rPr lang="en-US" altLang="zh-CN" sz="2200" dirty="0">
                <a:latin typeface="Consolas" panose="020B0609020204030204" pitchFamily="49" charset="0"/>
              </a:rPr>
              <a:t>42</a:t>
            </a:r>
            <a:r>
              <a:rPr lang="zh-CN" altLang="en-US" sz="2200" dirty="0">
                <a:latin typeface="Consolas" panose="020B0609020204030204" pitchFamily="49" charset="0"/>
              </a:rPr>
              <a:t>      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struct 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</a:rPr>
              <a:t>Book</a:t>
            </a: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 {           </a:t>
            </a:r>
            <a:endParaRPr lang="zh-CN" altLang="en-US" sz="2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    char title[MAXTITL];</a:t>
            </a:r>
            <a:endParaRPr lang="zh-CN" altLang="en-US" sz="2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    char author[MAXAUTL];</a:t>
            </a:r>
            <a:endParaRPr lang="zh-CN" altLang="en-US" sz="2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    float value;</a:t>
            </a:r>
            <a:endParaRPr lang="zh-CN" altLang="en-US" sz="2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};  </a:t>
            </a:r>
            <a:endParaRPr lang="zh-CN" altLang="en-US" sz="2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  <a:sym typeface="Arial" panose="020B0604020202020204" pitchFamily="34" charset="0"/>
              </a:rPr>
              <a:t>int main(void)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  <a:sym typeface="Arial" panose="020B0604020202020204" pitchFamily="34" charset="0"/>
              </a:rPr>
              <a:t>{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  <a:sym typeface="Arial" panose="020B0604020202020204" pitchFamily="34" charset="0"/>
              </a:rPr>
              <a:t>    </a:t>
            </a: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  <a:sym typeface="Arial" panose="020B0604020202020204" pitchFamily="34" charset="0"/>
              </a:rPr>
              <a:t>struct 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sym typeface="Arial" panose="020B0604020202020204" pitchFamily="34" charset="0"/>
              </a:rPr>
              <a:t>Book</a:t>
            </a: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  <a:sym typeface="Arial" panose="020B0604020202020204" pitchFamily="34" charset="0"/>
              </a:rPr>
              <a:t> library; </a:t>
            </a:r>
            <a:r>
              <a:rPr lang="zh-CN" altLang="en-US" sz="2200" dirty="0">
                <a:latin typeface="Consolas" panose="020B0609020204030204" pitchFamily="49" charset="0"/>
                <a:sym typeface="Arial" panose="020B0604020202020204" pitchFamily="34" charset="0"/>
              </a:rPr>
              <a:t>// 定义Book类型的结构变量 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338" name="内容占位符 2"/>
          <p:cNvSpPr>
            <a:spLocks noGrp="1" noChangeArrowheads="1"/>
          </p:cNvSpPr>
          <p:nvPr>
            <p:ph idx="1"/>
          </p:nvPr>
        </p:nvSpPr>
        <p:spPr>
          <a:xfrm>
            <a:off x="467544" y="1125538"/>
            <a:ext cx="8461375" cy="4611687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printf(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Please enter the Book title.\n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);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gets(</a:t>
            </a: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library.title</a:t>
            </a:r>
            <a:r>
              <a:rPr lang="zh-CN" altLang="en-US" sz="2200" dirty="0">
                <a:latin typeface="Consolas" panose="020B0609020204030204" pitchFamily="49" charset="0"/>
              </a:rPr>
              <a:t>);      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printf(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Now enter the author.\n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);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gets(</a:t>
            </a: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library.author</a:t>
            </a:r>
            <a:r>
              <a:rPr lang="zh-CN" altLang="en-US" sz="2200" dirty="0">
                <a:latin typeface="Consolas" panose="020B0609020204030204" pitchFamily="49" charset="0"/>
              </a:rPr>
              <a:t>);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printf(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Now enter the value.\n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);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scanf(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%f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, </a:t>
            </a: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&amp;library.value</a:t>
            </a:r>
            <a:r>
              <a:rPr lang="zh-CN" altLang="en-US" sz="2200" dirty="0">
                <a:latin typeface="Consolas" panose="020B0609020204030204" pitchFamily="49" charset="0"/>
              </a:rPr>
              <a:t>);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printf(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%s by %s: $%.2f\n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,library.title,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      library.author, library.value);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printf(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%s: \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%s\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 ($%.2f)\n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, library.author,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      library.title, library.value);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printf(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Done.\n</a:t>
            </a:r>
            <a:r>
              <a:rPr lang="en-US" altLang="zh-CN" sz="2200" dirty="0">
                <a:latin typeface="Consolas" panose="020B0609020204030204" pitchFamily="49" charset="0"/>
              </a:rPr>
              <a:t>"</a:t>
            </a:r>
            <a:r>
              <a:rPr lang="zh-CN" altLang="en-US" sz="2200" dirty="0">
                <a:latin typeface="Consolas" panose="020B0609020204030204" pitchFamily="49" charset="0"/>
              </a:rPr>
              <a:t>);         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return 0;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}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B7AA712-8C4F-4516-88B5-67A2B752EB7E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14.5 </a:t>
            </a:r>
            <a:r>
              <a:rPr lang="zh-CN" altLang="en-US" b="1"/>
              <a:t>访问结构变量成员</a:t>
            </a:r>
            <a:endParaRPr lang="zh-CN" altLang="en-US" b="1"/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19213"/>
            <a:ext cx="8675687" cy="5538787"/>
          </a:xfrm>
        </p:spPr>
        <p:txBody>
          <a:bodyPr/>
          <a:lstStyle/>
          <a:p>
            <a:pPr marL="711200" indent="-711200" eaLnBrk="1" hangingPunct="1">
              <a:lnSpc>
                <a:spcPct val="80000"/>
              </a:lnSpc>
              <a:buFontTx/>
              <a:buAutoNum type="ea1ChsPeriod"/>
            </a:pPr>
            <a:r>
              <a:rPr lang="zh-CN" altLang="en-US" sz="2400" b="1" dirty="0"/>
              <a:t>使用结构成员运算符</a:t>
            </a:r>
            <a:r>
              <a:rPr lang="en-US" altLang="zh-CN" sz="2400" b="1" dirty="0">
                <a:latin typeface="宋体" panose="02010600030101010101" pitchFamily="2" charset="-122"/>
              </a:rPr>
              <a:t>"</a:t>
            </a:r>
            <a:r>
              <a:rPr lang="en-US" altLang="zh-CN" sz="2400" b="1" dirty="0"/>
              <a:t>.</a:t>
            </a:r>
            <a:r>
              <a:rPr lang="en-US" altLang="zh-CN" sz="2400" b="1" dirty="0">
                <a:latin typeface="宋体" panose="02010600030101010101" pitchFamily="2" charset="-122"/>
              </a:rPr>
              <a:t>"</a:t>
            </a:r>
            <a:endParaRPr lang="en-US" altLang="zh-CN" sz="2400" b="1" dirty="0"/>
          </a:p>
          <a:p>
            <a:pPr marL="711200" indent="-711200"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	</a:t>
            </a:r>
            <a:r>
              <a:rPr lang="zh-CN" altLang="en-US" sz="2400" b="1" dirty="0"/>
              <a:t>通过结构变量名访问结构成员：</a:t>
            </a:r>
            <a:r>
              <a:rPr lang="zh-CN" altLang="en-US" sz="2400" b="1" dirty="0">
                <a:solidFill>
                  <a:schemeClr val="accent2"/>
                </a:solidFill>
              </a:rPr>
              <a:t>结构变量名</a:t>
            </a:r>
            <a:r>
              <a:rPr lang="en-US" altLang="zh-CN" sz="2400" b="1" dirty="0">
                <a:solidFill>
                  <a:schemeClr val="accent2"/>
                </a:solidFill>
              </a:rPr>
              <a:t>.</a:t>
            </a:r>
            <a:r>
              <a:rPr lang="zh-CN" altLang="en-US" sz="2400" b="1" dirty="0">
                <a:solidFill>
                  <a:schemeClr val="accent2"/>
                </a:solidFill>
              </a:rPr>
              <a:t>结构成员名</a:t>
            </a:r>
            <a:endParaRPr lang="zh-CN" altLang="en-US" sz="2400" b="1" dirty="0">
              <a:solidFill>
                <a:schemeClr val="accent2"/>
              </a:solidFill>
            </a:endParaRPr>
          </a:p>
          <a:p>
            <a:pPr marL="0" indent="0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例：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gets(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library.title</a:t>
            </a:r>
            <a:r>
              <a:rPr lang="zh-CN" altLang="en-US" sz="2400" dirty="0">
                <a:latin typeface="Consolas" panose="020B0609020204030204" pitchFamily="49" charset="0"/>
              </a:rPr>
              <a:t>);      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scanf(</a:t>
            </a:r>
            <a:r>
              <a:rPr lang="en-US" altLang="zh-CN" sz="2400" dirty="0">
                <a:latin typeface="Consolas" panose="020B0609020204030204" pitchFamily="49" charset="0"/>
              </a:rPr>
              <a:t>"</a:t>
            </a:r>
            <a:r>
              <a:rPr lang="zh-CN" altLang="en-US" sz="2400" dirty="0">
                <a:latin typeface="Consolas" panose="020B0609020204030204" pitchFamily="49" charset="0"/>
              </a:rPr>
              <a:t>%f</a:t>
            </a:r>
            <a:r>
              <a:rPr lang="en-US" altLang="zh-CN" sz="2400" dirty="0">
                <a:latin typeface="Consolas" panose="020B0609020204030204" pitchFamily="49" charset="0"/>
              </a:rPr>
              <a:t>"</a:t>
            </a:r>
            <a:r>
              <a:rPr lang="zh-CN" altLang="en-US" sz="2400" dirty="0">
                <a:latin typeface="Consolas" panose="020B0609020204030204" pitchFamily="49" charset="0"/>
              </a:rPr>
              <a:t>, 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&amp;library.value</a:t>
            </a:r>
            <a:r>
              <a:rPr lang="zh-CN" altLang="en-US" sz="2400" dirty="0">
                <a:latin typeface="Consolas" panose="020B0609020204030204" pitchFamily="49" charset="0"/>
              </a:rPr>
              <a:t>);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charRg st="9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4387">
                                            <p:txEl>
                                              <p:charRg st="99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96A0D9F-96E3-4E02-8A47-0C381EC1F18A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2339752" y="1208306"/>
            <a:ext cx="6121027" cy="5184502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struct  Date{  	/*</a:t>
            </a:r>
            <a:r>
              <a:rPr lang="zh-CN" altLang="en-US" sz="2400" dirty="0">
                <a:latin typeface="Consolas" panose="020B0609020204030204" pitchFamily="49" charset="0"/>
              </a:rPr>
              <a:t>日期结构类型*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just"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int year;       /*</a:t>
            </a:r>
            <a:r>
              <a:rPr lang="zh-CN" altLang="en-US" sz="2400" dirty="0">
                <a:latin typeface="Consolas" panose="020B0609020204030204" pitchFamily="49" charset="0"/>
              </a:rPr>
              <a:t>年*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just"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int month;   /*</a:t>
            </a:r>
            <a:r>
              <a:rPr lang="zh-CN" altLang="en-US" sz="2400" dirty="0">
                <a:latin typeface="Consolas" panose="020B0609020204030204" pitchFamily="49" charset="0"/>
              </a:rPr>
              <a:t>月*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just"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int day;       /*</a:t>
            </a:r>
            <a:r>
              <a:rPr lang="zh-CN" altLang="en-US" sz="2400" dirty="0">
                <a:latin typeface="Consolas" panose="020B0609020204030204" pitchFamily="49" charset="0"/>
              </a:rPr>
              <a:t>日*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just"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};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just" eaLnBrk="1" hangingPunct="1">
              <a:buFontTx/>
              <a:buNone/>
            </a:pPr>
            <a:endParaRPr lang="en-US" altLang="zh-CN" sz="8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struct Book{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char title[</a:t>
            </a:r>
            <a:r>
              <a:rPr lang="en-US" altLang="zh-CN" sz="2400" dirty="0" err="1">
                <a:latin typeface="Consolas" panose="020B0609020204030204" pitchFamily="49" charset="0"/>
              </a:rPr>
              <a:t>MAXTITL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char author[</a:t>
            </a:r>
            <a:r>
              <a:rPr lang="en-US" altLang="zh-CN" sz="2400" dirty="0" err="1">
                <a:latin typeface="Consolas" panose="020B0609020204030204" pitchFamily="49" charset="0"/>
                <a:sym typeface="宋体" panose="02010600030101010101" pitchFamily="2" charset="-122"/>
              </a:rPr>
              <a:t>MAXAUTL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struct Date </a:t>
            </a:r>
            <a:r>
              <a:rPr lang="en-US" altLang="zh-CN" sz="2400" dirty="0" err="1">
                <a:latin typeface="Consolas" panose="020B0609020204030204" pitchFamily="49" charset="0"/>
              </a:rPr>
              <a:t>prtdate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</a:rPr>
              <a:t>float value;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};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16387" name="Text Box 6"/>
          <p:cNvSpPr txBox="1">
            <a:spLocks noChangeArrowheads="1"/>
          </p:cNvSpPr>
          <p:nvPr/>
        </p:nvSpPr>
        <p:spPr bwMode="auto">
          <a:xfrm>
            <a:off x="323280" y="1239453"/>
            <a:ext cx="2016472" cy="2492990"/>
          </a:xfrm>
          <a:prstGeom prst="rect">
            <a:avLst/>
          </a:prstGeom>
          <a:solidFill>
            <a:schemeClr val="hlink"/>
          </a:solidFill>
          <a:ln>
            <a:noFill/>
          </a:ln>
          <a:effectLst>
            <a:prstShdw prst="shdw17" dist="17961" dir="13500000">
              <a:srgbClr val="7A7A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/>
              <a:t>嵌套结构：</a:t>
            </a:r>
            <a:endParaRPr lang="en-US" altLang="zh-CN" dirty="0"/>
          </a:p>
          <a:p>
            <a:pPr>
              <a:spcBef>
                <a:spcPct val="50000"/>
              </a:spcBef>
            </a:pPr>
            <a:r>
              <a:rPr lang="zh-CN" altLang="en-US" sz="2400" b="1" dirty="0"/>
              <a:t>结构中的数据项，可以是另一个已经定义的结构变量。</a:t>
            </a:r>
            <a:endParaRPr lang="en-US" altLang="zh-CN" sz="2400" b="1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E89465B-E869-4FBF-B568-1FCD1A6A5FA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类型别名 </a:t>
            </a:r>
            <a:r>
              <a:rPr lang="en-US" altLang="zh-CN" b="1" dirty="0"/>
              <a:t>typedef</a:t>
            </a:r>
            <a:endParaRPr lang="en-US" altLang="zh-CN" b="1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772400" cy="4846637"/>
          </a:xfrm>
        </p:spPr>
        <p:txBody>
          <a:bodyPr/>
          <a:lstStyle/>
          <a:p>
            <a:pPr algn="just" eaLnBrk="1" hangingPunct="1"/>
            <a:r>
              <a:rPr lang="zh-CN" altLang="en-US" b="1" dirty="0"/>
              <a:t>可以用</a:t>
            </a:r>
            <a:r>
              <a:rPr lang="en-US" altLang="zh-CN" b="1" dirty="0"/>
              <a:t>typedef</a:t>
            </a:r>
            <a:r>
              <a:rPr lang="zh-CN" altLang="en-US" b="1" dirty="0"/>
              <a:t>建立已定义好的数据类型的别名。</a:t>
            </a:r>
            <a:endParaRPr lang="zh-CN" altLang="en-US" b="1" dirty="0"/>
          </a:p>
          <a:p>
            <a:pPr algn="just" eaLnBrk="1" hangingPunct="1"/>
            <a:r>
              <a:rPr lang="zh-CN" altLang="en-US" b="1" dirty="0"/>
              <a:t>定义新的类型</a:t>
            </a:r>
            <a:r>
              <a:rPr lang="en-US" altLang="zh-CN" b="1" dirty="0"/>
              <a:t>Card</a:t>
            </a:r>
            <a:r>
              <a:rPr lang="zh-CN" altLang="en-US" b="1" dirty="0"/>
              <a:t>，它是类型</a:t>
            </a:r>
            <a:r>
              <a:rPr lang="en-US" altLang="zh-CN" b="1" dirty="0"/>
              <a:t>struct card </a:t>
            </a:r>
            <a:r>
              <a:rPr lang="zh-CN" altLang="en-US" b="1" dirty="0"/>
              <a:t>的别名</a:t>
            </a:r>
            <a:endParaRPr lang="zh-CN" altLang="en-US" b="1" dirty="0"/>
          </a:p>
          <a:p>
            <a:pPr algn="just" eaLnBrk="1" hangingPunct="1">
              <a:buFontTx/>
              <a:buNone/>
            </a:pPr>
            <a:r>
              <a:rPr lang="zh-CN" altLang="en-US" b="1" dirty="0"/>
              <a:t>     </a:t>
            </a:r>
            <a:r>
              <a:rPr lang="en-US" altLang="zh-CN" dirty="0">
                <a:latin typeface="Consolas" panose="020B0609020204030204" pitchFamily="49" charset="0"/>
              </a:rPr>
              <a:t>typedef </a:t>
            </a:r>
            <a:r>
              <a:rPr lang="en-US" altLang="zh-CN" dirty="0">
                <a:solidFill>
                  <a:schemeClr val="accent2"/>
                </a:solidFill>
                <a:latin typeface="Consolas" panose="020B0609020204030204" pitchFamily="49" charset="0"/>
              </a:rPr>
              <a:t>struct  Book 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Mybook</a:t>
            </a:r>
            <a:r>
              <a:rPr lang="zh-CN" altLang="en-US" dirty="0">
                <a:latin typeface="Consolas" panose="020B0609020204030204" pitchFamily="49" charset="0"/>
              </a:rPr>
              <a:t>；</a:t>
            </a:r>
            <a:endParaRPr lang="zh-CN" altLang="en-US" dirty="0">
              <a:latin typeface="Consolas" panose="020B0609020204030204" pitchFamily="49" charset="0"/>
            </a:endParaRPr>
          </a:p>
          <a:p>
            <a:pPr algn="just" eaLnBrk="1" hangingPunct="1"/>
            <a:endParaRPr lang="zh-CN" altLang="en-US" b="1" dirty="0"/>
          </a:p>
          <a:p>
            <a:pPr algn="just" eaLnBrk="1" hangingPunct="1"/>
            <a:endParaRPr lang="zh-CN" altLang="en-US" b="1" dirty="0"/>
          </a:p>
          <a:p>
            <a:pPr algn="just" eaLnBrk="1" hangingPunct="1"/>
            <a:r>
              <a:rPr lang="zh-CN" altLang="en-US" b="1" dirty="0"/>
              <a:t>定义一个结构数组：</a:t>
            </a:r>
            <a:endParaRPr lang="zh-CN" altLang="en-US" b="1" dirty="0"/>
          </a:p>
          <a:p>
            <a:pPr algn="just" eaLnBrk="1" hangingPunct="1">
              <a:buFontTx/>
              <a:buNone/>
            </a:pPr>
            <a:r>
              <a:rPr lang="zh-CN" altLang="en-US" b="1" dirty="0"/>
              <a:t>		</a:t>
            </a:r>
            <a:r>
              <a:rPr lang="en-US" altLang="zh-CN" dirty="0" err="1">
                <a:latin typeface="Consolas" panose="020B0609020204030204" pitchFamily="49" charset="0"/>
              </a:rPr>
              <a:t>Mybook</a:t>
            </a:r>
            <a:r>
              <a:rPr lang="en-US" altLang="zh-CN" dirty="0">
                <a:latin typeface="Consolas" panose="020B0609020204030204" pitchFamily="49" charset="0"/>
              </a:rPr>
              <a:t> library[100];</a:t>
            </a:r>
            <a:endParaRPr lang="en-US" altLang="zh-CN" dirty="0">
              <a:latin typeface="Consolas" panose="020B0609020204030204" pitchFamily="49" charset="0"/>
            </a:endParaRPr>
          </a:p>
          <a:p>
            <a:pPr algn="just" eaLnBrk="1" hangingPunct="1">
              <a:buFontTx/>
              <a:buNone/>
            </a:pPr>
            <a:endParaRPr lang="en-US" altLang="zh-CN" b="1" dirty="0"/>
          </a:p>
        </p:txBody>
      </p:sp>
      <p:sp>
        <p:nvSpPr>
          <p:cNvPr id="100422" name="Line 70"/>
          <p:cNvSpPr>
            <a:spLocks noChangeShapeType="1"/>
          </p:cNvSpPr>
          <p:nvPr/>
        </p:nvSpPr>
        <p:spPr bwMode="auto">
          <a:xfrm>
            <a:off x="2484438" y="3284538"/>
            <a:ext cx="1655762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</a:ln>
          <a:effectLst>
            <a:prstShdw prst="shdw17" dist="17961" dir="13500000">
              <a:srgbClr val="001F5C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0423" name="Line 71"/>
          <p:cNvSpPr>
            <a:spLocks noChangeShapeType="1"/>
          </p:cNvSpPr>
          <p:nvPr/>
        </p:nvSpPr>
        <p:spPr bwMode="auto">
          <a:xfrm>
            <a:off x="4356100" y="3289300"/>
            <a:ext cx="792163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0424" name="Text Box 72"/>
          <p:cNvSpPr txBox="1">
            <a:spLocks noChangeArrowheads="1"/>
          </p:cNvSpPr>
          <p:nvPr/>
        </p:nvSpPr>
        <p:spPr bwMode="auto">
          <a:xfrm>
            <a:off x="2484438" y="3427413"/>
            <a:ext cx="1655762" cy="436562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1"/>
            </a:solidFill>
            <a:miter lim="800000"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/>
              <a:t>数据类型名</a:t>
            </a:r>
            <a:endParaRPr lang="zh-CN" altLang="en-US" sz="2200"/>
          </a:p>
        </p:txBody>
      </p:sp>
      <p:sp>
        <p:nvSpPr>
          <p:cNvPr id="100425" name="Line 73"/>
          <p:cNvSpPr>
            <a:spLocks noChangeShapeType="1"/>
          </p:cNvSpPr>
          <p:nvPr/>
        </p:nvSpPr>
        <p:spPr bwMode="auto">
          <a:xfrm>
            <a:off x="3203575" y="328453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00426" name="Text Box 74"/>
          <p:cNvSpPr txBox="1">
            <a:spLocks noChangeArrowheads="1"/>
          </p:cNvSpPr>
          <p:nvPr/>
        </p:nvSpPr>
        <p:spPr bwMode="auto">
          <a:xfrm>
            <a:off x="4356100" y="3427413"/>
            <a:ext cx="792163" cy="436562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1"/>
            </a:solidFill>
            <a:miter lim="800000"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/>
              <a:t>别名</a:t>
            </a:r>
            <a:endParaRPr lang="zh-CN" altLang="en-US" sz="2200"/>
          </a:p>
        </p:txBody>
      </p:sp>
      <p:sp>
        <p:nvSpPr>
          <p:cNvPr id="100427" name="Line 75"/>
          <p:cNvSpPr>
            <a:spLocks noChangeShapeType="1"/>
          </p:cNvSpPr>
          <p:nvPr/>
        </p:nvSpPr>
        <p:spPr bwMode="auto">
          <a:xfrm>
            <a:off x="4716463" y="3289300"/>
            <a:ext cx="0" cy="2159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24" grpId="0" animBg="1"/>
      <p:bldP spid="1004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314" name="内容占位符 2"/>
          <p:cNvSpPr>
            <a:spLocks noGrp="1" noChangeArrowheads="1"/>
          </p:cNvSpPr>
          <p:nvPr>
            <p:ph idx="1"/>
          </p:nvPr>
        </p:nvSpPr>
        <p:spPr>
          <a:xfrm>
            <a:off x="467544" y="1125538"/>
            <a:ext cx="8352928" cy="561583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 err="1">
                <a:latin typeface="Consolas" panose="020B0609020204030204" pitchFamily="49" charset="0"/>
              </a:rPr>
              <a:t>MAXTITL</a:t>
            </a:r>
            <a:r>
              <a:rPr lang="en-US" altLang="zh-CN" sz="2000" dirty="0">
                <a:latin typeface="Consolas" panose="020B0609020204030204" pitchFamily="49" charset="0"/>
              </a:rPr>
              <a:t>  82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 err="1">
                <a:latin typeface="Consolas" panose="020B0609020204030204" pitchFamily="49" charset="0"/>
              </a:rPr>
              <a:t>MAXAUTL</a:t>
            </a:r>
            <a:r>
              <a:rPr lang="en-US" altLang="zh-CN" sz="2000" dirty="0">
                <a:latin typeface="Consolas" panose="020B0609020204030204" pitchFamily="49" charset="0"/>
              </a:rPr>
              <a:t>  42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struct  Date{  	/*</a:t>
            </a:r>
            <a:r>
              <a:rPr lang="zh-CN" altLang="en-US" sz="2000" dirty="0">
                <a:latin typeface="Consolas" panose="020B0609020204030204" pitchFamily="49" charset="0"/>
              </a:rPr>
              <a:t>日期结构类型*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int year;       /*</a:t>
            </a:r>
            <a:r>
              <a:rPr lang="zh-CN" altLang="en-US" sz="2000" dirty="0">
                <a:latin typeface="Consolas" panose="020B0609020204030204" pitchFamily="49" charset="0"/>
              </a:rPr>
              <a:t>年*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int month;   /*</a:t>
            </a:r>
            <a:r>
              <a:rPr lang="zh-CN" altLang="en-US" sz="2000" dirty="0">
                <a:latin typeface="Consolas" panose="020B0609020204030204" pitchFamily="49" charset="0"/>
              </a:rPr>
              <a:t>月*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int day;       /*</a:t>
            </a:r>
            <a:r>
              <a:rPr lang="zh-CN" altLang="en-US" sz="2000" dirty="0">
                <a:latin typeface="Consolas" panose="020B0609020204030204" pitchFamily="49" charset="0"/>
              </a:rPr>
              <a:t>日*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struct Book 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char title[</a:t>
            </a:r>
            <a:r>
              <a:rPr lang="en-US" altLang="zh-CN" sz="2000" dirty="0" err="1">
                <a:latin typeface="Consolas" panose="020B0609020204030204" pitchFamily="49" charset="0"/>
              </a:rPr>
              <a:t>MAXTITL</a:t>
            </a:r>
            <a:r>
              <a:rPr lang="en-US" altLang="zh-CN" sz="2000" dirty="0">
                <a:latin typeface="Consolas" panose="020B0609020204030204" pitchFamily="49" charset="0"/>
              </a:rPr>
              <a:t>];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char author[</a:t>
            </a:r>
            <a:r>
              <a:rPr lang="en-US" altLang="zh-CN" sz="2000" dirty="0" err="1">
                <a:latin typeface="Consolas" panose="020B0609020204030204" pitchFamily="49" charset="0"/>
              </a:rPr>
              <a:t>MAXAUTL</a:t>
            </a:r>
            <a:r>
              <a:rPr lang="en-US" altLang="zh-CN" sz="2000" dirty="0">
                <a:latin typeface="Consolas" panose="020B0609020204030204" pitchFamily="49" charset="0"/>
              </a:rPr>
              <a:t>];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struct  Date </a:t>
            </a:r>
            <a:r>
              <a:rPr lang="en-US" altLang="zh-CN" sz="2000" dirty="0" err="1">
                <a:latin typeface="Consolas" panose="020B0609020204030204" pitchFamily="49" charset="0"/>
              </a:rPr>
              <a:t>prtdate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float value;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typedef struct Book </a:t>
            </a:r>
            <a:r>
              <a:rPr lang="en-US" altLang="zh-CN" sz="2000" dirty="0" err="1">
                <a:latin typeface="Consolas" panose="020B0609020204030204" pitchFamily="49" charset="0"/>
              </a:rPr>
              <a:t>Mybook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338" name="内容占位符 2"/>
          <p:cNvSpPr>
            <a:spLocks noGrp="1" noChangeArrowheads="1"/>
          </p:cNvSpPr>
          <p:nvPr>
            <p:ph idx="1"/>
          </p:nvPr>
        </p:nvSpPr>
        <p:spPr>
          <a:xfrm>
            <a:off x="467544" y="1125538"/>
            <a:ext cx="8461375" cy="4611687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  <a:sym typeface="Arial" panose="020B0604020202020204" pitchFamily="34" charset="0"/>
              </a:rPr>
              <a:t>int main(void){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  <a:sym typeface="Arial" panose="020B0604020202020204" pitchFamily="34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Mybook</a:t>
            </a:r>
            <a:r>
              <a:rPr lang="zh-CN" altLang="en-US" sz="2000" dirty="0">
                <a:latin typeface="Consolas" panose="020B0609020204030204" pitchFamily="49" charset="0"/>
                <a:sym typeface="Arial" panose="020B0604020202020204" pitchFamily="34" charset="0"/>
              </a:rPr>
              <a:t> library; // 定义Book类型的结构变量 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printf(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Please enter the Book title.\n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gets(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library.title</a:t>
            </a:r>
            <a:r>
              <a:rPr lang="zh-CN" altLang="en-US" sz="2000" dirty="0">
                <a:latin typeface="Consolas" panose="020B0609020204030204" pitchFamily="49" charset="0"/>
              </a:rPr>
              <a:t>); //读取结构变量的成员      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printf(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Now enter the author.\n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gets(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library.author</a:t>
            </a:r>
            <a:r>
              <a:rPr lang="zh-CN" altLang="en-US" sz="2000" dirty="0">
                <a:latin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("Enter the publish date: year month day.\n");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d%d%d</a:t>
            </a:r>
            <a:r>
              <a:rPr lang="en-US" altLang="zh-CN" sz="2000" dirty="0">
                <a:latin typeface="Consolas" panose="020B0609020204030204" pitchFamily="49" charset="0"/>
              </a:rPr>
              <a:t>", &amp;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library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prtdate.year</a:t>
            </a:r>
            <a:r>
              <a:rPr lang="en-US" altLang="zh-CN" sz="2000" dirty="0">
                <a:latin typeface="Consolas" panose="020B0609020204030204" pitchFamily="49" charset="0"/>
              </a:rPr>
              <a:t>,&amp;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library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prtdate.month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latin typeface="Consolas" panose="020B0609020204030204" pitchFamily="49" charset="0"/>
              </a:rPr>
              <a:t>&amp;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library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prtdate.day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printf(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Now enter the value.\n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scanf(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%f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, 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&amp;library.value</a:t>
            </a:r>
            <a:r>
              <a:rPr lang="zh-CN" altLang="en-US" sz="2000" dirty="0">
                <a:latin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printf(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%s by %s: $%.2f\n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,library.title,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library.author, library.value);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printf(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Done.\n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zh-CN" altLang="en-US" sz="2000" dirty="0">
                <a:latin typeface="Consolas" panose="020B0609020204030204" pitchFamily="49" charset="0"/>
              </a:rPr>
              <a:t>);         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return 0;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53B0A6C-0C85-4760-8E46-D7A34E17EE0D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14.5 </a:t>
            </a:r>
            <a:r>
              <a:rPr lang="zh-CN" altLang="en-US" b="1"/>
              <a:t>访问结构变量成员</a:t>
            </a:r>
            <a:endParaRPr lang="zh-CN" altLang="en-US" b="1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(1) </a:t>
            </a:r>
            <a:r>
              <a:rPr lang="zh-CN" altLang="en-US" b="1" dirty="0"/>
              <a:t>如果某成员本身又是一个结构类型，则只能通过多级的分量运算，对最低一级的成员进行引用。</a:t>
            </a:r>
            <a:endParaRPr lang="zh-CN" altLang="en-US" b="1" dirty="0"/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	此时的引用格式扩展为：</a:t>
            </a:r>
            <a:endParaRPr lang="zh-CN" altLang="en-US" b="1" dirty="0"/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        </a:t>
            </a:r>
            <a:r>
              <a:rPr lang="zh-CN" altLang="en-US" b="1" dirty="0">
                <a:solidFill>
                  <a:schemeClr val="accent2"/>
                </a:solidFill>
              </a:rPr>
              <a:t>结构变量</a:t>
            </a:r>
            <a:r>
              <a:rPr lang="en-US" altLang="zh-CN" b="1" dirty="0">
                <a:solidFill>
                  <a:schemeClr val="accent2"/>
                </a:solidFill>
              </a:rPr>
              <a:t>.</a:t>
            </a:r>
            <a:r>
              <a:rPr lang="zh-CN" altLang="en-US" b="1" dirty="0">
                <a:solidFill>
                  <a:schemeClr val="accent2"/>
                </a:solidFill>
              </a:rPr>
              <a:t>成员</a:t>
            </a:r>
            <a:r>
              <a:rPr lang="en-US" altLang="zh-CN" b="1" dirty="0">
                <a:solidFill>
                  <a:schemeClr val="accent2"/>
                </a:solidFill>
              </a:rPr>
              <a:t>.</a:t>
            </a:r>
            <a:r>
              <a:rPr lang="zh-CN" altLang="en-US" b="1" dirty="0">
                <a:solidFill>
                  <a:schemeClr val="accent2"/>
                </a:solidFill>
              </a:rPr>
              <a:t>子成员</a:t>
            </a:r>
            <a:r>
              <a:rPr lang="en-US" altLang="zh-CN" b="1" dirty="0">
                <a:solidFill>
                  <a:schemeClr val="accent2"/>
                </a:solidFill>
              </a:rPr>
              <a:t>.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…</a:t>
            </a:r>
            <a:r>
              <a:rPr lang="en-US" altLang="zh-CN" b="1" dirty="0">
                <a:solidFill>
                  <a:schemeClr val="accent2"/>
                </a:solidFill>
              </a:rPr>
              <a:t>.</a:t>
            </a:r>
            <a:r>
              <a:rPr lang="zh-CN" altLang="en-US" b="1" dirty="0">
                <a:solidFill>
                  <a:schemeClr val="accent2"/>
                </a:solidFill>
              </a:rPr>
              <a:t>最低一级子成员</a:t>
            </a:r>
            <a:endParaRPr lang="zh-CN" altLang="en-US" b="1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    例如，</a:t>
            </a:r>
            <a:r>
              <a:rPr lang="zh-CN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sz="2800" dirty="0">
                <a:latin typeface="Consolas" panose="020B0609020204030204" pitchFamily="49" charset="0"/>
              </a:rPr>
              <a:t>library</a:t>
            </a:r>
            <a:r>
              <a:rPr lang="en-US" altLang="zh-CN" sz="2800" dirty="0">
                <a:latin typeface="Consolas" panose="020B0609020204030204" pitchFamily="49" charset="0"/>
              </a:rPr>
              <a:t>.</a:t>
            </a:r>
            <a:r>
              <a:rPr lang="en-US" altLang="zh-CN" sz="2800" dirty="0" err="1">
                <a:latin typeface="Consolas" panose="020B0609020204030204" pitchFamily="49" charset="0"/>
              </a:rPr>
              <a:t>prtdate.month</a:t>
            </a:r>
            <a:endParaRPr lang="en-US" altLang="zh-CN" b="1" dirty="0"/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(2) </a:t>
            </a:r>
            <a:r>
              <a:rPr lang="zh-CN" altLang="en-US" b="1" dirty="0"/>
              <a:t>对最低一级成员，可像同类型的普通变量一样，进行相应的各种运算。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(3) </a:t>
            </a:r>
            <a:r>
              <a:rPr lang="zh-CN" altLang="en-US" b="1" dirty="0"/>
              <a:t>既可引用结构变量成员的地址，也可引用结构变量的地址。例如，</a:t>
            </a:r>
            <a:r>
              <a:rPr lang="zh-CN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zh-CN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library</a:t>
            </a:r>
            <a:r>
              <a:rPr lang="zh-CN" altLang="en-US" b="1" dirty="0"/>
              <a:t>，</a:t>
            </a:r>
            <a:r>
              <a:rPr lang="zh-CN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&amp;library.value</a:t>
            </a:r>
            <a:endParaRPr lang="en-US" altLang="zh-CN" b="1" dirty="0"/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altLang="zh-CN" b="1" dirty="0"/>
          </a:p>
          <a:p>
            <a:pPr eaLnBrk="1" hangingPunct="1">
              <a:lnSpc>
                <a:spcPct val="90000"/>
              </a:lnSpc>
            </a:pPr>
            <a:endParaRPr lang="en-US" altLang="zh-CN" b="1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Arial" panose="020B0604020202020204" pitchFamily="34" charset="0"/>
              </a:rPr>
              <a:t>结构变量初始化</a:t>
            </a:r>
            <a:endParaRPr lang="zh-CN" altLang="en-US" dirty="0"/>
          </a:p>
        </p:txBody>
      </p:sp>
      <p:sp>
        <p:nvSpPr>
          <p:cNvPr id="19458" name="内容占位符 2"/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8347075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ym typeface="Arial" panose="020B0604020202020204" pitchFamily="34" charset="0"/>
              </a:rPr>
              <a:t>在定义结构变量的同时可以进行初始化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sym typeface="Arial" panose="020B0604020202020204" pitchFamily="34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struct Book library={</a:t>
            </a:r>
            <a:endParaRPr lang="en-US" altLang="zh-CN" sz="24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       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"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The pirate and the Devious Damsel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"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,</a:t>
            </a:r>
            <a:endParaRPr lang="en-US" altLang="zh-CN" sz="24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    "Renee </a:t>
            </a:r>
            <a:r>
              <a:rPr lang="en-US" altLang="zh-CN" sz="2400" dirty="0" err="1">
                <a:latin typeface="Consolas" panose="020B0609020204030204" pitchFamily="49" charset="0"/>
                <a:sym typeface="Arial" panose="020B0604020202020204" pitchFamily="34" charset="0"/>
              </a:rPr>
              <a:t>Vivotte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",</a:t>
            </a:r>
            <a:endParaRPr lang="en-US" altLang="zh-CN" sz="24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    1.95 }</a:t>
            </a:r>
            <a:r>
              <a:rPr lang="zh-CN" altLang="en-US" sz="2400" dirty="0">
                <a:latin typeface="Consolas" panose="020B0609020204030204" pitchFamily="49" charset="0"/>
                <a:sym typeface="Arial" panose="020B0604020202020204" pitchFamily="34" charset="0"/>
              </a:rPr>
              <a:t>；</a:t>
            </a:r>
            <a:endParaRPr lang="zh-CN" altLang="en-US" sz="24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b="1" dirty="0"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b="1" dirty="0"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sym typeface="Arial" panose="020B0604020202020204" pitchFamily="34" charset="0"/>
              </a:rPr>
              <a:t>   如果初始化的个数少于结构中的成员数目，剩余成员被自动化初始为</a:t>
            </a:r>
            <a:r>
              <a:rPr lang="en-US" altLang="zh-CN" b="1" dirty="0">
                <a:sym typeface="Arial" panose="020B0604020202020204" pitchFamily="34" charset="0"/>
              </a:rPr>
              <a:t>0</a:t>
            </a:r>
            <a:r>
              <a:rPr lang="zh-CN" altLang="en-US" b="1" dirty="0">
                <a:sym typeface="Arial" panose="020B0604020202020204" pitchFamily="34" charset="0"/>
              </a:rPr>
              <a:t>（整型、浮点型）、</a:t>
            </a:r>
            <a:r>
              <a:rPr lang="zh-CN" altLang="en-US" b="1" dirty="0">
                <a:latin typeface="宋体" panose="02010600030101010101" pitchFamily="2" charset="-122"/>
                <a:sym typeface="Arial" panose="020B0604020202020204" pitchFamily="34" charset="0"/>
              </a:rPr>
              <a:t>‘</a:t>
            </a:r>
            <a:r>
              <a:rPr lang="en-US" altLang="zh-CN" b="1" dirty="0">
                <a:sym typeface="Arial" panose="020B0604020202020204" pitchFamily="34" charset="0"/>
              </a:rPr>
              <a:t>\0</a:t>
            </a:r>
            <a:r>
              <a:rPr lang="en-US" altLang="zh-CN" b="1" dirty="0">
                <a:latin typeface="宋体" panose="02010600030101010101" pitchFamily="2" charset="-122"/>
                <a:sym typeface="Arial" panose="020B0604020202020204" pitchFamily="34" charset="0"/>
              </a:rPr>
              <a:t>’</a:t>
            </a:r>
            <a:r>
              <a:rPr lang="zh-CN" altLang="en-US" b="1" dirty="0">
                <a:sym typeface="Arial" panose="020B0604020202020204" pitchFamily="34" charset="0"/>
              </a:rPr>
              <a:t>（字符或者字符串型）、</a:t>
            </a:r>
            <a:r>
              <a:rPr lang="en-US" altLang="zh-CN" b="1" dirty="0">
                <a:sym typeface="Arial" panose="020B0604020202020204" pitchFamily="34" charset="0"/>
              </a:rPr>
              <a:t>NULL</a:t>
            </a:r>
            <a:r>
              <a:rPr lang="zh-CN" altLang="en-US" b="1" dirty="0">
                <a:sym typeface="Arial" panose="020B0604020202020204" pitchFamily="34" charset="0"/>
              </a:rPr>
              <a:t>（指针）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dirty="0"/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4789488" y="2854325"/>
            <a:ext cx="3892550" cy="46672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宋体" panose="02010600030101010101" pitchFamily="2" charset="-122"/>
                <a:sym typeface="宋体" panose="02010600030101010101" pitchFamily="2" charset="-122"/>
              </a:rPr>
              <a:t>The pirate and the Devious Damsel</a:t>
            </a:r>
            <a:endParaRPr lang="en-US" altLang="zh-CN" sz="1800"/>
          </a:p>
        </p:txBody>
      </p:sp>
      <p:sp>
        <p:nvSpPr>
          <p:cNvPr id="19460" name="Text Box 6"/>
          <p:cNvSpPr txBox="1">
            <a:spLocks noChangeArrowheads="1"/>
          </p:cNvSpPr>
          <p:nvPr/>
        </p:nvSpPr>
        <p:spPr bwMode="auto">
          <a:xfrm>
            <a:off x="4789488" y="3286125"/>
            <a:ext cx="3892550" cy="46672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  <a:sym typeface="宋体" panose="02010600030101010101" pitchFamily="2" charset="-122"/>
              </a:rPr>
              <a:t>Renee Vivotte</a:t>
            </a:r>
            <a:endParaRPr lang="zh-CN" altLang="en-US"/>
          </a:p>
        </p:txBody>
      </p:sp>
      <p:sp>
        <p:nvSpPr>
          <p:cNvPr id="19461" name="Text Box 7"/>
          <p:cNvSpPr txBox="1">
            <a:spLocks noChangeArrowheads="1"/>
          </p:cNvSpPr>
          <p:nvPr/>
        </p:nvSpPr>
        <p:spPr bwMode="auto">
          <a:xfrm>
            <a:off x="4789488" y="3717925"/>
            <a:ext cx="3892550" cy="46672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1.95</a:t>
            </a:r>
            <a:endParaRPr lang="en-US" altLang="zh-CN"/>
          </a:p>
        </p:txBody>
      </p:sp>
      <p:sp>
        <p:nvSpPr>
          <p:cNvPr id="19462" name="文本框 4"/>
          <p:cNvSpPr txBox="1">
            <a:spLocks noChangeArrowheads="1"/>
          </p:cNvSpPr>
          <p:nvPr/>
        </p:nvSpPr>
        <p:spPr bwMode="auto">
          <a:xfrm>
            <a:off x="5364163" y="4149725"/>
            <a:ext cx="2605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结构变量</a:t>
            </a:r>
            <a:r>
              <a:rPr lang="en-US" altLang="zh-CN"/>
              <a:t>library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FCA96D4-E296-4319-A4AE-CE90B5824B4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14.4 </a:t>
            </a:r>
            <a:r>
              <a:rPr lang="zh-CN" altLang="en-US" b="1" dirty="0"/>
              <a:t>结构变量可互相赋值</a:t>
            </a:r>
            <a:endParaRPr lang="zh-CN" altLang="en-US" b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88950" y="1268760"/>
            <a:ext cx="8350250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struct Book bk={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"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The pirate and the Devious </a:t>
            </a:r>
            <a:r>
              <a:rPr lang="en-US" altLang="zh-CN" sz="2400" dirty="0" err="1">
                <a:latin typeface="Consolas" panose="020B0609020204030204" pitchFamily="49" charset="0"/>
                <a:sym typeface="Arial" panose="020B0604020202020204" pitchFamily="34" charset="0"/>
              </a:rPr>
              <a:t>Damsel</a:t>
            </a:r>
            <a:r>
              <a:rPr lang="en-US" altLang="zh-CN" sz="2400" dirty="0" err="1">
                <a:latin typeface="Consolas" panose="020B0609020204030204" pitchFamily="49" charset="0"/>
                <a:sym typeface="宋体" panose="02010600030101010101" pitchFamily="2" charset="-122"/>
              </a:rPr>
              <a:t>"</a:t>
            </a:r>
            <a:r>
              <a:rPr lang="en-US" altLang="zh-CN" sz="2400" dirty="0" err="1">
                <a:latin typeface="Consolas" panose="020B0609020204030204" pitchFamily="49" charset="0"/>
                <a:sym typeface="Arial" panose="020B0604020202020204" pitchFamily="34" charset="0"/>
              </a:rPr>
              <a:t>,"Renee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  <a:sym typeface="Arial" panose="020B0604020202020204" pitchFamily="34" charset="0"/>
              </a:rPr>
              <a:t>Vivotte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",</a:t>
            </a:r>
            <a:r>
              <a:rPr lang="en-US" altLang="zh-CN" sz="2400" dirty="0">
                <a:latin typeface="Consolas" panose="020B0609020204030204" pitchFamily="49" charset="0"/>
              </a:rPr>
              <a:t> {1980,9,20},</a:t>
            </a:r>
            <a:endParaRPr lang="en-US" altLang="zh-CN" sz="24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    1.95</a:t>
            </a:r>
            <a:r>
              <a:rPr lang="en-US" altLang="zh-CN" sz="2400" dirty="0">
                <a:latin typeface="Consolas" panose="020B0609020204030204" pitchFamily="49" charset="0"/>
              </a:rPr>
              <a:t>};</a:t>
            </a: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400" dirty="0">
                <a:solidFill>
                  <a:srgbClr val="FF3300"/>
                </a:solidFill>
                <a:latin typeface="Consolas" panose="020B0609020204030204" pitchFamily="49" charset="0"/>
              </a:rPr>
              <a:t>注意出版日期的初始化</a:t>
            </a:r>
            <a:endParaRPr lang="zh-CN" altLang="en-US" sz="2400" dirty="0">
              <a:solidFill>
                <a:srgbClr val="FF3300"/>
              </a:solidFill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  <a:latin typeface="Consolas" panose="020B0609020204030204" pitchFamily="49" charset="0"/>
              </a:rPr>
              <a:t>或者</a:t>
            </a:r>
            <a:endParaRPr lang="zh-CN" altLang="en-US" sz="2400" dirty="0">
              <a:solidFill>
                <a:srgbClr val="FF33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struct Book bk={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"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The pirate and the Devious </a:t>
            </a:r>
            <a:r>
              <a:rPr lang="en-US" altLang="zh-CN" sz="2400" dirty="0" err="1">
                <a:latin typeface="Consolas" panose="020B0609020204030204" pitchFamily="49" charset="0"/>
                <a:sym typeface="Arial" panose="020B0604020202020204" pitchFamily="34" charset="0"/>
              </a:rPr>
              <a:t>Damsel</a:t>
            </a:r>
            <a:r>
              <a:rPr lang="en-US" altLang="zh-CN" sz="2400" dirty="0" err="1">
                <a:latin typeface="Consolas" panose="020B0609020204030204" pitchFamily="49" charset="0"/>
                <a:sym typeface="宋体" panose="02010600030101010101" pitchFamily="2" charset="-122"/>
              </a:rPr>
              <a:t>"</a:t>
            </a:r>
            <a:r>
              <a:rPr lang="en-US" altLang="zh-CN" sz="2400" dirty="0" err="1">
                <a:latin typeface="Consolas" panose="020B0609020204030204" pitchFamily="49" charset="0"/>
                <a:sym typeface="Arial" panose="020B0604020202020204" pitchFamily="34" charset="0"/>
              </a:rPr>
              <a:t>,"Renee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  <a:sym typeface="Arial" panose="020B0604020202020204" pitchFamily="34" charset="0"/>
              </a:rPr>
              <a:t>Vivotte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",</a:t>
            </a:r>
            <a:r>
              <a:rPr lang="en-US" altLang="zh-CN" sz="2400" dirty="0">
                <a:latin typeface="Consolas" panose="020B0609020204030204" pitchFamily="49" charset="0"/>
              </a:rPr>
              <a:t> 1980,9,20,</a:t>
            </a:r>
            <a:r>
              <a:rPr lang="en-US" altLang="zh-CN" sz="2400" dirty="0">
                <a:latin typeface="Consolas" panose="020B0609020204030204" pitchFamily="49" charset="0"/>
                <a:sym typeface="Arial" panose="020B0604020202020204" pitchFamily="34" charset="0"/>
              </a:rPr>
              <a:t>1.95</a:t>
            </a:r>
            <a:r>
              <a:rPr lang="en-US" altLang="zh-CN" sz="2400" dirty="0">
                <a:latin typeface="Consolas" panose="020B0609020204030204" pitchFamily="49" charset="0"/>
              </a:rPr>
              <a:t>};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dirty="0">
              <a:solidFill>
                <a:srgbClr val="FF33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为方便编程，</a:t>
            </a:r>
            <a:r>
              <a:rPr lang="en-US" altLang="zh-CN" dirty="0">
                <a:latin typeface="Consolas" panose="020B0609020204030204" pitchFamily="49" charset="0"/>
              </a:rPr>
              <a:t>C</a:t>
            </a:r>
            <a:r>
              <a:rPr lang="zh-CN" altLang="en-US" dirty="0">
                <a:latin typeface="Consolas" panose="020B0609020204030204" pitchFamily="49" charset="0"/>
              </a:rPr>
              <a:t>语言允许结构变量之间赋值运算。</a:t>
            </a:r>
            <a:endParaRPr lang="en-US" altLang="zh-CN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struct Book </a:t>
            </a:r>
            <a:r>
              <a:rPr lang="en-US" altLang="zh-CN" sz="2400" dirty="0" err="1">
                <a:latin typeface="Consolas" panose="020B0609020204030204" pitchFamily="49" charset="0"/>
              </a:rPr>
              <a:t>bk2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bk2</a:t>
            </a:r>
            <a:r>
              <a:rPr lang="en-US" altLang="zh-CN" sz="2400" dirty="0">
                <a:latin typeface="Consolas" panose="020B0609020204030204" pitchFamily="49" charset="0"/>
              </a:rPr>
              <a:t> = bk;</a:t>
            </a:r>
            <a:endParaRPr lang="zh-CN" altLang="en-US" sz="2400" dirty="0">
              <a:solidFill>
                <a:srgbClr val="FF33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5E80B55-9E9B-45D6-B6DE-312E2BF0E99A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14.6 </a:t>
            </a:r>
            <a:r>
              <a:rPr lang="zh-CN" altLang="en-US" b="1"/>
              <a:t>函数和结构</a:t>
            </a:r>
            <a:endParaRPr lang="zh-CN" altLang="en-US" b="1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把结构传递给函数的三种方式：</a:t>
            </a:r>
            <a:endParaRPr lang="zh-CN" altLang="en-US" b="1"/>
          </a:p>
          <a:p>
            <a:pPr eaLnBrk="1" hangingPunct="1">
              <a:buFontTx/>
              <a:buNone/>
            </a:pPr>
            <a:r>
              <a:rPr lang="zh-CN" altLang="en-US" b="1"/>
              <a:t>    －传递单个成员</a:t>
            </a:r>
            <a:endParaRPr lang="zh-CN" altLang="en-US" b="1"/>
          </a:p>
          <a:p>
            <a:pPr eaLnBrk="1" hangingPunct="1">
              <a:buFontTx/>
              <a:buNone/>
            </a:pPr>
            <a:r>
              <a:rPr lang="zh-CN" altLang="en-US" b="1"/>
              <a:t>    －传递整个结构</a:t>
            </a:r>
            <a:endParaRPr lang="zh-CN" altLang="en-US" b="1"/>
          </a:p>
          <a:p>
            <a:pPr eaLnBrk="1" hangingPunct="1">
              <a:buFontTx/>
              <a:buNone/>
            </a:pPr>
            <a:r>
              <a:rPr lang="zh-CN" altLang="en-US" b="1"/>
              <a:t>    －传递指向结构的指针</a:t>
            </a:r>
            <a:endParaRPr lang="zh-CN" altLang="en-US" b="1"/>
          </a:p>
          <a:p>
            <a:pPr eaLnBrk="1" hangingPunct="1">
              <a:buFontTx/>
              <a:buNone/>
            </a:pPr>
            <a:endParaRPr lang="en-US" altLang="zh-CN" b="1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A5F1933-D19B-4325-9B5F-97439F9731B2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14.6 </a:t>
            </a:r>
            <a:r>
              <a:rPr lang="zh-CN" altLang="en-US" b="1"/>
              <a:t>函数和结构</a:t>
            </a:r>
            <a:endParaRPr lang="zh-CN" altLang="en-US" b="1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传递单个成员</a:t>
            </a:r>
            <a:r>
              <a:rPr lang="en-US" altLang="zh-CN" b="1" dirty="0"/>
              <a:t>(</a:t>
            </a:r>
            <a:r>
              <a:rPr lang="zh-CN" altLang="en-US" b="1" dirty="0"/>
              <a:t>此时和传递普通变量一样</a:t>
            </a:r>
            <a:r>
              <a:rPr lang="en-US" altLang="zh-CN" b="1" dirty="0"/>
              <a:t>)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</a:rPr>
              <a:t>(char a[],int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 )/*</a:t>
            </a:r>
            <a:r>
              <a:rPr lang="zh-CN" altLang="en-US" sz="2400" dirty="0">
                <a:latin typeface="Consolas" panose="020B0609020204030204" pitchFamily="49" charset="0"/>
              </a:rPr>
              <a:t>函数定义*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/*main</a:t>
            </a:r>
            <a:r>
              <a:rPr lang="zh-CN" altLang="en-US" sz="2400" dirty="0">
                <a:latin typeface="Consolas" panose="020B0609020204030204" pitchFamily="49" charset="0"/>
              </a:rPr>
              <a:t>函数中的函数调用*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library.title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library.prtdate.year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grpSp>
        <p:nvGrpSpPr>
          <p:cNvPr id="25604" name="Group 31"/>
          <p:cNvGrpSpPr/>
          <p:nvPr/>
        </p:nvGrpSpPr>
        <p:grpSpPr bwMode="auto">
          <a:xfrm>
            <a:off x="5587946" y="3694112"/>
            <a:ext cx="3132138" cy="2423860"/>
            <a:chOff x="3243" y="1944"/>
            <a:chExt cx="1973" cy="1692"/>
          </a:xfrm>
        </p:grpSpPr>
        <p:sp>
          <p:nvSpPr>
            <p:cNvPr id="25605" name="Text Box 6"/>
            <p:cNvSpPr txBox="1">
              <a:spLocks noChangeArrowheads="1"/>
            </p:cNvSpPr>
            <p:nvPr/>
          </p:nvSpPr>
          <p:spPr bwMode="auto">
            <a:xfrm>
              <a:off x="3289" y="2206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/>
                <a:t>时间简史</a:t>
              </a:r>
              <a:endParaRPr lang="en-US" altLang="zh-CN" dirty="0"/>
            </a:p>
          </p:txBody>
        </p:sp>
        <p:sp>
          <p:nvSpPr>
            <p:cNvPr id="25606" name="Text Box 7"/>
            <p:cNvSpPr txBox="1">
              <a:spLocks noChangeArrowheads="1"/>
            </p:cNvSpPr>
            <p:nvPr/>
          </p:nvSpPr>
          <p:spPr bwMode="auto">
            <a:xfrm>
              <a:off x="3289" y="2478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/>
                <a:t>霍金</a:t>
              </a:r>
              <a:endParaRPr lang="zh-CN" altLang="en-US" dirty="0"/>
            </a:p>
          </p:txBody>
        </p:sp>
        <p:sp>
          <p:nvSpPr>
            <p:cNvPr id="25607" name="Text Box 8"/>
            <p:cNvSpPr txBox="1">
              <a:spLocks noChangeArrowheads="1"/>
            </p:cNvSpPr>
            <p:nvPr/>
          </p:nvSpPr>
          <p:spPr bwMode="auto">
            <a:xfrm>
              <a:off x="3289" y="2750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dirty="0"/>
            </a:p>
          </p:txBody>
        </p:sp>
        <p:sp>
          <p:nvSpPr>
            <p:cNvPr id="25608" name="Text Box 9"/>
            <p:cNvSpPr txBox="1">
              <a:spLocks noChangeArrowheads="1"/>
            </p:cNvSpPr>
            <p:nvPr/>
          </p:nvSpPr>
          <p:spPr bwMode="auto">
            <a:xfrm>
              <a:off x="3289" y="2784"/>
              <a:ext cx="907" cy="81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25609" name="Line 10"/>
            <p:cNvSpPr>
              <a:spLocks noChangeShapeType="1"/>
            </p:cNvSpPr>
            <p:nvPr/>
          </p:nvSpPr>
          <p:spPr bwMode="auto">
            <a:xfrm flipV="1">
              <a:off x="3561" y="3294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610" name="Line 11"/>
            <p:cNvSpPr>
              <a:spLocks noChangeShapeType="1"/>
            </p:cNvSpPr>
            <p:nvPr/>
          </p:nvSpPr>
          <p:spPr bwMode="auto">
            <a:xfrm flipV="1">
              <a:off x="3561" y="35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611" name="Text Box 12"/>
            <p:cNvSpPr txBox="1">
              <a:spLocks noChangeArrowheads="1"/>
            </p:cNvSpPr>
            <p:nvPr/>
          </p:nvSpPr>
          <p:spPr bwMode="auto">
            <a:xfrm>
              <a:off x="3606" y="2755"/>
              <a:ext cx="590" cy="322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/>
                <a:t>1988</a:t>
              </a:r>
              <a:endParaRPr lang="en-US" altLang="zh-CN" dirty="0"/>
            </a:p>
          </p:txBody>
        </p:sp>
        <p:sp>
          <p:nvSpPr>
            <p:cNvPr id="25612" name="Text Box 13"/>
            <p:cNvSpPr txBox="1">
              <a:spLocks noChangeArrowheads="1"/>
            </p:cNvSpPr>
            <p:nvPr/>
          </p:nvSpPr>
          <p:spPr bwMode="auto">
            <a:xfrm>
              <a:off x="3561" y="2998"/>
              <a:ext cx="681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/>
                <a:t> 9</a:t>
              </a:r>
              <a:endParaRPr lang="en-US" altLang="zh-CN"/>
            </a:p>
          </p:txBody>
        </p:sp>
        <p:sp>
          <p:nvSpPr>
            <p:cNvPr id="25613" name="Text Box 14"/>
            <p:cNvSpPr txBox="1">
              <a:spLocks noChangeArrowheads="1"/>
            </p:cNvSpPr>
            <p:nvPr/>
          </p:nvSpPr>
          <p:spPr bwMode="auto">
            <a:xfrm>
              <a:off x="3606" y="3317"/>
              <a:ext cx="681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/>
                <a:t>20</a:t>
              </a:r>
              <a:endParaRPr lang="en-US" altLang="zh-CN" dirty="0"/>
            </a:p>
          </p:txBody>
        </p:sp>
        <p:sp>
          <p:nvSpPr>
            <p:cNvPr id="25614" name="Line 15"/>
            <p:cNvSpPr>
              <a:spLocks noChangeShapeType="1"/>
            </p:cNvSpPr>
            <p:nvPr/>
          </p:nvSpPr>
          <p:spPr bwMode="auto">
            <a:xfrm>
              <a:off x="4196" y="2206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615" name="Text Box 16"/>
            <p:cNvSpPr txBox="1">
              <a:spLocks noChangeArrowheads="1"/>
            </p:cNvSpPr>
            <p:nvPr/>
          </p:nvSpPr>
          <p:spPr bwMode="auto">
            <a:xfrm>
              <a:off x="4241" y="2101"/>
              <a:ext cx="975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0022FF30</a:t>
              </a:r>
              <a:endParaRPr lang="en-US" altLang="zh-CN" sz="2000"/>
            </a:p>
          </p:txBody>
        </p:sp>
        <p:sp>
          <p:nvSpPr>
            <p:cNvPr id="25616" name="Line 17"/>
            <p:cNvSpPr>
              <a:spLocks noChangeShapeType="1"/>
            </p:cNvSpPr>
            <p:nvPr/>
          </p:nvSpPr>
          <p:spPr bwMode="auto">
            <a:xfrm>
              <a:off x="4196" y="2478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617" name="Text Box 18"/>
            <p:cNvSpPr txBox="1">
              <a:spLocks noChangeArrowheads="1"/>
            </p:cNvSpPr>
            <p:nvPr/>
          </p:nvSpPr>
          <p:spPr bwMode="auto">
            <a:xfrm>
              <a:off x="4241" y="2374"/>
              <a:ext cx="975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0022FF37</a:t>
              </a:r>
              <a:endParaRPr lang="en-US" altLang="zh-CN" sz="2000"/>
            </a:p>
          </p:txBody>
        </p:sp>
        <p:sp>
          <p:nvSpPr>
            <p:cNvPr id="25618" name="Line 19"/>
            <p:cNvSpPr>
              <a:spLocks noChangeShapeType="1"/>
            </p:cNvSpPr>
            <p:nvPr/>
          </p:nvSpPr>
          <p:spPr bwMode="auto">
            <a:xfrm>
              <a:off x="4196" y="2750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619" name="Text Box 20"/>
            <p:cNvSpPr txBox="1">
              <a:spLocks noChangeArrowheads="1"/>
            </p:cNvSpPr>
            <p:nvPr/>
          </p:nvSpPr>
          <p:spPr bwMode="auto">
            <a:xfrm>
              <a:off x="4241" y="2645"/>
              <a:ext cx="97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0022FF40</a:t>
              </a:r>
              <a:endParaRPr lang="en-US" altLang="zh-CN" sz="2000"/>
            </a:p>
          </p:txBody>
        </p:sp>
        <p:sp>
          <p:nvSpPr>
            <p:cNvPr id="25622" name="Text Box 23"/>
            <p:cNvSpPr txBox="1">
              <a:spLocks noChangeArrowheads="1"/>
            </p:cNvSpPr>
            <p:nvPr/>
          </p:nvSpPr>
          <p:spPr bwMode="auto">
            <a:xfrm>
              <a:off x="3243" y="1944"/>
              <a:ext cx="97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dirty="0"/>
                <a:t>library</a:t>
              </a:r>
              <a:endParaRPr lang="en-US" altLang="zh-CN" dirty="0"/>
            </a:p>
          </p:txBody>
        </p:sp>
      </p:grpSp>
      <p:sp>
        <p:nvSpPr>
          <p:cNvPr id="25623" name="Text Box 28"/>
          <p:cNvSpPr txBox="1">
            <a:spLocks noChangeArrowheads="1"/>
          </p:cNvSpPr>
          <p:nvPr/>
        </p:nvSpPr>
        <p:spPr bwMode="auto">
          <a:xfrm>
            <a:off x="3708400" y="4006850"/>
            <a:ext cx="1081088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25624" name="Text Box 29"/>
          <p:cNvSpPr txBox="1">
            <a:spLocks noChangeArrowheads="1"/>
          </p:cNvSpPr>
          <p:nvPr/>
        </p:nvSpPr>
        <p:spPr bwMode="auto">
          <a:xfrm>
            <a:off x="3276600" y="4438650"/>
            <a:ext cx="1439863" cy="466725"/>
          </a:xfrm>
          <a:prstGeom prst="rect">
            <a:avLst/>
          </a:prstGeom>
          <a:solidFill>
            <a:srgbClr val="66FFFF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0022FF37</a:t>
            </a:r>
            <a:endParaRPr lang="en-US" altLang="zh-CN"/>
          </a:p>
        </p:txBody>
      </p:sp>
      <p:sp>
        <p:nvSpPr>
          <p:cNvPr id="190508" name="Rectangle 44"/>
          <p:cNvSpPr>
            <a:spLocks noChangeArrowheads="1"/>
          </p:cNvSpPr>
          <p:nvPr/>
        </p:nvSpPr>
        <p:spPr bwMode="auto">
          <a:xfrm>
            <a:off x="3132138" y="4079875"/>
            <a:ext cx="1800225" cy="2012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25626" name="Text Box 45"/>
          <p:cNvSpPr txBox="1">
            <a:spLocks noChangeArrowheads="1"/>
          </p:cNvSpPr>
          <p:nvPr/>
        </p:nvSpPr>
        <p:spPr bwMode="auto">
          <a:xfrm>
            <a:off x="3635375" y="3644900"/>
            <a:ext cx="935038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</a:rPr>
              <a:t>func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90510" name="Rectangle 46"/>
          <p:cNvSpPr>
            <a:spLocks noChangeArrowheads="1"/>
          </p:cNvSpPr>
          <p:nvPr/>
        </p:nvSpPr>
        <p:spPr bwMode="auto">
          <a:xfrm>
            <a:off x="5508625" y="3717925"/>
            <a:ext cx="3313113" cy="280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25628" name="Text Box 47"/>
          <p:cNvSpPr txBox="1">
            <a:spLocks noChangeArrowheads="1"/>
          </p:cNvSpPr>
          <p:nvPr/>
        </p:nvSpPr>
        <p:spPr bwMode="auto">
          <a:xfrm>
            <a:off x="6588125" y="3286125"/>
            <a:ext cx="1008063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</a:rPr>
              <a:t>main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25629" name="Text Box 48"/>
          <p:cNvSpPr txBox="1">
            <a:spLocks noChangeArrowheads="1"/>
          </p:cNvSpPr>
          <p:nvPr/>
        </p:nvSpPr>
        <p:spPr bwMode="auto">
          <a:xfrm>
            <a:off x="3708400" y="4941888"/>
            <a:ext cx="1081088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i</a:t>
            </a:r>
            <a:endParaRPr lang="en-US" altLang="zh-CN"/>
          </a:p>
        </p:txBody>
      </p:sp>
      <p:sp>
        <p:nvSpPr>
          <p:cNvPr id="25630" name="Text Box 49"/>
          <p:cNvSpPr txBox="1">
            <a:spLocks noChangeArrowheads="1"/>
          </p:cNvSpPr>
          <p:nvPr/>
        </p:nvSpPr>
        <p:spPr bwMode="auto">
          <a:xfrm>
            <a:off x="3276600" y="5373688"/>
            <a:ext cx="1439863" cy="466725"/>
          </a:xfrm>
          <a:prstGeom prst="rect">
            <a:avLst/>
          </a:prstGeom>
          <a:solidFill>
            <a:srgbClr val="66FFFF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/>
              <a:t>1988</a:t>
            </a:r>
            <a:endParaRPr lang="en-US" altLang="zh-CN" dirty="0"/>
          </a:p>
        </p:txBody>
      </p:sp>
      <p:sp>
        <p:nvSpPr>
          <p:cNvPr id="190514" name="AutoShape 50"/>
          <p:cNvSpPr>
            <a:spLocks noChangeArrowheads="1"/>
          </p:cNvSpPr>
          <p:nvPr/>
        </p:nvSpPr>
        <p:spPr bwMode="auto">
          <a:xfrm>
            <a:off x="4932363" y="5084763"/>
            <a:ext cx="504825" cy="215900"/>
          </a:xfrm>
          <a:prstGeom prst="leftArrow">
            <a:avLst>
              <a:gd name="adj1" fmla="val 50000"/>
              <a:gd name="adj2" fmla="val 58456"/>
            </a:avLst>
          </a:prstGeom>
          <a:solidFill>
            <a:srgbClr val="FF3300"/>
          </a:solidFill>
          <a:ln w="9525">
            <a:solidFill>
              <a:schemeClr val="accent1"/>
            </a:solidFill>
            <a:miter lim="800000"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25632" name="Line 52"/>
          <p:cNvSpPr>
            <a:spLocks noChangeShapeType="1"/>
          </p:cNvSpPr>
          <p:nvPr/>
        </p:nvSpPr>
        <p:spPr bwMode="auto">
          <a:xfrm>
            <a:off x="6192838" y="5222876"/>
            <a:ext cx="8636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69583" y="6107435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1E90C2F-725D-467F-BEA0-46D324E0B118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14.6 </a:t>
            </a:r>
            <a:r>
              <a:rPr lang="zh-CN" altLang="en-US" b="1"/>
              <a:t>函数和结构</a:t>
            </a:r>
            <a:endParaRPr lang="zh-CN" altLang="en-US" b="1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989888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 dirty="0"/>
              <a:t>2.</a:t>
            </a:r>
            <a:r>
              <a:rPr lang="zh-CN" altLang="en-US" b="1" dirty="0">
                <a:solidFill>
                  <a:srgbClr val="FF0000"/>
                </a:solidFill>
              </a:rPr>
              <a:t>传递整个结构</a:t>
            </a:r>
            <a:r>
              <a:rPr lang="zh-CN" altLang="en-US" sz="2400" b="1" dirty="0"/>
              <a:t>（形参是实参的副本，两者互不影响）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    </a:t>
            </a: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Mybook</a:t>
            </a:r>
            <a:r>
              <a:rPr lang="en-US" altLang="zh-CN" sz="2400" dirty="0">
                <a:latin typeface="Consolas" panose="020B0609020204030204" pitchFamily="49" charset="0"/>
              </a:rPr>
              <a:t>  bk)/*</a:t>
            </a:r>
            <a:r>
              <a:rPr lang="zh-CN" altLang="en-US" sz="2400" dirty="0">
                <a:latin typeface="Consolas" panose="020B0609020204030204" pitchFamily="49" charset="0"/>
              </a:rPr>
              <a:t>函数定义*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</a:rPr>
              <a:t>(library);/* main</a:t>
            </a:r>
            <a:r>
              <a:rPr lang="zh-CN" altLang="en-US" sz="2400" dirty="0">
                <a:latin typeface="Consolas" panose="020B0609020204030204" pitchFamily="49" charset="0"/>
              </a:rPr>
              <a:t>函数中的函数调用*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endParaRPr lang="en-US" altLang="zh-CN" b="1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sp>
        <p:nvSpPr>
          <p:cNvPr id="189511" name="Rectangle 71"/>
          <p:cNvSpPr>
            <a:spLocks noChangeArrowheads="1"/>
          </p:cNvSpPr>
          <p:nvPr/>
        </p:nvSpPr>
        <p:spPr bwMode="auto">
          <a:xfrm>
            <a:off x="971550" y="3500438"/>
            <a:ext cx="3095625" cy="2879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26648" name="Text Box 72"/>
          <p:cNvSpPr txBox="1">
            <a:spLocks noChangeArrowheads="1"/>
          </p:cNvSpPr>
          <p:nvPr/>
        </p:nvSpPr>
        <p:spPr bwMode="auto">
          <a:xfrm>
            <a:off x="1836738" y="3068638"/>
            <a:ext cx="1008062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</a:rPr>
              <a:t>func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89534" name="AutoShape 94"/>
          <p:cNvSpPr>
            <a:spLocks noChangeArrowheads="1"/>
          </p:cNvSpPr>
          <p:nvPr/>
        </p:nvSpPr>
        <p:spPr bwMode="auto">
          <a:xfrm>
            <a:off x="4211638" y="4797425"/>
            <a:ext cx="504825" cy="215900"/>
          </a:xfrm>
          <a:prstGeom prst="leftArrow">
            <a:avLst>
              <a:gd name="adj1" fmla="val 50000"/>
              <a:gd name="adj2" fmla="val 58456"/>
            </a:avLst>
          </a:prstGeom>
          <a:solidFill>
            <a:srgbClr val="FF3300"/>
          </a:solidFill>
          <a:ln w="9525">
            <a:solidFill>
              <a:schemeClr val="accent1"/>
            </a:solidFill>
            <a:miter lim="800000"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48" name="灯片编号占位符 5"/>
          <p:cNvSpPr txBox="1">
            <a:spLocks noChangeArrowheads="1"/>
          </p:cNvSpPr>
          <p:nvPr/>
        </p:nvSpPr>
        <p:spPr bwMode="auto">
          <a:xfrm>
            <a:off x="6069583" y="6107435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DA5F1933-D19B-4325-9B5F-97439F9731B2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49" name="Group 31"/>
          <p:cNvGrpSpPr/>
          <p:nvPr/>
        </p:nvGrpSpPr>
        <p:grpSpPr bwMode="auto">
          <a:xfrm>
            <a:off x="4723329" y="3476947"/>
            <a:ext cx="3132138" cy="2423860"/>
            <a:chOff x="3243" y="1944"/>
            <a:chExt cx="1973" cy="1692"/>
          </a:xfrm>
        </p:grpSpPr>
        <p:sp>
          <p:nvSpPr>
            <p:cNvPr id="50" name="Text Box 6"/>
            <p:cNvSpPr txBox="1">
              <a:spLocks noChangeArrowheads="1"/>
            </p:cNvSpPr>
            <p:nvPr/>
          </p:nvSpPr>
          <p:spPr bwMode="auto">
            <a:xfrm>
              <a:off x="3289" y="2206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/>
                <a:t>时间简史</a:t>
              </a:r>
              <a:endParaRPr lang="en-US" altLang="zh-CN" dirty="0"/>
            </a:p>
          </p:txBody>
        </p:sp>
        <p:sp>
          <p:nvSpPr>
            <p:cNvPr id="51" name="Text Box 7"/>
            <p:cNvSpPr txBox="1">
              <a:spLocks noChangeArrowheads="1"/>
            </p:cNvSpPr>
            <p:nvPr/>
          </p:nvSpPr>
          <p:spPr bwMode="auto">
            <a:xfrm>
              <a:off x="3289" y="2478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/>
                <a:t>霍金</a:t>
              </a:r>
              <a:endParaRPr lang="zh-CN" altLang="en-US" dirty="0"/>
            </a:p>
          </p:txBody>
        </p:sp>
        <p:sp>
          <p:nvSpPr>
            <p:cNvPr id="52" name="Text Box 8"/>
            <p:cNvSpPr txBox="1">
              <a:spLocks noChangeArrowheads="1"/>
            </p:cNvSpPr>
            <p:nvPr/>
          </p:nvSpPr>
          <p:spPr bwMode="auto">
            <a:xfrm>
              <a:off x="3289" y="2750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dirty="0"/>
            </a:p>
          </p:txBody>
        </p:sp>
        <p:sp>
          <p:nvSpPr>
            <p:cNvPr id="53" name="Text Box 9"/>
            <p:cNvSpPr txBox="1">
              <a:spLocks noChangeArrowheads="1"/>
            </p:cNvSpPr>
            <p:nvPr/>
          </p:nvSpPr>
          <p:spPr bwMode="auto">
            <a:xfrm>
              <a:off x="3289" y="2784"/>
              <a:ext cx="907" cy="81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54" name="Line 10"/>
            <p:cNvSpPr>
              <a:spLocks noChangeShapeType="1"/>
            </p:cNvSpPr>
            <p:nvPr/>
          </p:nvSpPr>
          <p:spPr bwMode="auto">
            <a:xfrm flipV="1">
              <a:off x="3561" y="3294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Line 11"/>
            <p:cNvSpPr>
              <a:spLocks noChangeShapeType="1"/>
            </p:cNvSpPr>
            <p:nvPr/>
          </p:nvSpPr>
          <p:spPr bwMode="auto">
            <a:xfrm flipV="1">
              <a:off x="3561" y="35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Text Box 12"/>
            <p:cNvSpPr txBox="1">
              <a:spLocks noChangeArrowheads="1"/>
            </p:cNvSpPr>
            <p:nvPr/>
          </p:nvSpPr>
          <p:spPr bwMode="auto">
            <a:xfrm>
              <a:off x="3606" y="2755"/>
              <a:ext cx="590" cy="322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/>
                <a:t>1988</a:t>
              </a:r>
              <a:endParaRPr lang="en-US" altLang="zh-CN" dirty="0"/>
            </a:p>
          </p:txBody>
        </p:sp>
        <p:sp>
          <p:nvSpPr>
            <p:cNvPr id="57" name="Text Box 13"/>
            <p:cNvSpPr txBox="1">
              <a:spLocks noChangeArrowheads="1"/>
            </p:cNvSpPr>
            <p:nvPr/>
          </p:nvSpPr>
          <p:spPr bwMode="auto">
            <a:xfrm>
              <a:off x="3561" y="2998"/>
              <a:ext cx="681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/>
                <a:t> 9</a:t>
              </a:r>
              <a:endParaRPr lang="en-US" altLang="zh-CN"/>
            </a:p>
          </p:txBody>
        </p:sp>
        <p:sp>
          <p:nvSpPr>
            <p:cNvPr id="58" name="Text Box 14"/>
            <p:cNvSpPr txBox="1">
              <a:spLocks noChangeArrowheads="1"/>
            </p:cNvSpPr>
            <p:nvPr/>
          </p:nvSpPr>
          <p:spPr bwMode="auto">
            <a:xfrm>
              <a:off x="3606" y="3317"/>
              <a:ext cx="681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/>
                <a:t>20</a:t>
              </a:r>
              <a:endParaRPr lang="en-US" altLang="zh-CN" dirty="0"/>
            </a:p>
          </p:txBody>
        </p:sp>
        <p:sp>
          <p:nvSpPr>
            <p:cNvPr id="59" name="Line 15"/>
            <p:cNvSpPr>
              <a:spLocks noChangeShapeType="1"/>
            </p:cNvSpPr>
            <p:nvPr/>
          </p:nvSpPr>
          <p:spPr bwMode="auto">
            <a:xfrm>
              <a:off x="4196" y="2206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Text Box 16"/>
            <p:cNvSpPr txBox="1">
              <a:spLocks noChangeArrowheads="1"/>
            </p:cNvSpPr>
            <p:nvPr/>
          </p:nvSpPr>
          <p:spPr bwMode="auto">
            <a:xfrm>
              <a:off x="4241" y="2101"/>
              <a:ext cx="975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0022FF30</a:t>
              </a:r>
              <a:endParaRPr lang="en-US" altLang="zh-CN" sz="2000"/>
            </a:p>
          </p:txBody>
        </p:sp>
        <p:sp>
          <p:nvSpPr>
            <p:cNvPr id="61" name="Line 17"/>
            <p:cNvSpPr>
              <a:spLocks noChangeShapeType="1"/>
            </p:cNvSpPr>
            <p:nvPr/>
          </p:nvSpPr>
          <p:spPr bwMode="auto">
            <a:xfrm>
              <a:off x="4196" y="2478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Text Box 18"/>
            <p:cNvSpPr txBox="1">
              <a:spLocks noChangeArrowheads="1"/>
            </p:cNvSpPr>
            <p:nvPr/>
          </p:nvSpPr>
          <p:spPr bwMode="auto">
            <a:xfrm>
              <a:off x="4241" y="2374"/>
              <a:ext cx="975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0022FF37</a:t>
              </a:r>
              <a:endParaRPr lang="en-US" altLang="zh-CN" sz="2000"/>
            </a:p>
          </p:txBody>
        </p:sp>
        <p:sp>
          <p:nvSpPr>
            <p:cNvPr id="63" name="Line 19"/>
            <p:cNvSpPr>
              <a:spLocks noChangeShapeType="1"/>
            </p:cNvSpPr>
            <p:nvPr/>
          </p:nvSpPr>
          <p:spPr bwMode="auto">
            <a:xfrm>
              <a:off x="4196" y="2750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Text Box 20"/>
            <p:cNvSpPr txBox="1">
              <a:spLocks noChangeArrowheads="1"/>
            </p:cNvSpPr>
            <p:nvPr/>
          </p:nvSpPr>
          <p:spPr bwMode="auto">
            <a:xfrm>
              <a:off x="4241" y="2645"/>
              <a:ext cx="97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0022FF40</a:t>
              </a:r>
              <a:endParaRPr lang="en-US" altLang="zh-CN" sz="2000"/>
            </a:p>
          </p:txBody>
        </p:sp>
        <p:sp>
          <p:nvSpPr>
            <p:cNvPr id="65" name="Text Box 23"/>
            <p:cNvSpPr txBox="1">
              <a:spLocks noChangeArrowheads="1"/>
            </p:cNvSpPr>
            <p:nvPr/>
          </p:nvSpPr>
          <p:spPr bwMode="auto">
            <a:xfrm>
              <a:off x="3243" y="1944"/>
              <a:ext cx="97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dirty="0"/>
                <a:t>library</a:t>
              </a:r>
              <a:endParaRPr lang="en-US" altLang="zh-CN" dirty="0"/>
            </a:p>
          </p:txBody>
        </p:sp>
      </p:grpSp>
      <p:sp>
        <p:nvSpPr>
          <p:cNvPr id="66" name="Rectangle 46"/>
          <p:cNvSpPr>
            <a:spLocks noChangeArrowheads="1"/>
          </p:cNvSpPr>
          <p:nvPr/>
        </p:nvSpPr>
        <p:spPr bwMode="auto">
          <a:xfrm>
            <a:off x="4644008" y="3500760"/>
            <a:ext cx="3313113" cy="280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67" name="Text Box 47"/>
          <p:cNvSpPr txBox="1">
            <a:spLocks noChangeArrowheads="1"/>
          </p:cNvSpPr>
          <p:nvPr/>
        </p:nvSpPr>
        <p:spPr bwMode="auto">
          <a:xfrm>
            <a:off x="5723508" y="3068960"/>
            <a:ext cx="1008063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main</a:t>
            </a:r>
            <a:endParaRPr lang="en-US" altLang="zh-CN" dirty="0">
              <a:solidFill>
                <a:schemeClr val="accent2"/>
              </a:solidFill>
            </a:endParaRPr>
          </a:p>
        </p:txBody>
      </p:sp>
      <p:sp>
        <p:nvSpPr>
          <p:cNvPr id="68" name="Line 52"/>
          <p:cNvSpPr>
            <a:spLocks noChangeShapeType="1"/>
          </p:cNvSpPr>
          <p:nvPr/>
        </p:nvSpPr>
        <p:spPr bwMode="auto">
          <a:xfrm>
            <a:off x="5328221" y="5005711"/>
            <a:ext cx="8636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69" name="Group 31"/>
          <p:cNvGrpSpPr/>
          <p:nvPr/>
        </p:nvGrpSpPr>
        <p:grpSpPr bwMode="auto">
          <a:xfrm>
            <a:off x="1115616" y="3597428"/>
            <a:ext cx="3132138" cy="2423860"/>
            <a:chOff x="3243" y="1944"/>
            <a:chExt cx="1973" cy="1692"/>
          </a:xfrm>
        </p:grpSpPr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3289" y="2206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/>
                <a:t>时间简史</a:t>
              </a:r>
              <a:endParaRPr lang="en-US" altLang="zh-CN" dirty="0"/>
            </a:p>
          </p:txBody>
        </p:sp>
        <p:sp>
          <p:nvSpPr>
            <p:cNvPr id="71" name="Text Box 7"/>
            <p:cNvSpPr txBox="1">
              <a:spLocks noChangeArrowheads="1"/>
            </p:cNvSpPr>
            <p:nvPr/>
          </p:nvSpPr>
          <p:spPr bwMode="auto">
            <a:xfrm>
              <a:off x="3289" y="2478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/>
                <a:t>霍金</a:t>
              </a:r>
              <a:endParaRPr lang="zh-CN" altLang="en-US" dirty="0"/>
            </a:p>
          </p:txBody>
        </p:sp>
        <p:sp>
          <p:nvSpPr>
            <p:cNvPr id="72" name="Text Box 8"/>
            <p:cNvSpPr txBox="1">
              <a:spLocks noChangeArrowheads="1"/>
            </p:cNvSpPr>
            <p:nvPr/>
          </p:nvSpPr>
          <p:spPr bwMode="auto">
            <a:xfrm>
              <a:off x="3289" y="2750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dirty="0"/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3289" y="2784"/>
              <a:ext cx="907" cy="81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74" name="Line 10"/>
            <p:cNvSpPr>
              <a:spLocks noChangeShapeType="1"/>
            </p:cNvSpPr>
            <p:nvPr/>
          </p:nvSpPr>
          <p:spPr bwMode="auto">
            <a:xfrm flipV="1">
              <a:off x="3561" y="3294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Line 11"/>
            <p:cNvSpPr>
              <a:spLocks noChangeShapeType="1"/>
            </p:cNvSpPr>
            <p:nvPr/>
          </p:nvSpPr>
          <p:spPr bwMode="auto">
            <a:xfrm flipV="1">
              <a:off x="3561" y="35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3606" y="2755"/>
              <a:ext cx="590" cy="322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/>
                <a:t>1988</a:t>
              </a:r>
              <a:endParaRPr lang="en-US" altLang="zh-CN" dirty="0"/>
            </a:p>
          </p:txBody>
        </p:sp>
        <p:sp>
          <p:nvSpPr>
            <p:cNvPr id="77" name="Text Box 13"/>
            <p:cNvSpPr txBox="1">
              <a:spLocks noChangeArrowheads="1"/>
            </p:cNvSpPr>
            <p:nvPr/>
          </p:nvSpPr>
          <p:spPr bwMode="auto">
            <a:xfrm>
              <a:off x="3561" y="2998"/>
              <a:ext cx="681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/>
                <a:t> 9</a:t>
              </a:r>
              <a:endParaRPr lang="en-US" altLang="zh-CN"/>
            </a:p>
          </p:txBody>
        </p:sp>
        <p:sp>
          <p:nvSpPr>
            <p:cNvPr id="78" name="Text Box 14"/>
            <p:cNvSpPr txBox="1">
              <a:spLocks noChangeArrowheads="1"/>
            </p:cNvSpPr>
            <p:nvPr/>
          </p:nvSpPr>
          <p:spPr bwMode="auto">
            <a:xfrm>
              <a:off x="3606" y="3317"/>
              <a:ext cx="681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/>
                <a:t>20</a:t>
              </a:r>
              <a:endParaRPr lang="en-US" altLang="zh-CN" dirty="0"/>
            </a:p>
          </p:txBody>
        </p:sp>
        <p:sp>
          <p:nvSpPr>
            <p:cNvPr id="79" name="Line 15"/>
            <p:cNvSpPr>
              <a:spLocks noChangeShapeType="1"/>
            </p:cNvSpPr>
            <p:nvPr/>
          </p:nvSpPr>
          <p:spPr bwMode="auto">
            <a:xfrm>
              <a:off x="4196" y="2206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Text Box 16"/>
            <p:cNvSpPr txBox="1">
              <a:spLocks noChangeArrowheads="1"/>
            </p:cNvSpPr>
            <p:nvPr/>
          </p:nvSpPr>
          <p:spPr bwMode="auto">
            <a:xfrm>
              <a:off x="4241" y="2101"/>
              <a:ext cx="975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 dirty="0" err="1"/>
                <a:t>0023FF30</a:t>
              </a:r>
              <a:endParaRPr lang="en-US" altLang="zh-CN" sz="2000" dirty="0"/>
            </a:p>
          </p:txBody>
        </p:sp>
        <p:sp>
          <p:nvSpPr>
            <p:cNvPr id="81" name="Line 17"/>
            <p:cNvSpPr>
              <a:spLocks noChangeShapeType="1"/>
            </p:cNvSpPr>
            <p:nvPr/>
          </p:nvSpPr>
          <p:spPr bwMode="auto">
            <a:xfrm>
              <a:off x="4196" y="2478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Text Box 18"/>
            <p:cNvSpPr txBox="1">
              <a:spLocks noChangeArrowheads="1"/>
            </p:cNvSpPr>
            <p:nvPr/>
          </p:nvSpPr>
          <p:spPr bwMode="auto">
            <a:xfrm>
              <a:off x="4241" y="2374"/>
              <a:ext cx="975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 dirty="0" err="1"/>
                <a:t>0023FF37</a:t>
              </a:r>
              <a:endParaRPr lang="en-US" altLang="zh-CN" sz="2000" dirty="0"/>
            </a:p>
          </p:txBody>
        </p:sp>
        <p:sp>
          <p:nvSpPr>
            <p:cNvPr id="83" name="Line 19"/>
            <p:cNvSpPr>
              <a:spLocks noChangeShapeType="1"/>
            </p:cNvSpPr>
            <p:nvPr/>
          </p:nvSpPr>
          <p:spPr bwMode="auto">
            <a:xfrm>
              <a:off x="4196" y="2750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Text Box 20"/>
            <p:cNvSpPr txBox="1">
              <a:spLocks noChangeArrowheads="1"/>
            </p:cNvSpPr>
            <p:nvPr/>
          </p:nvSpPr>
          <p:spPr bwMode="auto">
            <a:xfrm>
              <a:off x="4241" y="2645"/>
              <a:ext cx="97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 dirty="0" err="1"/>
                <a:t>0023FF40</a:t>
              </a:r>
              <a:endParaRPr lang="en-US" altLang="zh-CN" sz="2000" dirty="0"/>
            </a:p>
          </p:txBody>
        </p:sp>
        <p:sp>
          <p:nvSpPr>
            <p:cNvPr id="85" name="Text Box 23"/>
            <p:cNvSpPr txBox="1">
              <a:spLocks noChangeArrowheads="1"/>
            </p:cNvSpPr>
            <p:nvPr/>
          </p:nvSpPr>
          <p:spPr bwMode="auto">
            <a:xfrm>
              <a:off x="3243" y="1944"/>
              <a:ext cx="97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dirty="0"/>
                <a:t>bk</a:t>
              </a:r>
              <a:endParaRPr lang="en-US" altLang="zh-CN" dirty="0"/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设计打印一本图书信息的函数</a:t>
            </a:r>
            <a:endParaRPr lang="zh-CN" altLang="en-US" dirty="0"/>
          </a:p>
        </p:txBody>
      </p:sp>
      <p:sp>
        <p:nvSpPr>
          <p:cNvPr id="14338" name="内容占位符 2"/>
          <p:cNvSpPr>
            <a:spLocks noGrp="1" noChangeArrowheads="1"/>
          </p:cNvSpPr>
          <p:nvPr>
            <p:ph idx="1"/>
          </p:nvPr>
        </p:nvSpPr>
        <p:spPr>
          <a:xfrm>
            <a:off x="467544" y="1484784"/>
            <a:ext cx="8461375" cy="4252441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printbook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Mybook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bk){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("%s by %s at %d-%d-%d: $%.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2f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\n",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bk.title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,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  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bk.author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bk.prtdate.year,bk.prtdate.month,bk.prtdate.day,bk.value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);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("%s: \"%s\" ($%.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2f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)\n",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bk.author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,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  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bk.title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bk.value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);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("Done.\n");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缺点：形参会复制实参的结构数据，浪费空间。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BF94AEA-9155-4BB7-9855-5BD880F9A148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14.6 </a:t>
            </a:r>
            <a:r>
              <a:rPr lang="zh-CN" altLang="en-US" b="1"/>
              <a:t>函数和结构</a:t>
            </a:r>
            <a:endParaRPr lang="zh-CN" altLang="en-US" b="1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 dirty="0"/>
              <a:t>3.</a:t>
            </a:r>
            <a:r>
              <a:rPr lang="zh-CN" altLang="en-US" b="1" dirty="0"/>
              <a:t>传递指向结构的指针（被调用函数可以操作				    主调函数的结构变量）</a:t>
            </a:r>
            <a:endParaRPr lang="zh-CN" altLang="en-US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   </a:t>
            </a: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Mybook</a:t>
            </a:r>
            <a:r>
              <a:rPr lang="en-US" altLang="zh-CN" sz="2400" dirty="0">
                <a:latin typeface="Consolas" panose="020B0609020204030204" pitchFamily="49" charset="0"/>
              </a:rPr>
              <a:t> * </a:t>
            </a:r>
            <a:r>
              <a:rPr lang="en-US" altLang="zh-CN" sz="2400" dirty="0" err="1">
                <a:latin typeface="Consolas" panose="020B0609020204030204" pitchFamily="49" charset="0"/>
              </a:rPr>
              <a:t>bPtr</a:t>
            </a:r>
            <a:r>
              <a:rPr lang="en-US" altLang="zh-CN" sz="2400" dirty="0">
                <a:latin typeface="Consolas" panose="020B0609020204030204" pitchFamily="49" charset="0"/>
              </a:rPr>
              <a:t>)/*</a:t>
            </a:r>
            <a:r>
              <a:rPr lang="zh-CN" altLang="en-US" sz="2400" dirty="0">
                <a:latin typeface="Consolas" panose="020B0609020204030204" pitchFamily="49" charset="0"/>
              </a:rPr>
              <a:t>函数定义*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</a:rPr>
              <a:t>(&amp;library);/*</a:t>
            </a:r>
            <a:r>
              <a:rPr lang="zh-CN" altLang="en-US" sz="2400" dirty="0">
                <a:latin typeface="Consolas" panose="020B0609020204030204" pitchFamily="49" charset="0"/>
              </a:rPr>
              <a:t>函数调用*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27671" name="Text Box 23"/>
          <p:cNvSpPr txBox="1">
            <a:spLocks noChangeArrowheads="1"/>
          </p:cNvSpPr>
          <p:nvPr/>
        </p:nvSpPr>
        <p:spPr bwMode="auto">
          <a:xfrm>
            <a:off x="2916238" y="4581525"/>
            <a:ext cx="1439862" cy="46672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0022FF30</a:t>
            </a:r>
            <a:endParaRPr lang="en-US" altLang="zh-CN"/>
          </a:p>
        </p:txBody>
      </p:sp>
      <p:sp>
        <p:nvSpPr>
          <p:cNvPr id="27672" name="Text Box 25"/>
          <p:cNvSpPr txBox="1">
            <a:spLocks noChangeArrowheads="1"/>
          </p:cNvSpPr>
          <p:nvPr/>
        </p:nvSpPr>
        <p:spPr bwMode="auto">
          <a:xfrm>
            <a:off x="3059113" y="4149725"/>
            <a:ext cx="1150937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 err="1"/>
              <a:t>bPtr</a:t>
            </a:r>
            <a:endParaRPr lang="en-US" altLang="zh-CN" dirty="0"/>
          </a:p>
        </p:txBody>
      </p:sp>
      <p:sp>
        <p:nvSpPr>
          <p:cNvPr id="191514" name="Rectangle 26"/>
          <p:cNvSpPr>
            <a:spLocks noChangeArrowheads="1"/>
          </p:cNvSpPr>
          <p:nvPr/>
        </p:nvSpPr>
        <p:spPr bwMode="auto">
          <a:xfrm>
            <a:off x="5075238" y="3430588"/>
            <a:ext cx="3313112" cy="3167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27674" name="Text Box 27"/>
          <p:cNvSpPr txBox="1">
            <a:spLocks noChangeArrowheads="1"/>
          </p:cNvSpPr>
          <p:nvPr/>
        </p:nvSpPr>
        <p:spPr bwMode="auto">
          <a:xfrm>
            <a:off x="6154738" y="2998788"/>
            <a:ext cx="1008062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</a:rPr>
              <a:t>main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91516" name="Rectangle 28"/>
          <p:cNvSpPr>
            <a:spLocks noChangeArrowheads="1"/>
          </p:cNvSpPr>
          <p:nvPr/>
        </p:nvSpPr>
        <p:spPr bwMode="auto">
          <a:xfrm>
            <a:off x="2627313" y="3862388"/>
            <a:ext cx="1944687" cy="15827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27676" name="Text Box 29"/>
          <p:cNvSpPr txBox="1">
            <a:spLocks noChangeArrowheads="1"/>
          </p:cNvSpPr>
          <p:nvPr/>
        </p:nvSpPr>
        <p:spPr bwMode="auto">
          <a:xfrm>
            <a:off x="3492500" y="3430588"/>
            <a:ext cx="935038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</a:rPr>
              <a:t>func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91518" name="Line 30"/>
          <p:cNvSpPr>
            <a:spLocks noChangeShapeType="1"/>
          </p:cNvSpPr>
          <p:nvPr/>
        </p:nvSpPr>
        <p:spPr bwMode="auto">
          <a:xfrm>
            <a:off x="4284663" y="4797425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91519" name="Line 31"/>
          <p:cNvSpPr>
            <a:spLocks noChangeShapeType="1"/>
          </p:cNvSpPr>
          <p:nvPr/>
        </p:nvSpPr>
        <p:spPr bwMode="auto">
          <a:xfrm>
            <a:off x="4716463" y="3860800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91520" name="Line 32"/>
          <p:cNvSpPr>
            <a:spLocks noChangeShapeType="1"/>
          </p:cNvSpPr>
          <p:nvPr/>
        </p:nvSpPr>
        <p:spPr bwMode="auto">
          <a:xfrm>
            <a:off x="4716463" y="3860800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grpSp>
        <p:nvGrpSpPr>
          <p:cNvPr id="33" name="Group 31"/>
          <p:cNvGrpSpPr/>
          <p:nvPr/>
        </p:nvGrpSpPr>
        <p:grpSpPr bwMode="auto">
          <a:xfrm>
            <a:off x="5292080" y="3597428"/>
            <a:ext cx="3132138" cy="2423860"/>
            <a:chOff x="3243" y="1944"/>
            <a:chExt cx="1973" cy="1692"/>
          </a:xfrm>
        </p:grpSpPr>
        <p:sp>
          <p:nvSpPr>
            <p:cNvPr id="34" name="Text Box 6"/>
            <p:cNvSpPr txBox="1">
              <a:spLocks noChangeArrowheads="1"/>
            </p:cNvSpPr>
            <p:nvPr/>
          </p:nvSpPr>
          <p:spPr bwMode="auto">
            <a:xfrm>
              <a:off x="3289" y="2206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/>
                <a:t>时间简史</a:t>
              </a:r>
              <a:endParaRPr lang="en-US" altLang="zh-CN" dirty="0"/>
            </a:p>
          </p:txBody>
        </p:sp>
        <p:sp>
          <p:nvSpPr>
            <p:cNvPr id="35" name="Text Box 7"/>
            <p:cNvSpPr txBox="1">
              <a:spLocks noChangeArrowheads="1"/>
            </p:cNvSpPr>
            <p:nvPr/>
          </p:nvSpPr>
          <p:spPr bwMode="auto">
            <a:xfrm>
              <a:off x="3289" y="2478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/>
                <a:t>霍金</a:t>
              </a:r>
              <a:endParaRPr lang="zh-CN" altLang="en-US" dirty="0"/>
            </a:p>
          </p:txBody>
        </p:sp>
        <p:sp>
          <p:nvSpPr>
            <p:cNvPr id="36" name="Text Box 8"/>
            <p:cNvSpPr txBox="1">
              <a:spLocks noChangeArrowheads="1"/>
            </p:cNvSpPr>
            <p:nvPr/>
          </p:nvSpPr>
          <p:spPr bwMode="auto">
            <a:xfrm>
              <a:off x="3289" y="2750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dirty="0"/>
            </a:p>
          </p:txBody>
        </p:sp>
        <p:sp>
          <p:nvSpPr>
            <p:cNvPr id="37" name="Text Box 9"/>
            <p:cNvSpPr txBox="1">
              <a:spLocks noChangeArrowheads="1"/>
            </p:cNvSpPr>
            <p:nvPr/>
          </p:nvSpPr>
          <p:spPr bwMode="auto">
            <a:xfrm>
              <a:off x="3289" y="2784"/>
              <a:ext cx="907" cy="81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 bwMode="auto">
            <a:xfrm flipV="1">
              <a:off x="3561" y="3294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 flipV="1">
              <a:off x="3561" y="35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Text Box 12"/>
            <p:cNvSpPr txBox="1">
              <a:spLocks noChangeArrowheads="1"/>
            </p:cNvSpPr>
            <p:nvPr/>
          </p:nvSpPr>
          <p:spPr bwMode="auto">
            <a:xfrm>
              <a:off x="3606" y="2755"/>
              <a:ext cx="590" cy="322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/>
                <a:t>1988</a:t>
              </a:r>
              <a:endParaRPr lang="en-US" altLang="zh-CN" dirty="0"/>
            </a:p>
          </p:txBody>
        </p:sp>
        <p:sp>
          <p:nvSpPr>
            <p:cNvPr id="41" name="Text Box 13"/>
            <p:cNvSpPr txBox="1">
              <a:spLocks noChangeArrowheads="1"/>
            </p:cNvSpPr>
            <p:nvPr/>
          </p:nvSpPr>
          <p:spPr bwMode="auto">
            <a:xfrm>
              <a:off x="3561" y="2998"/>
              <a:ext cx="681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/>
                <a:t> 9</a:t>
              </a:r>
              <a:endParaRPr lang="en-US" altLang="zh-CN"/>
            </a:p>
          </p:txBody>
        </p:sp>
        <p:sp>
          <p:nvSpPr>
            <p:cNvPr id="42" name="Text Box 14"/>
            <p:cNvSpPr txBox="1">
              <a:spLocks noChangeArrowheads="1"/>
            </p:cNvSpPr>
            <p:nvPr/>
          </p:nvSpPr>
          <p:spPr bwMode="auto">
            <a:xfrm>
              <a:off x="3606" y="3317"/>
              <a:ext cx="681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/>
                <a:t>20</a:t>
              </a:r>
              <a:endParaRPr lang="en-US" altLang="zh-CN" dirty="0"/>
            </a:p>
          </p:txBody>
        </p:sp>
        <p:sp>
          <p:nvSpPr>
            <p:cNvPr id="43" name="Line 15"/>
            <p:cNvSpPr>
              <a:spLocks noChangeShapeType="1"/>
            </p:cNvSpPr>
            <p:nvPr/>
          </p:nvSpPr>
          <p:spPr bwMode="auto">
            <a:xfrm>
              <a:off x="4196" y="2206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Text Box 16"/>
            <p:cNvSpPr txBox="1">
              <a:spLocks noChangeArrowheads="1"/>
            </p:cNvSpPr>
            <p:nvPr/>
          </p:nvSpPr>
          <p:spPr bwMode="auto">
            <a:xfrm>
              <a:off x="4241" y="2101"/>
              <a:ext cx="975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0022FF30</a:t>
              </a:r>
              <a:endParaRPr lang="en-US" altLang="zh-CN" sz="2000"/>
            </a:p>
          </p:txBody>
        </p:sp>
        <p:sp>
          <p:nvSpPr>
            <p:cNvPr id="45" name="Line 17"/>
            <p:cNvSpPr>
              <a:spLocks noChangeShapeType="1"/>
            </p:cNvSpPr>
            <p:nvPr/>
          </p:nvSpPr>
          <p:spPr bwMode="auto">
            <a:xfrm>
              <a:off x="4196" y="2478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Text Box 18"/>
            <p:cNvSpPr txBox="1">
              <a:spLocks noChangeArrowheads="1"/>
            </p:cNvSpPr>
            <p:nvPr/>
          </p:nvSpPr>
          <p:spPr bwMode="auto">
            <a:xfrm>
              <a:off x="4241" y="2374"/>
              <a:ext cx="975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0022FF37</a:t>
              </a:r>
              <a:endParaRPr lang="en-US" altLang="zh-CN" sz="2000"/>
            </a:p>
          </p:txBody>
        </p:sp>
        <p:sp>
          <p:nvSpPr>
            <p:cNvPr id="47" name="Line 19"/>
            <p:cNvSpPr>
              <a:spLocks noChangeShapeType="1"/>
            </p:cNvSpPr>
            <p:nvPr/>
          </p:nvSpPr>
          <p:spPr bwMode="auto">
            <a:xfrm>
              <a:off x="4196" y="2750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Text Box 20"/>
            <p:cNvSpPr txBox="1">
              <a:spLocks noChangeArrowheads="1"/>
            </p:cNvSpPr>
            <p:nvPr/>
          </p:nvSpPr>
          <p:spPr bwMode="auto">
            <a:xfrm>
              <a:off x="4241" y="2645"/>
              <a:ext cx="97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0022FF40</a:t>
              </a:r>
              <a:endParaRPr lang="en-US" altLang="zh-CN" sz="2000"/>
            </a:p>
          </p:txBody>
        </p:sp>
        <p:sp>
          <p:nvSpPr>
            <p:cNvPr id="49" name="Text Box 23"/>
            <p:cNvSpPr txBox="1">
              <a:spLocks noChangeArrowheads="1"/>
            </p:cNvSpPr>
            <p:nvPr/>
          </p:nvSpPr>
          <p:spPr bwMode="auto">
            <a:xfrm>
              <a:off x="3243" y="1944"/>
              <a:ext cx="97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dirty="0"/>
                <a:t>library</a:t>
              </a:r>
              <a:endParaRPr lang="en-US" altLang="zh-CN" dirty="0"/>
            </a:p>
          </p:txBody>
        </p:sp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9155A15-34C5-413C-9787-2F7AE152139F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通过指针访问结构变量成员</a:t>
            </a:r>
            <a:endParaRPr lang="zh-CN" altLang="en-US" b="1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/>
              <a:t>指针运算符</a:t>
            </a:r>
            <a:r>
              <a:rPr lang="en-US" altLang="zh-CN" b="1" dirty="0">
                <a:latin typeface="宋体" panose="02010600030101010101" pitchFamily="2" charset="-122"/>
              </a:rPr>
              <a:t>"</a:t>
            </a:r>
            <a:r>
              <a:rPr lang="en-US" altLang="zh-CN" b="1" dirty="0">
                <a:solidFill>
                  <a:srgbClr val="0070C0"/>
                </a:solidFill>
              </a:rPr>
              <a:t>-&gt;</a:t>
            </a:r>
            <a:r>
              <a:rPr lang="en-US" altLang="zh-CN" b="1" dirty="0">
                <a:latin typeface="宋体" panose="02010600030101010101" pitchFamily="2" charset="-122"/>
              </a:rPr>
              <a:t>"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      </a:t>
            </a:r>
            <a:r>
              <a:rPr lang="zh-CN" altLang="en-US" b="1" dirty="0"/>
              <a:t>通过指向结构变量的指针访问结构成员：</a:t>
            </a:r>
            <a:endParaRPr lang="zh-CN" altLang="en-US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      </a:t>
            </a:r>
            <a:r>
              <a:rPr lang="zh-CN" altLang="en-US" b="1" dirty="0">
                <a:solidFill>
                  <a:schemeClr val="accent2"/>
                </a:solidFill>
              </a:rPr>
              <a:t>指针名</a:t>
            </a:r>
            <a:r>
              <a:rPr lang="en-US" altLang="zh-CN" b="1" dirty="0">
                <a:solidFill>
                  <a:schemeClr val="accent2"/>
                </a:solidFill>
              </a:rPr>
              <a:t>-&gt;</a:t>
            </a:r>
            <a:r>
              <a:rPr lang="zh-CN" altLang="en-US" b="1" dirty="0">
                <a:solidFill>
                  <a:schemeClr val="accent2"/>
                </a:solidFill>
              </a:rPr>
              <a:t>结构成员名</a:t>
            </a:r>
            <a:endParaRPr lang="zh-CN" altLang="en-US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b="1" dirty="0"/>
              <a:t>或</a:t>
            </a:r>
            <a:r>
              <a:rPr lang="zh-CN" altLang="en-US" b="1" dirty="0">
                <a:solidFill>
                  <a:schemeClr val="accent2"/>
                </a:solidFill>
              </a:rPr>
              <a:t>   </a:t>
            </a:r>
            <a:r>
              <a:rPr lang="en-US" altLang="zh-CN" b="1" dirty="0">
                <a:solidFill>
                  <a:schemeClr val="accent2"/>
                </a:solidFill>
              </a:rPr>
              <a:t>(*</a:t>
            </a:r>
            <a:r>
              <a:rPr lang="zh-CN" altLang="en-US" b="1" dirty="0">
                <a:solidFill>
                  <a:schemeClr val="accent2"/>
                </a:solidFill>
              </a:rPr>
              <a:t>指针名</a:t>
            </a:r>
            <a:r>
              <a:rPr lang="en-US" altLang="zh-CN" b="1" dirty="0">
                <a:solidFill>
                  <a:schemeClr val="accent2"/>
                </a:solidFill>
              </a:rPr>
              <a:t>).</a:t>
            </a:r>
            <a:r>
              <a:rPr lang="zh-CN" altLang="en-US" b="1" dirty="0">
                <a:solidFill>
                  <a:schemeClr val="accent2"/>
                </a:solidFill>
              </a:rPr>
              <a:t>结构成员名</a:t>
            </a:r>
            <a:endParaRPr lang="zh-CN" altLang="en-US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endParaRPr lang="en-US" altLang="zh-CN" b="1" dirty="0">
              <a:solidFill>
                <a:schemeClr val="accent2"/>
              </a:solidFill>
            </a:endParaRP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1908175" y="3644900"/>
            <a:ext cx="2447925" cy="1196975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1"/>
            </a:solidFill>
            <a:miter lim="800000"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/>
              <a:t>运算符</a:t>
            </a:r>
            <a:r>
              <a:rPr lang="en-US" altLang="zh-CN"/>
              <a:t>. </a:t>
            </a:r>
            <a:r>
              <a:rPr lang="zh-CN" altLang="en-US"/>
              <a:t>优先级高于运算符*，故必须加括号</a:t>
            </a:r>
            <a:endParaRPr lang="zh-CN" altLang="en-US"/>
          </a:p>
        </p:txBody>
      </p:sp>
      <p:sp>
        <p:nvSpPr>
          <p:cNvPr id="145413" name="Line 5"/>
          <p:cNvSpPr>
            <a:spLocks noChangeShapeType="1"/>
          </p:cNvSpPr>
          <p:nvPr/>
        </p:nvSpPr>
        <p:spPr bwMode="auto">
          <a:xfrm flipH="1" flipV="1">
            <a:off x="2051050" y="3284538"/>
            <a:ext cx="288925" cy="360362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5425" name="Rectangle 17"/>
          <p:cNvSpPr>
            <a:spLocks noChangeArrowheads="1"/>
          </p:cNvSpPr>
          <p:nvPr/>
        </p:nvSpPr>
        <p:spPr bwMode="auto">
          <a:xfrm>
            <a:off x="5940425" y="3284538"/>
            <a:ext cx="576263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</a:ln>
          <a:effectLst>
            <a:prstShdw prst="shdw18" dist="17961" dir="13500000">
              <a:schemeClr val="tx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5426" name="Rectangle 18"/>
          <p:cNvSpPr>
            <a:spLocks noChangeArrowheads="1"/>
          </p:cNvSpPr>
          <p:nvPr/>
        </p:nvSpPr>
        <p:spPr bwMode="auto">
          <a:xfrm>
            <a:off x="5926138" y="2852738"/>
            <a:ext cx="782587" cy="461665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dirty="0" err="1">
                <a:solidFill>
                  <a:srgbClr val="003399"/>
                </a:solidFill>
              </a:rPr>
              <a:t>bPtr</a:t>
            </a:r>
            <a:endParaRPr kumimoji="1" lang="en-US" altLang="zh-CN" dirty="0">
              <a:solidFill>
                <a:srgbClr val="003399"/>
              </a:solidFill>
            </a:endParaRPr>
          </a:p>
        </p:txBody>
      </p:sp>
      <p:sp>
        <p:nvSpPr>
          <p:cNvPr id="145427" name="Line 19"/>
          <p:cNvSpPr>
            <a:spLocks noChangeShapeType="1"/>
          </p:cNvSpPr>
          <p:nvPr/>
        </p:nvSpPr>
        <p:spPr bwMode="auto">
          <a:xfrm>
            <a:off x="6300788" y="3429000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grpSp>
        <p:nvGrpSpPr>
          <p:cNvPr id="21" name="Group 31"/>
          <p:cNvGrpSpPr/>
          <p:nvPr/>
        </p:nvGrpSpPr>
        <p:grpSpPr bwMode="auto">
          <a:xfrm>
            <a:off x="7054056" y="2892590"/>
            <a:ext cx="1676400" cy="2423860"/>
            <a:chOff x="3243" y="1944"/>
            <a:chExt cx="1056" cy="1692"/>
          </a:xfrm>
        </p:grpSpPr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3289" y="2206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/>
                <a:t>时间简史</a:t>
              </a:r>
              <a:endParaRPr lang="en-US" altLang="zh-CN" dirty="0"/>
            </a:p>
          </p:txBody>
        </p:sp>
        <p:sp>
          <p:nvSpPr>
            <p:cNvPr id="23" name="Text Box 7"/>
            <p:cNvSpPr txBox="1">
              <a:spLocks noChangeArrowheads="1"/>
            </p:cNvSpPr>
            <p:nvPr/>
          </p:nvSpPr>
          <p:spPr bwMode="auto">
            <a:xfrm>
              <a:off x="3289" y="2478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/>
                <a:t>霍金</a:t>
              </a:r>
              <a:endParaRPr lang="zh-CN" altLang="en-US" dirty="0"/>
            </a:p>
          </p:txBody>
        </p:sp>
        <p:sp>
          <p:nvSpPr>
            <p:cNvPr id="24" name="Text Box 8"/>
            <p:cNvSpPr txBox="1">
              <a:spLocks noChangeArrowheads="1"/>
            </p:cNvSpPr>
            <p:nvPr/>
          </p:nvSpPr>
          <p:spPr bwMode="auto">
            <a:xfrm>
              <a:off x="3289" y="2750"/>
              <a:ext cx="907" cy="29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dirty="0"/>
            </a:p>
          </p:txBody>
        </p:sp>
        <p:sp>
          <p:nvSpPr>
            <p:cNvPr id="25" name="Text Box 9"/>
            <p:cNvSpPr txBox="1">
              <a:spLocks noChangeArrowheads="1"/>
            </p:cNvSpPr>
            <p:nvPr/>
          </p:nvSpPr>
          <p:spPr bwMode="auto">
            <a:xfrm>
              <a:off x="3289" y="2784"/>
              <a:ext cx="907" cy="81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 flipV="1">
              <a:off x="3561" y="3294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 flipV="1">
              <a:off x="3561" y="35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Text Box 12"/>
            <p:cNvSpPr txBox="1">
              <a:spLocks noChangeArrowheads="1"/>
            </p:cNvSpPr>
            <p:nvPr/>
          </p:nvSpPr>
          <p:spPr bwMode="auto">
            <a:xfrm>
              <a:off x="3606" y="2755"/>
              <a:ext cx="590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/>
                <a:t>1980</a:t>
              </a:r>
              <a:endParaRPr lang="en-US" altLang="zh-CN" dirty="0"/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3561" y="2998"/>
              <a:ext cx="681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/>
                <a:t> 9</a:t>
              </a:r>
              <a:endParaRPr lang="en-US" altLang="zh-CN"/>
            </a:p>
          </p:txBody>
        </p:sp>
        <p:sp>
          <p:nvSpPr>
            <p:cNvPr id="30" name="Text Box 14"/>
            <p:cNvSpPr txBox="1">
              <a:spLocks noChangeArrowheads="1"/>
            </p:cNvSpPr>
            <p:nvPr/>
          </p:nvSpPr>
          <p:spPr bwMode="auto">
            <a:xfrm>
              <a:off x="3606" y="3317"/>
              <a:ext cx="681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/>
                <a:t>20</a:t>
              </a:r>
              <a:endParaRPr lang="en-US" altLang="zh-CN" dirty="0"/>
            </a:p>
          </p:txBody>
        </p:sp>
        <p:sp>
          <p:nvSpPr>
            <p:cNvPr id="31" name="Line 15"/>
            <p:cNvSpPr>
              <a:spLocks noChangeShapeType="1"/>
            </p:cNvSpPr>
            <p:nvPr/>
          </p:nvSpPr>
          <p:spPr bwMode="auto">
            <a:xfrm>
              <a:off x="4196" y="2206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>
              <a:off x="4196" y="2478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Line 19"/>
            <p:cNvSpPr>
              <a:spLocks noChangeShapeType="1"/>
            </p:cNvSpPr>
            <p:nvPr/>
          </p:nvSpPr>
          <p:spPr bwMode="auto">
            <a:xfrm>
              <a:off x="4196" y="2750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Text Box 23"/>
            <p:cNvSpPr txBox="1">
              <a:spLocks noChangeArrowheads="1"/>
            </p:cNvSpPr>
            <p:nvPr/>
          </p:nvSpPr>
          <p:spPr bwMode="auto">
            <a:xfrm>
              <a:off x="3243" y="1944"/>
              <a:ext cx="97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dirty="0"/>
                <a:t>library</a:t>
              </a:r>
              <a:endParaRPr lang="en-US" altLang="zh-CN" dirty="0"/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设计打印一本图书信息的函数</a:t>
            </a:r>
            <a:endParaRPr lang="zh-CN" altLang="en-US" dirty="0"/>
          </a:p>
        </p:txBody>
      </p:sp>
      <p:sp>
        <p:nvSpPr>
          <p:cNvPr id="14338" name="内容占位符 2"/>
          <p:cNvSpPr>
            <a:spLocks noGrp="1" noChangeArrowheads="1"/>
          </p:cNvSpPr>
          <p:nvPr>
            <p:ph idx="1"/>
          </p:nvPr>
        </p:nvSpPr>
        <p:spPr>
          <a:xfrm>
            <a:off x="467544" y="1484784"/>
            <a:ext cx="8461375" cy="4252441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outbook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Mybook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*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bkPtr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){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("%s by %s at %d-%d-%d: $%.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2f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\n",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bkPtr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-&gt;title,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  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bkPtr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-&gt;author,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bkPtr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-&gt;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prtdate.year,bkPtr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-&gt;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prtdate.month,bkPtr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-&gt;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prtdate.day,bkPtr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-&gt;value);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("%s: \"%s\" ($%.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2f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)\n",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bkPtr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-&gt;author,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  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bkPtr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-&gt;title,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bkPtr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-&gt;value);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("Done.\n");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9023A16-E4B9-4262-9924-424E7C114F4A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使用指针传递结构变量的函数示例</a:t>
            </a:r>
            <a:endParaRPr lang="zh-CN" altLang="en-US" b="1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268760"/>
            <a:ext cx="7969250" cy="505584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/*</a:t>
            </a:r>
            <a:r>
              <a:rPr lang="zh-CN" altLang="en-US" sz="2400" dirty="0">
                <a:latin typeface="Consolas" panose="020B0609020204030204" pitchFamily="49" charset="0"/>
              </a:rPr>
              <a:t>打印多本图书</a:t>
            </a:r>
            <a:r>
              <a:rPr lang="en-US" altLang="zh-CN" sz="2400" dirty="0">
                <a:latin typeface="Consolas" panose="020B0609020204030204" pitchFamily="49" charset="0"/>
              </a:rPr>
              <a:t>*/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printbooks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Mybook</a:t>
            </a:r>
            <a:r>
              <a:rPr lang="en-US" altLang="zh-CN" sz="2400" dirty="0">
                <a:latin typeface="Consolas" panose="020B0609020204030204" pitchFamily="49" charset="0"/>
              </a:rPr>
              <a:t> b[],int size){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for (int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0;i</a:t>
            </a:r>
            <a:r>
              <a:rPr lang="en-US" altLang="zh-CN" sz="2400" dirty="0">
                <a:latin typeface="Consolas" panose="020B0609020204030204" pitchFamily="49" charset="0"/>
              </a:rPr>
              <a:t>&lt;</a:t>
            </a:r>
            <a:r>
              <a:rPr lang="en-US" altLang="zh-CN" sz="2400" dirty="0" err="1">
                <a:latin typeface="Consolas" panose="020B0609020204030204" pitchFamily="49" charset="0"/>
              </a:rPr>
              <a:t>size;i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outbook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b+i</a:t>
            </a:r>
            <a:r>
              <a:rPr lang="en-US" altLang="zh-CN" sz="2400" dirty="0">
                <a:latin typeface="Consolas" panose="020B0609020204030204" pitchFamily="49" charset="0"/>
              </a:rPr>
              <a:t>);//</a:t>
            </a:r>
            <a:r>
              <a:rPr lang="en-US" altLang="zh-CN" sz="2400" dirty="0" err="1">
                <a:latin typeface="Consolas" panose="020B0609020204030204" pitchFamily="49" charset="0"/>
              </a:rPr>
              <a:t>outbook</a:t>
            </a:r>
            <a:r>
              <a:rPr lang="en-US" altLang="zh-CN" sz="2400" dirty="0">
                <a:latin typeface="Consolas" panose="020B0609020204030204" pitchFamily="49" charset="0"/>
              </a:rPr>
              <a:t>(&amp;b[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/*</a:t>
            </a:r>
            <a:r>
              <a:rPr lang="zh-CN" altLang="en-US" sz="2400" dirty="0">
                <a:latin typeface="Consolas" panose="020B0609020204030204" pitchFamily="49" charset="0"/>
              </a:rPr>
              <a:t>将图书价格打</a:t>
            </a:r>
            <a:r>
              <a:rPr lang="en-US" altLang="zh-CN" sz="2400" dirty="0">
                <a:latin typeface="Consolas" panose="020B0609020204030204" pitchFamily="49" charset="0"/>
              </a:rPr>
              <a:t>8</a:t>
            </a:r>
            <a:r>
              <a:rPr lang="zh-CN" altLang="en-US" sz="2400" dirty="0">
                <a:latin typeface="Consolas" panose="020B0609020204030204" pitchFamily="49" charset="0"/>
              </a:rPr>
              <a:t>折</a:t>
            </a:r>
            <a:r>
              <a:rPr lang="en-US" altLang="zh-CN" sz="2400" dirty="0">
                <a:latin typeface="Consolas" panose="020B0609020204030204" pitchFamily="49" charset="0"/>
              </a:rPr>
              <a:t>*/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updatebook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Mybook</a:t>
            </a:r>
            <a:r>
              <a:rPr lang="en-US" altLang="zh-CN" sz="2400" dirty="0">
                <a:latin typeface="Consolas" panose="020B0609020204030204" pitchFamily="49" charset="0"/>
              </a:rPr>
              <a:t> * </a:t>
            </a:r>
            <a:r>
              <a:rPr lang="en-US" altLang="zh-CN" sz="2400" dirty="0" err="1">
                <a:latin typeface="Consolas" panose="020B0609020204030204" pitchFamily="49" charset="0"/>
              </a:rPr>
              <a:t>bkPtr</a:t>
            </a:r>
            <a:r>
              <a:rPr lang="en-US" altLang="zh-CN" sz="2400" dirty="0">
                <a:latin typeface="Consolas" panose="020B0609020204030204" pitchFamily="49" charset="0"/>
              </a:rPr>
              <a:t>){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(*</a:t>
            </a:r>
            <a:r>
              <a:rPr lang="en-US" altLang="zh-CN" sz="2400" dirty="0" err="1">
                <a:latin typeface="Consolas" panose="020B0609020204030204" pitchFamily="49" charset="0"/>
              </a:rPr>
              <a:t>bkPtr</a:t>
            </a:r>
            <a:r>
              <a:rPr lang="en-US" altLang="zh-CN" sz="2400" dirty="0">
                <a:latin typeface="Consolas" panose="020B0609020204030204" pitchFamily="49" charset="0"/>
              </a:rPr>
              <a:t>).value = (*</a:t>
            </a:r>
            <a:r>
              <a:rPr lang="en-US" altLang="zh-CN" sz="2400" dirty="0" err="1">
                <a:latin typeface="Consolas" panose="020B0609020204030204" pitchFamily="49" charset="0"/>
              </a:rPr>
              <a:t>bkPtr</a:t>
            </a:r>
            <a:r>
              <a:rPr lang="en-US" altLang="zh-CN" sz="2400" dirty="0">
                <a:latin typeface="Consolas" panose="020B0609020204030204" pitchFamily="49" charset="0"/>
              </a:rPr>
              <a:t>).value * 0.8;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// </a:t>
            </a:r>
            <a:r>
              <a:rPr lang="en-US" altLang="zh-CN" sz="2400" dirty="0" err="1">
                <a:latin typeface="Consolas" panose="020B0609020204030204" pitchFamily="49" charset="0"/>
              </a:rPr>
              <a:t>bkPtr</a:t>
            </a:r>
            <a:r>
              <a:rPr lang="en-US" altLang="zh-CN" sz="2400" dirty="0">
                <a:latin typeface="Consolas" panose="020B0609020204030204" pitchFamily="49" charset="0"/>
              </a:rPr>
              <a:t>-&gt;value *= 0.8;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E2DF463-7D01-49A3-B471-6B84086D04AD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ym typeface="宋体" panose="02010600030101010101" pitchFamily="2" charset="-122"/>
              </a:rPr>
              <a:t>使用指针的读取图书函数</a:t>
            </a:r>
            <a:endParaRPr lang="zh-CN" altLang="en-US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5594" y="1262063"/>
            <a:ext cx="8532812" cy="50625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int </a:t>
            </a:r>
            <a:r>
              <a:rPr lang="en-US" altLang="zh-CN" sz="2200" dirty="0" err="1">
                <a:latin typeface="Consolas" panose="020B0609020204030204" pitchFamily="49" charset="0"/>
              </a:rPr>
              <a:t>getbook</a:t>
            </a:r>
            <a:r>
              <a:rPr lang="en-US" altLang="zh-CN" sz="2200" dirty="0">
                <a:latin typeface="Consolas" panose="020B0609020204030204" pitchFamily="49" charset="0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</a:rPr>
              <a:t>Mybook</a:t>
            </a:r>
            <a:r>
              <a:rPr lang="en-US" altLang="zh-CN" sz="2200" dirty="0">
                <a:latin typeface="Consolas" panose="020B0609020204030204" pitchFamily="49" charset="0"/>
              </a:rPr>
              <a:t> * </a:t>
            </a:r>
            <a:r>
              <a:rPr lang="en-US" altLang="zh-CN" sz="2200" dirty="0" err="1">
                <a:latin typeface="Consolas" panose="020B0609020204030204" pitchFamily="49" charset="0"/>
              </a:rPr>
              <a:t>bPtr</a:t>
            </a:r>
            <a:r>
              <a:rPr lang="en-US" altLang="zh-CN" sz="2200" dirty="0">
                <a:latin typeface="Consolas" panose="020B0609020204030204" pitchFamily="49" charset="0"/>
              </a:rPr>
              <a:t>){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 </a:t>
            </a:r>
            <a:r>
              <a:rPr lang="en-US" altLang="zh-CN" sz="2200" dirty="0" err="1">
                <a:latin typeface="Consolas" panose="020B0609020204030204" pitchFamily="49" charset="0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</a:rPr>
              <a:t>("Please enter the Book title.\n");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gets(</a:t>
            </a:r>
            <a:r>
              <a:rPr lang="en-US" altLang="zh-CN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bPtr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sz="2200" dirty="0">
                <a:latin typeface="Consolas" panose="020B0609020204030204" pitchFamily="49" charset="0"/>
              </a:rPr>
              <a:t>title);</a:t>
            </a:r>
            <a:endParaRPr lang="zh-CN" altLang="en-US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</a:t>
            </a:r>
            <a:r>
              <a:rPr lang="en-US" altLang="zh-CN" sz="2200" dirty="0" err="1">
                <a:latin typeface="Consolas" panose="020B0609020204030204" pitchFamily="49" charset="0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</a:rPr>
              <a:t>("Now enter the author.\n");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gets(</a:t>
            </a:r>
            <a:r>
              <a:rPr lang="en-US" altLang="zh-CN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bPtr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sz="2200" dirty="0">
                <a:latin typeface="Consolas" panose="020B0609020204030204" pitchFamily="49" charset="0"/>
              </a:rPr>
              <a:t>author);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</a:t>
            </a:r>
            <a:r>
              <a:rPr lang="en-US" altLang="zh-CN" sz="2200" dirty="0" err="1">
                <a:latin typeface="Consolas" panose="020B0609020204030204" pitchFamily="49" charset="0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</a:rPr>
              <a:t>("Now enter the publish date: year month day.\n");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</a:t>
            </a:r>
            <a:r>
              <a:rPr lang="en-US" altLang="zh-CN" sz="2200" dirty="0" err="1">
                <a:latin typeface="Consolas" panose="020B0609020204030204" pitchFamily="49" charset="0"/>
              </a:rPr>
              <a:t>scanf</a:t>
            </a:r>
            <a:r>
              <a:rPr lang="en-US" altLang="zh-CN" sz="2200" dirty="0">
                <a:latin typeface="Consolas" panose="020B0609020204030204" pitchFamily="49" charset="0"/>
              </a:rPr>
              <a:t>("%</a:t>
            </a:r>
            <a:r>
              <a:rPr lang="en-US" altLang="zh-CN" sz="2200" dirty="0" err="1">
                <a:latin typeface="Consolas" panose="020B0609020204030204" pitchFamily="49" charset="0"/>
              </a:rPr>
              <a:t>d%d%d</a:t>
            </a:r>
            <a:r>
              <a:rPr lang="en-US" altLang="zh-CN" sz="2200" dirty="0">
                <a:latin typeface="Consolas" panose="020B0609020204030204" pitchFamily="49" charset="0"/>
              </a:rPr>
              <a:t>", &amp;</a:t>
            </a:r>
            <a:r>
              <a:rPr lang="en-US" altLang="zh-CN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bPtr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sz="2200" dirty="0">
                <a:latin typeface="Consolas" panose="020B0609020204030204" pitchFamily="49" charset="0"/>
              </a:rPr>
              <a:t>prtdate.year,&amp;</a:t>
            </a:r>
            <a:r>
              <a:rPr lang="en-US" altLang="zh-CN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bPtr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</a:rPr>
              <a:t>-&gt; </a:t>
            </a:r>
            <a:r>
              <a:rPr lang="en-US" altLang="zh-CN" sz="2200" dirty="0">
                <a:latin typeface="Consolas" panose="020B0609020204030204" pitchFamily="49" charset="0"/>
              </a:rPr>
              <a:t>prtdate.month,&amp;</a:t>
            </a:r>
            <a:r>
              <a:rPr lang="en-US" altLang="zh-CN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bPtr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sz="2200" dirty="0" err="1">
                <a:latin typeface="Consolas" panose="020B0609020204030204" pitchFamily="49" charset="0"/>
              </a:rPr>
              <a:t>prtdate.day</a:t>
            </a:r>
            <a:r>
              <a:rPr lang="en-US" altLang="zh-CN" sz="2200" dirty="0">
                <a:latin typeface="Consolas" panose="020B0609020204030204" pitchFamily="49" charset="0"/>
              </a:rPr>
              <a:t>);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</a:t>
            </a:r>
            <a:r>
              <a:rPr lang="en-US" altLang="zh-CN" sz="2200" dirty="0" err="1">
                <a:latin typeface="Consolas" panose="020B0609020204030204" pitchFamily="49" charset="0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</a:rPr>
              <a:t>("Now enter the value.\n");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</a:t>
            </a:r>
            <a:r>
              <a:rPr lang="en-US" altLang="zh-CN" sz="2200" dirty="0" err="1">
                <a:latin typeface="Consolas" panose="020B0609020204030204" pitchFamily="49" charset="0"/>
              </a:rPr>
              <a:t>scanf</a:t>
            </a:r>
            <a:r>
              <a:rPr lang="en-US" altLang="zh-CN" sz="2200" dirty="0">
                <a:latin typeface="Consolas" panose="020B0609020204030204" pitchFamily="49" charset="0"/>
              </a:rPr>
              <a:t>("%f", &amp;</a:t>
            </a:r>
            <a:r>
              <a:rPr lang="en-US" altLang="zh-CN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bPtr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sz="2200" dirty="0">
                <a:latin typeface="Consolas" panose="020B0609020204030204" pitchFamily="49" charset="0"/>
              </a:rPr>
              <a:t>value);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</a:t>
            </a:r>
            <a:r>
              <a:rPr lang="en-US" altLang="zh-CN" sz="2200" dirty="0" err="1">
                <a:latin typeface="Consolas" panose="020B0609020204030204" pitchFamily="49" charset="0"/>
              </a:rPr>
              <a:t>getchar</a:t>
            </a:r>
            <a:r>
              <a:rPr lang="en-US" altLang="zh-CN" sz="2200" dirty="0">
                <a:latin typeface="Consolas" panose="020B0609020204030204" pitchFamily="49" charset="0"/>
              </a:rPr>
              <a:t>();//</a:t>
            </a:r>
            <a:r>
              <a:rPr lang="zh-CN" altLang="en-US" sz="2200" dirty="0">
                <a:latin typeface="Consolas" panose="020B0609020204030204" pitchFamily="49" charset="0"/>
              </a:rPr>
              <a:t>读取价格后面的</a:t>
            </a:r>
            <a:r>
              <a:rPr lang="en-US" altLang="zh-CN" sz="2200" dirty="0">
                <a:latin typeface="Consolas" panose="020B0609020204030204" pitchFamily="49" charset="0"/>
              </a:rPr>
              <a:t>\n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return 1;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}</a:t>
            </a:r>
            <a:endParaRPr lang="en-US" altLang="zh-CN" sz="2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314" name="内容占位符 2"/>
          <p:cNvSpPr>
            <a:spLocks noGrp="1" noChangeArrowheads="1"/>
          </p:cNvSpPr>
          <p:nvPr>
            <p:ph idx="1"/>
          </p:nvPr>
        </p:nvSpPr>
        <p:spPr>
          <a:xfrm>
            <a:off x="467544" y="1125538"/>
            <a:ext cx="8352928" cy="561583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 err="1">
                <a:latin typeface="Consolas" panose="020B0609020204030204" pitchFamily="49" charset="0"/>
              </a:rPr>
              <a:t>MAXTITL</a:t>
            </a:r>
            <a:r>
              <a:rPr lang="en-US" altLang="zh-CN" sz="2000" dirty="0">
                <a:latin typeface="Consolas" panose="020B0609020204030204" pitchFamily="49" charset="0"/>
              </a:rPr>
              <a:t>  82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 err="1">
                <a:latin typeface="Consolas" panose="020B0609020204030204" pitchFamily="49" charset="0"/>
              </a:rPr>
              <a:t>MAXAUTL</a:t>
            </a:r>
            <a:r>
              <a:rPr lang="en-US" altLang="zh-CN" sz="2000" dirty="0">
                <a:latin typeface="Consolas" panose="020B0609020204030204" pitchFamily="49" charset="0"/>
              </a:rPr>
              <a:t>  42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struct  Date{  	/*</a:t>
            </a:r>
            <a:r>
              <a:rPr lang="zh-CN" altLang="en-US" sz="2000" dirty="0">
                <a:latin typeface="Consolas" panose="020B0609020204030204" pitchFamily="49" charset="0"/>
              </a:rPr>
              <a:t>日期结构类型*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int year;       /*</a:t>
            </a:r>
            <a:r>
              <a:rPr lang="zh-CN" altLang="en-US" sz="2000" dirty="0">
                <a:latin typeface="Consolas" panose="020B0609020204030204" pitchFamily="49" charset="0"/>
              </a:rPr>
              <a:t>年*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int month;   /*</a:t>
            </a:r>
            <a:r>
              <a:rPr lang="zh-CN" altLang="en-US" sz="2000" dirty="0">
                <a:latin typeface="Consolas" panose="020B0609020204030204" pitchFamily="49" charset="0"/>
              </a:rPr>
              <a:t>月*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int day;       /*</a:t>
            </a:r>
            <a:r>
              <a:rPr lang="zh-CN" altLang="en-US" sz="2000" dirty="0">
                <a:latin typeface="Consolas" panose="020B0609020204030204" pitchFamily="49" charset="0"/>
              </a:rPr>
              <a:t>日*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struct Book 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char title[</a:t>
            </a:r>
            <a:r>
              <a:rPr lang="en-US" altLang="zh-CN" sz="2000" dirty="0" err="1">
                <a:latin typeface="Consolas" panose="020B0609020204030204" pitchFamily="49" charset="0"/>
              </a:rPr>
              <a:t>MAXTITL</a:t>
            </a:r>
            <a:r>
              <a:rPr lang="en-US" altLang="zh-CN" sz="2000" dirty="0">
                <a:latin typeface="Consolas" panose="020B0609020204030204" pitchFamily="49" charset="0"/>
              </a:rPr>
              <a:t>];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char author[</a:t>
            </a:r>
            <a:r>
              <a:rPr lang="en-US" altLang="zh-CN" sz="2000" dirty="0" err="1">
                <a:latin typeface="Consolas" panose="020B0609020204030204" pitchFamily="49" charset="0"/>
              </a:rPr>
              <a:t>MAXAUTL</a:t>
            </a:r>
            <a:r>
              <a:rPr lang="en-US" altLang="zh-CN" sz="2000" dirty="0">
                <a:latin typeface="Consolas" panose="020B0609020204030204" pitchFamily="49" charset="0"/>
              </a:rPr>
              <a:t>];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struct  Date </a:t>
            </a:r>
            <a:r>
              <a:rPr lang="en-US" altLang="zh-CN" sz="2000" dirty="0" err="1">
                <a:latin typeface="Consolas" panose="020B0609020204030204" pitchFamily="49" charset="0"/>
              </a:rPr>
              <a:t>prtdate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float value;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typedef struct Book </a:t>
            </a:r>
            <a:r>
              <a:rPr lang="en-US" altLang="zh-CN" sz="2000" dirty="0" err="1">
                <a:latin typeface="Consolas" panose="020B0609020204030204" pitchFamily="49" charset="0"/>
              </a:rPr>
              <a:t>Mybook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9023A16-E4B9-4262-9924-424E7C114F4A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测试主程序</a:t>
            </a:r>
            <a:endParaRPr lang="zh-CN" altLang="en-US" b="1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268760"/>
            <a:ext cx="8371656" cy="505584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NUM 2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getbook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Mybook</a:t>
            </a:r>
            <a:r>
              <a:rPr lang="en-US" altLang="zh-CN" sz="2000" dirty="0">
                <a:latin typeface="Consolas" panose="020B0609020204030204" pitchFamily="49" charset="0"/>
              </a:rPr>
              <a:t> * </a:t>
            </a:r>
            <a:r>
              <a:rPr lang="en-US" altLang="zh-CN" sz="2000" dirty="0" err="1">
                <a:latin typeface="Consolas" panose="020B0609020204030204" pitchFamily="49" charset="0"/>
              </a:rPr>
              <a:t>bPtr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printbooks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Mybook</a:t>
            </a:r>
            <a:r>
              <a:rPr lang="en-US" altLang="zh-CN" sz="2000" dirty="0">
                <a:latin typeface="Consolas" panose="020B0609020204030204" pitchFamily="49" charset="0"/>
              </a:rPr>
              <a:t> b[],int size);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updatebook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Mybook</a:t>
            </a:r>
            <a:r>
              <a:rPr lang="en-US" altLang="zh-CN" sz="2000" dirty="0">
                <a:latin typeface="Consolas" panose="020B0609020204030204" pitchFamily="49" charset="0"/>
              </a:rPr>
              <a:t> * </a:t>
            </a:r>
            <a:r>
              <a:rPr lang="en-US" altLang="zh-CN" sz="2000" dirty="0" err="1">
                <a:latin typeface="Consolas" panose="020B0609020204030204" pitchFamily="49" charset="0"/>
              </a:rPr>
              <a:t>bkPtr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main(void)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Mybook</a:t>
            </a:r>
            <a:r>
              <a:rPr lang="en-US" altLang="zh-CN" sz="2000" dirty="0">
                <a:latin typeface="Consolas" panose="020B0609020204030204" pitchFamily="49" charset="0"/>
              </a:rPr>
              <a:t> library[NUM]; //</a:t>
            </a:r>
            <a:r>
              <a:rPr lang="zh-CN" altLang="en-US" sz="2000" dirty="0">
                <a:latin typeface="Consolas" panose="020B0609020204030204" pitchFamily="49" charset="0"/>
              </a:rPr>
              <a:t>定义</a:t>
            </a:r>
            <a:r>
              <a:rPr lang="en-US" altLang="zh-CN" sz="2000" dirty="0">
                <a:latin typeface="Consolas" panose="020B0609020204030204" pitchFamily="49" charset="0"/>
              </a:rPr>
              <a:t>Book</a:t>
            </a:r>
            <a:r>
              <a:rPr lang="zh-CN" altLang="en-US" sz="2000" dirty="0">
                <a:latin typeface="Consolas" panose="020B0609020204030204" pitchFamily="49" charset="0"/>
              </a:rPr>
              <a:t>类型的结构变量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>
                <a:latin typeface="Consolas" panose="020B0609020204030204" pitchFamily="49" charset="0"/>
              </a:rPr>
              <a:t>for(int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0;i</a:t>
            </a:r>
            <a:r>
              <a:rPr lang="en-US" altLang="zh-CN" sz="2000" dirty="0">
                <a:latin typeface="Consolas" panose="020B0609020204030204" pitchFamily="49" charset="0"/>
              </a:rPr>
              <a:t>&lt;</a:t>
            </a:r>
            <a:r>
              <a:rPr lang="en-US" altLang="zh-CN" sz="2000" dirty="0" err="1">
                <a:latin typeface="Consolas" panose="020B0609020204030204" pitchFamily="49" charset="0"/>
              </a:rPr>
              <a:t>NUM;i</a:t>
            </a:r>
            <a:r>
              <a:rPr lang="en-US" altLang="zh-CN" sz="2000" dirty="0">
                <a:latin typeface="Consolas" panose="020B0609020204030204" pitchFamily="49" charset="0"/>
              </a:rPr>
              <a:t>++) 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 </a:t>
            </a:r>
            <a:r>
              <a:rPr lang="en-US" altLang="zh-CN" sz="2000" dirty="0" err="1">
                <a:latin typeface="Consolas" panose="020B0609020204030204" pitchFamily="49" charset="0"/>
              </a:rPr>
              <a:t>getbook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library+i</a:t>
            </a:r>
            <a:r>
              <a:rPr lang="en-US" altLang="zh-CN" sz="2000" dirty="0">
                <a:latin typeface="Consolas" panose="020B0609020204030204" pitchFamily="49" charset="0"/>
              </a:rPr>
              <a:t>);//</a:t>
            </a:r>
            <a:r>
              <a:rPr lang="en-US" altLang="zh-CN" sz="2000" dirty="0" err="1">
                <a:latin typeface="Consolas" panose="020B0609020204030204" pitchFamily="49" charset="0"/>
              </a:rPr>
              <a:t>getbook</a:t>
            </a:r>
            <a:r>
              <a:rPr lang="en-US" altLang="zh-CN" sz="2000" dirty="0">
                <a:latin typeface="Consolas" panose="020B0609020204030204" pitchFamily="49" charset="0"/>
              </a:rPr>
              <a:t>(&amp;library[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		 </a:t>
            </a:r>
            <a:r>
              <a:rPr lang="en-US" altLang="zh-CN" sz="2000" dirty="0" err="1">
                <a:latin typeface="Consolas" panose="020B0609020204030204" pitchFamily="49" charset="0"/>
              </a:rPr>
              <a:t>updatebook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library+i</a:t>
            </a:r>
            <a:r>
              <a:rPr lang="en-US" altLang="zh-CN" sz="2000" dirty="0">
                <a:latin typeface="Consolas" panose="020B0609020204030204" pitchFamily="49" charset="0"/>
              </a:rPr>
              <a:t>);//</a:t>
            </a:r>
            <a:r>
              <a:rPr lang="en-US" altLang="zh-CN" sz="2000" dirty="0" err="1">
                <a:latin typeface="Consolas" panose="020B0609020204030204" pitchFamily="49" charset="0"/>
              </a:rPr>
              <a:t>updatebook</a:t>
            </a:r>
            <a:r>
              <a:rPr lang="en-US" altLang="zh-CN" sz="2000" dirty="0">
                <a:latin typeface="Consolas" panose="020B0609020204030204" pitchFamily="49" charset="0"/>
              </a:rPr>
              <a:t>(&amp;library[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}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printbooks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library,NUM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Arial" panose="020B0604020202020204" pitchFamily="34" charset="0"/>
              </a:rPr>
              <a:t>函数间传递结构变量</a:t>
            </a:r>
            <a:endParaRPr lang="zh-CN" altLang="en-US" dirty="0"/>
          </a:p>
        </p:txBody>
      </p:sp>
      <p:sp>
        <p:nvSpPr>
          <p:cNvPr id="31746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/>
              <a:t>传递结构、还是指向结构的指针？</a:t>
            </a:r>
            <a:endParaRPr lang="zh-CN" altLang="en-US" sz="2400" b="1"/>
          </a:p>
          <a:p>
            <a:pPr lvl="1"/>
            <a:r>
              <a:rPr lang="zh-CN" altLang="en-US" sz="2400" b="1"/>
              <a:t>传递指针</a:t>
            </a:r>
            <a:endParaRPr lang="zh-CN" altLang="en-US" sz="2400" b="1"/>
          </a:p>
          <a:p>
            <a:pPr lvl="2"/>
            <a:r>
              <a:rPr lang="zh-CN" altLang="en-US" sz="2400" b="1"/>
              <a:t>优点：既可以工作在较早的</a:t>
            </a:r>
            <a:r>
              <a:rPr lang="en-US" altLang="zh-CN" sz="2400" b="1"/>
              <a:t>C</a:t>
            </a:r>
            <a:r>
              <a:rPr lang="zh-CN" altLang="en-US" sz="2400" b="1"/>
              <a:t>实现上，也可以工作在较新的</a:t>
            </a:r>
            <a:r>
              <a:rPr lang="en-US" altLang="zh-CN" sz="2400" b="1"/>
              <a:t>C</a:t>
            </a:r>
            <a:r>
              <a:rPr lang="zh-CN" altLang="en-US" sz="2400" b="1"/>
              <a:t>实现上；执行速度快：只需要传递一个地址。</a:t>
            </a:r>
            <a:endParaRPr lang="zh-CN" altLang="en-US" sz="2400" b="1"/>
          </a:p>
          <a:p>
            <a:pPr lvl="2"/>
            <a:r>
              <a:rPr lang="zh-CN" altLang="en-US" sz="2400" b="1"/>
              <a:t>缺点：缺少对数据的保护（可以使用</a:t>
            </a:r>
            <a:r>
              <a:rPr lang="en-US" altLang="zh-CN" sz="2400" b="1"/>
              <a:t>const</a:t>
            </a:r>
            <a:r>
              <a:rPr lang="zh-CN" altLang="en-US" sz="2400" b="1"/>
              <a:t>限定词解决这个问题）。</a:t>
            </a:r>
            <a:endParaRPr lang="zh-CN" altLang="en-US" sz="2400" b="1"/>
          </a:p>
          <a:p>
            <a:pPr lvl="1"/>
            <a:r>
              <a:rPr lang="zh-CN" altLang="en-US" sz="2400" b="1"/>
              <a:t>传递结构：</a:t>
            </a:r>
            <a:endParaRPr lang="zh-CN" altLang="en-US" sz="2400" b="1"/>
          </a:p>
          <a:p>
            <a:pPr lvl="2"/>
            <a:r>
              <a:rPr lang="zh-CN" altLang="en-US" sz="2400" b="1"/>
              <a:t>优点：安全性。函数处理的是原始数据的副本。</a:t>
            </a:r>
            <a:endParaRPr lang="zh-CN" altLang="en-US" sz="2400" b="1"/>
          </a:p>
          <a:p>
            <a:pPr lvl="2"/>
            <a:r>
              <a:rPr lang="zh-CN" altLang="en-US" sz="2400" b="1"/>
              <a:t>缺点：</a:t>
            </a:r>
            <a:r>
              <a:rPr lang="en-US" altLang="zh-CN" sz="2400" b="1"/>
              <a:t>	</a:t>
            </a:r>
            <a:endParaRPr lang="en-US" altLang="zh-CN" sz="2400" b="1"/>
          </a:p>
          <a:p>
            <a:pPr lvl="3"/>
            <a:r>
              <a:rPr lang="zh-CN" altLang="en-US" sz="2400" b="1"/>
              <a:t>早期的</a:t>
            </a:r>
            <a:r>
              <a:rPr lang="en-US" altLang="zh-CN" sz="2400" b="1"/>
              <a:t>C</a:t>
            </a:r>
            <a:r>
              <a:rPr lang="zh-CN" altLang="en-US" sz="2400" b="1"/>
              <a:t>实现不处理这种代码</a:t>
            </a:r>
            <a:endParaRPr lang="zh-CN" altLang="en-US" sz="2400" b="1"/>
          </a:p>
          <a:p>
            <a:pPr lvl="3"/>
            <a:r>
              <a:rPr lang="zh-CN" altLang="en-US" sz="2400" b="1"/>
              <a:t>浪费时间和空间</a:t>
            </a:r>
            <a:endParaRPr lang="zh-CN" altLang="en-US" sz="2400" b="1"/>
          </a:p>
          <a:p>
            <a:pPr lvl="2"/>
            <a:endParaRPr lang="zh-CN" altLang="en-US" sz="2400" b="1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AEF250D-2592-47FD-AD0F-E6378E1E1D99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洗牌和发牌游戏模拟</a:t>
            </a:r>
            <a:endParaRPr lang="zh-CN" altLang="en-US" b="1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洗牌和发牌游戏模拟</a:t>
            </a:r>
            <a:endParaRPr lang="zh-CN" altLang="en-US" b="1"/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573088" y="1844675"/>
            <a:ext cx="8391525" cy="4770537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0" dirty="0">
                <a:latin typeface="Consolas" panose="020B0609020204030204" pitchFamily="49" charset="0"/>
              </a:rPr>
              <a:t>#include&lt;</a:t>
            </a:r>
            <a:r>
              <a:rPr lang="en-US" altLang="zh-CN" b="0" dirty="0" err="1"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latin typeface="Consolas" panose="020B0609020204030204" pitchFamily="49" charset="0"/>
              </a:rPr>
              <a:t>&gt; </a:t>
            </a:r>
            <a:endParaRPr lang="en-US" altLang="zh-CN" b="0" dirty="0">
              <a:latin typeface="Consolas" panose="020B0609020204030204" pitchFamily="49" charset="0"/>
            </a:endParaRPr>
          </a:p>
          <a:p>
            <a:r>
              <a:rPr lang="en-US" altLang="zh-CN" b="0" dirty="0">
                <a:latin typeface="Consolas" panose="020B0609020204030204" pitchFamily="49" charset="0"/>
              </a:rPr>
              <a:t>#include&lt;</a:t>
            </a:r>
            <a:r>
              <a:rPr lang="en-US" altLang="zh-CN" b="0" dirty="0" err="1">
                <a:latin typeface="Consolas" panose="020B0609020204030204" pitchFamily="49" charset="0"/>
              </a:rPr>
              <a:t>stdlib.h</a:t>
            </a:r>
            <a:r>
              <a:rPr lang="en-US" altLang="zh-CN" b="0" dirty="0">
                <a:latin typeface="Consolas" panose="020B0609020204030204" pitchFamily="49" charset="0"/>
              </a:rPr>
              <a:t>&gt; </a:t>
            </a:r>
            <a:endParaRPr lang="en-US" altLang="zh-CN" b="0" dirty="0">
              <a:latin typeface="Consolas" panose="020B0609020204030204" pitchFamily="49" charset="0"/>
            </a:endParaRPr>
          </a:p>
          <a:p>
            <a:r>
              <a:rPr lang="en-US" altLang="zh-CN" b="0" dirty="0">
                <a:latin typeface="Consolas" panose="020B0609020204030204" pitchFamily="49" charset="0"/>
              </a:rPr>
              <a:t>#include&lt;</a:t>
            </a:r>
            <a:r>
              <a:rPr lang="en-US" altLang="zh-CN" b="0" dirty="0" err="1">
                <a:latin typeface="Consolas" panose="020B0609020204030204" pitchFamily="49" charset="0"/>
              </a:rPr>
              <a:t>time.h</a:t>
            </a:r>
            <a:r>
              <a:rPr lang="en-US" altLang="zh-CN" b="0" dirty="0">
                <a:latin typeface="Consolas" panose="020B0609020204030204" pitchFamily="49" charset="0"/>
              </a:rPr>
              <a:t>&gt; </a:t>
            </a:r>
            <a:endParaRPr lang="en-US" altLang="zh-CN" b="0" dirty="0">
              <a:latin typeface="Consolas" panose="020B0609020204030204" pitchFamily="49" charset="0"/>
            </a:endParaRPr>
          </a:p>
          <a:p>
            <a:r>
              <a:rPr lang="en-US" altLang="zh-CN" b="0" dirty="0">
                <a:latin typeface="Consolas" panose="020B0609020204030204" pitchFamily="49" charset="0"/>
              </a:rPr>
              <a:t>struct Card{</a:t>
            </a:r>
            <a:endParaRPr lang="en-US" altLang="zh-CN" b="0" dirty="0">
              <a:latin typeface="Consolas" panose="020B0609020204030204" pitchFamily="49" charset="0"/>
            </a:endParaRPr>
          </a:p>
          <a:p>
            <a:r>
              <a:rPr lang="en-US" altLang="zh-CN" b="0" dirty="0">
                <a:latin typeface="Consolas" panose="020B0609020204030204" pitchFamily="49" charset="0"/>
              </a:rPr>
              <a:t>   char * face;</a:t>
            </a:r>
            <a:endParaRPr lang="en-US" altLang="zh-CN" b="0" dirty="0">
              <a:latin typeface="Consolas" panose="020B0609020204030204" pitchFamily="49" charset="0"/>
            </a:endParaRPr>
          </a:p>
          <a:p>
            <a:r>
              <a:rPr lang="en-US" altLang="zh-CN" b="0" dirty="0">
                <a:latin typeface="Consolas" panose="020B0609020204030204" pitchFamily="49" charset="0"/>
              </a:rPr>
              <a:t>   char * suit;</a:t>
            </a:r>
            <a:endParaRPr lang="en-US" altLang="zh-CN" b="0" dirty="0">
              <a:latin typeface="Consolas" panose="020B0609020204030204" pitchFamily="49" charset="0"/>
            </a:endParaRPr>
          </a:p>
          <a:p>
            <a:r>
              <a:rPr lang="en-US" altLang="zh-CN" b="0" dirty="0">
                <a:latin typeface="Consolas" panose="020B0609020204030204" pitchFamily="49" charset="0"/>
              </a:rPr>
              <a:t>};</a:t>
            </a:r>
            <a:endParaRPr lang="en-US" altLang="zh-CN" b="0" dirty="0">
              <a:latin typeface="Consolas" panose="020B0609020204030204" pitchFamily="49" charset="0"/>
            </a:endParaRPr>
          </a:p>
          <a:p>
            <a:endParaRPr lang="en-US" altLang="zh-CN" sz="800" b="0" dirty="0">
              <a:latin typeface="Consolas" panose="020B0609020204030204" pitchFamily="49" charset="0"/>
            </a:endParaRPr>
          </a:p>
          <a:p>
            <a:r>
              <a:rPr lang="en-US" altLang="zh-CN" b="0" dirty="0">
                <a:latin typeface="Consolas" panose="020B0609020204030204" pitchFamily="49" charset="0"/>
              </a:rPr>
              <a:t>typedef struct Card </a:t>
            </a:r>
            <a:r>
              <a:rPr lang="en-US" altLang="zh-CN" b="0" dirty="0" err="1">
                <a:latin typeface="Consolas" panose="020B0609020204030204" pitchFamily="49" charset="0"/>
              </a:rPr>
              <a:t>Mycard</a:t>
            </a:r>
            <a:r>
              <a:rPr lang="en-US" altLang="zh-CN" b="0" dirty="0">
                <a:latin typeface="Consolas" panose="020B0609020204030204" pitchFamily="49" charset="0"/>
              </a:rPr>
              <a:t>;</a:t>
            </a:r>
            <a:endParaRPr lang="en-US" altLang="zh-CN" b="0" dirty="0">
              <a:latin typeface="Consolas" panose="020B0609020204030204" pitchFamily="49" charset="0"/>
            </a:endParaRPr>
          </a:p>
          <a:p>
            <a:endParaRPr lang="en-US" altLang="zh-CN" sz="800" b="0" dirty="0">
              <a:latin typeface="Consolas" panose="020B0609020204030204" pitchFamily="49" charset="0"/>
            </a:endParaRPr>
          </a:p>
          <a:p>
            <a:r>
              <a:rPr lang="en-US" altLang="zh-CN" b="0" dirty="0">
                <a:latin typeface="Consolas" panose="020B0609020204030204" pitchFamily="49" charset="0"/>
              </a:rPr>
              <a:t>void </a:t>
            </a:r>
            <a:r>
              <a:rPr lang="en-US" altLang="zh-CN" b="0" dirty="0" err="1">
                <a:latin typeface="Consolas" panose="020B0609020204030204" pitchFamily="49" charset="0"/>
              </a:rPr>
              <a:t>fillDeck2</a:t>
            </a:r>
            <a:r>
              <a:rPr lang="en-US" altLang="zh-CN" b="0" dirty="0"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latin typeface="Consolas" panose="020B0609020204030204" pitchFamily="49" charset="0"/>
              </a:rPr>
              <a:t>Mycard</a:t>
            </a:r>
            <a:r>
              <a:rPr lang="en-US" altLang="zh-CN" b="0" dirty="0">
                <a:latin typeface="Consolas" panose="020B0609020204030204" pitchFamily="49" charset="0"/>
              </a:rPr>
              <a:t> * </a:t>
            </a:r>
            <a:r>
              <a:rPr lang="en-US" altLang="zh-CN" b="0" dirty="0" err="1">
                <a:latin typeface="Consolas" panose="020B0609020204030204" pitchFamily="49" charset="0"/>
              </a:rPr>
              <a:t>wDeck,char</a:t>
            </a:r>
            <a:r>
              <a:rPr lang="en-US" altLang="zh-CN" b="0" dirty="0">
                <a:latin typeface="Consolas" panose="020B0609020204030204" pitchFamily="49" charset="0"/>
              </a:rPr>
              <a:t> * </a:t>
            </a:r>
            <a:r>
              <a:rPr lang="en-US" altLang="zh-CN" b="0" dirty="0" err="1">
                <a:latin typeface="Consolas" panose="020B0609020204030204" pitchFamily="49" charset="0"/>
              </a:rPr>
              <a:t>wFace</a:t>
            </a:r>
            <a:r>
              <a:rPr lang="en-US" altLang="zh-CN" b="0" dirty="0">
                <a:latin typeface="Consolas" panose="020B0609020204030204" pitchFamily="49" charset="0"/>
              </a:rPr>
              <a:t>[],char * </a:t>
            </a:r>
            <a:r>
              <a:rPr lang="en-US" altLang="zh-CN" b="0" dirty="0" err="1">
                <a:latin typeface="Consolas" panose="020B0609020204030204" pitchFamily="49" charset="0"/>
              </a:rPr>
              <a:t>wSuit</a:t>
            </a:r>
            <a:r>
              <a:rPr lang="en-US" altLang="zh-CN" b="0" dirty="0">
                <a:latin typeface="Consolas" panose="020B0609020204030204" pitchFamily="49" charset="0"/>
              </a:rPr>
              <a:t>[]);</a:t>
            </a:r>
            <a:endParaRPr lang="en-US" altLang="zh-CN" b="0" dirty="0">
              <a:latin typeface="Consolas" panose="020B0609020204030204" pitchFamily="49" charset="0"/>
            </a:endParaRPr>
          </a:p>
          <a:p>
            <a:r>
              <a:rPr lang="en-US" altLang="zh-CN" b="0" dirty="0">
                <a:latin typeface="Consolas" panose="020B0609020204030204" pitchFamily="49" charset="0"/>
              </a:rPr>
              <a:t>void shuffle(</a:t>
            </a:r>
            <a:r>
              <a:rPr lang="en-US" altLang="zh-CN" b="0" dirty="0" err="1">
                <a:latin typeface="Consolas" panose="020B0609020204030204" pitchFamily="49" charset="0"/>
              </a:rPr>
              <a:t>Mycard</a:t>
            </a:r>
            <a:r>
              <a:rPr lang="en-US" altLang="zh-CN" b="0" dirty="0">
                <a:latin typeface="Consolas" panose="020B0609020204030204" pitchFamily="49" charset="0"/>
              </a:rPr>
              <a:t> * </a:t>
            </a:r>
            <a:r>
              <a:rPr lang="en-US" altLang="zh-CN" b="0" dirty="0" err="1">
                <a:latin typeface="Consolas" panose="020B0609020204030204" pitchFamily="49" charset="0"/>
              </a:rPr>
              <a:t>wDeck</a:t>
            </a:r>
            <a:r>
              <a:rPr lang="en-US" altLang="zh-CN" b="0" dirty="0">
                <a:latin typeface="Consolas" panose="020B0609020204030204" pitchFamily="49" charset="0"/>
              </a:rPr>
              <a:t>);</a:t>
            </a:r>
            <a:endParaRPr lang="en-US" altLang="zh-CN" b="0" dirty="0">
              <a:latin typeface="Consolas" panose="020B0609020204030204" pitchFamily="49" charset="0"/>
            </a:endParaRPr>
          </a:p>
          <a:p>
            <a:r>
              <a:rPr lang="en-US" altLang="zh-CN" b="0" dirty="0">
                <a:latin typeface="Consolas" panose="020B0609020204030204" pitchFamily="49" charset="0"/>
              </a:rPr>
              <a:t>void deal(</a:t>
            </a:r>
            <a:r>
              <a:rPr lang="en-US" altLang="zh-CN" b="0" dirty="0" err="1">
                <a:latin typeface="Consolas" panose="020B0609020204030204" pitchFamily="49" charset="0"/>
              </a:rPr>
              <a:t>Mycard</a:t>
            </a:r>
            <a:r>
              <a:rPr lang="en-US" altLang="zh-CN" b="0" dirty="0">
                <a:latin typeface="Consolas" panose="020B0609020204030204" pitchFamily="49" charset="0"/>
              </a:rPr>
              <a:t> * </a:t>
            </a:r>
            <a:r>
              <a:rPr lang="en-US" altLang="zh-CN" b="0" dirty="0" err="1">
                <a:latin typeface="Consolas" panose="020B0609020204030204" pitchFamily="49" charset="0"/>
              </a:rPr>
              <a:t>wDeck</a:t>
            </a:r>
            <a:r>
              <a:rPr lang="en-US" altLang="zh-CN" b="0" dirty="0">
                <a:latin typeface="Consolas" panose="020B0609020204030204" pitchFamily="49" charset="0"/>
              </a:rPr>
              <a:t>);</a:t>
            </a:r>
            <a:endParaRPr lang="en-US" altLang="zh-CN" b="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94348B9-14BD-4E2B-B2A9-12FD2C552D66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461962" y="1651000"/>
            <a:ext cx="8134350" cy="50625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Mycard</a:t>
            </a:r>
            <a:r>
              <a:rPr lang="en-US" altLang="zh-CN" sz="2000" dirty="0">
                <a:latin typeface="Consolas" panose="020B0609020204030204" pitchFamily="49" charset="0"/>
              </a:rPr>
              <a:t> deck[52];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const char * face[]={"</a:t>
            </a:r>
            <a:r>
              <a:rPr lang="en-US" altLang="zh-CN" sz="2000" dirty="0" err="1">
                <a:latin typeface="Consolas" panose="020B0609020204030204" pitchFamily="49" charset="0"/>
              </a:rPr>
              <a:t>Ace","Deuce","Three","Four","Five</a:t>
            </a:r>
            <a:r>
              <a:rPr lang="en-US" altLang="zh-CN" sz="2000" dirty="0">
                <a:latin typeface="Consolas" panose="020B0609020204030204" pitchFamily="49" charset="0"/>
              </a:rPr>
              <a:t>",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    "</a:t>
            </a:r>
            <a:r>
              <a:rPr lang="en-US" altLang="zh-CN" sz="2000" dirty="0" err="1">
                <a:latin typeface="Consolas" panose="020B0609020204030204" pitchFamily="49" charset="0"/>
              </a:rPr>
              <a:t>Six","Seven","Eight","Nine","Ten</a:t>
            </a:r>
            <a:r>
              <a:rPr lang="en-US" altLang="zh-CN" sz="2000" dirty="0">
                <a:latin typeface="Consolas" panose="020B0609020204030204" pitchFamily="49" charset="0"/>
              </a:rPr>
              <a:t>",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    "</a:t>
            </a:r>
            <a:r>
              <a:rPr lang="en-US" altLang="zh-CN" sz="2000" dirty="0" err="1">
                <a:latin typeface="Consolas" panose="020B0609020204030204" pitchFamily="49" charset="0"/>
              </a:rPr>
              <a:t>Jeck</a:t>
            </a:r>
            <a:r>
              <a:rPr lang="en-US" altLang="zh-CN" sz="2000" dirty="0">
                <a:latin typeface="Consolas" panose="020B0609020204030204" pitchFamily="49" charset="0"/>
              </a:rPr>
              <a:t>","</a:t>
            </a:r>
            <a:r>
              <a:rPr lang="en-US" altLang="zh-CN" sz="2000" dirty="0" err="1">
                <a:latin typeface="Consolas" panose="020B0609020204030204" pitchFamily="49" charset="0"/>
              </a:rPr>
              <a:t>Queen","King</a:t>
            </a:r>
            <a:r>
              <a:rPr lang="en-US" altLang="zh-CN" sz="2000" dirty="0">
                <a:latin typeface="Consolas" panose="020B0609020204030204" pitchFamily="49" charset="0"/>
              </a:rPr>
              <a:t>"};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const char * suit[]={"</a:t>
            </a:r>
            <a:r>
              <a:rPr lang="en-US" altLang="zh-CN" sz="2000" dirty="0" err="1">
                <a:latin typeface="Consolas" panose="020B0609020204030204" pitchFamily="49" charset="0"/>
              </a:rPr>
              <a:t>Hearts","Diamonds","Clubs","Spades</a:t>
            </a:r>
            <a:r>
              <a:rPr lang="en-US" altLang="zh-CN" sz="2000" dirty="0">
                <a:latin typeface="Consolas" panose="020B0609020204030204" pitchFamily="49" charset="0"/>
              </a:rPr>
              <a:t>"};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srand</a:t>
            </a:r>
            <a:r>
              <a:rPr lang="en-US" altLang="zh-CN" sz="2000" dirty="0">
                <a:latin typeface="Consolas" panose="020B0609020204030204" pitchFamily="49" charset="0"/>
              </a:rPr>
              <a:t>((unsigned)time(NULL));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fillDeck2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deck,face,suit</a:t>
            </a:r>
            <a:r>
              <a:rPr lang="en-US" altLang="zh-CN" sz="2000" dirty="0">
                <a:latin typeface="Consolas" panose="020B0609020204030204" pitchFamily="49" charset="0"/>
              </a:rPr>
              <a:t>); //</a:t>
            </a:r>
            <a:r>
              <a:rPr lang="zh-CN" altLang="en-US" sz="2000" dirty="0">
                <a:latin typeface="Consolas" panose="020B0609020204030204" pitchFamily="49" charset="0"/>
              </a:rPr>
              <a:t>初始化一副牌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>
                <a:latin typeface="Consolas" panose="020B0609020204030204" pitchFamily="49" charset="0"/>
              </a:rPr>
              <a:t>shuffle(deck); //</a:t>
            </a:r>
            <a:r>
              <a:rPr lang="zh-CN" altLang="en-US" sz="2000" dirty="0">
                <a:latin typeface="Consolas" panose="020B0609020204030204" pitchFamily="49" charset="0"/>
              </a:rPr>
              <a:t>洗牌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>
                <a:latin typeface="Consolas" panose="020B0609020204030204" pitchFamily="49" charset="0"/>
              </a:rPr>
              <a:t>deal(deck);  //</a:t>
            </a:r>
            <a:r>
              <a:rPr lang="zh-CN" altLang="en-US" sz="2000" dirty="0">
                <a:latin typeface="Consolas" panose="020B0609020204030204" pitchFamily="49" charset="0"/>
              </a:rPr>
              <a:t>发牌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return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39939" name="Rectangle 5"/>
          <p:cNvSpPr>
            <a:spLocks noChangeArrowheads="1"/>
          </p:cNvSpPr>
          <p:nvPr/>
        </p:nvSpPr>
        <p:spPr bwMode="auto">
          <a:xfrm>
            <a:off x="2374900" y="76200"/>
            <a:ext cx="981075" cy="1516063"/>
          </a:xfrm>
          <a:prstGeom prst="rect">
            <a:avLst/>
          </a:prstGeom>
          <a:solidFill>
            <a:srgbClr val="FFCCFF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40" name="Line 6"/>
          <p:cNvSpPr>
            <a:spLocks noChangeShapeType="1"/>
          </p:cNvSpPr>
          <p:nvPr/>
        </p:nvSpPr>
        <p:spPr bwMode="auto">
          <a:xfrm flipV="1">
            <a:off x="2374900" y="479425"/>
            <a:ext cx="9921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41" name="Line 7"/>
          <p:cNvSpPr>
            <a:spLocks noChangeShapeType="1"/>
          </p:cNvSpPr>
          <p:nvPr/>
        </p:nvSpPr>
        <p:spPr bwMode="auto">
          <a:xfrm>
            <a:off x="2374900" y="866775"/>
            <a:ext cx="981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42" name="Line 8"/>
          <p:cNvSpPr>
            <a:spLocks noChangeShapeType="1"/>
          </p:cNvSpPr>
          <p:nvPr/>
        </p:nvSpPr>
        <p:spPr bwMode="auto">
          <a:xfrm>
            <a:off x="2374900" y="1238250"/>
            <a:ext cx="981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43" name="Text Box 9"/>
          <p:cNvSpPr txBox="1">
            <a:spLocks noChangeArrowheads="1"/>
          </p:cNvSpPr>
          <p:nvPr/>
        </p:nvSpPr>
        <p:spPr bwMode="auto">
          <a:xfrm>
            <a:off x="2484438" y="1531938"/>
            <a:ext cx="804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lang="en-US" altLang="zh-CN" b="0">
                <a:solidFill>
                  <a:srgbClr val="0000FF"/>
                </a:solidFill>
              </a:rPr>
              <a:t>suit</a:t>
            </a:r>
            <a:endParaRPr lang="en-US" altLang="zh-CN" b="0">
              <a:solidFill>
                <a:srgbClr val="0000FF"/>
              </a:solidFill>
            </a:endParaRPr>
          </a:p>
        </p:txBody>
      </p:sp>
      <p:pic>
        <p:nvPicPr>
          <p:cNvPr id="39944" name="Picture 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-14288"/>
            <a:ext cx="2073275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550" y="446088"/>
            <a:ext cx="2716213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550" y="877888"/>
            <a:ext cx="1563688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7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1314450"/>
            <a:ext cx="2122488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8" name="Line 14"/>
          <p:cNvSpPr>
            <a:spLocks noChangeShapeType="1"/>
          </p:cNvSpPr>
          <p:nvPr/>
        </p:nvSpPr>
        <p:spPr bwMode="auto">
          <a:xfrm>
            <a:off x="3017838" y="722313"/>
            <a:ext cx="522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49" name="Line 15"/>
          <p:cNvSpPr>
            <a:spLocks noChangeShapeType="1"/>
          </p:cNvSpPr>
          <p:nvPr/>
        </p:nvSpPr>
        <p:spPr bwMode="auto">
          <a:xfrm>
            <a:off x="3017838" y="1069975"/>
            <a:ext cx="522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50" name="Line 16"/>
          <p:cNvSpPr>
            <a:spLocks noChangeShapeType="1"/>
          </p:cNvSpPr>
          <p:nvPr/>
        </p:nvSpPr>
        <p:spPr bwMode="auto">
          <a:xfrm>
            <a:off x="3017838" y="1487488"/>
            <a:ext cx="522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51" name="Line 17"/>
          <p:cNvSpPr>
            <a:spLocks noChangeShapeType="1"/>
          </p:cNvSpPr>
          <p:nvPr/>
        </p:nvSpPr>
        <p:spPr bwMode="auto">
          <a:xfrm>
            <a:off x="3017838" y="276225"/>
            <a:ext cx="522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52" name="Text Box 18"/>
          <p:cNvSpPr txBox="1">
            <a:spLocks noChangeArrowheads="1"/>
          </p:cNvSpPr>
          <p:nvPr/>
        </p:nvSpPr>
        <p:spPr bwMode="auto">
          <a:xfrm>
            <a:off x="1547813" y="90488"/>
            <a:ext cx="1081087" cy="3667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/>
              <a:t>suit[0]</a:t>
            </a:r>
            <a:endParaRPr lang="en-US" altLang="zh-CN" sz="1800"/>
          </a:p>
        </p:txBody>
      </p:sp>
      <p:sp>
        <p:nvSpPr>
          <p:cNvPr id="39953" name="Text Box 19"/>
          <p:cNvSpPr txBox="1">
            <a:spLocks noChangeArrowheads="1"/>
          </p:cNvSpPr>
          <p:nvPr/>
        </p:nvSpPr>
        <p:spPr bwMode="auto">
          <a:xfrm>
            <a:off x="1547813" y="450850"/>
            <a:ext cx="1081087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/>
              <a:t>suit[1]</a:t>
            </a:r>
            <a:endParaRPr lang="en-US" altLang="zh-CN" sz="1800"/>
          </a:p>
        </p:txBody>
      </p:sp>
      <p:sp>
        <p:nvSpPr>
          <p:cNvPr id="39954" name="Text Box 20"/>
          <p:cNvSpPr txBox="1">
            <a:spLocks noChangeArrowheads="1"/>
          </p:cNvSpPr>
          <p:nvPr/>
        </p:nvSpPr>
        <p:spPr bwMode="auto">
          <a:xfrm>
            <a:off x="1547813" y="882650"/>
            <a:ext cx="1081087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/>
              <a:t>suit[2]</a:t>
            </a:r>
            <a:endParaRPr lang="en-US" altLang="zh-CN" sz="1800"/>
          </a:p>
        </p:txBody>
      </p:sp>
      <p:sp>
        <p:nvSpPr>
          <p:cNvPr id="39955" name="Text Box 21"/>
          <p:cNvSpPr txBox="1">
            <a:spLocks noChangeArrowheads="1"/>
          </p:cNvSpPr>
          <p:nvPr/>
        </p:nvSpPr>
        <p:spPr bwMode="auto">
          <a:xfrm>
            <a:off x="1582738" y="1314450"/>
            <a:ext cx="1081087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/>
              <a:t>suit[3]</a:t>
            </a:r>
            <a:endParaRPr lang="en-US" altLang="zh-CN" sz="1800"/>
          </a:p>
        </p:txBody>
      </p:sp>
      <p:sp>
        <p:nvSpPr>
          <p:cNvPr id="39956" name="Rectangle 40"/>
          <p:cNvSpPr>
            <a:spLocks noChangeArrowheads="1"/>
          </p:cNvSpPr>
          <p:nvPr/>
        </p:nvSpPr>
        <p:spPr bwMode="auto">
          <a:xfrm>
            <a:off x="7165975" y="-26988"/>
            <a:ext cx="954088" cy="1658938"/>
          </a:xfrm>
          <a:prstGeom prst="rect">
            <a:avLst/>
          </a:prstGeom>
          <a:solidFill>
            <a:srgbClr val="FFCCFF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57" name="Line 41"/>
          <p:cNvSpPr>
            <a:spLocks noChangeShapeType="1"/>
          </p:cNvSpPr>
          <p:nvPr/>
        </p:nvSpPr>
        <p:spPr bwMode="auto">
          <a:xfrm flipV="1">
            <a:off x="7165975" y="414338"/>
            <a:ext cx="965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58" name="Line 42"/>
          <p:cNvSpPr>
            <a:spLocks noChangeShapeType="1"/>
          </p:cNvSpPr>
          <p:nvPr/>
        </p:nvSpPr>
        <p:spPr bwMode="auto">
          <a:xfrm>
            <a:off x="7165975" y="838200"/>
            <a:ext cx="9540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59" name="Line 43"/>
          <p:cNvSpPr>
            <a:spLocks noChangeShapeType="1"/>
          </p:cNvSpPr>
          <p:nvPr/>
        </p:nvSpPr>
        <p:spPr bwMode="auto">
          <a:xfrm>
            <a:off x="7165975" y="1244600"/>
            <a:ext cx="9540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60" name="Text Box 44"/>
          <p:cNvSpPr txBox="1">
            <a:spLocks noChangeArrowheads="1"/>
          </p:cNvSpPr>
          <p:nvPr/>
        </p:nvSpPr>
        <p:spPr bwMode="auto">
          <a:xfrm>
            <a:off x="7129463" y="1611313"/>
            <a:ext cx="1189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lang="en-US" altLang="zh-CN" b="0">
                <a:solidFill>
                  <a:srgbClr val="0000FF"/>
                </a:solidFill>
              </a:rPr>
              <a:t>face</a:t>
            </a:r>
            <a:endParaRPr lang="en-US" altLang="zh-CN" b="0">
              <a:solidFill>
                <a:srgbClr val="0000FF"/>
              </a:solidFill>
            </a:endParaRPr>
          </a:p>
        </p:txBody>
      </p:sp>
      <p:sp>
        <p:nvSpPr>
          <p:cNvPr id="39961" name="Line 45"/>
          <p:cNvSpPr>
            <a:spLocks noChangeShapeType="1"/>
          </p:cNvSpPr>
          <p:nvPr/>
        </p:nvSpPr>
        <p:spPr bwMode="auto">
          <a:xfrm>
            <a:off x="7742238" y="989013"/>
            <a:ext cx="50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62" name="Line 46"/>
          <p:cNvSpPr>
            <a:spLocks noChangeShapeType="1"/>
          </p:cNvSpPr>
          <p:nvPr/>
        </p:nvSpPr>
        <p:spPr bwMode="auto">
          <a:xfrm>
            <a:off x="7742238" y="1446213"/>
            <a:ext cx="50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63" name="Line 47"/>
          <p:cNvSpPr>
            <a:spLocks noChangeShapeType="1"/>
          </p:cNvSpPr>
          <p:nvPr/>
        </p:nvSpPr>
        <p:spPr bwMode="auto">
          <a:xfrm>
            <a:off x="7742238" y="120650"/>
            <a:ext cx="50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64" name="Text Box 48"/>
          <p:cNvSpPr txBox="1">
            <a:spLocks noChangeArrowheads="1"/>
          </p:cNvSpPr>
          <p:nvPr/>
        </p:nvSpPr>
        <p:spPr bwMode="auto">
          <a:xfrm>
            <a:off x="7454900" y="407988"/>
            <a:ext cx="623888" cy="64135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/>
              <a:t>……</a:t>
            </a:r>
            <a:endParaRPr lang="en-US" altLang="zh-CN" sz="1800"/>
          </a:p>
        </p:txBody>
      </p:sp>
      <p:pic>
        <p:nvPicPr>
          <p:cNvPr id="39965" name="Picture 4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288" y="-23813"/>
            <a:ext cx="1103312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66" name="Picture 5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288" y="722313"/>
            <a:ext cx="16319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67" name="Picture 5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288" y="1271588"/>
            <a:ext cx="1344612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68" name="Text Box 52"/>
          <p:cNvSpPr txBox="1">
            <a:spLocks noChangeArrowheads="1"/>
          </p:cNvSpPr>
          <p:nvPr/>
        </p:nvSpPr>
        <p:spPr bwMode="auto">
          <a:xfrm>
            <a:off x="6121400" y="-20638"/>
            <a:ext cx="1081088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/>
              <a:t>face[0]</a:t>
            </a:r>
            <a:endParaRPr lang="en-US" altLang="zh-CN" sz="1800"/>
          </a:p>
        </p:txBody>
      </p:sp>
      <p:sp>
        <p:nvSpPr>
          <p:cNvPr id="39969" name="Text Box 53"/>
          <p:cNvSpPr txBox="1">
            <a:spLocks noChangeArrowheads="1"/>
          </p:cNvSpPr>
          <p:nvPr/>
        </p:nvSpPr>
        <p:spPr bwMode="auto">
          <a:xfrm>
            <a:off x="6121400" y="765175"/>
            <a:ext cx="1081088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/>
              <a:t>face[11]</a:t>
            </a:r>
            <a:endParaRPr lang="en-US" altLang="zh-CN" sz="1800"/>
          </a:p>
        </p:txBody>
      </p:sp>
      <p:sp>
        <p:nvSpPr>
          <p:cNvPr id="39970" name="Text Box 54"/>
          <p:cNvSpPr txBox="1">
            <a:spLocks noChangeArrowheads="1"/>
          </p:cNvSpPr>
          <p:nvPr/>
        </p:nvSpPr>
        <p:spPr bwMode="auto">
          <a:xfrm>
            <a:off x="6121400" y="1196975"/>
            <a:ext cx="1081088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/>
              <a:t>face[12]</a:t>
            </a:r>
            <a:endParaRPr lang="en-US" altLang="zh-CN" sz="180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6197EF1-FE79-4706-9395-02F0DE803890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初始化一副牌（算法</a:t>
            </a:r>
            <a:r>
              <a:rPr lang="en-US" altLang="zh-CN" b="1"/>
              <a:t>1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46084" name="Rectangle 3"/>
          <p:cNvSpPr>
            <a:spLocks noGrp="1" noChangeArrowheads="1"/>
          </p:cNvSpPr>
          <p:nvPr>
            <p:ph idx="1"/>
          </p:nvPr>
        </p:nvSpPr>
        <p:spPr>
          <a:ln>
            <a:miter/>
          </a:ln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kumimoji="1" lang="en-US" altLang="zh-CN" sz="2000" dirty="0">
                <a:latin typeface="Consolas" panose="020B0609020204030204" pitchFamily="49" charset="0"/>
              </a:rPr>
              <a:t>void 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fillDeck1</a:t>
            </a:r>
            <a:r>
              <a:rPr kumimoji="1" lang="en-US" altLang="zh-CN" sz="2000" dirty="0">
                <a:latin typeface="Consolas" panose="020B0609020204030204" pitchFamily="49" charset="0"/>
              </a:rPr>
              <a:t>(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Mycard</a:t>
            </a:r>
            <a:r>
              <a:rPr kumimoji="1" lang="en-US" altLang="zh-CN" sz="2000" dirty="0">
                <a:latin typeface="Consolas" panose="020B0609020204030204" pitchFamily="49" charset="0"/>
              </a:rPr>
              <a:t> * 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wDeck,char</a:t>
            </a:r>
            <a:r>
              <a:rPr kumimoji="1" lang="en-US" altLang="zh-CN" sz="2000" dirty="0">
                <a:latin typeface="Consolas" panose="020B0609020204030204" pitchFamily="49" charset="0"/>
              </a:rPr>
              <a:t> * 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wFace</a:t>
            </a:r>
            <a:r>
              <a:rPr kumimoji="1" lang="en-US" altLang="zh-CN" sz="2000" dirty="0">
                <a:latin typeface="Consolas" panose="020B0609020204030204" pitchFamily="49" charset="0"/>
              </a:rPr>
              <a:t>[],char * 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wSuit</a:t>
            </a:r>
            <a:r>
              <a:rPr kumimoji="1" lang="en-US" altLang="zh-CN" sz="2000" dirty="0">
                <a:latin typeface="Consolas" panose="020B0609020204030204" pitchFamily="49" charset="0"/>
              </a:rPr>
              <a:t>[])</a:t>
            </a:r>
            <a:endParaRPr kumimoji="1"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  <a:defRPr/>
            </a:pPr>
            <a:r>
              <a:rPr kumimoji="1" lang="en-US" altLang="zh-CN" sz="2000" dirty="0">
                <a:latin typeface="Consolas" panose="020B0609020204030204" pitchFamily="49" charset="0"/>
              </a:rPr>
              <a:t>{ </a:t>
            </a:r>
            <a:endParaRPr kumimoji="1"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  <a:defRPr/>
            </a:pPr>
            <a:r>
              <a:rPr kumimoji="1" lang="en-US" altLang="zh-CN" sz="2000" dirty="0">
                <a:latin typeface="Consolas" panose="020B0609020204030204" pitchFamily="49" charset="0"/>
              </a:rPr>
              <a:t>     int 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i</a:t>
            </a:r>
            <a:r>
              <a:rPr kumimoji="1" lang="en-US" altLang="zh-CN" sz="2000" dirty="0">
                <a:latin typeface="Consolas" panose="020B0609020204030204" pitchFamily="49" charset="0"/>
              </a:rPr>
              <a:t>=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0,suit,face</a:t>
            </a:r>
            <a:r>
              <a:rPr kumimoji="1" lang="en-US" altLang="zh-CN" sz="2000" dirty="0">
                <a:latin typeface="Consolas" panose="020B0609020204030204" pitchFamily="49" charset="0"/>
              </a:rPr>
              <a:t>;</a:t>
            </a:r>
            <a:endParaRPr kumimoji="1" lang="en-US" altLang="zh-CN" sz="2000" dirty="0">
              <a:latin typeface="Consolas" panose="020B0609020204030204" pitchFamily="49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>
                <a:latin typeface="Consolas" panose="020B0609020204030204" pitchFamily="49" charset="0"/>
              </a:rPr>
              <a:t>    for(suit=0;suit&lt;=3;suit++)</a:t>
            </a:r>
            <a:endParaRPr kumimoji="1" lang="en-US" altLang="zh-CN" sz="2000" dirty="0">
              <a:latin typeface="Consolas" panose="020B0609020204030204" pitchFamily="49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>
                <a:latin typeface="Consolas" panose="020B0609020204030204" pitchFamily="49" charset="0"/>
              </a:rPr>
              <a:t>         for(face=0;face&lt;=12;face++){</a:t>
            </a:r>
            <a:endParaRPr kumimoji="1" lang="en-US" altLang="zh-CN" sz="2000" dirty="0">
              <a:latin typeface="Consolas" panose="020B0609020204030204" pitchFamily="49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>
                <a:latin typeface="Consolas" panose="020B0609020204030204" pitchFamily="49" charset="0"/>
              </a:rPr>
              <a:t> 		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wDeck</a:t>
            </a:r>
            <a:r>
              <a:rPr kumimoji="1" lang="en-US" altLang="zh-CN" sz="2000" dirty="0">
                <a:latin typeface="Consolas" panose="020B0609020204030204" pitchFamily="49" charset="0"/>
              </a:rPr>
              <a:t>[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i</a:t>
            </a:r>
            <a:r>
              <a:rPr kumimoji="1" lang="en-US" altLang="zh-CN" sz="2000" dirty="0">
                <a:latin typeface="Consolas" panose="020B0609020204030204" pitchFamily="49" charset="0"/>
              </a:rPr>
              <a:t>].suit=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wSuit</a:t>
            </a:r>
            <a:r>
              <a:rPr kumimoji="1" lang="en-US" altLang="zh-CN" sz="2000" dirty="0">
                <a:latin typeface="Consolas" panose="020B0609020204030204" pitchFamily="49" charset="0"/>
              </a:rPr>
              <a:t>[suit];</a:t>
            </a:r>
            <a:endParaRPr kumimoji="1" lang="en-US" altLang="zh-CN" sz="2000" dirty="0">
              <a:latin typeface="Consolas" panose="020B0609020204030204" pitchFamily="49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>
                <a:latin typeface="Consolas" panose="020B0609020204030204" pitchFamily="49" charset="0"/>
              </a:rPr>
              <a:t>		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wDeck</a:t>
            </a:r>
            <a:r>
              <a:rPr kumimoji="1" lang="en-US" altLang="zh-CN" sz="2000" dirty="0">
                <a:latin typeface="Consolas" panose="020B0609020204030204" pitchFamily="49" charset="0"/>
              </a:rPr>
              <a:t>[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i</a:t>
            </a:r>
            <a:r>
              <a:rPr kumimoji="1" lang="en-US" altLang="zh-CN" sz="2000" dirty="0">
                <a:latin typeface="Consolas" panose="020B0609020204030204" pitchFamily="49" charset="0"/>
              </a:rPr>
              <a:t>].face=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wFace</a:t>
            </a:r>
            <a:r>
              <a:rPr kumimoji="1" lang="en-US" altLang="zh-CN" sz="2000" dirty="0">
                <a:latin typeface="Consolas" panose="020B0609020204030204" pitchFamily="49" charset="0"/>
              </a:rPr>
              <a:t>[face];</a:t>
            </a:r>
            <a:endParaRPr kumimoji="1" lang="en-US" altLang="zh-CN" sz="2000" dirty="0">
              <a:latin typeface="Consolas" panose="020B0609020204030204" pitchFamily="49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>
                <a:latin typeface="Consolas" panose="020B0609020204030204" pitchFamily="49" charset="0"/>
              </a:rPr>
              <a:t>              </a:t>
            </a:r>
            <a:r>
              <a:rPr kumimoji="1" lang="en-US" altLang="zh-CN" sz="2000" dirty="0" err="1">
                <a:latin typeface="Consolas" panose="020B0609020204030204" pitchFamily="49" charset="0"/>
              </a:rPr>
              <a:t>i</a:t>
            </a:r>
            <a:r>
              <a:rPr kumimoji="1" lang="en-US" altLang="zh-CN" sz="2000" dirty="0">
                <a:latin typeface="Consolas" panose="020B0609020204030204" pitchFamily="49" charset="0"/>
              </a:rPr>
              <a:t>++;</a:t>
            </a:r>
            <a:endParaRPr kumimoji="1" lang="en-US" altLang="zh-CN" sz="2000" dirty="0">
              <a:latin typeface="Consolas" panose="020B0609020204030204" pitchFamily="49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>
                <a:latin typeface="Consolas" panose="020B0609020204030204" pitchFamily="49" charset="0"/>
              </a:rPr>
              <a:t>   }</a:t>
            </a:r>
            <a:endParaRPr kumimoji="1"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  <a:defRPr/>
            </a:pPr>
            <a:r>
              <a:rPr kumimoji="1" lang="en-US" altLang="zh-CN" sz="2000" dirty="0">
                <a:latin typeface="Consolas" panose="020B0609020204030204" pitchFamily="49" charset="0"/>
              </a:rPr>
              <a:t>}</a:t>
            </a:r>
            <a:endParaRPr kumimoji="1" lang="en-US" altLang="zh-CN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初始化一副牌（算法</a:t>
            </a:r>
            <a:r>
              <a:rPr lang="en-US" altLang="zh-CN" b="1"/>
              <a:t>2</a:t>
            </a:r>
            <a:r>
              <a:rPr lang="zh-CN" altLang="en-US" b="1"/>
              <a:t>）</a:t>
            </a:r>
            <a:endParaRPr lang="zh-CN" altLang="en-US"/>
          </a:p>
        </p:txBody>
      </p:sp>
      <p:sp>
        <p:nvSpPr>
          <p:cNvPr id="43010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fillDeck2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Mycard</a:t>
            </a:r>
            <a:r>
              <a:rPr lang="en-US" altLang="zh-CN" sz="2400" dirty="0">
                <a:latin typeface="Consolas" panose="020B0609020204030204" pitchFamily="49" charset="0"/>
              </a:rPr>
              <a:t> * </a:t>
            </a:r>
            <a:r>
              <a:rPr lang="en-US" altLang="zh-CN" sz="2400" dirty="0" err="1">
                <a:latin typeface="Consolas" panose="020B0609020204030204" pitchFamily="49" charset="0"/>
              </a:rPr>
              <a:t>wDeck,char</a:t>
            </a:r>
            <a:r>
              <a:rPr lang="en-US" altLang="zh-CN" sz="2400" dirty="0">
                <a:latin typeface="Consolas" panose="020B0609020204030204" pitchFamily="49" charset="0"/>
              </a:rPr>
              <a:t> * </a:t>
            </a:r>
            <a:r>
              <a:rPr lang="en-US" altLang="zh-CN" sz="2400" dirty="0" err="1">
                <a:latin typeface="Consolas" panose="020B0609020204030204" pitchFamily="49" charset="0"/>
              </a:rPr>
              <a:t>wFace</a:t>
            </a:r>
            <a:r>
              <a:rPr lang="en-US" altLang="zh-CN" sz="2400" dirty="0">
                <a:latin typeface="Consolas" panose="020B0609020204030204" pitchFamily="49" charset="0"/>
              </a:rPr>
              <a:t>[],char * </a:t>
            </a:r>
            <a:r>
              <a:rPr lang="en-US" altLang="zh-CN" sz="2400" dirty="0" err="1">
                <a:latin typeface="Consolas" panose="020B0609020204030204" pitchFamily="49" charset="0"/>
              </a:rPr>
              <a:t>wSuit</a:t>
            </a:r>
            <a:r>
              <a:rPr lang="en-US" altLang="zh-CN" sz="2400" dirty="0">
                <a:latin typeface="Consolas" panose="020B0609020204030204" pitchFamily="49" charset="0"/>
              </a:rPr>
              <a:t>[]) //</a:t>
            </a:r>
            <a:r>
              <a:rPr lang="zh-CN" altLang="en-US" sz="2400" dirty="0">
                <a:latin typeface="Consolas" panose="020B0609020204030204" pitchFamily="49" charset="0"/>
              </a:rPr>
              <a:t>初始化牌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 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int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for(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0;i</a:t>
            </a:r>
            <a:r>
              <a:rPr lang="en-US" altLang="zh-CN" sz="2400" dirty="0">
                <a:latin typeface="Consolas" panose="020B0609020204030204" pitchFamily="49" charset="0"/>
              </a:rPr>
              <a:t>&lt;</a:t>
            </a:r>
            <a:r>
              <a:rPr lang="en-US" altLang="zh-CN" sz="2400" dirty="0" err="1">
                <a:latin typeface="Consolas" panose="020B0609020204030204" pitchFamily="49" charset="0"/>
              </a:rPr>
              <a:t>52;i</a:t>
            </a:r>
            <a:r>
              <a:rPr lang="en-US" altLang="zh-CN" sz="2400" dirty="0">
                <a:latin typeface="Consolas" panose="020B0609020204030204" pitchFamily="49" charset="0"/>
              </a:rPr>
              <a:t>++){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wDeck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].face=</a:t>
            </a:r>
            <a:r>
              <a:rPr lang="en-US" altLang="zh-CN" sz="2400" dirty="0" err="1">
                <a:latin typeface="Consolas" panose="020B0609020204030204" pitchFamily="49" charset="0"/>
              </a:rPr>
              <a:t>wFace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i%13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wDeck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].suit=</a:t>
            </a:r>
            <a:r>
              <a:rPr lang="en-US" altLang="zh-CN" sz="2400" dirty="0" err="1">
                <a:latin typeface="Consolas" panose="020B0609020204030204" pitchFamily="49" charset="0"/>
              </a:rPr>
              <a:t>wSuit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/13];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4301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3E01267-A4A5-4683-BEB2-0BBB86143E4B}" type="slidenum">
              <a:rPr lang="en-US" altLang="zh-CN" sz="1400" smtClean="0"/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2737849-512C-4CAB-8FD5-18F8B67A70C6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洗牌</a:t>
            </a:r>
            <a:endParaRPr lang="zh-CN" altLang="en-US" b="1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772400" cy="49180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shuffle(</a:t>
            </a:r>
            <a:r>
              <a:rPr lang="en-US" altLang="zh-CN" sz="2400" dirty="0" err="1">
                <a:latin typeface="Consolas" panose="020B0609020204030204" pitchFamily="49" charset="0"/>
              </a:rPr>
              <a:t>Mycard</a:t>
            </a:r>
            <a:r>
              <a:rPr lang="en-US" altLang="zh-CN" sz="2400" dirty="0">
                <a:latin typeface="Consolas" panose="020B0609020204030204" pitchFamily="49" charset="0"/>
              </a:rPr>
              <a:t> * </a:t>
            </a:r>
            <a:r>
              <a:rPr lang="en-US" altLang="zh-CN" sz="2400" dirty="0" err="1">
                <a:latin typeface="Consolas" panose="020B0609020204030204" pitchFamily="49" charset="0"/>
              </a:rPr>
              <a:t>wDeck</a:t>
            </a:r>
            <a:r>
              <a:rPr lang="en-US" altLang="zh-CN" sz="2400" dirty="0">
                <a:latin typeface="Consolas" panose="020B0609020204030204" pitchFamily="49" charset="0"/>
              </a:rPr>
              <a:t>) //</a:t>
            </a:r>
            <a:r>
              <a:rPr lang="zh-CN" altLang="en-US" sz="2400" dirty="0">
                <a:latin typeface="Consolas" panose="020B0609020204030204" pitchFamily="49" charset="0"/>
              </a:rPr>
              <a:t>洗牌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, j;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	</a:t>
            </a:r>
            <a:r>
              <a:rPr lang="en-US" altLang="zh-CN" sz="2400" dirty="0" err="1">
                <a:latin typeface="Consolas" panose="020B0609020204030204" pitchFamily="49" charset="0"/>
              </a:rPr>
              <a:t>Mycard</a:t>
            </a:r>
            <a:r>
              <a:rPr lang="en-US" altLang="zh-CN" sz="2400" dirty="0">
                <a:latin typeface="Consolas" panose="020B0609020204030204" pitchFamily="49" charset="0"/>
              </a:rPr>
              <a:t> temp;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for(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0;i</a:t>
            </a:r>
            <a:r>
              <a:rPr lang="en-US" altLang="zh-CN" sz="2400" dirty="0">
                <a:latin typeface="Consolas" panose="020B0609020204030204" pitchFamily="49" charset="0"/>
              </a:rPr>
              <a:t>&lt;</a:t>
            </a:r>
            <a:r>
              <a:rPr lang="en-US" altLang="zh-CN" sz="2400" dirty="0" err="1">
                <a:latin typeface="Consolas" panose="020B0609020204030204" pitchFamily="49" charset="0"/>
              </a:rPr>
              <a:t>52;i</a:t>
            </a:r>
            <a:r>
              <a:rPr lang="en-US" altLang="zh-CN" sz="2400" dirty="0">
                <a:latin typeface="Consolas" panose="020B0609020204030204" pitchFamily="49" charset="0"/>
              </a:rPr>
              <a:t>++){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j=rand()%52;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temp=</a:t>
            </a:r>
            <a:r>
              <a:rPr lang="en-US" altLang="zh-CN" sz="2400" dirty="0" err="1">
                <a:latin typeface="Consolas" panose="020B0609020204030204" pitchFamily="49" charset="0"/>
              </a:rPr>
              <a:t>wDeck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</a:t>
            </a:r>
            <a:r>
              <a:rPr lang="en-US" altLang="zh-CN" sz="2400" dirty="0" err="1">
                <a:latin typeface="Consolas" panose="020B0609020204030204" pitchFamily="49" charset="0"/>
              </a:rPr>
              <a:t>wDeck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]=</a:t>
            </a:r>
            <a:r>
              <a:rPr lang="en-US" altLang="zh-CN" sz="2400" dirty="0" err="1">
                <a:latin typeface="Consolas" panose="020B0609020204030204" pitchFamily="49" charset="0"/>
              </a:rPr>
              <a:t>wDeck</a:t>
            </a:r>
            <a:r>
              <a:rPr lang="en-US" altLang="zh-CN" sz="2400" dirty="0">
                <a:latin typeface="Consolas" panose="020B0609020204030204" pitchFamily="49" charset="0"/>
              </a:rPr>
              <a:t>[j];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</a:t>
            </a:r>
            <a:r>
              <a:rPr lang="en-US" altLang="zh-CN" sz="2400" dirty="0" err="1">
                <a:latin typeface="Consolas" panose="020B0609020204030204" pitchFamily="49" charset="0"/>
              </a:rPr>
              <a:t>wDeck</a:t>
            </a:r>
            <a:r>
              <a:rPr lang="en-US" altLang="zh-CN" sz="2400" dirty="0">
                <a:latin typeface="Consolas" panose="020B0609020204030204" pitchFamily="49" charset="0"/>
              </a:rPr>
              <a:t>[j]=temp;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5124575" y="2232025"/>
            <a:ext cx="3889375" cy="1196975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1"/>
            </a:solidFill>
            <a:miter lim="800000"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/>
              <a:t>洗牌思路：每张牌都和随机抽取的另外一张牌交换一次。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CE04DC5-6AF7-4F1A-9913-DDE927F70844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发牌</a:t>
            </a:r>
            <a:endParaRPr lang="zh-CN" altLang="en-US" b="1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475812" y="1340768"/>
            <a:ext cx="8350250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deal(</a:t>
            </a:r>
            <a:r>
              <a:rPr lang="en-US" altLang="zh-CN" sz="2400" dirty="0" err="1">
                <a:latin typeface="Consolas" panose="020B0609020204030204" pitchFamily="49" charset="0"/>
              </a:rPr>
              <a:t>Mycard</a:t>
            </a:r>
            <a:r>
              <a:rPr lang="en-US" altLang="zh-CN" sz="2400" dirty="0">
                <a:latin typeface="Consolas" panose="020B0609020204030204" pitchFamily="49" charset="0"/>
              </a:rPr>
              <a:t> * </a:t>
            </a:r>
            <a:r>
              <a:rPr lang="en-US" altLang="zh-CN" sz="2400" dirty="0" err="1">
                <a:latin typeface="Consolas" panose="020B0609020204030204" pitchFamily="49" charset="0"/>
              </a:rPr>
              <a:t>wDeck</a:t>
            </a:r>
            <a:r>
              <a:rPr lang="en-US" altLang="zh-CN" sz="2400" dirty="0">
                <a:latin typeface="Consolas" panose="020B0609020204030204" pitchFamily="49" charset="0"/>
              </a:rPr>
              <a:t>)//</a:t>
            </a:r>
            <a:r>
              <a:rPr lang="zh-CN" altLang="en-US" sz="2400" dirty="0">
                <a:latin typeface="Consolas" panose="020B0609020204030204" pitchFamily="49" charset="0"/>
              </a:rPr>
              <a:t>发牌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for(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=0;i&lt;52;i++){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("%5s of %- 8s%c",wDeck[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].face,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wDeck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].suit,  (i+1)%2?'\t':'\n' 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3374B6F-1DF4-4A7A-BAF4-DD697FE06F3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14.9 </a:t>
            </a:r>
            <a:r>
              <a:rPr lang="zh-CN" altLang="en-US" b="1"/>
              <a:t>枚举类型</a:t>
            </a:r>
            <a:endParaRPr lang="zh-CN" altLang="en-US" b="1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30188" y="1319213"/>
            <a:ext cx="8609012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 dirty="0"/>
              <a:t>在实际问题中，有些变量的取值被限定在一个有限的范围内。例如，一个星期内只有七天，一年只有十二个月，一个班每周有六门课程等等。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目前为止，我们可能写出的是这样的代码：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JAN 1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FEB 2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……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DEC 12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for(month=</a:t>
            </a:r>
            <a:r>
              <a:rPr lang="en-US" altLang="zh-CN" sz="2400" dirty="0" err="1">
                <a:latin typeface="Consolas" panose="020B0609020204030204" pitchFamily="49" charset="0"/>
              </a:rPr>
              <a:t>JAN;month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DEC;month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("%2d,%11s\</a:t>
            </a:r>
            <a:r>
              <a:rPr lang="en-US" altLang="zh-CN" sz="2400" dirty="0" err="1">
                <a:latin typeface="Consolas" panose="020B0609020204030204" pitchFamily="49" charset="0"/>
              </a:rPr>
              <a:t>n",month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monthName</a:t>
            </a:r>
            <a:r>
              <a:rPr lang="en-US" altLang="zh-CN" sz="2400" dirty="0">
                <a:latin typeface="Consolas" panose="020B0609020204030204" pitchFamily="49" charset="0"/>
              </a:rPr>
              <a:t>[month]);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/>
              <a:t>要定义</a:t>
            </a:r>
            <a:r>
              <a:rPr lang="en-US" altLang="zh-CN" sz="2400" b="1" dirty="0"/>
              <a:t>12</a:t>
            </a:r>
            <a:r>
              <a:rPr lang="zh-CN" altLang="en-US" sz="2400" b="1" dirty="0"/>
              <a:t>个符号常量！能否有其他方法？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AB9CCCA-7AD5-42B1-BE1F-C4F3F024593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471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14.9 </a:t>
            </a:r>
            <a:r>
              <a:rPr lang="zh-CN" altLang="en-US" b="1"/>
              <a:t>枚举类型</a:t>
            </a:r>
            <a:endParaRPr lang="zh-CN" altLang="en-US" b="1"/>
          </a:p>
        </p:txBody>
      </p:sp>
      <p:sp>
        <p:nvSpPr>
          <p:cNvPr id="47107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772400" cy="49895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/>
              <a:t>枚举是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语言提供的一种用户自定义数据类型。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/>
              <a:t>例：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enum</a:t>
            </a:r>
            <a:r>
              <a:rPr lang="en-US" altLang="zh-CN" sz="2400" dirty="0">
                <a:latin typeface="Consolas" panose="020B0609020204030204" pitchFamily="49" charset="0"/>
              </a:rPr>
              <a:t> Months{JAN,FEB,MAR,APR,MAY,JUN,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    JUL,AUG,SEP,OCT,NOV,DEC};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类型名</a:t>
            </a:r>
            <a:r>
              <a:rPr lang="zh-CN" altLang="en-US" sz="2400" dirty="0">
                <a:latin typeface="Consolas" panose="020B0609020204030204" pitchFamily="49" charset="0"/>
              </a:rPr>
              <a:t>：</a:t>
            </a:r>
            <a:r>
              <a:rPr lang="en-US" altLang="zh-CN" sz="2400" dirty="0">
                <a:latin typeface="Consolas" panose="020B0609020204030204" pitchFamily="49" charset="0"/>
              </a:rPr>
              <a:t>Months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类型的取值范围</a:t>
            </a:r>
            <a:r>
              <a:rPr lang="zh-CN" altLang="en-US" sz="2400" dirty="0">
                <a:latin typeface="Consolas" panose="020B0609020204030204" pitchFamily="49" charset="0"/>
              </a:rPr>
              <a:t>：</a:t>
            </a:r>
            <a:r>
              <a:rPr lang="en-US" altLang="zh-CN" sz="2400" dirty="0">
                <a:latin typeface="Consolas" panose="020B0609020204030204" pitchFamily="49" charset="0"/>
              </a:rPr>
              <a:t>{JAN,FEB,MAR,APR,MAY,JUN,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    JUL,AUG,SEP,OCT,NOV,DEC};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其中：枚举元素按常量处理，故称枚举</a:t>
            </a:r>
            <a:r>
              <a:rPr lang="en-US" altLang="zh-CN" sz="2400" dirty="0" err="1">
                <a:latin typeface="Consolas" panose="020B0609020204030204" pitchFamily="49" charset="0"/>
              </a:rPr>
              <a:t>常量</a:t>
            </a:r>
            <a:r>
              <a:rPr lang="zh-CN" altLang="en-US" sz="2400" dirty="0">
                <a:latin typeface="Consolas" panose="020B0609020204030204" pitchFamily="49" charset="0"/>
              </a:rPr>
              <a:t>。</a:t>
            </a:r>
            <a:r>
              <a:rPr lang="en-US" altLang="zh-CN" sz="2400" dirty="0">
                <a:latin typeface="Consolas" panose="020B0609020204030204" pitchFamily="49" charset="0"/>
              </a:rPr>
              <a:t>JAN</a:t>
            </a:r>
            <a:r>
              <a:rPr lang="zh-CN" altLang="en-US" sz="2400" dirty="0">
                <a:latin typeface="Consolas" panose="020B0609020204030204" pitchFamily="49" charset="0"/>
              </a:rPr>
              <a:t>值为</a:t>
            </a:r>
            <a:r>
              <a:rPr lang="en-US" altLang="zh-CN" sz="2400" dirty="0">
                <a:latin typeface="Consolas" panose="020B0609020204030204" pitchFamily="49" charset="0"/>
              </a:rPr>
              <a:t>0</a:t>
            </a:r>
            <a:r>
              <a:rPr lang="zh-CN" altLang="en-US" sz="2400" dirty="0">
                <a:latin typeface="Consolas" panose="020B0609020204030204" pitchFamily="49" charset="0"/>
              </a:rPr>
              <a:t>，</a:t>
            </a:r>
            <a:r>
              <a:rPr lang="en-US" altLang="zh-CN" sz="2400" dirty="0">
                <a:latin typeface="Consolas" panose="020B0609020204030204" pitchFamily="49" charset="0"/>
              </a:rPr>
              <a:t>FEB</a:t>
            </a:r>
            <a:r>
              <a:rPr lang="zh-CN" altLang="en-US" sz="2400" dirty="0">
                <a:latin typeface="Consolas" panose="020B0609020204030204" pitchFamily="49" charset="0"/>
              </a:rPr>
              <a:t>值为</a:t>
            </a:r>
            <a:r>
              <a:rPr lang="en-US" altLang="zh-CN" sz="2400" dirty="0">
                <a:latin typeface="Consolas" panose="020B0609020204030204" pitchFamily="49" charset="0"/>
              </a:rPr>
              <a:t>1</a:t>
            </a:r>
            <a:r>
              <a:rPr lang="zh-CN" altLang="en-US" sz="2400" dirty="0">
                <a:latin typeface="Consolas" panose="020B0609020204030204" pitchFamily="49" charset="0"/>
              </a:rPr>
              <a:t>，</a:t>
            </a:r>
            <a:r>
              <a:rPr lang="en-US" altLang="zh-CN" sz="2400" dirty="0">
                <a:latin typeface="Consolas" panose="020B0609020204030204" pitchFamily="49" charset="0"/>
              </a:rPr>
              <a:t>MAR</a:t>
            </a:r>
            <a:r>
              <a:rPr lang="zh-CN" altLang="en-US" sz="2400" dirty="0">
                <a:latin typeface="Consolas" panose="020B0609020204030204" pitchFamily="49" charset="0"/>
              </a:rPr>
              <a:t>值为</a:t>
            </a:r>
            <a:r>
              <a:rPr lang="en-US" altLang="zh-CN" sz="2400" dirty="0">
                <a:latin typeface="Consolas" panose="020B0609020204030204" pitchFamily="49" charset="0"/>
              </a:rPr>
              <a:t>2</a:t>
            </a:r>
            <a:r>
              <a:rPr lang="zh-CN" altLang="en-US" sz="2400" dirty="0">
                <a:latin typeface="Consolas" panose="020B0609020204030204" pitchFamily="49" charset="0"/>
              </a:rPr>
              <a:t>，依次类推。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 err="1">
                <a:latin typeface="Consolas" panose="020B0609020204030204" pitchFamily="49" charset="0"/>
              </a:rPr>
              <a:t>enum</a:t>
            </a:r>
            <a:r>
              <a:rPr lang="en-US" altLang="zh-CN" sz="2400" dirty="0">
                <a:latin typeface="Consolas" panose="020B0609020204030204" pitchFamily="49" charset="0"/>
              </a:rPr>
              <a:t> Months{JAN=1,FEB,MAR,APR,MAY,JUN,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    JUL,AUG,SEP,OCT,NOV,DEC};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    JAN</a:t>
            </a:r>
            <a:r>
              <a:rPr lang="zh-CN" altLang="en-US" sz="2400" b="1" dirty="0"/>
              <a:t>值为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FEB</a:t>
            </a:r>
            <a:r>
              <a:rPr lang="zh-CN" altLang="en-US" sz="2400" b="1" dirty="0"/>
              <a:t>值为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MAR</a:t>
            </a:r>
            <a:r>
              <a:rPr lang="zh-CN" altLang="en-US" sz="2400" b="1" dirty="0"/>
              <a:t>值为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，依次类推</a:t>
            </a:r>
            <a:endParaRPr lang="zh-CN" altLang="en-US" sz="2400" b="1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sym typeface="Arial" panose="020B0604020202020204" pitchFamily="34" charset="0"/>
              </a:rPr>
              <a:t>枚举变量例</a:t>
            </a:r>
            <a:endParaRPr lang="en-US" altLang="zh-CN" b="1" dirty="0">
              <a:solidFill>
                <a:srgbClr val="FF0000"/>
              </a:solidFill>
              <a:sym typeface="Arial" panose="020B0604020202020204" pitchFamily="34" charset="0"/>
            </a:endParaRPr>
          </a:p>
        </p:txBody>
      </p:sp>
      <p:sp>
        <p:nvSpPr>
          <p:cNvPr id="49154" name="内容占位符 2"/>
          <p:cNvSpPr>
            <a:spLocks noGrp="1" noChangeArrowheads="1"/>
          </p:cNvSpPr>
          <p:nvPr>
            <p:ph idx="1"/>
          </p:nvPr>
        </p:nvSpPr>
        <p:spPr>
          <a:xfrm>
            <a:off x="438150" y="1268760"/>
            <a:ext cx="8597900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enum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Months{JAN=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1,FEB,MAR,APR,MAY,JUN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,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			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JUL,AUG,SEP,OCT,NOV,DEC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};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int main(){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enum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Months month;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char *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monthName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[]={"","January","February","March","April","May","June","July","August","September","October","November","December"};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d",&amp;month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);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//month= 3;//month = MAR;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if (month&gt;DEC || month&lt;JAN)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("input error!\n");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else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     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2d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,%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11s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\n",</a:t>
            </a:r>
            <a:r>
              <a:rPr lang="en-US" altLang="zh-CN" sz="2000" dirty="0" err="1">
                <a:latin typeface="Consolas" panose="020B0609020204030204" pitchFamily="49" charset="0"/>
                <a:sym typeface="Arial" panose="020B0604020202020204" pitchFamily="34" charset="0"/>
              </a:rPr>
              <a:t>month,monthName</a:t>
            </a: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[month]);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   return 0;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Arial" panose="020B0604020202020204" pitchFamily="34" charset="0"/>
              </a:rPr>
              <a:t>}</a:t>
            </a:r>
            <a:endParaRPr lang="en-US" altLang="zh-CN" sz="2000" dirty="0">
              <a:latin typeface="Consolas" panose="020B0609020204030204" pitchFamily="49" charset="0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矩形 50177"/>
          <p:cNvSpPr>
            <a:spLocks noChangeArrowheads="1"/>
          </p:cNvSpPr>
          <p:nvPr/>
        </p:nvSpPr>
        <p:spPr bwMode="auto">
          <a:xfrm>
            <a:off x="0" y="404813"/>
            <a:ext cx="91440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zh-CN" altLang="en-US" sz="3600">
                <a:solidFill>
                  <a:srgbClr val="FF0000"/>
                </a:solidFill>
              </a:rPr>
              <a:t>枚举应用实例</a:t>
            </a:r>
            <a:endParaRPr lang="zh-CN" altLang="en-US" sz="3600">
              <a:solidFill>
                <a:srgbClr val="FF0000"/>
              </a:solidFill>
            </a:endParaRPr>
          </a:p>
        </p:txBody>
      </p:sp>
      <p:sp>
        <p:nvSpPr>
          <p:cNvPr id="50179" name="矩形 50178"/>
          <p:cNvSpPr>
            <a:spLocks noChangeArrowheads="1"/>
          </p:cNvSpPr>
          <p:nvPr/>
        </p:nvSpPr>
        <p:spPr bwMode="auto">
          <a:xfrm>
            <a:off x="323850" y="1125538"/>
            <a:ext cx="84232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solidFill>
                  <a:srgbClr val="CC0000"/>
                </a:solidFill>
                <a:latin typeface="+mn-ea"/>
                <a:ea typeface="+mn-ea"/>
              </a:rPr>
              <a:t>例</a:t>
            </a:r>
            <a:r>
              <a:rPr lang="en-US" altLang="zh-CN" b="0" dirty="0">
                <a:solidFill>
                  <a:srgbClr val="CC0000"/>
                </a:solidFill>
                <a:latin typeface="+mn-ea"/>
                <a:ea typeface="+mn-ea"/>
              </a:rPr>
              <a:t>:</a:t>
            </a:r>
            <a:r>
              <a:rPr lang="zh-CN" altLang="en-US" b="0" dirty="0">
                <a:latin typeface="+mn-ea"/>
                <a:ea typeface="+mn-ea"/>
              </a:rPr>
              <a:t>口袋中有红、黄、蓝、白、黑</a:t>
            </a:r>
            <a:r>
              <a:rPr lang="en-US" altLang="zh-CN" b="0" dirty="0">
                <a:latin typeface="+mn-ea"/>
                <a:ea typeface="+mn-ea"/>
              </a:rPr>
              <a:t>5</a:t>
            </a:r>
            <a:r>
              <a:rPr lang="zh-CN" altLang="en-US" b="0" dirty="0">
                <a:latin typeface="+mn-ea"/>
                <a:ea typeface="+mn-ea"/>
              </a:rPr>
              <a:t>种颜色的球若干</a:t>
            </a:r>
            <a:endParaRPr lang="zh-CN" altLang="en-US" b="0" dirty="0">
              <a:latin typeface="+mn-ea"/>
              <a:ea typeface="+mn-ea"/>
            </a:endParaRPr>
          </a:p>
          <a:p>
            <a:r>
              <a:rPr lang="zh-CN" altLang="en-US" b="0" dirty="0">
                <a:latin typeface="+mn-ea"/>
                <a:ea typeface="+mn-ea"/>
              </a:rPr>
              <a:t>个。每次从口袋中先后取出３个球，问得到</a:t>
            </a:r>
            <a:r>
              <a:rPr lang="en-US" altLang="zh-CN" b="0" dirty="0">
                <a:latin typeface="+mn-ea"/>
                <a:ea typeface="+mn-ea"/>
              </a:rPr>
              <a:t>3</a:t>
            </a:r>
            <a:r>
              <a:rPr lang="zh-CN" altLang="en-US" b="0" dirty="0">
                <a:latin typeface="+mn-ea"/>
                <a:ea typeface="+mn-ea"/>
              </a:rPr>
              <a:t>种不同色的球</a:t>
            </a:r>
            <a:endParaRPr lang="zh-CN" altLang="en-US" b="0" dirty="0">
              <a:latin typeface="+mn-ea"/>
              <a:ea typeface="+mn-ea"/>
            </a:endParaRPr>
          </a:p>
          <a:p>
            <a:r>
              <a:rPr lang="zh-CN" altLang="en-US" b="0" dirty="0">
                <a:latin typeface="+mn-ea"/>
                <a:ea typeface="+mn-ea"/>
              </a:rPr>
              <a:t>的可能取法，输出每种排列的情况。 </a:t>
            </a:r>
            <a:endParaRPr lang="zh-CN" altLang="en-US" b="0" dirty="0">
              <a:latin typeface="+mn-ea"/>
              <a:ea typeface="+mn-ea"/>
            </a:endParaRPr>
          </a:p>
        </p:txBody>
      </p:sp>
      <p:grpSp>
        <p:nvGrpSpPr>
          <p:cNvPr id="50180" name="组合 50179"/>
          <p:cNvGrpSpPr/>
          <p:nvPr/>
        </p:nvGrpSpPr>
        <p:grpSpPr bwMode="auto">
          <a:xfrm>
            <a:off x="493713" y="2711450"/>
            <a:ext cx="7975600" cy="2763838"/>
            <a:chOff x="1733" y="-327"/>
            <a:chExt cx="4896" cy="2495"/>
          </a:xfrm>
        </p:grpSpPr>
        <p:pic>
          <p:nvPicPr>
            <p:cNvPr id="2" name="图片 50181" descr="k27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" y="-327"/>
              <a:ext cx="2132" cy="2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181" name="图片 50182" descr="k2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6" y="-327"/>
              <a:ext cx="2223" cy="2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矩形 51201"/>
          <p:cNvSpPr>
            <a:spLocks noChangeArrowheads="1"/>
          </p:cNvSpPr>
          <p:nvPr/>
        </p:nvSpPr>
        <p:spPr bwMode="auto">
          <a:xfrm>
            <a:off x="0" y="404813"/>
            <a:ext cx="91440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zh-CN" altLang="en-US" sz="3600">
                <a:solidFill>
                  <a:srgbClr val="FF0000"/>
                </a:solidFill>
              </a:rPr>
              <a:t>枚举应用实例</a:t>
            </a:r>
            <a:endParaRPr lang="zh-CN" altLang="en-US" sz="3600">
              <a:solidFill>
                <a:srgbClr val="FF0000"/>
              </a:solidFill>
            </a:endParaRPr>
          </a:p>
        </p:txBody>
      </p:sp>
      <p:sp>
        <p:nvSpPr>
          <p:cNvPr id="51203" name="矩形 51202"/>
          <p:cNvSpPr>
            <a:spLocks noChangeArrowheads="1"/>
          </p:cNvSpPr>
          <p:nvPr/>
        </p:nvSpPr>
        <p:spPr bwMode="auto">
          <a:xfrm>
            <a:off x="467544" y="1122140"/>
            <a:ext cx="8352928" cy="545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enum 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C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olor {red,yellow,blue,white,black};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int 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main(){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 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int 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i,j,k,n=0;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 char * c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o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lStr[5]={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red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,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yellow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,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blue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,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white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,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black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};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 for (i=red;i&lt;=black;i++)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 	for (j=red;j&lt;=black;j++)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		if (i!=j)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		{ for (k=red;k&lt;=black;k++)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			if ((k!=i) &amp;&amp; (k!=j))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			{n=n+1; 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p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rintf(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%d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:"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,n);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			 printf(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%s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,"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,c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o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lStr[i]);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			 printf(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%s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,"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,c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o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lStr[j]);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			 printf(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%s\n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"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,c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o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lStr[k]);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           </a:t>
            </a: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			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}                   	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		</a:t>
            </a:r>
            <a:r>
              <a:rPr lang="zh-CN" altLang="en-US" sz="2000" b="0" dirty="0">
                <a:latin typeface="Consolas" panose="020B0609020204030204" pitchFamily="49" charset="0"/>
                <a:ea typeface="楷体_GB2312" pitchFamily="1" charset="-122"/>
              </a:rPr>
              <a:t>}</a:t>
            </a:r>
            <a:endParaRPr lang="zh-CN" altLang="en-US" sz="2000" b="0" dirty="0">
              <a:latin typeface="Consolas" panose="020B0609020204030204" pitchFamily="49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b="0" dirty="0">
                <a:latin typeface="Consolas" panose="020B0609020204030204" pitchFamily="49" charset="0"/>
                <a:ea typeface="楷体_GB2312" pitchFamily="1" charset="-122"/>
              </a:rPr>
              <a:t>}</a:t>
            </a:r>
            <a:endParaRPr lang="en-US" altLang="zh-CN" sz="2000" b="0" dirty="0">
              <a:latin typeface="Consolas" panose="020B0609020204030204" pitchFamily="49" charset="0"/>
              <a:ea typeface="楷体_GB2312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2226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2227" name="Object 4"/>
          <p:cNvGraphicFramePr>
            <a:graphicFrameLocks noChangeAspect="1"/>
          </p:cNvGraphicFramePr>
          <p:nvPr/>
        </p:nvGraphicFramePr>
        <p:xfrm>
          <a:off x="3348038" y="2349500"/>
          <a:ext cx="2293937" cy="213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132205" imgH="1054100" progId="MS_ClipArt_Gallery.2">
                  <p:embed/>
                </p:oleObj>
              </mc:Choice>
              <mc:Fallback>
                <p:oleObj name="" r:id="rId1" imgW="1132205" imgH="1054100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349500"/>
                        <a:ext cx="2293937" cy="213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SLIDE_MODEL_TYPE" val="timeline"/>
</p:tagLst>
</file>

<file path=ppt/tags/tag2.xml><?xml version="1.0" encoding="utf-8"?>
<p:tagLst xmlns:p="http://schemas.openxmlformats.org/presentationml/2006/main">
  <p:tag name="KSO_WM_SLIDE_MODEL_TYPE" val="timeline"/>
</p:tagLst>
</file>

<file path=ppt/tags/tag3.xml><?xml version="1.0" encoding="utf-8"?>
<p:tagLst xmlns:p="http://schemas.openxmlformats.org/presentationml/2006/main">
  <p:tag name="KSO_WPP_MARK_KEY" val="99a33e20-b16e-4f5a-b87d-4ab31613394c"/>
</p:tagLst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0</TotalTime>
  <Words>10055</Words>
  <Application>WPS 演示</Application>
  <PresentationFormat>全屏显示(4:3)</PresentationFormat>
  <Paragraphs>770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Times New Roman</vt:lpstr>
      <vt:lpstr>Consolas</vt:lpstr>
      <vt:lpstr>微软雅黑</vt:lpstr>
      <vt:lpstr>Arial Unicode MS</vt:lpstr>
      <vt:lpstr>楷体_GB2312</vt:lpstr>
      <vt:lpstr>新宋体</vt:lpstr>
      <vt:lpstr>经分互动规范介绍</vt:lpstr>
      <vt:lpstr>1_经分互动规范介绍</vt:lpstr>
      <vt:lpstr>MS_ClipArt_Gallery.2</vt:lpstr>
      <vt:lpstr>PowerPoint 演示文稿</vt:lpstr>
      <vt:lpstr>提纲</vt:lpstr>
      <vt:lpstr>14.1 引言</vt:lpstr>
      <vt:lpstr>14.1 引言</vt:lpstr>
      <vt:lpstr>14.1 引言</vt:lpstr>
      <vt:lpstr>14.1 引言</vt:lpstr>
      <vt:lpstr>14.2 结构的定义</vt:lpstr>
      <vt:lpstr>14.2 结构的定义</vt:lpstr>
      <vt:lpstr>14.2 结构的定义</vt:lpstr>
      <vt:lpstr>PowerPoint 演示文稿</vt:lpstr>
      <vt:lpstr>PowerPoint 演示文稿</vt:lpstr>
      <vt:lpstr>14.5 访问结构变量成员</vt:lpstr>
      <vt:lpstr>PowerPoint 演示文稿</vt:lpstr>
      <vt:lpstr>类型别名 typedef</vt:lpstr>
      <vt:lpstr>PowerPoint 演示文稿</vt:lpstr>
      <vt:lpstr>PowerPoint 演示文稿</vt:lpstr>
      <vt:lpstr>14.5 访问结构变量成员</vt:lpstr>
      <vt:lpstr>结构变量初始化</vt:lpstr>
      <vt:lpstr>14.4 结构变量可互相赋值</vt:lpstr>
      <vt:lpstr>14.6 函数和结构</vt:lpstr>
      <vt:lpstr>14.6 函数和结构</vt:lpstr>
      <vt:lpstr>14.6 函数和结构</vt:lpstr>
      <vt:lpstr>设计打印一本图书信息的函数</vt:lpstr>
      <vt:lpstr>14.6 函数和结构</vt:lpstr>
      <vt:lpstr>通过指针访问结构变量成员</vt:lpstr>
      <vt:lpstr>设计打印一本图书信息的函数</vt:lpstr>
      <vt:lpstr>使用指针传递结构变量的函数示例</vt:lpstr>
      <vt:lpstr>使用指针的读取图书函数</vt:lpstr>
      <vt:lpstr>PowerPoint 演示文稿</vt:lpstr>
      <vt:lpstr>测试主程序</vt:lpstr>
      <vt:lpstr>函数间传递结构变量</vt:lpstr>
      <vt:lpstr>洗牌和发牌游戏模拟</vt:lpstr>
      <vt:lpstr>PowerPoint 演示文稿</vt:lpstr>
      <vt:lpstr>初始化一副牌（算法1）</vt:lpstr>
      <vt:lpstr>初始化一副牌（算法2）</vt:lpstr>
      <vt:lpstr>洗牌</vt:lpstr>
      <vt:lpstr>发牌</vt:lpstr>
      <vt:lpstr>14.9 枚举类型</vt:lpstr>
      <vt:lpstr>14.9 枚举类型</vt:lpstr>
      <vt:lpstr>枚举变量例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第10章    结构与链表</dc:title>
  <dc:creator>zhouchunyan</dc:creator>
  <cp:lastModifiedBy>欧蜜（2和11）</cp:lastModifiedBy>
  <cp:revision>1124</cp:revision>
  <dcterms:created xsi:type="dcterms:W3CDTF">2001-04-18T13:38:00Z</dcterms:created>
  <dcterms:modified xsi:type="dcterms:W3CDTF">2023-12-19T00:02:51Z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16D9CEC580714097BC9E1A5EE08A2C22</vt:lpwstr>
  </property>
</Properties>
</file>