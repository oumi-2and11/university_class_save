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438" r:id="rId2"/>
    <p:sldId id="684" r:id="rId3"/>
    <p:sldId id="685" r:id="rId4"/>
    <p:sldId id="1692" r:id="rId5"/>
    <p:sldId id="814" r:id="rId6"/>
    <p:sldId id="695" r:id="rId7"/>
    <p:sldId id="1386" r:id="rId8"/>
    <p:sldId id="962" r:id="rId9"/>
    <p:sldId id="1058" r:id="rId10"/>
    <p:sldId id="1062" r:id="rId11"/>
    <p:sldId id="1046" r:id="rId12"/>
    <p:sldId id="1064" r:id="rId13"/>
    <p:sldId id="1171" r:id="rId14"/>
    <p:sldId id="801" r:id="rId15"/>
    <p:sldId id="1172" r:id="rId16"/>
    <p:sldId id="1173" r:id="rId17"/>
    <p:sldId id="1682" r:id="rId18"/>
    <p:sldId id="807" r:id="rId19"/>
    <p:sldId id="1635" r:id="rId20"/>
    <p:sldId id="1693" r:id="rId21"/>
    <p:sldId id="1694" r:id="rId22"/>
    <p:sldId id="1636" r:id="rId23"/>
    <p:sldId id="1644" r:id="rId24"/>
    <p:sldId id="1645" r:id="rId25"/>
    <p:sldId id="1643" r:id="rId26"/>
    <p:sldId id="1638" r:id="rId27"/>
    <p:sldId id="1444" r:id="rId28"/>
    <p:sldId id="1659" r:id="rId29"/>
    <p:sldId id="1660" r:id="rId30"/>
    <p:sldId id="1695" r:id="rId31"/>
    <p:sldId id="1586" r:id="rId32"/>
    <p:sldId id="518" r:id="rId33"/>
    <p:sldId id="1704" r:id="rId34"/>
    <p:sldId id="1664" r:id="rId35"/>
    <p:sldId id="1661" r:id="rId36"/>
    <p:sldId id="1667" r:id="rId37"/>
    <p:sldId id="856" r:id="rId38"/>
    <p:sldId id="857" r:id="rId39"/>
    <p:sldId id="1136" r:id="rId40"/>
    <p:sldId id="1696" r:id="rId41"/>
    <p:sldId id="1697" r:id="rId42"/>
    <p:sldId id="1060" r:id="rId43"/>
    <p:sldId id="1701" r:id="rId44"/>
    <p:sldId id="1702" r:id="rId45"/>
    <p:sldId id="1698" r:id="rId46"/>
    <p:sldId id="1699" r:id="rId47"/>
    <p:sldId id="1700" r:id="rId48"/>
    <p:sldId id="1079" r:id="rId49"/>
    <p:sldId id="1084" r:id="rId50"/>
    <p:sldId id="1081" r:id="rId51"/>
    <p:sldId id="1082" r:id="rId52"/>
    <p:sldId id="1085" r:id="rId53"/>
    <p:sldId id="1086" r:id="rId54"/>
    <p:sldId id="1648" r:id="rId55"/>
    <p:sldId id="968" r:id="rId56"/>
    <p:sldId id="1639" r:id="rId57"/>
    <p:sldId id="1640" r:id="rId58"/>
    <p:sldId id="765" r:id="rId59"/>
    <p:sldId id="1238" r:id="rId60"/>
    <p:sldId id="1642" r:id="rId61"/>
    <p:sldId id="747" r:id="rId6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BEA636A-70E5-4564-8855-ACB4A0B714A4}">
          <p14:sldIdLst>
            <p14:sldId id="438"/>
            <p14:sldId id="684"/>
            <p14:sldId id="685"/>
            <p14:sldId id="1692"/>
            <p14:sldId id="814"/>
            <p14:sldId id="695"/>
            <p14:sldId id="1386"/>
          </p14:sldIdLst>
        </p14:section>
        <p14:section name="四则运算程序" id="{1D8D079B-5430-4571-AD3E-DB2778128F4A}">
          <p14:sldIdLst>
            <p14:sldId id="962"/>
            <p14:sldId id="1058"/>
            <p14:sldId id="1062"/>
            <p14:sldId id="1046"/>
            <p14:sldId id="1064"/>
            <p14:sldId id="1171"/>
            <p14:sldId id="801"/>
            <p14:sldId id="1172"/>
            <p14:sldId id="1173"/>
          </p14:sldIdLst>
        </p14:section>
        <p14:section name="某月天数" id="{35E07368-030B-448C-9132-6E63834096F2}">
          <p14:sldIdLst>
            <p14:sldId id="1682"/>
            <p14:sldId id="807"/>
          </p14:sldIdLst>
        </p14:section>
        <p14:section name="凯撒加密" id="{FCA98C09-287A-4F9F-8E43-4A5E198CE8CF}">
          <p14:sldIdLst>
            <p14:sldId id="1635"/>
            <p14:sldId id="1693"/>
            <p14:sldId id="1694"/>
            <p14:sldId id="1636"/>
            <p14:sldId id="1644"/>
            <p14:sldId id="1645"/>
            <p14:sldId id="1643"/>
            <p14:sldId id="1638"/>
            <p14:sldId id="1444"/>
          </p14:sldIdLst>
        </p14:section>
        <p14:section name="求e的幂" id="{34F00C3D-B304-406E-8717-FA7217F46A57}">
          <p14:sldIdLst>
            <p14:sldId id="1659"/>
            <p14:sldId id="1660"/>
            <p14:sldId id="1695"/>
            <p14:sldId id="1586"/>
            <p14:sldId id="518"/>
            <p14:sldId id="1704"/>
            <p14:sldId id="1664"/>
            <p14:sldId id="1661"/>
            <p14:sldId id="1667"/>
          </p14:sldIdLst>
        </p14:section>
        <p14:section name="fib数列" id="{8C0FF30A-6FDE-4025-AC77-F9666A72C142}">
          <p14:sldIdLst>
            <p14:sldId id="856"/>
            <p14:sldId id="857"/>
            <p14:sldId id="1136"/>
            <p14:sldId id="1696"/>
            <p14:sldId id="1697"/>
            <p14:sldId id="1060"/>
            <p14:sldId id="1701"/>
            <p14:sldId id="1702"/>
            <p14:sldId id="1698"/>
            <p14:sldId id="1699"/>
            <p14:sldId id="1700"/>
          </p14:sldIdLst>
        </p14:section>
        <p14:section name="求逆数" id="{36DD2D81-D0EA-405A-A628-CAC0449AB274}">
          <p14:sldIdLst>
            <p14:sldId id="1079"/>
            <p14:sldId id="1084"/>
            <p14:sldId id="1081"/>
            <p14:sldId id="1082"/>
            <p14:sldId id="1085"/>
            <p14:sldId id="1086"/>
            <p14:sldId id="1648"/>
            <p14:sldId id="968"/>
          </p14:sldIdLst>
        </p14:section>
        <p14:section name="字符三角形" id="{B7D187F0-446B-444B-874C-83749DE5D65B}">
          <p14:sldIdLst>
            <p14:sldId id="1639"/>
            <p14:sldId id="1640"/>
            <p14:sldId id="765"/>
            <p14:sldId id="1238"/>
            <p14:sldId id="1642"/>
          </p14:sldIdLst>
        </p14:section>
        <p14:section name="结束" id="{E85DF9AE-A606-4FAC-895A-BCDB76C38786}">
          <p14:sldIdLst>
            <p14:sldId id="7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5D3"/>
    <a:srgbClr val="FF3300"/>
    <a:srgbClr val="3366FF"/>
    <a:srgbClr val="000000"/>
    <a:srgbClr val="9966FF"/>
    <a:srgbClr val="99CCFF"/>
    <a:srgbClr val="CCEC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62" autoAdjust="0"/>
    <p:restoredTop sz="93826" autoAdjust="0"/>
  </p:normalViewPr>
  <p:slideViewPr>
    <p:cSldViewPr showGuides="1">
      <p:cViewPr varScale="1">
        <p:scale>
          <a:sx n="63" d="100"/>
          <a:sy n="63" d="100"/>
        </p:scale>
        <p:origin x="988" y="48"/>
      </p:cViewPr>
      <p:guideLst>
        <p:guide orient="horz" pos="417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altLang="en-US" sz="1200" b="0" strike="noStrike" noProof="1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en-US" altLang="x-none" sz="1200" b="0" strike="noStrike" noProof="1"/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b="0" strike="noStrike" noProof="1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zh-CN" altLang="en-US" sz="1200" b="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b="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9933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遇到除</a:t>
            </a:r>
            <a:r>
              <a:rPr lang="en-US" altLang="zh-CN" dirty="0"/>
              <a:t>0</a:t>
            </a:r>
            <a:r>
              <a:rPr lang="zh-CN" altLang="en-US" dirty="0"/>
              <a:t>的算式，计算机会显示结果为</a:t>
            </a:r>
            <a:r>
              <a:rPr lang="en-US" altLang="zh-CN" dirty="0"/>
              <a:t>1.#</a:t>
            </a:r>
            <a:r>
              <a:rPr lang="en-US" altLang="zh-CN" dirty="0" err="1"/>
              <a:t>nF00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22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D30E2DED-EF86-4D12-A95B-AB026CE54B4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3000" y="685800"/>
            <a:ext cx="4573588" cy="3429000"/>
          </a:xfrm>
        </p:spPr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54035EAD-2C70-4811-ACFE-418ECAE6AB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 anchor="t"/>
          <a:lstStyle/>
          <a:p>
            <a:r>
              <a:rPr lang="en-US" altLang="zh-CN">
                <a:latin typeface="Times New Roman" panose="02020603050405020304" pitchFamily="18" charset="0"/>
              </a:rPr>
              <a:t>?:</a:t>
            </a:r>
            <a:r>
              <a:rPr lang="zh-CN" altLang="en-US">
                <a:latin typeface="Times New Roman" panose="02020603050405020304" pitchFamily="18" charset="0"/>
              </a:rPr>
              <a:t>是带条件的表达式运算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?</a:t>
            </a:r>
            <a:r>
              <a:rPr lang="zh-CN" altLang="en-US">
                <a:latin typeface="Times New Roman" panose="02020603050405020304" pitchFamily="18" charset="0"/>
              </a:rPr>
              <a:t>前使条件表达式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条件为真时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取冒号前的表达式作为结果</a:t>
            </a:r>
            <a:r>
              <a:rPr lang="en-US" altLang="zh-CN">
                <a:latin typeface="Times New Roman" panose="02020603050405020304" pitchFamily="18" charset="0"/>
              </a:rPr>
              <a:t>;</a:t>
            </a:r>
            <a:r>
              <a:rPr lang="zh-CN" altLang="en-US">
                <a:latin typeface="Times New Roman" panose="02020603050405020304" pitchFamily="18" charset="0"/>
              </a:rPr>
              <a:t>否则取冒号后的表达式作为结果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Q:</a:t>
            </a:r>
            <a:r>
              <a:rPr lang="zh-CN" altLang="en-US">
                <a:latin typeface="Times New Roman" panose="02020603050405020304" pitchFamily="18" charset="0"/>
              </a:rPr>
              <a:t>在运用时，如果想让其在判断条件非真时不作动作，冒号后应该打什么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A:</a:t>
            </a:r>
            <a:r>
              <a:rPr lang="zh-CN" altLang="en-US">
                <a:latin typeface="Times New Roman" panose="02020603050405020304" pitchFamily="18" charset="0"/>
              </a:rPr>
              <a:t>这个操作符是用于表达式计算的，冒号前的值可以省略，但冒号后面必须有一个数值。 </a:t>
            </a:r>
          </a:p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7F826CCA-B42C-417B-979A-BC705982CF9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>
              <a:spcBef>
                <a:spcPct val="0"/>
              </a:spcBef>
            </a:pPr>
            <a:fld id="{DDE38A6E-F6C7-490A-8719-99C01C28ADA4}" type="slidenum">
              <a:rPr lang="zh-CN" altLang="en-US" sz="1200"/>
              <a:pPr algn="r">
                <a:spcBef>
                  <a:spcPct val="0"/>
                </a:spcBef>
              </a:pPr>
              <a:t>27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单击以编辑母版标题样式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单击以编辑母版文本样式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grpSp>
        <p:nvGrpSpPr>
          <p:cNvPr id="1031" name="组合 1030"/>
          <p:cNvGrpSpPr/>
          <p:nvPr/>
        </p:nvGrpSpPr>
        <p:grpSpPr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2" name="Rectangle 8"/>
            <p:cNvSpPr/>
            <p:nvPr/>
          </p:nvSpPr>
          <p:spPr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/>
              <a:r>
                <a:rPr lang="zh-CN" altLang="en-US" sz="2400" b="0">
                  <a:latin typeface="Times New Roman" panose="02020603050405020304" pitchFamily="2" charset="0"/>
                </a:rPr>
                <a:t>                  </a:t>
              </a:r>
              <a:endParaRPr lang="zh-CN" altLang="en-US" sz="2400" b="0" dirty="0">
                <a:latin typeface="Times New Roman" panose="02020603050405020304" pitchFamily="2" charset="0"/>
              </a:endParaRPr>
            </a:p>
          </p:txBody>
        </p:sp>
        <p:sp>
          <p:nvSpPr>
            <p:cNvPr id="1033" name="Line 9"/>
            <p:cNvSpPr/>
            <p:nvPr/>
          </p:nvSpPr>
          <p:spPr>
            <a:xfrm>
              <a:off x="4464" y="0"/>
              <a:ext cx="288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" name="Line 10"/>
            <p:cNvSpPr/>
            <p:nvPr/>
          </p:nvSpPr>
          <p:spPr>
            <a:xfrm>
              <a:off x="4176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5" name="Line 11"/>
            <p:cNvSpPr/>
            <p:nvPr/>
          </p:nvSpPr>
          <p:spPr>
            <a:xfrm>
              <a:off x="4704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6" name="Line 12"/>
            <p:cNvSpPr/>
            <p:nvPr/>
          </p:nvSpPr>
          <p:spPr>
            <a:xfrm>
              <a:off x="5376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7" name="Line 13"/>
            <p:cNvSpPr/>
            <p:nvPr/>
          </p:nvSpPr>
          <p:spPr>
            <a:xfrm>
              <a:off x="5184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8" name="Line 14"/>
            <p:cNvSpPr/>
            <p:nvPr/>
          </p:nvSpPr>
          <p:spPr>
            <a:xfrm>
              <a:off x="5568" y="0"/>
              <a:ext cx="192" cy="144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9" name="Line 15"/>
            <p:cNvSpPr/>
            <p:nvPr/>
          </p:nvSpPr>
          <p:spPr>
            <a:xfrm>
              <a:off x="4992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40" name="Line 16"/>
          <p:cNvSpPr/>
          <p:nvPr/>
        </p:nvSpPr>
        <p:spPr>
          <a:xfrm>
            <a:off x="468313" y="1176338"/>
            <a:ext cx="8458200" cy="0"/>
          </a:xfrm>
          <a:prstGeom prst="line">
            <a:avLst/>
          </a:prstGeom>
          <a:ln w="57150" cap="flat" cmpd="sng">
            <a:solidFill>
              <a:srgbClr val="33CCCC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1" name="Text Box 17"/>
          <p:cNvSpPr txBox="1"/>
          <p:nvPr/>
        </p:nvSpPr>
        <p:spPr>
          <a:xfrm>
            <a:off x="457200" y="2514600"/>
            <a:ext cx="8305800" cy="35067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</p:txBody>
      </p:sp>
      <p:pic>
        <p:nvPicPr>
          <p:cNvPr id="1042" name="Picture 18" descr="bup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</p:sldLayoutIdLst>
  <p:transition/>
  <p:hf sldNum="0" hdr="0" ftr="0" dt="0"/>
  <p:txStyles>
    <p:titleStyle>
      <a:lvl1pPr marL="0" lvl="0" indent="0" algn="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0" i="0" u="none" kern="1200" baseline="0">
          <a:solidFill>
            <a:srgbClr val="FF33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grpSp>
        <p:nvGrpSpPr>
          <p:cNvPr id="4098" name="组合 3074"/>
          <p:cNvGrpSpPr/>
          <p:nvPr/>
        </p:nvGrpSpPr>
        <p:grpSpPr>
          <a:xfrm>
            <a:off x="1547813" y="1700808"/>
            <a:ext cx="5903912" cy="1975924"/>
            <a:chOff x="0" y="0"/>
            <a:chExt cx="2736" cy="1115"/>
          </a:xfrm>
        </p:grpSpPr>
        <p:sp>
          <p:nvSpPr>
            <p:cNvPr id="4099" name="Rectangle 6"/>
            <p:cNvSpPr/>
            <p:nvPr/>
          </p:nvSpPr>
          <p:spPr>
            <a:xfrm>
              <a:off x="0" y="0"/>
              <a:ext cx="2736" cy="875"/>
            </a:xfrm>
            <a:prstGeom prst="rect">
              <a:avLst/>
            </a:prstGeom>
            <a:gradFill rotWithShape="0">
              <a:gsLst>
                <a:gs pos="0">
                  <a:srgbClr val="CF0E30"/>
                </a:gs>
                <a:gs pos="50000">
                  <a:srgbClr val="3E040E"/>
                </a:gs>
                <a:gs pos="100000">
                  <a:srgbClr val="CF0E30"/>
                </a:gs>
              </a:gsLst>
              <a:lin ang="18900000" scaled="1"/>
              <a:tileRect/>
            </a:gradFill>
            <a:ln w="28575" cap="flat" cmpd="sng">
              <a:solidFill>
                <a:srgbClr val="F6829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4100" name="Text Box 7"/>
            <p:cNvSpPr txBox="1"/>
            <p:nvPr/>
          </p:nvSpPr>
          <p:spPr>
            <a:xfrm>
              <a:off x="48" y="48"/>
              <a:ext cx="2612" cy="106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程序设计语言初步</a:t>
              </a:r>
              <a:endParaRPr lang="en-US" altLang="zh-CN" sz="3600" dirty="0">
                <a:solidFill>
                  <a:schemeClr val="bg1"/>
                </a:solidFill>
                <a:latin typeface="Times New Roman" panose="02020603050405020304" pitchFamily="2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-</a:t>
              </a:r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控制结构</a:t>
              </a:r>
            </a:p>
          </p:txBody>
        </p:sp>
      </p:grpSp>
      <p:pic>
        <p:nvPicPr>
          <p:cNvPr id="4101" name="Picture 8" descr="地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3" y="4292600"/>
            <a:ext cx="1584325" cy="1514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Rectangle 12"/>
          <p:cNvSpPr/>
          <p:nvPr/>
        </p:nvSpPr>
        <p:spPr>
          <a:xfrm>
            <a:off x="828675" y="3862388"/>
            <a:ext cx="7848600" cy="2663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软件与</a:t>
            </a:r>
            <a:r>
              <a:rPr lang="zh-CN" altLang="en-US" sz="2800">
                <a:latin typeface="宋体" panose="02010600030101010101" pitchFamily="2" charset="-122"/>
              </a:rPr>
              <a:t>理论中心 </a:t>
            </a:r>
            <a:r>
              <a:rPr lang="zh-CN" altLang="en-US" sz="2800">
                <a:latin typeface="楷体_GB2312" pitchFamily="1" charset="-122"/>
                <a:ea typeface="楷体_GB2312" pitchFamily="1" charset="-122"/>
              </a:rPr>
              <a:t>张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艳梅</a:t>
            </a:r>
            <a:endParaRPr lang="en-US" altLang="zh-CN" sz="2800" dirty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5">
            <a:extLst>
              <a:ext uri="{FF2B5EF4-FFF2-40B4-BE49-F238E27FC236}">
                <a16:creationId xmlns:a16="http://schemas.microsoft.com/office/drawing/2014/main" id="{4D8C09AA-9897-42E3-A2AA-9701DB03E39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CCE19488-EB2B-43DC-B722-F1ED13DD5D2E}" type="slidenum">
              <a:rPr lang="zh-CN" altLang="en-US" sz="1400"/>
              <a:pPr algn="r">
                <a:spcBef>
                  <a:spcPct val="50000"/>
                </a:spcBef>
              </a:pPr>
              <a:t>2</a:t>
            </a:fld>
            <a:endParaRPr lang="zh-CN" altLang="en-US" sz="1400"/>
          </a:p>
        </p:txBody>
      </p:sp>
      <p:sp>
        <p:nvSpPr>
          <p:cNvPr id="60418" name="Rectangle 7">
            <a:extLst>
              <a:ext uri="{FF2B5EF4-FFF2-40B4-BE49-F238E27FC236}">
                <a16:creationId xmlns:a16="http://schemas.microsoft.com/office/drawing/2014/main" id="{5FEEA750-1701-4143-8B18-F6964F4605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控制语句</a:t>
            </a:r>
          </a:p>
        </p:txBody>
      </p:sp>
      <p:sp>
        <p:nvSpPr>
          <p:cNvPr id="60419" name="Text Box 4">
            <a:extLst>
              <a:ext uri="{FF2B5EF4-FFF2-40B4-BE49-F238E27FC236}">
                <a16:creationId xmlns:a16="http://schemas.microsoft.com/office/drawing/2014/main" id="{3D72D824-BB49-46A7-B4D8-14CE043A6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1416050"/>
            <a:ext cx="76327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zh-CN" altLang="en-US" sz="2800" dirty="0">
                <a:latin typeface="宋体" panose="02010600030101010101" pitchFamily="2" charset="-122"/>
                <a:sym typeface="宋体" panose="02010600030101010101" pitchFamily="2" charset="-122"/>
              </a:rPr>
              <a:t>计算机中的指令除了运算，还需要控制语句的执行序列，如：是非选择、多项选择、周而复始的循环、中断、意外终止等。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B2B1C2B-DB0F-478F-99A0-69EC3E020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3090862"/>
            <a:ext cx="7696200" cy="323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zh-CN" altLang="en-US" sz="2800" dirty="0">
                <a:latin typeface="宋体" panose="02010600030101010101" pitchFamily="2" charset="-122"/>
              </a:rPr>
              <a:t> 在写程序时，有时往往需要测试某一个条件  是否成立，然后根据测试结果来控制程序后续执行路径。此时要用到选择结构。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US" altLang="zh-CN" sz="2800" dirty="0">
                <a:latin typeface="宋体" panose="02010600030101010101" pitchFamily="2" charset="-122"/>
              </a:rPr>
              <a:t> C</a:t>
            </a:r>
            <a:r>
              <a:rPr lang="zh-CN" altLang="en-US" sz="2800" dirty="0">
                <a:latin typeface="宋体" panose="02010600030101010101" pitchFamily="2" charset="-122"/>
              </a:rPr>
              <a:t>语言中选择语句有：</a:t>
            </a:r>
          </a:p>
          <a:p>
            <a:r>
              <a:rPr lang="zh-CN" altLang="en-US" sz="2800" dirty="0">
                <a:latin typeface="宋体" panose="02010600030101010101" pitchFamily="2" charset="-122"/>
              </a:rPr>
              <a:t>  </a:t>
            </a:r>
            <a:r>
              <a:rPr lang="zh-CN" altLang="en-US" sz="2800" dirty="0"/>
              <a:t>1）</a:t>
            </a:r>
            <a:r>
              <a:rPr lang="en-US" altLang="zh-CN" sz="2800" dirty="0"/>
              <a:t>if-else </a:t>
            </a:r>
            <a:r>
              <a:rPr lang="zh-CN" altLang="en-US" sz="2800" dirty="0"/>
              <a:t>语句  </a:t>
            </a:r>
            <a:r>
              <a:rPr lang="en-US" altLang="zh-CN" sz="2800" dirty="0"/>
              <a:t>(</a:t>
            </a:r>
            <a:r>
              <a:rPr lang="zh-CN" altLang="en-US" sz="2800" dirty="0"/>
              <a:t>是非选择，两种分支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2）switch-case</a:t>
            </a:r>
            <a:r>
              <a:rPr lang="zh-CN" altLang="en-US" sz="2800" dirty="0"/>
              <a:t>语句 </a:t>
            </a:r>
            <a:r>
              <a:rPr lang="en-US" altLang="zh-CN" sz="2800" dirty="0"/>
              <a:t>(</a:t>
            </a:r>
            <a:r>
              <a:rPr lang="zh-CN" altLang="en-US" sz="2800" dirty="0"/>
              <a:t>多路选择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>
            <a:extLst>
              <a:ext uri="{FF2B5EF4-FFF2-40B4-BE49-F238E27FC236}">
                <a16:creationId xmlns:a16="http://schemas.microsoft.com/office/drawing/2014/main" id="{2B58F103-9138-4188-9CAD-27516B1EB2B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87F3A46A-096F-46A2-B189-40D2190C5478}" type="slidenum">
              <a:rPr lang="zh-CN" altLang="en-US" sz="1400"/>
              <a:pPr algn="r">
                <a:spcBef>
                  <a:spcPct val="50000"/>
                </a:spcBef>
              </a:pPr>
              <a:t>3</a:t>
            </a:fld>
            <a:endParaRPr lang="zh-CN" altLang="en-US" sz="1400"/>
          </a:p>
        </p:txBody>
      </p:sp>
      <p:sp>
        <p:nvSpPr>
          <p:cNvPr id="62466" name="Rectangle 4">
            <a:extLst>
              <a:ext uri="{FF2B5EF4-FFF2-40B4-BE49-F238E27FC236}">
                <a16:creationId xmlns:a16="http://schemas.microsoft.com/office/drawing/2014/main" id="{04E472D4-8EB4-4CAC-AEFF-728D7E3673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1371600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if-else 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62467" name="Text Box 5">
            <a:extLst>
              <a:ext uri="{FF2B5EF4-FFF2-40B4-BE49-F238E27FC236}">
                <a16:creationId xmlns:a16="http://schemas.microsoft.com/office/drawing/2014/main" id="{B4CA0619-EC1A-42D8-80F7-9C55B894E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981200"/>
            <a:ext cx="76962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实现双路选择</a:t>
            </a:r>
            <a:endParaRPr lang="en-US" altLang="zh-CN" sz="2400">
              <a:latin typeface="宋体" panose="02010600030101010101" pitchFamily="2" charset="-122"/>
            </a:endParaRPr>
          </a:p>
        </p:txBody>
      </p:sp>
      <p:sp>
        <p:nvSpPr>
          <p:cNvPr id="62468" name="Text Box 7">
            <a:extLst>
              <a:ext uri="{FF2B5EF4-FFF2-40B4-BE49-F238E27FC236}">
                <a16:creationId xmlns:a16="http://schemas.microsoft.com/office/drawing/2014/main" id="{436E8CF4-F3A3-473C-8FE3-4877FF530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39" y="1981200"/>
            <a:ext cx="1827213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if (</a:t>
            </a:r>
            <a:r>
              <a:rPr lang="zh-CN" altLang="en-US" sz="2800" dirty="0"/>
              <a:t>表达式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endParaRPr lang="en-US" altLang="zh-CN" sz="2800" dirty="0"/>
          </a:p>
          <a:p>
            <a:pPr algn="just" eaLnBrk="0" hangingPunct="0">
              <a:spcBef>
                <a:spcPct val="0"/>
              </a:spcBef>
            </a:pPr>
            <a:r>
              <a:rPr lang="zh-CN" altLang="en-US" sz="2800" dirty="0"/>
              <a:t>    语句</a:t>
            </a:r>
            <a:r>
              <a:rPr lang="en-US" altLang="zh-CN" sz="2800" dirty="0"/>
              <a:t>1</a:t>
            </a:r>
          </a:p>
          <a:p>
            <a:pPr algn="just" eaLnBrk="0" hangingPunct="0"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else</a:t>
            </a:r>
            <a:endParaRPr lang="en-US" altLang="zh-CN" sz="2800" dirty="0"/>
          </a:p>
          <a:p>
            <a:pPr algn="just" eaLnBrk="0" hangingPunct="0">
              <a:spcBef>
                <a:spcPct val="0"/>
              </a:spcBef>
            </a:pPr>
            <a:r>
              <a:rPr lang="zh-CN" altLang="en-US" sz="2800" dirty="0"/>
              <a:t>     语句2</a:t>
            </a:r>
          </a:p>
        </p:txBody>
      </p:sp>
      <p:sp>
        <p:nvSpPr>
          <p:cNvPr id="62469" name="Text Box 8">
            <a:extLst>
              <a:ext uri="{FF2B5EF4-FFF2-40B4-BE49-F238E27FC236}">
                <a16:creationId xmlns:a16="http://schemas.microsoft.com/office/drawing/2014/main" id="{0D63ABB4-CB93-4BBF-8440-832EA2155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445125"/>
            <a:ext cx="2057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0" hangingPunct="0">
              <a:spcBef>
                <a:spcPct val="0"/>
              </a:spcBef>
            </a:pPr>
            <a:r>
              <a:rPr lang="en-US" altLang="zh-CN" sz="2400" dirty="0" err="1"/>
              <a:t>b）C</a:t>
            </a:r>
            <a:r>
              <a:rPr lang="zh-CN" altLang="en-US" sz="2400" dirty="0"/>
              <a:t>语法</a:t>
            </a:r>
          </a:p>
        </p:txBody>
      </p:sp>
      <p:grpSp>
        <p:nvGrpSpPr>
          <p:cNvPr id="62470" name="组合 31750">
            <a:extLst>
              <a:ext uri="{FF2B5EF4-FFF2-40B4-BE49-F238E27FC236}">
                <a16:creationId xmlns:a16="http://schemas.microsoft.com/office/drawing/2014/main" id="{4B81EE9D-41DC-40D8-982A-81421A3C067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14600"/>
            <a:ext cx="5029200" cy="3505200"/>
            <a:chOff x="0" y="0"/>
            <a:chExt cx="3600" cy="3120"/>
          </a:xfrm>
        </p:grpSpPr>
        <p:sp>
          <p:nvSpPr>
            <p:cNvPr id="62471" name="Text Box 10">
              <a:extLst>
                <a:ext uri="{FF2B5EF4-FFF2-40B4-BE49-F238E27FC236}">
                  <a16:creationId xmlns:a16="http://schemas.microsoft.com/office/drawing/2014/main" id="{BD49C702-B4DD-4446-9FDA-18C1C931B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2652"/>
              <a:ext cx="198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r>
                <a:rPr lang="en-US" altLang="zh-CN" sz="2000"/>
                <a:t>a) </a:t>
              </a:r>
              <a:r>
                <a:rPr lang="zh-CN" altLang="en-US" sz="2000"/>
                <a:t>流程图</a:t>
              </a:r>
            </a:p>
          </p:txBody>
        </p:sp>
        <p:grpSp>
          <p:nvGrpSpPr>
            <p:cNvPr id="62472" name="组合 31752">
              <a:extLst>
                <a:ext uri="{FF2B5EF4-FFF2-40B4-BE49-F238E27FC236}">
                  <a16:creationId xmlns:a16="http://schemas.microsoft.com/office/drawing/2014/main" id="{C61FA746-E25C-4BA1-8F14-14DC8088B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600" cy="2652"/>
              <a:chOff x="0" y="0"/>
              <a:chExt cx="3600" cy="2652"/>
            </a:xfrm>
          </p:grpSpPr>
          <p:grpSp>
            <p:nvGrpSpPr>
              <p:cNvPr id="62473" name="组合 31753">
                <a:extLst>
                  <a:ext uri="{FF2B5EF4-FFF2-40B4-BE49-F238E27FC236}">
                    <a16:creationId xmlns:a16="http://schemas.microsoft.com/office/drawing/2014/main" id="{B6611525-CDDE-4432-BF2C-A4668DBC1C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" y="0"/>
                <a:ext cx="3420" cy="2652"/>
                <a:chOff x="0" y="0"/>
                <a:chExt cx="3420" cy="2652"/>
              </a:xfrm>
            </p:grpSpPr>
            <p:sp>
              <p:nvSpPr>
                <p:cNvPr id="62474" name="Line 13">
                  <a:extLst>
                    <a:ext uri="{FF2B5EF4-FFF2-40B4-BE49-F238E27FC236}">
                      <a16:creationId xmlns:a16="http://schemas.microsoft.com/office/drawing/2014/main" id="{F02CB4B1-53AB-4A40-A16E-F5D873460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0" y="780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5" name="Line 14">
                  <a:extLst>
                    <a:ext uri="{FF2B5EF4-FFF2-40B4-BE49-F238E27FC236}">
                      <a16:creationId xmlns:a16="http://schemas.microsoft.com/office/drawing/2014/main" id="{A8D29ECF-9B32-4EF1-93DB-22965E8254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0" y="780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6" name="Line 15">
                  <a:extLst>
                    <a:ext uri="{FF2B5EF4-FFF2-40B4-BE49-F238E27FC236}">
                      <a16:creationId xmlns:a16="http://schemas.microsoft.com/office/drawing/2014/main" id="{D4F1BFA9-0012-4E78-B47F-796C108676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20" y="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7" name="AutoShape 16">
                  <a:extLst>
                    <a:ext uri="{FF2B5EF4-FFF2-40B4-BE49-F238E27FC236}">
                      <a16:creationId xmlns:a16="http://schemas.microsoft.com/office/drawing/2014/main" id="{F4492F34-428B-4930-9E8F-A70D3EC91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" y="468"/>
                  <a:ext cx="1440" cy="624"/>
                </a:xfrm>
                <a:prstGeom prst="flowChartDecision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表达式</a:t>
                  </a:r>
                </a:p>
              </p:txBody>
            </p:sp>
            <p:sp>
              <p:nvSpPr>
                <p:cNvPr id="62478" name="Line 17">
                  <a:extLst>
                    <a:ext uri="{FF2B5EF4-FFF2-40B4-BE49-F238E27FC236}">
                      <a16:creationId xmlns:a16="http://schemas.microsoft.com/office/drawing/2014/main" id="{E2F96DB0-56BA-44F7-84B3-BCE2BDF6C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0" y="780"/>
                  <a:ext cx="0" cy="62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9" name="Line 18">
                  <a:extLst>
                    <a:ext uri="{FF2B5EF4-FFF2-40B4-BE49-F238E27FC236}">
                      <a16:creationId xmlns:a16="http://schemas.microsoft.com/office/drawing/2014/main" id="{1572E881-4452-40B1-9137-FDDF2428CA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0" y="780"/>
                  <a:ext cx="0" cy="62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2480" name="组合 31760">
                  <a:extLst>
                    <a:ext uri="{FF2B5EF4-FFF2-40B4-BE49-F238E27FC236}">
                      <a16:creationId xmlns:a16="http://schemas.microsoft.com/office/drawing/2014/main" id="{53EE862F-2CD2-483A-AF82-10DF69863C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0" y="1872"/>
                  <a:ext cx="2160" cy="780"/>
                  <a:chOff x="0" y="0"/>
                  <a:chExt cx="2160" cy="780"/>
                </a:xfrm>
              </p:grpSpPr>
              <p:sp>
                <p:nvSpPr>
                  <p:cNvPr id="62481" name="Line 20">
                    <a:extLst>
                      <a:ext uri="{FF2B5EF4-FFF2-40B4-BE49-F238E27FC236}">
                        <a16:creationId xmlns:a16="http://schemas.microsoft.com/office/drawing/2014/main" id="{3906FFA7-2E57-4EDB-B433-E7B8ADD2EF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0" cy="31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482" name="Line 21">
                    <a:extLst>
                      <a:ext uri="{FF2B5EF4-FFF2-40B4-BE49-F238E27FC236}">
                        <a16:creationId xmlns:a16="http://schemas.microsoft.com/office/drawing/2014/main" id="{6DE9913E-E97A-46E3-8366-8260D12AE4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60" y="0"/>
                    <a:ext cx="0" cy="31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62483" name="组合 31763">
                    <a:extLst>
                      <a:ext uri="{FF2B5EF4-FFF2-40B4-BE49-F238E27FC236}">
                        <a16:creationId xmlns:a16="http://schemas.microsoft.com/office/drawing/2014/main" id="{909620BF-393C-4240-88B9-3B325B42A21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312"/>
                    <a:ext cx="2160" cy="468"/>
                    <a:chOff x="0" y="0"/>
                    <a:chExt cx="2160" cy="468"/>
                  </a:xfrm>
                </p:grpSpPr>
                <p:sp>
                  <p:nvSpPr>
                    <p:cNvPr id="62484" name="Line 23">
                      <a:extLst>
                        <a:ext uri="{FF2B5EF4-FFF2-40B4-BE49-F238E27FC236}">
                          <a16:creationId xmlns:a16="http://schemas.microsoft.com/office/drawing/2014/main" id="{A8825C76-C869-4C46-A97D-1EECF7D5211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1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2485" name="Line 24">
                      <a:extLst>
                        <a:ext uri="{FF2B5EF4-FFF2-40B4-BE49-F238E27FC236}">
                          <a16:creationId xmlns:a16="http://schemas.microsoft.com/office/drawing/2014/main" id="{C825DD9E-62DA-48F0-B424-6EBD7AFC50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80" y="0"/>
                      <a:ext cx="1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2486" name="Line 25">
                      <a:extLst>
                        <a:ext uri="{FF2B5EF4-FFF2-40B4-BE49-F238E27FC236}">
                          <a16:creationId xmlns:a16="http://schemas.microsoft.com/office/drawing/2014/main" id="{5C9ECFCD-521A-4AA5-991D-A0BAD690A9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0" y="0"/>
                      <a:ext cx="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62487" name="Text Box 26">
                  <a:extLst>
                    <a:ext uri="{FF2B5EF4-FFF2-40B4-BE49-F238E27FC236}">
                      <a16:creationId xmlns:a16="http://schemas.microsoft.com/office/drawing/2014/main" id="{83C2E61A-ADA2-4AF3-A9C2-37A56D7719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1404"/>
                  <a:ext cx="108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      语句</a:t>
                  </a:r>
                  <a:r>
                    <a:rPr lang="en-US" altLang="zh-CN" sz="2000"/>
                    <a:t>1</a:t>
                  </a:r>
                </a:p>
              </p:txBody>
            </p:sp>
            <p:sp>
              <p:nvSpPr>
                <p:cNvPr id="62488" name="Text Box 27">
                  <a:extLst>
                    <a:ext uri="{FF2B5EF4-FFF2-40B4-BE49-F238E27FC236}">
                      <a16:creationId xmlns:a16="http://schemas.microsoft.com/office/drawing/2014/main" id="{6E5B4934-C3B5-49F9-BB47-AB5234452E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0" y="1404"/>
                  <a:ext cx="108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   语句2</a:t>
                  </a:r>
                </a:p>
              </p:txBody>
            </p:sp>
            <p:sp>
              <p:nvSpPr>
                <p:cNvPr id="62489" name="Text Box 28">
                  <a:extLst>
                    <a:ext uri="{FF2B5EF4-FFF2-40B4-BE49-F238E27FC236}">
                      <a16:creationId xmlns:a16="http://schemas.microsoft.com/office/drawing/2014/main" id="{77530797-8AD7-42F8-A2A4-14774422EC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312"/>
                  <a:ext cx="126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真（非0）</a:t>
                  </a:r>
                </a:p>
              </p:txBody>
            </p:sp>
            <p:sp>
              <p:nvSpPr>
                <p:cNvPr id="62490" name="Text Box 29">
                  <a:extLst>
                    <a:ext uri="{FF2B5EF4-FFF2-40B4-BE49-F238E27FC236}">
                      <a16:creationId xmlns:a16="http://schemas.microsoft.com/office/drawing/2014/main" id="{C2201948-B612-4658-B9FF-D247BA85BD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0" y="312"/>
                  <a:ext cx="126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假（为0）</a:t>
                  </a:r>
                </a:p>
              </p:txBody>
            </p:sp>
          </p:grpSp>
          <p:sp>
            <p:nvSpPr>
              <p:cNvPr id="62491" name="Line 30">
                <a:extLst>
                  <a:ext uri="{FF2B5EF4-FFF2-40B4-BE49-F238E27FC236}">
                    <a16:creationId xmlns:a16="http://schemas.microsoft.com/office/drawing/2014/main" id="{A2C1547C-DDE7-4888-A5E7-5FCD71243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56"/>
                <a:ext cx="0" cy="21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2" name="Line 31">
                <a:extLst>
                  <a:ext uri="{FF2B5EF4-FFF2-40B4-BE49-F238E27FC236}">
                    <a16:creationId xmlns:a16="http://schemas.microsoft.com/office/drawing/2014/main" id="{22A442CA-FCDE-4790-ADB8-EE52F6D0E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56"/>
                <a:ext cx="0" cy="21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3" name="Line 32">
                <a:extLst>
                  <a:ext uri="{FF2B5EF4-FFF2-40B4-BE49-F238E27FC236}">
                    <a16:creationId xmlns:a16="http://schemas.microsoft.com/office/drawing/2014/main" id="{B6BAC330-F6D0-4265-ACD1-16090648F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340"/>
                <a:ext cx="3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4" name="Line 33">
                <a:extLst>
                  <a:ext uri="{FF2B5EF4-FFF2-40B4-BE49-F238E27FC236}">
                    <a16:creationId xmlns:a16="http://schemas.microsoft.com/office/drawing/2014/main" id="{253CC508-CF43-4F38-B4D4-E4904D30B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56"/>
                <a:ext cx="3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2495" name="Rectangle 36">
            <a:extLst>
              <a:ext uri="{FF2B5EF4-FFF2-40B4-BE49-F238E27FC236}">
                <a16:creationId xmlns:a16="http://schemas.microsoft.com/office/drawing/2014/main" id="{E44AFB20-93F3-46A8-9D51-6910AB17E7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04813"/>
            <a:ext cx="7772400" cy="720725"/>
          </a:xfrm>
        </p:spPr>
        <p:txBody>
          <a:bodyPr/>
          <a:lstStyle/>
          <a:p>
            <a:pPr eaLnBrk="1" hangingPunct="1"/>
            <a:r>
              <a:rPr lang="zh-CN" altLang="en-US" b="1"/>
              <a:t>是非选择结构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文本占位符 38913">
            <a:extLst>
              <a:ext uri="{FF2B5EF4-FFF2-40B4-BE49-F238E27FC236}">
                <a16:creationId xmlns:a16="http://schemas.microsoft.com/office/drawing/2014/main" id="{AD969F9B-A973-4DB7-BB25-FE593305B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2420938"/>
            <a:ext cx="7772400" cy="3657600"/>
          </a:xfrm>
        </p:spPr>
        <p:txBody>
          <a:bodyPr/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1．</a:t>
            </a:r>
            <a:r>
              <a:rPr lang="en-US" altLang="zh-CN" sz="2400" b="1" dirty="0"/>
              <a:t>switch</a:t>
            </a:r>
            <a:r>
              <a:rPr lang="zh-CN" altLang="en-US" sz="2400" b="1" dirty="0"/>
              <a:t>语句的一般形式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switch (</a:t>
            </a:r>
            <a:r>
              <a:rPr lang="zh-CN" altLang="en-US" sz="2400" b="1" dirty="0"/>
              <a:t>表达式) </a:t>
            </a:r>
            <a:r>
              <a:rPr lang="en-US" altLang="zh-CN" sz="2400" b="1" dirty="0"/>
              <a:t>{//</a:t>
            </a:r>
            <a:r>
              <a:rPr lang="zh-CN" altLang="en-US" sz="2400" dirty="0">
                <a:sym typeface="宋体" panose="02010600030101010101" pitchFamily="2" charset="-122"/>
              </a:rPr>
              <a:t>计算表达式的值</a:t>
            </a:r>
            <a:endParaRPr lang="en-US" altLang="zh-CN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case   </a:t>
            </a:r>
            <a:r>
              <a:rPr lang="zh-CN" altLang="en-US" sz="2400" b="1" dirty="0"/>
              <a:t>常量表达式1：语句组；</a:t>
            </a:r>
            <a:r>
              <a:rPr lang="en-US" altLang="zh-CN" sz="2400" b="1" dirty="0"/>
              <a:t>break；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		//</a:t>
            </a:r>
            <a:r>
              <a:rPr lang="zh-CN" altLang="en-US" sz="2400" dirty="0">
                <a:sym typeface="宋体" panose="02010600030101010101" pitchFamily="2" charset="-122"/>
              </a:rPr>
              <a:t>等于常量式</a:t>
            </a:r>
            <a:r>
              <a:rPr lang="en-US" altLang="zh-CN" sz="2400" dirty="0"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ym typeface="宋体" panose="02010600030101010101" pitchFamily="2" charset="-122"/>
              </a:rPr>
              <a:t>时的处理语句组，无需加</a:t>
            </a:r>
            <a:r>
              <a:rPr lang="en-US" altLang="zh-CN" sz="2400" dirty="0">
                <a:sym typeface="宋体" panose="02010600030101010101" pitchFamily="2" charset="-122"/>
              </a:rPr>
              <a:t>{}</a:t>
            </a:r>
            <a:endParaRPr lang="en-US" altLang="zh-CN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case   </a:t>
            </a:r>
            <a:r>
              <a:rPr lang="zh-CN" altLang="en-US" sz="2400" b="1" dirty="0"/>
              <a:t>常量表达式2：语句组；</a:t>
            </a:r>
            <a:r>
              <a:rPr lang="en-US" altLang="zh-CN" sz="2400" b="1" dirty="0"/>
              <a:t>break;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    ......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case   </a:t>
            </a:r>
            <a:r>
              <a:rPr lang="zh-CN" altLang="en-US" sz="2400" b="1" dirty="0"/>
              <a:t>常量表达式ｎ：语句组；</a:t>
            </a:r>
            <a:r>
              <a:rPr lang="en-US" altLang="zh-CN" sz="2400" b="1" dirty="0"/>
              <a:t>break；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[</a:t>
            </a:r>
            <a:r>
              <a:rPr lang="en-US" altLang="zh-CN" sz="2400" b="1" dirty="0" err="1"/>
              <a:t>deault</a:t>
            </a:r>
            <a:r>
              <a:rPr lang="en-US" altLang="zh-CN" sz="2400" b="1" dirty="0"/>
              <a:t>：</a:t>
            </a:r>
            <a:r>
              <a:rPr lang="zh-CN" altLang="en-US" sz="2400" b="1" dirty="0"/>
              <a:t>语句组；[</a:t>
            </a:r>
            <a:r>
              <a:rPr lang="en-US" altLang="zh-CN" sz="2400" b="1" dirty="0"/>
              <a:t>break; ]] //</a:t>
            </a:r>
            <a:r>
              <a:rPr lang="zh-CN" altLang="en-US" sz="2400" b="1" dirty="0"/>
              <a:t>表达式</a:t>
            </a:r>
            <a:r>
              <a:rPr lang="zh-CN" altLang="en-US" sz="2400" b="1" dirty="0">
                <a:sym typeface="Symbol" panose="05050102010706020507" pitchFamily="18" charset="2"/>
              </a:rPr>
              <a:t>常量</a:t>
            </a:r>
            <a:r>
              <a:rPr lang="en-US" altLang="zh-CN" sz="2400" b="1" dirty="0" err="1">
                <a:sym typeface="Symbol" panose="05050102010706020507" pitchFamily="18" charset="2"/>
              </a:rPr>
              <a:t>1..n</a:t>
            </a:r>
            <a:r>
              <a:rPr lang="zh-CN" altLang="en-US" sz="2400" b="1" dirty="0">
                <a:sym typeface="Symbol" panose="05050102010706020507" pitchFamily="18" charset="2"/>
              </a:rPr>
              <a:t>时处理</a:t>
            </a:r>
            <a:endParaRPr lang="en-US" altLang="zh-CN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  <p:grpSp>
        <p:nvGrpSpPr>
          <p:cNvPr id="67586" name="组合 38914">
            <a:extLst>
              <a:ext uri="{FF2B5EF4-FFF2-40B4-BE49-F238E27FC236}">
                <a16:creationId xmlns:a16="http://schemas.microsoft.com/office/drawing/2014/main" id="{2A919582-8D84-4C53-AE5C-D28B90C893BF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196975"/>
            <a:ext cx="7696200" cy="979488"/>
            <a:chOff x="0" y="0"/>
            <a:chExt cx="4848" cy="617"/>
          </a:xfrm>
        </p:grpSpPr>
        <p:sp>
          <p:nvSpPr>
            <p:cNvPr id="67587" name="圆角矩形 38915">
              <a:extLst>
                <a:ext uri="{FF2B5EF4-FFF2-40B4-BE49-F238E27FC236}">
                  <a16:creationId xmlns:a16="http://schemas.microsoft.com/office/drawing/2014/main" id="{FCBB0C5F-6E63-4A0D-8AF1-53DB88979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48" cy="612"/>
            </a:xfrm>
            <a:prstGeom prst="roundRect">
              <a:avLst>
                <a:gd name="adj" fmla="val 12963"/>
              </a:avLst>
            </a:prstGeom>
            <a:gradFill rotWithShape="0">
              <a:gsLst>
                <a:gs pos="0">
                  <a:srgbClr val="ECFFEC"/>
                </a:gs>
                <a:gs pos="50000">
                  <a:srgbClr val="D5FFD5"/>
                </a:gs>
                <a:gs pos="100000">
                  <a:srgbClr val="ECFFEC"/>
                </a:gs>
              </a:gsLst>
              <a:lin ang="18900000" scaled="1"/>
            </a:gradFill>
            <a:ln w="9525">
              <a:solidFill>
                <a:srgbClr val="99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zh-CN" altLang="en-US" b="0"/>
            </a:p>
          </p:txBody>
        </p:sp>
        <p:sp>
          <p:nvSpPr>
            <p:cNvPr id="67588" name="文本框 38916">
              <a:extLst>
                <a:ext uri="{FF2B5EF4-FFF2-40B4-BE49-F238E27FC236}">
                  <a16:creationId xmlns:a16="http://schemas.microsoft.com/office/drawing/2014/main" id="{B2F6AD12-6AF7-4F01-9315-623B60BBA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" y="72"/>
              <a:ext cx="4668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041400" indent="-1041400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800" b="0" dirty="0"/>
                <a:t>用</a:t>
              </a:r>
              <a:r>
                <a:rPr lang="zh-CN" altLang="en-US" sz="2800" u="sng" dirty="0">
                  <a:solidFill>
                    <a:srgbClr val="FF0000"/>
                  </a:solidFill>
                </a:rPr>
                <a:t>某个表达式</a:t>
              </a:r>
              <a:r>
                <a:rPr lang="zh-CN" altLang="en-US" sz="2800" b="0" dirty="0"/>
                <a:t>单独测试每一个可能的</a:t>
              </a:r>
              <a:r>
                <a:rPr lang="zh-CN" altLang="en-US" sz="2800" b="0" u="sng" dirty="0">
                  <a:solidFill>
                    <a:srgbClr val="FF0000"/>
                  </a:solidFill>
                </a:rPr>
                <a:t>整数值</a:t>
              </a:r>
              <a:r>
                <a:rPr lang="zh-CN" altLang="en-US" sz="2800" b="0" dirty="0"/>
                <a:t>常量，然后做出相应的处理。</a:t>
              </a:r>
            </a:p>
          </p:txBody>
        </p:sp>
      </p:grpSp>
      <p:sp>
        <p:nvSpPr>
          <p:cNvPr id="67589" name="标题 38917">
            <a:extLst>
              <a:ext uri="{FF2B5EF4-FFF2-40B4-BE49-F238E27FC236}">
                <a16:creationId xmlns:a16="http://schemas.microsoft.com/office/drawing/2014/main" id="{AB0A60FF-1B13-4532-9A9C-5615EB36B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3650" y="115888"/>
            <a:ext cx="7772400" cy="720725"/>
          </a:xfrm>
        </p:spPr>
        <p:txBody>
          <a:bodyPr/>
          <a:lstStyle/>
          <a:p>
            <a:r>
              <a:rPr lang="en-US" altLang="zh-CN" b="1">
                <a:solidFill>
                  <a:srgbClr val="FF0000"/>
                </a:solidFill>
              </a:rPr>
              <a:t> switch</a:t>
            </a:r>
            <a:r>
              <a:rPr lang="zh-CN" altLang="en-US" b="1">
                <a:solidFill>
                  <a:srgbClr val="FF0000"/>
                </a:solidFill>
              </a:rPr>
              <a:t>多路选择结构</a:t>
            </a:r>
          </a:p>
        </p:txBody>
      </p:sp>
    </p:spTree>
    <p:extLst>
      <p:ext uri="{BB962C8B-B14F-4D97-AF65-F5344CB8AC3E}">
        <p14:creationId xmlns:p14="http://schemas.microsoft.com/office/powerpoint/2010/main" val="6237687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5">
            <a:extLst>
              <a:ext uri="{FF2B5EF4-FFF2-40B4-BE49-F238E27FC236}">
                <a16:creationId xmlns:a16="http://schemas.microsoft.com/office/drawing/2014/main" id="{6AC084A8-131A-4E92-9526-EF55F5505C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5D85FE6D-A2FB-400E-9263-1CF8E2183DC4}" type="slidenum">
              <a:rPr lang="zh-CN" altLang="en-US" sz="1400"/>
              <a:pPr algn="r">
                <a:spcBef>
                  <a:spcPct val="50000"/>
                </a:spcBef>
              </a:pPr>
              <a:t>5</a:t>
            </a:fld>
            <a:endParaRPr lang="zh-CN" altLang="en-US" sz="1400"/>
          </a:p>
        </p:txBody>
      </p:sp>
      <p:sp>
        <p:nvSpPr>
          <p:cNvPr id="74754" name="Rectangle 4">
            <a:extLst>
              <a:ext uri="{FF2B5EF4-FFF2-40B4-BE49-F238E27FC236}">
                <a16:creationId xmlns:a16="http://schemas.microsoft.com/office/drawing/2014/main" id="{07061E91-47B9-45B1-B75A-C221A3D187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1371600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zh-CN" altLang="en-US" b="1"/>
              <a:t>四、循环结构</a:t>
            </a:r>
            <a:r>
              <a:rPr lang="zh-CN" altLang="en-US" b="1">
                <a:latin typeface="宋体" panose="02010600030101010101" pitchFamily="2" charset="-122"/>
              </a:rPr>
              <a:t>语句</a:t>
            </a:r>
            <a:r>
              <a:rPr lang="zh-CN" altLang="en-US" b="1"/>
              <a:t> </a:t>
            </a:r>
          </a:p>
        </p:txBody>
      </p:sp>
      <p:sp>
        <p:nvSpPr>
          <p:cNvPr id="74755" name="Rectangle 7">
            <a:extLst>
              <a:ext uri="{FF2B5EF4-FFF2-40B4-BE49-F238E27FC236}">
                <a16:creationId xmlns:a16="http://schemas.microsoft.com/office/drawing/2014/main" id="{BDABB4C9-25FE-4F44-8E9C-1C1D720EC3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如何使完成的程序重复执行呢？</a:t>
            </a:r>
          </a:p>
        </p:txBody>
      </p:sp>
      <p:sp>
        <p:nvSpPr>
          <p:cNvPr id="74756" name="Text Box 1031">
            <a:extLst>
              <a:ext uri="{FF2B5EF4-FFF2-40B4-BE49-F238E27FC236}">
                <a16:creationId xmlns:a16="http://schemas.microsoft.com/office/drawing/2014/main" id="{3DC60357-9874-48C4-8988-5DD3E2B38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882775"/>
            <a:ext cx="7696200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zh-CN" altLang="en-US" sz="2800">
                <a:latin typeface="宋体" panose="02010600030101010101" pitchFamily="2" charset="-122"/>
              </a:rPr>
              <a:t> 有时程序中需要多次运行同一段代码（重复做相同的事情）。这种控制结构称为循环结构。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在循环结构中，需要刻画出重复执行的是哪些动作（循环体），以及什么条件下需要重复（循环条件）。</a:t>
            </a:r>
            <a:endParaRPr lang="en-US" altLang="zh-CN" sz="2800"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US" altLang="zh-CN" sz="2800">
                <a:latin typeface="宋体" panose="02010600030101010101" pitchFamily="2" charset="-122"/>
              </a:rPr>
              <a:t> C</a:t>
            </a:r>
            <a:r>
              <a:rPr lang="zh-CN" altLang="en-US" sz="2800">
                <a:latin typeface="宋体" panose="02010600030101010101" pitchFamily="2" charset="-122"/>
              </a:rPr>
              <a:t>语言提供了三类用于实现循环结构的语句：</a:t>
            </a:r>
          </a:p>
          <a:p>
            <a:pPr lvl="1"/>
            <a:r>
              <a:rPr lang="zh-CN" altLang="en-US" sz="2800"/>
              <a:t>1）</a:t>
            </a:r>
            <a:r>
              <a:rPr lang="en-US" altLang="zh-CN" sz="2800"/>
              <a:t>while </a:t>
            </a:r>
          </a:p>
          <a:p>
            <a:pPr lvl="1"/>
            <a:r>
              <a:rPr lang="en-US" altLang="zh-CN" sz="2800"/>
              <a:t>2）do-while</a:t>
            </a:r>
          </a:p>
          <a:p>
            <a:pPr lvl="1"/>
            <a:r>
              <a:rPr lang="en-US" altLang="zh-CN" sz="2800"/>
              <a:t>3）for</a:t>
            </a:r>
            <a:endParaRPr lang="zh-CN" altLang="en-US" sz="2800"/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5">
            <a:extLst>
              <a:ext uri="{FF2B5EF4-FFF2-40B4-BE49-F238E27FC236}">
                <a16:creationId xmlns:a16="http://schemas.microsoft.com/office/drawing/2014/main" id="{9E9E3103-1932-4F86-905A-13867732DE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FD07B0E1-09E1-49D4-A191-5F749CC16B2A}" type="slidenum">
              <a:rPr lang="zh-CN" altLang="en-US" sz="1400"/>
              <a:pPr algn="r">
                <a:spcBef>
                  <a:spcPct val="50000"/>
                </a:spcBef>
              </a:pPr>
              <a:t>6</a:t>
            </a:fld>
            <a:endParaRPr lang="zh-CN" altLang="en-US" sz="1400"/>
          </a:p>
        </p:txBody>
      </p:sp>
      <p:sp>
        <p:nvSpPr>
          <p:cNvPr id="75778" name="Rectangle 4">
            <a:extLst>
              <a:ext uri="{FF2B5EF4-FFF2-40B4-BE49-F238E27FC236}">
                <a16:creationId xmlns:a16="http://schemas.microsoft.com/office/drawing/2014/main" id="{97A34794-DE8C-4175-9D89-CCCABD743B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9100" y="1219200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while 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75779" name="Text Box 24">
            <a:extLst>
              <a:ext uri="{FF2B5EF4-FFF2-40B4-BE49-F238E27FC236}">
                <a16:creationId xmlns:a16="http://schemas.microsoft.com/office/drawing/2014/main" id="{72FBAB8C-79D7-4C84-9BA5-4414C4CCD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050" y="5494338"/>
            <a:ext cx="26114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</a:pPr>
            <a:r>
              <a:rPr lang="zh-CN" altLang="en-US" sz="2000"/>
              <a:t>图3．6  </a:t>
            </a:r>
            <a:r>
              <a:rPr lang="en-US" altLang="zh-CN" sz="2000"/>
              <a:t>while</a:t>
            </a:r>
            <a:r>
              <a:rPr lang="zh-CN" altLang="en-US" sz="2000"/>
              <a:t>语句</a:t>
            </a:r>
          </a:p>
        </p:txBody>
      </p:sp>
      <p:sp>
        <p:nvSpPr>
          <p:cNvPr id="75780" name="Text Box 25">
            <a:extLst>
              <a:ext uri="{FF2B5EF4-FFF2-40B4-BE49-F238E27FC236}">
                <a16:creationId xmlns:a16="http://schemas.microsoft.com/office/drawing/2014/main" id="{A619AF20-76ED-41E8-B64A-2D1796AD2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5" y="2273300"/>
            <a:ext cx="2411413" cy="2505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spcBef>
                <a:spcPct val="0"/>
              </a:spcBef>
            </a:pPr>
            <a:r>
              <a:rPr lang="en-US" altLang="zh-CN" sz="2400"/>
              <a:t>while (</a:t>
            </a:r>
            <a:r>
              <a:rPr lang="zh-CN" altLang="en-US" sz="2400"/>
              <a:t>表达式)</a:t>
            </a:r>
          </a:p>
          <a:p>
            <a:pPr algn="just" eaLnBrk="0" hangingPunct="0">
              <a:spcBef>
                <a:spcPct val="0"/>
              </a:spcBef>
            </a:pPr>
            <a:r>
              <a:rPr lang="en-US" altLang="zh-CN" sz="2400"/>
              <a:t>        </a:t>
            </a:r>
            <a:r>
              <a:rPr lang="zh-CN" altLang="en-US" sz="2400"/>
              <a:t>语句</a:t>
            </a:r>
          </a:p>
        </p:txBody>
      </p:sp>
      <p:sp>
        <p:nvSpPr>
          <p:cNvPr id="75781" name="Text Box 26">
            <a:extLst>
              <a:ext uri="{FF2B5EF4-FFF2-40B4-BE49-F238E27FC236}">
                <a16:creationId xmlns:a16="http://schemas.microsoft.com/office/drawing/2014/main" id="{110D2E9F-A7A8-4E94-93C7-6F109A176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137150"/>
            <a:ext cx="261143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2000"/>
              <a:t>a) </a:t>
            </a:r>
            <a:r>
              <a:rPr lang="zh-CN" altLang="en-US" sz="2000"/>
              <a:t>流程图</a:t>
            </a:r>
          </a:p>
        </p:txBody>
      </p:sp>
      <p:sp>
        <p:nvSpPr>
          <p:cNvPr id="75782" name="Text Box 27">
            <a:extLst>
              <a:ext uri="{FF2B5EF4-FFF2-40B4-BE49-F238E27FC236}">
                <a16:creationId xmlns:a16="http://schemas.microsoft.com/office/drawing/2014/main" id="{6DAEBB1B-EF56-4164-A3BB-D90196DD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850" y="5137150"/>
            <a:ext cx="26114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2000"/>
              <a:t>b) C</a:t>
            </a:r>
            <a:r>
              <a:rPr lang="zh-CN" altLang="en-US" sz="2000"/>
              <a:t>语句</a:t>
            </a:r>
          </a:p>
        </p:txBody>
      </p:sp>
      <p:sp>
        <p:nvSpPr>
          <p:cNvPr id="75783" name="Rectangle 29">
            <a:extLst>
              <a:ext uri="{FF2B5EF4-FFF2-40B4-BE49-F238E27FC236}">
                <a16:creationId xmlns:a16="http://schemas.microsoft.com/office/drawing/2014/main" id="{3C84230B-37C3-4942-90EC-092F7388BC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89213" y="404813"/>
            <a:ext cx="6446837" cy="720725"/>
          </a:xfrm>
        </p:spPr>
        <p:txBody>
          <a:bodyPr/>
          <a:lstStyle/>
          <a:p>
            <a:pPr eaLnBrk="1" hangingPunct="1"/>
            <a:r>
              <a:rPr lang="zh-CN" altLang="en-US" b="1"/>
              <a:t>循环结构</a:t>
            </a:r>
          </a:p>
        </p:txBody>
      </p:sp>
      <p:sp>
        <p:nvSpPr>
          <p:cNvPr id="75784" name="Text Box 30">
            <a:extLst>
              <a:ext uri="{FF2B5EF4-FFF2-40B4-BE49-F238E27FC236}">
                <a16:creationId xmlns:a16="http://schemas.microsoft.com/office/drawing/2014/main" id="{5B035D29-32F6-453D-BD84-EF480964A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504825"/>
            <a:ext cx="5184775" cy="17684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/>
              <a:t>此处的表达式可以为任意一种表达式</a:t>
            </a:r>
            <a:r>
              <a:rPr lang="en-US" altLang="zh-CN" sz="2000"/>
              <a:t>,</a:t>
            </a:r>
            <a:r>
              <a:rPr lang="zh-CN" altLang="en-US" sz="2000"/>
              <a:t>语句为任意类语句；</a:t>
            </a:r>
          </a:p>
          <a:p>
            <a:pPr>
              <a:spcBef>
                <a:spcPct val="50000"/>
              </a:spcBef>
            </a:pPr>
            <a:r>
              <a:rPr lang="zh-CN" altLang="en-US" sz="2000"/>
              <a:t>如果表达式值为真</a:t>
            </a:r>
            <a:r>
              <a:rPr lang="en-US" altLang="zh-CN" sz="2000"/>
              <a:t>(</a:t>
            </a:r>
            <a:r>
              <a:rPr lang="zh-CN" altLang="en-US" sz="2000"/>
              <a:t>非</a:t>
            </a:r>
            <a:r>
              <a:rPr lang="en-US" altLang="zh-CN" sz="2000"/>
              <a:t>0</a:t>
            </a:r>
            <a:r>
              <a:rPr lang="zh-CN" altLang="en-US" sz="2000"/>
              <a:t>），则执行语句；执行完后再测试表达式，如果仍为真（非</a:t>
            </a:r>
            <a:r>
              <a:rPr lang="en-US" altLang="zh-CN" sz="2000"/>
              <a:t>0</a:t>
            </a:r>
            <a:r>
              <a:rPr lang="zh-CN" altLang="en-US" sz="2000"/>
              <a:t>），则再次执行语句；直到表达式为假（为</a:t>
            </a:r>
            <a:r>
              <a:rPr lang="en-US" altLang="zh-CN" sz="2000"/>
              <a:t>0</a:t>
            </a:r>
            <a:r>
              <a:rPr lang="zh-CN" altLang="en-US" sz="2000"/>
              <a:t>）。</a:t>
            </a:r>
          </a:p>
        </p:txBody>
      </p:sp>
      <p:grpSp>
        <p:nvGrpSpPr>
          <p:cNvPr id="75785" name="组合 51209">
            <a:extLst>
              <a:ext uri="{FF2B5EF4-FFF2-40B4-BE49-F238E27FC236}">
                <a16:creationId xmlns:a16="http://schemas.microsoft.com/office/drawing/2014/main" id="{B270B85C-7E17-4E99-BA9A-AABC4EEA7C41}"/>
              </a:ext>
            </a:extLst>
          </p:cNvPr>
          <p:cNvGrpSpPr>
            <a:grpSpLocks/>
          </p:cNvGrpSpPr>
          <p:nvPr/>
        </p:nvGrpSpPr>
        <p:grpSpPr bwMode="auto">
          <a:xfrm>
            <a:off x="933450" y="1844675"/>
            <a:ext cx="3998913" cy="3265488"/>
            <a:chOff x="0" y="0"/>
            <a:chExt cx="2519" cy="2057"/>
          </a:xfrm>
        </p:grpSpPr>
        <p:sp>
          <p:nvSpPr>
            <p:cNvPr id="75786" name="Rectangle 12">
              <a:extLst>
                <a:ext uri="{FF2B5EF4-FFF2-40B4-BE49-F238E27FC236}">
                  <a16:creationId xmlns:a16="http://schemas.microsoft.com/office/drawing/2014/main" id="{664CA2DF-F431-4E7A-9F26-0165A0F81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70"/>
              <a:ext cx="1898" cy="15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r>
                <a:rPr lang="zh-CN" altLang="en-US" sz="2000"/>
                <a:t>              </a:t>
              </a:r>
            </a:p>
          </p:txBody>
        </p:sp>
        <p:sp>
          <p:nvSpPr>
            <p:cNvPr id="75787" name="Line 13">
              <a:extLst>
                <a:ext uri="{FF2B5EF4-FFF2-40B4-BE49-F238E27FC236}">
                  <a16:creationId xmlns:a16="http://schemas.microsoft.com/office/drawing/2014/main" id="{DBD1E6DC-0A52-4A95-B756-2B169D8C7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9" y="1497"/>
              <a:ext cx="4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8" name="Line 15">
              <a:extLst>
                <a:ext uri="{FF2B5EF4-FFF2-40B4-BE49-F238E27FC236}">
                  <a16:creationId xmlns:a16="http://schemas.microsoft.com/office/drawing/2014/main" id="{030F7851-11F9-4D75-877E-085F8C763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45"/>
              <a:ext cx="0" cy="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Rectangle 17">
              <a:extLst>
                <a:ext uri="{FF2B5EF4-FFF2-40B4-BE49-F238E27FC236}">
                  <a16:creationId xmlns:a16="http://schemas.microsoft.com/office/drawing/2014/main" id="{63FE6688-1D84-4BC9-B176-AA5D13F25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" y="1316"/>
              <a:ext cx="759" cy="3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ct val="0"/>
                </a:spcBef>
              </a:pPr>
              <a:r>
                <a:rPr lang="zh-CN" altLang="en-US" sz="2000"/>
                <a:t>语句</a:t>
              </a:r>
            </a:p>
          </p:txBody>
        </p:sp>
        <p:sp>
          <p:nvSpPr>
            <p:cNvPr id="75790" name="Line 18">
              <a:extLst>
                <a:ext uri="{FF2B5EF4-FFF2-40B4-BE49-F238E27FC236}">
                  <a16:creationId xmlns:a16="http://schemas.microsoft.com/office/drawing/2014/main" id="{FC1E711F-41F9-452D-8577-D6A1D9A26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5" y="496"/>
              <a:ext cx="7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Line 19">
              <a:extLst>
                <a:ext uri="{FF2B5EF4-FFF2-40B4-BE49-F238E27FC236}">
                  <a16:creationId xmlns:a16="http://schemas.microsoft.com/office/drawing/2014/main" id="{45818002-A08D-497F-B15D-9FF5AB569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" y="817"/>
              <a:ext cx="0" cy="1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20">
              <a:extLst>
                <a:ext uri="{FF2B5EF4-FFF2-40B4-BE49-F238E27FC236}">
                  <a16:creationId xmlns:a16="http://schemas.microsoft.com/office/drawing/2014/main" id="{546657CA-75D1-4276-A1EE-AED7A8D51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4" y="496"/>
              <a:ext cx="24" cy="10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AutoShape 21">
              <a:extLst>
                <a:ext uri="{FF2B5EF4-FFF2-40B4-BE49-F238E27FC236}">
                  <a16:creationId xmlns:a16="http://schemas.microsoft.com/office/drawing/2014/main" id="{801DF0F2-8AC9-487A-ADC7-19E3E0AEA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" y="592"/>
              <a:ext cx="1012" cy="451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/>
            <a:lstStyle/>
            <a:p>
              <a:pPr eaLnBrk="0" hangingPunct="0">
                <a:spcBef>
                  <a:spcPct val="0"/>
                </a:spcBef>
              </a:pPr>
              <a:r>
                <a:rPr lang="zh-CN" altLang="en-US"/>
                <a:t>表达式</a:t>
              </a:r>
            </a:p>
          </p:txBody>
        </p:sp>
        <p:sp>
          <p:nvSpPr>
            <p:cNvPr id="75794" name="Text Box 22">
              <a:extLst>
                <a:ext uri="{FF2B5EF4-FFF2-40B4-BE49-F238E27FC236}">
                  <a16:creationId xmlns:a16="http://schemas.microsoft.com/office/drawing/2014/main" id="{12851E1D-C064-400D-83FB-23E98443A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998"/>
              <a:ext cx="88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r>
                <a:rPr lang="zh-CN" altLang="en-US" sz="2000"/>
                <a:t>真</a:t>
              </a:r>
              <a:r>
                <a:rPr lang="en-US" altLang="zh-CN" sz="2000"/>
                <a:t>(</a:t>
              </a:r>
              <a:r>
                <a:rPr lang="zh-CN" altLang="en-US" sz="2000"/>
                <a:t>非0</a:t>
              </a:r>
              <a:r>
                <a:rPr lang="en-US" altLang="zh-CN" sz="2000"/>
                <a:t>)</a:t>
              </a:r>
              <a:endParaRPr lang="zh-CN" altLang="en-US" sz="2000"/>
            </a:p>
          </p:txBody>
        </p:sp>
        <p:sp>
          <p:nvSpPr>
            <p:cNvPr id="75795" name="Text Box 23">
              <a:extLst>
                <a:ext uri="{FF2B5EF4-FFF2-40B4-BE49-F238E27FC236}">
                  <a16:creationId xmlns:a16="http://schemas.microsoft.com/office/drawing/2014/main" id="{60C04C21-4263-4A1D-B7BD-75EFE2C78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862"/>
              <a:ext cx="886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r>
                <a:rPr lang="zh-CN" altLang="en-US" sz="2000"/>
                <a:t>假</a:t>
              </a:r>
              <a:r>
                <a:rPr lang="en-US" altLang="zh-CN" sz="2000"/>
                <a:t>(</a:t>
              </a:r>
              <a:r>
                <a:rPr lang="zh-CN" altLang="en-US" sz="2000"/>
                <a:t>0</a:t>
              </a:r>
              <a:r>
                <a:rPr lang="en-US" altLang="zh-CN" sz="2000"/>
                <a:t>)</a:t>
              </a:r>
              <a:endParaRPr lang="zh-CN" altLang="en-US" sz="2000"/>
            </a:p>
          </p:txBody>
        </p:sp>
        <p:sp>
          <p:nvSpPr>
            <p:cNvPr id="75796" name="AutoShape 32">
              <a:extLst>
                <a:ext uri="{FF2B5EF4-FFF2-40B4-BE49-F238E27FC236}">
                  <a16:creationId xmlns:a16="http://schemas.microsoft.com/office/drawing/2014/main" id="{1DDAE5CD-B12C-4C74-8D40-F7B9F1282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680"/>
              <a:ext cx="862" cy="545"/>
            </a:xfrm>
            <a:prstGeom prst="wedgeRoundRectCallout">
              <a:avLst>
                <a:gd name="adj1" fmla="val -46403"/>
                <a:gd name="adj2" fmla="val 75319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/>
                <a:t>循环体：重复执行的工作</a:t>
              </a:r>
            </a:p>
          </p:txBody>
        </p:sp>
        <p:sp>
          <p:nvSpPr>
            <p:cNvPr id="75797" name="AutoShape 33">
              <a:extLst>
                <a:ext uri="{FF2B5EF4-FFF2-40B4-BE49-F238E27FC236}">
                  <a16:creationId xmlns:a16="http://schemas.microsoft.com/office/drawing/2014/main" id="{B52AFBAF-B116-4EF7-9962-085BBF65B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" y="0"/>
              <a:ext cx="907" cy="319"/>
            </a:xfrm>
            <a:prstGeom prst="wedgeRoundRectCallout">
              <a:avLst>
                <a:gd name="adj1" fmla="val -64884"/>
                <a:gd name="adj2" fmla="val 159718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/>
                <a:t>循环条件</a:t>
              </a:r>
            </a:p>
          </p:txBody>
        </p:sp>
        <p:sp>
          <p:nvSpPr>
            <p:cNvPr id="75798" name="Line 15">
              <a:extLst>
                <a:ext uri="{FF2B5EF4-FFF2-40B4-BE49-F238E27FC236}">
                  <a16:creationId xmlns:a16="http://schemas.microsoft.com/office/drawing/2014/main" id="{2DFE1A53-997D-486C-BDA1-4A38F8BD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043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9" name="Line 13">
              <a:extLst>
                <a:ext uri="{FF2B5EF4-FFF2-40B4-BE49-F238E27FC236}">
                  <a16:creationId xmlns:a16="http://schemas.microsoft.com/office/drawing/2014/main" id="{0B938F84-F518-418F-A54B-1D619A501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" y="817"/>
              <a:ext cx="3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>
            <a:extLst>
              <a:ext uri="{FF2B5EF4-FFF2-40B4-BE49-F238E27FC236}">
                <a16:creationId xmlns:a16="http://schemas.microsoft.com/office/drawing/2014/main" id="{64D61036-7AA4-4F33-A019-E107A71BA6D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6D81E0F3-86B0-4531-B71F-736C4B14B6C7}" type="slidenum">
              <a:rPr lang="zh-CN" altLang="en-US" sz="1400"/>
              <a:pPr algn="r">
                <a:spcBef>
                  <a:spcPct val="50000"/>
                </a:spcBef>
              </a:pPr>
              <a:t>7</a:t>
            </a:fld>
            <a:endParaRPr lang="zh-CN" altLang="en-US" sz="1400"/>
          </a:p>
        </p:txBody>
      </p:sp>
      <p:sp>
        <p:nvSpPr>
          <p:cNvPr id="78850" name="Rectangle 4">
            <a:extLst>
              <a:ext uri="{FF2B5EF4-FFF2-40B4-BE49-F238E27FC236}">
                <a16:creationId xmlns:a16="http://schemas.microsoft.com/office/drawing/2014/main" id="{49316165-9A7C-4F09-92C4-C6F71F3397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9100" y="1298576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None/>
            </a:pPr>
            <a:r>
              <a:rPr lang="en-US" altLang="zh-CN" sz="2800" dirty="0"/>
              <a:t>for(</a:t>
            </a:r>
            <a:r>
              <a:rPr lang="zh-CN" altLang="en-US" sz="2800" dirty="0"/>
              <a:t>表达式1</a:t>
            </a:r>
            <a:r>
              <a:rPr lang="en-US" altLang="zh-CN" sz="2800" dirty="0"/>
              <a:t>;</a:t>
            </a:r>
            <a:r>
              <a:rPr lang="zh-CN" altLang="en-US" sz="2800" dirty="0"/>
              <a:t>表达式2</a:t>
            </a:r>
            <a:r>
              <a:rPr lang="en-US" altLang="zh-CN" sz="2800" dirty="0"/>
              <a:t>;</a:t>
            </a:r>
            <a:r>
              <a:rPr lang="zh-CN" altLang="en-US" sz="2800" dirty="0"/>
              <a:t>表达式3</a:t>
            </a:r>
            <a:r>
              <a:rPr lang="en-US" altLang="zh-CN" sz="2800" dirty="0"/>
              <a:t>)</a:t>
            </a:r>
            <a:r>
              <a:rPr lang="zh-CN" altLang="en-US" sz="2800" dirty="0"/>
              <a:t> 循环语句</a:t>
            </a:r>
            <a:r>
              <a:rPr lang="en-US" altLang="zh-CN" sz="2800" dirty="0"/>
              <a:t>;</a:t>
            </a:r>
            <a:endParaRPr lang="zh-CN" altLang="en-US" sz="2800" dirty="0"/>
          </a:p>
          <a:p>
            <a:pPr eaLnBrk="1" hangingPunct="1"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78852" name="Text Box 1032">
            <a:extLst>
              <a:ext uri="{FF2B5EF4-FFF2-40B4-BE49-F238E27FC236}">
                <a16:creationId xmlns:a16="http://schemas.microsoft.com/office/drawing/2014/main" id="{41D8FA76-941C-4689-8D8A-4B461357B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6460" y="2232029"/>
            <a:ext cx="3419475" cy="323165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与仅强调循环条件的</a:t>
            </a:r>
            <a:r>
              <a:rPr lang="en-US" altLang="zh-CN" sz="2400" dirty="0"/>
              <a:t>while(</a:t>
            </a:r>
            <a:r>
              <a:rPr lang="zh-CN" altLang="en-US" sz="2400" dirty="0"/>
              <a:t>表达式</a:t>
            </a:r>
            <a:r>
              <a:rPr lang="en-US" altLang="zh-CN" sz="2400" dirty="0"/>
              <a:t>2)</a:t>
            </a:r>
            <a:r>
              <a:rPr lang="zh-CN" altLang="en-US" sz="2400" dirty="0"/>
              <a:t>循环结构相比，凸显了循环控制的全部要素：初始值、循环条件、每次循环后控制变量如何变化。</a:t>
            </a:r>
            <a:endParaRPr lang="en-US" altLang="zh-CN" sz="2400" dirty="0"/>
          </a:p>
          <a:p>
            <a:pPr>
              <a:spcBef>
                <a:spcPct val="50000"/>
              </a:spcBef>
            </a:pPr>
            <a:r>
              <a:rPr lang="zh-CN" altLang="en-US" sz="2400" dirty="0"/>
              <a:t>因此，</a:t>
            </a:r>
            <a:r>
              <a:rPr lang="en-US" altLang="zh-CN" sz="2400" dirty="0"/>
              <a:t>for</a:t>
            </a:r>
            <a:r>
              <a:rPr lang="zh-CN" altLang="en-US" sz="2400" dirty="0"/>
              <a:t>循环结构更方便程序调试和代码升级。</a:t>
            </a:r>
            <a:endParaRPr lang="en-US" altLang="zh-CN" sz="2400" dirty="0"/>
          </a:p>
        </p:txBody>
      </p:sp>
      <p:sp>
        <p:nvSpPr>
          <p:cNvPr id="78854" name="标题 53250">
            <a:extLst>
              <a:ext uri="{FF2B5EF4-FFF2-40B4-BE49-F238E27FC236}">
                <a16:creationId xmlns:a16="http://schemas.microsoft.com/office/drawing/2014/main" id="{48BA884A-9D03-4724-93E0-BA570459BEA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362200" y="260350"/>
            <a:ext cx="66738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r" eaLnBrk="0" hangingPunct="0">
              <a:spcBef>
                <a:spcPct val="0"/>
              </a:spcBef>
            </a:pPr>
            <a:r>
              <a:rPr lang="zh-CN" altLang="en-US" sz="3200" dirty="0">
                <a:solidFill>
                  <a:srgbClr val="FF3300"/>
                </a:solidFill>
              </a:rPr>
              <a:t>最简洁的循环结构</a:t>
            </a:r>
            <a:r>
              <a:rPr lang="en-US" altLang="zh-CN" sz="3200" dirty="0">
                <a:solidFill>
                  <a:srgbClr val="FF3300"/>
                </a:solidFill>
              </a:rPr>
              <a:t>: for</a:t>
            </a:r>
            <a:r>
              <a:rPr lang="zh-CN" altLang="en-US" sz="3200" dirty="0">
                <a:solidFill>
                  <a:srgbClr val="FF3300"/>
                </a:solidFill>
              </a:rPr>
              <a:t>循环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D897D8F-00DF-433C-8E5C-3B0291952879}"/>
              </a:ext>
            </a:extLst>
          </p:cNvPr>
          <p:cNvGrpSpPr/>
          <p:nvPr/>
        </p:nvGrpSpPr>
        <p:grpSpPr>
          <a:xfrm>
            <a:off x="611560" y="2019646"/>
            <a:ext cx="4451351" cy="3857626"/>
            <a:chOff x="755576" y="1701502"/>
            <a:chExt cx="4451351" cy="3857626"/>
          </a:xfrm>
        </p:grpSpPr>
        <p:grpSp>
          <p:nvGrpSpPr>
            <p:cNvPr id="8" name="组合 51209">
              <a:extLst>
                <a:ext uri="{FF2B5EF4-FFF2-40B4-BE49-F238E27FC236}">
                  <a16:creationId xmlns:a16="http://schemas.microsoft.com/office/drawing/2014/main" id="{DAE6B23B-76BB-4F4E-97E7-43FEFAA26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5576" y="1701502"/>
              <a:ext cx="4451351" cy="3857626"/>
              <a:chOff x="0" y="-181"/>
              <a:chExt cx="2804" cy="2430"/>
            </a:xfrm>
          </p:grpSpPr>
          <p:sp>
            <p:nvSpPr>
              <p:cNvPr id="9" name="Rectangle 12">
                <a:extLst>
                  <a:ext uri="{FF2B5EF4-FFF2-40B4-BE49-F238E27FC236}">
                    <a16:creationId xmlns:a16="http://schemas.microsoft.com/office/drawing/2014/main" id="{67C94154-C411-4901-A1CB-21945DCF1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" y="-51"/>
                <a:ext cx="1898" cy="2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r>
                  <a:rPr lang="zh-CN" altLang="en-US" sz="2000"/>
                  <a:t>              </a:t>
                </a:r>
              </a:p>
            </p:txBody>
          </p:sp>
          <p:sp>
            <p:nvSpPr>
              <p:cNvPr id="10" name="Line 13">
                <a:extLst>
                  <a:ext uri="{FF2B5EF4-FFF2-40B4-BE49-F238E27FC236}">
                    <a16:creationId xmlns:a16="http://schemas.microsoft.com/office/drawing/2014/main" id="{C2768250-54EE-4B5B-A7E8-D4355561F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9" y="1950"/>
                <a:ext cx="40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5">
                <a:extLst>
                  <a:ext uri="{FF2B5EF4-FFF2-40B4-BE49-F238E27FC236}">
                    <a16:creationId xmlns:a16="http://schemas.microsoft.com/office/drawing/2014/main" id="{6A0ADFB8-D7CF-4504-9498-9EDB8499A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7" y="-181"/>
                <a:ext cx="11" cy="2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Rectangle 17">
                <a:extLst>
                  <a:ext uri="{FF2B5EF4-FFF2-40B4-BE49-F238E27FC236}">
                    <a16:creationId xmlns:a16="http://schemas.microsoft.com/office/drawing/2014/main" id="{CD616DE9-0E6C-4F91-83DD-807C80772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1316"/>
                <a:ext cx="847" cy="2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lang="zh-CN" altLang="en-US" sz="2000" dirty="0"/>
                  <a:t>循环语句</a:t>
                </a:r>
              </a:p>
            </p:txBody>
          </p:sp>
          <p:sp>
            <p:nvSpPr>
              <p:cNvPr id="13" name="Line 18">
                <a:extLst>
                  <a:ext uri="{FF2B5EF4-FFF2-40B4-BE49-F238E27FC236}">
                    <a16:creationId xmlns:a16="http://schemas.microsoft.com/office/drawing/2014/main" id="{109BFD4F-D2AD-49F4-BF47-8CCEC6ED1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3" y="496"/>
                <a:ext cx="6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9">
                <a:extLst>
                  <a:ext uri="{FF2B5EF4-FFF2-40B4-BE49-F238E27FC236}">
                    <a16:creationId xmlns:a16="http://schemas.microsoft.com/office/drawing/2014/main" id="{E59A89E4-0907-419F-84A3-E5FAE20D7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" y="817"/>
                <a:ext cx="0" cy="12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20">
                <a:extLst>
                  <a:ext uri="{FF2B5EF4-FFF2-40B4-BE49-F238E27FC236}">
                    <a16:creationId xmlns:a16="http://schemas.microsoft.com/office/drawing/2014/main" id="{D9D0656A-0CF7-4FCA-967D-3EFC15812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24" y="496"/>
                <a:ext cx="19" cy="14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AutoShape 21">
                <a:extLst>
                  <a:ext uri="{FF2B5EF4-FFF2-40B4-BE49-F238E27FC236}">
                    <a16:creationId xmlns:a16="http://schemas.microsoft.com/office/drawing/2014/main" id="{25F6B257-3FC6-446F-A7C4-D78AE2883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" y="592"/>
                <a:ext cx="1192" cy="451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/>
              <a:lstStyle/>
              <a:p>
                <a:pPr eaLnBrk="0" hangingPunct="0">
                  <a:spcBef>
                    <a:spcPct val="0"/>
                  </a:spcBef>
                </a:pPr>
                <a:r>
                  <a:rPr lang="zh-CN" altLang="en-US" dirty="0"/>
                  <a:t>表达式</a:t>
                </a:r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7" name="Text Box 22">
                <a:extLst>
                  <a:ext uri="{FF2B5EF4-FFF2-40B4-BE49-F238E27FC236}">
                    <a16:creationId xmlns:a16="http://schemas.microsoft.com/office/drawing/2014/main" id="{961FED5C-60CD-4753-B6B0-338CA59836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1" y="998"/>
                <a:ext cx="88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lang="zh-CN" altLang="en-US" sz="2000"/>
                  <a:t>真</a:t>
                </a:r>
                <a:r>
                  <a:rPr lang="en-US" altLang="zh-CN" sz="2000"/>
                  <a:t>(</a:t>
                </a:r>
                <a:r>
                  <a:rPr lang="zh-CN" altLang="en-US" sz="2000"/>
                  <a:t>非0</a:t>
                </a:r>
                <a:r>
                  <a:rPr lang="en-US" altLang="zh-CN" sz="2000"/>
                  <a:t>)</a:t>
                </a:r>
                <a:endParaRPr lang="zh-CN" altLang="en-US" sz="2000"/>
              </a:p>
            </p:txBody>
          </p:sp>
          <p:sp>
            <p:nvSpPr>
              <p:cNvPr id="18" name="Text Box 23">
                <a:extLst>
                  <a:ext uri="{FF2B5EF4-FFF2-40B4-BE49-F238E27FC236}">
                    <a16:creationId xmlns:a16="http://schemas.microsoft.com/office/drawing/2014/main" id="{AE02C9C6-71A1-43AC-BFEB-D2022A207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62"/>
                <a:ext cx="886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lang="zh-CN" altLang="en-US" sz="2000"/>
                  <a:t>假</a:t>
                </a:r>
                <a:r>
                  <a:rPr lang="en-US" altLang="zh-CN" sz="2000"/>
                  <a:t>(</a:t>
                </a:r>
                <a:r>
                  <a:rPr lang="zh-CN" altLang="en-US" sz="2000"/>
                  <a:t>0</a:t>
                </a:r>
                <a:r>
                  <a:rPr lang="en-US" altLang="zh-CN" sz="2000"/>
                  <a:t>)</a:t>
                </a:r>
                <a:endParaRPr lang="zh-CN" altLang="en-US" sz="2000"/>
              </a:p>
            </p:txBody>
          </p:sp>
          <p:sp>
            <p:nvSpPr>
              <p:cNvPr id="19" name="AutoShape 32">
                <a:extLst>
                  <a:ext uri="{FF2B5EF4-FFF2-40B4-BE49-F238E27FC236}">
                    <a16:creationId xmlns:a16="http://schemas.microsoft.com/office/drawing/2014/main" id="{3A86532C-294C-4127-82D2-6D0350008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606"/>
                <a:ext cx="907" cy="418"/>
              </a:xfrm>
              <a:prstGeom prst="wedgeRoundRectCallout">
                <a:avLst>
                  <a:gd name="adj1" fmla="val -98607"/>
                  <a:gd name="adj2" fmla="val 56603"/>
                  <a:gd name="adj3" fmla="val 16667"/>
                </a:avLst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zh-CN" altLang="en-US" dirty="0"/>
                  <a:t>循环控制变量的更新</a:t>
                </a:r>
              </a:p>
            </p:txBody>
          </p:sp>
          <p:sp>
            <p:nvSpPr>
              <p:cNvPr id="20" name="AutoShape 33">
                <a:extLst>
                  <a:ext uri="{FF2B5EF4-FFF2-40B4-BE49-F238E27FC236}">
                    <a16:creationId xmlns:a16="http://schemas.microsoft.com/office/drawing/2014/main" id="{69F9EE2D-790C-436C-9698-4BC20FE6E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8" y="314"/>
                <a:ext cx="907" cy="319"/>
              </a:xfrm>
              <a:prstGeom prst="wedgeRoundRectCallout">
                <a:avLst>
                  <a:gd name="adj1" fmla="val -80099"/>
                  <a:gd name="adj2" fmla="val 93887"/>
                  <a:gd name="adj3" fmla="val 16667"/>
                </a:avLst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zh-CN" altLang="en-US" dirty="0"/>
                  <a:t>循环条件</a:t>
                </a: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EF732D58-8E23-4B38-814B-9B61FFBB3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7" y="1043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8473ECB8-A712-4C50-B050-378072EC8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" y="817"/>
                <a:ext cx="3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E674172B-D2EE-40DA-92EF-B3CFA51BE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01" y="4915099"/>
              <a:ext cx="1344613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ct val="0"/>
                </a:spcBef>
              </a:pPr>
              <a:r>
                <a:rPr lang="zh-CN" altLang="en-US" sz="2000" dirty="0"/>
                <a:t>表达式</a:t>
              </a:r>
              <a:r>
                <a:rPr lang="en-US" altLang="zh-CN" sz="2000" dirty="0"/>
                <a:t>3</a:t>
              </a:r>
              <a:endParaRPr lang="zh-CN" altLang="en-US" sz="2000" dirty="0"/>
            </a:p>
          </p:txBody>
        </p:sp>
        <p:sp>
          <p:nvSpPr>
            <p:cNvPr id="24" name="Line 15">
              <a:extLst>
                <a:ext uri="{FF2B5EF4-FFF2-40B4-BE49-F238E27FC236}">
                  <a16:creationId xmlns:a16="http://schemas.microsoft.com/office/drawing/2014/main" id="{529F6166-658F-4BEC-A3F0-B4C3B36F9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2" y="4507780"/>
              <a:ext cx="0" cy="4333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F17780B0-C873-44DF-B0D9-FB177B90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1395" y="2159496"/>
              <a:ext cx="1344613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ct val="0"/>
                </a:spcBef>
              </a:pPr>
              <a:r>
                <a:rPr lang="zh-CN" altLang="en-US" sz="2000" dirty="0"/>
                <a:t>表达式</a:t>
              </a:r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9A81DE39-E28F-4235-B2AB-DEE6ED3B3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037" y="2598439"/>
              <a:ext cx="7714" cy="330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AutoShape 33">
              <a:extLst>
                <a:ext uri="{FF2B5EF4-FFF2-40B4-BE49-F238E27FC236}">
                  <a16:creationId xmlns:a16="http://schemas.microsoft.com/office/drawing/2014/main" id="{5F982E61-134A-4C65-9156-3289EE01E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745" y="1770558"/>
              <a:ext cx="1701727" cy="607642"/>
            </a:xfrm>
            <a:prstGeom prst="wedgeRoundRectCallout">
              <a:avLst>
                <a:gd name="adj1" fmla="val -76791"/>
                <a:gd name="adj2" fmla="val 69436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dirty="0"/>
                <a:t>循环控制变量的初值设定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036741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8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0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8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430213" y="1480185"/>
            <a:ext cx="7921625" cy="43454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当我们想要完善一个程序的功能，需要按编程活动步骤再来一遍。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定义程序目标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问题：完善计算器程序，输入算式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a+b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或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a-b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或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a*b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或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a/b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，程序应输出算式结果。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说明：明确程序需要哪些信息，进行什么计算，报告什么结果。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问题：如何表示</a:t>
            </a:r>
            <a:r>
              <a:rPr lang="zh-CN" altLang="en-US" sz="2400" b="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运算符</a:t>
            </a:r>
            <a:r>
              <a:rPr lang="en-US" altLang="zh-CN" sz="2400" b="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+-*/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？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字符类型，只处理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+-*/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四个字符。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完善程序功能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四则运算计算器的算法设计：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Begn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定义两个实数变量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a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和结果变量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定义字符变量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oper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从键盘接受输入的合法算式，存入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a,oper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判断运算符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oper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的四种情况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+-*/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，然后分别计算对应算式并将结果存入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02249611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10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4284414" y="1290315"/>
            <a:ext cx="4751636" cy="3785652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/*</a:t>
            </a:r>
            <a:r>
              <a:rPr lang="zh-CN" altLang="en-US" sz="2400" dirty="0">
                <a:solidFill>
                  <a:srgbClr val="002060"/>
                </a:solidFill>
              </a:rPr>
              <a:t>在上一版本</a:t>
            </a:r>
            <a:r>
              <a:rPr lang="en-US" altLang="zh-CN" sz="2400" dirty="0" err="1">
                <a:solidFill>
                  <a:srgbClr val="002060"/>
                </a:solidFill>
                <a:latin typeface="Times New Roman" panose="02020603050405020304" pitchFamily="2" charset="0"/>
              </a:rPr>
              <a:t>程序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基础上修改代码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*/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    float 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a,b,result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solidFill>
                  <a:srgbClr val="3366FF"/>
                </a:solidFill>
                <a:latin typeface="Consolas" panose="020B0609020204030204" pitchFamily="49" charset="0"/>
              </a:rPr>
              <a:t>char </a:t>
            </a:r>
            <a:r>
              <a:rPr lang="en-US" altLang="zh-CN" sz="2400" dirty="0" err="1">
                <a:solidFill>
                  <a:srgbClr val="3366FF"/>
                </a:solidFill>
                <a:latin typeface="Consolas" panose="020B0609020204030204" pitchFamily="49" charset="0"/>
              </a:rPr>
              <a:t>oper</a:t>
            </a:r>
            <a:r>
              <a:rPr lang="en-US" altLang="zh-CN" sz="2400" dirty="0">
                <a:solidFill>
                  <a:srgbClr val="3366FF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20000"/>
              </a:spcBef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("Please input expression as </a:t>
            </a:r>
            <a:r>
              <a:rPr lang="en-US" altLang="zh-CN" sz="2400" dirty="0" err="1">
                <a:solidFill>
                  <a:srgbClr val="3366FF"/>
                </a:solidFill>
                <a:latin typeface="Consolas" panose="020B0609020204030204" pitchFamily="49" charset="0"/>
              </a:rPr>
              <a:t>a+b</a:t>
            </a:r>
            <a:r>
              <a:rPr lang="en-US" altLang="zh-CN" sz="2400" dirty="0">
                <a:solidFill>
                  <a:srgbClr val="3366FF"/>
                </a:solidFill>
                <a:latin typeface="Consolas" panose="020B0609020204030204" pitchFamily="49" charset="0"/>
              </a:rPr>
              <a:t> or a-b or a*b or a/b</a:t>
            </a:r>
            <a:r>
              <a:rPr lang="en-US" altLang="zh-CN" sz="2400" dirty="0">
                <a:latin typeface="Consolas" panose="020B0609020204030204" pitchFamily="49" charset="0"/>
              </a:rPr>
              <a:t> :\n");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dirty="0" err="1">
                <a:solidFill>
                  <a:srgbClr val="3366FF"/>
                </a:solidFill>
                <a:latin typeface="Consolas" panose="020B0609020204030204" pitchFamily="49" charset="0"/>
              </a:rPr>
              <a:t>%c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%f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",&amp;a,</a:t>
            </a:r>
            <a:r>
              <a:rPr lang="en-US" altLang="zh-CN" sz="2400" dirty="0">
                <a:solidFill>
                  <a:srgbClr val="3366FF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2400" dirty="0" err="1">
                <a:solidFill>
                  <a:srgbClr val="3366FF"/>
                </a:solidFill>
                <a:latin typeface="Consolas" panose="020B0609020204030204" pitchFamily="49" charset="0"/>
              </a:rPr>
              <a:t>oper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,&amp;b);</a:t>
            </a: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3-</a:t>
            </a:r>
            <a:r>
              <a:rPr lang="zh-CN" altLang="en-US" b="1" dirty="0"/>
              <a:t>编写代码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DE60A8-F5EB-4F62-AF19-4C930916D654}"/>
              </a:ext>
            </a:extLst>
          </p:cNvPr>
          <p:cNvSpPr txBox="1"/>
          <p:nvPr/>
        </p:nvSpPr>
        <p:spPr>
          <a:xfrm>
            <a:off x="323528" y="1267048"/>
            <a:ext cx="3751645" cy="4093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四则运算计算器的算法设计：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Begn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   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定义两个实数变量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a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和结果变量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   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定义字符变量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oper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   从键盘接受输入的合法算式，存入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a,oper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   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判断运算符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oper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的四种情况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+-*/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，然后分别计算对应算式并将结果存入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   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38138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0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474028" y="1122140"/>
            <a:ext cx="8365172" cy="58785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</a:rPr>
              <a:t>//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2" charset="0"/>
              </a:rPr>
              <a:t>判断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2" charset="0"/>
              </a:rPr>
              <a:t>+-*/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2" charset="0"/>
              </a:rPr>
              <a:t>四种运算符，然后分别计算。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if ('+' == 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oper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){ 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2060"/>
                </a:solidFill>
                <a:latin typeface="+mn-lt"/>
              </a:rPr>
              <a:t>	result = </a:t>
            </a:r>
            <a:r>
              <a:rPr lang="en-US" altLang="zh-CN" sz="2000" dirty="0" err="1">
                <a:solidFill>
                  <a:srgbClr val="002060"/>
                </a:solidFill>
                <a:latin typeface="+mn-lt"/>
              </a:rPr>
              <a:t>a+b</a:t>
            </a:r>
            <a:r>
              <a:rPr lang="en-US" altLang="zh-CN" sz="2000" dirty="0">
                <a:solidFill>
                  <a:srgbClr val="002060"/>
                </a:solidFill>
                <a:latin typeface="+mn-lt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+mn-lt"/>
              </a:rPr>
              <a:t>	</a:t>
            </a:r>
            <a:r>
              <a:rPr lang="en-US" altLang="zh-CN" sz="2000" dirty="0" err="1">
                <a:latin typeface="+mn-lt"/>
              </a:rPr>
              <a:t>printf</a:t>
            </a:r>
            <a:r>
              <a:rPr lang="en-US" altLang="zh-CN" sz="2000" dirty="0">
                <a:latin typeface="+mn-lt"/>
              </a:rPr>
              <a:t>("=%f\</a:t>
            </a:r>
            <a:r>
              <a:rPr lang="en-US" altLang="zh-CN" sz="2000" dirty="0" err="1">
                <a:latin typeface="+mn-lt"/>
              </a:rPr>
              <a:t>n",result</a:t>
            </a:r>
            <a:r>
              <a:rPr lang="en-US" altLang="zh-CN" sz="2000" dirty="0"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}else if('-' == 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oper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){ 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	result = a-b;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	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("=%f\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n",result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}else if('*' == 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oper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){ 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	result = a*b;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	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("=%f\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n",result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}else if('/' == 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oper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){ 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	result = a/b;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	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("=%f\</a:t>
            </a:r>
            <a:r>
              <a:rPr lang="en-US" altLang="zh-CN" sz="2000" dirty="0" err="1">
                <a:solidFill>
                  <a:srgbClr val="0070C0"/>
                </a:solidFill>
                <a:latin typeface="+mn-lt"/>
              </a:rPr>
              <a:t>n",result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}else {</a:t>
            </a:r>
            <a:r>
              <a:rPr lang="en-US" altLang="zh-CN" sz="2000" dirty="0" err="1">
                <a:solidFill>
                  <a:schemeClr val="tx1"/>
                </a:solidFill>
                <a:latin typeface="+mn-lt"/>
              </a:rPr>
              <a:t>printf</a:t>
            </a:r>
            <a:r>
              <a:rPr lang="en-US" altLang="zh-CN" sz="2000" dirty="0">
                <a:solidFill>
                  <a:schemeClr val="tx1"/>
                </a:solidFill>
                <a:latin typeface="+mn-lt"/>
              </a:rPr>
              <a:t>("%c is Not </a:t>
            </a:r>
            <a:r>
              <a:rPr lang="en-US" altLang="zh-CN" sz="2000" dirty="0" err="1">
                <a:solidFill>
                  <a:schemeClr val="tx1"/>
                </a:solidFill>
                <a:latin typeface="+mn-lt"/>
              </a:rPr>
              <a:t>leagal</a:t>
            </a:r>
            <a:r>
              <a:rPr lang="en-US" altLang="zh-CN" sz="2000" dirty="0">
                <a:solidFill>
                  <a:schemeClr val="tx1"/>
                </a:solidFill>
                <a:latin typeface="+mn-lt"/>
              </a:rPr>
              <a:t> operator.\n",</a:t>
            </a:r>
            <a:r>
              <a:rPr lang="en-US" altLang="zh-CN" sz="2000" dirty="0" err="1">
                <a:solidFill>
                  <a:schemeClr val="tx1"/>
                </a:solidFill>
                <a:latin typeface="+mn-lt"/>
              </a:rPr>
              <a:t>oper</a:t>
            </a:r>
            <a:r>
              <a:rPr lang="en-US" altLang="zh-CN" sz="2000" dirty="0">
                <a:solidFill>
                  <a:schemeClr val="tx1"/>
                </a:solidFill>
                <a:latin typeface="+mn-lt"/>
              </a:rPr>
              <a:t>);</a:t>
            </a:r>
            <a:r>
              <a:rPr lang="en-US" altLang="zh-CN" sz="2000" dirty="0">
                <a:solidFill>
                  <a:srgbClr val="0070C0"/>
                </a:solidFill>
                <a:latin typeface="+mn-lt"/>
              </a:rPr>
              <a:t>} </a:t>
            </a:r>
            <a:r>
              <a:rPr lang="en-US" altLang="zh-CN" sz="2000" dirty="0">
                <a:solidFill>
                  <a:schemeClr val="tx1"/>
                </a:solidFill>
                <a:latin typeface="+mn-lt"/>
              </a:rPr>
              <a:t>return 0;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3300"/>
                </a:solidFill>
                <a:latin typeface="+mn-lt"/>
              </a:rPr>
              <a:t>} </a:t>
            </a:r>
            <a:endParaRPr lang="en-US" altLang="zh-CN" sz="200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完善四种判断表达式</a:t>
            </a:r>
          </a:p>
        </p:txBody>
      </p:sp>
    </p:spTree>
    <p:extLst>
      <p:ext uri="{BB962C8B-B14F-4D97-AF65-F5344CB8AC3E}">
        <p14:creationId xmlns:p14="http://schemas.microsoft.com/office/powerpoint/2010/main" val="384264721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用测试数据运行程序，查看结果是否有错。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2.3,4.9;  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分别作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+-*/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0,3;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分别作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+-*/;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特别加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3/0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测试。</a:t>
            </a:r>
            <a:endParaRPr lang="en-US" altLang="zh-CN" sz="2800" b="0" dirty="0">
              <a:solidFill>
                <a:srgbClr val="3366FF"/>
              </a:solidFill>
              <a:latin typeface="仿宋" panose="02010609060101010101" pitchFamily="49" charset="-122"/>
              <a:ea typeface="仿宋" panose="02010609060101010101" pitchFamily="49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-3,3;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分别作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+-*/;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1234.78,9876.54;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分别作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+-*/;</a:t>
            </a: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如果有错误，分析错误原因，测试确认错误原因；然后修正代码后重新编译。</a:t>
            </a:r>
            <a:endParaRPr lang="en-US" altLang="zh-CN" sz="2800" b="0" dirty="0">
              <a:solidFill>
                <a:srgbClr val="3366FF"/>
              </a:solidFill>
              <a:latin typeface="仿宋" panose="02010609060101010101" pitchFamily="49" charset="-122"/>
              <a:ea typeface="仿宋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5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5015824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7BD4C-8758-4FAA-B22C-3F3B273D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如何改善多个</a:t>
            </a:r>
            <a:r>
              <a:rPr lang="en-US" altLang="zh-CN" dirty="0"/>
              <a:t>if-else</a:t>
            </a:r>
            <a:r>
              <a:rPr lang="zh-CN" altLang="en-US" dirty="0"/>
              <a:t>嵌套结构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ED895-91B2-476A-86E7-B29A40977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b="1" dirty="0"/>
              <a:t>if</a:t>
            </a:r>
            <a:r>
              <a:rPr lang="zh-CN" altLang="en-US" sz="2800" b="1" dirty="0"/>
              <a:t>语句只有单分支</a:t>
            </a:r>
            <a:r>
              <a:rPr lang="en-US" altLang="zh-CN" sz="2800" b="1" dirty="0"/>
              <a:t>if</a:t>
            </a:r>
            <a:r>
              <a:rPr lang="en-US" altLang="zh-CN" b="1" dirty="0"/>
              <a:t>()</a:t>
            </a:r>
            <a:r>
              <a:rPr lang="zh-CN" altLang="en-US" sz="2800" b="1" dirty="0"/>
              <a:t>和双分支</a:t>
            </a:r>
            <a:r>
              <a:rPr lang="en-US" altLang="zh-CN" sz="2800" b="1" dirty="0"/>
              <a:t>if-else</a:t>
            </a:r>
            <a:r>
              <a:rPr lang="zh-CN" altLang="en-US" sz="2800" b="1" dirty="0"/>
              <a:t>结构。</a:t>
            </a:r>
          </a:p>
          <a:p>
            <a:r>
              <a:rPr lang="zh-CN" altLang="en-US" b="1" dirty="0"/>
              <a:t>但是运算符</a:t>
            </a:r>
            <a:r>
              <a:rPr lang="zh-CN" altLang="en-US" sz="2800" b="1" dirty="0"/>
              <a:t>变量的合法取值有</a:t>
            </a:r>
            <a:r>
              <a:rPr lang="en-US" altLang="zh-CN" sz="2800" b="1" dirty="0"/>
              <a:t>4</a:t>
            </a:r>
            <a:r>
              <a:rPr lang="zh-CN" altLang="en-US" b="1" dirty="0"/>
              <a:t>种</a:t>
            </a:r>
            <a:r>
              <a:rPr lang="zh-CN" altLang="en-US" sz="2800" b="1" dirty="0"/>
              <a:t>，需要</a:t>
            </a:r>
            <a:r>
              <a:rPr lang="en-US" altLang="zh-CN" sz="2800" b="1" dirty="0"/>
              <a:t>if-</a:t>
            </a:r>
            <a:r>
              <a:rPr lang="en-US" altLang="zh-CN" b="1" dirty="0"/>
              <a:t>else</a:t>
            </a:r>
            <a:r>
              <a:rPr lang="zh-CN" altLang="en-US" b="1" dirty="0"/>
              <a:t>嵌套四次，带来代码维护上的难度。</a:t>
            </a:r>
            <a:endParaRPr lang="en-US" altLang="zh-CN" sz="2800" b="1" dirty="0"/>
          </a:p>
          <a:p>
            <a:pPr>
              <a:spcBef>
                <a:spcPct val="50000"/>
              </a:spcBef>
            </a:pPr>
            <a:r>
              <a:rPr lang="zh-CN" altLang="en-US" sz="2800" b="1" dirty="0"/>
              <a:t>这种一个表达式出现多种常量取值判断的需求，适合用</a:t>
            </a:r>
            <a:r>
              <a:rPr lang="en-US" altLang="zh-CN" sz="2800" b="1" dirty="0"/>
              <a:t>switch</a:t>
            </a:r>
            <a:r>
              <a:rPr lang="zh-CN" altLang="en-US" sz="2800" b="1" dirty="0"/>
              <a:t>语句来实现。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02277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文本占位符 38913">
            <a:extLst>
              <a:ext uri="{FF2B5EF4-FFF2-40B4-BE49-F238E27FC236}">
                <a16:creationId xmlns:a16="http://schemas.microsoft.com/office/drawing/2014/main" id="{AD969F9B-A973-4DB7-BB25-FE593305B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2420938"/>
            <a:ext cx="7772400" cy="3657600"/>
          </a:xfrm>
        </p:spPr>
        <p:txBody>
          <a:bodyPr/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1．</a:t>
            </a:r>
            <a:r>
              <a:rPr lang="en-US" altLang="zh-CN" sz="2400" b="1" dirty="0"/>
              <a:t>switch</a:t>
            </a:r>
            <a:r>
              <a:rPr lang="zh-CN" altLang="en-US" sz="2400" b="1" dirty="0"/>
              <a:t>语句的一般形式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switch (</a:t>
            </a:r>
            <a:r>
              <a:rPr lang="zh-CN" altLang="en-US" sz="2400" b="1" dirty="0"/>
              <a:t>表达式) </a:t>
            </a:r>
            <a:r>
              <a:rPr lang="en-US" altLang="zh-CN" sz="2400" b="1" dirty="0"/>
              <a:t>{//</a:t>
            </a:r>
            <a:r>
              <a:rPr lang="zh-CN" altLang="en-US" sz="2400" dirty="0">
                <a:sym typeface="宋体" panose="02010600030101010101" pitchFamily="2" charset="-122"/>
              </a:rPr>
              <a:t>计算表达式的值</a:t>
            </a:r>
            <a:endParaRPr lang="en-US" altLang="zh-CN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case   </a:t>
            </a:r>
            <a:r>
              <a:rPr lang="zh-CN" altLang="en-US" sz="2400" b="1" dirty="0"/>
              <a:t>常量表达式1：语句组；</a:t>
            </a:r>
            <a:r>
              <a:rPr lang="en-US" altLang="zh-CN" sz="2400" b="1" dirty="0"/>
              <a:t>break；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		//</a:t>
            </a:r>
            <a:r>
              <a:rPr lang="zh-CN" altLang="en-US" sz="2400" dirty="0">
                <a:sym typeface="宋体" panose="02010600030101010101" pitchFamily="2" charset="-122"/>
              </a:rPr>
              <a:t>等于常量式</a:t>
            </a:r>
            <a:r>
              <a:rPr lang="en-US" altLang="zh-CN" sz="2400" dirty="0"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ym typeface="宋体" panose="02010600030101010101" pitchFamily="2" charset="-122"/>
              </a:rPr>
              <a:t>时的处理语句组，无需加</a:t>
            </a:r>
            <a:r>
              <a:rPr lang="en-US" altLang="zh-CN" sz="2400" dirty="0">
                <a:sym typeface="宋体" panose="02010600030101010101" pitchFamily="2" charset="-122"/>
              </a:rPr>
              <a:t>{}</a:t>
            </a:r>
            <a:endParaRPr lang="en-US" altLang="zh-CN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case   </a:t>
            </a:r>
            <a:r>
              <a:rPr lang="zh-CN" altLang="en-US" sz="2400" b="1" dirty="0"/>
              <a:t>常量表达式2：语句组；</a:t>
            </a:r>
            <a:r>
              <a:rPr lang="en-US" altLang="zh-CN" sz="2400" b="1" dirty="0"/>
              <a:t>break;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    ......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case   </a:t>
            </a:r>
            <a:r>
              <a:rPr lang="zh-CN" altLang="en-US" sz="2400" b="1" dirty="0"/>
              <a:t>常量表达式ｎ：语句组；</a:t>
            </a:r>
            <a:r>
              <a:rPr lang="en-US" altLang="zh-CN" sz="2400" b="1" dirty="0"/>
              <a:t>break；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      [</a:t>
            </a:r>
            <a:r>
              <a:rPr lang="en-US" altLang="zh-CN" sz="2400" b="1" dirty="0" err="1"/>
              <a:t>deault</a:t>
            </a:r>
            <a:r>
              <a:rPr lang="en-US" altLang="zh-CN" sz="2400" b="1" dirty="0"/>
              <a:t>：</a:t>
            </a:r>
            <a:r>
              <a:rPr lang="zh-CN" altLang="en-US" sz="2400" b="1" dirty="0"/>
              <a:t>语句组；[</a:t>
            </a:r>
            <a:r>
              <a:rPr lang="en-US" altLang="zh-CN" sz="2400" b="1" dirty="0"/>
              <a:t>break; ]] //</a:t>
            </a:r>
            <a:r>
              <a:rPr lang="zh-CN" altLang="en-US" sz="2400" b="1" dirty="0"/>
              <a:t>表达式</a:t>
            </a:r>
            <a:r>
              <a:rPr lang="zh-CN" altLang="en-US" sz="2400" b="1" dirty="0">
                <a:sym typeface="Symbol" panose="05050102010706020507" pitchFamily="18" charset="2"/>
              </a:rPr>
              <a:t>常量</a:t>
            </a:r>
            <a:r>
              <a:rPr lang="en-US" altLang="zh-CN" sz="2400" b="1" dirty="0" err="1">
                <a:sym typeface="Symbol" panose="05050102010706020507" pitchFamily="18" charset="2"/>
              </a:rPr>
              <a:t>1..n</a:t>
            </a:r>
            <a:r>
              <a:rPr lang="zh-CN" altLang="en-US" sz="2400" b="1" dirty="0">
                <a:sym typeface="Symbol" panose="05050102010706020507" pitchFamily="18" charset="2"/>
              </a:rPr>
              <a:t>时处理</a:t>
            </a:r>
            <a:endParaRPr lang="en-US" altLang="zh-CN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  <p:grpSp>
        <p:nvGrpSpPr>
          <p:cNvPr id="67586" name="组合 38914">
            <a:extLst>
              <a:ext uri="{FF2B5EF4-FFF2-40B4-BE49-F238E27FC236}">
                <a16:creationId xmlns:a16="http://schemas.microsoft.com/office/drawing/2014/main" id="{2A919582-8D84-4C53-AE5C-D28B90C893BF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196975"/>
            <a:ext cx="7696200" cy="979488"/>
            <a:chOff x="0" y="0"/>
            <a:chExt cx="4848" cy="617"/>
          </a:xfrm>
        </p:grpSpPr>
        <p:sp>
          <p:nvSpPr>
            <p:cNvPr id="67587" name="圆角矩形 38915">
              <a:extLst>
                <a:ext uri="{FF2B5EF4-FFF2-40B4-BE49-F238E27FC236}">
                  <a16:creationId xmlns:a16="http://schemas.microsoft.com/office/drawing/2014/main" id="{FCBB0C5F-6E63-4A0D-8AF1-53DB88979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48" cy="612"/>
            </a:xfrm>
            <a:prstGeom prst="roundRect">
              <a:avLst>
                <a:gd name="adj" fmla="val 12963"/>
              </a:avLst>
            </a:prstGeom>
            <a:gradFill rotWithShape="0">
              <a:gsLst>
                <a:gs pos="0">
                  <a:srgbClr val="ECFFEC"/>
                </a:gs>
                <a:gs pos="50000">
                  <a:srgbClr val="D5FFD5"/>
                </a:gs>
                <a:gs pos="100000">
                  <a:srgbClr val="ECFFEC"/>
                </a:gs>
              </a:gsLst>
              <a:lin ang="18900000" scaled="1"/>
            </a:gradFill>
            <a:ln w="9525">
              <a:solidFill>
                <a:srgbClr val="99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zh-CN" altLang="en-US" b="0"/>
            </a:p>
          </p:txBody>
        </p:sp>
        <p:sp>
          <p:nvSpPr>
            <p:cNvPr id="67588" name="文本框 38916">
              <a:extLst>
                <a:ext uri="{FF2B5EF4-FFF2-40B4-BE49-F238E27FC236}">
                  <a16:creationId xmlns:a16="http://schemas.microsoft.com/office/drawing/2014/main" id="{B2F6AD12-6AF7-4F01-9315-623B60BBA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" y="72"/>
              <a:ext cx="4668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041400" indent="-1041400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800" b="0" dirty="0"/>
                <a:t>用</a:t>
              </a:r>
              <a:r>
                <a:rPr lang="zh-CN" altLang="en-US" sz="2800" u="sng" dirty="0">
                  <a:solidFill>
                    <a:srgbClr val="FF0000"/>
                  </a:solidFill>
                </a:rPr>
                <a:t>某个表达式</a:t>
              </a:r>
              <a:r>
                <a:rPr lang="zh-CN" altLang="en-US" sz="2800" b="0" dirty="0"/>
                <a:t>单独测试每一个可能的</a:t>
              </a:r>
              <a:r>
                <a:rPr lang="zh-CN" altLang="en-US" sz="2800" b="0" u="sng" dirty="0">
                  <a:solidFill>
                    <a:srgbClr val="FF0000"/>
                  </a:solidFill>
                </a:rPr>
                <a:t>整数值</a:t>
              </a:r>
              <a:r>
                <a:rPr lang="zh-CN" altLang="en-US" sz="2800" b="0" dirty="0"/>
                <a:t>常量，然后做出相应的处理。</a:t>
              </a:r>
            </a:p>
          </p:txBody>
        </p:sp>
      </p:grpSp>
      <p:sp>
        <p:nvSpPr>
          <p:cNvPr id="67589" name="标题 38917">
            <a:extLst>
              <a:ext uri="{FF2B5EF4-FFF2-40B4-BE49-F238E27FC236}">
                <a16:creationId xmlns:a16="http://schemas.microsoft.com/office/drawing/2014/main" id="{AB0A60FF-1B13-4532-9A9C-5615EB36B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3650" y="115888"/>
            <a:ext cx="7772400" cy="720725"/>
          </a:xfrm>
        </p:spPr>
        <p:txBody>
          <a:bodyPr/>
          <a:lstStyle/>
          <a:p>
            <a:r>
              <a:rPr lang="en-US" altLang="zh-CN" b="1">
                <a:solidFill>
                  <a:srgbClr val="FF0000"/>
                </a:solidFill>
              </a:rPr>
              <a:t> switch</a:t>
            </a:r>
            <a:r>
              <a:rPr lang="zh-CN" altLang="en-US" b="1">
                <a:solidFill>
                  <a:srgbClr val="FF0000"/>
                </a:solidFill>
              </a:rPr>
              <a:t>多路选择结构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15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0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15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159634" y="1412776"/>
            <a:ext cx="8964488" cy="430271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switch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(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oper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){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case '+': 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result=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a+b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;              		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("%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f%c%f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=%f\n",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a,oper,b,result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     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break;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case '-': 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result=a-b;              		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("%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f%c%f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=%f\n",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a,oper,b,result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     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break;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case '*': 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result=a*b;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("%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f%c%f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=%f\n",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a,oper,b,result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			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break;</a:t>
            </a: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用</a:t>
            </a:r>
            <a:r>
              <a:rPr lang="en-US" altLang="zh-CN" b="1" dirty="0"/>
              <a:t>switch</a:t>
            </a:r>
            <a:r>
              <a:rPr lang="zh-CN" altLang="en-US" b="1" dirty="0"/>
              <a:t>结构进行运算符判断</a:t>
            </a:r>
          </a:p>
        </p:txBody>
      </p:sp>
    </p:spTree>
    <p:extLst>
      <p:ext uri="{BB962C8B-B14F-4D97-AF65-F5344CB8AC3E}">
        <p14:creationId xmlns:p14="http://schemas.microsoft.com/office/powerpoint/2010/main" val="71052989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16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0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16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474028" y="1250976"/>
            <a:ext cx="8365172" cy="356405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		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case '/': 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result=a/b;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	  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("%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f%c%f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=%f\n",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a,oper,b,result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     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break;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default: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printf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("%c is not a legal operator.\n",</a:t>
            </a:r>
            <a:r>
              <a:rPr lang="en-US" altLang="zh-CN" sz="2400" dirty="0" err="1">
                <a:solidFill>
                  <a:srgbClr val="0070C0"/>
                </a:solidFill>
                <a:latin typeface="+mn-lt"/>
              </a:rPr>
              <a:t>oper</a:t>
            </a: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70C0"/>
                </a:solidFill>
                <a:latin typeface="+mn-lt"/>
              </a:rPr>
              <a:t>        }//end switch</a:t>
            </a:r>
          </a:p>
          <a:p>
            <a:pPr>
              <a:spcBef>
                <a:spcPct val="20000"/>
              </a:spcBef>
            </a:pPr>
            <a:endParaRPr lang="en-US" altLang="zh-CN" sz="2400" dirty="0">
              <a:solidFill>
                <a:srgbClr val="0070C0"/>
              </a:solidFill>
              <a:latin typeface="+mn-lt"/>
            </a:endParaRPr>
          </a:p>
          <a:p>
            <a:pPr lvl="1">
              <a:spcBef>
                <a:spcPct val="20000"/>
              </a:spcBef>
            </a:pPr>
            <a:endParaRPr lang="en-US" altLang="zh-CN" sz="240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用</a:t>
            </a:r>
            <a:r>
              <a:rPr lang="en-US" altLang="zh-CN" b="1" dirty="0"/>
              <a:t>switch</a:t>
            </a:r>
            <a:r>
              <a:rPr lang="zh-CN" altLang="en-US" b="1" dirty="0"/>
              <a:t>结构进行运算符判断</a:t>
            </a:r>
          </a:p>
        </p:txBody>
      </p:sp>
    </p:spTree>
    <p:extLst>
      <p:ext uri="{BB962C8B-B14F-4D97-AF65-F5344CB8AC3E}">
        <p14:creationId xmlns:p14="http://schemas.microsoft.com/office/powerpoint/2010/main" val="245300598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FF17B-AAB3-4F0C-AB53-D3ECA3D9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332656"/>
            <a:ext cx="7772400" cy="720725"/>
          </a:xfrm>
        </p:spPr>
        <p:txBody>
          <a:bodyPr/>
          <a:lstStyle/>
          <a:p>
            <a:r>
              <a:rPr lang="zh-CN" altLang="en-US" dirty="0"/>
              <a:t>某</a:t>
            </a:r>
            <a:r>
              <a:rPr lang="zh-CN" altLang="en-US" sz="3200" dirty="0">
                <a:solidFill>
                  <a:srgbClr val="FF3300"/>
                </a:solidFill>
              </a:rPr>
              <a:t>月有多少天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B145B-E266-4CC6-BCE7-77A4E5996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40768"/>
            <a:ext cx="8062664" cy="4611687"/>
          </a:xfrm>
        </p:spPr>
        <p:txBody>
          <a:bodyPr/>
          <a:lstStyle/>
          <a:p>
            <a:r>
              <a:rPr lang="zh-CN" altLang="en-US" dirty="0"/>
              <a:t>问题：输入年份和月份，计算该月有多少天？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算法设计：</a:t>
            </a:r>
            <a:endParaRPr lang="en-US" altLang="zh-CN" dirty="0"/>
          </a:p>
          <a:p>
            <a:pPr lvl="1"/>
            <a:r>
              <a:rPr lang="zh-CN" altLang="en-US" dirty="0"/>
              <a:t>根据月份，判断大小月：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月是大月。</a:t>
            </a:r>
            <a:endParaRPr lang="en-US" altLang="zh-CN" dirty="0"/>
          </a:p>
          <a:p>
            <a:pPr lvl="1"/>
            <a:r>
              <a:rPr lang="zh-CN" altLang="en-US" dirty="0"/>
              <a:t>根据该年是否闰年，判断</a:t>
            </a:r>
            <a:r>
              <a:rPr lang="en-US" altLang="zh-CN" dirty="0"/>
              <a:t>2</a:t>
            </a:r>
            <a:r>
              <a:rPr lang="zh-CN" altLang="en-US" dirty="0"/>
              <a:t>月的天数：闰年</a:t>
            </a:r>
            <a:r>
              <a:rPr lang="en-US" altLang="zh-CN" dirty="0"/>
              <a:t>29</a:t>
            </a:r>
            <a:r>
              <a:rPr lang="zh-CN" altLang="en-US" dirty="0"/>
              <a:t>天，非闰年</a:t>
            </a:r>
            <a:r>
              <a:rPr lang="en-US" altLang="zh-CN" dirty="0"/>
              <a:t>28</a:t>
            </a:r>
            <a:r>
              <a:rPr lang="zh-CN" altLang="en-US" dirty="0"/>
              <a:t>天。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29551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文本占位符 46082">
            <a:extLst>
              <a:ext uri="{FF2B5EF4-FFF2-40B4-BE49-F238E27FC236}">
                <a16:creationId xmlns:a16="http://schemas.microsoft.com/office/drawing/2014/main" id="{B1F1886C-7395-477E-A116-D01B757875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1563" y="319088"/>
            <a:ext cx="6550917" cy="727075"/>
          </a:xfrm>
        </p:spPr>
        <p:txBody>
          <a:bodyPr/>
          <a:lstStyle/>
          <a:p>
            <a:pPr marL="0" indent="0" algn="r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</a:rPr>
              <a:t>月历天数计算</a:t>
            </a:r>
          </a:p>
          <a:p>
            <a:pPr marL="0" indent="0" algn="r">
              <a:buFontTx/>
              <a:buNone/>
            </a:pP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文本占位符 47106">
            <a:extLst>
              <a:ext uri="{FF2B5EF4-FFF2-40B4-BE49-F238E27FC236}">
                <a16:creationId xmlns:a16="http://schemas.microsoft.com/office/drawing/2014/main" id="{58E62C48-AEDD-4B86-A1A2-D3985259F56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84147" y="1123156"/>
            <a:ext cx="8639621" cy="573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#include&lt;</a:t>
            </a:r>
            <a:r>
              <a:rPr lang="en-US" altLang="zh-CN" sz="2000" b="0" dirty="0" err="1">
                <a:latin typeface="+mn-lt"/>
              </a:rPr>
              <a:t>stdio.h</a:t>
            </a:r>
            <a:r>
              <a:rPr lang="en-US" altLang="zh-CN" sz="2000" b="0" dirty="0">
                <a:latin typeface="+mn-lt"/>
              </a:rPr>
              <a:t>&gt;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int main(void){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   	int </a:t>
            </a:r>
            <a:r>
              <a:rPr lang="en-US" altLang="zh-CN" sz="2000" b="0" dirty="0" err="1">
                <a:latin typeface="+mn-lt"/>
              </a:rPr>
              <a:t>year,month,days</a:t>
            </a:r>
            <a:r>
              <a:rPr lang="en-US" altLang="zh-CN" sz="2000" b="0" dirty="0">
                <a:latin typeface="+mn-lt"/>
              </a:rPr>
              <a:t>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   	</a:t>
            </a:r>
            <a:r>
              <a:rPr lang="en-US" altLang="zh-CN" sz="2000" b="0" dirty="0" err="1">
                <a:latin typeface="+mn-lt"/>
              </a:rPr>
              <a:t>printf</a:t>
            </a:r>
            <a:r>
              <a:rPr lang="en-US" altLang="zh-CN" sz="2000" b="0" dirty="0">
                <a:latin typeface="+mn-lt"/>
              </a:rPr>
              <a:t>("input year and month:");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   	</a:t>
            </a:r>
            <a:r>
              <a:rPr lang="en-US" altLang="zh-CN" sz="2000" b="0" dirty="0" err="1">
                <a:latin typeface="+mn-lt"/>
              </a:rPr>
              <a:t>scanf</a:t>
            </a:r>
            <a:r>
              <a:rPr lang="en-US" altLang="zh-CN" sz="2000" b="0" dirty="0">
                <a:latin typeface="+mn-lt"/>
              </a:rPr>
              <a:t>("%</a:t>
            </a:r>
            <a:r>
              <a:rPr lang="en-US" altLang="zh-CN" sz="2000" b="0" dirty="0" err="1">
                <a:latin typeface="+mn-lt"/>
              </a:rPr>
              <a:t>d%d</a:t>
            </a:r>
            <a:r>
              <a:rPr lang="en-US" altLang="zh-CN" sz="2000" b="0" dirty="0">
                <a:latin typeface="+mn-lt"/>
              </a:rPr>
              <a:t>",&amp;</a:t>
            </a:r>
            <a:r>
              <a:rPr lang="en-US" altLang="zh-CN" sz="2000" b="0" dirty="0" err="1">
                <a:latin typeface="+mn-lt"/>
              </a:rPr>
              <a:t>year,&amp;month</a:t>
            </a:r>
            <a:r>
              <a:rPr lang="en-US" altLang="zh-CN" sz="2000" b="0" dirty="0">
                <a:latin typeface="+mn-lt"/>
              </a:rPr>
              <a:t>);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   	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switch(month){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	    case </a:t>
            </a:r>
            <a:r>
              <a:rPr lang="en-US" altLang="zh-CN" sz="2000" b="0" dirty="0" err="1">
                <a:solidFill>
                  <a:srgbClr val="FF0000"/>
                </a:solidFill>
                <a:latin typeface="+mn-lt"/>
              </a:rPr>
              <a:t>1:case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 3: case </a:t>
            </a:r>
            <a:r>
              <a:rPr lang="en-US" altLang="zh-CN" sz="2000" b="0" dirty="0" err="1">
                <a:solidFill>
                  <a:srgbClr val="FF0000"/>
                </a:solidFill>
                <a:latin typeface="+mn-lt"/>
              </a:rPr>
              <a:t>5:case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 7: case </a:t>
            </a:r>
            <a:r>
              <a:rPr lang="en-US" altLang="zh-CN" sz="2000" b="0" dirty="0" err="1">
                <a:solidFill>
                  <a:srgbClr val="FF0000"/>
                </a:solidFill>
                <a:latin typeface="+mn-lt"/>
              </a:rPr>
              <a:t>8:case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 10: case 12: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            days = 31; </a:t>
            </a:r>
            <a:r>
              <a:rPr lang="en-US" altLang="zh-CN" sz="2000" b="0" dirty="0">
                <a:solidFill>
                  <a:srgbClr val="FF0000"/>
                </a:solidFill>
                <a:latin typeface="+mn-lt"/>
              </a:rPr>
              <a:t>break;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    case </a:t>
            </a:r>
            <a:r>
              <a:rPr lang="en-US" altLang="zh-CN" sz="2000" b="0" dirty="0" err="1">
                <a:latin typeface="+mn-lt"/>
              </a:rPr>
              <a:t>4:case</a:t>
            </a:r>
            <a:r>
              <a:rPr lang="en-US" altLang="zh-CN" sz="2000" b="0" dirty="0">
                <a:latin typeface="+mn-lt"/>
              </a:rPr>
              <a:t> 6: case </a:t>
            </a:r>
            <a:r>
              <a:rPr lang="en-US" altLang="zh-CN" sz="2000" b="0" dirty="0" err="1">
                <a:latin typeface="+mn-lt"/>
              </a:rPr>
              <a:t>9:case</a:t>
            </a:r>
            <a:r>
              <a:rPr lang="en-US" altLang="zh-CN" sz="2000" b="0" dirty="0">
                <a:latin typeface="+mn-lt"/>
              </a:rPr>
              <a:t> 11: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        days = 30; break;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    case 2: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		if ((</a:t>
            </a:r>
            <a:r>
              <a:rPr lang="en-US" altLang="zh-CN" sz="2000" b="0" dirty="0" err="1">
                <a:latin typeface="+mn-lt"/>
              </a:rPr>
              <a:t>year%4</a:t>
            </a:r>
            <a:r>
              <a:rPr lang="en-US" altLang="zh-CN" sz="2000" b="0" dirty="0">
                <a:latin typeface="+mn-lt"/>
              </a:rPr>
              <a:t>==0 &amp;&amp; </a:t>
            </a:r>
            <a:r>
              <a:rPr lang="en-US" altLang="zh-CN" sz="2000" b="0" dirty="0" err="1">
                <a:latin typeface="+mn-lt"/>
              </a:rPr>
              <a:t>year%100</a:t>
            </a:r>
            <a:r>
              <a:rPr lang="en-US" altLang="zh-CN" sz="2000" b="0" dirty="0">
                <a:latin typeface="+mn-lt"/>
              </a:rPr>
              <a:t>!=0) || (</a:t>
            </a:r>
            <a:r>
              <a:rPr lang="en-US" altLang="zh-CN" sz="2000" b="0" dirty="0" err="1">
                <a:latin typeface="+mn-lt"/>
              </a:rPr>
              <a:t>year%400</a:t>
            </a:r>
            <a:r>
              <a:rPr lang="en-US" altLang="zh-CN" sz="2000" b="0" dirty="0">
                <a:latin typeface="+mn-lt"/>
              </a:rPr>
              <a:t>==0))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			days = 29;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	    else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			days = 28;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		break;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        default: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			</a:t>
            </a:r>
            <a:r>
              <a:rPr lang="en-US" altLang="zh-CN" sz="2000" b="0" dirty="0" err="1">
                <a:latin typeface="+mn-lt"/>
              </a:rPr>
              <a:t>printf</a:t>
            </a:r>
            <a:r>
              <a:rPr lang="en-US" altLang="zh-CN" sz="2000" b="0" dirty="0">
                <a:latin typeface="+mn-lt"/>
              </a:rPr>
              <a:t>("invalid month!");}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    </a:t>
            </a:r>
            <a:r>
              <a:rPr lang="en-US" altLang="zh-CN" sz="2000" b="0" dirty="0" err="1">
                <a:latin typeface="+mn-lt"/>
              </a:rPr>
              <a:t>printf</a:t>
            </a:r>
            <a:r>
              <a:rPr lang="en-US" altLang="zh-CN" sz="2000" b="0" dirty="0">
                <a:latin typeface="+mn-lt"/>
              </a:rPr>
              <a:t>("the days are %d.\</a:t>
            </a:r>
            <a:r>
              <a:rPr lang="en-US" altLang="zh-CN" sz="2000" b="0" dirty="0" err="1">
                <a:latin typeface="+mn-lt"/>
              </a:rPr>
              <a:t>n",days</a:t>
            </a:r>
            <a:r>
              <a:rPr lang="en-US" altLang="zh-CN" sz="2000" b="0" dirty="0">
                <a:latin typeface="+mn-lt"/>
              </a:rPr>
              <a:t>);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 sz="2000" b="0" dirty="0">
                <a:latin typeface="+mn-lt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395730"/>
            <a:ext cx="7896225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输入一行字符，将其中所有的字母都修改为字符表中右移</a:t>
            </a:r>
            <a:r>
              <a:rPr lang="en-US" altLang="zh-CN" sz="2800" dirty="0"/>
              <a:t>3</a:t>
            </a:r>
            <a:r>
              <a:rPr lang="zh-CN" altLang="en-US" sz="2800" dirty="0"/>
              <a:t>位后的字符，空格和其它符号不变。然后将修改后的密文字符输出。</a:t>
            </a:r>
          </a:p>
          <a:p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样例输入： </a:t>
            </a:r>
            <a:r>
              <a:rPr lang="en-US" altLang="zh-CN" sz="2800" dirty="0"/>
              <a:t>hi, tom!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/>
              <a:t>kl,</a:t>
            </a:r>
            <a:r>
              <a:rPr lang="zh-CN" altLang="en-US" sz="2800" dirty="0"/>
              <a:t> </a:t>
            </a:r>
            <a:r>
              <a:rPr lang="en-US" altLang="zh-CN" sz="2800" dirty="0" err="1"/>
              <a:t>wrp</a:t>
            </a:r>
            <a:r>
              <a:rPr lang="en-US" altLang="zh-CN" sz="2800" dirty="0"/>
              <a:t>!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zh-CN" altLang="en-US" sz="2800" dirty="0"/>
              <a:t>样例输入： </a:t>
            </a:r>
            <a:r>
              <a:rPr lang="en-US" altLang="zh-CN" sz="2800" dirty="0" err="1"/>
              <a:t>xyz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 err="1"/>
              <a:t>abc</a:t>
            </a:r>
            <a:endParaRPr lang="zh-CN" altLang="en-US" sz="2800" dirty="0"/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问题：凯撒密码</a:t>
            </a:r>
          </a:p>
        </p:txBody>
      </p:sp>
    </p:spTree>
    <p:extLst>
      <p:ext uri="{BB962C8B-B14F-4D97-AF65-F5344CB8AC3E}">
        <p14:creationId xmlns:p14="http://schemas.microsoft.com/office/powerpoint/2010/main" val="217033759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5">
            <a:extLst>
              <a:ext uri="{FF2B5EF4-FFF2-40B4-BE49-F238E27FC236}">
                <a16:creationId xmlns:a16="http://schemas.microsoft.com/office/drawing/2014/main" id="{6AC084A8-131A-4E92-9526-EF55F5505C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5D85FE6D-A2FB-400E-9263-1CF8E2183DC4}" type="slidenum">
              <a:rPr lang="zh-CN" altLang="en-US" sz="1400"/>
              <a:pPr algn="r">
                <a:spcBef>
                  <a:spcPct val="50000"/>
                </a:spcBef>
              </a:pPr>
              <a:t>20</a:t>
            </a:fld>
            <a:endParaRPr lang="zh-CN" altLang="en-US" sz="1400"/>
          </a:p>
        </p:txBody>
      </p:sp>
      <p:sp>
        <p:nvSpPr>
          <p:cNvPr id="74754" name="Rectangle 4">
            <a:extLst>
              <a:ext uri="{FF2B5EF4-FFF2-40B4-BE49-F238E27FC236}">
                <a16:creationId xmlns:a16="http://schemas.microsoft.com/office/drawing/2014/main" id="{07061E91-47B9-45B1-B75A-C221A3D187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1371600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zh-CN" altLang="en-US" b="1"/>
              <a:t>四、循环结构</a:t>
            </a:r>
            <a:r>
              <a:rPr lang="zh-CN" altLang="en-US" b="1">
                <a:latin typeface="宋体" panose="02010600030101010101" pitchFamily="2" charset="-122"/>
              </a:rPr>
              <a:t>语句</a:t>
            </a:r>
            <a:r>
              <a:rPr lang="zh-CN" altLang="en-US" b="1"/>
              <a:t> </a:t>
            </a:r>
          </a:p>
        </p:txBody>
      </p:sp>
      <p:sp>
        <p:nvSpPr>
          <p:cNvPr id="74755" name="Rectangle 7">
            <a:extLst>
              <a:ext uri="{FF2B5EF4-FFF2-40B4-BE49-F238E27FC236}">
                <a16:creationId xmlns:a16="http://schemas.microsoft.com/office/drawing/2014/main" id="{BDABB4C9-25FE-4F44-8E9C-1C1D720EC3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如何使完成的程序重复执行呢？</a:t>
            </a:r>
          </a:p>
        </p:txBody>
      </p:sp>
      <p:sp>
        <p:nvSpPr>
          <p:cNvPr id="74756" name="Text Box 1031">
            <a:extLst>
              <a:ext uri="{FF2B5EF4-FFF2-40B4-BE49-F238E27FC236}">
                <a16:creationId xmlns:a16="http://schemas.microsoft.com/office/drawing/2014/main" id="{3DC60357-9874-48C4-8988-5DD3E2B38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882775"/>
            <a:ext cx="7696200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zh-CN" altLang="en-US" sz="2800">
                <a:latin typeface="宋体" panose="02010600030101010101" pitchFamily="2" charset="-122"/>
              </a:rPr>
              <a:t> 有时程序中需要多次运行同一段代码（重复做相同的事情）。这种控制结构称为循环结构。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在循环结构中，需要刻画出重复执行的是哪些动作（循环体），以及什么条件下需要重复（循环条件）。</a:t>
            </a:r>
            <a:endParaRPr lang="en-US" altLang="zh-CN" sz="2800"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US" altLang="zh-CN" sz="2800">
                <a:latin typeface="宋体" panose="02010600030101010101" pitchFamily="2" charset="-122"/>
              </a:rPr>
              <a:t> C</a:t>
            </a:r>
            <a:r>
              <a:rPr lang="zh-CN" altLang="en-US" sz="2800">
                <a:latin typeface="宋体" panose="02010600030101010101" pitchFamily="2" charset="-122"/>
              </a:rPr>
              <a:t>语言提供了三类用于实现循环结构的语句：</a:t>
            </a:r>
          </a:p>
          <a:p>
            <a:pPr lvl="1"/>
            <a:r>
              <a:rPr lang="zh-CN" altLang="en-US" sz="2800"/>
              <a:t>1）</a:t>
            </a:r>
            <a:r>
              <a:rPr lang="en-US" altLang="zh-CN" sz="2800"/>
              <a:t>while </a:t>
            </a:r>
          </a:p>
          <a:p>
            <a:pPr lvl="1"/>
            <a:r>
              <a:rPr lang="en-US" altLang="zh-CN" sz="2800"/>
              <a:t>2）do-while</a:t>
            </a:r>
          </a:p>
          <a:p>
            <a:pPr lvl="1"/>
            <a:r>
              <a:rPr lang="en-US" altLang="zh-CN" sz="2800"/>
              <a:t>3）for</a:t>
            </a:r>
            <a:endParaRPr lang="zh-CN" altLang="en-US" sz="2800"/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zh-CN" altLang="en-US" sz="280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68643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5">
            <a:extLst>
              <a:ext uri="{FF2B5EF4-FFF2-40B4-BE49-F238E27FC236}">
                <a16:creationId xmlns:a16="http://schemas.microsoft.com/office/drawing/2014/main" id="{9E9E3103-1932-4F86-905A-13867732DE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FD07B0E1-09E1-49D4-A191-5F749CC16B2A}" type="slidenum">
              <a:rPr lang="zh-CN" altLang="en-US" sz="1400"/>
              <a:pPr algn="r">
                <a:spcBef>
                  <a:spcPct val="50000"/>
                </a:spcBef>
              </a:pPr>
              <a:t>21</a:t>
            </a:fld>
            <a:endParaRPr lang="zh-CN" altLang="en-US" sz="1400"/>
          </a:p>
        </p:txBody>
      </p:sp>
      <p:sp>
        <p:nvSpPr>
          <p:cNvPr id="75778" name="Rectangle 4">
            <a:extLst>
              <a:ext uri="{FF2B5EF4-FFF2-40B4-BE49-F238E27FC236}">
                <a16:creationId xmlns:a16="http://schemas.microsoft.com/office/drawing/2014/main" id="{97A34794-DE8C-4175-9D89-CCCABD743B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9100" y="1219200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while 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75779" name="Text Box 24">
            <a:extLst>
              <a:ext uri="{FF2B5EF4-FFF2-40B4-BE49-F238E27FC236}">
                <a16:creationId xmlns:a16="http://schemas.microsoft.com/office/drawing/2014/main" id="{72FBAB8C-79D7-4C84-9BA5-4414C4CCD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050" y="5494338"/>
            <a:ext cx="26114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</a:pPr>
            <a:r>
              <a:rPr lang="zh-CN" altLang="en-US" sz="2000"/>
              <a:t>图3．6  </a:t>
            </a:r>
            <a:r>
              <a:rPr lang="en-US" altLang="zh-CN" sz="2000"/>
              <a:t>while</a:t>
            </a:r>
            <a:r>
              <a:rPr lang="zh-CN" altLang="en-US" sz="2000"/>
              <a:t>语句</a:t>
            </a:r>
          </a:p>
        </p:txBody>
      </p:sp>
      <p:sp>
        <p:nvSpPr>
          <p:cNvPr id="75780" name="Text Box 25">
            <a:extLst>
              <a:ext uri="{FF2B5EF4-FFF2-40B4-BE49-F238E27FC236}">
                <a16:creationId xmlns:a16="http://schemas.microsoft.com/office/drawing/2014/main" id="{A619AF20-76ED-41E8-B64A-2D1796AD2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5" y="2273300"/>
            <a:ext cx="2411413" cy="2505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spcBef>
                <a:spcPct val="0"/>
              </a:spcBef>
            </a:pPr>
            <a:r>
              <a:rPr lang="en-US" altLang="zh-CN" sz="2400"/>
              <a:t>while (</a:t>
            </a:r>
            <a:r>
              <a:rPr lang="zh-CN" altLang="en-US" sz="2400"/>
              <a:t>表达式)</a:t>
            </a:r>
          </a:p>
          <a:p>
            <a:pPr algn="just" eaLnBrk="0" hangingPunct="0">
              <a:spcBef>
                <a:spcPct val="0"/>
              </a:spcBef>
            </a:pPr>
            <a:r>
              <a:rPr lang="en-US" altLang="zh-CN" sz="2400"/>
              <a:t>        </a:t>
            </a:r>
            <a:r>
              <a:rPr lang="zh-CN" altLang="en-US" sz="2400"/>
              <a:t>语句</a:t>
            </a:r>
          </a:p>
        </p:txBody>
      </p:sp>
      <p:sp>
        <p:nvSpPr>
          <p:cNvPr id="75781" name="Text Box 26">
            <a:extLst>
              <a:ext uri="{FF2B5EF4-FFF2-40B4-BE49-F238E27FC236}">
                <a16:creationId xmlns:a16="http://schemas.microsoft.com/office/drawing/2014/main" id="{110D2E9F-A7A8-4E94-93C7-6F109A176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137150"/>
            <a:ext cx="261143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2000"/>
              <a:t>a) </a:t>
            </a:r>
            <a:r>
              <a:rPr lang="zh-CN" altLang="en-US" sz="2000"/>
              <a:t>流程图</a:t>
            </a:r>
          </a:p>
        </p:txBody>
      </p:sp>
      <p:sp>
        <p:nvSpPr>
          <p:cNvPr id="75782" name="Text Box 27">
            <a:extLst>
              <a:ext uri="{FF2B5EF4-FFF2-40B4-BE49-F238E27FC236}">
                <a16:creationId xmlns:a16="http://schemas.microsoft.com/office/drawing/2014/main" id="{6DAEBB1B-EF56-4164-A3BB-D90196DD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850" y="5137150"/>
            <a:ext cx="26114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2000"/>
              <a:t>b) C</a:t>
            </a:r>
            <a:r>
              <a:rPr lang="zh-CN" altLang="en-US" sz="2000"/>
              <a:t>语句</a:t>
            </a:r>
          </a:p>
        </p:txBody>
      </p:sp>
      <p:sp>
        <p:nvSpPr>
          <p:cNvPr id="75783" name="Rectangle 29">
            <a:extLst>
              <a:ext uri="{FF2B5EF4-FFF2-40B4-BE49-F238E27FC236}">
                <a16:creationId xmlns:a16="http://schemas.microsoft.com/office/drawing/2014/main" id="{3C84230B-37C3-4942-90EC-092F7388BC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89213" y="404813"/>
            <a:ext cx="6446837" cy="720725"/>
          </a:xfrm>
        </p:spPr>
        <p:txBody>
          <a:bodyPr/>
          <a:lstStyle/>
          <a:p>
            <a:pPr eaLnBrk="1" hangingPunct="1"/>
            <a:r>
              <a:rPr lang="zh-CN" altLang="en-US" b="1"/>
              <a:t>循环结构</a:t>
            </a:r>
          </a:p>
        </p:txBody>
      </p:sp>
      <p:sp>
        <p:nvSpPr>
          <p:cNvPr id="75784" name="Text Box 30">
            <a:extLst>
              <a:ext uri="{FF2B5EF4-FFF2-40B4-BE49-F238E27FC236}">
                <a16:creationId xmlns:a16="http://schemas.microsoft.com/office/drawing/2014/main" id="{5B035D29-32F6-453D-BD84-EF480964A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504825"/>
            <a:ext cx="5184775" cy="17684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/>
              <a:t>此处的表达式可以为任意一种表达式</a:t>
            </a:r>
            <a:r>
              <a:rPr lang="en-US" altLang="zh-CN" sz="2000"/>
              <a:t>,</a:t>
            </a:r>
            <a:r>
              <a:rPr lang="zh-CN" altLang="en-US" sz="2000"/>
              <a:t>语句为任意类语句；</a:t>
            </a:r>
          </a:p>
          <a:p>
            <a:pPr>
              <a:spcBef>
                <a:spcPct val="50000"/>
              </a:spcBef>
            </a:pPr>
            <a:r>
              <a:rPr lang="zh-CN" altLang="en-US" sz="2000"/>
              <a:t>如果表达式值为真</a:t>
            </a:r>
            <a:r>
              <a:rPr lang="en-US" altLang="zh-CN" sz="2000"/>
              <a:t>(</a:t>
            </a:r>
            <a:r>
              <a:rPr lang="zh-CN" altLang="en-US" sz="2000"/>
              <a:t>非</a:t>
            </a:r>
            <a:r>
              <a:rPr lang="en-US" altLang="zh-CN" sz="2000"/>
              <a:t>0</a:t>
            </a:r>
            <a:r>
              <a:rPr lang="zh-CN" altLang="en-US" sz="2000"/>
              <a:t>），则执行语句；执行完后再测试表达式，如果仍为真（非</a:t>
            </a:r>
            <a:r>
              <a:rPr lang="en-US" altLang="zh-CN" sz="2000"/>
              <a:t>0</a:t>
            </a:r>
            <a:r>
              <a:rPr lang="zh-CN" altLang="en-US" sz="2000"/>
              <a:t>），则再次执行语句；直到表达式为假（为</a:t>
            </a:r>
            <a:r>
              <a:rPr lang="en-US" altLang="zh-CN" sz="2000"/>
              <a:t>0</a:t>
            </a:r>
            <a:r>
              <a:rPr lang="zh-CN" altLang="en-US" sz="2000"/>
              <a:t>）。</a:t>
            </a:r>
          </a:p>
        </p:txBody>
      </p:sp>
      <p:grpSp>
        <p:nvGrpSpPr>
          <p:cNvPr id="75785" name="组合 51209">
            <a:extLst>
              <a:ext uri="{FF2B5EF4-FFF2-40B4-BE49-F238E27FC236}">
                <a16:creationId xmlns:a16="http://schemas.microsoft.com/office/drawing/2014/main" id="{B270B85C-7E17-4E99-BA9A-AABC4EEA7C41}"/>
              </a:ext>
            </a:extLst>
          </p:cNvPr>
          <p:cNvGrpSpPr>
            <a:grpSpLocks/>
          </p:cNvGrpSpPr>
          <p:nvPr/>
        </p:nvGrpSpPr>
        <p:grpSpPr bwMode="auto">
          <a:xfrm>
            <a:off x="933450" y="1844675"/>
            <a:ext cx="3998913" cy="3265488"/>
            <a:chOff x="0" y="0"/>
            <a:chExt cx="2519" cy="2057"/>
          </a:xfrm>
        </p:grpSpPr>
        <p:sp>
          <p:nvSpPr>
            <p:cNvPr id="75786" name="Rectangle 12">
              <a:extLst>
                <a:ext uri="{FF2B5EF4-FFF2-40B4-BE49-F238E27FC236}">
                  <a16:creationId xmlns:a16="http://schemas.microsoft.com/office/drawing/2014/main" id="{664CA2DF-F431-4E7A-9F26-0165A0F81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70"/>
              <a:ext cx="1898" cy="15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endParaRPr lang="zh-CN" altLang="en-US" sz="2000"/>
            </a:p>
            <a:p>
              <a:pPr algn="just" eaLnBrk="0" hangingPunct="0">
                <a:spcBef>
                  <a:spcPct val="0"/>
                </a:spcBef>
              </a:pPr>
              <a:r>
                <a:rPr lang="zh-CN" altLang="en-US" sz="2000"/>
                <a:t>              </a:t>
              </a:r>
            </a:p>
          </p:txBody>
        </p:sp>
        <p:sp>
          <p:nvSpPr>
            <p:cNvPr id="75787" name="Line 13">
              <a:extLst>
                <a:ext uri="{FF2B5EF4-FFF2-40B4-BE49-F238E27FC236}">
                  <a16:creationId xmlns:a16="http://schemas.microsoft.com/office/drawing/2014/main" id="{DBD1E6DC-0A52-4A95-B756-2B169D8C7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9" y="1497"/>
              <a:ext cx="4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8" name="Line 15">
              <a:extLst>
                <a:ext uri="{FF2B5EF4-FFF2-40B4-BE49-F238E27FC236}">
                  <a16:creationId xmlns:a16="http://schemas.microsoft.com/office/drawing/2014/main" id="{030F7851-11F9-4D75-877E-085F8C763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45"/>
              <a:ext cx="0" cy="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Rectangle 17">
              <a:extLst>
                <a:ext uri="{FF2B5EF4-FFF2-40B4-BE49-F238E27FC236}">
                  <a16:creationId xmlns:a16="http://schemas.microsoft.com/office/drawing/2014/main" id="{63FE6688-1D84-4BC9-B176-AA5D13F25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" y="1316"/>
              <a:ext cx="759" cy="3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ct val="0"/>
                </a:spcBef>
              </a:pPr>
              <a:r>
                <a:rPr lang="zh-CN" altLang="en-US" sz="2000"/>
                <a:t>语句</a:t>
              </a:r>
            </a:p>
          </p:txBody>
        </p:sp>
        <p:sp>
          <p:nvSpPr>
            <p:cNvPr id="75790" name="Line 18">
              <a:extLst>
                <a:ext uri="{FF2B5EF4-FFF2-40B4-BE49-F238E27FC236}">
                  <a16:creationId xmlns:a16="http://schemas.microsoft.com/office/drawing/2014/main" id="{FC1E711F-41F9-452D-8577-D6A1D9A26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5" y="496"/>
              <a:ext cx="7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Line 19">
              <a:extLst>
                <a:ext uri="{FF2B5EF4-FFF2-40B4-BE49-F238E27FC236}">
                  <a16:creationId xmlns:a16="http://schemas.microsoft.com/office/drawing/2014/main" id="{45818002-A08D-497F-B15D-9FF5AB569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" y="817"/>
              <a:ext cx="0" cy="1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20">
              <a:extLst>
                <a:ext uri="{FF2B5EF4-FFF2-40B4-BE49-F238E27FC236}">
                  <a16:creationId xmlns:a16="http://schemas.microsoft.com/office/drawing/2014/main" id="{546657CA-75D1-4276-A1EE-AED7A8D51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4" y="496"/>
              <a:ext cx="24" cy="10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AutoShape 21">
              <a:extLst>
                <a:ext uri="{FF2B5EF4-FFF2-40B4-BE49-F238E27FC236}">
                  <a16:creationId xmlns:a16="http://schemas.microsoft.com/office/drawing/2014/main" id="{801DF0F2-8AC9-487A-ADC7-19E3E0AEA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" y="592"/>
              <a:ext cx="1012" cy="451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/>
            <a:lstStyle/>
            <a:p>
              <a:pPr eaLnBrk="0" hangingPunct="0">
                <a:spcBef>
                  <a:spcPct val="0"/>
                </a:spcBef>
              </a:pPr>
              <a:r>
                <a:rPr lang="zh-CN" altLang="en-US"/>
                <a:t>表达式</a:t>
              </a:r>
            </a:p>
          </p:txBody>
        </p:sp>
        <p:sp>
          <p:nvSpPr>
            <p:cNvPr id="75794" name="Text Box 22">
              <a:extLst>
                <a:ext uri="{FF2B5EF4-FFF2-40B4-BE49-F238E27FC236}">
                  <a16:creationId xmlns:a16="http://schemas.microsoft.com/office/drawing/2014/main" id="{12851E1D-C064-400D-83FB-23E98443A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998"/>
              <a:ext cx="88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r>
                <a:rPr lang="zh-CN" altLang="en-US" sz="2000"/>
                <a:t>真</a:t>
              </a:r>
              <a:r>
                <a:rPr lang="en-US" altLang="zh-CN" sz="2000"/>
                <a:t>(</a:t>
              </a:r>
              <a:r>
                <a:rPr lang="zh-CN" altLang="en-US" sz="2000"/>
                <a:t>非0</a:t>
              </a:r>
              <a:r>
                <a:rPr lang="en-US" altLang="zh-CN" sz="2000"/>
                <a:t>)</a:t>
              </a:r>
              <a:endParaRPr lang="zh-CN" altLang="en-US" sz="2000"/>
            </a:p>
          </p:txBody>
        </p:sp>
        <p:sp>
          <p:nvSpPr>
            <p:cNvPr id="75795" name="Text Box 23">
              <a:extLst>
                <a:ext uri="{FF2B5EF4-FFF2-40B4-BE49-F238E27FC236}">
                  <a16:creationId xmlns:a16="http://schemas.microsoft.com/office/drawing/2014/main" id="{60C04C21-4263-4A1D-B7BD-75EFE2C78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862"/>
              <a:ext cx="886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r>
                <a:rPr lang="zh-CN" altLang="en-US" sz="2000"/>
                <a:t>假</a:t>
              </a:r>
              <a:r>
                <a:rPr lang="en-US" altLang="zh-CN" sz="2000"/>
                <a:t>(</a:t>
              </a:r>
              <a:r>
                <a:rPr lang="zh-CN" altLang="en-US" sz="2000"/>
                <a:t>0</a:t>
              </a:r>
              <a:r>
                <a:rPr lang="en-US" altLang="zh-CN" sz="2000"/>
                <a:t>)</a:t>
              </a:r>
              <a:endParaRPr lang="zh-CN" altLang="en-US" sz="2000"/>
            </a:p>
          </p:txBody>
        </p:sp>
        <p:sp>
          <p:nvSpPr>
            <p:cNvPr id="75796" name="AutoShape 32">
              <a:extLst>
                <a:ext uri="{FF2B5EF4-FFF2-40B4-BE49-F238E27FC236}">
                  <a16:creationId xmlns:a16="http://schemas.microsoft.com/office/drawing/2014/main" id="{1DDAE5CD-B12C-4C74-8D40-F7B9F1282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680"/>
              <a:ext cx="862" cy="545"/>
            </a:xfrm>
            <a:prstGeom prst="wedgeRoundRectCallout">
              <a:avLst>
                <a:gd name="adj1" fmla="val -46403"/>
                <a:gd name="adj2" fmla="val 75319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/>
                <a:t>循环体：重复执行的工作</a:t>
              </a:r>
            </a:p>
          </p:txBody>
        </p:sp>
        <p:sp>
          <p:nvSpPr>
            <p:cNvPr id="75797" name="AutoShape 33">
              <a:extLst>
                <a:ext uri="{FF2B5EF4-FFF2-40B4-BE49-F238E27FC236}">
                  <a16:creationId xmlns:a16="http://schemas.microsoft.com/office/drawing/2014/main" id="{B52AFBAF-B116-4EF7-9962-085BBF65B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" y="0"/>
              <a:ext cx="907" cy="319"/>
            </a:xfrm>
            <a:prstGeom prst="wedgeRoundRectCallout">
              <a:avLst>
                <a:gd name="adj1" fmla="val -64884"/>
                <a:gd name="adj2" fmla="val 159718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/>
                <a:t>循环条件</a:t>
              </a:r>
            </a:p>
          </p:txBody>
        </p:sp>
        <p:sp>
          <p:nvSpPr>
            <p:cNvPr id="75798" name="Line 15">
              <a:extLst>
                <a:ext uri="{FF2B5EF4-FFF2-40B4-BE49-F238E27FC236}">
                  <a16:creationId xmlns:a16="http://schemas.microsoft.com/office/drawing/2014/main" id="{2DFE1A53-997D-486C-BDA1-4A38F8BD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043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9" name="Line 13">
              <a:extLst>
                <a:ext uri="{FF2B5EF4-FFF2-40B4-BE49-F238E27FC236}">
                  <a16:creationId xmlns:a16="http://schemas.microsoft.com/office/drawing/2014/main" id="{0B938F84-F518-418F-A54B-1D619A501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" y="817"/>
              <a:ext cx="3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797258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凯撒加密的算法设计：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Begn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定义字符变量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从键盘接受输入的字符，存入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while(letter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不是行结束符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if(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是大写字母或小写字母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    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letter+3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的字符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else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显示器输出打印原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从键盘接受输入的字符，存入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完善：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letter+3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,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对于字母表末尾的字母会出错吗？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’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X’+3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=?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解决思路：模运算适合表达固定边界的整数运算。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凯撒加密的算法设计</a:t>
            </a:r>
          </a:p>
        </p:txBody>
      </p:sp>
    </p:spTree>
    <p:extLst>
      <p:ext uri="{BB962C8B-B14F-4D97-AF65-F5344CB8AC3E}">
        <p14:creationId xmlns:p14="http://schemas.microsoft.com/office/powerpoint/2010/main" val="18845152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49917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问题：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letter+3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对于字母表末尾的字母会越界！</a:t>
            </a:r>
            <a:endParaRPr lang="en-US" altLang="zh-CN" sz="240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解决思路：模运算适合表达固定边界的整数运算。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分析：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‘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X’+3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如何映射到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‘A’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？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字母表内部序号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0-25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，在模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26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上加运算可以完成：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( 23 + 3 )%26 = 26 % 26 = 0.</a:t>
            </a: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算法：只要将字母先转成字母表序号，模加后再从字母表序号转回字母就达到目标。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表达式实现：大写字母转序号 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(letter -‘A’);</a:t>
            </a:r>
          </a:p>
          <a:p>
            <a:pPr>
              <a:lnSpc>
                <a:spcPct val="150000"/>
              </a:lnSpc>
            </a:pP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((letter-‘A’) + 3) % 26 + ‘A’;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字母表上的模运算</a:t>
            </a:r>
          </a:p>
        </p:txBody>
      </p:sp>
    </p:spTree>
    <p:extLst>
      <p:ext uri="{BB962C8B-B14F-4D97-AF65-F5344CB8AC3E}">
        <p14:creationId xmlns:p14="http://schemas.microsoft.com/office/powerpoint/2010/main" val="214748121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凯撒加密的算法完善：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Begn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定义字符变量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从键盘接受输入的字符，存入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while(letter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不是行结束符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if(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是大写字母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    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((letter- 'A')+3)%26+ 'A'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的字符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else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if(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是小写字母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    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((letter- 'a')+3)%26+ 'a'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的字符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else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显示器输出打印原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从键盘接受输入的字符，存入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凯撒加密的算法完善</a:t>
            </a:r>
          </a:p>
        </p:txBody>
      </p:sp>
    </p:spTree>
    <p:extLst>
      <p:ext uri="{BB962C8B-B14F-4D97-AF65-F5344CB8AC3E}">
        <p14:creationId xmlns:p14="http://schemas.microsoft.com/office/powerpoint/2010/main" val="120021308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1">
            <a:extLst>
              <a:ext uri="{FF2B5EF4-FFF2-40B4-BE49-F238E27FC236}">
                <a16:creationId xmlns:a16="http://schemas.microsoft.com/office/drawing/2014/main" id="{149205A4-B58D-43F6-B0CE-382FCA5F0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凯撒加密</a:t>
            </a:r>
          </a:p>
        </p:txBody>
      </p:sp>
      <p:sp>
        <p:nvSpPr>
          <p:cNvPr id="57346" name="内容占位符 2">
            <a:extLst>
              <a:ext uri="{FF2B5EF4-FFF2-40B4-BE49-F238E27FC236}">
                <a16:creationId xmlns:a16="http://schemas.microsoft.com/office/drawing/2014/main" id="{D8C44AD8-64C2-4D2C-B069-E89B148CAC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362" y="1013618"/>
            <a:ext cx="8677275" cy="5844381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#define DIFF 3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int main(void){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("This is a Caesar Cipher.\n");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char letter;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letter=</a:t>
            </a:r>
            <a:r>
              <a:rPr lang="en-US" altLang="zh-CN" sz="2000" dirty="0" err="1"/>
              <a:t>getchar</a:t>
            </a:r>
            <a:r>
              <a:rPr lang="en-US" altLang="zh-CN" sz="2000" dirty="0"/>
              <a:t>();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while (letter!='\n'){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if (letter &gt;='A' &amp;&amp; letter&lt;='Z')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putchar</a:t>
            </a:r>
            <a:r>
              <a:rPr lang="en-US" altLang="zh-CN" sz="2000" dirty="0"/>
              <a:t>((letter-'A'+ DIFF)%</a:t>
            </a:r>
            <a:r>
              <a:rPr lang="en-US" altLang="zh-CN" sz="2000" dirty="0" err="1"/>
              <a:t>26+'A</a:t>
            </a:r>
            <a:r>
              <a:rPr lang="en-US" altLang="zh-CN" sz="2000" dirty="0"/>
              <a:t>');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else if(letter &gt;='a' &amp;&amp; letter&lt;='z')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putchar</a:t>
            </a:r>
            <a:r>
              <a:rPr lang="en-US" altLang="zh-CN" sz="2000" dirty="0"/>
              <a:t>((letter-'a'+ DIFF)%</a:t>
            </a:r>
            <a:r>
              <a:rPr lang="en-US" altLang="zh-CN" sz="2000" dirty="0" err="1"/>
              <a:t>26+'a</a:t>
            </a:r>
            <a:r>
              <a:rPr lang="en-US" altLang="zh-CN" sz="2000" dirty="0"/>
              <a:t>');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else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putchar</a:t>
            </a:r>
            <a:r>
              <a:rPr lang="en-US" altLang="zh-CN" sz="2000" dirty="0"/>
              <a:t>(letter);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    letter=</a:t>
            </a:r>
            <a:r>
              <a:rPr lang="en-US" altLang="zh-CN" sz="2000" dirty="0" err="1"/>
              <a:t>getchar</a:t>
            </a:r>
            <a:r>
              <a:rPr lang="en-US" altLang="zh-CN" sz="2000" dirty="0"/>
              <a:t>();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putchar</a:t>
            </a:r>
            <a:r>
              <a:rPr lang="en-US" altLang="zh-CN" sz="2000" dirty="0"/>
              <a:t>('\n');	    return 0;</a:t>
            </a:r>
          </a:p>
          <a:p>
            <a:pPr marL="0" indent="0">
              <a:buFontTx/>
              <a:buNone/>
            </a:pPr>
            <a:r>
              <a:rPr lang="en-US" altLang="zh-C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936143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</a:t>
            </a:r>
            <a:r>
              <a:rPr lang="en-US" altLang="zh-CN" sz="2800" b="0" dirty="0" err="1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hi,tom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.; 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</a:t>
            </a:r>
            <a:r>
              <a:rPr lang="en-US" altLang="zh-CN" sz="2800" b="0" dirty="0" err="1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xyz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?;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Eat a apple!;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start at 9 clock.;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408909844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5">
            <a:extLst>
              <a:ext uri="{FF2B5EF4-FFF2-40B4-BE49-F238E27FC236}">
                <a16:creationId xmlns:a16="http://schemas.microsoft.com/office/drawing/2014/main" id="{9192EE1D-B7C9-40EF-8196-DCE79934C8E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937425F2-67A7-412B-B5E3-2A259F7222B3}" type="slidenum">
              <a:rPr lang="zh-CN" altLang="en-US" sz="1400"/>
              <a:pPr algn="r">
                <a:spcBef>
                  <a:spcPct val="50000"/>
                </a:spcBef>
              </a:pPr>
              <a:t>27</a:t>
            </a:fld>
            <a:endParaRPr lang="zh-CN" altLang="en-US" sz="14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5BCDAB32-C475-435E-9D32-CBC214B797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赋值和逻辑判断的简写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FBB3FDD-88BB-43CB-8A71-FA82F9E119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19213"/>
            <a:ext cx="7847013" cy="49895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800" dirty="0"/>
              <a:t> </a:t>
            </a:r>
            <a:r>
              <a:rPr lang="en-US" altLang="zh-CN" dirty="0"/>
              <a:t>l</a:t>
            </a:r>
            <a:r>
              <a:rPr lang="en-US" altLang="zh-CN" sz="2800" dirty="0"/>
              <a:t>etter=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</a:t>
            </a:r>
          </a:p>
          <a:p>
            <a:pPr marL="0" indent="0">
              <a:buFontTx/>
              <a:buNone/>
            </a:pPr>
            <a:r>
              <a:rPr lang="en-US" altLang="zh-CN" sz="2800" dirty="0"/>
              <a:t> while (</a:t>
            </a:r>
            <a:r>
              <a:rPr lang="en-US" altLang="zh-CN" dirty="0"/>
              <a:t>l</a:t>
            </a:r>
            <a:r>
              <a:rPr lang="en-US" altLang="zh-CN" sz="2800" dirty="0"/>
              <a:t>etter!='\n'){</a:t>
            </a:r>
          </a:p>
          <a:p>
            <a:pPr marL="0" indent="0">
              <a:buFontTx/>
              <a:buNone/>
            </a:pPr>
            <a:r>
              <a:rPr lang="en-US" altLang="zh-CN" sz="2800" dirty="0"/>
              <a:t>	</a:t>
            </a:r>
            <a:r>
              <a:rPr lang="en-US" altLang="zh-CN" dirty="0"/>
              <a:t>…</a:t>
            </a:r>
            <a:endParaRPr lang="en-US" altLang="zh-CN" sz="2800" dirty="0"/>
          </a:p>
          <a:p>
            <a:pPr marL="0" indent="0">
              <a:buFontTx/>
              <a:buNone/>
            </a:pPr>
            <a:r>
              <a:rPr lang="en-US" altLang="zh-CN" dirty="0"/>
              <a:t>	l</a:t>
            </a:r>
            <a:r>
              <a:rPr lang="en-US" altLang="zh-CN" sz="2800" dirty="0"/>
              <a:t>etter=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</a:t>
            </a:r>
          </a:p>
          <a:p>
            <a:pPr marL="0" indent="0">
              <a:buFontTx/>
              <a:buNone/>
            </a:pPr>
            <a:r>
              <a:rPr lang="en-US" altLang="zh-CN" sz="2800" dirty="0"/>
              <a:t> }</a:t>
            </a:r>
          </a:p>
          <a:p>
            <a:pPr marL="0" indent="0">
              <a:buFontTx/>
              <a:buNone/>
            </a:pPr>
            <a:r>
              <a:rPr lang="en-US" altLang="zh-CN" b="1" dirty="0">
                <a:solidFill>
                  <a:srgbClr val="2D35D3"/>
                </a:solidFill>
              </a:rPr>
              <a:t>C</a:t>
            </a:r>
            <a:r>
              <a:rPr lang="zh-CN" altLang="en-US" b="1" dirty="0">
                <a:solidFill>
                  <a:srgbClr val="2D35D3"/>
                </a:solidFill>
              </a:rPr>
              <a:t>语言中，赋值表达式用小括号括起来之后，可以代表所赋变量，继续和逻辑表达式嵌套组合。</a:t>
            </a:r>
          </a:p>
          <a:p>
            <a:pPr marL="0" indent="0">
              <a:buNone/>
            </a:pPr>
            <a:r>
              <a:rPr lang="zh-CN" altLang="en-US" sz="2800" dirty="0"/>
              <a:t>因此，上面三行代码可以简写为一行：</a:t>
            </a:r>
            <a:endParaRPr lang="en-US" altLang="zh-CN" sz="2800" dirty="0"/>
          </a:p>
          <a:p>
            <a:pPr marL="0" indent="0">
              <a:buFontTx/>
              <a:buNone/>
            </a:pPr>
            <a:r>
              <a:rPr lang="en-US" altLang="zh-CN" sz="2800" dirty="0"/>
              <a:t>while (</a:t>
            </a:r>
            <a:r>
              <a:rPr lang="en-US" altLang="zh-CN" sz="2800" dirty="0">
                <a:solidFill>
                  <a:srgbClr val="2D35D3"/>
                </a:solidFill>
              </a:rPr>
              <a:t>(</a:t>
            </a:r>
            <a:r>
              <a:rPr lang="en-US" altLang="zh-CN" dirty="0">
                <a:solidFill>
                  <a:srgbClr val="2D35D3"/>
                </a:solidFill>
              </a:rPr>
              <a:t>l</a:t>
            </a:r>
            <a:r>
              <a:rPr lang="en-US" altLang="zh-CN" sz="2800" dirty="0">
                <a:solidFill>
                  <a:srgbClr val="2D35D3"/>
                </a:solidFill>
              </a:rPr>
              <a:t>etter=</a:t>
            </a:r>
            <a:r>
              <a:rPr lang="en-US" altLang="zh-CN" sz="2800" dirty="0" err="1">
                <a:solidFill>
                  <a:srgbClr val="2D35D3"/>
                </a:solidFill>
              </a:rPr>
              <a:t>getchar</a:t>
            </a:r>
            <a:r>
              <a:rPr lang="en-US" altLang="zh-CN" sz="2800" dirty="0">
                <a:solidFill>
                  <a:srgbClr val="2D35D3"/>
                </a:solidFill>
              </a:rPr>
              <a:t>())</a:t>
            </a:r>
            <a:r>
              <a:rPr lang="en-US" altLang="zh-CN" sz="2800" dirty="0"/>
              <a:t>!='\n'){</a:t>
            </a:r>
            <a:r>
              <a:rPr lang="en-US" altLang="zh-CN" dirty="0"/>
              <a:t>…</a:t>
            </a:r>
            <a:r>
              <a:rPr lang="en-US" altLang="zh-CN" sz="2800" dirty="0"/>
              <a:t>}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0746" y="1268760"/>
            <a:ext cx="836250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问题描述：用泰勒级数求</a:t>
            </a:r>
            <a:r>
              <a:rPr lang="en-US" altLang="zh-CN" sz="2800" dirty="0"/>
              <a:t>e</a:t>
            </a:r>
            <a:r>
              <a:rPr lang="zh-CN" altLang="en-US" sz="2800" dirty="0"/>
              <a:t>的</a:t>
            </a:r>
            <a:r>
              <a:rPr lang="en-US" altLang="zh-CN" sz="2800" dirty="0"/>
              <a:t>x</a:t>
            </a:r>
            <a:r>
              <a:rPr lang="zh-CN" altLang="en-US" sz="2800" dirty="0"/>
              <a:t>次幂，</a:t>
            </a:r>
            <a:r>
              <a:rPr lang="en-US" altLang="zh-CN" sz="2800"/>
              <a:t>x</a:t>
            </a:r>
            <a:r>
              <a:rPr lang="zh-CN" altLang="en-US" sz="2800"/>
              <a:t>为</a:t>
            </a:r>
            <a:r>
              <a:rPr lang="zh-CN" altLang="en-US" sz="2800" dirty="0"/>
              <a:t>所有实数。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思路：级数的特点是多次循环，直到小于限定的误差值。所以，设计时最好用</a:t>
            </a:r>
            <a:r>
              <a:rPr lang="en-US" altLang="zh-CN" sz="2800" dirty="0"/>
              <a:t>double</a:t>
            </a:r>
            <a:r>
              <a:rPr lang="zh-CN" altLang="en-US" sz="2800" dirty="0"/>
              <a:t>类型，支持较小的误差范围。</a:t>
            </a:r>
            <a:endParaRPr lang="en-US" altLang="zh-CN" sz="2800" dirty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问题：求</a:t>
            </a:r>
            <a:r>
              <a:rPr lang="en-US" altLang="zh-CN" b="1" dirty="0">
                <a:solidFill>
                  <a:srgbClr val="FF0000"/>
                </a:solidFill>
              </a:rPr>
              <a:t>e</a:t>
            </a:r>
            <a:r>
              <a:rPr lang="en-US" altLang="zh-CN" b="1" baseline="30000" dirty="0">
                <a:solidFill>
                  <a:srgbClr val="FF0000"/>
                </a:solidFill>
              </a:rPr>
              <a:t>x</a:t>
            </a:r>
            <a:endParaRPr lang="zh-CN" altLang="en-US" b="1" baseline="30000" dirty="0">
              <a:solidFill>
                <a:srgbClr val="FF0000"/>
              </a:solidFill>
            </a:endParaRP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65C6AC4D-DCD6-406C-9F63-A8AD4E3A0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060848"/>
            <a:ext cx="342582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058544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268760"/>
            <a:ext cx="8083550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的实数幂算法设计：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double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变量 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x,sum,item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int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变量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从键盘接受输入的实数，存入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x;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设置初始值：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sum=0.0,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item=1.0, n=1,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/>
              <a:t> while (item</a:t>
            </a:r>
            <a:r>
              <a:rPr lang="zh-CN" altLang="en-US" sz="2400" dirty="0"/>
              <a:t>的绝对值</a:t>
            </a:r>
            <a:r>
              <a:rPr lang="en-US" altLang="zh-CN" sz="2400" dirty="0"/>
              <a:t>&gt;</a:t>
            </a:r>
            <a:r>
              <a:rPr lang="zh-CN" altLang="en-US" sz="2400" dirty="0"/>
              <a:t>规定误差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		sum </a:t>
            </a:r>
            <a:r>
              <a:rPr lang="zh-CN" altLang="en-US" sz="2400" dirty="0"/>
              <a:t>累加</a:t>
            </a:r>
            <a:r>
              <a:rPr lang="en-US" altLang="zh-CN" sz="2400" dirty="0"/>
              <a:t>item;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/>
              <a:t>  	</a:t>
            </a:r>
            <a:r>
              <a:rPr lang="zh-CN" altLang="en-US" sz="2400" dirty="0"/>
              <a:t>滚动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计算新的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item = item *x /n</a:t>
            </a:r>
            <a:r>
              <a:rPr lang="en-US" altLang="zh-CN" sz="2400" dirty="0"/>
              <a:t> ;</a:t>
            </a:r>
          </a:p>
          <a:p>
            <a:pPr lvl="1"/>
            <a:r>
              <a:rPr lang="en-US" altLang="zh-CN" sz="2400" dirty="0"/>
              <a:t>		n = </a:t>
            </a:r>
            <a:r>
              <a:rPr lang="en-US" altLang="zh-CN" sz="2400" dirty="0" err="1"/>
              <a:t>n+1</a:t>
            </a:r>
            <a:r>
              <a:rPr lang="en-US" altLang="zh-CN" sz="2400" dirty="0"/>
              <a:t>;</a:t>
            </a:r>
          </a:p>
          <a:p>
            <a:pPr lvl="1"/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显示器打印</a:t>
            </a:r>
            <a:r>
              <a:rPr lang="pt-BR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"%.16f"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结果值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sum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 b="1" dirty="0"/>
              <a:t>e</a:t>
            </a:r>
            <a:r>
              <a:rPr lang="zh-CN" altLang="en-US" b="1" dirty="0"/>
              <a:t>的幂算法设计</a:t>
            </a:r>
          </a:p>
        </p:txBody>
      </p:sp>
    </p:spTree>
    <p:extLst>
      <p:ext uri="{BB962C8B-B14F-4D97-AF65-F5344CB8AC3E}">
        <p14:creationId xmlns:p14="http://schemas.microsoft.com/office/powerpoint/2010/main" val="398763901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>
            <a:extLst>
              <a:ext uri="{FF2B5EF4-FFF2-40B4-BE49-F238E27FC236}">
                <a16:creationId xmlns:a16="http://schemas.microsoft.com/office/drawing/2014/main" id="{64D61036-7AA4-4F33-A019-E107A71BA6D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6D81E0F3-86B0-4531-B71F-736C4B14B6C7}" type="slidenum">
              <a:rPr lang="zh-CN" altLang="en-US" sz="1400"/>
              <a:pPr algn="r">
                <a:spcBef>
                  <a:spcPct val="50000"/>
                </a:spcBef>
              </a:pPr>
              <a:t>30</a:t>
            </a:fld>
            <a:endParaRPr lang="zh-CN" altLang="en-US" sz="1400"/>
          </a:p>
        </p:txBody>
      </p:sp>
      <p:sp>
        <p:nvSpPr>
          <p:cNvPr id="78850" name="Rectangle 4">
            <a:extLst>
              <a:ext uri="{FF2B5EF4-FFF2-40B4-BE49-F238E27FC236}">
                <a16:creationId xmlns:a16="http://schemas.microsoft.com/office/drawing/2014/main" id="{49316165-9A7C-4F09-92C4-C6F71F3397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19100" y="1298576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None/>
            </a:pPr>
            <a:r>
              <a:rPr lang="en-US" altLang="zh-CN" sz="2800" dirty="0"/>
              <a:t>for(</a:t>
            </a:r>
            <a:r>
              <a:rPr lang="zh-CN" altLang="en-US" sz="2800" dirty="0"/>
              <a:t>表达式1</a:t>
            </a:r>
            <a:r>
              <a:rPr lang="en-US" altLang="zh-CN" sz="2800" dirty="0"/>
              <a:t>;</a:t>
            </a:r>
            <a:r>
              <a:rPr lang="zh-CN" altLang="en-US" sz="2800" dirty="0"/>
              <a:t>表达式2</a:t>
            </a:r>
            <a:r>
              <a:rPr lang="en-US" altLang="zh-CN" sz="2800" dirty="0"/>
              <a:t>;</a:t>
            </a:r>
            <a:r>
              <a:rPr lang="zh-CN" altLang="en-US" sz="2800" dirty="0"/>
              <a:t>表达式3</a:t>
            </a:r>
            <a:r>
              <a:rPr lang="en-US" altLang="zh-CN" sz="2800" dirty="0"/>
              <a:t>)</a:t>
            </a:r>
            <a:r>
              <a:rPr lang="zh-CN" altLang="en-US" sz="2800" dirty="0"/>
              <a:t> 循环语句</a:t>
            </a:r>
            <a:r>
              <a:rPr lang="en-US" altLang="zh-CN" sz="2800" dirty="0"/>
              <a:t>;</a:t>
            </a:r>
            <a:endParaRPr lang="zh-CN" altLang="en-US" sz="2800" dirty="0"/>
          </a:p>
          <a:p>
            <a:pPr eaLnBrk="1" hangingPunct="1"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78852" name="Text Box 1032">
            <a:extLst>
              <a:ext uri="{FF2B5EF4-FFF2-40B4-BE49-F238E27FC236}">
                <a16:creationId xmlns:a16="http://schemas.microsoft.com/office/drawing/2014/main" id="{41D8FA76-941C-4689-8D8A-4B461357B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6460" y="2232029"/>
            <a:ext cx="3419475" cy="323165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与仅强调循环条件的</a:t>
            </a:r>
            <a:r>
              <a:rPr lang="en-US" altLang="zh-CN" sz="2400" dirty="0"/>
              <a:t>while(</a:t>
            </a:r>
            <a:r>
              <a:rPr lang="zh-CN" altLang="en-US" sz="2400" dirty="0"/>
              <a:t>表达式</a:t>
            </a:r>
            <a:r>
              <a:rPr lang="en-US" altLang="zh-CN" sz="2400" dirty="0"/>
              <a:t>2)</a:t>
            </a:r>
            <a:r>
              <a:rPr lang="zh-CN" altLang="en-US" sz="2400" dirty="0"/>
              <a:t>循环结构相比，凸显了循环控制的全部要素：初始值、循环条件、每次循环后控制变量如何变化。</a:t>
            </a:r>
            <a:endParaRPr lang="en-US" altLang="zh-CN" sz="2400" dirty="0"/>
          </a:p>
          <a:p>
            <a:pPr>
              <a:spcBef>
                <a:spcPct val="50000"/>
              </a:spcBef>
            </a:pPr>
            <a:r>
              <a:rPr lang="zh-CN" altLang="en-US" sz="2400" dirty="0"/>
              <a:t>因此，</a:t>
            </a:r>
            <a:r>
              <a:rPr lang="en-US" altLang="zh-CN" sz="2400" dirty="0"/>
              <a:t>for</a:t>
            </a:r>
            <a:r>
              <a:rPr lang="zh-CN" altLang="en-US" sz="2400" dirty="0"/>
              <a:t>循环结构更方便程序调试和代码升级。</a:t>
            </a:r>
            <a:endParaRPr lang="en-US" altLang="zh-CN" sz="2400" dirty="0"/>
          </a:p>
        </p:txBody>
      </p:sp>
      <p:sp>
        <p:nvSpPr>
          <p:cNvPr id="78854" name="标题 53250">
            <a:extLst>
              <a:ext uri="{FF2B5EF4-FFF2-40B4-BE49-F238E27FC236}">
                <a16:creationId xmlns:a16="http://schemas.microsoft.com/office/drawing/2014/main" id="{48BA884A-9D03-4724-93E0-BA570459BEA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362200" y="260350"/>
            <a:ext cx="66738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r" eaLnBrk="0" hangingPunct="0">
              <a:spcBef>
                <a:spcPct val="0"/>
              </a:spcBef>
            </a:pPr>
            <a:r>
              <a:rPr lang="zh-CN" altLang="en-US" sz="3200" dirty="0">
                <a:solidFill>
                  <a:srgbClr val="FF3300"/>
                </a:solidFill>
              </a:rPr>
              <a:t>最简洁的循环结构</a:t>
            </a:r>
            <a:r>
              <a:rPr lang="en-US" altLang="zh-CN" sz="3200" dirty="0">
                <a:solidFill>
                  <a:srgbClr val="FF3300"/>
                </a:solidFill>
              </a:rPr>
              <a:t>: for</a:t>
            </a:r>
            <a:r>
              <a:rPr lang="zh-CN" altLang="en-US" sz="3200" dirty="0">
                <a:solidFill>
                  <a:srgbClr val="FF3300"/>
                </a:solidFill>
              </a:rPr>
              <a:t>循环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D897D8F-00DF-433C-8E5C-3B0291952879}"/>
              </a:ext>
            </a:extLst>
          </p:cNvPr>
          <p:cNvGrpSpPr/>
          <p:nvPr/>
        </p:nvGrpSpPr>
        <p:grpSpPr>
          <a:xfrm>
            <a:off x="611560" y="2019646"/>
            <a:ext cx="4451351" cy="3857626"/>
            <a:chOff x="755576" y="1701502"/>
            <a:chExt cx="4451351" cy="3857626"/>
          </a:xfrm>
        </p:grpSpPr>
        <p:grpSp>
          <p:nvGrpSpPr>
            <p:cNvPr id="8" name="组合 51209">
              <a:extLst>
                <a:ext uri="{FF2B5EF4-FFF2-40B4-BE49-F238E27FC236}">
                  <a16:creationId xmlns:a16="http://schemas.microsoft.com/office/drawing/2014/main" id="{DAE6B23B-76BB-4F4E-97E7-43FEFAA26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5576" y="1701502"/>
              <a:ext cx="4451351" cy="3857626"/>
              <a:chOff x="0" y="-181"/>
              <a:chExt cx="2804" cy="2430"/>
            </a:xfrm>
          </p:grpSpPr>
          <p:sp>
            <p:nvSpPr>
              <p:cNvPr id="9" name="Rectangle 12">
                <a:extLst>
                  <a:ext uri="{FF2B5EF4-FFF2-40B4-BE49-F238E27FC236}">
                    <a16:creationId xmlns:a16="http://schemas.microsoft.com/office/drawing/2014/main" id="{67C94154-C411-4901-A1CB-21945DCF1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" y="-51"/>
                <a:ext cx="1898" cy="2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endParaRPr lang="zh-CN" altLang="en-US" sz="2000"/>
              </a:p>
              <a:p>
                <a:pPr algn="just" eaLnBrk="0" hangingPunct="0">
                  <a:spcBef>
                    <a:spcPct val="0"/>
                  </a:spcBef>
                </a:pPr>
                <a:r>
                  <a:rPr lang="zh-CN" altLang="en-US" sz="2000"/>
                  <a:t>              </a:t>
                </a:r>
              </a:p>
            </p:txBody>
          </p:sp>
          <p:sp>
            <p:nvSpPr>
              <p:cNvPr id="10" name="Line 13">
                <a:extLst>
                  <a:ext uri="{FF2B5EF4-FFF2-40B4-BE49-F238E27FC236}">
                    <a16:creationId xmlns:a16="http://schemas.microsoft.com/office/drawing/2014/main" id="{C2768250-54EE-4B5B-A7E8-D4355561F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9" y="1950"/>
                <a:ext cx="40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5">
                <a:extLst>
                  <a:ext uri="{FF2B5EF4-FFF2-40B4-BE49-F238E27FC236}">
                    <a16:creationId xmlns:a16="http://schemas.microsoft.com/office/drawing/2014/main" id="{6A0ADFB8-D7CF-4504-9498-9EDB8499A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7" y="-181"/>
                <a:ext cx="11" cy="2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Rectangle 17">
                <a:extLst>
                  <a:ext uri="{FF2B5EF4-FFF2-40B4-BE49-F238E27FC236}">
                    <a16:creationId xmlns:a16="http://schemas.microsoft.com/office/drawing/2014/main" id="{CD616DE9-0E6C-4F91-83DD-807C80772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1316"/>
                <a:ext cx="847" cy="2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hangingPunct="0">
                  <a:spcBef>
                    <a:spcPct val="0"/>
                  </a:spcBef>
                </a:pPr>
                <a:r>
                  <a:rPr lang="zh-CN" altLang="en-US" sz="2000" dirty="0"/>
                  <a:t>循环语句</a:t>
                </a:r>
              </a:p>
            </p:txBody>
          </p:sp>
          <p:sp>
            <p:nvSpPr>
              <p:cNvPr id="13" name="Line 18">
                <a:extLst>
                  <a:ext uri="{FF2B5EF4-FFF2-40B4-BE49-F238E27FC236}">
                    <a16:creationId xmlns:a16="http://schemas.microsoft.com/office/drawing/2014/main" id="{109BFD4F-D2AD-49F4-BF47-8CCEC6ED1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3" y="496"/>
                <a:ext cx="6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9">
                <a:extLst>
                  <a:ext uri="{FF2B5EF4-FFF2-40B4-BE49-F238E27FC236}">
                    <a16:creationId xmlns:a16="http://schemas.microsoft.com/office/drawing/2014/main" id="{E59A89E4-0907-419F-84A3-E5FAE20D7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" y="817"/>
                <a:ext cx="0" cy="12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20">
                <a:extLst>
                  <a:ext uri="{FF2B5EF4-FFF2-40B4-BE49-F238E27FC236}">
                    <a16:creationId xmlns:a16="http://schemas.microsoft.com/office/drawing/2014/main" id="{D9D0656A-0CF7-4FCA-967D-3EFC15812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24" y="496"/>
                <a:ext cx="19" cy="14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AutoShape 21">
                <a:extLst>
                  <a:ext uri="{FF2B5EF4-FFF2-40B4-BE49-F238E27FC236}">
                    <a16:creationId xmlns:a16="http://schemas.microsoft.com/office/drawing/2014/main" id="{25F6B257-3FC6-446F-A7C4-D78AE2883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" y="592"/>
                <a:ext cx="1192" cy="451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/>
              <a:lstStyle/>
              <a:p>
                <a:pPr eaLnBrk="0" hangingPunct="0">
                  <a:spcBef>
                    <a:spcPct val="0"/>
                  </a:spcBef>
                </a:pPr>
                <a:r>
                  <a:rPr lang="zh-CN" altLang="en-US" dirty="0"/>
                  <a:t>表达式</a:t>
                </a:r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7" name="Text Box 22">
                <a:extLst>
                  <a:ext uri="{FF2B5EF4-FFF2-40B4-BE49-F238E27FC236}">
                    <a16:creationId xmlns:a16="http://schemas.microsoft.com/office/drawing/2014/main" id="{961FED5C-60CD-4753-B6B0-338CA59836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1" y="998"/>
                <a:ext cx="88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lang="zh-CN" altLang="en-US" sz="2000"/>
                  <a:t>真</a:t>
                </a:r>
                <a:r>
                  <a:rPr lang="en-US" altLang="zh-CN" sz="2000"/>
                  <a:t>(</a:t>
                </a:r>
                <a:r>
                  <a:rPr lang="zh-CN" altLang="en-US" sz="2000"/>
                  <a:t>非0</a:t>
                </a:r>
                <a:r>
                  <a:rPr lang="en-US" altLang="zh-CN" sz="2000"/>
                  <a:t>)</a:t>
                </a:r>
                <a:endParaRPr lang="zh-CN" altLang="en-US" sz="2000"/>
              </a:p>
            </p:txBody>
          </p:sp>
          <p:sp>
            <p:nvSpPr>
              <p:cNvPr id="18" name="Text Box 23">
                <a:extLst>
                  <a:ext uri="{FF2B5EF4-FFF2-40B4-BE49-F238E27FC236}">
                    <a16:creationId xmlns:a16="http://schemas.microsoft.com/office/drawing/2014/main" id="{AE02C9C6-71A1-43AC-BFEB-D2022A207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62"/>
                <a:ext cx="886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>
                  <a:spcBef>
                    <a:spcPct val="0"/>
                  </a:spcBef>
                </a:pPr>
                <a:r>
                  <a:rPr lang="zh-CN" altLang="en-US" sz="2000"/>
                  <a:t>假</a:t>
                </a:r>
                <a:r>
                  <a:rPr lang="en-US" altLang="zh-CN" sz="2000"/>
                  <a:t>(</a:t>
                </a:r>
                <a:r>
                  <a:rPr lang="zh-CN" altLang="en-US" sz="2000"/>
                  <a:t>0</a:t>
                </a:r>
                <a:r>
                  <a:rPr lang="en-US" altLang="zh-CN" sz="2000"/>
                  <a:t>)</a:t>
                </a:r>
                <a:endParaRPr lang="zh-CN" altLang="en-US" sz="2000"/>
              </a:p>
            </p:txBody>
          </p:sp>
          <p:sp>
            <p:nvSpPr>
              <p:cNvPr id="19" name="AutoShape 32">
                <a:extLst>
                  <a:ext uri="{FF2B5EF4-FFF2-40B4-BE49-F238E27FC236}">
                    <a16:creationId xmlns:a16="http://schemas.microsoft.com/office/drawing/2014/main" id="{3A86532C-294C-4127-82D2-6D0350008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606"/>
                <a:ext cx="907" cy="418"/>
              </a:xfrm>
              <a:prstGeom prst="wedgeRoundRectCallout">
                <a:avLst>
                  <a:gd name="adj1" fmla="val -98607"/>
                  <a:gd name="adj2" fmla="val 56603"/>
                  <a:gd name="adj3" fmla="val 16667"/>
                </a:avLst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zh-CN" altLang="en-US" dirty="0"/>
                  <a:t>循环控制变量的更新</a:t>
                </a:r>
              </a:p>
            </p:txBody>
          </p:sp>
          <p:sp>
            <p:nvSpPr>
              <p:cNvPr id="20" name="AutoShape 33">
                <a:extLst>
                  <a:ext uri="{FF2B5EF4-FFF2-40B4-BE49-F238E27FC236}">
                    <a16:creationId xmlns:a16="http://schemas.microsoft.com/office/drawing/2014/main" id="{69F9EE2D-790C-436C-9698-4BC20FE6E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8" y="314"/>
                <a:ext cx="907" cy="319"/>
              </a:xfrm>
              <a:prstGeom prst="wedgeRoundRectCallout">
                <a:avLst>
                  <a:gd name="adj1" fmla="val -80099"/>
                  <a:gd name="adj2" fmla="val 93887"/>
                  <a:gd name="adj3" fmla="val 16667"/>
                </a:avLst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zh-CN" altLang="en-US" dirty="0"/>
                  <a:t>循环条件</a:t>
                </a: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EF732D58-8E23-4B38-814B-9B61FFBB3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7" y="1043"/>
                <a:ext cx="0" cy="2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8473ECB8-A712-4C50-B050-378072EC8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" y="817"/>
                <a:ext cx="3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E674172B-D2EE-40DA-92EF-B3CFA51BE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01" y="4915099"/>
              <a:ext cx="1344613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ct val="0"/>
                </a:spcBef>
              </a:pPr>
              <a:r>
                <a:rPr lang="zh-CN" altLang="en-US" sz="2000" dirty="0"/>
                <a:t>表达式</a:t>
              </a:r>
              <a:r>
                <a:rPr lang="en-US" altLang="zh-CN" sz="2000" dirty="0"/>
                <a:t>3</a:t>
              </a:r>
              <a:endParaRPr lang="zh-CN" altLang="en-US" sz="2000" dirty="0"/>
            </a:p>
          </p:txBody>
        </p:sp>
        <p:sp>
          <p:nvSpPr>
            <p:cNvPr id="24" name="Line 15">
              <a:extLst>
                <a:ext uri="{FF2B5EF4-FFF2-40B4-BE49-F238E27FC236}">
                  <a16:creationId xmlns:a16="http://schemas.microsoft.com/office/drawing/2014/main" id="{529F6166-658F-4BEC-A3F0-B4C3B36F9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2" y="4507780"/>
              <a:ext cx="0" cy="4333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F17780B0-C873-44DF-B0D9-FB177B90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1395" y="2159496"/>
              <a:ext cx="1344613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ct val="0"/>
                </a:spcBef>
              </a:pPr>
              <a:r>
                <a:rPr lang="zh-CN" altLang="en-US" sz="2000" dirty="0"/>
                <a:t>表达式</a:t>
              </a:r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9A81DE39-E28F-4235-B2AB-DEE6ED3B3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037" y="2598439"/>
              <a:ext cx="7714" cy="330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AutoShape 33">
              <a:extLst>
                <a:ext uri="{FF2B5EF4-FFF2-40B4-BE49-F238E27FC236}">
                  <a16:creationId xmlns:a16="http://schemas.microsoft.com/office/drawing/2014/main" id="{5F982E61-134A-4C65-9156-3289EE01E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745" y="1770558"/>
              <a:ext cx="1701727" cy="607642"/>
            </a:xfrm>
            <a:prstGeom prst="wedgeRoundRectCallout">
              <a:avLst>
                <a:gd name="adj1" fmla="val -76791"/>
                <a:gd name="adj2" fmla="val 69436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dirty="0"/>
                <a:t>循环控制变量的初值设定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750759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文本占位符 74753">
            <a:extLst>
              <a:ext uri="{FF2B5EF4-FFF2-40B4-BE49-F238E27FC236}">
                <a16:creationId xmlns:a16="http://schemas.microsoft.com/office/drawing/2014/main" id="{AE5DD31E-C69A-43DF-96AE-A74E159345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22375"/>
            <a:ext cx="8872538" cy="4951412"/>
          </a:xfrm>
        </p:spPr>
        <p:txBody>
          <a:bodyPr/>
          <a:lstStyle/>
          <a:p>
            <a:pPr marL="0" indent="374650">
              <a:lnSpc>
                <a:spcPct val="90000"/>
              </a:lnSpc>
              <a:buFontTx/>
              <a:buNone/>
            </a:pPr>
            <a:r>
              <a:rPr lang="zh-CN" altLang="zh-CN" sz="2000" dirty="0"/>
              <a:t>#</a:t>
            </a:r>
            <a:r>
              <a:rPr lang="en-US" altLang="zh-CN" sz="2000" dirty="0"/>
              <a:t>in</a:t>
            </a:r>
            <a:r>
              <a:rPr lang="zh-CN" altLang="zh-CN" sz="2000" dirty="0"/>
              <a:t>clude&lt;stdio.h&gt;</a:t>
            </a:r>
            <a:endParaRPr lang="en-US" altLang="zh-CN" sz="2000" dirty="0"/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math.h</a:t>
            </a:r>
            <a:r>
              <a:rPr lang="en-US" altLang="zh-CN" sz="2000" dirty="0"/>
              <a:t>&gt;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#define DIFF </a:t>
            </a:r>
            <a:r>
              <a:rPr lang="en-US" altLang="zh-CN" sz="2000" dirty="0" err="1"/>
              <a:t>1e</a:t>
            </a:r>
            <a:r>
              <a:rPr lang="en-US" altLang="zh-CN" sz="2000" dirty="0"/>
              <a:t>-12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int main(void){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double </a:t>
            </a:r>
            <a:r>
              <a:rPr lang="en-US" altLang="zh-CN" sz="2000" dirty="0" err="1"/>
              <a:t>x,sum,item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int n;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("Enter a real number for e power.\n");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lf</a:t>
            </a:r>
            <a:r>
              <a:rPr lang="en-US" altLang="zh-CN" sz="2000" dirty="0"/>
              <a:t>",&amp;x);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for (</a:t>
            </a:r>
            <a:r>
              <a:rPr lang="en-US" altLang="zh-CN" sz="2000" dirty="0">
                <a:solidFill>
                  <a:srgbClr val="3366FF"/>
                </a:solidFill>
              </a:rPr>
              <a:t>sum=</a:t>
            </a:r>
            <a:r>
              <a:rPr lang="en-US" altLang="zh-CN" sz="2000" dirty="0" err="1">
                <a:solidFill>
                  <a:srgbClr val="3366FF"/>
                </a:solidFill>
              </a:rPr>
              <a:t>0.0,item</a:t>
            </a:r>
            <a:r>
              <a:rPr lang="en-US" altLang="zh-CN" sz="2000" dirty="0">
                <a:solidFill>
                  <a:srgbClr val="3366FF"/>
                </a:solidFill>
              </a:rPr>
              <a:t>=</a:t>
            </a:r>
            <a:r>
              <a:rPr lang="en-US" altLang="zh-CN" sz="2000" dirty="0" err="1">
                <a:solidFill>
                  <a:srgbClr val="3366FF"/>
                </a:solidFill>
              </a:rPr>
              <a:t>1.0,n</a:t>
            </a:r>
            <a:r>
              <a:rPr lang="en-US" altLang="zh-CN" sz="2000" dirty="0">
                <a:solidFill>
                  <a:srgbClr val="3366FF"/>
                </a:solidFill>
              </a:rPr>
              <a:t>=1</a:t>
            </a:r>
            <a:r>
              <a:rPr lang="en-US" altLang="zh-CN" sz="2000" dirty="0"/>
              <a:t>; fabs(item) &gt; DIFF; </a:t>
            </a:r>
            <a:r>
              <a:rPr lang="en-US" altLang="zh-CN" sz="2000" dirty="0">
                <a:solidFill>
                  <a:srgbClr val="2D35D3"/>
                </a:solidFill>
              </a:rPr>
              <a:t>n++</a:t>
            </a:r>
            <a:r>
              <a:rPr lang="en-US" altLang="zh-CN" sz="2000" dirty="0"/>
              <a:t>)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{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	sum += item;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	item *= x/n; //</a:t>
            </a:r>
            <a:r>
              <a:rPr lang="zh-CN" altLang="en-US" sz="2000" dirty="0"/>
              <a:t>为减小误差，利用前后两项滚动比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}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("exp(%f) = %.</a:t>
            </a:r>
            <a:r>
              <a:rPr lang="en-US" altLang="zh-CN" sz="2000" dirty="0" err="1"/>
              <a:t>16f</a:t>
            </a:r>
            <a:r>
              <a:rPr lang="en-US" altLang="zh-CN" sz="2000" dirty="0"/>
              <a:t>\n",</a:t>
            </a:r>
            <a:r>
              <a:rPr lang="en-US" altLang="zh-CN" sz="2000" dirty="0" err="1"/>
              <a:t>x,sum</a:t>
            </a:r>
            <a:r>
              <a:rPr lang="en-US" altLang="zh-CN" sz="20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("math function exp = %.</a:t>
            </a:r>
            <a:r>
              <a:rPr lang="en-US" altLang="zh-CN" sz="2000" dirty="0" err="1"/>
              <a:t>16f</a:t>
            </a:r>
            <a:r>
              <a:rPr lang="en-US" altLang="zh-CN" sz="2000" dirty="0"/>
              <a:t>\</a:t>
            </a:r>
            <a:r>
              <a:rPr lang="en-US" altLang="zh-CN" sz="2000" dirty="0" err="1"/>
              <a:t>n",exp</a:t>
            </a:r>
            <a:r>
              <a:rPr lang="en-US" altLang="zh-CN" sz="2000" dirty="0"/>
              <a:t>(x));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	return 0;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000" dirty="0"/>
              <a:t>}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endParaRPr lang="zh-CN" altLang="zh-CN" sz="2000" dirty="0"/>
          </a:p>
        </p:txBody>
      </p:sp>
      <p:sp>
        <p:nvSpPr>
          <p:cNvPr id="92162" name="标题 74754">
            <a:extLst>
              <a:ext uri="{FF2B5EF4-FFF2-40B4-BE49-F238E27FC236}">
                <a16:creationId xmlns:a16="http://schemas.microsoft.com/office/drawing/2014/main" id="{4D6E90B4-B806-489A-A4E0-80835F12F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138" y="501650"/>
            <a:ext cx="7772400" cy="720725"/>
          </a:xfrm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zh-CN" altLang="en-US" sz="4000" b="1" noProof="1">
                <a:solidFill>
                  <a:srgbClr val="FF0000"/>
                </a:solidFill>
              </a:rPr>
              <a:t>利用泰勒级数求</a:t>
            </a:r>
            <a:r>
              <a:rPr lang="en-US" altLang="zh-CN" sz="4000" b="1" noProof="1">
                <a:solidFill>
                  <a:srgbClr val="FF0000"/>
                </a:solidFill>
              </a:rPr>
              <a:t>e</a:t>
            </a:r>
            <a:r>
              <a:rPr lang="en-US" altLang="zh-CN" sz="4000" b="1" baseline="30000" noProof="1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794625">
            <a:extLst>
              <a:ext uri="{FF2B5EF4-FFF2-40B4-BE49-F238E27FC236}">
                <a16:creationId xmlns:a16="http://schemas.microsoft.com/office/drawing/2014/main" id="{04CC4A44-F203-4090-AD01-7C3160FC3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/>
              <a:t>  </a:t>
            </a:r>
            <a:r>
              <a:rPr lang="zh-CN" altLang="en-US" b="1" dirty="0"/>
              <a:t>表达式语句中的逗号运算符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A2AFB6C-38CC-4CD0-8130-C81E445E7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/>
              <a:t>for (</a:t>
            </a:r>
            <a:r>
              <a:rPr lang="en-US" altLang="zh-CN" sz="2800" dirty="0">
                <a:solidFill>
                  <a:srgbClr val="3366FF"/>
                </a:solidFill>
              </a:rPr>
              <a:t>sum=</a:t>
            </a:r>
            <a:r>
              <a:rPr lang="en-US" altLang="zh-CN" sz="2800" dirty="0" err="1">
                <a:solidFill>
                  <a:srgbClr val="3366FF"/>
                </a:solidFill>
              </a:rPr>
              <a:t>0.0,item</a:t>
            </a:r>
            <a:r>
              <a:rPr lang="en-US" altLang="zh-CN" sz="2800" dirty="0">
                <a:solidFill>
                  <a:srgbClr val="3366FF"/>
                </a:solidFill>
              </a:rPr>
              <a:t>=</a:t>
            </a:r>
            <a:r>
              <a:rPr lang="en-US" altLang="zh-CN" sz="2800" dirty="0" err="1">
                <a:solidFill>
                  <a:srgbClr val="3366FF"/>
                </a:solidFill>
              </a:rPr>
              <a:t>1.0,n</a:t>
            </a:r>
            <a:r>
              <a:rPr lang="en-US" altLang="zh-CN" sz="2800" dirty="0">
                <a:solidFill>
                  <a:srgbClr val="3366FF"/>
                </a:solidFill>
              </a:rPr>
              <a:t>=1</a:t>
            </a:r>
            <a:r>
              <a:rPr lang="en-US" altLang="zh-CN" sz="2800" dirty="0"/>
              <a:t>; fabs(item) &gt; DIFF; n++)</a:t>
            </a:r>
          </a:p>
          <a:p>
            <a:r>
              <a:rPr lang="zh-CN" altLang="en-US" dirty="0"/>
              <a:t>逗号运算符把两个表达式连接成一个表达式。</a:t>
            </a:r>
            <a:endParaRPr lang="en-US" altLang="zh-CN" dirty="0"/>
          </a:p>
          <a:p>
            <a:r>
              <a:rPr lang="zh-CN" altLang="en-US" dirty="0"/>
              <a:t>逗号运算符扩展了</a:t>
            </a:r>
            <a:r>
              <a:rPr lang="en-US" altLang="zh-CN" dirty="0"/>
              <a:t>for</a:t>
            </a:r>
            <a:r>
              <a:rPr lang="zh-CN" altLang="en-US" dirty="0"/>
              <a:t>循环的灵活性，以便在循环头中包含更多的表达式。</a:t>
            </a:r>
            <a:endParaRPr lang="en-US" altLang="zh-CN" dirty="0"/>
          </a:p>
          <a:p>
            <a:r>
              <a:rPr lang="zh-CN" altLang="en-US" dirty="0"/>
              <a:t>逗号运算符并不局限于在</a:t>
            </a:r>
            <a:r>
              <a:rPr lang="en-US" altLang="zh-CN" dirty="0"/>
              <a:t>for</a:t>
            </a:r>
            <a:r>
              <a:rPr lang="zh-CN" altLang="en-US" dirty="0"/>
              <a:t>循环中使用，但是这是它最常用的地方。</a:t>
            </a:r>
            <a:endParaRPr lang="en-US" altLang="zh-CN" dirty="0"/>
          </a:p>
          <a:p>
            <a:r>
              <a:rPr lang="zh-CN" altLang="en-US" dirty="0"/>
              <a:t>逗号运算符有两个性质：首先，它保证了被它</a:t>
            </a:r>
            <a:r>
              <a:rPr lang="zh-CN" altLang="en-US" u="sng" dirty="0"/>
              <a:t>分隔的表达式从左往右求值</a:t>
            </a:r>
            <a:r>
              <a:rPr lang="zh-CN" altLang="en-US" dirty="0"/>
              <a:t>。其次，整个逗号表达式的</a:t>
            </a:r>
            <a:r>
              <a:rPr lang="zh-CN" altLang="en-US" u="sng" dirty="0"/>
              <a:t>值是最右侧项的值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advClick="0">
    <p:strips dir="r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>
            <a:extLst>
              <a:ext uri="{FF2B5EF4-FFF2-40B4-BE49-F238E27FC236}">
                <a16:creationId xmlns:a16="http://schemas.microsoft.com/office/drawing/2014/main" id="{64F3DD05-9D76-4220-BB4E-737679A34C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5C2F50FD-6BF4-4C2C-A271-E17445F2CE7E}" type="slidenum">
              <a:rPr lang="zh-CN" altLang="en-US" sz="1400"/>
              <a:pPr algn="r">
                <a:spcBef>
                  <a:spcPct val="50000"/>
                </a:spcBef>
              </a:pPr>
              <a:t>33</a:t>
            </a:fld>
            <a:endParaRPr lang="zh-CN" altLang="en-US" sz="14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30CBDCBD-1A72-425F-8392-21EE2319F99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运算符</a:t>
            </a:r>
            <a:r>
              <a:rPr lang="en-US" altLang="zh-CN" dirty="0"/>
              <a:t>++</a:t>
            </a:r>
            <a:r>
              <a:rPr lang="zh-CN" altLang="en-US" dirty="0"/>
              <a:t>、</a:t>
            </a:r>
            <a:r>
              <a:rPr lang="en-US" altLang="zh-CN" dirty="0"/>
              <a:t>--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C2799E0-1EF8-479E-A2DF-AAFF3421056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39552" y="1268760"/>
            <a:ext cx="8299648" cy="4611687"/>
          </a:xfrm>
        </p:spPr>
        <p:txBody>
          <a:bodyPr/>
          <a:lstStyle/>
          <a:p>
            <a:pPr eaLnBrk="1" hangingPunct="1"/>
            <a:r>
              <a:rPr lang="zh-CN" altLang="en-US" b="1" noProof="1"/>
              <a:t>自加运算符</a:t>
            </a:r>
            <a:r>
              <a:rPr lang="en-US" altLang="x-none" b="1" noProof="1"/>
              <a:t>++</a:t>
            </a:r>
            <a:r>
              <a:rPr lang="zh-CN" altLang="en-US" b="1" noProof="1"/>
              <a:t>和自减运算符</a:t>
            </a:r>
            <a:r>
              <a:rPr lang="en-US" altLang="x-none" b="1" noProof="1"/>
              <a:t>--</a:t>
            </a:r>
            <a:r>
              <a:rPr lang="zh-CN" altLang="en-US" b="1" noProof="1"/>
              <a:t>是</a:t>
            </a:r>
            <a:r>
              <a:rPr lang="en-US" altLang="x-none" b="1" noProof="1"/>
              <a:t>C</a:t>
            </a:r>
            <a:r>
              <a:rPr lang="zh-CN" altLang="en-US" b="1" noProof="1"/>
              <a:t>语言特有的运算符，为了简化变量自加减</a:t>
            </a:r>
            <a:r>
              <a:rPr lang="en-US" altLang="zh-CN" b="1" noProof="1"/>
              <a:t>1</a:t>
            </a:r>
            <a:r>
              <a:rPr lang="zh-CN" altLang="en-US" b="1" noProof="1"/>
              <a:t>的表达式书写。</a:t>
            </a:r>
          </a:p>
          <a:p>
            <a:pPr eaLnBrk="1" hangingPunct="1"/>
            <a:r>
              <a:rPr lang="en-US" altLang="zh-CN" b="1" noProof="1"/>
              <a:t>x++;    // </a:t>
            </a:r>
            <a:r>
              <a:rPr lang="zh-CN" altLang="en-US" b="1" noProof="1"/>
              <a:t>表达式</a:t>
            </a:r>
            <a:r>
              <a:rPr lang="en-US" altLang="zh-CN" b="1" noProof="1"/>
              <a:t>x=x+1;</a:t>
            </a:r>
            <a:r>
              <a:rPr lang="zh-CN" altLang="en-US" b="1" noProof="1"/>
              <a:t>的简写</a:t>
            </a:r>
            <a:r>
              <a:rPr lang="en-US" altLang="zh-CN" b="1" noProof="1"/>
              <a:t>   </a:t>
            </a:r>
          </a:p>
          <a:p>
            <a:pPr eaLnBrk="1" hangingPunct="1"/>
            <a:r>
              <a:rPr lang="en-US" altLang="zh-CN" b="1" noProof="1"/>
              <a:t>x--;    // </a:t>
            </a:r>
            <a:r>
              <a:rPr lang="zh-CN" altLang="en-US" b="1" noProof="1"/>
              <a:t>表达式</a:t>
            </a:r>
            <a:r>
              <a:rPr lang="en-US" altLang="zh-CN" b="1" noProof="1"/>
              <a:t>x=x-1;</a:t>
            </a:r>
            <a:r>
              <a:rPr lang="zh-CN" altLang="en-US" b="1" noProof="1"/>
              <a:t>的简写</a:t>
            </a:r>
            <a:endParaRPr lang="en-US" altLang="zh-CN" b="1" noProof="1"/>
          </a:p>
          <a:p>
            <a:pPr eaLnBrk="1" hangingPunct="1"/>
            <a:endParaRPr lang="en-US" altLang="zh-CN" b="1" noProof="1"/>
          </a:p>
          <a:p>
            <a:pPr eaLnBrk="1" hangingPunct="1"/>
            <a:r>
              <a:rPr lang="zh-CN" altLang="en-US" b="1" noProof="1"/>
              <a:t>注意</a:t>
            </a:r>
            <a:r>
              <a:rPr lang="en-US" altLang="zh-CN" b="1" noProof="1"/>
              <a:t>++</a:t>
            </a:r>
            <a:r>
              <a:rPr lang="zh-CN" altLang="en-US" b="1" noProof="1"/>
              <a:t>和</a:t>
            </a:r>
            <a:r>
              <a:rPr lang="en-US" altLang="zh-CN" b="1" noProof="1"/>
              <a:t>—</a:t>
            </a:r>
            <a:r>
              <a:rPr lang="zh-CN" altLang="en-US" b="1" noProof="1"/>
              <a:t>有前缀和后缀的区别：</a:t>
            </a:r>
            <a:endParaRPr lang="en-US" altLang="zh-CN" b="1" noProof="1"/>
          </a:p>
          <a:p>
            <a:pPr lvl="2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宋体" panose="02010600030101010101" pitchFamily="2" charset="-122"/>
              </a:rPr>
              <a:t>++</a:t>
            </a:r>
            <a:r>
              <a:rPr lang="en-US" altLang="zh-CN" sz="2800" dirty="0" err="1">
                <a:latin typeface="宋体" panose="02010600030101010101" pitchFamily="2" charset="-122"/>
              </a:rPr>
              <a:t>i</a:t>
            </a:r>
            <a:r>
              <a:rPr lang="en-US" altLang="zh-CN" dirty="0">
                <a:latin typeface="宋体" panose="02010600030101010101" pitchFamily="2" charset="-122"/>
              </a:rPr>
              <a:t>;</a:t>
            </a:r>
            <a:r>
              <a:rPr lang="en-US" altLang="zh-CN" sz="2800" dirty="0">
                <a:latin typeface="宋体" panose="02010600030101010101" pitchFamily="2" charset="-122"/>
              </a:rPr>
              <a:t>--</a:t>
            </a:r>
            <a:r>
              <a:rPr lang="en-US" altLang="zh-CN" sz="2800" dirty="0" err="1"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;/*</a:t>
            </a:r>
            <a:r>
              <a:rPr lang="zh-CN" altLang="en-US" sz="2800" dirty="0">
                <a:latin typeface="宋体" panose="02010600030101010101" pitchFamily="2" charset="-122"/>
              </a:rPr>
              <a:t>在使用ｉ之前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</a:rPr>
              <a:t>先使ｉ的值加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减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１</a:t>
            </a:r>
            <a:r>
              <a:rPr lang="en-US" altLang="zh-CN" sz="2800" dirty="0">
                <a:latin typeface="宋体" panose="02010600030101010101" pitchFamily="2" charset="-122"/>
              </a:rPr>
              <a:t>*/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2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++;</a:t>
            </a:r>
            <a:r>
              <a:rPr lang="en-US" altLang="zh-CN" sz="2800" dirty="0" err="1"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--;/*</a:t>
            </a:r>
            <a:r>
              <a:rPr lang="zh-CN" altLang="en-US" sz="2800" dirty="0">
                <a:latin typeface="宋体" panose="02010600030101010101" pitchFamily="2" charset="-122"/>
              </a:rPr>
              <a:t>在使用ｉ之后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</a:rPr>
              <a:t>使ｉ的值加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减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１</a:t>
            </a:r>
            <a:r>
              <a:rPr lang="en-US" altLang="zh-CN" dirty="0">
                <a:latin typeface="宋体" panose="02010600030101010101" pitchFamily="2" charset="-122"/>
              </a:rPr>
              <a:t>*/</a:t>
            </a:r>
            <a:endParaRPr lang="en-US" altLang="zh-CN" b="1" noProof="1"/>
          </a:p>
          <a:p>
            <a:pPr marL="0" indent="0" eaLnBrk="1" hangingPunct="1">
              <a:buFontTx/>
              <a:buNone/>
            </a:pPr>
            <a:endParaRPr lang="zh-CN" altLang="en-US" noProof="1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文本占位符 75777">
            <a:extLst>
              <a:ext uri="{FF2B5EF4-FFF2-40B4-BE49-F238E27FC236}">
                <a16:creationId xmlns:a16="http://schemas.microsoft.com/office/drawing/2014/main" id="{D097B61D-C621-4586-88B0-FED9B15E5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13" y="1446213"/>
            <a:ext cx="8001000" cy="422116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dirty="0"/>
              <a:t>double exp(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功能： 函数返回参数</a:t>
            </a:r>
            <a:r>
              <a:rPr lang="en-US" altLang="zh-CN" dirty="0"/>
              <a:t>e(2.7182818)</a:t>
            </a:r>
            <a:r>
              <a:rPr lang="zh-CN" altLang="en-US" dirty="0"/>
              <a:t>的</a:t>
            </a:r>
            <a:r>
              <a:rPr lang="en-US" altLang="zh-CN" dirty="0" err="1"/>
              <a:t>arg</a:t>
            </a:r>
            <a:r>
              <a:rPr lang="zh-CN" altLang="en-US" dirty="0"/>
              <a:t>次幂。</a:t>
            </a: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endParaRPr lang="en-US" altLang="zh-CN" dirty="0"/>
          </a:p>
        </p:txBody>
      </p:sp>
      <p:sp>
        <p:nvSpPr>
          <p:cNvPr id="106498" name="标题 75778">
            <a:extLst>
              <a:ext uri="{FF2B5EF4-FFF2-40B4-BE49-F238E27FC236}">
                <a16:creationId xmlns:a16="http://schemas.microsoft.com/office/drawing/2014/main" id="{324C22FB-E098-434E-90B5-2C320749F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1413" y="333375"/>
            <a:ext cx="7772400" cy="720725"/>
          </a:xfrm>
        </p:spPr>
        <p:txBody>
          <a:bodyPr lIns="92075" tIns="46038" rIns="92075" bIns="46038"/>
          <a:lstStyle/>
          <a:p>
            <a:r>
              <a:rPr lang="zh-CN" altLang="en-US" b="1" dirty="0">
                <a:sym typeface="宋体" panose="02010600030101010101" pitchFamily="2" charset="-122"/>
              </a:rPr>
              <a:t>数学库函数：</a:t>
            </a:r>
            <a:r>
              <a:rPr lang="en-US" altLang="zh-CN" b="1" dirty="0">
                <a:sym typeface="宋体" panose="02010600030101010101" pitchFamily="2" charset="-122"/>
              </a:rPr>
              <a:t>exp</a:t>
            </a:r>
            <a:endParaRPr lang="zh-CN" altLang="en-US" b="1" dirty="0"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105825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1;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2.64;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23.4;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-1;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6: -509.86.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250375150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1128614"/>
            <a:ext cx="8083550" cy="59799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Double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精度内，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</a:t>
            </a:r>
            <a:r>
              <a:rPr lang="en-US" altLang="zh-CN" sz="2400" b="0" baseline="30000" dirty="0">
                <a:latin typeface="宋体" panose="02010600030101010101" pitchFamily="2" charset="-122"/>
                <a:cs typeface="微软雅黑" panose="020B0503020204020204" charset="-122"/>
              </a:rPr>
              <a:t>x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计算过程超出极限会溢出。测试发现当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x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小于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-36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时近似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，可设为边界。因此，在程序中加入超出边界的处理语句。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zh-CN" sz="2000" b="0" dirty="0">
                <a:solidFill>
                  <a:srgbClr val="2D35D3"/>
                </a:solidFill>
                <a:latin typeface="+mn-lt"/>
              </a:rPr>
              <a:t>#</a:t>
            </a:r>
            <a:r>
              <a:rPr lang="en-US" altLang="zh-CN" sz="2000" b="0" dirty="0">
                <a:solidFill>
                  <a:srgbClr val="2D35D3"/>
                </a:solidFill>
                <a:latin typeface="+mn-lt"/>
              </a:rPr>
              <a:t>in</a:t>
            </a:r>
            <a:r>
              <a:rPr lang="zh-CN" altLang="zh-CN" sz="2000" b="0" dirty="0">
                <a:solidFill>
                  <a:srgbClr val="2D35D3"/>
                </a:solidFill>
                <a:latin typeface="+mn-lt"/>
              </a:rPr>
              <a:t>clude&lt;std</a:t>
            </a:r>
            <a:r>
              <a:rPr lang="en-US" altLang="zh-CN" sz="2000" b="0" dirty="0">
                <a:solidFill>
                  <a:srgbClr val="2D35D3"/>
                </a:solidFill>
                <a:latin typeface="+mn-lt"/>
              </a:rPr>
              <a:t>l</a:t>
            </a:r>
            <a:r>
              <a:rPr lang="zh-CN" altLang="zh-CN" sz="2000" b="0" dirty="0">
                <a:solidFill>
                  <a:srgbClr val="2D35D3"/>
                </a:solidFill>
                <a:latin typeface="+mn-lt"/>
              </a:rPr>
              <a:t>i</a:t>
            </a:r>
            <a:r>
              <a:rPr lang="en-US" altLang="zh-CN" sz="2000" b="0" dirty="0">
                <a:solidFill>
                  <a:srgbClr val="2D35D3"/>
                </a:solidFill>
                <a:latin typeface="+mn-lt"/>
              </a:rPr>
              <a:t>b</a:t>
            </a:r>
            <a:r>
              <a:rPr lang="zh-CN" altLang="zh-CN" sz="2000" b="0" dirty="0">
                <a:solidFill>
                  <a:srgbClr val="2D35D3"/>
                </a:solidFill>
                <a:latin typeface="+mn-lt"/>
              </a:rPr>
              <a:t>.h&gt;</a:t>
            </a:r>
            <a:endParaRPr lang="en-US" altLang="zh-CN" sz="2000" b="0" dirty="0">
              <a:solidFill>
                <a:srgbClr val="2D35D3"/>
              </a:solidFill>
              <a:latin typeface="+mn-lt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#define LIMIT -36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+mn-lt"/>
                <a:cs typeface="微软雅黑" panose="020B0503020204020204" charset="-122"/>
              </a:rPr>
              <a:t>int main(void)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+mn-lt"/>
                <a:cs typeface="微软雅黑" panose="020B0503020204020204" charset="-122"/>
              </a:rPr>
              <a:t>{	…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+mn-lt"/>
                <a:cs typeface="微软雅黑" panose="020B0503020204020204" charset="-122"/>
              </a:rPr>
              <a:t>	</a:t>
            </a:r>
            <a:r>
              <a:rPr lang="en-US" altLang="zh-CN" sz="2000" b="0" dirty="0" err="1">
                <a:latin typeface="+mn-lt"/>
                <a:cs typeface="微软雅黑" panose="020B0503020204020204" charset="-122"/>
              </a:rPr>
              <a:t>scanf</a:t>
            </a:r>
            <a:r>
              <a:rPr lang="en-US" altLang="zh-CN" sz="2000" b="0" dirty="0">
                <a:latin typeface="+mn-lt"/>
                <a:cs typeface="微软雅黑" panose="020B0503020204020204" charset="-122"/>
              </a:rPr>
              <a:t>("%</a:t>
            </a:r>
            <a:r>
              <a:rPr lang="en-US" altLang="zh-CN" sz="2000" b="0" dirty="0" err="1">
                <a:latin typeface="+mn-lt"/>
                <a:cs typeface="微软雅黑" panose="020B0503020204020204" charset="-122"/>
              </a:rPr>
              <a:t>lf</a:t>
            </a:r>
            <a:r>
              <a:rPr lang="en-US" altLang="zh-CN" sz="2000" b="0" dirty="0">
                <a:latin typeface="+mn-lt"/>
                <a:cs typeface="微软雅黑" panose="020B0503020204020204" charset="-122"/>
              </a:rPr>
              <a:t>",&amp;x);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	if (x &lt; LIMIT)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    	{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        </a:t>
            </a:r>
            <a:r>
              <a:rPr lang="en-US" altLang="zh-CN" sz="2000" b="0" dirty="0" err="1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printf</a:t>
            </a: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("exp(%f) = %.</a:t>
            </a:r>
            <a:r>
              <a:rPr lang="en-US" altLang="zh-CN" sz="2000" b="0" dirty="0" err="1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16f</a:t>
            </a: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\n",</a:t>
            </a:r>
            <a:r>
              <a:rPr lang="en-US" altLang="zh-CN" sz="2000" b="0" dirty="0" err="1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x,0.0</a:t>
            </a: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        exit(0);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rgbClr val="2D35D3"/>
                </a:solidFill>
                <a:latin typeface="+mn-lt"/>
                <a:cs typeface="微软雅黑" panose="020B0503020204020204" charset="-122"/>
              </a:rPr>
              <a:t>    	}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+mn-lt"/>
                <a:cs typeface="微软雅黑" panose="020B0503020204020204" charset="-122"/>
              </a:rPr>
              <a:t>	for (…)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纠正计算溢出导致的误差</a:t>
            </a:r>
          </a:p>
        </p:txBody>
      </p:sp>
    </p:spTree>
    <p:extLst>
      <p:ext uri="{BB962C8B-B14F-4D97-AF65-F5344CB8AC3E}">
        <p14:creationId xmlns:p14="http://schemas.microsoft.com/office/powerpoint/2010/main" val="246251071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标题 71681">
            <a:extLst>
              <a:ext uri="{FF2B5EF4-FFF2-40B4-BE49-F238E27FC236}">
                <a16:creationId xmlns:a16="http://schemas.microsoft.com/office/drawing/2014/main" id="{D2C37997-2645-423D-ADB0-14EBCB72F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95936" y="548680"/>
            <a:ext cx="4746104" cy="533400"/>
          </a:xfrm>
        </p:spPr>
        <p:txBody>
          <a:bodyPr lIns="92075" tIns="46038" rIns="92075" bIns="46038"/>
          <a:lstStyle/>
          <a:p>
            <a:r>
              <a:rPr lang="zh-CN" altLang="en-US" b="1" dirty="0"/>
              <a:t>循环结构－应用举例</a:t>
            </a:r>
            <a:endParaRPr lang="zh-CN" altLang="en-US" sz="2000" b="1" dirty="0"/>
          </a:p>
        </p:txBody>
      </p:sp>
      <p:grpSp>
        <p:nvGrpSpPr>
          <p:cNvPr id="93186" name="组合 71682">
            <a:extLst>
              <a:ext uri="{FF2B5EF4-FFF2-40B4-BE49-F238E27FC236}">
                <a16:creationId xmlns:a16="http://schemas.microsoft.com/office/drawing/2014/main" id="{7D03AA1E-AC38-4719-9769-4F3E97AE4BA8}"/>
              </a:ext>
            </a:extLst>
          </p:cNvPr>
          <p:cNvGrpSpPr>
            <a:grpSpLocks/>
          </p:cNvGrpSpPr>
          <p:nvPr/>
        </p:nvGrpSpPr>
        <p:grpSpPr bwMode="auto">
          <a:xfrm>
            <a:off x="666750" y="1524000"/>
            <a:ext cx="7810500" cy="1295400"/>
            <a:chOff x="0" y="0"/>
            <a:chExt cx="4920" cy="816"/>
          </a:xfrm>
        </p:grpSpPr>
        <p:sp>
          <p:nvSpPr>
            <p:cNvPr id="93187" name="圆角矩形 71683">
              <a:extLst>
                <a:ext uri="{FF2B5EF4-FFF2-40B4-BE49-F238E27FC236}">
                  <a16:creationId xmlns:a16="http://schemas.microsoft.com/office/drawing/2014/main" id="{BEFC9C88-0CD0-4496-A187-A42CC05B7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20" cy="816"/>
            </a:xfrm>
            <a:prstGeom prst="roundRect">
              <a:avLst>
                <a:gd name="adj" fmla="val 12963"/>
              </a:avLst>
            </a:prstGeom>
            <a:gradFill rotWithShape="0">
              <a:gsLst>
                <a:gs pos="0">
                  <a:srgbClr val="ECFFEC"/>
                </a:gs>
                <a:gs pos="50000">
                  <a:srgbClr val="D5FFD5"/>
                </a:gs>
                <a:gs pos="100000">
                  <a:srgbClr val="ECFFEC"/>
                </a:gs>
              </a:gsLst>
              <a:lin ang="18900000" scaled="1"/>
            </a:gradFill>
            <a:ln w="9525">
              <a:solidFill>
                <a:srgbClr val="99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88" name="文本框 71684">
              <a:extLst>
                <a:ext uri="{FF2B5EF4-FFF2-40B4-BE49-F238E27FC236}">
                  <a16:creationId xmlns:a16="http://schemas.microsoft.com/office/drawing/2014/main" id="{CA18F837-8720-4EAC-A30A-1ED15E809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89"/>
              <a:ext cx="4824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041400" indent="-1041400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 b="0" dirty="0"/>
                <a:t>求</a:t>
              </a:r>
              <a:r>
                <a:rPr lang="en-US" altLang="zh-CN" sz="2400" b="0" dirty="0"/>
                <a:t>Fibonacci</a:t>
              </a:r>
              <a:r>
                <a:rPr lang="zh-CN" altLang="en-US" sz="2400" b="0" dirty="0"/>
                <a:t>数列的前</a:t>
              </a:r>
              <a:r>
                <a:rPr lang="en-US" altLang="zh-CN" sz="2400" b="0" dirty="0"/>
                <a:t>n</a:t>
              </a:r>
              <a:r>
                <a:rPr lang="zh-CN" altLang="en-US" sz="2400" b="0" dirty="0"/>
                <a:t>项。该数列的生成方法为：</a:t>
              </a:r>
              <a:endParaRPr lang="en-US" altLang="zh-CN" sz="2400" b="0" dirty="0"/>
            </a:p>
            <a:p>
              <a:pPr eaLnBrk="0" hangingPunct="0">
                <a:lnSpc>
                  <a:spcPct val="90000"/>
                </a:lnSpc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400" b="0" dirty="0" err="1"/>
                <a:t>F</a:t>
              </a:r>
              <a:r>
                <a:rPr lang="en-US" altLang="zh-CN" sz="2400" b="0" baseline="-30000" dirty="0" err="1"/>
                <a:t>1</a:t>
              </a:r>
              <a:r>
                <a:rPr lang="en-US" altLang="zh-CN" sz="2400" b="0" dirty="0"/>
                <a:t>=</a:t>
              </a:r>
              <a:r>
                <a:rPr lang="en-US" altLang="zh-CN" sz="2400" b="0" dirty="0" err="1"/>
                <a:t>1，F</a:t>
              </a:r>
              <a:r>
                <a:rPr lang="en-US" altLang="zh-CN" sz="2400" b="0" baseline="-30000" dirty="0" err="1"/>
                <a:t>2</a:t>
              </a:r>
              <a:r>
                <a:rPr lang="en-US" altLang="zh-CN" sz="2400" b="0" dirty="0"/>
                <a:t>=</a:t>
              </a:r>
              <a:r>
                <a:rPr lang="en-US" altLang="zh-CN" sz="2400" b="0" dirty="0" err="1"/>
                <a:t>1，F</a:t>
              </a:r>
              <a:r>
                <a:rPr lang="en-US" altLang="zh-CN" sz="2400" b="0" baseline="-30000" dirty="0" err="1"/>
                <a:t>n</a:t>
              </a:r>
              <a:r>
                <a:rPr lang="en-US" altLang="zh-CN" sz="2400" b="0" dirty="0"/>
                <a:t>=</a:t>
              </a:r>
              <a:r>
                <a:rPr lang="en-US" altLang="zh-CN" sz="2400" b="0" dirty="0" err="1"/>
                <a:t>F</a:t>
              </a:r>
              <a:r>
                <a:rPr lang="en-US" altLang="zh-CN" sz="2400" b="0" baseline="-30000" dirty="0" err="1"/>
                <a:t>n-1</a:t>
              </a:r>
              <a:r>
                <a:rPr lang="en-US" altLang="zh-CN" sz="2400" b="0" dirty="0" err="1"/>
                <a:t>+F</a:t>
              </a:r>
              <a:r>
                <a:rPr lang="en-US" altLang="zh-CN" sz="2400" b="0" baseline="-30000" dirty="0" err="1"/>
                <a:t>n-2</a:t>
              </a:r>
              <a:r>
                <a:rPr lang="en-US" altLang="zh-CN" sz="2400" b="0" dirty="0" err="1"/>
                <a:t>（n</a:t>
              </a:r>
              <a:r>
                <a:rPr lang="en-US" altLang="zh-CN" sz="2400" b="0" dirty="0"/>
                <a:t>&gt;=3），</a:t>
              </a:r>
              <a:r>
                <a:rPr lang="zh-CN" altLang="en-US" sz="2400" b="0" dirty="0"/>
                <a:t>即从第3个数开始，每个数等于前2个数之和。</a:t>
              </a:r>
            </a:p>
          </p:txBody>
        </p:sp>
      </p:grpSp>
      <p:sp>
        <p:nvSpPr>
          <p:cNvPr id="93189" name="文本框 71685">
            <a:extLst>
              <a:ext uri="{FF2B5EF4-FFF2-40B4-BE49-F238E27FC236}">
                <a16:creationId xmlns:a16="http://schemas.microsoft.com/office/drawing/2014/main" id="{EFE5E16F-9AD7-4116-B6E7-D98E1B50C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2925763"/>
            <a:ext cx="617220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0"/>
              <a:t>Fibonacci</a:t>
            </a:r>
            <a:r>
              <a:rPr lang="zh-CN" altLang="en-US" sz="2400" b="0"/>
              <a:t>数列示例：</a:t>
            </a:r>
            <a:endParaRPr lang="en-US" altLang="zh-CN" sz="2400"/>
          </a:p>
          <a:p>
            <a:pPr eaLnBrk="0" hangingPunct="0">
              <a:spcBef>
                <a:spcPct val="50000"/>
              </a:spcBef>
            </a:pPr>
            <a:r>
              <a:rPr lang="en-US" altLang="zh-CN" sz="2400"/>
              <a:t>      1, 1, 2, 3, 5, 8, 13, 21, 34……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1681">
            <a:extLst>
              <a:ext uri="{FF2B5EF4-FFF2-40B4-BE49-F238E27FC236}">
                <a16:creationId xmlns:a16="http://schemas.microsoft.com/office/drawing/2014/main" id="{20EFD021-A435-82A0-C219-0183BC05C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95936" y="548680"/>
            <a:ext cx="4746104" cy="533400"/>
          </a:xfrm>
        </p:spPr>
        <p:txBody>
          <a:bodyPr lIns="92075" tIns="46038" rIns="92075" bIns="46038"/>
          <a:lstStyle/>
          <a:p>
            <a:r>
              <a:rPr lang="en-US" altLang="zh-CN" b="1" dirty="0"/>
              <a:t>Fib</a:t>
            </a:r>
            <a:r>
              <a:rPr lang="zh-CN" altLang="en-US" b="1" dirty="0"/>
              <a:t>数列算法</a:t>
            </a:r>
            <a:r>
              <a:rPr lang="en-US" altLang="zh-CN" b="1" dirty="0"/>
              <a:t>1</a:t>
            </a:r>
            <a:endParaRPr lang="zh-CN" altLang="en-US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CE1695-6DA2-B820-7125-54135A54F199}"/>
              </a:ext>
            </a:extLst>
          </p:cNvPr>
          <p:cNvSpPr txBox="1"/>
          <p:nvPr/>
        </p:nvSpPr>
        <p:spPr>
          <a:xfrm>
            <a:off x="530225" y="1367295"/>
            <a:ext cx="8083550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/>
              <a:t>求</a:t>
            </a:r>
            <a:r>
              <a:rPr lang="en-US" altLang="zh-CN" sz="2400" b="0" dirty="0"/>
              <a:t>Fibonacci</a:t>
            </a:r>
            <a:r>
              <a:rPr lang="zh-CN" altLang="en-US" sz="2400" b="0" dirty="0"/>
              <a:t>数列的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int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变量 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f1,f2,fn,n,i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从键盘接受输入的整数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(&gt;=3)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，存入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设置初始值：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f1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=1,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f2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1,i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=3,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/>
              <a:t> while (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&lt;= n)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fn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f1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f2</a:t>
            </a:r>
            <a:r>
              <a:rPr lang="en-US" altLang="zh-CN" sz="2400" dirty="0"/>
              <a:t>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显示器打印</a:t>
            </a:r>
            <a:r>
              <a:rPr lang="pt-BR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"%d"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结果值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fn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  <a:endParaRPr lang="en-US" altLang="zh-CN" sz="2400" dirty="0"/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/>
              <a:t>  	/*</a:t>
            </a:r>
            <a:r>
              <a:rPr lang="zh-CN" altLang="en-US" sz="2400" dirty="0"/>
              <a:t>滚动更新</a:t>
            </a:r>
            <a:r>
              <a:rPr lang="en-US" altLang="zh-CN" sz="2400" dirty="0" err="1"/>
              <a:t>f1,f2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 */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f1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f2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; 	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f2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fn</a:t>
            </a:r>
            <a:r>
              <a:rPr lang="en-US" altLang="zh-CN" sz="2400" dirty="0"/>
              <a:t>;</a:t>
            </a:r>
          </a:p>
          <a:p>
            <a:pPr lvl="1"/>
            <a:r>
              <a:rPr lang="en-US" altLang="zh-CN" sz="2400" dirty="0"/>
              <a:t>		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文本占位符 74753">
            <a:extLst>
              <a:ext uri="{FF2B5EF4-FFF2-40B4-BE49-F238E27FC236}">
                <a16:creationId xmlns:a16="http://schemas.microsoft.com/office/drawing/2014/main" id="{06636B1C-1D53-4B8A-9B6B-CA7F95806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64" y="1158736"/>
            <a:ext cx="8640960" cy="5334000"/>
          </a:xfrm>
        </p:spPr>
        <p:txBody>
          <a:bodyPr/>
          <a:lstStyle/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#include&lt;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&gt;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int main(void){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int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fn</a:t>
            </a:r>
            <a:r>
              <a:rPr lang="en-US" altLang="zh-CN" sz="2200" dirty="0"/>
              <a:t>; /*</a:t>
            </a:r>
            <a:r>
              <a:rPr lang="zh-CN" altLang="en-US" sz="2200" dirty="0"/>
              <a:t>定义数列计算公式的</a:t>
            </a:r>
            <a:r>
              <a:rPr lang="en-US" altLang="zh-CN" sz="2200" dirty="0"/>
              <a:t>3</a:t>
            </a:r>
            <a:r>
              <a:rPr lang="zh-CN" altLang="en-US" sz="2200" dirty="0"/>
              <a:t>个变量*</a:t>
            </a:r>
            <a:r>
              <a:rPr lang="en-US" altLang="zh-CN" sz="2200" dirty="0"/>
              <a:t>/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int </a:t>
            </a:r>
            <a:r>
              <a:rPr lang="en-US" altLang="zh-CN" sz="2200" dirty="0" err="1"/>
              <a:t>i,n</a:t>
            </a:r>
            <a:r>
              <a:rPr lang="en-US" altLang="zh-CN" sz="2200" dirty="0"/>
              <a:t>;	   /*</a:t>
            </a:r>
            <a:r>
              <a:rPr lang="zh-CN" altLang="en-US" sz="2200" dirty="0"/>
              <a:t>定义循环变量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和输入值</a:t>
            </a:r>
            <a:r>
              <a:rPr lang="en-US" altLang="zh-CN" sz="2200" dirty="0"/>
              <a:t>n*/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scanf</a:t>
            </a:r>
            <a:r>
              <a:rPr lang="en-US" altLang="zh-CN" sz="2200" dirty="0"/>
              <a:t>("%</a:t>
            </a:r>
            <a:r>
              <a:rPr lang="en-US" altLang="zh-CN" sz="2200" dirty="0" err="1"/>
              <a:t>d",&amp;n</a:t>
            </a:r>
            <a:r>
              <a:rPr lang="en-US" altLang="zh-CN" sz="22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endParaRPr lang="en-US" altLang="zh-CN" sz="2200" dirty="0"/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=</a:t>
            </a:r>
            <a:r>
              <a:rPr lang="en-US" altLang="zh-CN" sz="2200" dirty="0" err="1"/>
              <a:t>1,f2</a:t>
            </a:r>
            <a:r>
              <a:rPr lang="en-US" altLang="zh-CN" sz="2200" dirty="0"/>
              <a:t>=1;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=%d\</a:t>
            </a:r>
            <a:r>
              <a:rPr lang="en-US" altLang="zh-CN" sz="2200" dirty="0" err="1"/>
              <a:t>nf2</a:t>
            </a:r>
            <a:r>
              <a:rPr lang="en-US" altLang="zh-CN" sz="2200" dirty="0"/>
              <a:t>=%d\n",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);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for(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=3 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&lt;=n;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++ ) {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	</a:t>
            </a:r>
            <a:r>
              <a:rPr lang="en-US" altLang="zh-CN" sz="2200" dirty="0" err="1"/>
              <a:t>fn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f1+f2</a:t>
            </a:r>
            <a:r>
              <a:rPr lang="en-US" altLang="zh-CN" sz="2200" dirty="0"/>
              <a:t>;       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	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</a:t>
            </a:r>
            <a:r>
              <a:rPr lang="en-US" altLang="zh-CN" sz="2200" dirty="0" err="1"/>
              <a:t>f%d</a:t>
            </a:r>
            <a:r>
              <a:rPr lang="en-US" altLang="zh-CN" sz="2200" dirty="0"/>
              <a:t>=%d\n",</a:t>
            </a:r>
            <a:r>
              <a:rPr lang="en-US" altLang="zh-CN" sz="2200" dirty="0" err="1"/>
              <a:t>i,fn</a:t>
            </a:r>
            <a:r>
              <a:rPr lang="en-US" altLang="zh-CN" sz="22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=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	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=</a:t>
            </a:r>
            <a:r>
              <a:rPr lang="en-US" altLang="zh-CN" sz="2200" dirty="0" err="1"/>
              <a:t>fn</a:t>
            </a:r>
            <a:r>
              <a:rPr lang="en-US" altLang="zh-CN" sz="2200" dirty="0"/>
              <a:t>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}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return 0;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}</a:t>
            </a:r>
          </a:p>
        </p:txBody>
      </p:sp>
      <p:sp>
        <p:nvSpPr>
          <p:cNvPr id="95234" name="标题 74754">
            <a:extLst>
              <a:ext uri="{FF2B5EF4-FFF2-40B4-BE49-F238E27FC236}">
                <a16:creationId xmlns:a16="http://schemas.microsoft.com/office/drawing/2014/main" id="{E11A12FC-AED6-464C-9C4D-B9E5149FC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332656"/>
            <a:ext cx="7772400" cy="720725"/>
          </a:xfrm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求</a:t>
            </a:r>
            <a:r>
              <a:rPr lang="en-US" altLang="zh-CN" sz="2400" b="1" dirty="0">
                <a:solidFill>
                  <a:srgbClr val="FF0000"/>
                </a:solidFill>
              </a:rPr>
              <a:t>Fibonacci</a:t>
            </a:r>
            <a:r>
              <a:rPr lang="zh-CN" altLang="en-US" sz="2400" b="1" dirty="0">
                <a:solidFill>
                  <a:srgbClr val="FF0000"/>
                </a:solidFill>
              </a:rPr>
              <a:t>数列算法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的源程序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10;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20;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30;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40;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50; 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提示：数据溢出，应扩展数据长度。</a:t>
            </a:r>
            <a:endParaRPr lang="en-US" altLang="zh-CN" sz="2800" b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418479772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36B00-4F4B-CBBD-E105-B5E00EB4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long</a:t>
            </a:r>
            <a:r>
              <a:rPr lang="zh-CN" altLang="en-US" dirty="0"/>
              <a:t>类型修饰符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AC2FC-D2EF-7D09-5524-F3B26539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9213"/>
            <a:ext cx="8278688" cy="4611687"/>
          </a:xfrm>
        </p:spPr>
        <p:txBody>
          <a:bodyPr/>
          <a:lstStyle/>
          <a:p>
            <a:r>
              <a:rPr lang="zh-CN" altLang="en-US" dirty="0"/>
              <a:t>基本数据类型能够被 </a:t>
            </a:r>
            <a:r>
              <a:rPr lang="en-US" altLang="zh-CN" b="1" dirty="0"/>
              <a:t>signed</a:t>
            </a:r>
            <a:r>
              <a:rPr lang="en-US" altLang="zh-CN" dirty="0"/>
              <a:t>, </a:t>
            </a:r>
            <a:r>
              <a:rPr lang="en-US" altLang="zh-CN" b="1" dirty="0"/>
              <a:t>unsigned</a:t>
            </a:r>
            <a:r>
              <a:rPr lang="en-US" altLang="zh-CN" dirty="0"/>
              <a:t>, </a:t>
            </a:r>
            <a:r>
              <a:rPr lang="en-US" altLang="zh-CN" b="1" dirty="0"/>
              <a:t>short</a:t>
            </a:r>
            <a:r>
              <a:rPr lang="en-US" altLang="zh-CN" dirty="0"/>
              <a:t>, </a:t>
            </a:r>
            <a:r>
              <a:rPr lang="zh-CN" altLang="en-US" dirty="0"/>
              <a:t>和 </a:t>
            </a:r>
            <a:r>
              <a:rPr lang="en-US" altLang="zh-CN" b="1" dirty="0"/>
              <a:t>long</a:t>
            </a:r>
            <a:r>
              <a:rPr lang="en-US" altLang="zh-CN" dirty="0"/>
              <a:t> </a:t>
            </a:r>
            <a:r>
              <a:rPr lang="zh-CN" altLang="en-US" dirty="0"/>
              <a:t>修饰</a:t>
            </a:r>
            <a:r>
              <a:rPr lang="en-US" altLang="zh-CN" dirty="0"/>
              <a:t>. </a:t>
            </a:r>
            <a:r>
              <a:rPr lang="zh-CN" altLang="en-US" dirty="0"/>
              <a:t>当类型修饰符单独使用的时候</a:t>
            </a:r>
            <a:r>
              <a:rPr lang="en-US" altLang="zh-CN" dirty="0"/>
              <a:t>, </a:t>
            </a:r>
            <a:r>
              <a:rPr lang="zh-CN" altLang="en-US" dirty="0"/>
              <a:t>默认的类型是 </a:t>
            </a:r>
            <a:r>
              <a:rPr lang="en-US" altLang="zh-CN" b="1" dirty="0"/>
              <a:t>int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unsigned int</a:t>
            </a:r>
            <a:r>
              <a:rPr lang="zh-CN" altLang="en-US" dirty="0"/>
              <a:t>只用于 非负值的场合。</a:t>
            </a:r>
            <a:endParaRPr lang="en-US" altLang="zh-CN" dirty="0"/>
          </a:p>
          <a:p>
            <a:r>
              <a:rPr lang="en-US" altLang="zh-CN" dirty="0"/>
              <a:t>short int</a:t>
            </a:r>
            <a:r>
              <a:rPr lang="zh-CN" altLang="en-US" dirty="0"/>
              <a:t>类型（简写为 </a:t>
            </a:r>
            <a:r>
              <a:rPr lang="en-US" altLang="zh-CN" dirty="0"/>
              <a:t>short</a:t>
            </a:r>
            <a:r>
              <a:rPr lang="zh-CN" altLang="en-US" dirty="0"/>
              <a:t>）占用的存储 空间可能比</a:t>
            </a:r>
            <a:r>
              <a:rPr lang="en-US" altLang="zh-CN" dirty="0"/>
              <a:t>int</a:t>
            </a:r>
            <a:r>
              <a:rPr lang="zh-CN" altLang="en-US" dirty="0"/>
              <a:t>类型少，常用于较小数值的场合以节省空间。</a:t>
            </a:r>
            <a:endParaRPr lang="en-US" altLang="zh-CN" dirty="0"/>
          </a:p>
          <a:p>
            <a:r>
              <a:rPr lang="en-US" altLang="zh-CN" dirty="0"/>
              <a:t>long int</a:t>
            </a:r>
            <a:r>
              <a:rPr lang="zh-CN" altLang="en-US" dirty="0"/>
              <a:t>或 </a:t>
            </a:r>
            <a:r>
              <a:rPr lang="en-US" altLang="zh-CN" dirty="0"/>
              <a:t>long double</a:t>
            </a:r>
            <a:r>
              <a:rPr lang="zh-CN" altLang="en-US" dirty="0"/>
              <a:t>占用的存储空间可能比</a:t>
            </a:r>
            <a:r>
              <a:rPr lang="en-US" altLang="zh-CN" dirty="0"/>
              <a:t>int</a:t>
            </a:r>
            <a:r>
              <a:rPr lang="zh-CN" altLang="en-US" dirty="0"/>
              <a:t>或</a:t>
            </a:r>
            <a:r>
              <a:rPr lang="en-US" altLang="zh-CN" dirty="0"/>
              <a:t>double</a:t>
            </a:r>
            <a:r>
              <a:rPr lang="zh-CN" altLang="en-US" dirty="0"/>
              <a:t>多，适用于较大数值的场合。</a:t>
            </a:r>
            <a:endParaRPr lang="en-US" altLang="zh-CN" dirty="0"/>
          </a:p>
          <a:p>
            <a:r>
              <a:rPr lang="en-US" altLang="zh-CN" dirty="0"/>
              <a:t>long long int</a:t>
            </a:r>
            <a:r>
              <a:rPr lang="zh-CN" altLang="en-US" dirty="0"/>
              <a:t>类型至少占</a:t>
            </a:r>
            <a:r>
              <a:rPr lang="en-US" altLang="zh-CN" dirty="0"/>
              <a:t>64</a:t>
            </a:r>
            <a:r>
              <a:rPr lang="zh-CN" altLang="en-US" dirty="0"/>
              <a:t>位，适用于更大数值的场合。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114304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99254"/>
            <a:ext cx="8083550" cy="38993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计算机程序中指定的数据类型，实际占有多少字节存储空间，决定了数据的有效范围。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单目运算符 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sizeof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(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数据类型名 或 变量名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例：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printf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("</a:t>
            </a: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sizeof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(long) is %</a:t>
            </a: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zu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 bytes.\n",</a:t>
            </a: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sizeof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(long));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printf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("</a:t>
            </a: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sizeof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(long</a:t>
            </a:r>
            <a:r>
              <a:rPr lang="zh-CN" altLang="en-US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 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long) is %</a:t>
            </a: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zu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 bytes.\n",</a:t>
            </a:r>
            <a:r>
              <a:rPr lang="en-US" altLang="zh-CN" sz="2000" b="0" dirty="0" err="1">
                <a:latin typeface="Consolas" panose="020B0609020204030204" pitchFamily="49" charset="0"/>
                <a:cs typeface="Cordia New" panose="020B0304020202020204" pitchFamily="34" charset="-34"/>
              </a:rPr>
              <a:t>sizeof</a:t>
            </a:r>
            <a:r>
              <a:rPr lang="en-US" altLang="zh-CN" sz="2000" b="0" dirty="0">
                <a:latin typeface="Consolas" panose="020B0609020204030204" pitchFamily="49" charset="0"/>
                <a:cs typeface="Cordia New" panose="020B0304020202020204" pitchFamily="34" charset="-34"/>
              </a:rPr>
              <a:t>(long long));</a:t>
            </a:r>
          </a:p>
          <a:p>
            <a:pPr>
              <a:lnSpc>
                <a:spcPct val="130000"/>
              </a:lnSpc>
            </a:pPr>
            <a:endParaRPr lang="en-US" altLang="zh-CN" sz="2000" b="0" dirty="0">
              <a:latin typeface="Consolas" panose="020B0609020204030204" pitchFamily="49" charset="0"/>
              <a:cs typeface="Cordia New" panose="020B0304020202020204" pitchFamily="34" charset="-34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求字节数运算符</a:t>
            </a:r>
            <a:r>
              <a:rPr lang="en-US" altLang="zh-CN" b="1" dirty="0" err="1"/>
              <a:t>sizeof</a:t>
            </a:r>
            <a:r>
              <a:rPr lang="en-US" altLang="zh-CN" b="1" dirty="0"/>
              <a:t>()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5340406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文本占位符 74753">
            <a:extLst>
              <a:ext uri="{FF2B5EF4-FFF2-40B4-BE49-F238E27FC236}">
                <a16:creationId xmlns:a16="http://schemas.microsoft.com/office/drawing/2014/main" id="{06636B1C-1D53-4B8A-9B6B-CA7F95806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64" y="1158736"/>
            <a:ext cx="8640960" cy="5334000"/>
          </a:xfrm>
        </p:spPr>
        <p:txBody>
          <a:bodyPr/>
          <a:lstStyle/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#include&lt;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&gt;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int main(void){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>
                <a:solidFill>
                  <a:srgbClr val="2D35D3"/>
                </a:solidFill>
              </a:rPr>
              <a:t>long long int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fn</a:t>
            </a:r>
            <a:r>
              <a:rPr lang="en-US" altLang="zh-CN" sz="2200" dirty="0"/>
              <a:t>; /*</a:t>
            </a:r>
            <a:r>
              <a:rPr lang="zh-CN" altLang="en-US" sz="2200" dirty="0"/>
              <a:t>定义数列计算公式变量*</a:t>
            </a:r>
            <a:r>
              <a:rPr lang="en-US" altLang="zh-CN" sz="2200" dirty="0"/>
              <a:t>/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int </a:t>
            </a:r>
            <a:r>
              <a:rPr lang="en-US" altLang="zh-CN" sz="2200" dirty="0" err="1"/>
              <a:t>i,n</a:t>
            </a:r>
            <a:r>
              <a:rPr lang="en-US" altLang="zh-CN" sz="2200" dirty="0"/>
              <a:t>;	   /*</a:t>
            </a:r>
            <a:r>
              <a:rPr lang="zh-CN" altLang="en-US" sz="2200" dirty="0"/>
              <a:t>定义循环变量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和输入值</a:t>
            </a:r>
            <a:r>
              <a:rPr lang="en-US" altLang="zh-CN" sz="2200" dirty="0"/>
              <a:t>n*/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scanf</a:t>
            </a:r>
            <a:r>
              <a:rPr lang="en-US" altLang="zh-CN" sz="2200" dirty="0"/>
              <a:t>("%</a:t>
            </a:r>
            <a:r>
              <a:rPr lang="en-US" altLang="zh-CN" sz="2200" dirty="0" err="1"/>
              <a:t>d",&amp;n</a:t>
            </a:r>
            <a:r>
              <a:rPr lang="en-US" altLang="zh-CN" sz="22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endParaRPr lang="en-US" altLang="zh-CN" sz="2200" dirty="0"/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=</a:t>
            </a:r>
            <a:r>
              <a:rPr lang="en-US" altLang="zh-CN" sz="2200" dirty="0" err="1"/>
              <a:t>1,f2</a:t>
            </a:r>
            <a:r>
              <a:rPr lang="en-US" altLang="zh-CN" sz="2200" dirty="0"/>
              <a:t>=1;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=%d\</a:t>
            </a:r>
            <a:r>
              <a:rPr lang="en-US" altLang="zh-CN" sz="2200" dirty="0" err="1"/>
              <a:t>nf2</a:t>
            </a:r>
            <a:r>
              <a:rPr lang="en-US" altLang="zh-CN" sz="2200" dirty="0"/>
              <a:t>=%d\n",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);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for(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=3 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&lt;=n;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++ ) {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	</a:t>
            </a:r>
            <a:r>
              <a:rPr lang="en-US" altLang="zh-CN" sz="2200" dirty="0" err="1"/>
              <a:t>fn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f1+f2</a:t>
            </a:r>
            <a:r>
              <a:rPr lang="en-US" altLang="zh-CN" sz="2200" dirty="0"/>
              <a:t>;       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	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</a:t>
            </a:r>
            <a:r>
              <a:rPr lang="en-US" altLang="zh-CN" sz="2200" dirty="0" err="1"/>
              <a:t>f%d</a:t>
            </a:r>
            <a:r>
              <a:rPr lang="en-US" altLang="zh-CN" sz="2200" dirty="0">
                <a:solidFill>
                  <a:srgbClr val="2D35D3"/>
                </a:solidFill>
              </a:rPr>
              <a:t>=%</a:t>
            </a:r>
            <a:r>
              <a:rPr lang="en-US" altLang="zh-CN" sz="2200" dirty="0" err="1">
                <a:solidFill>
                  <a:srgbClr val="2D35D3"/>
                </a:solidFill>
              </a:rPr>
              <a:t>lld</a:t>
            </a:r>
            <a:r>
              <a:rPr lang="en-US" altLang="zh-CN" sz="2200" dirty="0"/>
              <a:t>\n",</a:t>
            </a:r>
            <a:r>
              <a:rPr lang="en-US" altLang="zh-CN" sz="2200" dirty="0" err="1"/>
              <a:t>i,fn</a:t>
            </a:r>
            <a:r>
              <a:rPr lang="en-US" altLang="zh-CN" sz="22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=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	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=</a:t>
            </a:r>
            <a:r>
              <a:rPr lang="en-US" altLang="zh-CN" sz="2200" dirty="0" err="1"/>
              <a:t>fn</a:t>
            </a:r>
            <a:r>
              <a:rPr lang="en-US" altLang="zh-CN" sz="2200" dirty="0"/>
              <a:t>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}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return 0;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}</a:t>
            </a:r>
          </a:p>
        </p:txBody>
      </p:sp>
      <p:sp>
        <p:nvSpPr>
          <p:cNvPr id="95234" name="标题 74754">
            <a:extLst>
              <a:ext uri="{FF2B5EF4-FFF2-40B4-BE49-F238E27FC236}">
                <a16:creationId xmlns:a16="http://schemas.microsoft.com/office/drawing/2014/main" id="{E11A12FC-AED6-464C-9C4D-B9E5149FC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332656"/>
            <a:ext cx="7772400" cy="720725"/>
          </a:xfrm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求</a:t>
            </a:r>
            <a:r>
              <a:rPr lang="en-US" altLang="zh-CN" sz="2400" b="1" dirty="0">
                <a:solidFill>
                  <a:srgbClr val="FF0000"/>
                </a:solidFill>
              </a:rPr>
              <a:t>Fibonacci</a:t>
            </a:r>
            <a:r>
              <a:rPr lang="zh-CN" altLang="en-US" sz="2400" b="1" dirty="0">
                <a:solidFill>
                  <a:srgbClr val="FF0000"/>
                </a:solidFill>
              </a:rPr>
              <a:t>数列算法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的源程序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11791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50;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60;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70;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80;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5: 90; 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6: 100;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183123086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1681">
            <a:extLst>
              <a:ext uri="{FF2B5EF4-FFF2-40B4-BE49-F238E27FC236}">
                <a16:creationId xmlns:a16="http://schemas.microsoft.com/office/drawing/2014/main" id="{20EFD021-A435-82A0-C219-0183BC05C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3688" y="443190"/>
            <a:ext cx="7194376" cy="533400"/>
          </a:xfrm>
        </p:spPr>
        <p:txBody>
          <a:bodyPr lIns="92075" tIns="46038" rIns="92075" bIns="46038"/>
          <a:lstStyle/>
          <a:p>
            <a:r>
              <a:rPr lang="en-US" altLang="zh-CN" b="1" dirty="0"/>
              <a:t>Fib</a:t>
            </a:r>
            <a:r>
              <a:rPr lang="zh-CN" altLang="en-US" b="1" dirty="0"/>
              <a:t>数列算法改进：每循环计算两项</a:t>
            </a:r>
            <a:endParaRPr lang="zh-CN" altLang="en-US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CE1695-6DA2-B820-7125-54135A54F199}"/>
              </a:ext>
            </a:extLst>
          </p:cNvPr>
          <p:cNvSpPr txBox="1"/>
          <p:nvPr/>
        </p:nvSpPr>
        <p:spPr>
          <a:xfrm>
            <a:off x="530225" y="1367295"/>
            <a:ext cx="8083550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/>
              <a:t>求</a:t>
            </a:r>
            <a:r>
              <a:rPr lang="en-US" altLang="zh-CN" sz="2400" b="0" dirty="0"/>
              <a:t>Fibonacci</a:t>
            </a:r>
            <a:r>
              <a:rPr lang="zh-CN" altLang="en-US" sz="2400" b="0" dirty="0"/>
              <a:t>数列的改进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算法：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long 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lon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int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变量 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f1,f2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int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变量 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n,i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从键盘接受输入的整数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(&gt;=3)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，存入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设置初始值：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f1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=1,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f2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1,i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=1,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/>
              <a:t> while (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&lt;= n)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显示器打印已知两项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值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f1,f2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  <a:endParaRPr lang="en-US" altLang="zh-CN" sz="2400" dirty="0"/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/>
              <a:t>  	/*</a:t>
            </a:r>
            <a:r>
              <a:rPr lang="zh-CN" altLang="en-US" sz="2400" dirty="0"/>
              <a:t>滚动更新</a:t>
            </a:r>
            <a:r>
              <a:rPr lang="en-US" altLang="zh-CN" sz="2400" dirty="0" err="1"/>
              <a:t>f1,f2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 */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f1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f1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f2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f2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f1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f2</a:t>
            </a:r>
            <a:r>
              <a:rPr lang="en-US" altLang="zh-CN" sz="2400" dirty="0"/>
              <a:t>;</a:t>
            </a:r>
          </a:p>
          <a:p>
            <a:pPr lvl="1"/>
            <a:r>
              <a:rPr lang="en-US" altLang="zh-CN" sz="2400" dirty="0"/>
              <a:t>		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+= 2;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5086782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文本占位符 74753">
            <a:extLst>
              <a:ext uri="{FF2B5EF4-FFF2-40B4-BE49-F238E27FC236}">
                <a16:creationId xmlns:a16="http://schemas.microsoft.com/office/drawing/2014/main" id="{06636B1C-1D53-4B8A-9B6B-CA7F95806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64" y="1158736"/>
            <a:ext cx="8640960" cy="5334000"/>
          </a:xfrm>
        </p:spPr>
        <p:txBody>
          <a:bodyPr/>
          <a:lstStyle/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#include&lt;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&gt;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int main(void){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long long int 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; /*</a:t>
            </a:r>
            <a:r>
              <a:rPr lang="zh-CN" altLang="en-US" sz="2200" dirty="0"/>
              <a:t>定义数列计算公式的变量*</a:t>
            </a:r>
            <a:r>
              <a:rPr lang="en-US" altLang="zh-CN" sz="2200" dirty="0"/>
              <a:t>/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int </a:t>
            </a:r>
            <a:r>
              <a:rPr lang="en-US" altLang="zh-CN" sz="2200" dirty="0" err="1"/>
              <a:t>i,n</a:t>
            </a:r>
            <a:r>
              <a:rPr lang="en-US" altLang="zh-CN" sz="2200" dirty="0"/>
              <a:t>;	   /*</a:t>
            </a:r>
            <a:r>
              <a:rPr lang="zh-CN" altLang="en-US" sz="2200" dirty="0"/>
              <a:t>定义循环变量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和输入值</a:t>
            </a:r>
            <a:r>
              <a:rPr lang="en-US" altLang="zh-CN" sz="2200" dirty="0"/>
              <a:t>n*/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scanf</a:t>
            </a:r>
            <a:r>
              <a:rPr lang="en-US" altLang="zh-CN" sz="2200" dirty="0"/>
              <a:t>("%</a:t>
            </a:r>
            <a:r>
              <a:rPr lang="en-US" altLang="zh-CN" sz="2200" dirty="0" err="1"/>
              <a:t>d",&amp;n</a:t>
            </a:r>
            <a:r>
              <a:rPr lang="en-US" altLang="zh-CN" sz="22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for(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=</a:t>
            </a:r>
            <a:r>
              <a:rPr lang="en-US" altLang="zh-CN" sz="2200" dirty="0" err="1"/>
              <a:t>1,f2</a:t>
            </a:r>
            <a:r>
              <a:rPr lang="en-US" altLang="zh-CN" sz="2200" dirty="0"/>
              <a:t>=</a:t>
            </a:r>
            <a:r>
              <a:rPr lang="en-US" altLang="zh-CN" sz="2200" dirty="0" err="1"/>
              <a:t>1,i</a:t>
            </a:r>
            <a:r>
              <a:rPr lang="en-US" altLang="zh-CN" sz="2200" dirty="0"/>
              <a:t>=1;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&lt;=n;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+=2) {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	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</a:t>
            </a:r>
            <a:r>
              <a:rPr lang="en-US" altLang="zh-CN" sz="2200" dirty="0" err="1"/>
              <a:t>f%d</a:t>
            </a:r>
            <a:r>
              <a:rPr lang="en-US" altLang="zh-CN" sz="2200" dirty="0"/>
              <a:t>=%</a:t>
            </a:r>
            <a:r>
              <a:rPr lang="en-US" altLang="zh-CN" sz="2200" dirty="0" err="1"/>
              <a:t>lld</a:t>
            </a:r>
            <a:r>
              <a:rPr lang="en-US" altLang="zh-CN" sz="2200" dirty="0"/>
              <a:t>\n",</a:t>
            </a:r>
            <a:r>
              <a:rPr lang="en-US" altLang="zh-CN" sz="2200" dirty="0" err="1"/>
              <a:t>i,f1</a:t>
            </a:r>
            <a:r>
              <a:rPr lang="en-US" altLang="zh-CN" sz="22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	if (</a:t>
            </a:r>
            <a:r>
              <a:rPr lang="en-US" altLang="zh-CN" sz="2200" dirty="0" err="1"/>
              <a:t>i+1</a:t>
            </a:r>
            <a:r>
              <a:rPr lang="en-US" altLang="zh-CN" sz="2200" dirty="0"/>
              <a:t> &lt;= n)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		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</a:t>
            </a:r>
            <a:r>
              <a:rPr lang="en-US" altLang="zh-CN" sz="2200" dirty="0" err="1"/>
              <a:t>f%d</a:t>
            </a:r>
            <a:r>
              <a:rPr lang="en-US" altLang="zh-CN" sz="2200" dirty="0"/>
              <a:t>=%</a:t>
            </a:r>
            <a:r>
              <a:rPr lang="en-US" altLang="zh-CN" sz="2200" dirty="0" err="1"/>
              <a:t>lld</a:t>
            </a:r>
            <a:r>
              <a:rPr lang="en-US" altLang="zh-CN" sz="2200" dirty="0"/>
              <a:t>\n",</a:t>
            </a:r>
            <a:r>
              <a:rPr lang="en-US" altLang="zh-CN" sz="2200" dirty="0" err="1"/>
              <a:t>i+1,f2</a:t>
            </a:r>
            <a:r>
              <a:rPr lang="en-US" altLang="zh-CN" sz="2200" dirty="0"/>
              <a:t>);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		</a:t>
            </a:r>
            <a:r>
              <a:rPr lang="en-US" altLang="zh-CN" sz="2200" dirty="0" err="1"/>
              <a:t>f1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f1+f2</a:t>
            </a:r>
            <a:r>
              <a:rPr lang="en-US" altLang="zh-CN" sz="2200" dirty="0"/>
              <a:t>;        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f2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f1+f2</a:t>
            </a:r>
            <a:r>
              <a:rPr lang="en-US" altLang="zh-CN" sz="2200" dirty="0"/>
              <a:t>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}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    return 0;</a:t>
            </a:r>
          </a:p>
          <a:p>
            <a:pPr marL="0" indent="374650">
              <a:lnSpc>
                <a:spcPct val="90000"/>
              </a:lnSpc>
              <a:buFontTx/>
              <a:buNone/>
            </a:pPr>
            <a:r>
              <a:rPr lang="en-US" altLang="zh-CN" sz="2200" dirty="0"/>
              <a:t>}</a:t>
            </a:r>
          </a:p>
        </p:txBody>
      </p:sp>
      <p:sp>
        <p:nvSpPr>
          <p:cNvPr id="95234" name="标题 74754">
            <a:extLst>
              <a:ext uri="{FF2B5EF4-FFF2-40B4-BE49-F238E27FC236}">
                <a16:creationId xmlns:a16="http://schemas.microsoft.com/office/drawing/2014/main" id="{E11A12FC-AED6-464C-9C4D-B9E5149FC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332656"/>
            <a:ext cx="7772400" cy="720725"/>
          </a:xfrm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求</a:t>
            </a:r>
            <a:r>
              <a:rPr lang="en-US" altLang="zh-CN" sz="2400" b="1" dirty="0">
                <a:solidFill>
                  <a:srgbClr val="FF0000"/>
                </a:solidFill>
              </a:rPr>
              <a:t>Fibonacci</a:t>
            </a:r>
            <a:r>
              <a:rPr lang="zh-CN" altLang="en-US" sz="2400" b="1" dirty="0">
                <a:solidFill>
                  <a:srgbClr val="FF0000"/>
                </a:solidFill>
              </a:rPr>
              <a:t>数列改进算法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09786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11;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50;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70;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90;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93; 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96230094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/>
          <p:nvPr/>
        </p:nvSpPr>
        <p:spPr>
          <a:xfrm>
            <a:off x="395536" y="1316355"/>
            <a:ext cx="8496944" cy="39339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任意整数的数位拆解可以用取余运算。整数</a:t>
            </a: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的数位序列</a:t>
            </a:r>
            <a:r>
              <a:rPr lang="en-US" altLang="zh-CN" sz="2800" b="0" i="1" dirty="0" err="1">
                <a:latin typeface="+mn-lt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800" b="0" i="1" baseline="-25000" dirty="0" err="1">
                <a:latin typeface="+mn-lt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800" b="0" i="1" dirty="0" err="1">
                <a:latin typeface="+mn-lt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800" b="0" i="1" baseline="-25000" dirty="0" err="1">
                <a:latin typeface="+mn-lt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800" b="0" i="1" baseline="-25000" dirty="0">
                <a:latin typeface="+mn-lt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en-US" altLang="zh-CN" sz="2800" b="0" i="1" dirty="0">
                <a:latin typeface="+mn-lt"/>
                <a:ea typeface="微软雅黑" panose="020B0503020204020204" charset="-122"/>
                <a:cs typeface="微软雅黑" panose="020B0503020204020204" charset="-122"/>
              </a:rPr>
              <a:t>…</a:t>
            </a:r>
            <a:r>
              <a:rPr lang="en-US" altLang="zh-CN" sz="2800" b="0" i="1" dirty="0" err="1">
                <a:latin typeface="+mn-lt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800" b="0" i="1" baseline="-25000" dirty="0" err="1">
                <a:latin typeface="+mn-lt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的拆解公式是：</a:t>
            </a:r>
            <a:r>
              <a:rPr lang="en-US" altLang="zh-CN" sz="2800" b="0" i="1" dirty="0">
                <a:latin typeface="+mn-lt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800" b="0" i="1" baseline="-25000" dirty="0">
                <a:latin typeface="+mn-lt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=( n / </a:t>
            </a:r>
            <a:r>
              <a:rPr lang="en-US" altLang="zh-CN" sz="2800" b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10^</a:t>
            </a:r>
            <a:r>
              <a:rPr lang="en-US" altLang="zh-CN" sz="2800" b="0" i="1" dirty="0" err="1">
                <a:latin typeface="+mn-lt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800" b="0" i="1" dirty="0">
                <a:latin typeface="+mn-lt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)%10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例：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1234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67001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定义程序目标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</a:t>
            </a:r>
            <a:r>
              <a:rPr lang="pt-BR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一个非负整</a:t>
            </a:r>
            <a:r>
              <a:rPr lang="pt-BR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数，分离出它的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数位</a:t>
            </a:r>
            <a:r>
              <a:rPr lang="pt-BR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反转后</a:t>
            </a:r>
            <a:r>
              <a:rPr lang="pt-BR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输出。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提示：整数的数码位反转后得到的整数称为逆数。</a:t>
            </a:r>
            <a:r>
              <a:rPr lang="pt-BR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</p:txBody>
      </p:sp>
      <p:sp>
        <p:nvSpPr>
          <p:cNvPr id="20482" name="Rectangle 13"/>
          <p:cNvSpPr/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2" charset="0"/>
              </a:rPr>
              <a:t>取余运算的用途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2" charset="0"/>
              </a:rPr>
              <a:t>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54E073-D3B9-4934-A79D-63DC4E132ACF}"/>
              </a:ext>
            </a:extLst>
          </p:cNvPr>
          <p:cNvSpPr txBox="1"/>
          <p:nvPr/>
        </p:nvSpPr>
        <p:spPr>
          <a:xfrm>
            <a:off x="1475656" y="4766400"/>
            <a:ext cx="4464496" cy="155048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样例1输入： 123456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样例1输出：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654321 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样例2输入： 32000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样例2输出：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7197051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整数逆数的算法设计：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Begn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定义一个整数变量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n,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reverse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weight,digit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从键盘接受输入的一个非负整数，存入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reverse=0;		weight=1;</a:t>
            </a:r>
          </a:p>
          <a:p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while(n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数位分解未结束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: n &gt;= weight)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digit = (n/weight)%10;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reverse = reverse*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10+digit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weight *= 10; //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等同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weight = weight*10;</a:t>
            </a:r>
          </a:p>
          <a:p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reverse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算法测试：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123456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32000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非负整数的逆数求解</a:t>
            </a:r>
          </a:p>
        </p:txBody>
      </p:sp>
    </p:spTree>
    <p:extLst>
      <p:ext uri="{BB962C8B-B14F-4D97-AF65-F5344CB8AC3E}">
        <p14:creationId xmlns:p14="http://schemas.microsoft.com/office/powerpoint/2010/main" val="78413605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/>
          <p:nvPr/>
        </p:nvSpPr>
        <p:spPr>
          <a:xfrm>
            <a:off x="418465" y="1125855"/>
            <a:ext cx="8474075" cy="50783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/*</a:t>
            </a:r>
            <a:r>
              <a:rPr lang="zh-CN" altLang="en-US" sz="2400" b="0" dirty="0">
                <a:latin typeface="+mn-lt"/>
                <a:ea typeface="+mj-ea"/>
                <a:cs typeface="+mn-lt"/>
              </a:rPr>
              <a:t>非负整数的逆数求解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*/</a:t>
            </a:r>
            <a:endParaRPr lang="pt-BR" altLang="en-US" sz="24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en-US" altLang="zh-CN" sz="2400" b="0" dirty="0">
                <a:latin typeface="+mn-lt"/>
                <a:ea typeface="+mj-ea"/>
                <a:cs typeface="+mn-lt"/>
              </a:rPr>
              <a:t>int main(void)</a:t>
            </a:r>
            <a:r>
              <a:rPr lang="pt-BR" altLang="en-US" sz="2400" b="0" dirty="0">
                <a:latin typeface="+mn-lt"/>
                <a:ea typeface="+mj-ea"/>
                <a:cs typeface="+mn-lt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int n=0,reverse=0,weight=1,digit=0;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printf("Please input a nonnegative integer :\n");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scanf("%d",&amp;n);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while(n &gt;= weight){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	digit = (n/weight)%10;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	reverse = reverse*10 + digit;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	weight *= 10;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	printf("reverse of %d is %d.\n",n,reverse);</a:t>
            </a:r>
            <a:r>
              <a:rPr lang="zh-CN" altLang="en-US" sz="2400" b="0" dirty="0">
                <a:latin typeface="+mn-lt"/>
                <a:ea typeface="+mj-ea"/>
                <a:cs typeface="+mn-lt"/>
                <a:sym typeface="+mn-ea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zh-CN" altLang="en-US" sz="2400" b="0" dirty="0">
                <a:latin typeface="+mn-lt"/>
                <a:ea typeface="+mj-ea"/>
                <a:cs typeface="+mn-lt"/>
                <a:sym typeface="+mn-ea"/>
              </a:rPr>
              <a:t>  </a:t>
            </a:r>
            <a:r>
              <a:rPr lang="en-US" altLang="zh-CN" sz="2400" b="0" dirty="0">
                <a:latin typeface="+mn-lt"/>
                <a:ea typeface="+mj-ea"/>
                <a:cs typeface="+mn-lt"/>
                <a:sym typeface="+mn-ea"/>
              </a:rPr>
              <a:t>return 0;</a:t>
            </a:r>
            <a:endParaRPr lang="zh-CN" altLang="en-US" sz="24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  <a:ea typeface="+mj-ea"/>
                <a:cs typeface="+mn-lt"/>
              </a:rPr>
              <a:t>}</a:t>
            </a:r>
          </a:p>
        </p:txBody>
      </p:sp>
      <p:sp>
        <p:nvSpPr>
          <p:cNvPr id="20482" name="Rectangle 13"/>
          <p:cNvSpPr/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dirty="0">
                <a:solidFill>
                  <a:srgbClr val="FF3300"/>
                </a:solidFill>
              </a:rPr>
              <a:t>编写代码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113868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用测试数据运行程序，查看结果是否有错。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1234567;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1234321;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52000;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-123;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175010382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任意整数的逆数算法设计：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Begn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定义整数变量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n,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reverse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weight,digit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从键盘接受输入的一个整数，存入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reverse=0;		weight=1;</a:t>
            </a:r>
          </a:p>
          <a:p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while(n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数位分解未结束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: </a:t>
            </a:r>
            <a:r>
              <a:rPr lang="en-US" altLang="zh-CN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abs(n) &gt;= weight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digit = (n/weight)%10;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reverse = reverse*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10+digit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weight *= 10; //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等同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weight = weight*10;</a:t>
            </a:r>
          </a:p>
          <a:p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reverse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容纳负数的整数逆数求解</a:t>
            </a:r>
          </a:p>
        </p:txBody>
      </p:sp>
    </p:spTree>
    <p:extLst>
      <p:ext uri="{BB962C8B-B14F-4D97-AF65-F5344CB8AC3E}">
        <p14:creationId xmlns:p14="http://schemas.microsoft.com/office/powerpoint/2010/main" val="2599366752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/>
          <p:nvPr/>
        </p:nvSpPr>
        <p:spPr>
          <a:xfrm>
            <a:off x="467544" y="1340768"/>
            <a:ext cx="8474075" cy="47459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0" dirty="0">
                <a:latin typeface="+mn-lt"/>
                <a:ea typeface="+mj-ea"/>
                <a:cs typeface="+mn-lt"/>
              </a:rPr>
              <a:t>/*</a:t>
            </a:r>
            <a:r>
              <a:rPr lang="zh-CN" altLang="en-US" sz="2400" b="0" dirty="0">
                <a:latin typeface="+mn-lt"/>
                <a:ea typeface="+mj-ea"/>
                <a:cs typeface="+mn-lt"/>
              </a:rPr>
              <a:t>整数的逆数求解*</a:t>
            </a:r>
            <a:r>
              <a:rPr lang="en-US" altLang="zh-CN" sz="2400" b="0" dirty="0">
                <a:latin typeface="+mn-lt"/>
                <a:ea typeface="+mj-ea"/>
                <a:cs typeface="+mn-lt"/>
              </a:rPr>
              <a:t>/</a:t>
            </a:r>
          </a:p>
          <a:p>
            <a:pPr>
              <a:lnSpc>
                <a:spcPct val="90000"/>
              </a:lnSpc>
            </a:pPr>
            <a:r>
              <a:rPr lang="en-US" altLang="zh-CN" sz="2400" b="0" dirty="0">
                <a:latin typeface="+mn-lt"/>
                <a:ea typeface="+mj-ea"/>
                <a:cs typeface="+mn-lt"/>
              </a:rPr>
              <a:t>#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include &lt;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stdio.h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&gt;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int main(void){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int n=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0,reverse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=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0,weight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=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1,digit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=0;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printf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("Please input a integer :\n");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scanf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("%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d",&amp;n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while(abs(n) &gt;= weight ){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	digit = (n/weight)%10;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	reverse = reverse*10 + digit;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	weight *= 10;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	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printf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("reverse of %d is %d.\n",</a:t>
            </a:r>
            <a:r>
              <a:rPr lang="en-US" altLang="pt-BR" sz="2400" b="0" dirty="0" err="1">
                <a:latin typeface="+mn-lt"/>
                <a:ea typeface="+mj-ea"/>
                <a:cs typeface="+mn-lt"/>
              </a:rPr>
              <a:t>n,reverse</a:t>
            </a:r>
            <a:r>
              <a:rPr lang="en-US" altLang="pt-BR" sz="2400" b="0" dirty="0">
                <a:latin typeface="+mn-lt"/>
                <a:ea typeface="+mj-ea"/>
                <a:cs typeface="+mn-lt"/>
              </a:rPr>
              <a:t>); 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  return 0;</a:t>
            </a: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  <a:ea typeface="+mj-ea"/>
                <a:cs typeface="+mn-lt"/>
              </a:rPr>
              <a:t>}</a:t>
            </a:r>
            <a:endParaRPr lang="pt-BR" altLang="en-US" sz="2400" b="0" dirty="0">
              <a:latin typeface="+mn-lt"/>
              <a:ea typeface="+mj-ea"/>
              <a:cs typeface="+mn-lt"/>
            </a:endParaRPr>
          </a:p>
        </p:txBody>
      </p:sp>
      <p:sp>
        <p:nvSpPr>
          <p:cNvPr id="20482" name="Rectangle 13"/>
          <p:cNvSpPr/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dirty="0">
                <a:solidFill>
                  <a:srgbClr val="FF3300"/>
                </a:solidFill>
              </a:rPr>
              <a:t>编写代码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0983654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用测试数据运行程序，查看结果是否有错。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-1234567;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2D35D3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2D35D3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1234567890;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12345678901;</a:t>
            </a:r>
          </a:p>
          <a:p>
            <a:pPr lvl="1">
              <a:lnSpc>
                <a:spcPct val="130000"/>
              </a:lnSpc>
            </a:pPr>
            <a:endParaRPr lang="en-US" altLang="zh-CN" sz="2800" b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141469557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3"/>
          <p:cNvSpPr txBox="1"/>
          <p:nvPr/>
        </p:nvSpPr>
        <p:spPr>
          <a:xfrm>
            <a:off x="468630" y="1412875"/>
            <a:ext cx="8416290" cy="441351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</a:rPr>
              <a:t>/</a:t>
            </a:r>
            <a:r>
              <a:rPr lang="en-US" altLang="pt-BR" sz="2400" b="0" dirty="0">
                <a:solidFill>
                  <a:schemeClr val="tx1"/>
                </a:solidFill>
                <a:latin typeface="+mn-lt"/>
              </a:rPr>
              <a:t>*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sym typeface="+mn-ea"/>
              </a:rPr>
              <a:t>整数的其他进制表示</a:t>
            </a:r>
            <a:r>
              <a:rPr lang="en-US" altLang="pt-BR" sz="2400" b="0" dirty="0">
                <a:solidFill>
                  <a:schemeClr val="tx1"/>
                </a:solidFill>
                <a:latin typeface="+mn-lt"/>
              </a:rPr>
              <a:t>*/</a:t>
            </a:r>
            <a:endParaRPr lang="pt-BR" altLang="en-US" sz="24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en-US" altLang="zh-CN" sz="2400" b="0" dirty="0">
                <a:latin typeface="+mn-lt"/>
                <a:ea typeface="宋体" panose="02010600030101010101" pitchFamily="2" charset="-122"/>
              </a:rPr>
              <a:t>int main(void)</a:t>
            </a:r>
            <a:r>
              <a:rPr lang="pt-BR" altLang="en-US" sz="2400" b="0" dirty="0">
                <a:latin typeface="+mn-lt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</a:rPr>
              <a:t>     int num;</a:t>
            </a:r>
          </a:p>
          <a:p>
            <a:pPr>
              <a:lnSpc>
                <a:spcPct val="90000"/>
              </a:lnSpc>
            </a:pPr>
            <a:endParaRPr lang="pt-BR" altLang="en-US" sz="2400" b="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</a:rPr>
              <a:t>     </a:t>
            </a:r>
            <a:r>
              <a:rPr lang="en-US" altLang="pt-BR" sz="2400" b="0" dirty="0" err="1">
                <a:latin typeface="+mn-lt"/>
              </a:rPr>
              <a:t>scanf</a:t>
            </a:r>
            <a:r>
              <a:rPr lang="en-US" altLang="pt-BR" sz="2400" b="0" dirty="0">
                <a:latin typeface="+mn-lt"/>
              </a:rPr>
              <a:t>("%</a:t>
            </a:r>
            <a:r>
              <a:rPr lang="en-US" altLang="pt-BR" sz="2400" b="0" dirty="0" err="1">
                <a:latin typeface="+mn-lt"/>
              </a:rPr>
              <a:t>d",&amp;num</a:t>
            </a:r>
            <a:r>
              <a:rPr lang="en-US" altLang="pt-BR" sz="2400" b="0" dirty="0">
                <a:latin typeface="+mn-lt"/>
              </a:rPr>
              <a:t>);</a:t>
            </a:r>
            <a:r>
              <a:rPr lang="pt-BR" altLang="en-US" sz="2400" b="0" dirty="0">
                <a:latin typeface="+mn-lt"/>
              </a:rPr>
              <a:t>     </a:t>
            </a:r>
          </a:p>
          <a:p>
            <a:pPr>
              <a:lnSpc>
                <a:spcPct val="90000"/>
              </a:lnSpc>
            </a:pPr>
            <a:r>
              <a:rPr lang="zh-CN" altLang="en-US" sz="2400" b="0" dirty="0">
                <a:latin typeface="+mn-lt"/>
                <a:ea typeface="宋体" panose="02010600030101010101" pitchFamily="2" charset="-122"/>
              </a:rPr>
              <a:t>     </a:t>
            </a:r>
            <a:r>
              <a:rPr lang="pt-BR" altLang="en-US" sz="2400" b="0" dirty="0">
                <a:latin typeface="+mn-lt"/>
              </a:rPr>
              <a:t>printf("</a:t>
            </a:r>
            <a:r>
              <a:rPr lang="zh-CN" altLang="pt-BR" sz="2400" b="0" dirty="0">
                <a:latin typeface="+mn-lt"/>
                <a:ea typeface="宋体" panose="02010600030101010101" pitchFamily="2" charset="-122"/>
              </a:rPr>
              <a:t>八进制形式</a:t>
            </a:r>
            <a:r>
              <a:rPr lang="en-US" altLang="zh-CN" sz="2400" b="0" dirty="0">
                <a:latin typeface="+mn-lt"/>
              </a:rPr>
              <a:t>: </a:t>
            </a:r>
            <a:r>
              <a:rPr lang="pt-BR" altLang="en-US" sz="2400" b="0" dirty="0">
                <a:latin typeface="+mn-lt"/>
              </a:rPr>
              <a:t>%</a:t>
            </a:r>
            <a:r>
              <a:rPr lang="en-US" altLang="pt-BR" sz="2400" b="0" dirty="0">
                <a:latin typeface="+mn-lt"/>
              </a:rPr>
              <a:t>o</a:t>
            </a:r>
            <a:r>
              <a:rPr lang="pt-BR" altLang="en-US" sz="2400" b="0" dirty="0">
                <a:latin typeface="+mn-lt"/>
              </a:rPr>
              <a:t>\n",</a:t>
            </a:r>
            <a:r>
              <a:rPr lang="en-US" altLang="zh-CN" sz="2400" b="0" dirty="0">
                <a:latin typeface="+mn-lt"/>
              </a:rPr>
              <a:t>n</a:t>
            </a:r>
            <a:r>
              <a:rPr lang="pt-BR" altLang="en-US" sz="2400" b="0" dirty="0">
                <a:latin typeface="+mn-lt"/>
              </a:rPr>
              <a:t>um);</a:t>
            </a:r>
            <a:r>
              <a:rPr lang="zh-CN" altLang="en-US" sz="2400" b="0" dirty="0">
                <a:latin typeface="+mn-lt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zh-CN" altLang="en-US" sz="2400" b="0" dirty="0">
                <a:latin typeface="+mn-lt"/>
                <a:ea typeface="宋体" panose="02010600030101010101" pitchFamily="2" charset="-122"/>
              </a:rPr>
              <a:t>     </a:t>
            </a:r>
            <a:r>
              <a:rPr lang="pt-BR" altLang="en-US" sz="2400" b="0" dirty="0">
                <a:latin typeface="+mn-lt"/>
              </a:rPr>
              <a:t>printf("</a:t>
            </a:r>
            <a:r>
              <a:rPr lang="zh-CN" altLang="pt-BR" sz="2400" b="0" dirty="0">
                <a:latin typeface="+mn-lt"/>
                <a:ea typeface="宋体" panose="02010600030101010101" pitchFamily="2" charset="-122"/>
              </a:rPr>
              <a:t>十六进制形式</a:t>
            </a:r>
            <a:r>
              <a:rPr lang="en-US" altLang="zh-CN" sz="2400" b="0" dirty="0">
                <a:latin typeface="+mn-lt"/>
              </a:rPr>
              <a:t>: </a:t>
            </a:r>
            <a:r>
              <a:rPr lang="pt-BR" altLang="en-US" sz="2400" b="0" dirty="0">
                <a:latin typeface="+mn-lt"/>
              </a:rPr>
              <a:t>%</a:t>
            </a:r>
            <a:r>
              <a:rPr lang="en-US" altLang="pt-BR" sz="2400" b="0" dirty="0">
                <a:latin typeface="+mn-lt"/>
              </a:rPr>
              <a:t>x</a:t>
            </a:r>
            <a:r>
              <a:rPr lang="pt-BR" altLang="en-US" sz="2400" b="0" dirty="0">
                <a:latin typeface="+mn-lt"/>
              </a:rPr>
              <a:t>\n",num);</a:t>
            </a:r>
            <a:r>
              <a:rPr lang="zh-CN" altLang="en-US" sz="2400" b="0" dirty="0">
                <a:latin typeface="+mn-lt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</a:pPr>
            <a:endParaRPr lang="zh-CN" altLang="en-US" sz="2400" b="0" dirty="0">
              <a:latin typeface="+mn-lt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pt-BR" sz="2400" b="0" dirty="0">
                <a:latin typeface="+mn-lt"/>
              </a:rPr>
              <a:t>     return 0;</a:t>
            </a:r>
          </a:p>
          <a:p>
            <a:pPr>
              <a:lnSpc>
                <a:spcPct val="90000"/>
              </a:lnSpc>
            </a:pPr>
            <a:r>
              <a:rPr lang="pt-BR" altLang="en-US" sz="2400" b="0" dirty="0">
                <a:latin typeface="+mn-lt"/>
              </a:rPr>
              <a:t>}</a:t>
            </a:r>
          </a:p>
          <a:p>
            <a:pPr>
              <a:lnSpc>
                <a:spcPct val="90000"/>
              </a:lnSpc>
            </a:pPr>
            <a:endParaRPr lang="pt-BR" altLang="en-US" sz="2400" b="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zh-CN" altLang="en-US" sz="2400" b="0" dirty="0">
                <a:latin typeface="+mn-lt"/>
              </a:rPr>
              <a:t>思考：十进制整数</a:t>
            </a:r>
            <a:r>
              <a:rPr lang="en-US" altLang="zh-CN" sz="2400" b="0" dirty="0">
                <a:latin typeface="+mn-lt"/>
              </a:rPr>
              <a:t>n</a:t>
            </a:r>
            <a:r>
              <a:rPr lang="zh-CN" altLang="en-US" sz="2400" b="0" dirty="0">
                <a:latin typeface="+mn-lt"/>
              </a:rPr>
              <a:t>如何转换为</a:t>
            </a:r>
            <a:r>
              <a:rPr lang="en-US" altLang="zh-CN" sz="2400" b="0" dirty="0">
                <a:latin typeface="+mn-lt"/>
              </a:rPr>
              <a:t>2</a:t>
            </a:r>
            <a:r>
              <a:rPr lang="zh-CN" altLang="en-US" sz="2400" b="0" dirty="0">
                <a:latin typeface="+mn-lt"/>
              </a:rPr>
              <a:t>进制数？算法层面考虑</a:t>
            </a:r>
            <a:r>
              <a:rPr lang="en-US" altLang="zh-CN" sz="2400" b="0" dirty="0">
                <a:latin typeface="+mn-lt"/>
              </a:rPr>
              <a:t>.</a:t>
            </a:r>
          </a:p>
        </p:txBody>
      </p:sp>
      <p:sp>
        <p:nvSpPr>
          <p:cNvPr id="19458" name="Rectangle 13"/>
          <p:cNvSpPr/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扩展：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整数的其它进制表示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395730"/>
            <a:ext cx="7896225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输入一个正整数作为给定直角三角形的最大行数，要求程序用</a:t>
            </a:r>
            <a:r>
              <a:rPr lang="en-US" altLang="zh-CN" sz="2800" dirty="0"/>
              <a:t>*</a:t>
            </a:r>
            <a:r>
              <a:rPr lang="zh-CN" altLang="en-US" sz="2800" dirty="0"/>
              <a:t>号打印出直角三角形。</a:t>
            </a:r>
          </a:p>
          <a:p>
            <a:r>
              <a:rPr lang="zh-CN" altLang="en-US" sz="2800" dirty="0"/>
              <a:t>样例输入： </a:t>
            </a:r>
            <a:r>
              <a:rPr lang="en-US" altLang="zh-CN" sz="2800" dirty="0"/>
              <a:t>7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/>
              <a:t>*</a:t>
            </a:r>
          </a:p>
          <a:p>
            <a:r>
              <a:rPr lang="en-US" altLang="zh-CN" sz="2800" dirty="0"/>
              <a:t>		**</a:t>
            </a:r>
          </a:p>
          <a:p>
            <a:r>
              <a:rPr lang="en-US" altLang="zh-CN" sz="2800" dirty="0"/>
              <a:t>		***</a:t>
            </a:r>
          </a:p>
          <a:p>
            <a:r>
              <a:rPr lang="en-US" altLang="zh-CN" sz="2800" dirty="0"/>
              <a:t>		****</a:t>
            </a:r>
          </a:p>
          <a:p>
            <a:r>
              <a:rPr lang="en-US" altLang="zh-CN" sz="2800" dirty="0"/>
              <a:t>		*****</a:t>
            </a:r>
          </a:p>
          <a:p>
            <a:r>
              <a:rPr lang="en-US" altLang="zh-CN" sz="2800" dirty="0"/>
              <a:t>		******</a:t>
            </a:r>
          </a:p>
          <a:p>
            <a:r>
              <a:rPr lang="en-US" altLang="zh-CN" sz="2800" dirty="0"/>
              <a:t>		*******</a:t>
            </a:r>
            <a:endParaRPr lang="zh-CN" altLang="en-US" sz="2800" dirty="0"/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问题：打印直角三角形</a:t>
            </a:r>
          </a:p>
        </p:txBody>
      </p:sp>
    </p:spTree>
    <p:extLst>
      <p:ext uri="{BB962C8B-B14F-4D97-AF65-F5344CB8AC3E}">
        <p14:creationId xmlns:p14="http://schemas.microsoft.com/office/powerpoint/2010/main" val="228679036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打印直角三角形的算法设计：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Begn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定义整数变量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lines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从键盘接受输入的正整数，存入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lines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定义整数变量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i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j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表示当前打印的行号和列号；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while (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i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不超过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lines)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打印第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i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行的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i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个星号；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     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打印换行符；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行号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+1;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完善：打印变量指定的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i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个星号。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列号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j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可以用来计数已打星号个数；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while(j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不超过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i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打印星号；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打印直角三角的算法设计</a:t>
            </a:r>
          </a:p>
        </p:txBody>
      </p:sp>
    </p:spTree>
    <p:extLst>
      <p:ext uri="{BB962C8B-B14F-4D97-AF65-F5344CB8AC3E}">
        <p14:creationId xmlns:p14="http://schemas.microsoft.com/office/powerpoint/2010/main" val="2529312105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灯片编号占位符 5">
            <a:extLst>
              <a:ext uri="{FF2B5EF4-FFF2-40B4-BE49-F238E27FC236}">
                <a16:creationId xmlns:a16="http://schemas.microsoft.com/office/drawing/2014/main" id="{EAFB216C-44B2-4F65-B45C-889825D3C2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C1348D94-E900-4C69-BA15-2CAE09B87FCA}" type="slidenum">
              <a:rPr lang="zh-CN" altLang="en-US" sz="1400"/>
              <a:pPr algn="r">
                <a:spcBef>
                  <a:spcPct val="50000"/>
                </a:spcBef>
              </a:pPr>
              <a:t>58</a:t>
            </a:fld>
            <a:endParaRPr lang="zh-CN" altLang="en-US" sz="140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7DE3BA3E-5C2E-4DD7-AF0C-1D15277C7E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编写打印直角三角程序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398C34A-0C42-47E1-A7A3-0BACAE32981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1325" y="1125538"/>
            <a:ext cx="8397875" cy="5205412"/>
          </a:xfrm>
          <a:ln>
            <a:miter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#include &lt;stdio.h&gt;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int main(void){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	int lines, i,j;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noProof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   printf("Enter a positive integer:");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   scanf("%d",&amp;lines);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noProof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   for (i=1; i &lt;= lines; i++){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		//</a:t>
            </a:r>
            <a:r>
              <a:rPr lang="zh-CN" altLang="en-US" sz="2400" noProof="1"/>
              <a:t>打印第</a:t>
            </a:r>
            <a:r>
              <a:rPr lang="en-US" altLang="zh-CN" sz="2400" noProof="1"/>
              <a:t>i</a:t>
            </a:r>
            <a:r>
              <a:rPr lang="zh-CN" altLang="en-US" sz="2400" noProof="1"/>
              <a:t>行</a:t>
            </a:r>
            <a:r>
              <a:rPr lang="en-US" altLang="zh-CN" sz="2400" noProof="1"/>
              <a:t>i</a:t>
            </a:r>
            <a:r>
              <a:rPr lang="zh-CN" altLang="en-US" sz="2400" noProof="1"/>
              <a:t>个*号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noProof="1"/>
              <a:t>        </a:t>
            </a:r>
            <a:r>
              <a:rPr lang="en-US" altLang="zh-CN" sz="2400" noProof="1"/>
              <a:t>for (j=1; j &lt;= i; j++)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           putchar('*');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		   putchar('\n'); //printf("\n");</a:t>
            </a:r>
            <a:r>
              <a:rPr lang="zh-CN" altLang="en-US" sz="2400" noProof="1"/>
              <a:t>、</a:t>
            </a:r>
            <a:endParaRPr lang="en-US" altLang="zh-CN" sz="2400" noProof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  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  	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noProof="1"/>
              <a:t>} 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>
            <a:extLst>
              <a:ext uri="{FF2B5EF4-FFF2-40B4-BE49-F238E27FC236}">
                <a16:creationId xmlns:a16="http://schemas.microsoft.com/office/drawing/2014/main" id="{64F3DD05-9D76-4220-BB4E-737679A34C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5C2F50FD-6BF4-4C2C-A271-E17445F2CE7E}" type="slidenum">
              <a:rPr lang="zh-CN" altLang="en-US" sz="1400"/>
              <a:pPr algn="r">
                <a:spcBef>
                  <a:spcPct val="50000"/>
                </a:spcBef>
              </a:pPr>
              <a:t>59</a:t>
            </a:fld>
            <a:endParaRPr lang="zh-CN" altLang="en-US" sz="14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30CBDCBD-1A72-425F-8392-21EE2319F99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表达式简写－</a:t>
            </a:r>
            <a:r>
              <a:rPr lang="zh-CN" altLang="en-US" sz="2800" b="1" dirty="0">
                <a:solidFill>
                  <a:schemeClr val="accent2"/>
                </a:solidFill>
              </a:rPr>
              <a:t>变量自加减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C2799E0-1EF8-479E-A2DF-AAFF34210569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noProof="1"/>
              <a:t>自加运算符</a:t>
            </a:r>
            <a:r>
              <a:rPr lang="en-US" altLang="x-none" b="1" noProof="1"/>
              <a:t>++</a:t>
            </a:r>
            <a:r>
              <a:rPr lang="zh-CN" altLang="en-US" b="1" noProof="1"/>
              <a:t>和自减运算符</a:t>
            </a:r>
            <a:r>
              <a:rPr lang="en-US" altLang="x-none" b="1" noProof="1"/>
              <a:t>--</a:t>
            </a:r>
            <a:r>
              <a:rPr lang="zh-CN" altLang="en-US" b="1" noProof="1"/>
              <a:t>是</a:t>
            </a:r>
            <a:r>
              <a:rPr lang="en-US" altLang="x-none" b="1" noProof="1"/>
              <a:t>C</a:t>
            </a:r>
            <a:r>
              <a:rPr lang="zh-CN" altLang="en-US" b="1" noProof="1"/>
              <a:t>语言特有的运算符，为了简化变量自加减</a:t>
            </a:r>
            <a:r>
              <a:rPr lang="en-US" altLang="zh-CN" b="1" noProof="1"/>
              <a:t>1</a:t>
            </a:r>
            <a:r>
              <a:rPr lang="zh-CN" altLang="en-US" b="1" noProof="1"/>
              <a:t>的表达式书写。</a:t>
            </a:r>
          </a:p>
          <a:p>
            <a:pPr eaLnBrk="1" hangingPunct="1"/>
            <a:r>
              <a:rPr lang="en-US" altLang="zh-CN" b="1" noProof="1"/>
              <a:t>x++;    // </a:t>
            </a:r>
            <a:r>
              <a:rPr lang="zh-CN" altLang="en-US" b="1" noProof="1"/>
              <a:t>表达式</a:t>
            </a:r>
            <a:r>
              <a:rPr lang="en-US" altLang="zh-CN" b="1" noProof="1"/>
              <a:t>x=x+1;</a:t>
            </a:r>
            <a:r>
              <a:rPr lang="zh-CN" altLang="en-US" b="1" noProof="1"/>
              <a:t>的简写</a:t>
            </a:r>
            <a:r>
              <a:rPr lang="en-US" altLang="zh-CN" b="1" noProof="1"/>
              <a:t>   </a:t>
            </a:r>
          </a:p>
          <a:p>
            <a:pPr eaLnBrk="1" hangingPunct="1"/>
            <a:r>
              <a:rPr lang="en-US" altLang="zh-CN" b="1" noProof="1"/>
              <a:t>x--;    // </a:t>
            </a:r>
            <a:r>
              <a:rPr lang="zh-CN" altLang="en-US" b="1" noProof="1"/>
              <a:t>表达式</a:t>
            </a:r>
            <a:r>
              <a:rPr lang="en-US" altLang="zh-CN" b="1" noProof="1"/>
              <a:t>x=x-1;</a:t>
            </a:r>
            <a:r>
              <a:rPr lang="zh-CN" altLang="en-US" b="1" noProof="1"/>
              <a:t>的简写</a:t>
            </a:r>
            <a:endParaRPr lang="en-US" altLang="zh-CN" b="1" noProof="1"/>
          </a:p>
          <a:p>
            <a:pPr eaLnBrk="1" hangingPunct="1"/>
            <a:endParaRPr lang="en-US" altLang="zh-CN" b="1" noProof="1"/>
          </a:p>
          <a:p>
            <a:pPr eaLnBrk="1" hangingPunct="1"/>
            <a:r>
              <a:rPr lang="zh-CN" altLang="en-US" b="1" noProof="1"/>
              <a:t>注意</a:t>
            </a:r>
            <a:r>
              <a:rPr lang="en-US" altLang="zh-CN" b="1" noProof="1"/>
              <a:t>++</a:t>
            </a:r>
            <a:r>
              <a:rPr lang="zh-CN" altLang="en-US" b="1" noProof="1"/>
              <a:t>和</a:t>
            </a:r>
            <a:r>
              <a:rPr lang="en-US" altLang="zh-CN" b="1" noProof="1"/>
              <a:t>—</a:t>
            </a:r>
            <a:r>
              <a:rPr lang="zh-CN" altLang="en-US" b="1" noProof="1"/>
              <a:t>有前缀和后缀的区别：</a:t>
            </a:r>
            <a:endParaRPr lang="en-US" altLang="zh-CN" b="1" noProof="1"/>
          </a:p>
          <a:p>
            <a:pPr lvl="2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＋＋ｉ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</a:rPr>
              <a:t>－－ｉ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在使用ｉ之前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</a:rPr>
              <a:t>先使ｉ的值加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减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１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2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ｉ＋＋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</a:rPr>
              <a:t>ｉ－－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在使用ｉ之后</a:t>
            </a:r>
            <a:r>
              <a:rPr lang="en-US" altLang="zh-CN" sz="2800" dirty="0">
                <a:latin typeface="宋体" panose="02010600030101010101" pitchFamily="2" charset="-12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</a:rPr>
              <a:t>使ｉ的值加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减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１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endParaRPr lang="en-US" altLang="zh-CN" b="1" noProof="1"/>
          </a:p>
          <a:p>
            <a:pPr marL="0" indent="0" eaLnBrk="1" hangingPunct="1">
              <a:buFontTx/>
              <a:buNone/>
            </a:pPr>
            <a:endParaRPr lang="zh-CN" altLang="en-US" noProof="1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1;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8;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0;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-1;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12;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3041834171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4">
            <a:extLst>
              <a:ext uri="{FF2B5EF4-FFF2-40B4-BE49-F238E27FC236}">
                <a16:creationId xmlns:a16="http://schemas.microsoft.com/office/drawing/2014/main" id="{E39B7316-A921-44E5-8332-BC336BF8C6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29322AFE-0645-4074-8228-4C82C7DA87E3}" type="slidenum">
              <a:rPr lang="zh-CN" altLang="en-US" sz="1400"/>
              <a:pPr algn="r">
                <a:spcBef>
                  <a:spcPct val="50000"/>
                </a:spcBef>
              </a:pPr>
              <a:t>61</a:t>
            </a:fld>
            <a:endParaRPr lang="zh-CN" altLang="en-US" sz="1400"/>
          </a:p>
        </p:txBody>
      </p:sp>
      <p:graphicFrame>
        <p:nvGraphicFramePr>
          <p:cNvPr id="114690" name="Object 4">
            <a:extLst>
              <a:ext uri="{FF2B5EF4-FFF2-40B4-BE49-F238E27FC236}">
                <a16:creationId xmlns:a16="http://schemas.microsoft.com/office/drawing/2014/main" id="{4C3EEBC7-981C-473B-9BB2-3E6A15A3DA66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027" imgH="1054303" progId="">
                  <p:embed/>
                </p:oleObj>
              </mc:Choice>
              <mc:Fallback>
                <p:oleObj r:id="rId2" imgW="1132027" imgH="1054303" progId="">
                  <p:embed/>
                  <p:pic>
                    <p:nvPicPr>
                      <p:cNvPr id="114690" name="Object 4">
                        <a:extLst>
                          <a:ext uri="{FF2B5EF4-FFF2-40B4-BE49-F238E27FC236}">
                            <a16:creationId xmlns:a16="http://schemas.microsoft.com/office/drawing/2014/main" id="{4C3EEBC7-981C-473B-9BB2-3E6A15A3DA6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编程类讲义字体">
      <a:majorFont>
        <a:latin typeface="Consolas"/>
        <a:ea typeface="宋体"/>
        <a:cs typeface=""/>
      </a:majorFont>
      <a:minorFont>
        <a:latin typeface="Consola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78787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005BE5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3116</TotalTime>
  <Words>5745</Words>
  <Application>Microsoft Office PowerPoint</Application>
  <PresentationFormat>全屏显示(4:3)</PresentationFormat>
  <Paragraphs>707</Paragraphs>
  <Slides>61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61</vt:i4>
      </vt:variant>
    </vt:vector>
  </HeadingPairs>
  <TitlesOfParts>
    <vt:vector size="73" baseType="lpstr">
      <vt:lpstr>Monotype Sorts</vt:lpstr>
      <vt:lpstr>仿宋</vt:lpstr>
      <vt:lpstr>黑体</vt:lpstr>
      <vt:lpstr>华文中宋</vt:lpstr>
      <vt:lpstr>楷体_GB2312</vt:lpstr>
      <vt:lpstr>宋体</vt:lpstr>
      <vt:lpstr>微软雅黑</vt:lpstr>
      <vt:lpstr>Arial</vt:lpstr>
      <vt:lpstr>Consolas</vt:lpstr>
      <vt:lpstr>Times New Roman</vt:lpstr>
      <vt:lpstr>Wingdings</vt:lpstr>
      <vt:lpstr>经分互动规范介绍</vt:lpstr>
      <vt:lpstr>PowerPoint 演示文稿</vt:lpstr>
      <vt:lpstr>控制语句</vt:lpstr>
      <vt:lpstr>是非选择结构</vt:lpstr>
      <vt:lpstr> switch多路选择结构</vt:lpstr>
      <vt:lpstr>如何使完成的程序重复执行呢？</vt:lpstr>
      <vt:lpstr>循环结构</vt:lpstr>
      <vt:lpstr>PowerPoint 演示文稿</vt:lpstr>
      <vt:lpstr>完善程序功能</vt:lpstr>
      <vt:lpstr>PowerPoint 演示文稿</vt:lpstr>
      <vt:lpstr>编程活动步骤3-编写代码</vt:lpstr>
      <vt:lpstr>完善四种判断表达式</vt:lpstr>
      <vt:lpstr>PowerPoint 演示文稿</vt:lpstr>
      <vt:lpstr>如何改善多个if-else嵌套结构</vt:lpstr>
      <vt:lpstr> switch多路选择结构</vt:lpstr>
      <vt:lpstr>用switch结构进行运算符判断</vt:lpstr>
      <vt:lpstr>用switch结构进行运算符判断</vt:lpstr>
      <vt:lpstr>某月有多少天</vt:lpstr>
      <vt:lpstr>PowerPoint 演示文稿</vt:lpstr>
      <vt:lpstr>PowerPoint 演示文稿</vt:lpstr>
      <vt:lpstr>如何使完成的程序重复执行呢？</vt:lpstr>
      <vt:lpstr>循环结构</vt:lpstr>
      <vt:lpstr>PowerPoint 演示文稿</vt:lpstr>
      <vt:lpstr>PowerPoint 演示文稿</vt:lpstr>
      <vt:lpstr>PowerPoint 演示文稿</vt:lpstr>
      <vt:lpstr>凯撒加密</vt:lpstr>
      <vt:lpstr>PowerPoint 演示文稿</vt:lpstr>
      <vt:lpstr>赋值和逻辑判断的简写</vt:lpstr>
      <vt:lpstr>PowerPoint 演示文稿</vt:lpstr>
      <vt:lpstr>PowerPoint 演示文稿</vt:lpstr>
      <vt:lpstr>PowerPoint 演示文稿</vt:lpstr>
      <vt:lpstr>利用泰勒级数求ex</vt:lpstr>
      <vt:lpstr>  表达式语句中的逗号运算符</vt:lpstr>
      <vt:lpstr>运算符++、--</vt:lpstr>
      <vt:lpstr>数学库函数：exp</vt:lpstr>
      <vt:lpstr>PowerPoint 演示文稿</vt:lpstr>
      <vt:lpstr>PowerPoint 演示文稿</vt:lpstr>
      <vt:lpstr>循环结构－应用举例</vt:lpstr>
      <vt:lpstr>Fib数列算法1</vt:lpstr>
      <vt:lpstr>求Fibonacci数列算法1的源程序</vt:lpstr>
      <vt:lpstr>PowerPoint 演示文稿</vt:lpstr>
      <vt:lpstr>long类型修饰符</vt:lpstr>
      <vt:lpstr>PowerPoint 演示文稿</vt:lpstr>
      <vt:lpstr>求Fibonacci数列算法1的源程序</vt:lpstr>
      <vt:lpstr>PowerPoint 演示文稿</vt:lpstr>
      <vt:lpstr>Fib数列算法改进：每循环计算两项</vt:lpstr>
      <vt:lpstr>求Fibonacci数列改进算法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编写打印直角三角程序</vt:lpstr>
      <vt:lpstr>表达式简写－变量自加减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creator>zhang yanmei</dc:creator>
  <cp:lastModifiedBy>zhang yanmei</cp:lastModifiedBy>
  <cp:revision>1165</cp:revision>
  <dcterms:created xsi:type="dcterms:W3CDTF">2001-07-15T23:49:00Z</dcterms:created>
  <dcterms:modified xsi:type="dcterms:W3CDTF">2023-09-13T08:01:24Z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