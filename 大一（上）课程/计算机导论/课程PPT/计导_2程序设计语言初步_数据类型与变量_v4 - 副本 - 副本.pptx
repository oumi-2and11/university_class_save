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3"/>
  </p:notesMasterIdLst>
  <p:handoutMasterIdLst>
    <p:handoutMasterId r:id="rId44"/>
  </p:handoutMasterIdLst>
  <p:sldIdLst>
    <p:sldId id="438" r:id="rId2"/>
    <p:sldId id="440" r:id="rId3"/>
    <p:sldId id="1185" r:id="rId4"/>
    <p:sldId id="475" r:id="rId5"/>
    <p:sldId id="275" r:id="rId6"/>
    <p:sldId id="279" r:id="rId7"/>
    <p:sldId id="280" r:id="rId8"/>
    <p:sldId id="282" r:id="rId9"/>
    <p:sldId id="281" r:id="rId10"/>
    <p:sldId id="285" r:id="rId11"/>
    <p:sldId id="481" r:id="rId12"/>
    <p:sldId id="484" r:id="rId13"/>
    <p:sldId id="971" r:id="rId14"/>
    <p:sldId id="980" r:id="rId15"/>
    <p:sldId id="494" r:id="rId16"/>
    <p:sldId id="860" r:id="rId17"/>
    <p:sldId id="1176" r:id="rId18"/>
    <p:sldId id="530" r:id="rId19"/>
    <p:sldId id="1177" r:id="rId20"/>
    <p:sldId id="1183" r:id="rId21"/>
    <p:sldId id="993" r:id="rId22"/>
    <p:sldId id="1651" r:id="rId23"/>
    <p:sldId id="1178" r:id="rId24"/>
    <p:sldId id="1179" r:id="rId25"/>
    <p:sldId id="1187" r:id="rId26"/>
    <p:sldId id="990" r:id="rId27"/>
    <p:sldId id="1181" r:id="rId28"/>
    <p:sldId id="1184" r:id="rId29"/>
    <p:sldId id="1186" r:id="rId30"/>
    <p:sldId id="1188" r:id="rId31"/>
    <p:sldId id="1653" r:id="rId32"/>
    <p:sldId id="988" r:id="rId33"/>
    <p:sldId id="1629" r:id="rId34"/>
    <p:sldId id="966" r:id="rId35"/>
    <p:sldId id="1649" r:id="rId36"/>
    <p:sldId id="1650" r:id="rId37"/>
    <p:sldId id="1189" r:id="rId38"/>
    <p:sldId id="458" r:id="rId39"/>
    <p:sldId id="1182" r:id="rId40"/>
    <p:sldId id="1652" r:id="rId41"/>
    <p:sldId id="502" r:id="rId42"/>
  </p:sldIdLst>
  <p:sldSz cx="9144000" cy="6858000" type="screen4x3"/>
  <p:notesSz cx="6858000" cy="9144000"/>
  <p:defaultTextStyle>
    <a:defPPr>
      <a:defRPr lang="en-US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1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1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1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1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1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1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1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1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1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79C304D3-7C55-4B72-B25A-02EE059B9909}">
          <p14:sldIdLst>
            <p14:sldId id="438"/>
          </p14:sldIdLst>
        </p14:section>
        <p14:section name="计算机中的数据表示" id="{020E9213-209A-4901-8AB1-C433E2F1CA27}">
          <p14:sldIdLst>
            <p14:sldId id="440"/>
            <p14:sldId id="1185"/>
            <p14:sldId id="475"/>
            <p14:sldId id="275"/>
            <p14:sldId id="279"/>
            <p14:sldId id="280"/>
            <p14:sldId id="282"/>
            <p14:sldId id="281"/>
            <p14:sldId id="285"/>
            <p14:sldId id="481"/>
            <p14:sldId id="484"/>
            <p14:sldId id="971"/>
            <p14:sldId id="980"/>
            <p14:sldId id="494"/>
          </p14:sldIdLst>
        </p14:section>
        <p14:section name="数据类型" id="{4EA69CD4-8088-4A12-BF0A-C970EEE3DBF4}">
          <p14:sldIdLst>
            <p14:sldId id="860"/>
            <p14:sldId id="1176"/>
            <p14:sldId id="530"/>
          </p14:sldIdLst>
        </p14:section>
        <p14:section name="常量" id="{992C9E2D-0943-4429-91D8-5A491583734D}">
          <p14:sldIdLst>
            <p14:sldId id="1177"/>
            <p14:sldId id="1183"/>
            <p14:sldId id="993"/>
            <p14:sldId id="1651"/>
          </p14:sldIdLst>
        </p14:section>
        <p14:section name="变量" id="{AFBEE87E-8F53-4C62-A227-EFFE9E0E60D3}">
          <p14:sldIdLst>
            <p14:sldId id="1178"/>
            <p14:sldId id="1179"/>
            <p14:sldId id="1187"/>
            <p14:sldId id="990"/>
          </p14:sldIdLst>
        </p14:section>
        <p14:section name="整数类型" id="{19521242-271F-4977-81A5-CACEB79092ED}">
          <p14:sldIdLst>
            <p14:sldId id="1181"/>
            <p14:sldId id="1184"/>
            <p14:sldId id="1186"/>
            <p14:sldId id="1188"/>
            <p14:sldId id="1653"/>
            <p14:sldId id="988"/>
            <p14:sldId id="1629"/>
          </p14:sldIdLst>
        </p14:section>
        <p14:section name="浮点数类型" id="{EEB1AC58-A4F7-4A73-808C-01013520B2C5}">
          <p14:sldIdLst>
            <p14:sldId id="966"/>
            <p14:sldId id="1649"/>
            <p14:sldId id="1650"/>
            <p14:sldId id="1189"/>
            <p14:sldId id="458"/>
          </p14:sldIdLst>
        </p14:section>
        <p14:section name="小结" id="{273CB7EC-958F-4D5D-9481-6C41606013D5}">
          <p14:sldIdLst>
            <p14:sldId id="1182"/>
            <p14:sldId id="1652"/>
            <p14:sldId id="50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4176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2D35D3"/>
    <a:srgbClr val="3366FF"/>
    <a:srgbClr val="000000"/>
    <a:srgbClr val="9966FF"/>
    <a:srgbClr val="99CCFF"/>
    <a:srgbClr val="CCECFF"/>
    <a:srgbClr val="99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361" autoAdjust="0"/>
    <p:restoredTop sz="77852" autoAdjust="0"/>
  </p:normalViewPr>
  <p:slideViewPr>
    <p:cSldViewPr showGuides="1">
      <p:cViewPr varScale="1">
        <p:scale>
          <a:sx n="67" d="100"/>
          <a:sy n="67" d="100"/>
        </p:scale>
        <p:origin x="1268" y="52"/>
      </p:cViewPr>
      <p:guideLst>
        <p:guide orient="horz" pos="4176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2023/9/13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0213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fontAlgn="base" hangingPunct="1"/>
            <a:endParaRPr lang="zh-CN" altLang="en-US" sz="1200" b="0" strike="noStrike" noProof="1"/>
          </a:p>
        </p:txBody>
      </p:sp>
      <p:sp>
        <p:nvSpPr>
          <p:cNvPr id="2051" name="Rectangle 3"/>
          <p:cNvSpPr>
            <a:spLocks noGrp="1"/>
          </p:cNvSpPr>
          <p:nvPr>
            <p:ph type="dt" idx="1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algn="r" eaLnBrk="1" fontAlgn="base" hangingPunct="1"/>
            <a:endParaRPr lang="en-US" altLang="x-none" sz="1200" b="0" strike="noStrike" noProof="1"/>
          </a:p>
        </p:txBody>
      </p:sp>
      <p:sp>
        <p:nvSpPr>
          <p:cNvPr id="3076" name="Rectangle 4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3077" name="Rectangle 5"/>
          <p:cNvSpPr>
            <a:spLocks noGrp="1"/>
          </p:cNvSpPr>
          <p:nvPr>
            <p:ph type="body" sz="quarter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 indent="0"/>
            <a:r>
              <a:rPr lang="zh-CN" altLang="en-US" dirty="0"/>
              <a:t>单击此处编辑母版文本样式</a:t>
            </a:r>
          </a:p>
          <a:p>
            <a:pPr lvl="1" indent="0"/>
            <a:r>
              <a:rPr lang="zh-CN" altLang="en-US" dirty="0"/>
              <a:t>第二级</a:t>
            </a:r>
          </a:p>
          <a:p>
            <a:pPr lvl="2" indent="0"/>
            <a:r>
              <a:rPr lang="zh-CN" altLang="en-US" dirty="0"/>
              <a:t>第三级</a:t>
            </a:r>
          </a:p>
          <a:p>
            <a:pPr lvl="3" indent="0"/>
            <a:r>
              <a:rPr lang="zh-CN" altLang="en-US" dirty="0"/>
              <a:t>第四级</a:t>
            </a:r>
          </a:p>
          <a:p>
            <a:pPr lvl="4" indent="0"/>
            <a:r>
              <a:rPr lang="zh-CN" altLang="en-US" dirty="0"/>
              <a:t>第五级</a:t>
            </a:r>
          </a:p>
        </p:txBody>
      </p:sp>
      <p:sp>
        <p:nvSpPr>
          <p:cNvPr id="2054" name="Rectangle 6"/>
          <p:cNvSpPr>
            <a:spLocks noGrp="1"/>
          </p:cNvSpPr>
          <p:nvPr>
            <p:ph type="ftr" sz="quarter" idx="4"/>
          </p:nvPr>
        </p:nvSpPr>
        <p:spPr>
          <a:xfrm>
            <a:off x="0" y="8686800"/>
            <a:ext cx="2970213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eaLnBrk="1" fontAlgn="base" hangingPunct="1"/>
            <a:endParaRPr lang="en-US" altLang="x-none" sz="1200" b="0" strike="noStrike" noProof="1"/>
          </a:p>
        </p:txBody>
      </p:sp>
      <p:sp>
        <p:nvSpPr>
          <p:cNvPr id="2055" name="Rectangle 7"/>
          <p:cNvSpPr>
            <a:spLocks noGrp="1"/>
          </p:cNvSpPr>
          <p:nvPr>
            <p:ph type="sldNum" sz="quarter" idx="5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fontAlgn="base" hangingPunct="1"/>
            <a:fld id="{9A0DB2DC-4C9A-4742-B13C-FB6460FD3503}" type="slidenum">
              <a:rPr lang="zh-CN" altLang="en-US" sz="1200" b="0" strike="noStrike" noProof="1" dirty="0"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z="1200" b="0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lvl="0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</a:defRPr>
    </a:lvl1pPr>
    <a:lvl2pPr marL="457200" lvl="1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</a:defRPr>
    </a:lvl2pPr>
    <a:lvl3pPr marL="914400" lvl="2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</a:defRPr>
    </a:lvl3pPr>
    <a:lvl4pPr marL="1371600" lvl="3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</a:defRPr>
    </a:lvl4pPr>
    <a:lvl5pPr marL="1828800" lvl="4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</a:defRPr>
    </a:lvl5pPr>
    <a:lvl6pPr marL="2286000" lvl="5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</a:defRPr>
    </a:lvl6pPr>
    <a:lvl7pPr marL="2743200" lvl="6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</a:defRPr>
    </a:lvl7pPr>
    <a:lvl8pPr marL="3200400" lvl="7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</a:defRPr>
    </a:lvl8pPr>
    <a:lvl9pPr marL="3657600" lvl="8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E76AE769-B6C4-BD62-8AD8-5FF37FCF7E6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D61F7F2-43E8-417E-9EA3-07C9F70FF160}" type="slidenum">
              <a:rPr lang="en-US" altLang="zh-CN"/>
              <a:pPr/>
              <a:t>4</a:t>
            </a:fld>
            <a:endParaRPr lang="en-US" altLang="zh-CN"/>
          </a:p>
        </p:txBody>
      </p:sp>
      <p:sp>
        <p:nvSpPr>
          <p:cNvPr id="363522" name="Rectangle 2">
            <a:extLst>
              <a:ext uri="{FF2B5EF4-FFF2-40B4-BE49-F238E27FC236}">
                <a16:creationId xmlns:a16="http://schemas.microsoft.com/office/drawing/2014/main" id="{3AE80F13-E75B-F538-7311-F60E3FB658D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62288" y="515938"/>
            <a:ext cx="3424237" cy="2568575"/>
          </a:xfrm>
          <a:ln w="12700" cap="flat"/>
        </p:spPr>
      </p:sp>
      <p:sp>
        <p:nvSpPr>
          <p:cNvPr id="363523" name="Rectangle 3">
            <a:extLst>
              <a:ext uri="{FF2B5EF4-FFF2-40B4-BE49-F238E27FC236}">
                <a16:creationId xmlns:a16="http://schemas.microsoft.com/office/drawing/2014/main" id="{25B0B610-192C-6EB1-4320-83713C34C2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73175" y="3257550"/>
            <a:ext cx="6999288" cy="3086100"/>
          </a:xfrm>
          <a:ln/>
        </p:spPr>
        <p:txBody>
          <a:bodyPr lIns="92075" tIns="46038" rIns="92075" bIns="46038"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11881306-7E5E-1F5C-73F6-E22E866F001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7DA3BC5-C4CB-4DAE-A33E-A57B5525D423}" type="slidenum">
              <a:rPr lang="en-US" altLang="zh-CN"/>
              <a:pPr/>
              <a:t>15</a:t>
            </a:fld>
            <a:endParaRPr lang="en-US" altLang="zh-CN"/>
          </a:p>
        </p:txBody>
      </p:sp>
      <p:sp>
        <p:nvSpPr>
          <p:cNvPr id="385026" name="Rectangle 2">
            <a:extLst>
              <a:ext uri="{FF2B5EF4-FFF2-40B4-BE49-F238E27FC236}">
                <a16:creationId xmlns:a16="http://schemas.microsoft.com/office/drawing/2014/main" id="{255DB5EE-CAAC-2396-ADC9-E5A928B48D5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5027" name="Rectangle 3">
            <a:extLst>
              <a:ext uri="{FF2B5EF4-FFF2-40B4-BE49-F238E27FC236}">
                <a16:creationId xmlns:a16="http://schemas.microsoft.com/office/drawing/2014/main" id="{68550C58-20CF-9E21-200E-53BF2DF950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73175" y="3257550"/>
            <a:ext cx="6999288" cy="3086100"/>
          </a:xfrm>
        </p:spPr>
        <p:txBody>
          <a:bodyPr/>
          <a:lstStyle/>
          <a:p>
            <a:r>
              <a:rPr lang="zh-CN" altLang="en-US"/>
              <a:t>这张幻灯片主要涉及信息的内部表示和外部显示问题，请参考教材</a:t>
            </a:r>
            <a:r>
              <a:rPr lang="en-US" altLang="zh-CN"/>
              <a:t>1.2.5</a:t>
            </a:r>
            <a:r>
              <a:rPr lang="zh-CN" altLang="en-US"/>
              <a:t>节内容。</a:t>
            </a:r>
          </a:p>
          <a:p>
            <a:r>
              <a:rPr lang="zh-CN" altLang="en-US"/>
              <a:t>　　字符代码化是指用户从键盘上输入代表某个汉字的编码。我们把采用不同的编码系统以代表汉字进行输入的方案（如数字码、拼音码和字形码），称为汉字的输入法，区位码、五笔字型码、拼音码、智能</a:t>
            </a:r>
            <a:r>
              <a:rPr lang="en-US" altLang="zh-CN"/>
              <a:t>ABC</a:t>
            </a:r>
            <a:r>
              <a:rPr lang="zh-CN" altLang="en-US"/>
              <a:t>、微软拼音输入法等都是其中的具体代表。</a:t>
            </a:r>
          </a:p>
          <a:p>
            <a:r>
              <a:rPr lang="zh-CN" altLang="en-US"/>
              <a:t>　　汉字通过编码输入计算机后，在其后的处理过程中，不同阶段使用不同的代码，首先通过键盘管理程序将接收到的输入编码转换为</a:t>
            </a:r>
            <a:r>
              <a:rPr lang="en-US" altLang="zh-CN"/>
              <a:t>0</a:t>
            </a:r>
            <a:r>
              <a:rPr lang="zh-CN" altLang="en-US"/>
              <a:t>和</a:t>
            </a:r>
            <a:r>
              <a:rPr lang="en-US" altLang="zh-CN"/>
              <a:t>1</a:t>
            </a:r>
            <a:r>
              <a:rPr lang="zh-CN" altLang="en-US"/>
              <a:t>构成的机内码，实现计算机的存储、加工和传输处理。</a:t>
            </a:r>
          </a:p>
          <a:p>
            <a:r>
              <a:rPr lang="zh-CN" altLang="en-US"/>
              <a:t>　　同样，存储在计算机内部的机内码也必须经转换后才能恢复汉字的“本来面目”。这种转换通常是由计算机的输入</a:t>
            </a:r>
            <a:r>
              <a:rPr lang="en-US" altLang="zh-CN"/>
              <a:t>/</a:t>
            </a:r>
            <a:r>
              <a:rPr lang="zh-CN" altLang="en-US"/>
              <a:t>输出设备来实现的</a:t>
            </a:r>
            <a:r>
              <a:rPr lang="en-US" altLang="zh-CN"/>
              <a:t>, </a:t>
            </a:r>
            <a:r>
              <a:rPr lang="zh-CN" altLang="en-US"/>
              <a:t>有时还需要软件来参与这种转换过程。这个阶段的汉字代码称为字形码，用以显示和打印输出。</a:t>
            </a:r>
          </a:p>
          <a:p>
            <a:r>
              <a:rPr lang="zh-CN" altLang="en-US" b="1"/>
              <a:t>数字码：</a:t>
            </a:r>
            <a:r>
              <a:rPr lang="zh-CN" altLang="en-US"/>
              <a:t>将汉字按一定顺序逐一赋予号码，如国标区位码。特点：无重码，难记忆，不适合普通用户。</a:t>
            </a:r>
          </a:p>
          <a:p>
            <a:r>
              <a:rPr lang="zh-CN" altLang="en-US" b="1"/>
              <a:t>拼音码：</a:t>
            </a:r>
            <a:r>
              <a:rPr lang="zh-CN" altLang="en-US"/>
              <a:t>采用拼音规则编码，如全拚、双拚等，特点：重码多，遇到不会读音或读音不准的汉字，输入困难。</a:t>
            </a:r>
          </a:p>
          <a:p>
            <a:r>
              <a:rPr lang="zh-CN" altLang="en-US" b="1"/>
              <a:t>字形码：</a:t>
            </a:r>
            <a:r>
              <a:rPr lang="zh-CN" altLang="en-US"/>
              <a:t>采用汉字字形方面的特征（如整字、字根、笔画、码元等），按一定规则编码，如五笔字型码等，特点：需记忆规则，速度快，适于专业录入人员。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 txBox="1">
            <a:spLocks noGrp="1"/>
          </p:cNvSpPr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indent="0" algn="r"/>
            <a:fld id="{9A0DB2DC-4C9A-4742-B13C-FB6460FD3503}" type="slidenum">
              <a:rPr lang="zh-CN" altLang="en-US" sz="1200" b="0" dirty="0"/>
              <a:t>21</a:t>
            </a:fld>
            <a:endParaRPr lang="zh-CN" altLang="en-US" sz="1200" b="0" dirty="0"/>
          </a:p>
        </p:txBody>
      </p:sp>
      <p:sp>
        <p:nvSpPr>
          <p:cNvPr id="40963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0964" name="Rectangle 3"/>
          <p:cNvSpPr>
            <a:spLocks noGrp="1"/>
          </p:cNvSpPr>
          <p:nvPr>
            <p:ph type="body"/>
          </p:nvPr>
        </p:nvSpPr>
        <p:spPr/>
        <p:txBody>
          <a:bodyPr wrap="square" anchor="t"/>
          <a:lstStyle/>
          <a:p>
            <a:pPr lvl="0" indent="0" eaLnBrk="1" hangingPunct="1"/>
            <a:r>
              <a:rPr lang="zh-CN" altLang="en-US" dirty="0"/>
              <a:t>为何有了</a:t>
            </a:r>
            <a:r>
              <a:rPr lang="en-US" altLang="zh-CN" dirty="0"/>
              <a:t>define</a:t>
            </a:r>
            <a:r>
              <a:rPr lang="zh-CN" altLang="en-US" dirty="0"/>
              <a:t>还使用</a:t>
            </a:r>
            <a:r>
              <a:rPr lang="en-US" altLang="zh-CN" dirty="0"/>
              <a:t>const</a:t>
            </a:r>
            <a:r>
              <a:rPr lang="zh-CN" altLang="en-US" dirty="0"/>
              <a:t>变量：</a:t>
            </a:r>
          </a:p>
          <a:p>
            <a:pPr lvl="0" indent="0" eaLnBrk="1" hangingPunct="1"/>
            <a:r>
              <a:rPr lang="zh-CN" altLang="en-US" dirty="0"/>
              <a:t>如果一个值是不确定的，只能在运行时才确定，且该值在运行过程中不可修改，则使用</a:t>
            </a:r>
            <a:r>
              <a:rPr lang="en-US" altLang="zh-CN" dirty="0"/>
              <a:t>const</a:t>
            </a:r>
            <a:r>
              <a:rPr lang="zh-CN" altLang="en-US" dirty="0"/>
              <a:t>变量</a:t>
            </a:r>
          </a:p>
          <a:p>
            <a:pPr lvl="0" indent="0" eaLnBrk="1" hangingPunct="1"/>
            <a:endParaRPr lang="zh-CN" altLang="en-US" dirty="0"/>
          </a:p>
          <a:p>
            <a:pPr lvl="0" indent="0" eaLnBrk="1" hangingPunct="1"/>
            <a:r>
              <a:rPr lang="en-US" altLang="zh-CN" dirty="0"/>
              <a:t>Define</a:t>
            </a:r>
            <a:r>
              <a:rPr lang="zh-CN" altLang="en-US" dirty="0"/>
              <a:t>常量和</a:t>
            </a:r>
            <a:r>
              <a:rPr lang="en-US" altLang="zh-CN" dirty="0"/>
              <a:t>const</a:t>
            </a:r>
            <a:r>
              <a:rPr lang="zh-CN" altLang="en-US" dirty="0"/>
              <a:t>常量的区别：</a:t>
            </a:r>
          </a:p>
          <a:p>
            <a:pPr lvl="0" indent="0" eaLnBrk="1" hangingPunct="1"/>
            <a:r>
              <a:rPr lang="zh-CN" altLang="en-US" b="1" dirty="0"/>
              <a:t>两者之间的区别：</a:t>
            </a:r>
            <a:br>
              <a:rPr lang="zh-CN" altLang="en-US"/>
            </a:br>
            <a:r>
              <a:rPr lang="zh-CN" altLang="en-US" dirty="0"/>
              <a:t>   </a:t>
            </a:r>
            <a:r>
              <a:rPr lang="zh-CN" altLang="en-US"/>
              <a:t> 内存</a:t>
            </a:r>
            <a:r>
              <a:rPr lang="zh-CN" altLang="en-US" dirty="0"/>
              <a:t>空间的分配上。</a:t>
            </a:r>
            <a:r>
              <a:rPr lang="en-US" altLang="zh-CN" dirty="0"/>
              <a:t>define</a:t>
            </a:r>
            <a:r>
              <a:rPr lang="zh-CN" altLang="en-US" dirty="0"/>
              <a:t>进行宏定义的时候，不会分配内存空间，编译时会在</a:t>
            </a:r>
            <a:r>
              <a:rPr lang="en-US" altLang="zh-CN" dirty="0"/>
              <a:t>main</a:t>
            </a:r>
            <a:r>
              <a:rPr lang="zh-CN" altLang="en-US" dirty="0"/>
              <a:t>函数里进行替换，只是单纯的替换，不会进行任何检查</a:t>
            </a:r>
            <a:r>
              <a:rPr lang="en-US" altLang="zh-CN" dirty="0"/>
              <a:t>,</a:t>
            </a:r>
            <a:r>
              <a:rPr lang="zh-CN" altLang="en-US" dirty="0"/>
              <a:t>比如类型，语句结构等，即宏定义常量只是纯粹的置放关系，如</a:t>
            </a:r>
            <a:r>
              <a:rPr lang="en-US" altLang="zh-CN"/>
              <a:t>#define null 0</a:t>
            </a:r>
            <a:r>
              <a:rPr lang="zh-CN" altLang="en-US" dirty="0"/>
              <a:t>；编译器在遇到</a:t>
            </a:r>
            <a:r>
              <a:rPr lang="en-US" altLang="zh-CN" dirty="0"/>
              <a:t>null</a:t>
            </a:r>
            <a:r>
              <a:rPr lang="zh-CN" altLang="en-US" dirty="0"/>
              <a:t>时总是用</a:t>
            </a:r>
            <a:r>
              <a:rPr lang="en-US" altLang="zh-CN" dirty="0"/>
              <a:t>0</a:t>
            </a:r>
            <a:r>
              <a:rPr lang="zh-CN" altLang="en-US" dirty="0"/>
              <a:t>代替</a:t>
            </a:r>
            <a:r>
              <a:rPr lang="en-US" altLang="zh-CN" dirty="0"/>
              <a:t>null</a:t>
            </a:r>
            <a:r>
              <a:rPr lang="zh-CN" altLang="en-US" dirty="0"/>
              <a:t>它没有数据类型（还有疑问请找</a:t>
            </a:r>
            <a:r>
              <a:rPr lang="en-US" altLang="zh-CN" dirty="0"/>
              <a:t>C</a:t>
            </a:r>
            <a:r>
              <a:rPr lang="zh-CN" altLang="en-US" dirty="0"/>
              <a:t>语言书籍看预处理部分或者看</a:t>
            </a:r>
            <a:r>
              <a:rPr lang="en-US" altLang="zh-CN" dirty="0"/>
              <a:t>MSDN.</a:t>
            </a:r>
            <a:r>
              <a:rPr lang="zh-CN" altLang="en-US" dirty="0"/>
              <a:t>而</a:t>
            </a:r>
            <a:r>
              <a:rPr lang="en-US" altLang="zh-CN" dirty="0"/>
              <a:t>const</a:t>
            </a:r>
            <a:r>
              <a:rPr lang="zh-CN" altLang="en-US" dirty="0"/>
              <a:t>定义的常量具有数据类型，定义数据类型的常量便于编译器进行数据检查，使程序可能出现错误进行排查</a:t>
            </a:r>
            <a:r>
              <a:rPr lang="en-US" altLang="zh-CN" dirty="0"/>
              <a:t>,</a:t>
            </a:r>
            <a:r>
              <a:rPr lang="zh-CN" altLang="en-US" dirty="0"/>
              <a:t>所以</a:t>
            </a:r>
            <a:r>
              <a:rPr lang="en-US" altLang="zh-CN" dirty="0"/>
              <a:t>const</a:t>
            </a:r>
            <a:r>
              <a:rPr lang="zh-CN" altLang="en-US" dirty="0"/>
              <a:t>与</a:t>
            </a:r>
            <a:r>
              <a:rPr lang="en-US" altLang="zh-CN" dirty="0"/>
              <a:t>define</a:t>
            </a:r>
            <a:r>
              <a:rPr lang="zh-CN" altLang="en-US" dirty="0"/>
              <a:t>之间的区别在于</a:t>
            </a:r>
            <a:r>
              <a:rPr lang="en-US" altLang="zh-CN" dirty="0"/>
              <a:t>const</a:t>
            </a:r>
            <a:r>
              <a:rPr lang="zh-CN" altLang="en-US" dirty="0"/>
              <a:t>定义常量排除了程序之间的不</a:t>
            </a:r>
            <a:r>
              <a:rPr lang="zh-CN" altLang="en-US"/>
              <a:t>安全性</a:t>
            </a:r>
            <a:r>
              <a:rPr lang="en-US" altLang="zh-CN"/>
              <a:t>. </a:t>
            </a:r>
            <a:br>
              <a:rPr lang="en-US" altLang="zh-CN" dirty="0"/>
            </a:br>
            <a:br>
              <a:rPr lang="en-US" altLang="zh-CN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96735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 txBox="1">
            <a:spLocks noGrp="1"/>
          </p:cNvSpPr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indent="0" algn="r"/>
            <a:fld id="{9A0DB2DC-4C9A-4742-B13C-FB6460FD3503}" type="slidenum">
              <a:rPr lang="zh-CN" altLang="en-US" sz="1200" b="0" dirty="0"/>
              <a:t>22</a:t>
            </a:fld>
            <a:endParaRPr lang="zh-CN" altLang="en-US" sz="1200" b="0" dirty="0"/>
          </a:p>
        </p:txBody>
      </p:sp>
      <p:sp>
        <p:nvSpPr>
          <p:cNvPr id="40963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0964" name="Rectangle 3"/>
          <p:cNvSpPr>
            <a:spLocks noGrp="1"/>
          </p:cNvSpPr>
          <p:nvPr>
            <p:ph type="body"/>
          </p:nvPr>
        </p:nvSpPr>
        <p:spPr/>
        <p:txBody>
          <a:bodyPr wrap="square" anchor="t"/>
          <a:lstStyle/>
          <a:p>
            <a:pPr lvl="0" indent="0" eaLnBrk="1" hangingPunct="1"/>
            <a:r>
              <a:rPr lang="zh-CN" altLang="en-US" dirty="0"/>
              <a:t>为何有了</a:t>
            </a:r>
            <a:r>
              <a:rPr lang="en-US" altLang="zh-CN" dirty="0"/>
              <a:t>define</a:t>
            </a:r>
            <a:r>
              <a:rPr lang="zh-CN" altLang="en-US" dirty="0"/>
              <a:t>还使用</a:t>
            </a:r>
            <a:r>
              <a:rPr lang="en-US" altLang="zh-CN" dirty="0"/>
              <a:t>const</a:t>
            </a:r>
            <a:r>
              <a:rPr lang="zh-CN" altLang="en-US" dirty="0"/>
              <a:t>变量：</a:t>
            </a:r>
          </a:p>
          <a:p>
            <a:pPr lvl="0" indent="0" eaLnBrk="1" hangingPunct="1"/>
            <a:r>
              <a:rPr lang="zh-CN" altLang="en-US" dirty="0"/>
              <a:t>如果一个值是不确定的，只能在运行时才确定，且该值在运行过程中不可修改，则使用</a:t>
            </a:r>
            <a:r>
              <a:rPr lang="en-US" altLang="zh-CN" dirty="0"/>
              <a:t>const</a:t>
            </a:r>
            <a:r>
              <a:rPr lang="zh-CN" altLang="en-US" dirty="0"/>
              <a:t>变量</a:t>
            </a:r>
          </a:p>
          <a:p>
            <a:pPr lvl="0" indent="0" eaLnBrk="1" hangingPunct="1"/>
            <a:endParaRPr lang="zh-CN" altLang="en-US" dirty="0"/>
          </a:p>
          <a:p>
            <a:pPr lvl="0" indent="0" eaLnBrk="1" hangingPunct="1"/>
            <a:r>
              <a:rPr lang="en-US" altLang="zh-CN" dirty="0"/>
              <a:t>Define</a:t>
            </a:r>
            <a:r>
              <a:rPr lang="zh-CN" altLang="en-US" dirty="0"/>
              <a:t>常量和</a:t>
            </a:r>
            <a:r>
              <a:rPr lang="en-US" altLang="zh-CN" dirty="0"/>
              <a:t>const</a:t>
            </a:r>
            <a:r>
              <a:rPr lang="zh-CN" altLang="en-US" dirty="0"/>
              <a:t>常量的区别：</a:t>
            </a:r>
          </a:p>
          <a:p>
            <a:pPr lvl="0" indent="0" eaLnBrk="1" hangingPunct="1"/>
            <a:r>
              <a:rPr lang="zh-CN" altLang="en-US" b="1" dirty="0"/>
              <a:t>两者之间的区别：</a:t>
            </a:r>
            <a:br>
              <a:rPr lang="zh-CN" altLang="en-US"/>
            </a:br>
            <a:r>
              <a:rPr lang="zh-CN" altLang="en-US" dirty="0"/>
              <a:t>   </a:t>
            </a:r>
            <a:r>
              <a:rPr lang="zh-CN" altLang="en-US"/>
              <a:t> 内存</a:t>
            </a:r>
            <a:r>
              <a:rPr lang="zh-CN" altLang="en-US" dirty="0"/>
              <a:t>空间的分配上。</a:t>
            </a:r>
            <a:r>
              <a:rPr lang="en-US" altLang="zh-CN" dirty="0"/>
              <a:t>define</a:t>
            </a:r>
            <a:r>
              <a:rPr lang="zh-CN" altLang="en-US" dirty="0"/>
              <a:t>进行宏定义的时候，不会分配内存空间，编译时会在</a:t>
            </a:r>
            <a:r>
              <a:rPr lang="en-US" altLang="zh-CN" dirty="0"/>
              <a:t>main</a:t>
            </a:r>
            <a:r>
              <a:rPr lang="zh-CN" altLang="en-US" dirty="0"/>
              <a:t>函数里进行替换，只是单纯的替换，不会进行任何检查</a:t>
            </a:r>
            <a:r>
              <a:rPr lang="en-US" altLang="zh-CN" dirty="0"/>
              <a:t>,</a:t>
            </a:r>
            <a:r>
              <a:rPr lang="zh-CN" altLang="en-US" dirty="0"/>
              <a:t>比如类型，语句结构等，即宏定义常量只是纯粹的置放关系，如</a:t>
            </a:r>
            <a:r>
              <a:rPr lang="en-US" altLang="zh-CN"/>
              <a:t>#define null 0</a:t>
            </a:r>
            <a:r>
              <a:rPr lang="zh-CN" altLang="en-US" dirty="0"/>
              <a:t>；编译器在遇到</a:t>
            </a:r>
            <a:r>
              <a:rPr lang="en-US" altLang="zh-CN" dirty="0"/>
              <a:t>null</a:t>
            </a:r>
            <a:r>
              <a:rPr lang="zh-CN" altLang="en-US" dirty="0"/>
              <a:t>时总是用</a:t>
            </a:r>
            <a:r>
              <a:rPr lang="en-US" altLang="zh-CN" dirty="0"/>
              <a:t>0</a:t>
            </a:r>
            <a:r>
              <a:rPr lang="zh-CN" altLang="en-US" dirty="0"/>
              <a:t>代替</a:t>
            </a:r>
            <a:r>
              <a:rPr lang="en-US" altLang="zh-CN" dirty="0"/>
              <a:t>null</a:t>
            </a:r>
            <a:r>
              <a:rPr lang="zh-CN" altLang="en-US" dirty="0"/>
              <a:t>它没有数据类型（还有疑问请找</a:t>
            </a:r>
            <a:r>
              <a:rPr lang="en-US" altLang="zh-CN" dirty="0"/>
              <a:t>C</a:t>
            </a:r>
            <a:r>
              <a:rPr lang="zh-CN" altLang="en-US" dirty="0"/>
              <a:t>语言书籍看预处理部分或者看</a:t>
            </a:r>
            <a:r>
              <a:rPr lang="en-US" altLang="zh-CN" dirty="0"/>
              <a:t>MSDN.</a:t>
            </a:r>
            <a:r>
              <a:rPr lang="zh-CN" altLang="en-US" dirty="0"/>
              <a:t>而</a:t>
            </a:r>
            <a:r>
              <a:rPr lang="en-US" altLang="zh-CN" dirty="0"/>
              <a:t>const</a:t>
            </a:r>
            <a:r>
              <a:rPr lang="zh-CN" altLang="en-US" dirty="0"/>
              <a:t>定义的常量具有数据类型，定义数据类型的常量便于编译器进行数据检查，使程序可能出现错误进行排查</a:t>
            </a:r>
            <a:r>
              <a:rPr lang="en-US" altLang="zh-CN" dirty="0"/>
              <a:t>,</a:t>
            </a:r>
            <a:r>
              <a:rPr lang="zh-CN" altLang="en-US" dirty="0"/>
              <a:t>所以</a:t>
            </a:r>
            <a:r>
              <a:rPr lang="en-US" altLang="zh-CN" dirty="0"/>
              <a:t>const</a:t>
            </a:r>
            <a:r>
              <a:rPr lang="zh-CN" altLang="en-US" dirty="0"/>
              <a:t>与</a:t>
            </a:r>
            <a:r>
              <a:rPr lang="en-US" altLang="zh-CN" dirty="0"/>
              <a:t>define</a:t>
            </a:r>
            <a:r>
              <a:rPr lang="zh-CN" altLang="en-US" dirty="0"/>
              <a:t>之间的区别在于</a:t>
            </a:r>
            <a:r>
              <a:rPr lang="en-US" altLang="zh-CN" dirty="0"/>
              <a:t>const</a:t>
            </a:r>
            <a:r>
              <a:rPr lang="zh-CN" altLang="en-US" dirty="0"/>
              <a:t>定义常量排除了程序之间的不</a:t>
            </a:r>
            <a:r>
              <a:rPr lang="zh-CN" altLang="en-US"/>
              <a:t>安全性</a:t>
            </a:r>
            <a:r>
              <a:rPr lang="en-US" altLang="zh-CN"/>
              <a:t>. </a:t>
            </a:r>
            <a:br>
              <a:rPr lang="en-US" altLang="zh-CN" dirty="0"/>
            </a:br>
            <a:br>
              <a:rPr lang="en-US" altLang="zh-CN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521481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Sizeof</a:t>
            </a:r>
            <a:r>
              <a:rPr lang="en-US" altLang="zh-CN" dirty="0"/>
              <a:t>(‘a’)</a:t>
            </a:r>
            <a:r>
              <a:rPr lang="zh-CN" altLang="en-US" dirty="0"/>
              <a:t>返回</a:t>
            </a:r>
            <a:r>
              <a:rPr lang="en-US" altLang="zh-CN" dirty="0"/>
              <a:t>4</a:t>
            </a:r>
            <a:r>
              <a:rPr lang="zh-CN" altLang="en-US" dirty="0"/>
              <a:t>，</a:t>
            </a:r>
            <a:r>
              <a:rPr lang="en-US" altLang="zh-CN" dirty="0" err="1"/>
              <a:t>sizeof</a:t>
            </a:r>
            <a:r>
              <a:rPr lang="en-US" altLang="zh-CN" dirty="0"/>
              <a:t>(char)</a:t>
            </a:r>
            <a:r>
              <a:rPr lang="zh-CN" altLang="en-US" dirty="0"/>
              <a:t>返回</a:t>
            </a:r>
            <a:r>
              <a:rPr lang="en-US" altLang="zh-CN" dirty="0"/>
              <a:t>1. </a:t>
            </a:r>
            <a:r>
              <a:rPr lang="zh-CN" altLang="en-US" dirty="0"/>
              <a:t>因为</a:t>
            </a:r>
            <a:r>
              <a:rPr lang="en-US" altLang="zh-CN" dirty="0"/>
              <a:t>C</a:t>
            </a:r>
            <a:r>
              <a:rPr lang="zh-CN" altLang="en-US" dirty="0"/>
              <a:t>语言将字符常量当作</a:t>
            </a:r>
            <a:r>
              <a:rPr lang="en-US" altLang="zh-CN" dirty="0"/>
              <a:t>int</a:t>
            </a:r>
            <a:r>
              <a:rPr lang="zh-CN" altLang="en-US" dirty="0"/>
              <a:t>类型处理。</a:t>
            </a:r>
          </a:p>
        </p:txBody>
      </p:sp>
    </p:spTree>
    <p:extLst>
      <p:ext uri="{BB962C8B-B14F-4D97-AF65-F5344CB8AC3E}">
        <p14:creationId xmlns:p14="http://schemas.microsoft.com/office/powerpoint/2010/main" val="16503628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>
              <a:spcBef>
                <a:spcPct val="50000"/>
              </a:spcBef>
            </a:pPr>
            <a:endParaRPr lang="zh-CN" altLang="en-US" strike="noStrike" noProof="1">
              <a:latin typeface="Times New Roman" panose="02020603050405020304" pitchFamily="2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>
              <a:spcBef>
                <a:spcPct val="50000"/>
              </a:spcBef>
            </a:pPr>
            <a:endParaRPr lang="en-US" altLang="x-none" strike="noStrike" noProof="1">
              <a:latin typeface="Times New Roman" panose="02020603050405020304" pitchFamily="2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spcBef>
                <a:spcPct val="50000"/>
              </a:spcBef>
            </a:pPr>
            <a:fld id="{9A0DB2DC-4C9A-4742-B13C-FB6460FD3503}" type="slidenum">
              <a:rPr lang="zh-CN" altLang="en-US" strike="noStrike" noProof="1" dirty="0"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Times New Roman" panose="02020603050405020304" pitchFamily="2" charset="0"/>
            </a:endParaRPr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>
              <a:spcBef>
                <a:spcPct val="50000"/>
              </a:spcBef>
            </a:pPr>
            <a:endParaRPr lang="zh-CN" altLang="en-US" strike="noStrike" noProof="1">
              <a:latin typeface="Times New Roman" panose="02020603050405020304" pitchFamily="2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>
              <a:spcBef>
                <a:spcPct val="50000"/>
              </a:spcBef>
            </a:pPr>
            <a:endParaRPr lang="en-US" altLang="x-none" strike="noStrike" noProof="1">
              <a:latin typeface="Times New Roman" panose="02020603050405020304" pitchFamily="2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spcBef>
                <a:spcPct val="50000"/>
              </a:spcBef>
            </a:pPr>
            <a:fld id="{9A0DB2DC-4C9A-4742-B13C-FB6460FD3503}" type="slidenum">
              <a:rPr lang="zh-CN" altLang="en-US" strike="noStrike" noProof="1" dirty="0"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Times New Roman" panose="02020603050405020304" pitchFamily="2" charset="0"/>
            </a:endParaRPr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>
              <a:spcBef>
                <a:spcPct val="50000"/>
              </a:spcBef>
            </a:pPr>
            <a:endParaRPr lang="zh-CN" altLang="en-US" strike="noStrike" noProof="1">
              <a:latin typeface="Times New Roman" panose="02020603050405020304" pitchFamily="2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>
              <a:spcBef>
                <a:spcPct val="50000"/>
              </a:spcBef>
            </a:pPr>
            <a:endParaRPr lang="en-US" altLang="x-none" strike="noStrike" noProof="1">
              <a:latin typeface="Times New Roman" panose="02020603050405020304" pitchFamily="2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spcBef>
                <a:spcPct val="50000"/>
              </a:spcBef>
            </a:pPr>
            <a:fld id="{9A0DB2DC-4C9A-4742-B13C-FB6460FD3503}" type="slidenum">
              <a:rPr lang="zh-CN" altLang="en-US" strike="noStrike" noProof="1" dirty="0"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Times New Roman" panose="02020603050405020304" pitchFamily="2" charset="0"/>
            </a:endParaRP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319213"/>
            <a:ext cx="3808476" cy="4611687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9724" y="1319213"/>
            <a:ext cx="3808476" cy="4611687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>
              <a:spcBef>
                <a:spcPct val="50000"/>
              </a:spcBef>
            </a:pPr>
            <a:endParaRPr lang="zh-CN" altLang="en-US" strike="noStrike" noProof="1">
              <a:latin typeface="Times New Roman" panose="02020603050405020304" pitchFamily="2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>
              <a:spcBef>
                <a:spcPct val="50000"/>
              </a:spcBef>
            </a:pPr>
            <a:endParaRPr lang="en-US" altLang="x-none" strike="noStrike" noProof="1">
              <a:latin typeface="Times New Roman" panose="02020603050405020304" pitchFamily="2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spcBef>
                <a:spcPct val="50000"/>
              </a:spcBef>
            </a:pPr>
            <a:fld id="{9A0DB2DC-4C9A-4742-B13C-FB6460FD3503}" type="slidenum">
              <a:rPr lang="zh-CN" altLang="en-US" strike="noStrike" noProof="1" dirty="0"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Times New Roman" panose="02020603050405020304" pitchFamily="2" charset="0"/>
            </a:endParaRPr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>
              <a:spcBef>
                <a:spcPct val="50000"/>
              </a:spcBef>
            </a:pPr>
            <a:endParaRPr lang="zh-CN" altLang="en-US" strike="noStrike" noProof="1">
              <a:latin typeface="Times New Roman" panose="02020603050405020304" pitchFamily="2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>
              <a:spcBef>
                <a:spcPct val="50000"/>
              </a:spcBef>
            </a:pPr>
            <a:endParaRPr lang="en-US" altLang="x-none" strike="noStrike" noProof="1">
              <a:latin typeface="Times New Roman" panose="02020603050405020304" pitchFamily="2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spcBef>
                <a:spcPct val="50000"/>
              </a:spcBef>
            </a:pPr>
            <a:fld id="{9A0DB2DC-4C9A-4742-B13C-FB6460FD3503}" type="slidenum">
              <a:rPr lang="zh-CN" altLang="en-US" strike="noStrike" noProof="1" dirty="0"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Times New Roman" panose="02020603050405020304" pitchFamily="2" charset="0"/>
            </a:endParaRPr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6ED1DB-E2DD-E41B-1E0B-3C916FFA2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7DF3BE2-0B68-DFA5-5EA8-D7B769D5C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0FA516B-E434-2F12-6827-61990326C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EC5ED48-2B7C-DF2B-3B23-5AB025340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EA1E462-FBEA-43FF-AC8B-693D4585528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133603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1263650" y="404813"/>
            <a:ext cx="7772400" cy="720725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 indent="0"/>
            <a:r>
              <a:rPr lang="zh-CN" altLang="en-US" dirty="0"/>
              <a:t>单击以编辑母版标题样式</a:t>
            </a:r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685800" y="1319213"/>
            <a:ext cx="7772400" cy="4611687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lvl="0" indent="-342900"/>
            <a:r>
              <a:rPr lang="zh-CN" altLang="en-US" dirty="0"/>
              <a:t>单击以编辑母版文本样式</a:t>
            </a:r>
          </a:p>
          <a:p>
            <a:pPr lvl="1" indent="-285750"/>
            <a:r>
              <a:rPr lang="zh-CN" altLang="en-US" dirty="0"/>
              <a:t>第二级</a:t>
            </a:r>
          </a:p>
          <a:p>
            <a:pPr lvl="2" indent="-228600"/>
            <a:r>
              <a:rPr lang="zh-CN" altLang="en-US" dirty="0"/>
              <a:t>第三级</a:t>
            </a:r>
          </a:p>
          <a:p>
            <a:pPr lvl="3" indent="-228600"/>
            <a:r>
              <a:rPr lang="zh-CN" altLang="en-US" dirty="0"/>
              <a:t>第四级</a:t>
            </a:r>
          </a:p>
          <a:p>
            <a:pPr lvl="4" indent="-228600"/>
            <a:r>
              <a:rPr lang="zh-CN" altLang="en-US" dirty="0"/>
              <a:t>第五级</a:t>
            </a:r>
          </a:p>
        </p:txBody>
      </p:sp>
      <p:sp>
        <p:nvSpPr>
          <p:cNvPr id="1028" name="Rectangle 4"/>
          <p:cNvSpPr>
            <a:spLocks noGrp="1"/>
          </p:cNvSpPr>
          <p:nvPr>
            <p:ph type="dt" sz="half" idx="2"/>
          </p:nvPr>
        </p:nvSpPr>
        <p:spPr>
          <a:xfrm>
            <a:off x="685800" y="60833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 b="0"/>
            </a:lvl1pPr>
          </a:lstStyle>
          <a:p>
            <a:pPr lvl="0" eaLnBrk="1" fontAlgn="base" hangingPunct="1">
              <a:spcBef>
                <a:spcPct val="50000"/>
              </a:spcBef>
            </a:pPr>
            <a:endParaRPr lang="zh-CN" altLang="en-US" strike="noStrike" noProof="1">
              <a:latin typeface="Times New Roman" panose="02020603050405020304" pitchFamily="2" charset="0"/>
            </a:endParaRPr>
          </a:p>
        </p:txBody>
      </p:sp>
      <p:sp>
        <p:nvSpPr>
          <p:cNvPr id="1029" name="Rectangle 5"/>
          <p:cNvSpPr>
            <a:spLocks noGrp="1"/>
          </p:cNvSpPr>
          <p:nvPr>
            <p:ph type="ftr" sz="quarter" idx="3"/>
          </p:nvPr>
        </p:nvSpPr>
        <p:spPr>
          <a:xfrm>
            <a:off x="3124200" y="60833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 b="0"/>
            </a:lvl1pPr>
          </a:lstStyle>
          <a:p>
            <a:pPr lvl="0" eaLnBrk="1" fontAlgn="base" hangingPunct="1">
              <a:spcBef>
                <a:spcPct val="50000"/>
              </a:spcBef>
            </a:pPr>
            <a:endParaRPr lang="en-US" altLang="x-none" strike="noStrike" noProof="1">
              <a:latin typeface="Times New Roman" panose="02020603050405020304" pitchFamily="2" charset="0"/>
            </a:endParaRPr>
          </a:p>
        </p:txBody>
      </p:sp>
      <p:sp>
        <p:nvSpPr>
          <p:cNvPr id="1030" name="Rectangle 6"/>
          <p:cNvSpPr>
            <a:spLocks noGrp="1"/>
          </p:cNvSpPr>
          <p:nvPr>
            <p:ph type="sldNum" sz="quarter" idx="4"/>
          </p:nvPr>
        </p:nvSpPr>
        <p:spPr>
          <a:xfrm>
            <a:off x="6934200" y="63246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lvl="0" eaLnBrk="1" fontAlgn="base" hangingPunct="1">
              <a:spcBef>
                <a:spcPct val="50000"/>
              </a:spcBef>
            </a:pPr>
            <a:fld id="{9A0DB2DC-4C9A-4742-B13C-FB6460FD3503}" type="slidenum">
              <a:rPr lang="zh-CN" altLang="en-US" strike="noStrike" noProof="1" dirty="0"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Times New Roman" panose="02020603050405020304" pitchFamily="2" charset="0"/>
            </a:endParaRPr>
          </a:p>
        </p:txBody>
      </p:sp>
      <p:grpSp>
        <p:nvGrpSpPr>
          <p:cNvPr id="1031" name="组合 1030"/>
          <p:cNvGrpSpPr/>
          <p:nvPr/>
        </p:nvGrpSpPr>
        <p:grpSpPr>
          <a:xfrm>
            <a:off x="0" y="6553200"/>
            <a:ext cx="9144000" cy="301625"/>
            <a:chOff x="0" y="0"/>
            <a:chExt cx="5760" cy="288"/>
          </a:xfrm>
        </p:grpSpPr>
        <p:sp>
          <p:nvSpPr>
            <p:cNvPr id="1032" name="Rectangle 8"/>
            <p:cNvSpPr/>
            <p:nvPr/>
          </p:nvSpPr>
          <p:spPr>
            <a:xfrm>
              <a:off x="0" y="0"/>
              <a:ext cx="5760" cy="288"/>
            </a:xfrm>
            <a:prstGeom prst="rect">
              <a:avLst/>
            </a:prstGeom>
            <a:solidFill>
              <a:srgbClr val="33CCCC"/>
            </a:solidFill>
            <a:ln w="9525" cap="flat" cmpd="sng">
              <a:solidFill>
                <a:srgbClr val="33CCCC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lstStyle/>
            <a:p>
              <a:pPr lvl="0" indent="0"/>
              <a:endParaRPr lang="zh-CN" altLang="en-US" sz="2400" b="0" dirty="0">
                <a:latin typeface="Times New Roman" panose="02020603050405020304" pitchFamily="2" charset="0"/>
              </a:endParaRPr>
            </a:p>
          </p:txBody>
        </p:sp>
        <p:sp>
          <p:nvSpPr>
            <p:cNvPr id="1033" name="Line 9"/>
            <p:cNvSpPr/>
            <p:nvPr/>
          </p:nvSpPr>
          <p:spPr>
            <a:xfrm>
              <a:off x="4464" y="0"/>
              <a:ext cx="288" cy="288"/>
            </a:xfrm>
            <a:prstGeom prst="line">
              <a:avLst/>
            </a:prstGeom>
            <a:ln w="571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34" name="Line 10"/>
            <p:cNvSpPr/>
            <p:nvPr/>
          </p:nvSpPr>
          <p:spPr>
            <a:xfrm>
              <a:off x="4176" y="0"/>
              <a:ext cx="336" cy="288"/>
            </a:xfrm>
            <a:prstGeom prst="line">
              <a:avLst/>
            </a:prstGeom>
            <a:ln w="571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35" name="Line 11"/>
            <p:cNvSpPr/>
            <p:nvPr/>
          </p:nvSpPr>
          <p:spPr>
            <a:xfrm>
              <a:off x="4704" y="0"/>
              <a:ext cx="336" cy="288"/>
            </a:xfrm>
            <a:prstGeom prst="line">
              <a:avLst/>
            </a:prstGeom>
            <a:ln w="571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36" name="Line 12"/>
            <p:cNvSpPr/>
            <p:nvPr/>
          </p:nvSpPr>
          <p:spPr>
            <a:xfrm>
              <a:off x="5376" y="0"/>
              <a:ext cx="384" cy="288"/>
            </a:xfrm>
            <a:prstGeom prst="line">
              <a:avLst/>
            </a:prstGeom>
            <a:ln w="571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37" name="Line 13"/>
            <p:cNvSpPr/>
            <p:nvPr/>
          </p:nvSpPr>
          <p:spPr>
            <a:xfrm>
              <a:off x="5184" y="0"/>
              <a:ext cx="384" cy="288"/>
            </a:xfrm>
            <a:prstGeom prst="line">
              <a:avLst/>
            </a:prstGeom>
            <a:ln w="571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38" name="Line 14"/>
            <p:cNvSpPr/>
            <p:nvPr/>
          </p:nvSpPr>
          <p:spPr>
            <a:xfrm>
              <a:off x="5568" y="0"/>
              <a:ext cx="192" cy="144"/>
            </a:xfrm>
            <a:prstGeom prst="line">
              <a:avLst/>
            </a:prstGeom>
            <a:ln w="571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39" name="Line 15"/>
            <p:cNvSpPr/>
            <p:nvPr/>
          </p:nvSpPr>
          <p:spPr>
            <a:xfrm>
              <a:off x="4992" y="0"/>
              <a:ext cx="336" cy="288"/>
            </a:xfrm>
            <a:prstGeom prst="line">
              <a:avLst/>
            </a:prstGeom>
            <a:ln w="571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1040" name="Line 16"/>
          <p:cNvSpPr/>
          <p:nvPr/>
        </p:nvSpPr>
        <p:spPr>
          <a:xfrm>
            <a:off x="468313" y="1176338"/>
            <a:ext cx="8458200" cy="0"/>
          </a:xfrm>
          <a:prstGeom prst="line">
            <a:avLst/>
          </a:prstGeom>
          <a:ln w="57150" cap="flat" cmpd="sng">
            <a:solidFill>
              <a:srgbClr val="33CCCC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041" name="Text Box 17"/>
          <p:cNvSpPr txBox="1"/>
          <p:nvPr/>
        </p:nvSpPr>
        <p:spPr>
          <a:xfrm>
            <a:off x="457200" y="2514600"/>
            <a:ext cx="8305800" cy="3506788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lvl="0" indent="0">
              <a:spcBef>
                <a:spcPct val="50000"/>
              </a:spcBef>
            </a:pPr>
            <a:endParaRPr lang="zh-CN" altLang="en-US" sz="3200" dirty="0">
              <a:solidFill>
                <a:srgbClr val="FFFFFF"/>
              </a:solidFill>
              <a:latin typeface="Times New Roman" panose="02020603050405020304" pitchFamily="2" charset="0"/>
            </a:endParaRPr>
          </a:p>
          <a:p>
            <a:pPr lvl="0" indent="0">
              <a:spcBef>
                <a:spcPct val="50000"/>
              </a:spcBef>
            </a:pPr>
            <a:endParaRPr lang="zh-CN" altLang="en-US" sz="3200" dirty="0">
              <a:solidFill>
                <a:srgbClr val="FFFFFF"/>
              </a:solidFill>
              <a:latin typeface="Times New Roman" panose="02020603050405020304" pitchFamily="2" charset="0"/>
            </a:endParaRPr>
          </a:p>
          <a:p>
            <a:pPr lvl="0" indent="0">
              <a:spcBef>
                <a:spcPct val="50000"/>
              </a:spcBef>
            </a:pPr>
            <a:endParaRPr lang="zh-CN" altLang="en-US" sz="3200" dirty="0">
              <a:solidFill>
                <a:srgbClr val="FFFFFF"/>
              </a:solidFill>
              <a:latin typeface="Times New Roman" panose="02020603050405020304" pitchFamily="2" charset="0"/>
            </a:endParaRPr>
          </a:p>
          <a:p>
            <a:pPr lvl="0" indent="0">
              <a:spcBef>
                <a:spcPct val="50000"/>
              </a:spcBef>
            </a:pPr>
            <a:endParaRPr lang="zh-CN" altLang="en-US" sz="3200" dirty="0">
              <a:solidFill>
                <a:srgbClr val="FFFFFF"/>
              </a:solidFill>
              <a:latin typeface="Times New Roman" panose="02020603050405020304" pitchFamily="2" charset="0"/>
            </a:endParaRPr>
          </a:p>
          <a:p>
            <a:pPr lvl="0" indent="0">
              <a:spcBef>
                <a:spcPct val="50000"/>
              </a:spcBef>
            </a:pPr>
            <a:endParaRPr lang="zh-CN" altLang="en-US" sz="3200" dirty="0">
              <a:solidFill>
                <a:srgbClr val="FFFFFF"/>
              </a:solidFill>
              <a:latin typeface="Times New Roman" panose="02020603050405020304" pitchFamily="2" charset="0"/>
            </a:endParaRPr>
          </a:p>
        </p:txBody>
      </p:sp>
      <p:pic>
        <p:nvPicPr>
          <p:cNvPr id="1042" name="Picture 18" descr="bupt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1138" y="228600"/>
            <a:ext cx="1970087" cy="661988"/>
          </a:xfrm>
          <a:prstGeom prst="rect">
            <a:avLst/>
          </a:prstGeom>
          <a:solidFill>
            <a:srgbClr val="438ACB"/>
          </a:solidFill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5" r:id="rId5"/>
    <p:sldLayoutId id="2147483658" r:id="rId6"/>
  </p:sldLayoutIdLst>
  <p:transition/>
  <p:hf sldNum="0" hdr="0" ftr="0" dt="0"/>
  <p:txStyles>
    <p:titleStyle>
      <a:lvl1pPr marL="0" lvl="0" indent="0" algn="r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3200" b="0" i="0" u="none" kern="1200" baseline="0">
          <a:solidFill>
            <a:srgbClr val="FF3300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•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SzPct val="65000"/>
        <a:buFont typeface="Wingdings" panose="05000000000000000000" pitchFamily="2" charset="2"/>
        <a:buChar char="n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Font typeface="Wingdings" panose="05000000000000000000" pitchFamily="2" charset="2"/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1" i="0" u="none" kern="1200" baseline="0">
          <a:solidFill>
            <a:schemeClr val="tx1"/>
          </a:solidFill>
          <a:latin typeface="Times New Roman" panose="02020603050405020304" pitchFamily="2" charset="0"/>
          <a:ea typeface="宋体" panose="02010600030101010101" pitchFamily="2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1" i="0" u="none" kern="1200" baseline="0">
          <a:solidFill>
            <a:schemeClr val="tx1"/>
          </a:solidFill>
          <a:latin typeface="Times New Roman" panose="02020603050405020304" pitchFamily="2" charset="0"/>
          <a:ea typeface="宋体" panose="02010600030101010101" pitchFamily="2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1" i="0" u="none" kern="1200" baseline="0">
          <a:solidFill>
            <a:schemeClr val="tx1"/>
          </a:solidFill>
          <a:latin typeface="Times New Roman" panose="02020603050405020304" pitchFamily="2" charset="0"/>
          <a:ea typeface="宋体" panose="02010600030101010101" pitchFamily="2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1" i="0" u="none" kern="1200" baseline="0">
          <a:solidFill>
            <a:schemeClr val="tx1"/>
          </a:solidFill>
          <a:latin typeface="Times New Roman" panose="02020603050405020304" pitchFamily="2" charset="0"/>
          <a:ea typeface="宋体" panose="02010600030101010101" pitchFamily="2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1" i="0" u="none" kern="1200" baseline="0">
          <a:solidFill>
            <a:schemeClr val="tx1"/>
          </a:solidFill>
          <a:latin typeface="Times New Roman" panose="02020603050405020304" pitchFamily="2" charset="0"/>
          <a:ea typeface="宋体" panose="02010600030101010101" pitchFamily="2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1" i="0" u="none" kern="1200" baseline="0">
          <a:solidFill>
            <a:schemeClr val="tx1"/>
          </a:solidFill>
          <a:latin typeface="Times New Roman" panose="02020603050405020304" pitchFamily="2" charset="0"/>
          <a:ea typeface="宋体" panose="02010600030101010101" pitchFamily="2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1" i="0" u="none" kern="1200" baseline="0">
          <a:solidFill>
            <a:schemeClr val="tx1"/>
          </a:solidFill>
          <a:latin typeface="Times New Roman" panose="02020603050405020304" pitchFamily="2" charset="0"/>
          <a:ea typeface="宋体" panose="02010600030101010101" pitchFamily="2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1" i="0" u="none" kern="1200" baseline="0">
          <a:solidFill>
            <a:schemeClr val="tx1"/>
          </a:solidFill>
          <a:latin typeface="Times New Roman" panose="02020603050405020304" pitchFamily="2" charset="0"/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png"/><Relationship Id="rId4" Type="http://schemas.openxmlformats.org/officeDocument/2006/relationships/image" Target="../media/image7.wmf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灯片编号占位符 5"/>
          <p:cNvSpPr txBox="1">
            <a:spLocks noGrp="1"/>
          </p:cNvSpPr>
          <p:nvPr/>
        </p:nvSpPr>
        <p:spPr>
          <a:xfrm>
            <a:off x="6934200" y="63246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r">
              <a:spcBef>
                <a:spcPct val="50000"/>
              </a:spcBef>
            </a:pPr>
            <a:fld id="{9A0DB2DC-4C9A-4742-B13C-FB6460FD3503}" type="slidenum">
              <a:rPr lang="zh-CN" altLang="en-US" sz="1400" dirty="0">
                <a:latin typeface="Times New Roman" panose="02020603050405020304" pitchFamily="2" charset="0"/>
              </a:rPr>
              <a:t>1</a:t>
            </a:fld>
            <a:endParaRPr lang="zh-CN" altLang="en-US" sz="1400" dirty="0">
              <a:latin typeface="Times New Roman" panose="02020603050405020304" pitchFamily="2" charset="0"/>
            </a:endParaRPr>
          </a:p>
        </p:txBody>
      </p:sp>
      <p:grpSp>
        <p:nvGrpSpPr>
          <p:cNvPr id="4098" name="组合 3074"/>
          <p:cNvGrpSpPr/>
          <p:nvPr/>
        </p:nvGrpSpPr>
        <p:grpSpPr>
          <a:xfrm>
            <a:off x="1227337" y="2026973"/>
            <a:ext cx="6767512" cy="2069043"/>
            <a:chOff x="0" y="0"/>
            <a:chExt cx="2736" cy="1495"/>
          </a:xfrm>
        </p:grpSpPr>
        <p:sp>
          <p:nvSpPr>
            <p:cNvPr id="4099" name="Rectangle 6"/>
            <p:cNvSpPr/>
            <p:nvPr/>
          </p:nvSpPr>
          <p:spPr>
            <a:xfrm>
              <a:off x="0" y="0"/>
              <a:ext cx="2736" cy="1040"/>
            </a:xfrm>
            <a:prstGeom prst="rect">
              <a:avLst/>
            </a:prstGeom>
            <a:gradFill rotWithShape="0">
              <a:gsLst>
                <a:gs pos="0">
                  <a:srgbClr val="CF0E30"/>
                </a:gs>
                <a:gs pos="50000">
                  <a:srgbClr val="3E040E"/>
                </a:gs>
                <a:gs pos="100000">
                  <a:srgbClr val="CF0E30"/>
                </a:gs>
              </a:gsLst>
              <a:lin ang="18900000" scaled="1"/>
              <a:tileRect/>
            </a:gradFill>
            <a:ln w="28575" cap="flat" cmpd="sng">
              <a:solidFill>
                <a:srgbClr val="F68295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2" charset="0"/>
              </a:endParaRPr>
            </a:p>
          </p:txBody>
        </p:sp>
        <p:sp>
          <p:nvSpPr>
            <p:cNvPr id="4100" name="Text Box 7"/>
            <p:cNvSpPr txBox="1"/>
            <p:nvPr/>
          </p:nvSpPr>
          <p:spPr>
            <a:xfrm>
              <a:off x="0" y="27"/>
              <a:ext cx="2612" cy="146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zh-CN" altLang="en-US" sz="3600" dirty="0">
                  <a:solidFill>
                    <a:schemeClr val="bg1"/>
                  </a:solidFill>
                  <a:latin typeface="Times New Roman" panose="02020603050405020304" pitchFamily="2" charset="0"/>
                </a:rPr>
                <a:t>程序设计语言初步</a:t>
              </a:r>
              <a:endParaRPr lang="en-US" altLang="zh-CN" sz="3600" dirty="0">
                <a:solidFill>
                  <a:schemeClr val="bg1"/>
                </a:solidFill>
                <a:latin typeface="Times New Roman" panose="02020603050405020304" pitchFamily="2" charset="0"/>
              </a:endParaRPr>
            </a:p>
            <a:p>
              <a:pPr algn="ctr" eaLnBrk="0" hangingPunct="0">
                <a:spcBef>
                  <a:spcPct val="50000"/>
                </a:spcBef>
              </a:pPr>
              <a:r>
                <a:rPr lang="en-US" altLang="zh-CN" sz="3600" dirty="0">
                  <a:solidFill>
                    <a:schemeClr val="bg1"/>
                  </a:solidFill>
                  <a:latin typeface="Times New Roman" panose="02020603050405020304" pitchFamily="2" charset="0"/>
                </a:rPr>
                <a:t>-</a:t>
              </a:r>
              <a:r>
                <a:rPr lang="zh-CN" altLang="en-US" sz="3600" dirty="0">
                  <a:solidFill>
                    <a:schemeClr val="bg1"/>
                  </a:solidFill>
                  <a:latin typeface="Times New Roman" panose="02020603050405020304" pitchFamily="2" charset="0"/>
                </a:rPr>
                <a:t>数据部分：类型、常量、变量</a:t>
              </a:r>
            </a:p>
          </p:txBody>
        </p:sp>
      </p:grpSp>
      <p:pic>
        <p:nvPicPr>
          <p:cNvPr id="4101" name="Picture 8" descr="地球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3663" y="4292600"/>
            <a:ext cx="1584325" cy="15144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102" name="Rectangle 12"/>
          <p:cNvSpPr/>
          <p:nvPr/>
        </p:nvSpPr>
        <p:spPr>
          <a:xfrm>
            <a:off x="828675" y="3862388"/>
            <a:ext cx="7848600" cy="2663825"/>
          </a:xfrm>
          <a:prstGeom prst="rect">
            <a:avLst/>
          </a:prstGeom>
          <a:noFill/>
          <a:ln w="9525">
            <a:noFill/>
          </a:ln>
        </p:spPr>
        <p:txBody>
          <a:bodyPr wrap="square" anchor="t"/>
          <a:lstStyle/>
          <a:p>
            <a:pPr algn="ctr">
              <a:lnSpc>
                <a:spcPct val="150000"/>
              </a:lnSpc>
            </a:pPr>
            <a:r>
              <a:rPr lang="zh-CN" altLang="en-US" sz="2800" dirty="0">
                <a:latin typeface="宋体" panose="02010600030101010101" pitchFamily="2" charset="-122"/>
              </a:rPr>
              <a:t>软件与理论中心</a:t>
            </a:r>
            <a:endParaRPr lang="en-US" altLang="zh-CN" sz="2800" dirty="0">
              <a:latin typeface="宋体" panose="02010600030101010101" pitchFamily="2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800" dirty="0">
                <a:latin typeface="楷体_GB2312" pitchFamily="1" charset="-122"/>
                <a:ea typeface="楷体_GB2312" pitchFamily="1" charset="-122"/>
              </a:rPr>
              <a:t>张艳梅</a:t>
            </a:r>
            <a:endParaRPr lang="en-US" altLang="zh-CN" sz="2800" dirty="0">
              <a:latin typeface="华文中宋" pitchFamily="2" charset="-122"/>
              <a:ea typeface="华文中宋" pitchFamily="2" charset="-122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5">
            <a:extLst>
              <a:ext uri="{FF2B5EF4-FFF2-40B4-BE49-F238E27FC236}">
                <a16:creationId xmlns:a16="http://schemas.microsoft.com/office/drawing/2014/main" id="{4600C5E4-B223-0C41-67DC-F6C233C45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24530-C0F9-43FD-AD91-F1A26EE0CB08}" type="slidenum">
              <a:rPr lang="en-US" altLang="zh-CN"/>
              <a:pPr/>
              <a:t>2</a:t>
            </a:fld>
            <a:endParaRPr lang="en-US" altLang="zh-CN"/>
          </a:p>
        </p:txBody>
      </p:sp>
      <p:sp>
        <p:nvSpPr>
          <p:cNvPr id="324610" name="Text Box 2">
            <a:extLst>
              <a:ext uri="{FF2B5EF4-FFF2-40B4-BE49-F238E27FC236}">
                <a16:creationId xmlns:a16="http://schemas.microsoft.com/office/drawing/2014/main" id="{0C737FD2-FE81-4106-D12B-CEC8883802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536" y="1268760"/>
            <a:ext cx="8188294" cy="28496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1437" tIns="45718" rIns="91437" bIns="45718">
            <a:spAutoFit/>
          </a:bodyPr>
          <a:lstStyle>
            <a:lvl1pPr defTabSz="7175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358775" defTabSz="7175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717550" defTabSz="7175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074738" defTabSz="7175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433513" defTabSz="7175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90713" defTabSz="7175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347913" defTabSz="7175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805113" defTabSz="7175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262313" defTabSz="7175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>
              <a:lnSpc>
                <a:spcPct val="110000"/>
              </a:lnSpc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kumimoji="1" lang="zh-CN" altLang="en-US" sz="2400" dirty="0">
                <a:latin typeface="+mn-ea"/>
                <a:ea typeface="+mn-ea"/>
              </a:rPr>
              <a:t>计算机的基本功能是对数据进行运算和加工处理。</a:t>
            </a:r>
            <a:endParaRPr kumimoji="1" lang="en-US" altLang="zh-CN" sz="2400" dirty="0">
              <a:latin typeface="+mn-ea"/>
              <a:ea typeface="+mn-ea"/>
            </a:endParaRPr>
          </a:p>
          <a:p>
            <a:pPr marL="342900" indent="-342900">
              <a:lnSpc>
                <a:spcPct val="110000"/>
              </a:lnSpc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kumimoji="1" lang="zh-CN" altLang="en-US" sz="2400" dirty="0">
                <a:latin typeface="+mn-ea"/>
                <a:ea typeface="+mn-ea"/>
              </a:rPr>
              <a:t>数据有两种</a:t>
            </a:r>
            <a:r>
              <a:rPr kumimoji="1" lang="en-US" altLang="zh-CN" sz="2400" dirty="0">
                <a:latin typeface="+mn-ea"/>
                <a:ea typeface="+mn-ea"/>
              </a:rPr>
              <a:t>,</a:t>
            </a:r>
            <a:r>
              <a:rPr kumimoji="1" lang="zh-CN" altLang="en-US" sz="2400" dirty="0">
                <a:latin typeface="+mn-ea"/>
                <a:ea typeface="+mn-ea"/>
              </a:rPr>
              <a:t>一种是数值数据</a:t>
            </a:r>
            <a:r>
              <a:rPr kumimoji="1" lang="en-US" altLang="zh-CN" sz="2400" dirty="0">
                <a:latin typeface="+mn-ea"/>
                <a:ea typeface="+mn-ea"/>
              </a:rPr>
              <a:t>,</a:t>
            </a:r>
            <a:r>
              <a:rPr kumimoji="1" lang="zh-CN" altLang="en-US" sz="2400" dirty="0">
                <a:latin typeface="+mn-ea"/>
                <a:ea typeface="+mn-ea"/>
              </a:rPr>
              <a:t>如</a:t>
            </a:r>
            <a:r>
              <a:rPr kumimoji="1" lang="en-US" altLang="zh-CN" sz="2400" dirty="0">
                <a:latin typeface="+mn-ea"/>
                <a:ea typeface="+mn-ea"/>
              </a:rPr>
              <a:t>3.1416</a:t>
            </a:r>
            <a:r>
              <a:rPr kumimoji="1" lang="zh-CN" altLang="en-US" sz="2400" dirty="0">
                <a:latin typeface="+mn-ea"/>
                <a:ea typeface="+mn-ea"/>
              </a:rPr>
              <a:t>、</a:t>
            </a:r>
            <a:r>
              <a:rPr kumimoji="1" lang="en-US" altLang="zh-CN" sz="2400" dirty="0">
                <a:latin typeface="+mn-ea"/>
                <a:ea typeface="+mn-ea"/>
              </a:rPr>
              <a:t>-2.71828……</a:t>
            </a:r>
            <a:r>
              <a:rPr kumimoji="1" lang="zh-CN" altLang="en-US" sz="2400" dirty="0">
                <a:latin typeface="+mn-ea"/>
                <a:ea typeface="+mn-ea"/>
              </a:rPr>
              <a:t>，另一种是非数值数据（信息）</a:t>
            </a:r>
            <a:r>
              <a:rPr kumimoji="1" lang="en-US" altLang="zh-CN" sz="2400" dirty="0">
                <a:latin typeface="+mn-ea"/>
                <a:ea typeface="+mn-ea"/>
              </a:rPr>
              <a:t>,</a:t>
            </a:r>
            <a:r>
              <a:rPr kumimoji="1" lang="zh-CN" altLang="en-US" sz="2400" dirty="0">
                <a:latin typeface="+mn-ea"/>
                <a:ea typeface="+mn-ea"/>
              </a:rPr>
              <a:t>如</a:t>
            </a:r>
            <a:r>
              <a:rPr kumimoji="1" lang="en-US" altLang="zh-CN" sz="2400" dirty="0" err="1">
                <a:latin typeface="+mn-ea"/>
                <a:ea typeface="+mn-ea"/>
              </a:rPr>
              <a:t>A,b</a:t>
            </a:r>
            <a:r>
              <a:rPr kumimoji="1" lang="en-US" altLang="zh-CN" sz="2400" dirty="0">
                <a:latin typeface="+mn-ea"/>
                <a:ea typeface="+mn-ea"/>
              </a:rPr>
              <a:t>,</a:t>
            </a:r>
            <a:r>
              <a:rPr kumimoji="1" lang="zh-CN" altLang="en-US" sz="2400" dirty="0">
                <a:latin typeface="+mn-ea"/>
                <a:ea typeface="+mn-ea"/>
              </a:rPr>
              <a:t>＋</a:t>
            </a:r>
            <a:r>
              <a:rPr kumimoji="1" lang="en-US" altLang="zh-CN" sz="2400" dirty="0">
                <a:latin typeface="+mn-ea"/>
                <a:ea typeface="+mn-ea"/>
              </a:rPr>
              <a:t>, </a:t>
            </a:r>
            <a:r>
              <a:rPr kumimoji="1" lang="zh-CN" altLang="en-US" sz="2400" dirty="0">
                <a:latin typeface="+mn-ea"/>
                <a:ea typeface="+mn-ea"/>
              </a:rPr>
              <a:t>＝ </a:t>
            </a:r>
            <a:r>
              <a:rPr kumimoji="1" lang="en-US" altLang="zh-CN" sz="2400" dirty="0">
                <a:latin typeface="+mn-ea"/>
                <a:ea typeface="+mn-ea"/>
              </a:rPr>
              <a:t>……</a:t>
            </a:r>
            <a:r>
              <a:rPr kumimoji="1" lang="zh-CN" altLang="en-US" sz="2400" dirty="0">
                <a:latin typeface="+mn-ea"/>
                <a:ea typeface="+mn-ea"/>
              </a:rPr>
              <a:t>。</a:t>
            </a:r>
            <a:endParaRPr kumimoji="1" lang="en-US" altLang="zh-CN" sz="2400" dirty="0">
              <a:latin typeface="+mn-ea"/>
              <a:ea typeface="+mn-ea"/>
            </a:endParaRPr>
          </a:p>
          <a:p>
            <a:pPr marL="342900" indent="-342900">
              <a:lnSpc>
                <a:spcPct val="110000"/>
              </a:lnSpc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kumimoji="1" lang="zh-CN" altLang="en-US" sz="2400" dirty="0">
                <a:latin typeface="+mn-ea"/>
                <a:ea typeface="+mn-ea"/>
              </a:rPr>
              <a:t>无论哪一种数据在计算机中都是用二进制数码表示的。数值处理采用二进制运算；非数值处理采用二进制编码</a:t>
            </a:r>
            <a:r>
              <a:rPr kumimoji="1" lang="en-US" altLang="zh-CN" sz="2400" dirty="0">
                <a:latin typeface="+mn-ea"/>
                <a:ea typeface="+mn-ea"/>
              </a:rPr>
              <a:t>,</a:t>
            </a:r>
            <a:r>
              <a:rPr kumimoji="1" lang="zh-CN" altLang="en-US" sz="2400" dirty="0">
                <a:solidFill>
                  <a:srgbClr val="FF0000"/>
                </a:solidFill>
                <a:latin typeface="+mn-ea"/>
                <a:ea typeface="+mn-ea"/>
              </a:rPr>
              <a:t>它们具有运算简单、电路实现方便、成本低廉等优点。</a:t>
            </a:r>
          </a:p>
        </p:txBody>
      </p:sp>
      <p:pic>
        <p:nvPicPr>
          <p:cNvPr id="324611" name="Picture 3">
            <a:extLst>
              <a:ext uri="{FF2B5EF4-FFF2-40B4-BE49-F238E27FC236}">
                <a16:creationId xmlns:a16="http://schemas.microsoft.com/office/drawing/2014/main" id="{0DC26D15-7D6F-F031-7E25-BB811021E6E8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4581128"/>
            <a:ext cx="2589721" cy="15793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13">
            <a:extLst>
              <a:ext uri="{FF2B5EF4-FFF2-40B4-BE49-F238E27FC236}">
                <a16:creationId xmlns:a16="http://schemas.microsoft.com/office/drawing/2014/main" id="{92B55B5F-99CF-8193-2DBC-CBD98B9C1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3650" y="404813"/>
            <a:ext cx="7772400" cy="720725"/>
          </a:xfrm>
        </p:spPr>
        <p:txBody>
          <a:bodyPr wrap="square" anchor="ctr"/>
          <a:lstStyle/>
          <a:p>
            <a:r>
              <a:rPr lang="zh-CN" altLang="en-US" b="1" dirty="0"/>
              <a:t>计算机中的数据表示</a:t>
            </a:r>
          </a:p>
        </p:txBody>
      </p:sp>
    </p:spTree>
  </p:cSld>
  <p:clrMapOvr>
    <a:masterClrMapping/>
  </p:clrMapOvr>
  <p:transition spd="med">
    <p:rand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D4B135-4954-D7E2-0085-48769E578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计算机存储单元：位、字节、字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08405B2-55F5-AA39-B5B2-22A0218B1D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81000" indent="-381000" algn="just" defTabSz="762000">
              <a:spcBef>
                <a:spcPct val="0"/>
              </a:spcBef>
            </a:pPr>
            <a:r>
              <a:rPr lang="zh-CN" altLang="en-US" sz="2800" dirty="0">
                <a:solidFill>
                  <a:schemeClr val="tx2"/>
                </a:solidFill>
                <a:latin typeface="+mn-ea"/>
              </a:rPr>
              <a:t>最小的存储单元是</a:t>
            </a:r>
            <a:r>
              <a:rPr lang="zh-CN" altLang="en-US" sz="2800" b="1" dirty="0">
                <a:solidFill>
                  <a:schemeClr val="tx2"/>
                </a:solidFill>
                <a:latin typeface="+mn-ea"/>
              </a:rPr>
              <a:t>位</a:t>
            </a:r>
            <a:r>
              <a:rPr lang="zh-CN" altLang="en-US" sz="2800" dirty="0">
                <a:solidFill>
                  <a:schemeClr val="tx2"/>
                </a:solidFill>
                <a:latin typeface="+mn-ea"/>
              </a:rPr>
              <a:t>（</a:t>
            </a:r>
            <a:r>
              <a:rPr lang="en-US" altLang="zh-CN" sz="2800" dirty="0">
                <a:solidFill>
                  <a:schemeClr val="tx2"/>
                </a:solidFill>
                <a:latin typeface="+mn-ea"/>
              </a:rPr>
              <a:t>bit</a:t>
            </a:r>
            <a:r>
              <a:rPr lang="zh-CN" altLang="en-US" sz="2800" dirty="0">
                <a:solidFill>
                  <a:schemeClr val="tx2"/>
                </a:solidFill>
                <a:latin typeface="+mn-ea"/>
              </a:rPr>
              <a:t>），可以存储</a:t>
            </a:r>
            <a:r>
              <a:rPr lang="en-US" altLang="zh-CN" sz="2800" dirty="0">
                <a:solidFill>
                  <a:schemeClr val="tx2"/>
                </a:solidFill>
                <a:latin typeface="+mn-ea"/>
              </a:rPr>
              <a:t>0</a:t>
            </a:r>
            <a:r>
              <a:rPr lang="zh-CN" altLang="en-US" sz="2800" dirty="0">
                <a:solidFill>
                  <a:schemeClr val="tx2"/>
                </a:solidFill>
                <a:latin typeface="+mn-ea"/>
              </a:rPr>
              <a:t>或</a:t>
            </a:r>
            <a:r>
              <a:rPr lang="en-US" altLang="zh-CN" sz="2800" dirty="0">
                <a:solidFill>
                  <a:schemeClr val="tx2"/>
                </a:solidFill>
                <a:latin typeface="+mn-ea"/>
              </a:rPr>
              <a:t>1</a:t>
            </a:r>
            <a:r>
              <a:rPr lang="zh-CN" altLang="en-US" sz="2800" dirty="0">
                <a:solidFill>
                  <a:schemeClr val="tx2"/>
                </a:solidFill>
                <a:latin typeface="+mn-ea"/>
              </a:rPr>
              <a:t>（或者说，位用于设置“开”或“关”）。</a:t>
            </a:r>
          </a:p>
          <a:p>
            <a:pPr marL="381000" indent="-381000" algn="just" defTabSz="762000">
              <a:spcBef>
                <a:spcPct val="0"/>
              </a:spcBef>
            </a:pPr>
            <a:r>
              <a:rPr lang="zh-CN" altLang="en-US" sz="2800" b="1" dirty="0">
                <a:solidFill>
                  <a:schemeClr val="tx2"/>
                </a:solidFill>
                <a:latin typeface="+mn-ea"/>
              </a:rPr>
              <a:t>字节</a:t>
            </a:r>
            <a:r>
              <a:rPr lang="zh-CN" altLang="en-US" sz="2800" dirty="0">
                <a:solidFill>
                  <a:schemeClr val="tx2"/>
                </a:solidFill>
                <a:latin typeface="+mn-ea"/>
              </a:rPr>
              <a:t>（</a:t>
            </a:r>
            <a:r>
              <a:rPr lang="en-US" altLang="zh-CN" sz="2800" dirty="0">
                <a:solidFill>
                  <a:schemeClr val="tx2"/>
                </a:solidFill>
                <a:latin typeface="+mn-ea"/>
              </a:rPr>
              <a:t>byte</a:t>
            </a:r>
            <a:r>
              <a:rPr lang="zh-CN" altLang="en-US" sz="2800" dirty="0">
                <a:solidFill>
                  <a:schemeClr val="tx2"/>
                </a:solidFill>
                <a:latin typeface="+mn-ea"/>
              </a:rPr>
              <a:t>）是常用的计算机存储单位。对于几乎所有的机器，</a:t>
            </a:r>
            <a:r>
              <a:rPr lang="en-US" altLang="zh-CN" sz="2800" dirty="0">
                <a:solidFill>
                  <a:schemeClr val="tx2"/>
                </a:solidFill>
                <a:latin typeface="+mn-ea"/>
              </a:rPr>
              <a:t>1</a:t>
            </a:r>
            <a:r>
              <a:rPr lang="zh-CN" altLang="en-US" sz="2800" dirty="0">
                <a:solidFill>
                  <a:schemeClr val="tx2"/>
                </a:solidFill>
                <a:latin typeface="+mn-ea"/>
              </a:rPr>
              <a:t>字节均为</a:t>
            </a:r>
            <a:r>
              <a:rPr lang="en-US" altLang="zh-CN" sz="2800" dirty="0">
                <a:solidFill>
                  <a:schemeClr val="tx2"/>
                </a:solidFill>
                <a:latin typeface="+mn-ea"/>
              </a:rPr>
              <a:t>8</a:t>
            </a:r>
            <a:r>
              <a:rPr lang="zh-CN" altLang="en-US" sz="2800" dirty="0">
                <a:solidFill>
                  <a:schemeClr val="tx2"/>
                </a:solidFill>
                <a:latin typeface="+mn-ea"/>
              </a:rPr>
              <a:t>位。通过二进制编码，便可表示</a:t>
            </a:r>
            <a:r>
              <a:rPr lang="en-US" altLang="zh-CN" sz="2800" dirty="0">
                <a:solidFill>
                  <a:schemeClr val="tx2"/>
                </a:solidFill>
                <a:latin typeface="+mn-ea"/>
              </a:rPr>
              <a:t>0</a:t>
            </a:r>
            <a:r>
              <a:rPr lang="zh-CN" altLang="en-US" sz="2800" dirty="0">
                <a:solidFill>
                  <a:schemeClr val="tx2"/>
                </a:solidFill>
                <a:latin typeface="+mn-ea"/>
              </a:rPr>
              <a:t>～</a:t>
            </a:r>
            <a:r>
              <a:rPr lang="en-US" altLang="zh-CN" sz="2800" dirty="0">
                <a:solidFill>
                  <a:schemeClr val="tx2"/>
                </a:solidFill>
                <a:latin typeface="+mn-ea"/>
              </a:rPr>
              <a:t>255</a:t>
            </a:r>
            <a:r>
              <a:rPr lang="zh-CN" altLang="en-US" sz="2800" dirty="0">
                <a:solidFill>
                  <a:schemeClr val="tx2"/>
                </a:solidFill>
                <a:latin typeface="+mn-ea"/>
              </a:rPr>
              <a:t>的整数或一组字符。</a:t>
            </a:r>
          </a:p>
          <a:p>
            <a:pPr marL="381000" indent="-381000" algn="just" defTabSz="762000">
              <a:spcBef>
                <a:spcPct val="0"/>
              </a:spcBef>
            </a:pPr>
            <a:r>
              <a:rPr lang="zh-CN" altLang="en-US" sz="2800" b="1" dirty="0">
                <a:solidFill>
                  <a:schemeClr val="tx2"/>
                </a:solidFill>
                <a:latin typeface="+mn-ea"/>
              </a:rPr>
              <a:t>字</a:t>
            </a:r>
            <a:r>
              <a:rPr lang="zh-CN" altLang="en-US" sz="2800" dirty="0">
                <a:solidFill>
                  <a:schemeClr val="tx2"/>
                </a:solidFill>
                <a:latin typeface="+mn-ea"/>
              </a:rPr>
              <a:t>（</a:t>
            </a:r>
            <a:r>
              <a:rPr lang="en-US" altLang="zh-CN" sz="2800" dirty="0">
                <a:solidFill>
                  <a:schemeClr val="tx2"/>
                </a:solidFill>
                <a:latin typeface="+mn-ea"/>
              </a:rPr>
              <a:t>word</a:t>
            </a:r>
            <a:r>
              <a:rPr lang="zh-CN" altLang="en-US" sz="2800" dirty="0">
                <a:solidFill>
                  <a:schemeClr val="tx2"/>
                </a:solidFill>
                <a:latin typeface="+mn-ea"/>
              </a:rPr>
              <a:t>）是设计计算机时运算单元给定的整数运算的数据通路的宽度。因此，计算机中每个数据的二进制位数都是固定长度的。</a:t>
            </a:r>
            <a:endParaRPr lang="en-US" altLang="zh-CN" sz="2800" dirty="0">
              <a:solidFill>
                <a:schemeClr val="tx2"/>
              </a:solidFill>
              <a:latin typeface="+mn-ea"/>
            </a:endParaRPr>
          </a:p>
          <a:p>
            <a:pPr marL="381000" indent="-381000" algn="just" defTabSz="762000">
              <a:spcBef>
                <a:spcPct val="0"/>
              </a:spcBef>
            </a:pPr>
            <a:r>
              <a:rPr lang="en-US" altLang="zh-CN" sz="2800" dirty="0" err="1">
                <a:solidFill>
                  <a:schemeClr val="tx2"/>
                </a:solidFill>
                <a:latin typeface="+mn-ea"/>
              </a:rPr>
              <a:t>1Kb</a:t>
            </a:r>
            <a:r>
              <a:rPr lang="zh-CN" altLang="en-US" sz="2800" dirty="0">
                <a:solidFill>
                  <a:schemeClr val="tx2"/>
                </a:solidFill>
                <a:latin typeface="+mn-ea"/>
              </a:rPr>
              <a:t>＝</a:t>
            </a:r>
            <a:r>
              <a:rPr lang="en-US" altLang="zh-CN" sz="2800" dirty="0">
                <a:solidFill>
                  <a:schemeClr val="tx2"/>
                </a:solidFill>
                <a:latin typeface="+mn-ea"/>
              </a:rPr>
              <a:t>2</a:t>
            </a:r>
            <a:r>
              <a:rPr lang="en-US" altLang="zh-CN" sz="2800" baseline="30000" dirty="0">
                <a:solidFill>
                  <a:schemeClr val="tx2"/>
                </a:solidFill>
                <a:latin typeface="+mn-ea"/>
              </a:rPr>
              <a:t>10</a:t>
            </a:r>
            <a:r>
              <a:rPr lang="zh-CN" altLang="en-US" sz="2800" dirty="0">
                <a:solidFill>
                  <a:schemeClr val="tx2"/>
                </a:solidFill>
                <a:latin typeface="+mn-ea"/>
              </a:rPr>
              <a:t>＝</a:t>
            </a:r>
            <a:r>
              <a:rPr lang="en-US" altLang="zh-CN" sz="2800" dirty="0">
                <a:solidFill>
                  <a:schemeClr val="tx2"/>
                </a:solidFill>
                <a:latin typeface="+mn-ea"/>
              </a:rPr>
              <a:t>1024 byte</a:t>
            </a:r>
            <a:endParaRPr lang="en-US" altLang="zh-CN" dirty="0">
              <a:solidFill>
                <a:schemeClr val="tx2"/>
              </a:solidFill>
              <a:latin typeface="+mn-ea"/>
            </a:endParaRPr>
          </a:p>
          <a:p>
            <a:pPr marL="381000" indent="-381000" algn="just" defTabSz="762000">
              <a:spcBef>
                <a:spcPct val="0"/>
              </a:spcBef>
            </a:pPr>
            <a:r>
              <a:rPr lang="en-US" altLang="zh-CN" sz="2800" dirty="0" err="1">
                <a:solidFill>
                  <a:schemeClr val="tx2"/>
                </a:solidFill>
                <a:latin typeface="+mn-ea"/>
              </a:rPr>
              <a:t>1Mb</a:t>
            </a:r>
            <a:r>
              <a:rPr lang="zh-CN" altLang="en-US" sz="2800" dirty="0">
                <a:solidFill>
                  <a:schemeClr val="tx2"/>
                </a:solidFill>
                <a:latin typeface="+mn-ea"/>
              </a:rPr>
              <a:t>＝</a:t>
            </a:r>
            <a:r>
              <a:rPr lang="en-US" altLang="zh-CN" sz="2800" dirty="0">
                <a:solidFill>
                  <a:schemeClr val="tx2"/>
                </a:solidFill>
                <a:latin typeface="+mn-ea"/>
              </a:rPr>
              <a:t>1024 </a:t>
            </a:r>
            <a:r>
              <a:rPr lang="en-US" altLang="zh-CN" sz="2800" dirty="0" err="1">
                <a:solidFill>
                  <a:schemeClr val="tx2"/>
                </a:solidFill>
                <a:latin typeface="+mn-ea"/>
              </a:rPr>
              <a:t>Kb</a:t>
            </a:r>
            <a:endParaRPr lang="en-US" altLang="zh-CN" sz="2800" dirty="0">
              <a:solidFill>
                <a:schemeClr val="tx2"/>
              </a:solidFill>
              <a:latin typeface="+mn-ea"/>
            </a:endParaRPr>
          </a:p>
          <a:p>
            <a:pPr marL="381000" indent="-381000" algn="just" defTabSz="762000">
              <a:spcBef>
                <a:spcPct val="0"/>
              </a:spcBef>
            </a:pPr>
            <a:r>
              <a:rPr lang="en-US" altLang="zh-CN" dirty="0" err="1">
                <a:solidFill>
                  <a:schemeClr val="tx2"/>
                </a:solidFill>
                <a:latin typeface="+mn-ea"/>
              </a:rPr>
              <a:t>1Gb</a:t>
            </a:r>
            <a:r>
              <a:rPr lang="zh-CN" altLang="en-US" sz="2800" dirty="0">
                <a:solidFill>
                  <a:schemeClr val="tx2"/>
                </a:solidFill>
                <a:latin typeface="+mn-ea"/>
              </a:rPr>
              <a:t>＝</a:t>
            </a:r>
            <a:r>
              <a:rPr lang="en-US" altLang="zh-CN" sz="2800" dirty="0">
                <a:solidFill>
                  <a:schemeClr val="tx2"/>
                </a:solidFill>
                <a:latin typeface="+mn-ea"/>
              </a:rPr>
              <a:t>1024 Mb</a:t>
            </a:r>
            <a:endParaRPr lang="en-US" altLang="zh-CN" dirty="0">
              <a:solidFill>
                <a:schemeClr val="tx2"/>
              </a:solidFill>
              <a:latin typeface="+mn-ea"/>
            </a:endParaRPr>
          </a:p>
          <a:p>
            <a:pPr marL="381000" indent="-381000" algn="just" defTabSz="762000">
              <a:spcBef>
                <a:spcPct val="0"/>
              </a:spcBef>
            </a:pPr>
            <a:endParaRPr lang="zh-CN" altLang="en-US" sz="2800" dirty="0">
              <a:solidFill>
                <a:schemeClr val="tx2"/>
              </a:solidFill>
              <a:latin typeface="+mn-ea"/>
            </a:endParaRPr>
          </a:p>
          <a:p>
            <a:endParaRPr lang="zh-CN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377406271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3">
            <a:extLst>
              <a:ext uri="{FF2B5EF4-FFF2-40B4-BE49-F238E27FC236}">
                <a16:creationId xmlns:a16="http://schemas.microsoft.com/office/drawing/2014/main" id="{737E8021-CF71-8BA6-E161-0471BAF56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DA2F6-34C5-4B35-B55E-1033B773EA6D}" type="slidenum">
              <a:rPr lang="en-US" altLang="zh-CN"/>
              <a:pPr/>
              <a:t>4</a:t>
            </a:fld>
            <a:endParaRPr lang="en-US" altLang="zh-CN"/>
          </a:p>
        </p:txBody>
      </p:sp>
      <p:sp>
        <p:nvSpPr>
          <p:cNvPr id="362499" name="Rectangle 3">
            <a:extLst>
              <a:ext uri="{FF2B5EF4-FFF2-40B4-BE49-F238E27FC236}">
                <a16:creationId xmlns:a16="http://schemas.microsoft.com/office/drawing/2014/main" id="{0B6A3C8A-9FF8-AB97-B46C-2DF4F416BE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8760" y="389757"/>
            <a:ext cx="5622663" cy="584905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algn="r" eaLnBrk="0" hangingPunct="0"/>
            <a:r>
              <a:rPr lang="zh-CN" altLang="en-US" sz="3200" b="0" dirty="0">
                <a:solidFill>
                  <a:srgbClr val="FF3300"/>
                </a:solidFill>
                <a:latin typeface="+mj-lt"/>
                <a:ea typeface="+mj-ea"/>
                <a:cs typeface="+mj-cs"/>
              </a:rPr>
              <a:t>计算机中数据的表示方法</a:t>
            </a:r>
          </a:p>
        </p:txBody>
      </p:sp>
      <p:grpSp>
        <p:nvGrpSpPr>
          <p:cNvPr id="362501" name="Group 5">
            <a:extLst>
              <a:ext uri="{FF2B5EF4-FFF2-40B4-BE49-F238E27FC236}">
                <a16:creationId xmlns:a16="http://schemas.microsoft.com/office/drawing/2014/main" id="{98D7266D-5819-8B37-4113-43AFADC7B936}"/>
              </a:ext>
            </a:extLst>
          </p:cNvPr>
          <p:cNvGrpSpPr>
            <a:grpSpLocks/>
          </p:cNvGrpSpPr>
          <p:nvPr/>
        </p:nvGrpSpPr>
        <p:grpSpPr bwMode="auto">
          <a:xfrm>
            <a:off x="457605" y="5468987"/>
            <a:ext cx="6171593" cy="856490"/>
            <a:chOff x="480" y="3408"/>
            <a:chExt cx="3888" cy="539"/>
          </a:xfrm>
        </p:grpSpPr>
        <p:sp>
          <p:nvSpPr>
            <p:cNvPr id="362502" name="Rectangle 6">
              <a:extLst>
                <a:ext uri="{FF2B5EF4-FFF2-40B4-BE49-F238E27FC236}">
                  <a16:creationId xmlns:a16="http://schemas.microsoft.com/office/drawing/2014/main" id="{762FAFA5-45FF-47F9-B83F-4B237F06AB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3408"/>
              <a:ext cx="3888" cy="539"/>
            </a:xfrm>
            <a:prstGeom prst="rect">
              <a:avLst/>
            </a:prstGeom>
            <a:solidFill>
              <a:srgbClr val="BDD8DF"/>
            </a:solidFill>
            <a:ln w="3175">
              <a:miter lim="800000"/>
              <a:headEnd/>
              <a:tailEnd/>
            </a:ln>
            <a:effectLst/>
            <a:scene3d>
              <a:camera prst="legacyObliqueTopRight"/>
              <a:lightRig rig="legacyHarsh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006600"/>
              </a:extrusionClr>
              <a:contourClr>
                <a:srgbClr val="BDD8DF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107763" dir="13500000" sx="75000" sy="75000" algn="tl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zh-CN" altLang="en-US"/>
            </a:p>
          </p:txBody>
        </p:sp>
        <p:sp>
          <p:nvSpPr>
            <p:cNvPr id="362503" name="Rectangle 7">
              <a:extLst>
                <a:ext uri="{FF2B5EF4-FFF2-40B4-BE49-F238E27FC236}">
                  <a16:creationId xmlns:a16="http://schemas.microsoft.com/office/drawing/2014/main" id="{6FE1438E-D072-8A30-99B7-E0F175056D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3443"/>
              <a:ext cx="3840" cy="478"/>
            </a:xfrm>
            <a:prstGeom prst="rect">
              <a:avLst/>
            </a:prstGeom>
            <a:solidFill>
              <a:srgbClr val="CCECFF"/>
            </a:solidFill>
            <a:ln w="3175">
              <a:solidFill>
                <a:srgbClr val="33CCCC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lIns="91437" tIns="45718" rIns="91437" bIns="45718" anchor="ctr">
              <a:spAutoFit/>
            </a:bodyPr>
            <a:lstStyle>
              <a:lvl1pPr defTabSz="7175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358775" defTabSz="7175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717550" defTabSz="7175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074738" defTabSz="7175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1433513" defTabSz="7175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1890713" defTabSz="71755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347913" defTabSz="71755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2805113" defTabSz="71755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262313" defTabSz="71755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zh-CN" altLang="en-US" sz="4337">
                  <a:latin typeface="Times New Roman" panose="02020603050405020304" pitchFamily="18" charset="0"/>
                </a:rPr>
                <a:t>即：</a:t>
              </a:r>
              <a:r>
                <a:rPr kumimoji="1" lang="en-US" altLang="zh-CN" sz="4337">
                  <a:latin typeface="Times New Roman" panose="02020603050405020304" pitchFamily="18" charset="0"/>
                </a:rPr>
                <a:t>+77       0 1001101</a:t>
              </a:r>
              <a:endParaRPr kumimoji="1" lang="en-US" altLang="zh-CN" sz="2806">
                <a:latin typeface="Times New Roman" panose="02020603050405020304" pitchFamily="18" charset="0"/>
              </a:endParaRPr>
            </a:p>
          </p:txBody>
        </p:sp>
        <p:sp>
          <p:nvSpPr>
            <p:cNvPr id="362504" name="AutoShape 8">
              <a:extLst>
                <a:ext uri="{FF2B5EF4-FFF2-40B4-BE49-F238E27FC236}">
                  <a16:creationId xmlns:a16="http://schemas.microsoft.com/office/drawing/2014/main" id="{CAB2C55A-4393-09A6-7508-1F7DD09D22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3600"/>
              <a:ext cx="432" cy="162"/>
            </a:xfrm>
            <a:prstGeom prst="rightArrow">
              <a:avLst>
                <a:gd name="adj1" fmla="val 50000"/>
                <a:gd name="adj2" fmla="val 66667"/>
              </a:avLst>
            </a:prstGeom>
            <a:solidFill>
              <a:srgbClr val="969696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62505" name="AutoShape 9">
            <a:extLst>
              <a:ext uri="{FF2B5EF4-FFF2-40B4-BE49-F238E27FC236}">
                <a16:creationId xmlns:a16="http://schemas.microsoft.com/office/drawing/2014/main" id="{2796615D-CA60-C27F-7BBC-0A93C68DE1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3861" y="4343199"/>
            <a:ext cx="1905337" cy="761325"/>
          </a:xfrm>
          <a:prstGeom prst="wedgeRoundRectCallout">
            <a:avLst>
              <a:gd name="adj1" fmla="val -45500"/>
              <a:gd name="adj2" fmla="val -96875"/>
              <a:gd name="adj3" fmla="val 16667"/>
            </a:avLst>
          </a:prstGeom>
          <a:solidFill>
            <a:srgbClr val="000099"/>
          </a:solidFill>
          <a:ln>
            <a:noFill/>
          </a:ln>
          <a:effectLst>
            <a:outerShdw dist="107763" dir="2700000" algn="ctr" rotWithShape="0">
              <a:srgbClr val="808080"/>
            </a:outerShdw>
          </a:effectLst>
          <a:extLs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7" tIns="45718" rIns="91437" bIns="45718" anchor="ctr"/>
          <a:lstStyle>
            <a:lvl1pPr defTabSz="7175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358775" defTabSz="7175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717550" defTabSz="7175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074738" defTabSz="7175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433513" defTabSz="7175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90713" defTabSz="7175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347913" defTabSz="7175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805113" defTabSz="7175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262313" defTabSz="7175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1" lang="zh-CN" altLang="en-US" sz="3571">
                <a:solidFill>
                  <a:srgbClr val="FFFFFF"/>
                </a:solidFill>
                <a:latin typeface="Times New Roman" panose="02020603050405020304" pitchFamily="18" charset="0"/>
              </a:rPr>
              <a:t>机器数</a:t>
            </a:r>
            <a:endParaRPr kumimoji="1" lang="zh-CN" altLang="en-US" sz="2423">
              <a:latin typeface="Times New Roman" panose="02020603050405020304" pitchFamily="18" charset="0"/>
            </a:endParaRPr>
          </a:p>
        </p:txBody>
      </p:sp>
      <p:sp>
        <p:nvSpPr>
          <p:cNvPr id="362506" name="AutoShape 10">
            <a:extLst>
              <a:ext uri="{FF2B5EF4-FFF2-40B4-BE49-F238E27FC236}">
                <a16:creationId xmlns:a16="http://schemas.microsoft.com/office/drawing/2014/main" id="{644C6CAF-293D-3A14-77FF-188112A4F7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9846" y="1702859"/>
            <a:ext cx="633763" cy="666159"/>
          </a:xfrm>
          <a:prstGeom prst="cube">
            <a:avLst>
              <a:gd name="adj" fmla="val 25000"/>
            </a:avLst>
          </a:prstGeom>
          <a:solidFill>
            <a:srgbClr val="33CC33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lIns="91437" tIns="45718" rIns="91437" bIns="45718" anchor="ctr"/>
          <a:lstStyle>
            <a:lvl1pPr defTabSz="7175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358775" defTabSz="7175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717550" defTabSz="7175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074738" defTabSz="7175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433513" defTabSz="7175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90713" defTabSz="7175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347913" defTabSz="7175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805113" defTabSz="7175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262313" defTabSz="7175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1" lang="en-US" altLang="zh-CN" sz="2423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362507" name="AutoShape 11">
            <a:extLst>
              <a:ext uri="{FF2B5EF4-FFF2-40B4-BE49-F238E27FC236}">
                <a16:creationId xmlns:a16="http://schemas.microsoft.com/office/drawing/2014/main" id="{D1B181B7-5A98-29ED-6F94-2823B853AE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1005" y="1702859"/>
            <a:ext cx="633763" cy="666159"/>
          </a:xfrm>
          <a:prstGeom prst="cube">
            <a:avLst>
              <a:gd name="adj" fmla="val 25000"/>
            </a:avLst>
          </a:prstGeom>
          <a:solidFill>
            <a:schemeClr val="hlink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lIns="91437" tIns="45718" rIns="91437" bIns="45718" anchor="ctr"/>
          <a:lstStyle>
            <a:lvl1pPr defTabSz="7175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358775" defTabSz="7175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717550" defTabSz="7175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074738" defTabSz="7175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433513" defTabSz="7175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90713" defTabSz="7175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347913" defTabSz="7175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805113" defTabSz="7175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262313" defTabSz="7175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1" lang="en-US" altLang="zh-CN" sz="2423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62508" name="AutoShape 12">
            <a:extLst>
              <a:ext uri="{FF2B5EF4-FFF2-40B4-BE49-F238E27FC236}">
                <a16:creationId xmlns:a16="http://schemas.microsoft.com/office/drawing/2014/main" id="{1C777C0B-5BE9-CA3A-AE94-2BF47B94A3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6212" y="1702859"/>
            <a:ext cx="631738" cy="666159"/>
          </a:xfrm>
          <a:prstGeom prst="cube">
            <a:avLst>
              <a:gd name="adj" fmla="val 25000"/>
            </a:avLst>
          </a:prstGeom>
          <a:solidFill>
            <a:schemeClr val="hlink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lIns="91437" tIns="45718" rIns="91437" bIns="45718" anchor="ctr"/>
          <a:lstStyle>
            <a:lvl1pPr defTabSz="7175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358775" defTabSz="7175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717550" defTabSz="7175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074738" defTabSz="7175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433513" defTabSz="7175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90713" defTabSz="7175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347913" defTabSz="7175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805113" defTabSz="7175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262313" defTabSz="7175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1" lang="en-US" altLang="zh-CN" sz="2423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362509" name="AutoShape 13">
            <a:extLst>
              <a:ext uri="{FF2B5EF4-FFF2-40B4-BE49-F238E27FC236}">
                <a16:creationId xmlns:a16="http://schemas.microsoft.com/office/drawing/2014/main" id="{FC642021-516D-E362-E1AA-638D714036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7371" y="1702859"/>
            <a:ext cx="633763" cy="666159"/>
          </a:xfrm>
          <a:prstGeom prst="cube">
            <a:avLst>
              <a:gd name="adj" fmla="val 25000"/>
            </a:avLst>
          </a:prstGeom>
          <a:solidFill>
            <a:schemeClr val="hlink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lIns="91437" tIns="45718" rIns="91437" bIns="45718" anchor="ctr"/>
          <a:lstStyle>
            <a:lvl1pPr defTabSz="7175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358775" defTabSz="7175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717550" defTabSz="7175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074738" defTabSz="7175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433513" defTabSz="7175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90713" defTabSz="7175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347913" defTabSz="7175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805113" defTabSz="7175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262313" defTabSz="7175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1" lang="en-US" altLang="zh-CN" sz="2423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362510" name="AutoShape 14">
            <a:extLst>
              <a:ext uri="{FF2B5EF4-FFF2-40B4-BE49-F238E27FC236}">
                <a16:creationId xmlns:a16="http://schemas.microsoft.com/office/drawing/2014/main" id="{16AD5A73-D6CD-7D71-46F3-5AD81E3F32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0556" y="1702859"/>
            <a:ext cx="633762" cy="666159"/>
          </a:xfrm>
          <a:prstGeom prst="cube">
            <a:avLst>
              <a:gd name="adj" fmla="val 25000"/>
            </a:avLst>
          </a:prstGeom>
          <a:solidFill>
            <a:schemeClr val="hlink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lIns="91437" tIns="45718" rIns="91437" bIns="45718" anchor="ctr"/>
          <a:lstStyle>
            <a:lvl1pPr defTabSz="7175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358775" defTabSz="7175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717550" defTabSz="7175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074738" defTabSz="7175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433513" defTabSz="7175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90713" defTabSz="7175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347913" defTabSz="7175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805113" defTabSz="7175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262313" defTabSz="7175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1" lang="en-US" altLang="zh-CN" sz="2423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62511" name="AutoShape 15">
            <a:extLst>
              <a:ext uri="{FF2B5EF4-FFF2-40B4-BE49-F238E27FC236}">
                <a16:creationId xmlns:a16="http://schemas.microsoft.com/office/drawing/2014/main" id="{92DA8308-5246-5AD7-243A-748F77FF22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1714" y="1702859"/>
            <a:ext cx="633762" cy="666159"/>
          </a:xfrm>
          <a:prstGeom prst="cube">
            <a:avLst>
              <a:gd name="adj" fmla="val 25000"/>
            </a:avLst>
          </a:prstGeom>
          <a:solidFill>
            <a:schemeClr val="hlink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lIns="91437" tIns="45718" rIns="91437" bIns="45718" anchor="ctr"/>
          <a:lstStyle>
            <a:lvl1pPr defTabSz="7175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358775" defTabSz="7175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717550" defTabSz="7175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074738" defTabSz="7175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433513" defTabSz="7175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90713" defTabSz="7175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347913" defTabSz="7175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805113" defTabSz="7175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262313" defTabSz="7175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1" lang="en-US" altLang="zh-CN" sz="2423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62512" name="AutoShape 16">
            <a:extLst>
              <a:ext uri="{FF2B5EF4-FFF2-40B4-BE49-F238E27FC236}">
                <a16:creationId xmlns:a16="http://schemas.microsoft.com/office/drawing/2014/main" id="{188354F6-CC98-BBBE-A068-E46D5FA942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6922" y="1702859"/>
            <a:ext cx="631738" cy="666159"/>
          </a:xfrm>
          <a:prstGeom prst="cube">
            <a:avLst>
              <a:gd name="adj" fmla="val 25000"/>
            </a:avLst>
          </a:prstGeom>
          <a:solidFill>
            <a:schemeClr val="hlink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lIns="91437" tIns="45718" rIns="91437" bIns="45718" anchor="ctr"/>
          <a:lstStyle>
            <a:lvl1pPr defTabSz="7175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358775" defTabSz="7175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717550" defTabSz="7175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074738" defTabSz="7175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433513" defTabSz="7175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90713" defTabSz="7175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347913" defTabSz="7175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805113" defTabSz="7175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262313" defTabSz="7175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1" lang="en-US" altLang="zh-CN" sz="2423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362513" name="AutoShape 17">
            <a:extLst>
              <a:ext uri="{FF2B5EF4-FFF2-40B4-BE49-F238E27FC236}">
                <a16:creationId xmlns:a16="http://schemas.microsoft.com/office/drawing/2014/main" id="{2894C48D-D8F3-030A-CF74-A557526766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8081" y="1702859"/>
            <a:ext cx="633762" cy="666159"/>
          </a:xfrm>
          <a:prstGeom prst="cube">
            <a:avLst>
              <a:gd name="adj" fmla="val 25000"/>
            </a:avLst>
          </a:prstGeom>
          <a:solidFill>
            <a:schemeClr val="hlink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lIns="91437" tIns="45718" rIns="91437" bIns="45718" anchor="ctr"/>
          <a:lstStyle>
            <a:lvl1pPr defTabSz="7175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358775" defTabSz="7175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717550" defTabSz="7175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074738" defTabSz="7175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433513" defTabSz="7175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90713" defTabSz="7175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347913" defTabSz="7175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805113" defTabSz="7175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262313" defTabSz="7175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1" lang="en-US" altLang="zh-CN" sz="2423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62514" name="AutoShape 18">
            <a:extLst>
              <a:ext uri="{FF2B5EF4-FFF2-40B4-BE49-F238E27FC236}">
                <a16:creationId xmlns:a16="http://schemas.microsoft.com/office/drawing/2014/main" id="{738042AE-D028-9A89-4306-45D013F2A6CD}"/>
              </a:ext>
            </a:extLst>
          </p:cNvPr>
          <p:cNvSpPr>
            <a:spLocks/>
          </p:cNvSpPr>
          <p:nvPr/>
        </p:nvSpPr>
        <p:spPr bwMode="auto">
          <a:xfrm rot="16200000">
            <a:off x="4568963" y="2054161"/>
            <a:ext cx="380663" cy="3436087"/>
          </a:xfrm>
          <a:prstGeom prst="leftBrace">
            <a:avLst>
              <a:gd name="adj1" fmla="val 75222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2515" name="Rectangle 19">
            <a:extLst>
              <a:ext uri="{FF2B5EF4-FFF2-40B4-BE49-F238E27FC236}">
                <a16:creationId xmlns:a16="http://schemas.microsoft.com/office/drawing/2014/main" id="{DB5902F3-B511-7EDE-1ACD-6CBDE1879B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663" y="1677321"/>
            <a:ext cx="1407237" cy="759756"/>
          </a:xfrm>
          <a:prstGeom prst="rect">
            <a:avLst/>
          </a:prstGeom>
          <a:solidFill>
            <a:srgbClr val="CCECFF"/>
          </a:solidFill>
          <a:ln>
            <a:noFill/>
          </a:ln>
          <a:effectLst>
            <a:outerShdw dist="107763" dir="2700000" algn="ctr" rotWithShape="0">
              <a:srgbClr val="868686"/>
            </a:outerShdw>
          </a:effectLst>
          <a:extLs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1437" tIns="45718" rIns="91437" bIns="45718" anchor="ctr">
            <a:spAutoFit/>
          </a:bodyPr>
          <a:lstStyle>
            <a:lvl1pPr defTabSz="7175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358775" defTabSz="7175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717550" defTabSz="7175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074738" defTabSz="7175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433513" defTabSz="7175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90713" defTabSz="7175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347913" defTabSz="7175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805113" defTabSz="7175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262313" defTabSz="7175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1" lang="en-US" altLang="zh-CN" sz="4337">
                <a:solidFill>
                  <a:srgbClr val="FF0000"/>
                </a:solidFill>
                <a:latin typeface="隶书" pitchFamily="49" charset="-122"/>
                <a:ea typeface="隶书" pitchFamily="49" charset="-122"/>
              </a:rPr>
              <a:t>+77</a:t>
            </a:r>
            <a:r>
              <a:rPr kumimoji="1" lang="en-US" altLang="zh-CN" sz="3189">
                <a:solidFill>
                  <a:srgbClr val="FFFF00"/>
                </a:solidFill>
                <a:latin typeface="隶书" pitchFamily="49" charset="-122"/>
                <a:ea typeface="隶书" pitchFamily="49" charset="-122"/>
              </a:rPr>
              <a:t> </a:t>
            </a:r>
          </a:p>
        </p:txBody>
      </p:sp>
      <p:sp>
        <p:nvSpPr>
          <p:cNvPr id="362516" name="AutoShape 20">
            <a:extLst>
              <a:ext uri="{FF2B5EF4-FFF2-40B4-BE49-F238E27FC236}">
                <a16:creationId xmlns:a16="http://schemas.microsoft.com/office/drawing/2014/main" id="{A6DB9AD4-B235-8D1D-519F-EC9C93E9EA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198" y="1905339"/>
            <a:ext cx="838267" cy="303720"/>
          </a:xfrm>
          <a:prstGeom prst="rightArrow">
            <a:avLst>
              <a:gd name="adj1" fmla="val 50000"/>
              <a:gd name="adj2" fmla="val 69000"/>
            </a:avLst>
          </a:prstGeom>
          <a:solidFill>
            <a:srgbClr val="80808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2517" name="Rectangle 21">
            <a:extLst>
              <a:ext uri="{FF2B5EF4-FFF2-40B4-BE49-F238E27FC236}">
                <a16:creationId xmlns:a16="http://schemas.microsoft.com/office/drawing/2014/main" id="{278E8D76-1AFE-EDC3-BAFF-45F1421F9E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873" y="1599593"/>
            <a:ext cx="1447733" cy="609466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00FFFF">
                <a:gamma/>
                <a:shade val="60000"/>
                <a:invGamma/>
              </a:srgb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2518" name="AutoShape 22">
            <a:extLst>
              <a:ext uri="{FF2B5EF4-FFF2-40B4-BE49-F238E27FC236}">
                <a16:creationId xmlns:a16="http://schemas.microsoft.com/office/drawing/2014/main" id="{E425E7CC-2FEA-ED75-066B-3AA094990F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198" y="2818524"/>
            <a:ext cx="1447733" cy="686408"/>
          </a:xfrm>
          <a:prstGeom prst="wedgeRoundRectCallout">
            <a:avLst>
              <a:gd name="adj1" fmla="val 37389"/>
              <a:gd name="adj2" fmla="val -120833"/>
              <a:gd name="adj3" fmla="val 16667"/>
            </a:avLst>
          </a:prstGeom>
          <a:solidFill>
            <a:srgbClr val="BDD8DF"/>
          </a:solidFill>
          <a:ln>
            <a:noFill/>
          </a:ln>
          <a:effectLst>
            <a:outerShdw dist="107763" dir="2700000" algn="ctr" rotWithShape="0">
              <a:srgbClr val="808080"/>
            </a:outerShdw>
          </a:effectLst>
          <a:extLs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7" tIns="45718" rIns="91437" bIns="45718" anchor="ctr"/>
          <a:lstStyle>
            <a:lvl1pPr defTabSz="7175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358775" defTabSz="7175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717550" defTabSz="7175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074738" defTabSz="7175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433513" defTabSz="7175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90713" defTabSz="7175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347913" defTabSz="7175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805113" defTabSz="7175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262313" defTabSz="7175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1" lang="zh-CN" altLang="en-US" sz="2806">
                <a:latin typeface="Times New Roman" panose="02020603050405020304" pitchFamily="18" charset="0"/>
              </a:rPr>
              <a:t>符号位</a:t>
            </a:r>
            <a:endParaRPr kumimoji="1" lang="zh-CN" altLang="en-US" sz="2423">
              <a:latin typeface="Times New Roman" panose="02020603050405020304" pitchFamily="18" charset="0"/>
            </a:endParaRPr>
          </a:p>
        </p:txBody>
      </p:sp>
      <p:sp>
        <p:nvSpPr>
          <p:cNvPr id="362519" name="AutoShape 23">
            <a:extLst>
              <a:ext uri="{FF2B5EF4-FFF2-40B4-BE49-F238E27FC236}">
                <a16:creationId xmlns:a16="http://schemas.microsoft.com/office/drawing/2014/main" id="{08878A86-868D-CA21-860A-97321F0729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8409" y="2818524"/>
            <a:ext cx="990127" cy="686408"/>
          </a:xfrm>
          <a:prstGeom prst="wedgeRoundRectCallout">
            <a:avLst>
              <a:gd name="adj1" fmla="val -63463"/>
              <a:gd name="adj2" fmla="val -128472"/>
              <a:gd name="adj3" fmla="val 16667"/>
            </a:avLst>
          </a:prstGeom>
          <a:solidFill>
            <a:srgbClr val="0000FF"/>
          </a:solidFill>
          <a:ln>
            <a:noFill/>
          </a:ln>
          <a:effectLst>
            <a:outerShdw dist="107763" dir="2700000" algn="ctr" rotWithShape="0">
              <a:srgbClr val="808080"/>
            </a:outerShdw>
          </a:effectLst>
          <a:extLs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7" tIns="45718" rIns="91437" bIns="45718" anchor="ctr"/>
          <a:lstStyle>
            <a:lvl1pPr defTabSz="7175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358775" defTabSz="7175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717550" defTabSz="7175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074738" defTabSz="7175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433513" defTabSz="7175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90713" defTabSz="7175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347913" defTabSz="7175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805113" defTabSz="7175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262313" defTabSz="7175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1" lang="zh-CN" altLang="en-US" sz="2806">
                <a:solidFill>
                  <a:srgbClr val="FFFFFF"/>
                </a:solidFill>
                <a:latin typeface="Times New Roman" panose="02020603050405020304" pitchFamily="18" charset="0"/>
              </a:rPr>
              <a:t>真值</a:t>
            </a:r>
            <a:endParaRPr kumimoji="1" lang="zh-CN" altLang="en-US" sz="2423">
              <a:latin typeface="Times New Roman" panose="02020603050405020304" pitchFamily="18" charset="0"/>
            </a:endParaRPr>
          </a:p>
        </p:txBody>
      </p:sp>
      <p:sp>
        <p:nvSpPr>
          <p:cNvPr id="362520" name="AutoShape 24">
            <a:extLst>
              <a:ext uri="{FF2B5EF4-FFF2-40B4-BE49-F238E27FC236}">
                <a16:creationId xmlns:a16="http://schemas.microsoft.com/office/drawing/2014/main" id="{FEAF1906-D9DE-829C-A955-906A5FB814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0523" y="1524676"/>
            <a:ext cx="838267" cy="4114395"/>
          </a:xfrm>
          <a:prstGeom prst="cube">
            <a:avLst>
              <a:gd name="adj" fmla="val 25000"/>
            </a:avLst>
          </a:prstGeom>
          <a:solidFill>
            <a:schemeClr val="folHlink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2521" name="Text Box 25">
            <a:extLst>
              <a:ext uri="{FF2B5EF4-FFF2-40B4-BE49-F238E27FC236}">
                <a16:creationId xmlns:a16="http://schemas.microsoft.com/office/drawing/2014/main" id="{6F128F22-DA92-CD18-F5DA-41EFEABD43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4415" y="1980255"/>
            <a:ext cx="734169" cy="33530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vert="eaVert" lIns="91437" tIns="45718" rIns="91437" bIns="45718">
            <a:spAutoFit/>
          </a:bodyPr>
          <a:lstStyle>
            <a:lvl1pPr defTabSz="7175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358775" defTabSz="7175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717550" defTabSz="7175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074738" defTabSz="7175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433513" defTabSz="7175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90713" defTabSz="7175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347913" defTabSz="7175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805113" defTabSz="7175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262313" defTabSz="7175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zh-CN" altLang="en-US" sz="3571">
                <a:latin typeface="Times New Roman" panose="02020603050405020304" pitchFamily="18" charset="0"/>
              </a:rPr>
              <a:t>机器数</a:t>
            </a:r>
            <a:r>
              <a:rPr kumimoji="1" lang="en-US" altLang="zh-CN" sz="3571">
                <a:latin typeface="Times New Roman" panose="02020603050405020304" pitchFamily="18" charset="0"/>
              </a:rPr>
              <a:t>︱</a:t>
            </a:r>
            <a:r>
              <a:rPr kumimoji="1" lang="zh-CN" altLang="en-US" sz="3571">
                <a:latin typeface="Times New Roman" panose="02020603050405020304" pitchFamily="18" charset="0"/>
              </a:rPr>
              <a:t>真值</a:t>
            </a:r>
          </a:p>
        </p:txBody>
      </p:sp>
      <p:pic>
        <p:nvPicPr>
          <p:cNvPr id="362522" name="Picture 26">
            <a:extLst>
              <a:ext uri="{FF2B5EF4-FFF2-40B4-BE49-F238E27FC236}">
                <a16:creationId xmlns:a16="http://schemas.microsoft.com/office/drawing/2014/main" id="{7886DCAD-2A2B-68C0-F0C2-FF121EB950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2791" y="4179190"/>
            <a:ext cx="3201209" cy="2668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25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25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625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625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5" presetID="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625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625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20" presetID="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625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625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25" presetID="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625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625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7500"/>
                            </p:stCondLst>
                            <p:childTnLst>
                              <p:par>
                                <p:cTn id="30" presetID="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625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625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9000"/>
                            </p:stCondLst>
                            <p:childTnLst>
                              <p:par>
                                <p:cTn id="35" presetID="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625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625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10500"/>
                            </p:stCondLst>
                            <p:childTnLst>
                              <p:par>
                                <p:cTn id="40" presetID="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625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625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12000"/>
                            </p:stCondLst>
                            <p:childTnLst>
                              <p:par>
                                <p:cTn id="45" presetID="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625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625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13500"/>
                            </p:stCondLst>
                            <p:childTnLst>
                              <p:par>
                                <p:cTn id="50" presetID="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625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625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15000"/>
                            </p:stCondLst>
                            <p:childTnLst>
                              <p:par>
                                <p:cTn id="55" presetID="24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2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7" dur="1" fill="hold"/>
                                        <p:tgtEl>
                                          <p:spTgt spid="362518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16500"/>
                            </p:stCondLst>
                            <p:childTnLst>
                              <p:par>
                                <p:cTn id="59" presetID="24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2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61" dur="1" fill="hold"/>
                                        <p:tgtEl>
                                          <p:spTgt spid="362519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18000"/>
                            </p:stCondLst>
                            <p:childTnLst>
                              <p:par>
                                <p:cTn id="63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362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19500"/>
                            </p:stCondLst>
                            <p:childTnLst>
                              <p:par>
                                <p:cTn id="67" presetID="12" presetClass="entr" presetSubtype="4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9" dur="500"/>
                                        <p:tgtEl>
                                          <p:spTgt spid="362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21000"/>
                            </p:stCondLst>
                            <p:childTnLst>
                              <p:par>
                                <p:cTn id="71" presetID="2" presetClass="entr" presetSubtype="8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625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625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2505" grpId="0" animBg="1" autoUpdateAnimBg="0"/>
      <p:bldP spid="362506" grpId="0" animBg="1" autoUpdateAnimBg="0"/>
      <p:bldP spid="362507" grpId="0" animBg="1" autoUpdateAnimBg="0"/>
      <p:bldP spid="362508" grpId="0" animBg="1" autoUpdateAnimBg="0"/>
      <p:bldP spid="362509" grpId="0" animBg="1" autoUpdateAnimBg="0"/>
      <p:bldP spid="362510" grpId="0" animBg="1" autoUpdateAnimBg="0"/>
      <p:bldP spid="362511" grpId="0" animBg="1" autoUpdateAnimBg="0"/>
      <p:bldP spid="362512" grpId="0" animBg="1" autoUpdateAnimBg="0"/>
      <p:bldP spid="362513" grpId="0" animBg="1" autoUpdateAnimBg="0"/>
      <p:bldP spid="362515" grpId="0" animBg="1" autoUpdateAnimBg="0"/>
      <p:bldP spid="362518" grpId="0" animBg="1" autoUpdateAnimBg="0"/>
      <p:bldP spid="362519" grpId="0" animBg="1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 txBox="1">
            <a:spLocks noGrp="1"/>
          </p:cNvSpPr>
          <p:nvPr>
            <p:ph type="sldNum" sz="quarter" idx="11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spcBef>
                <a:spcPct val="50000"/>
              </a:spcBef>
            </a:pPr>
            <a:fld id="{9A0DB2DC-4C9A-4742-B13C-FB6460FD3503}" type="slidenum">
              <a:rPr lang="en-US" altLang="zh-CN" sz="1400" b="1" dirty="0">
                <a:latin typeface="Times New Roman" panose="02020603050405020304" pitchFamily="2" charset="0"/>
              </a:rPr>
              <a:t>5</a:t>
            </a:fld>
            <a:endParaRPr lang="en-US" altLang="zh-CN" sz="1400" b="1" dirty="0">
              <a:latin typeface="Times New Roman" panose="02020603050405020304" pitchFamily="2" charset="0"/>
            </a:endParaRPr>
          </a:p>
        </p:txBody>
      </p:sp>
      <p:sp>
        <p:nvSpPr>
          <p:cNvPr id="48131" name="Rectangle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pPr eaLnBrk="1" hangingPunct="1">
              <a:buNone/>
            </a:pPr>
            <a:r>
              <a:rPr lang="zh-CN" altLang="en-US" b="1" dirty="0"/>
              <a:t>一、机器数</a:t>
            </a:r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chemeClr val="accent2"/>
                </a:solidFill>
                <a:latin typeface="宋体" panose="02010600030101010101" pitchFamily="2" charset="-122"/>
              </a:rPr>
              <a:t>计算机中数的正负的表示</a:t>
            </a:r>
            <a:r>
              <a:rPr lang="zh-CN" altLang="en-US" b="1" dirty="0">
                <a:latin typeface="宋体" panose="02010600030101010101" pitchFamily="2" charset="-122"/>
              </a:rPr>
              <a:t>：用二进制数的最高位来表示符号。如果最高位为</a:t>
            </a:r>
            <a:r>
              <a:rPr lang="en-US" altLang="zh-CN" b="1" dirty="0"/>
              <a:t>1</a:t>
            </a:r>
            <a:r>
              <a:rPr lang="zh-CN" altLang="en-US" b="1" dirty="0">
                <a:latin typeface="宋体" panose="02010600030101010101" pitchFamily="2" charset="-122"/>
              </a:rPr>
              <a:t>，则是负数；为</a:t>
            </a:r>
            <a:r>
              <a:rPr lang="en-US" altLang="zh-CN" b="1" dirty="0"/>
              <a:t>0</a:t>
            </a:r>
            <a:r>
              <a:rPr lang="zh-CN" altLang="en-US" b="1" dirty="0">
                <a:latin typeface="宋体" panose="02010600030101010101" pitchFamily="2" charset="-122"/>
              </a:rPr>
              <a:t>，则是正数。</a:t>
            </a:r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chemeClr val="accent2"/>
                </a:solidFill>
                <a:latin typeface="宋体" panose="02010600030101010101" pitchFamily="2" charset="-122"/>
              </a:rPr>
              <a:t>机器数</a:t>
            </a:r>
            <a:r>
              <a:rPr lang="zh-CN" altLang="en-US" b="1" dirty="0">
                <a:latin typeface="宋体" panose="02010600030101010101" pitchFamily="2" charset="-122"/>
              </a:rPr>
              <a:t>：增加了符号位的二进制数称为机器数，它的数值称为</a:t>
            </a:r>
            <a:r>
              <a:rPr lang="zh-CN" altLang="en-US" b="1" i="1" dirty="0">
                <a:latin typeface="宋体" panose="02010600030101010101" pitchFamily="2" charset="-122"/>
              </a:rPr>
              <a:t>机器数的真值</a:t>
            </a:r>
            <a:r>
              <a:rPr lang="zh-CN" altLang="en-US" b="1" dirty="0">
                <a:latin typeface="宋体" panose="02010600030101010101" pitchFamily="2" charset="-122"/>
              </a:rPr>
              <a:t>。</a:t>
            </a:r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chemeClr val="accent2"/>
                </a:solidFill>
                <a:latin typeface="宋体" panose="02010600030101010101" pitchFamily="2" charset="-122"/>
              </a:rPr>
              <a:t>机器数的编码格式</a:t>
            </a:r>
            <a:r>
              <a:rPr lang="zh-CN" altLang="en-US" b="1" dirty="0">
                <a:latin typeface="宋体" panose="02010600030101010101" pitchFamily="2" charset="-122"/>
              </a:rPr>
              <a:t>：补码表示法。</a:t>
            </a:r>
            <a:endParaRPr lang="zh-CN" altLang="en-US" b="1" dirty="0"/>
          </a:p>
        </p:txBody>
      </p:sp>
      <p:sp>
        <p:nvSpPr>
          <p:cNvPr id="48132" name="Rectangle 4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lstStyle/>
          <a:p>
            <a:pPr eaLnBrk="1" hangingPunct="1"/>
            <a:r>
              <a:rPr lang="zh-CN" altLang="en-US" b="1" dirty="0">
                <a:solidFill>
                  <a:srgbClr val="FF5050"/>
                </a:solidFill>
                <a:latin typeface="宋体" panose="02010600030101010101" pitchFamily="2" charset="-122"/>
              </a:rPr>
              <a:t>计算机中数据表示方法</a:t>
            </a: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4"/>
          <p:cNvSpPr txBox="1">
            <a:spLocks noGrp="1"/>
          </p:cNvSpPr>
          <p:nvPr>
            <p:ph type="sldNum" sz="quarter" idx="11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spcBef>
                <a:spcPct val="50000"/>
              </a:spcBef>
            </a:pPr>
            <a:fld id="{9A0DB2DC-4C9A-4742-B13C-FB6460FD3503}" type="slidenum">
              <a:rPr lang="en-US" altLang="zh-CN" sz="1400" b="1" dirty="0">
                <a:latin typeface="Times New Roman" panose="02020603050405020304" pitchFamily="2" charset="0"/>
              </a:rPr>
              <a:t>6</a:t>
            </a:fld>
            <a:endParaRPr lang="en-US" altLang="zh-CN" sz="1400" b="1" dirty="0">
              <a:latin typeface="Times New Roman" panose="02020603050405020304" pitchFamily="2" charset="0"/>
            </a:endParaRPr>
          </a:p>
        </p:txBody>
      </p:sp>
      <p:sp>
        <p:nvSpPr>
          <p:cNvPr id="52227" name="Text Box 2"/>
          <p:cNvSpPr txBox="1"/>
          <p:nvPr/>
        </p:nvSpPr>
        <p:spPr>
          <a:xfrm>
            <a:off x="723900" y="1268413"/>
            <a:ext cx="7696200" cy="5047536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b="1" dirty="0">
                <a:latin typeface="宋体" panose="02010600030101010101" pitchFamily="2" charset="-122"/>
              </a:rPr>
              <a:t>例</a:t>
            </a:r>
            <a:r>
              <a:rPr lang="en-US" altLang="zh-CN" b="1" dirty="0">
                <a:latin typeface="宋体" panose="02010600030101010101" pitchFamily="2" charset="-122"/>
              </a:rPr>
              <a:t>1</a:t>
            </a:r>
            <a:r>
              <a:rPr lang="zh-CN" altLang="en-US" b="1" dirty="0">
                <a:latin typeface="宋体" panose="02010600030101010101" pitchFamily="2" charset="-122"/>
              </a:rPr>
              <a:t>：两个正数的机器数相加：</a:t>
            </a:r>
            <a:r>
              <a:rPr lang="en-US" altLang="zh-CN" b="1" dirty="0">
                <a:latin typeface="宋体" panose="02010600030101010101" pitchFamily="2" charset="-122"/>
                <a:cs typeface="Times New Roman" panose="02020603050405020304" pitchFamily="2" charset="0"/>
              </a:rPr>
              <a:t>43 </a:t>
            </a:r>
            <a:r>
              <a:rPr lang="zh-CN" altLang="en-US" b="1" dirty="0">
                <a:latin typeface="宋体" panose="02010600030101010101" pitchFamily="2" charset="-122"/>
              </a:rPr>
              <a:t>＋</a:t>
            </a:r>
            <a:r>
              <a:rPr lang="zh-CN" altLang="en-US" b="1" dirty="0">
                <a:latin typeface="宋体" panose="02010600030101010101" pitchFamily="2" charset="-122"/>
                <a:cs typeface="Times New Roman" panose="02020603050405020304" pitchFamily="2" charset="0"/>
              </a:rPr>
              <a:t> </a:t>
            </a:r>
            <a:r>
              <a:rPr lang="en-US" altLang="zh-CN" b="1" dirty="0">
                <a:latin typeface="宋体" panose="02010600030101010101" pitchFamily="2" charset="-122"/>
                <a:cs typeface="Times New Roman" panose="02020603050405020304" pitchFamily="2" charset="0"/>
              </a:rPr>
              <a:t>43</a:t>
            </a: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b="1" dirty="0">
                <a:latin typeface="宋体" panose="02010600030101010101" pitchFamily="2" charset="-122"/>
                <a:cs typeface="Times New Roman" panose="02020603050405020304" pitchFamily="2" charset="0"/>
              </a:rPr>
              <a:t>	X = (+43)</a:t>
            </a:r>
            <a:r>
              <a:rPr lang="en-US" altLang="zh-CN" b="1" baseline="-30000" dirty="0">
                <a:latin typeface="宋体" panose="02010600030101010101" pitchFamily="2" charset="-122"/>
                <a:cs typeface="Times New Roman" panose="02020603050405020304" pitchFamily="2" charset="0"/>
              </a:rPr>
              <a:t>10</a:t>
            </a:r>
            <a:r>
              <a:rPr lang="zh-CN" altLang="en-US" b="1" dirty="0">
                <a:latin typeface="宋体" panose="02010600030101010101" pitchFamily="2" charset="-122"/>
              </a:rPr>
              <a:t>，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2" charset="0"/>
              </a:rPr>
              <a:t>[</a:t>
            </a:r>
            <a:r>
              <a:rPr lang="en-US" altLang="zh-CN" b="1" dirty="0">
                <a:latin typeface="宋体" panose="02010600030101010101" pitchFamily="2" charset="-122"/>
                <a:cs typeface="Times New Roman" panose="02020603050405020304" pitchFamily="2" charset="0"/>
              </a:rPr>
              <a:t> X 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2" charset="0"/>
              </a:rPr>
              <a:t>]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2" charset="0"/>
              </a:rPr>
              <a:t>原码 </a:t>
            </a:r>
            <a:r>
              <a:rPr lang="en-US" altLang="zh-CN" b="1" dirty="0">
                <a:latin typeface="宋体" panose="02010600030101010101" pitchFamily="2" charset="-122"/>
                <a:cs typeface="Times New Roman" panose="02020603050405020304" pitchFamily="2" charset="0"/>
              </a:rPr>
              <a:t>= 0 0101011</a:t>
            </a: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b="1" dirty="0">
                <a:latin typeface="宋体" panose="02010600030101010101" pitchFamily="2" charset="-122"/>
                <a:cs typeface="Times New Roman" panose="02020603050405020304" pitchFamily="2" charset="0"/>
              </a:rPr>
              <a:t>	Y = (+43)</a:t>
            </a:r>
            <a:r>
              <a:rPr lang="en-US" altLang="zh-CN" b="1" baseline="-30000" dirty="0">
                <a:latin typeface="宋体" panose="02010600030101010101" pitchFamily="2" charset="-122"/>
                <a:cs typeface="Times New Roman" panose="02020603050405020304" pitchFamily="2" charset="0"/>
              </a:rPr>
              <a:t>10</a:t>
            </a:r>
            <a:r>
              <a:rPr lang="zh-CN" altLang="en-US" b="1" dirty="0">
                <a:latin typeface="宋体" panose="02010600030101010101" pitchFamily="2" charset="-122"/>
              </a:rPr>
              <a:t>，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2" charset="0"/>
              </a:rPr>
              <a:t>[</a:t>
            </a:r>
            <a:r>
              <a:rPr lang="en-US" altLang="zh-CN" b="1" dirty="0">
                <a:latin typeface="宋体" panose="02010600030101010101" pitchFamily="2" charset="-122"/>
                <a:cs typeface="Times New Roman" panose="02020603050405020304" pitchFamily="2" charset="0"/>
              </a:rPr>
              <a:t> Y 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2" charset="0"/>
              </a:rPr>
              <a:t>]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2" charset="0"/>
              </a:rPr>
              <a:t>原码 </a:t>
            </a:r>
            <a:r>
              <a:rPr lang="en-US" altLang="zh-CN" b="1" dirty="0">
                <a:latin typeface="宋体" panose="02010600030101010101" pitchFamily="2" charset="-122"/>
                <a:cs typeface="Times New Roman" panose="02020603050405020304" pitchFamily="2" charset="0"/>
              </a:rPr>
              <a:t>= 0 0101011</a:t>
            </a: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b="1" dirty="0">
                <a:latin typeface="宋体" panose="02010600030101010101" pitchFamily="2" charset="-122"/>
                <a:cs typeface="Times New Roman" panose="02020603050405020304" pitchFamily="2" charset="0"/>
              </a:rPr>
              <a:t>     X + Y</a:t>
            </a:r>
            <a:r>
              <a:rPr lang="zh-CN" altLang="en-US" b="1" dirty="0">
                <a:latin typeface="宋体" panose="02010600030101010101" pitchFamily="2" charset="-122"/>
              </a:rPr>
              <a:t>：</a:t>
            </a:r>
            <a:endParaRPr lang="zh-CN" altLang="en-US" b="1" dirty="0">
              <a:latin typeface="宋体" panose="02010600030101010101" pitchFamily="2" charset="-122"/>
              <a:cs typeface="Times New Roman" panose="02020603050405020304" pitchFamily="2" charset="0"/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b="1" dirty="0">
                <a:latin typeface="宋体" panose="02010600030101010101" pitchFamily="2" charset="-122"/>
                <a:cs typeface="Times New Roman" panose="02020603050405020304" pitchFamily="2" charset="0"/>
              </a:rPr>
              <a:t>	  </a:t>
            </a:r>
            <a:r>
              <a:rPr lang="en-US" altLang="zh-CN" b="1" dirty="0">
                <a:latin typeface="宋体" panose="02010600030101010101" pitchFamily="2" charset="-122"/>
                <a:cs typeface="Times New Roman" panose="02020603050405020304" pitchFamily="2" charset="0"/>
              </a:rPr>
              <a:t>0 0101011</a:t>
            </a: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b="1" dirty="0">
                <a:latin typeface="宋体" panose="02010600030101010101" pitchFamily="2" charset="-122"/>
                <a:cs typeface="Times New Roman" panose="02020603050405020304" pitchFamily="2" charset="0"/>
              </a:rPr>
              <a:t>    +	  0 0101011</a:t>
            </a: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b="1" dirty="0">
                <a:latin typeface="宋体" panose="02010600030101010101" pitchFamily="2" charset="-122"/>
                <a:cs typeface="Times New Roman" panose="02020603050405020304" pitchFamily="2" charset="0"/>
              </a:rPr>
              <a:t>       0 1010110      =86</a:t>
            </a:r>
          </a:p>
          <a:p>
            <a:pPr marL="0" lvl="0" indent="0" eaLnBrk="1" hangingPunct="1">
              <a:spcBef>
                <a:spcPct val="50000"/>
              </a:spcBef>
              <a:buNone/>
            </a:pPr>
            <a:endParaRPr lang="en-US" altLang="zh-CN" b="1" dirty="0"/>
          </a:p>
        </p:txBody>
      </p:sp>
      <p:sp>
        <p:nvSpPr>
          <p:cNvPr id="52228" name="Line 4"/>
          <p:cNvSpPr/>
          <p:nvPr/>
        </p:nvSpPr>
        <p:spPr>
          <a:xfrm>
            <a:off x="2124075" y="5084763"/>
            <a:ext cx="1524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229" name="Text Box 5"/>
          <p:cNvSpPr txBox="1"/>
          <p:nvPr/>
        </p:nvSpPr>
        <p:spPr>
          <a:xfrm>
            <a:off x="5651500" y="5084763"/>
            <a:ext cx="22860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b="1" dirty="0"/>
              <a:t>结果正确</a:t>
            </a:r>
          </a:p>
        </p:txBody>
      </p:sp>
      <p:sp>
        <p:nvSpPr>
          <p:cNvPr id="52230" name="Rectangle 6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lstStyle/>
          <a:p>
            <a:pPr eaLnBrk="1" hangingPunct="1"/>
            <a:r>
              <a:rPr lang="zh-CN" altLang="en-US" b="1" dirty="0">
                <a:solidFill>
                  <a:schemeClr val="accent2"/>
                </a:solidFill>
                <a:latin typeface="宋体" panose="02010600030101010101" pitchFamily="2" charset="-122"/>
              </a:rPr>
              <a:t>机器数的编码格式</a:t>
            </a:r>
            <a:r>
              <a:rPr lang="en-US" altLang="zh-CN" b="1" dirty="0">
                <a:solidFill>
                  <a:schemeClr val="accent2"/>
                </a:solidFill>
                <a:latin typeface="宋体" panose="02010600030101010101" pitchFamily="2" charset="-122"/>
              </a:rPr>
              <a:t>(1)</a:t>
            </a:r>
            <a:endParaRPr lang="zh-CN" altLang="en-US" b="1" dirty="0"/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4"/>
          <p:cNvSpPr txBox="1">
            <a:spLocks noGrp="1"/>
          </p:cNvSpPr>
          <p:nvPr>
            <p:ph type="sldNum" sz="quarter" idx="11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spcBef>
                <a:spcPct val="50000"/>
              </a:spcBef>
            </a:pPr>
            <a:fld id="{9A0DB2DC-4C9A-4742-B13C-FB6460FD3503}" type="slidenum">
              <a:rPr lang="en-US" altLang="zh-CN" sz="1400" b="1" dirty="0">
                <a:latin typeface="Times New Roman" panose="02020603050405020304" pitchFamily="2" charset="0"/>
              </a:rPr>
              <a:t>7</a:t>
            </a:fld>
            <a:endParaRPr lang="en-US" altLang="zh-CN" sz="1400" b="1" dirty="0">
              <a:latin typeface="Times New Roman" panose="02020603050405020304" pitchFamily="2" charset="0"/>
            </a:endParaRPr>
          </a:p>
        </p:txBody>
      </p:sp>
      <p:sp>
        <p:nvSpPr>
          <p:cNvPr id="53251" name="Text Box 2"/>
          <p:cNvSpPr txBox="1"/>
          <p:nvPr/>
        </p:nvSpPr>
        <p:spPr>
          <a:xfrm>
            <a:off x="723900" y="1196975"/>
            <a:ext cx="7696200" cy="50085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b="1" dirty="0">
                <a:latin typeface="宋体" panose="02010600030101010101" pitchFamily="2" charset="-122"/>
              </a:rPr>
              <a:t>例</a:t>
            </a:r>
            <a:r>
              <a:rPr lang="en-US" altLang="zh-CN" b="1" dirty="0">
                <a:latin typeface="宋体" panose="02010600030101010101" pitchFamily="2" charset="-122"/>
              </a:rPr>
              <a:t>2</a:t>
            </a:r>
            <a:r>
              <a:rPr lang="zh-CN" altLang="en-US" b="1" dirty="0">
                <a:latin typeface="宋体" panose="02010600030101010101" pitchFamily="2" charset="-122"/>
              </a:rPr>
              <a:t>：正数和负数的原码相加：</a:t>
            </a:r>
            <a:r>
              <a:rPr lang="zh-CN" altLang="en-US" b="1" dirty="0">
                <a:latin typeface="宋体" panose="02010600030101010101" pitchFamily="2" charset="-122"/>
                <a:cs typeface="Times New Roman" panose="02020603050405020304" pitchFamily="2" charset="0"/>
              </a:rPr>
              <a:t> </a:t>
            </a:r>
            <a:r>
              <a:rPr lang="en-US" altLang="zh-CN" b="1" dirty="0">
                <a:latin typeface="宋体" panose="02010600030101010101" pitchFamily="2" charset="-122"/>
                <a:cs typeface="Times New Roman" panose="02020603050405020304" pitchFamily="2" charset="0"/>
              </a:rPr>
              <a:t>43 </a:t>
            </a:r>
            <a:r>
              <a:rPr lang="zh-CN" altLang="en-US" b="1" dirty="0">
                <a:latin typeface="宋体" panose="02010600030101010101" pitchFamily="2" charset="-122"/>
              </a:rPr>
              <a:t>＋</a:t>
            </a:r>
            <a:r>
              <a:rPr lang="zh-CN" altLang="en-US" b="1" dirty="0">
                <a:latin typeface="宋体" panose="02010600030101010101" pitchFamily="2" charset="-122"/>
                <a:cs typeface="Times New Roman" panose="02020603050405020304" pitchFamily="2" charset="0"/>
              </a:rPr>
              <a:t> </a:t>
            </a:r>
            <a:r>
              <a:rPr lang="en-US" altLang="zh-CN" b="1" dirty="0">
                <a:latin typeface="宋体" panose="02010600030101010101" pitchFamily="2" charset="-122"/>
                <a:cs typeface="Times New Roman" panose="02020603050405020304" pitchFamily="2" charset="0"/>
              </a:rPr>
              <a:t>(-43)</a:t>
            </a: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b="1" dirty="0">
                <a:latin typeface="宋体" panose="02010600030101010101" pitchFamily="2" charset="-122"/>
                <a:cs typeface="Times New Roman" panose="02020603050405020304" pitchFamily="2" charset="0"/>
              </a:rPr>
              <a:t>	X = (+43)</a:t>
            </a:r>
            <a:r>
              <a:rPr lang="en-US" altLang="zh-CN" b="1" baseline="-30000" dirty="0">
                <a:latin typeface="宋体" panose="02010600030101010101" pitchFamily="2" charset="-122"/>
                <a:cs typeface="Times New Roman" panose="02020603050405020304" pitchFamily="2" charset="0"/>
              </a:rPr>
              <a:t>10</a:t>
            </a:r>
            <a:r>
              <a:rPr lang="zh-CN" altLang="en-US" b="1" dirty="0">
                <a:latin typeface="宋体" panose="02010600030101010101" pitchFamily="2" charset="-122"/>
              </a:rPr>
              <a:t>，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2" charset="0"/>
              </a:rPr>
              <a:t>[</a:t>
            </a:r>
            <a:r>
              <a:rPr lang="en-US" altLang="zh-CN" b="1" dirty="0">
                <a:latin typeface="宋体" panose="02010600030101010101" pitchFamily="2" charset="-122"/>
                <a:cs typeface="Times New Roman" panose="02020603050405020304" pitchFamily="2" charset="0"/>
              </a:rPr>
              <a:t> X 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2" charset="0"/>
              </a:rPr>
              <a:t>]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2" charset="0"/>
              </a:rPr>
              <a:t>原码 </a:t>
            </a:r>
            <a:r>
              <a:rPr lang="en-US" altLang="zh-CN" b="1" dirty="0">
                <a:latin typeface="宋体" panose="02010600030101010101" pitchFamily="2" charset="-122"/>
                <a:cs typeface="Times New Roman" panose="02020603050405020304" pitchFamily="2" charset="0"/>
              </a:rPr>
              <a:t>= 0 0101011</a:t>
            </a: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b="1" dirty="0">
                <a:latin typeface="宋体" panose="02010600030101010101" pitchFamily="2" charset="-122"/>
                <a:cs typeface="Times New Roman" panose="02020603050405020304" pitchFamily="2" charset="0"/>
              </a:rPr>
              <a:t>	Y = (-43)</a:t>
            </a:r>
            <a:r>
              <a:rPr lang="en-US" altLang="zh-CN" b="1" baseline="-30000" dirty="0">
                <a:latin typeface="宋体" panose="02010600030101010101" pitchFamily="2" charset="-122"/>
                <a:cs typeface="Times New Roman" panose="02020603050405020304" pitchFamily="2" charset="0"/>
              </a:rPr>
              <a:t>10</a:t>
            </a:r>
            <a:r>
              <a:rPr lang="zh-CN" altLang="en-US" b="1" dirty="0">
                <a:latin typeface="宋体" panose="02010600030101010101" pitchFamily="2" charset="-122"/>
              </a:rPr>
              <a:t>，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2" charset="0"/>
              </a:rPr>
              <a:t>[</a:t>
            </a:r>
            <a:r>
              <a:rPr lang="en-US" altLang="zh-CN" b="1" dirty="0">
                <a:latin typeface="宋体" panose="02010600030101010101" pitchFamily="2" charset="-122"/>
                <a:cs typeface="Times New Roman" panose="02020603050405020304" pitchFamily="2" charset="0"/>
              </a:rPr>
              <a:t> Y 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2" charset="0"/>
              </a:rPr>
              <a:t>]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2" charset="0"/>
              </a:rPr>
              <a:t>原码 </a:t>
            </a:r>
            <a:r>
              <a:rPr lang="en-US" altLang="zh-CN" b="1" dirty="0">
                <a:latin typeface="宋体" panose="02010600030101010101" pitchFamily="2" charset="-122"/>
                <a:cs typeface="Times New Roman" panose="02020603050405020304" pitchFamily="2" charset="0"/>
              </a:rPr>
              <a:t>= 1 0101011 </a:t>
            </a: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b="1" dirty="0">
                <a:latin typeface="宋体" panose="02010600030101010101" pitchFamily="2" charset="-122"/>
                <a:cs typeface="Times New Roman" panose="02020603050405020304" pitchFamily="2" charset="0"/>
              </a:rPr>
              <a:t>	X + Y</a:t>
            </a:r>
            <a:r>
              <a:rPr lang="zh-CN" altLang="en-US" b="1" dirty="0">
                <a:latin typeface="宋体" panose="02010600030101010101" pitchFamily="2" charset="-122"/>
              </a:rPr>
              <a:t>：</a:t>
            </a:r>
            <a:endParaRPr lang="zh-CN" altLang="en-US" b="1" dirty="0">
              <a:latin typeface="宋体" panose="02010600030101010101" pitchFamily="2" charset="-122"/>
              <a:cs typeface="Times New Roman" panose="02020603050405020304" pitchFamily="2" charset="0"/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b="1" dirty="0">
                <a:latin typeface="宋体" panose="02010600030101010101" pitchFamily="2" charset="-122"/>
                <a:cs typeface="Times New Roman" panose="02020603050405020304" pitchFamily="2" charset="0"/>
              </a:rPr>
              <a:t>	  </a:t>
            </a:r>
            <a:r>
              <a:rPr lang="en-US" altLang="zh-CN" b="1" dirty="0">
                <a:latin typeface="宋体" panose="02010600030101010101" pitchFamily="2" charset="-122"/>
                <a:cs typeface="Times New Roman" panose="02020603050405020304" pitchFamily="2" charset="0"/>
              </a:rPr>
              <a:t>0 0101011</a:t>
            </a: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b="1" dirty="0">
                <a:latin typeface="宋体" panose="02010600030101010101" pitchFamily="2" charset="-122"/>
                <a:cs typeface="Times New Roman" panose="02020603050405020304" pitchFamily="2" charset="0"/>
              </a:rPr>
              <a:t>     + 1 0101011</a:t>
            </a: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b="1" dirty="0">
                <a:latin typeface="宋体" panose="02010600030101010101" pitchFamily="2" charset="-122"/>
                <a:cs typeface="Times New Roman" panose="02020603050405020304" pitchFamily="2" charset="0"/>
              </a:rPr>
              <a:t>       1 1010110      = -86</a:t>
            </a:r>
          </a:p>
          <a:p>
            <a:pPr marL="0" lvl="0" indent="0" eaLnBrk="1" hangingPunct="1">
              <a:spcBef>
                <a:spcPct val="50000"/>
              </a:spcBef>
              <a:buNone/>
            </a:pPr>
            <a:endParaRPr lang="en-US" altLang="zh-CN" b="1" dirty="0"/>
          </a:p>
        </p:txBody>
      </p:sp>
      <p:sp>
        <p:nvSpPr>
          <p:cNvPr id="53252" name="Line 4"/>
          <p:cNvSpPr/>
          <p:nvPr/>
        </p:nvSpPr>
        <p:spPr>
          <a:xfrm>
            <a:off x="2111375" y="5013325"/>
            <a:ext cx="1524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253" name="Text Box 5"/>
          <p:cNvSpPr txBox="1"/>
          <p:nvPr/>
        </p:nvSpPr>
        <p:spPr>
          <a:xfrm>
            <a:off x="5651500" y="5013325"/>
            <a:ext cx="2592388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b="1" dirty="0"/>
              <a:t>结果不正确！</a:t>
            </a:r>
          </a:p>
        </p:txBody>
      </p:sp>
      <p:sp>
        <p:nvSpPr>
          <p:cNvPr id="53254" name="Rectangle 7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lstStyle/>
          <a:p>
            <a:pPr eaLnBrk="1" hangingPunct="1"/>
            <a:r>
              <a:rPr lang="zh-CN" altLang="en-US" b="1" dirty="0">
                <a:solidFill>
                  <a:schemeClr val="accent2"/>
                </a:solidFill>
                <a:latin typeface="宋体" panose="02010600030101010101" pitchFamily="2" charset="-122"/>
              </a:rPr>
              <a:t>机器数的编码格式</a:t>
            </a:r>
            <a:r>
              <a:rPr lang="en-US" altLang="zh-CN" b="1" dirty="0">
                <a:solidFill>
                  <a:schemeClr val="accent2"/>
                </a:solidFill>
                <a:latin typeface="宋体" panose="02010600030101010101" pitchFamily="2" charset="-122"/>
              </a:rPr>
              <a:t>(2)</a:t>
            </a:r>
            <a:endParaRPr lang="zh-CN" altLang="en-US" b="1" dirty="0"/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灯片编号占位符 4"/>
          <p:cNvSpPr txBox="1">
            <a:spLocks noGrp="1"/>
          </p:cNvSpPr>
          <p:nvPr>
            <p:ph type="sldNum" sz="quarter" idx="11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spcBef>
                <a:spcPct val="50000"/>
              </a:spcBef>
            </a:pPr>
            <a:fld id="{9A0DB2DC-4C9A-4742-B13C-FB6460FD3503}" type="slidenum">
              <a:rPr lang="en-US" altLang="zh-CN" sz="1400" b="1" dirty="0">
                <a:latin typeface="Times New Roman" panose="02020603050405020304" pitchFamily="2" charset="0"/>
              </a:rPr>
              <a:t>8</a:t>
            </a:fld>
            <a:endParaRPr lang="en-US" altLang="zh-CN" sz="1400" b="1" dirty="0">
              <a:latin typeface="Times New Roman" panose="02020603050405020304" pitchFamily="2" charset="0"/>
            </a:endParaRPr>
          </a:p>
        </p:txBody>
      </p:sp>
      <p:sp>
        <p:nvSpPr>
          <p:cNvPr id="55299" name="Rectangle 2"/>
          <p:cNvSpPr>
            <a:spLocks noGrp="1"/>
          </p:cNvSpPr>
          <p:nvPr>
            <p:ph idx="1"/>
          </p:nvPr>
        </p:nvSpPr>
        <p:spPr>
          <a:xfrm>
            <a:off x="685800" y="1319213"/>
            <a:ext cx="7772400" cy="3074987"/>
          </a:xfrm>
        </p:spPr>
        <p:txBody>
          <a:bodyPr vert="horz" wrap="square" lIns="91440" tIns="45720" rIns="91440" bIns="45720" anchor="t"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rgbClr val="FF5050"/>
                </a:solidFill>
              </a:rPr>
              <a:t>变减为加原理</a:t>
            </a:r>
            <a:r>
              <a:rPr lang="zh-CN" altLang="en-US" b="1" dirty="0"/>
              <a:t>－－时钟的例子：</a:t>
            </a:r>
          </a:p>
          <a:p>
            <a:pPr eaLnBrk="1" hangingPunct="1">
              <a:buNone/>
            </a:pPr>
            <a:r>
              <a:rPr lang="zh-CN" altLang="en-US" b="1" dirty="0"/>
              <a:t>    时钟的</a:t>
            </a:r>
            <a:r>
              <a:rPr lang="en-US" altLang="zh-CN" b="1" dirty="0"/>
              <a:t>6</a:t>
            </a:r>
            <a:r>
              <a:rPr lang="zh-CN" altLang="en-US" b="1" dirty="0"/>
              <a:t>点减去</a:t>
            </a:r>
            <a:r>
              <a:rPr lang="en-US" altLang="zh-CN" b="1" dirty="0"/>
              <a:t>8</a:t>
            </a:r>
            <a:r>
              <a:rPr lang="zh-CN" altLang="en-US" b="1" dirty="0"/>
              <a:t>个小时 ，相当于将时钟逆时针调</a:t>
            </a:r>
            <a:r>
              <a:rPr lang="en-US" altLang="zh-CN" b="1" dirty="0"/>
              <a:t>8</a:t>
            </a:r>
            <a:r>
              <a:rPr lang="zh-CN" altLang="en-US" b="1" dirty="0"/>
              <a:t>个小时，结果是</a:t>
            </a:r>
            <a:r>
              <a:rPr lang="en-US" altLang="zh-CN" b="1" dirty="0"/>
              <a:t>10</a:t>
            </a:r>
            <a:r>
              <a:rPr lang="zh-CN" altLang="en-US" b="1" dirty="0"/>
              <a:t>点 ；时钟是圆形的，逆时针调</a:t>
            </a:r>
            <a:r>
              <a:rPr lang="en-US" altLang="zh-CN" b="1" dirty="0"/>
              <a:t>8</a:t>
            </a:r>
            <a:r>
              <a:rPr lang="zh-CN" altLang="en-US" b="1" dirty="0"/>
              <a:t>个小时 </a:t>
            </a:r>
            <a:r>
              <a:rPr lang="en-US" altLang="zh-CN" b="1" dirty="0"/>
              <a:t>= </a:t>
            </a:r>
            <a:r>
              <a:rPr lang="zh-CN" altLang="en-US" b="1" dirty="0"/>
              <a:t>顺时针调</a:t>
            </a:r>
            <a:r>
              <a:rPr lang="en-US" altLang="zh-CN" b="1" dirty="0"/>
              <a:t>4</a:t>
            </a:r>
            <a:r>
              <a:rPr lang="zh-CN" altLang="en-US" b="1" dirty="0"/>
              <a:t>个小时。逆时针调是减法，顺时针调是加法。</a:t>
            </a:r>
          </a:p>
        </p:txBody>
      </p:sp>
      <p:sp>
        <p:nvSpPr>
          <p:cNvPr id="67588" name="Rectangle 4"/>
          <p:cNvSpPr/>
          <p:nvPr/>
        </p:nvSpPr>
        <p:spPr>
          <a:xfrm>
            <a:off x="3635375" y="3573463"/>
            <a:ext cx="5184775" cy="2663825"/>
          </a:xfrm>
          <a:prstGeom prst="rect">
            <a:avLst/>
          </a:prstGeom>
          <a:solidFill>
            <a:srgbClr val="CCFFFF"/>
          </a:solidFill>
          <a:ln w="9525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2075" tIns="46038" rIns="92075" bIns="46038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zh-CN" altLang="en-US" b="1" i="1" dirty="0"/>
              <a:t>结论</a:t>
            </a:r>
            <a:r>
              <a:rPr lang="zh-CN" altLang="en-US" b="1" dirty="0"/>
              <a:t>：在时钟的</a:t>
            </a:r>
            <a:r>
              <a:rPr lang="en-US" altLang="zh-CN" b="1" dirty="0"/>
              <a:t>12</a:t>
            </a:r>
            <a:r>
              <a:rPr lang="zh-CN" altLang="en-US" b="1" dirty="0"/>
              <a:t>进制上，</a:t>
            </a:r>
          </a:p>
          <a:p>
            <a:pPr marL="342900" lvl="0" indent="-342900" eaLnBrk="1" hangingPunct="1"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zh-CN" b="1" dirty="0"/>
              <a:t>6-8 = = 6+4</a:t>
            </a:r>
          </a:p>
          <a:p>
            <a:pPr marL="342900" lvl="0" indent="-342900" eaLnBrk="1" hangingPunct="1"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zh-CN" altLang="en-US" b="1" dirty="0"/>
              <a:t>而</a:t>
            </a:r>
            <a:r>
              <a:rPr lang="en-US" altLang="zh-CN" b="1" dirty="0"/>
              <a:t>-8</a:t>
            </a:r>
            <a:r>
              <a:rPr lang="zh-CN" altLang="en-US" b="1" dirty="0"/>
              <a:t>和</a:t>
            </a:r>
            <a:r>
              <a:rPr lang="en-US" altLang="zh-CN" b="1" dirty="0"/>
              <a:t>+4</a:t>
            </a:r>
            <a:r>
              <a:rPr lang="zh-CN" altLang="en-US" b="1" dirty="0"/>
              <a:t>在模</a:t>
            </a:r>
            <a:r>
              <a:rPr lang="en-US" altLang="zh-CN" b="1" dirty="0"/>
              <a:t>12</a:t>
            </a:r>
            <a:r>
              <a:rPr lang="zh-CN" altLang="en-US" b="1" dirty="0"/>
              <a:t>上互为补数。</a:t>
            </a:r>
          </a:p>
          <a:p>
            <a:pPr marL="342900" lvl="0" indent="-342900" eaLnBrk="1" hangingPunct="1"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zh-CN" altLang="en-US" b="1" i="1" dirty="0"/>
              <a:t>因此 </a:t>
            </a:r>
            <a:r>
              <a:rPr lang="en-US" altLang="zh-CN" b="1" i="1" dirty="0">
                <a:solidFill>
                  <a:srgbClr val="FF5050"/>
                </a:solidFill>
              </a:rPr>
              <a:t>6-8= = 6+(-8</a:t>
            </a:r>
            <a:r>
              <a:rPr lang="zh-CN" altLang="en-US" b="1" i="1" dirty="0">
                <a:solidFill>
                  <a:srgbClr val="FF5050"/>
                </a:solidFill>
              </a:rPr>
              <a:t>的补数</a:t>
            </a:r>
            <a:r>
              <a:rPr lang="en-US" altLang="zh-CN" b="1" i="1" dirty="0">
                <a:solidFill>
                  <a:srgbClr val="FF5050"/>
                </a:solidFill>
              </a:rPr>
              <a:t>)</a:t>
            </a:r>
          </a:p>
          <a:p>
            <a:pPr marL="342900" lvl="0" indent="-342900" eaLnBrk="1" hangingPunct="1"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zh-CN" altLang="en-US" b="1" i="1" dirty="0"/>
              <a:t>从而实现了变减为加</a:t>
            </a:r>
            <a:endParaRPr lang="zh-CN" altLang="en-US" b="1" dirty="0"/>
          </a:p>
        </p:txBody>
      </p:sp>
      <p:sp>
        <p:nvSpPr>
          <p:cNvPr id="55301" name="Rectangle 5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lstStyle/>
          <a:p>
            <a:pPr eaLnBrk="1" hangingPunct="1"/>
            <a:r>
              <a:rPr lang="zh-CN" altLang="en-US" b="1" dirty="0">
                <a:solidFill>
                  <a:schemeClr val="accent2"/>
                </a:solidFill>
                <a:latin typeface="宋体" panose="02010600030101010101" pitchFamily="2" charset="-122"/>
              </a:rPr>
              <a:t>机器数的编码格式</a:t>
            </a:r>
            <a:r>
              <a:rPr lang="en-US" altLang="zh-CN" b="1" dirty="0">
                <a:solidFill>
                  <a:schemeClr val="accent2"/>
                </a:solidFill>
                <a:latin typeface="宋体" panose="02010600030101010101" pitchFamily="2" charset="-122"/>
              </a:rPr>
              <a:t>(3)</a:t>
            </a:r>
            <a:r>
              <a:rPr lang="en-US" altLang="zh-CN" b="1" dirty="0">
                <a:solidFill>
                  <a:srgbClr val="FF5050"/>
                </a:solidFill>
                <a:latin typeface="宋体" panose="02010600030101010101" pitchFamily="2" charset="-122"/>
              </a:rPr>
              <a:t>-</a:t>
            </a:r>
            <a:r>
              <a:rPr lang="zh-CN" altLang="en-US" b="1" dirty="0"/>
              <a:t>补码的由来</a:t>
            </a:r>
          </a:p>
        </p:txBody>
      </p:sp>
      <p:sp>
        <p:nvSpPr>
          <p:cNvPr id="55302" name="Oval 6"/>
          <p:cNvSpPr/>
          <p:nvPr/>
        </p:nvSpPr>
        <p:spPr>
          <a:xfrm>
            <a:off x="1619250" y="3783013"/>
            <a:ext cx="1728788" cy="1655762"/>
          </a:xfrm>
          <a:prstGeom prst="ellipse">
            <a:avLst/>
          </a:pr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>
              <a:latin typeface="Arial" panose="020B0604020202020204" pitchFamily="34" charset="0"/>
            </a:endParaRPr>
          </a:p>
        </p:txBody>
      </p:sp>
      <p:sp>
        <p:nvSpPr>
          <p:cNvPr id="55303" name="Oval 7"/>
          <p:cNvSpPr/>
          <p:nvPr/>
        </p:nvSpPr>
        <p:spPr>
          <a:xfrm>
            <a:off x="2482850" y="4575175"/>
            <a:ext cx="73025" cy="71438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>
              <a:latin typeface="Arial" panose="020B0604020202020204" pitchFamily="34" charset="0"/>
            </a:endParaRPr>
          </a:p>
        </p:txBody>
      </p:sp>
      <p:sp>
        <p:nvSpPr>
          <p:cNvPr id="55304" name="Line 8"/>
          <p:cNvSpPr/>
          <p:nvPr/>
        </p:nvSpPr>
        <p:spPr>
          <a:xfrm>
            <a:off x="2527300" y="4589463"/>
            <a:ext cx="0" cy="8636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305" name="Line 9"/>
          <p:cNvSpPr/>
          <p:nvPr/>
        </p:nvSpPr>
        <p:spPr>
          <a:xfrm flipH="1" flipV="1">
            <a:off x="1763713" y="4143375"/>
            <a:ext cx="720725" cy="4318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306" name="Freeform 10"/>
          <p:cNvSpPr/>
          <p:nvPr/>
        </p:nvSpPr>
        <p:spPr>
          <a:xfrm>
            <a:off x="2339975" y="4383088"/>
            <a:ext cx="384175" cy="407987"/>
          </a:xfrm>
          <a:custGeom>
            <a:avLst/>
            <a:gdLst/>
            <a:ahLst/>
            <a:cxnLst>
              <a:cxn ang="0">
                <a:pos x="229335013" y="647678569"/>
              </a:cxn>
              <a:cxn ang="0">
                <a:pos x="572076263" y="531751523"/>
              </a:cxn>
              <a:cxn ang="0">
                <a:pos x="456149075" y="75604595"/>
              </a:cxn>
              <a:cxn ang="0">
                <a:pos x="0" y="75604595"/>
              </a:cxn>
            </a:cxnLst>
            <a:rect l="0" t="0" r="0" b="0"/>
            <a:pathLst>
              <a:path w="242" h="257">
                <a:moveTo>
                  <a:pt x="91" y="257"/>
                </a:moveTo>
                <a:cubicBezTo>
                  <a:pt x="151" y="253"/>
                  <a:pt x="212" y="249"/>
                  <a:pt x="227" y="211"/>
                </a:cubicBezTo>
                <a:cubicBezTo>
                  <a:pt x="242" y="173"/>
                  <a:pt x="219" y="60"/>
                  <a:pt x="181" y="30"/>
                </a:cubicBezTo>
                <a:cubicBezTo>
                  <a:pt x="143" y="0"/>
                  <a:pt x="71" y="15"/>
                  <a:pt x="0" y="30"/>
                </a:cubicBezTo>
              </a:path>
            </a:pathLst>
          </a:custGeom>
          <a:noFill/>
          <a:ln w="28575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307" name="Freeform 11"/>
          <p:cNvSpPr/>
          <p:nvPr/>
        </p:nvSpPr>
        <p:spPr>
          <a:xfrm>
            <a:off x="2087563" y="4430713"/>
            <a:ext cx="396875" cy="527050"/>
          </a:xfrm>
          <a:custGeom>
            <a:avLst/>
            <a:gdLst/>
            <a:ahLst/>
            <a:cxnLst>
              <a:cxn ang="0">
                <a:pos x="630039063" y="798890325"/>
              </a:cxn>
              <a:cxn ang="0">
                <a:pos x="400705638" y="798890325"/>
              </a:cxn>
              <a:cxn ang="0">
                <a:pos x="57964388" y="572076263"/>
              </a:cxn>
              <a:cxn ang="0">
                <a:pos x="57964388" y="229335013"/>
              </a:cxn>
              <a:cxn ang="0">
                <a:pos x="171370625" y="0"/>
              </a:cxn>
            </a:cxnLst>
            <a:rect l="0" t="0" r="0" b="0"/>
            <a:pathLst>
              <a:path w="250" h="332">
                <a:moveTo>
                  <a:pt x="250" y="317"/>
                </a:moveTo>
                <a:cubicBezTo>
                  <a:pt x="223" y="324"/>
                  <a:pt x="197" y="332"/>
                  <a:pt x="159" y="317"/>
                </a:cubicBezTo>
                <a:cubicBezTo>
                  <a:pt x="121" y="302"/>
                  <a:pt x="46" y="264"/>
                  <a:pt x="23" y="227"/>
                </a:cubicBezTo>
                <a:cubicBezTo>
                  <a:pt x="0" y="190"/>
                  <a:pt x="16" y="129"/>
                  <a:pt x="23" y="91"/>
                </a:cubicBezTo>
                <a:cubicBezTo>
                  <a:pt x="30" y="53"/>
                  <a:pt x="49" y="26"/>
                  <a:pt x="68" y="0"/>
                </a:cubicBezTo>
              </a:path>
            </a:pathLst>
          </a:custGeom>
          <a:noFill/>
          <a:ln w="28575" cap="flat" cmpd="sng">
            <a:solidFill>
              <a:srgbClr val="FF5050">
                <a:alpha val="100000"/>
              </a:srgbClr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308" name="Text Box 12"/>
          <p:cNvSpPr txBox="1"/>
          <p:nvPr/>
        </p:nvSpPr>
        <p:spPr>
          <a:xfrm>
            <a:off x="2266950" y="5438775"/>
            <a:ext cx="792163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6</a:t>
            </a:r>
            <a:r>
              <a:rPr lang="zh-CN" altLang="en-US" sz="1800" b="1" dirty="0">
                <a:latin typeface="Arial" panose="020B0604020202020204" pitchFamily="34" charset="0"/>
              </a:rPr>
              <a:t>点</a:t>
            </a:r>
          </a:p>
        </p:txBody>
      </p:sp>
      <p:sp>
        <p:nvSpPr>
          <p:cNvPr id="55309" name="Text Box 13"/>
          <p:cNvSpPr txBox="1"/>
          <p:nvPr/>
        </p:nvSpPr>
        <p:spPr>
          <a:xfrm>
            <a:off x="1116013" y="3854450"/>
            <a:ext cx="792162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10</a:t>
            </a:r>
            <a:r>
              <a:rPr lang="zh-CN" altLang="en-US" sz="1800" b="1" dirty="0">
                <a:latin typeface="Arial" panose="020B0604020202020204" pitchFamily="34" charset="0"/>
              </a:rPr>
              <a:t>点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7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588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 txBox="1">
            <a:spLocks noGrp="1"/>
          </p:cNvSpPr>
          <p:nvPr>
            <p:ph type="sldNum" sz="quarter" idx="11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spcBef>
                <a:spcPct val="50000"/>
              </a:spcBef>
            </a:pPr>
            <a:fld id="{9A0DB2DC-4C9A-4742-B13C-FB6460FD3503}" type="slidenum">
              <a:rPr lang="en-US" altLang="zh-CN" sz="1400" b="1" dirty="0">
                <a:latin typeface="Times New Roman" panose="02020603050405020304" pitchFamily="2" charset="0"/>
              </a:rPr>
              <a:t>9</a:t>
            </a:fld>
            <a:endParaRPr lang="en-US" altLang="zh-CN" sz="1400" b="1" dirty="0">
              <a:latin typeface="Times New Roman" panose="02020603050405020304" pitchFamily="2" charset="0"/>
            </a:endParaRPr>
          </a:p>
        </p:txBody>
      </p:sp>
      <p:sp>
        <p:nvSpPr>
          <p:cNvPr id="54275" name="Rectangle 2"/>
          <p:cNvSpPr>
            <a:spLocks noGrp="1"/>
          </p:cNvSpPr>
          <p:nvPr>
            <p:ph idx="1"/>
          </p:nvPr>
        </p:nvSpPr>
        <p:spPr>
          <a:xfrm>
            <a:off x="838200" y="1447800"/>
            <a:ext cx="8001000" cy="4800600"/>
          </a:xfrm>
        </p:spPr>
        <p:txBody>
          <a:bodyPr vert="horz" wrap="square" lIns="91440" tIns="45720" rIns="91440" bIns="45720" anchor="t"/>
          <a:lstStyle/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b="1" dirty="0"/>
              <a:t>为了把减法变成加法运算，设计了</a:t>
            </a:r>
            <a:r>
              <a:rPr lang="zh-CN" altLang="en-US" b="1" dirty="0">
                <a:solidFill>
                  <a:srgbClr val="FF5050"/>
                </a:solidFill>
              </a:rPr>
              <a:t>补码</a:t>
            </a:r>
            <a:r>
              <a:rPr lang="zh-CN" altLang="en-US" b="1" dirty="0"/>
              <a:t>。 </a:t>
            </a:r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chemeClr val="accent2"/>
                </a:solidFill>
              </a:rPr>
              <a:t>补数</a:t>
            </a:r>
            <a:r>
              <a:rPr lang="zh-CN" altLang="en-US" b="1" dirty="0"/>
              <a:t>的概念：</a:t>
            </a:r>
            <a:endParaRPr lang="en-US" altLang="zh-CN" b="1" dirty="0"/>
          </a:p>
          <a:p>
            <a:pPr marL="457200" lvl="1" indent="0" eaLnBrk="1" hangingPunct="1">
              <a:buNone/>
            </a:pPr>
            <a:r>
              <a:rPr lang="en-US" altLang="zh-CN" b="1" dirty="0"/>
              <a:t>n</a:t>
            </a:r>
            <a:r>
              <a:rPr lang="zh-CN" altLang="en-US" b="1" dirty="0">
                <a:latin typeface="宋体" panose="02010600030101010101" pitchFamily="2" charset="-122"/>
              </a:rPr>
              <a:t>位二进制数能表示的数字</a:t>
            </a:r>
            <a:r>
              <a:rPr lang="en-US" altLang="zh-CN" b="1" dirty="0">
                <a:latin typeface="宋体" panose="02010600030101010101" pitchFamily="2" charset="-122"/>
              </a:rPr>
              <a:t>,</a:t>
            </a:r>
            <a:r>
              <a:rPr lang="zh-CN" altLang="en-US" b="1" dirty="0">
                <a:latin typeface="宋体" panose="02010600030101010101" pitchFamily="2" charset="-122"/>
              </a:rPr>
              <a:t>都小于</a:t>
            </a:r>
            <a:r>
              <a:rPr lang="en-US" altLang="zh-CN" b="1" dirty="0" err="1"/>
              <a:t>2</a:t>
            </a:r>
            <a:r>
              <a:rPr lang="en-US" altLang="zh-CN" b="1" baseline="30000" dirty="0" err="1"/>
              <a:t>n</a:t>
            </a:r>
            <a:r>
              <a:rPr lang="zh-CN" altLang="en-US" b="1" dirty="0">
                <a:latin typeface="宋体" panose="02010600030101010101" pitchFamily="2" charset="-122"/>
              </a:rPr>
              <a:t>。在计算结果不溢出的前提下，这些数字称为模</a:t>
            </a:r>
            <a:r>
              <a:rPr lang="en-US" altLang="zh-CN" b="1" dirty="0" err="1"/>
              <a:t>2</a:t>
            </a:r>
            <a:r>
              <a:rPr lang="en-US" altLang="zh-CN" b="1" baseline="30000" dirty="0" err="1"/>
              <a:t>n</a:t>
            </a:r>
            <a:r>
              <a:rPr lang="zh-CN" altLang="en-US" b="1" dirty="0">
                <a:latin typeface="宋体" panose="02010600030101010101" pitchFamily="2" charset="-122"/>
              </a:rPr>
              <a:t>的数据。</a:t>
            </a:r>
            <a:endParaRPr lang="zh-CN" altLang="en-US" b="1" dirty="0"/>
          </a:p>
          <a:p>
            <a:pPr eaLnBrk="1" hangingPunct="1">
              <a:buNone/>
            </a:pPr>
            <a:r>
              <a:rPr lang="zh-CN" altLang="en-US" b="1" dirty="0"/>
              <a:t>  设</a:t>
            </a:r>
            <a:r>
              <a:rPr lang="en-US" altLang="zh-CN" b="1" dirty="0"/>
              <a:t>x</a:t>
            </a:r>
            <a:r>
              <a:rPr lang="zh-CN" altLang="en-US" b="1" dirty="0"/>
              <a:t>是模</a:t>
            </a:r>
            <a:r>
              <a:rPr lang="en-US" altLang="zh-CN" b="1" dirty="0" err="1"/>
              <a:t>2</a:t>
            </a:r>
            <a:r>
              <a:rPr lang="en-US" altLang="zh-CN" b="1" baseline="30000" dirty="0" err="1"/>
              <a:t>n</a:t>
            </a:r>
            <a:r>
              <a:rPr lang="en-US" altLang="zh-CN" b="1" baseline="30000" dirty="0"/>
              <a:t> </a:t>
            </a:r>
            <a:r>
              <a:rPr lang="zh-CN" altLang="en-US" b="1" dirty="0"/>
              <a:t>的数，则 </a:t>
            </a:r>
            <a:r>
              <a:rPr lang="en-US" altLang="zh-CN" b="1" dirty="0"/>
              <a:t>|x</a:t>
            </a:r>
            <a:r>
              <a:rPr lang="zh-CN" altLang="en-US" b="1" dirty="0"/>
              <a:t>的补数</a:t>
            </a:r>
            <a:r>
              <a:rPr lang="en-US" altLang="zh-CN" b="1" dirty="0"/>
              <a:t>|</a:t>
            </a:r>
            <a:r>
              <a:rPr lang="zh-CN" altLang="en-US" b="1" dirty="0"/>
              <a:t>＝</a:t>
            </a:r>
            <a:r>
              <a:rPr lang="en-US" altLang="zh-CN" b="1" dirty="0" err="1"/>
              <a:t>2</a:t>
            </a:r>
            <a:r>
              <a:rPr lang="en-US" altLang="zh-CN" b="1" baseline="30000" dirty="0" err="1"/>
              <a:t>n</a:t>
            </a:r>
            <a:r>
              <a:rPr lang="en-US" altLang="zh-CN" b="1" baseline="30000" dirty="0"/>
              <a:t> </a:t>
            </a:r>
            <a:r>
              <a:rPr lang="en-US" altLang="zh-CN" b="1" dirty="0"/>
              <a:t>-|x|</a:t>
            </a:r>
            <a:r>
              <a:rPr lang="zh-CN" altLang="en-US" b="1" dirty="0"/>
              <a:t>，</a:t>
            </a:r>
            <a:r>
              <a:rPr lang="en-US" altLang="zh-CN" b="1" dirty="0"/>
              <a:t>x</a:t>
            </a:r>
            <a:r>
              <a:rPr lang="zh-CN" altLang="en-US" b="1" dirty="0"/>
              <a:t>的补数的正负和</a:t>
            </a:r>
            <a:r>
              <a:rPr lang="en-US" altLang="zh-CN" b="1" dirty="0"/>
              <a:t>x</a:t>
            </a:r>
            <a:r>
              <a:rPr lang="zh-CN" altLang="en-US" b="1" dirty="0"/>
              <a:t>正好相反。</a:t>
            </a:r>
          </a:p>
          <a:p>
            <a:pPr eaLnBrk="1" hangingPunct="1">
              <a:buNone/>
            </a:pPr>
            <a:r>
              <a:rPr lang="zh-CN" altLang="en-US" b="1" i="1" dirty="0"/>
              <a:t>	例如：</a:t>
            </a:r>
            <a:r>
              <a:rPr lang="en-US" altLang="zh-CN" b="1" i="1" dirty="0"/>
              <a:t>x</a:t>
            </a:r>
            <a:r>
              <a:rPr lang="zh-CN" altLang="en-US" b="1" i="1" dirty="0"/>
              <a:t>是模</a:t>
            </a:r>
            <a:r>
              <a:rPr lang="en-US" altLang="zh-CN" b="1" i="1" dirty="0"/>
              <a:t>12</a:t>
            </a:r>
            <a:r>
              <a:rPr lang="zh-CN" altLang="en-US" b="1" i="1" dirty="0"/>
              <a:t>的数，</a:t>
            </a:r>
            <a:r>
              <a:rPr lang="en-US" altLang="zh-CN" b="1" i="1" dirty="0"/>
              <a:t>x</a:t>
            </a:r>
            <a:r>
              <a:rPr lang="zh-CN" altLang="en-US" b="1" i="1" dirty="0"/>
              <a:t>＝</a:t>
            </a:r>
            <a:r>
              <a:rPr lang="en-US" altLang="zh-CN" b="1" i="1" dirty="0"/>
              <a:t>-7</a:t>
            </a:r>
            <a:r>
              <a:rPr lang="zh-CN" altLang="en-US" b="1" i="1" dirty="0"/>
              <a:t>，则</a:t>
            </a:r>
            <a:r>
              <a:rPr lang="en-US" altLang="zh-CN" b="1" i="1" dirty="0"/>
              <a:t>x</a:t>
            </a:r>
            <a:r>
              <a:rPr lang="zh-CN" altLang="en-US" b="1" i="1" dirty="0"/>
              <a:t>的补数是</a:t>
            </a:r>
            <a:r>
              <a:rPr lang="en-US" altLang="zh-CN" b="1" i="1" dirty="0"/>
              <a:t>5</a:t>
            </a:r>
            <a:r>
              <a:rPr lang="zh-CN" altLang="en-US" b="1" i="1" dirty="0"/>
              <a:t>；</a:t>
            </a:r>
          </a:p>
          <a:p>
            <a:pPr eaLnBrk="1" hangingPunct="1">
              <a:buNone/>
            </a:pPr>
            <a:r>
              <a:rPr lang="zh-CN" altLang="en-US" b="1" i="1" dirty="0"/>
              <a:t>       </a:t>
            </a:r>
            <a:r>
              <a:rPr lang="en-US" altLang="zh-CN" b="1" i="1" dirty="0"/>
              <a:t>x</a:t>
            </a:r>
            <a:r>
              <a:rPr lang="zh-CN" altLang="en-US" b="1" i="1" dirty="0"/>
              <a:t>是模</a:t>
            </a:r>
            <a:r>
              <a:rPr lang="en-US" altLang="zh-CN" b="1" i="1" dirty="0"/>
              <a:t>128</a:t>
            </a:r>
            <a:r>
              <a:rPr lang="zh-CN" altLang="en-US" b="1" i="1" dirty="0"/>
              <a:t>的数，</a:t>
            </a:r>
            <a:r>
              <a:rPr lang="en-US" altLang="zh-CN" b="1" i="1" dirty="0"/>
              <a:t>x</a:t>
            </a:r>
            <a:r>
              <a:rPr lang="zh-CN" altLang="en-US" b="1" i="1" dirty="0"/>
              <a:t>＝</a:t>
            </a:r>
            <a:r>
              <a:rPr lang="en-US" altLang="zh-CN" b="1" i="1" dirty="0"/>
              <a:t>-15</a:t>
            </a:r>
            <a:r>
              <a:rPr lang="zh-CN" altLang="en-US" b="1" i="1" dirty="0"/>
              <a:t>，则</a:t>
            </a:r>
            <a:r>
              <a:rPr lang="en-US" altLang="zh-CN" b="1" i="1" dirty="0"/>
              <a:t>x</a:t>
            </a:r>
            <a:r>
              <a:rPr lang="zh-CN" altLang="en-US" b="1" i="1" dirty="0"/>
              <a:t>的补数是         		</a:t>
            </a:r>
            <a:r>
              <a:rPr lang="en-US" altLang="zh-CN" b="1" i="1" dirty="0"/>
              <a:t>113</a:t>
            </a:r>
            <a:r>
              <a:rPr lang="zh-CN" altLang="en-US" b="1" i="1" dirty="0"/>
              <a:t>。</a:t>
            </a:r>
            <a:endParaRPr lang="en-US" altLang="zh-CN" b="1" i="1" dirty="0"/>
          </a:p>
        </p:txBody>
      </p:sp>
      <p:sp>
        <p:nvSpPr>
          <p:cNvPr id="54276" name="Rectangle 4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lstStyle/>
          <a:p>
            <a:pPr eaLnBrk="1" hangingPunct="1"/>
            <a:r>
              <a:rPr lang="zh-CN" altLang="en-US" b="1" dirty="0">
                <a:solidFill>
                  <a:schemeClr val="accent2"/>
                </a:solidFill>
                <a:latin typeface="宋体" panose="02010600030101010101" pitchFamily="2" charset="-122"/>
              </a:rPr>
              <a:t>机器数的编码格式</a:t>
            </a:r>
            <a:r>
              <a:rPr lang="en-US" altLang="zh-CN" b="1" dirty="0">
                <a:solidFill>
                  <a:schemeClr val="accent2"/>
                </a:solidFill>
                <a:latin typeface="宋体" panose="02010600030101010101" pitchFamily="2" charset="-122"/>
              </a:rPr>
              <a:t>(4)</a:t>
            </a:r>
            <a:r>
              <a:rPr lang="en-US" altLang="zh-CN" b="1" dirty="0">
                <a:solidFill>
                  <a:srgbClr val="FF5050"/>
                </a:solidFill>
                <a:latin typeface="宋体" panose="02010600030101010101" pitchFamily="2" charset="-122"/>
              </a:rPr>
              <a:t>-</a:t>
            </a:r>
            <a:r>
              <a:rPr lang="zh-CN" altLang="en-US" b="1" dirty="0"/>
              <a:t>补码的由来</a:t>
            </a: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4"/>
          <p:cNvSpPr txBox="1">
            <a:spLocks noGrp="1"/>
          </p:cNvSpPr>
          <p:nvPr>
            <p:ph type="sldNum" sz="quarter" idx="11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spcBef>
                <a:spcPct val="50000"/>
              </a:spcBef>
            </a:pPr>
            <a:fld id="{9A0DB2DC-4C9A-4742-B13C-FB6460FD3503}" type="slidenum">
              <a:rPr lang="en-US" altLang="zh-CN" sz="1400" b="1" dirty="0">
                <a:latin typeface="Times New Roman" panose="02020603050405020304" pitchFamily="2" charset="0"/>
              </a:rPr>
              <a:t>10</a:t>
            </a:fld>
            <a:endParaRPr lang="en-US" altLang="zh-CN" sz="1400" b="1" dirty="0">
              <a:latin typeface="Times New Roman" panose="02020603050405020304" pitchFamily="2" charset="0"/>
            </a:endParaRPr>
          </a:p>
        </p:txBody>
      </p:sp>
      <p:sp>
        <p:nvSpPr>
          <p:cNvPr id="58371" name="Rectangle 2"/>
          <p:cNvSpPr>
            <a:spLocks noGrp="1"/>
          </p:cNvSpPr>
          <p:nvPr>
            <p:ph idx="1"/>
          </p:nvPr>
        </p:nvSpPr>
        <p:spPr>
          <a:xfrm>
            <a:off x="755650" y="1196975"/>
            <a:ext cx="7772400" cy="4724400"/>
          </a:xfrm>
        </p:spPr>
        <p:txBody>
          <a:bodyPr vert="horz" wrap="square" lIns="92075" tIns="46038" rIns="92075" bIns="46038" anchor="t"/>
          <a:lstStyle/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宋体" panose="02010600030101010101" pitchFamily="2" charset="-122"/>
              </a:rPr>
              <a:t>正数的补码表示与原码相同。</a:t>
            </a:r>
            <a:endParaRPr lang="zh-CN" altLang="en-US" b="1" dirty="0">
              <a:latin typeface="宋体" panose="02010600030101010101" pitchFamily="2" charset="-122"/>
              <a:cs typeface="Times New Roman" panose="02020603050405020304" pitchFamily="2" charset="0"/>
            </a:endParaRPr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宋体" panose="02010600030101010101" pitchFamily="2" charset="-122"/>
              </a:rPr>
              <a:t>负数的补码，是负数的原码除符号位不变之外，按位取反，然后在最低位加</a:t>
            </a:r>
            <a:r>
              <a:rPr lang="en-US" altLang="zh-CN" b="1" dirty="0">
                <a:latin typeface="宋体" panose="02010600030101010101" pitchFamily="2" charset="-122"/>
                <a:cs typeface="Times New Roman" panose="02020603050405020304" pitchFamily="2" charset="0"/>
              </a:rPr>
              <a:t>1</a:t>
            </a:r>
            <a:r>
              <a:rPr lang="zh-CN" altLang="en-US" b="1" dirty="0">
                <a:latin typeface="宋体" panose="02010600030101010101" pitchFamily="2" charset="-122"/>
              </a:rPr>
              <a:t>得到的结果。</a:t>
            </a:r>
            <a:endParaRPr lang="zh-CN" altLang="en-US" b="1" dirty="0">
              <a:latin typeface="宋体" panose="02010600030101010101" pitchFamily="2" charset="-122"/>
              <a:cs typeface="Times New Roman" panose="02020603050405020304" pitchFamily="2" charset="0"/>
            </a:endParaRPr>
          </a:p>
          <a:p>
            <a:pPr eaLnBrk="1" hangingPunct="1"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例如：</a:t>
            </a:r>
            <a:r>
              <a:rPr lang="zh-CN" altLang="en-US" sz="2400" b="1" dirty="0">
                <a:latin typeface="宋体" panose="02010600030101010101" pitchFamily="2" charset="-122"/>
                <a:cs typeface="Times New Roman" panose="02020603050405020304" pitchFamily="2" charset="0"/>
              </a:rPr>
              <a:t> </a:t>
            </a:r>
            <a:r>
              <a:rPr lang="en-US" altLang="zh-CN" sz="2400" b="1" dirty="0">
                <a:latin typeface="宋体" panose="02010600030101010101" pitchFamily="2" charset="-122"/>
                <a:cs typeface="Times New Roman" panose="02020603050405020304" pitchFamily="2" charset="0"/>
              </a:rPr>
              <a:t>X = (-43)</a:t>
            </a:r>
            <a:r>
              <a:rPr lang="en-US" altLang="zh-CN" sz="2400" b="1" baseline="-30000" dirty="0">
                <a:latin typeface="宋体" panose="02010600030101010101" pitchFamily="2" charset="-122"/>
                <a:cs typeface="Times New Roman" panose="02020603050405020304" pitchFamily="2" charset="0"/>
              </a:rPr>
              <a:t>10</a:t>
            </a:r>
            <a:endParaRPr lang="en-US" altLang="zh-CN" sz="2400" b="1" dirty="0">
              <a:latin typeface="宋体" panose="02010600030101010101" pitchFamily="2" charset="-122"/>
              <a:cs typeface="Times New Roman" panose="02020603050405020304" pitchFamily="2" charset="0"/>
            </a:endParaRPr>
          </a:p>
          <a:p>
            <a:pPr eaLnBrk="1" hangingPunct="1"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2" charset="0"/>
              </a:rPr>
              <a:t>      [ </a:t>
            </a:r>
            <a:r>
              <a:rPr lang="en-US" altLang="zh-CN" sz="2400" b="1" dirty="0">
                <a:latin typeface="宋体" panose="02010600030101010101" pitchFamily="2" charset="-122"/>
                <a:cs typeface="Times New Roman" panose="02020603050405020304" pitchFamily="2" charset="0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2" charset="0"/>
              </a:rPr>
              <a:t> ]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2" charset="0"/>
              </a:rPr>
              <a:t>原码 </a:t>
            </a:r>
            <a:r>
              <a:rPr lang="en-US" altLang="zh-CN" sz="2400" b="1" dirty="0">
                <a:latin typeface="宋体" panose="02010600030101010101" pitchFamily="2" charset="-122"/>
                <a:cs typeface="Times New Roman" panose="02020603050405020304" pitchFamily="2" charset="0"/>
              </a:rPr>
              <a:t>= 1 0101011</a:t>
            </a:r>
          </a:p>
          <a:p>
            <a:pPr eaLnBrk="1" hangingPunct="1">
              <a:buNone/>
            </a:pPr>
            <a:r>
              <a:rPr lang="en-US" altLang="zh-CN" sz="2400" b="1" dirty="0">
                <a:latin typeface="宋体" panose="02010600030101010101" pitchFamily="2" charset="-122"/>
                <a:cs typeface="Times New Roman" panose="02020603050405020304" pitchFamily="2" charset="0"/>
              </a:rPr>
              <a:t>	    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2" charset="0"/>
              </a:rPr>
              <a:t>[ </a:t>
            </a:r>
            <a:r>
              <a:rPr lang="en-US" altLang="zh-CN" sz="2400" b="1" dirty="0">
                <a:latin typeface="宋体" panose="02010600030101010101" pitchFamily="2" charset="-122"/>
                <a:cs typeface="Times New Roman" panose="02020603050405020304" pitchFamily="2" charset="0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2" charset="0"/>
              </a:rPr>
              <a:t> ]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2" charset="0"/>
              </a:rPr>
              <a:t>反码 </a:t>
            </a:r>
            <a:r>
              <a:rPr lang="en-US" altLang="zh-CN" sz="2400" b="1" dirty="0">
                <a:latin typeface="宋体" panose="02010600030101010101" pitchFamily="2" charset="-122"/>
                <a:cs typeface="Times New Roman" panose="02020603050405020304" pitchFamily="2" charset="0"/>
              </a:rPr>
              <a:t>= 1 1010100</a:t>
            </a:r>
          </a:p>
          <a:p>
            <a:pPr eaLnBrk="1" hangingPunct="1">
              <a:buNone/>
            </a:pPr>
            <a:r>
              <a:rPr lang="en-US" altLang="zh-CN" sz="2400" b="1" dirty="0">
                <a:latin typeface="宋体" panose="02010600030101010101" pitchFamily="2" charset="-122"/>
                <a:cs typeface="Times New Roman" panose="02020603050405020304" pitchFamily="2" charset="0"/>
              </a:rPr>
              <a:t>	    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2" charset="0"/>
              </a:rPr>
              <a:t>[ </a:t>
            </a:r>
            <a:r>
              <a:rPr lang="en-US" altLang="zh-CN" sz="2400" b="1" dirty="0">
                <a:latin typeface="宋体" panose="02010600030101010101" pitchFamily="2" charset="-122"/>
                <a:cs typeface="Times New Roman" panose="02020603050405020304" pitchFamily="2" charset="0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2" charset="0"/>
              </a:rPr>
              <a:t> ]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2" charset="0"/>
              </a:rPr>
              <a:t>补码 </a:t>
            </a:r>
            <a:r>
              <a:rPr lang="en-US" altLang="zh-CN" sz="2400" b="1" dirty="0">
                <a:latin typeface="宋体" panose="02010600030101010101" pitchFamily="2" charset="-122"/>
                <a:cs typeface="Times New Roman" panose="02020603050405020304" pitchFamily="2" charset="0"/>
              </a:rPr>
              <a:t>= 1 1010101</a:t>
            </a: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  <a:cs typeface="Times New Roman" panose="02020603050405020304" pitchFamily="2" charset="0"/>
              </a:rPr>
              <a:t>例</a:t>
            </a:r>
            <a:r>
              <a:rPr lang="en-US" altLang="zh-CN" sz="2400" b="1" dirty="0">
                <a:latin typeface="宋体" panose="02010600030101010101" pitchFamily="2" charset="-122"/>
                <a:cs typeface="Times New Roman" panose="02020603050405020304" pitchFamily="2" charset="0"/>
              </a:rPr>
              <a:t>3</a:t>
            </a:r>
            <a:r>
              <a:rPr lang="zh-CN" altLang="en-US" sz="2400" b="1" dirty="0">
                <a:latin typeface="宋体" panose="02010600030101010101" pitchFamily="2" charset="-122"/>
                <a:cs typeface="Times New Roman" panose="02020603050405020304" pitchFamily="2" charset="0"/>
              </a:rPr>
              <a:t>：</a:t>
            </a:r>
            <a:r>
              <a:rPr lang="en-US" altLang="zh-CN" sz="2400" b="1" dirty="0">
                <a:latin typeface="宋体" panose="02010600030101010101" pitchFamily="2" charset="-122"/>
                <a:cs typeface="Times New Roman" panose="02020603050405020304" pitchFamily="2" charset="0"/>
              </a:rPr>
              <a:t>43 </a:t>
            </a:r>
            <a:r>
              <a:rPr lang="zh-CN" altLang="en-US" sz="2400" b="1" dirty="0">
                <a:latin typeface="宋体" panose="02010600030101010101" pitchFamily="2" charset="-122"/>
              </a:rPr>
              <a:t>＋</a:t>
            </a:r>
            <a:r>
              <a:rPr lang="zh-CN" altLang="en-US" sz="2400" b="1" dirty="0">
                <a:latin typeface="宋体" panose="02010600030101010101" pitchFamily="2" charset="-122"/>
                <a:cs typeface="Times New Roman" panose="02020603050405020304" pitchFamily="2" charset="0"/>
              </a:rPr>
              <a:t> </a:t>
            </a:r>
            <a:r>
              <a:rPr lang="en-US" altLang="zh-CN" sz="2400" b="1" dirty="0">
                <a:latin typeface="宋体" panose="02010600030101010101" pitchFamily="2" charset="-122"/>
                <a:cs typeface="Times New Roman" panose="02020603050405020304" pitchFamily="2" charset="0"/>
              </a:rPr>
              <a:t>(-43)</a:t>
            </a: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  <a:cs typeface="Times New Roman" panose="02020603050405020304" pitchFamily="2" charset="0"/>
              </a:rPr>
              <a:t>	 </a:t>
            </a:r>
            <a:r>
              <a:rPr lang="en-US" altLang="zh-CN" sz="2400" b="1" dirty="0">
                <a:latin typeface="宋体" panose="02010600030101010101" pitchFamily="2" charset="-122"/>
                <a:cs typeface="Times New Roman" panose="02020603050405020304" pitchFamily="2" charset="0"/>
              </a:rPr>
              <a:t>0 0101011</a:t>
            </a: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latin typeface="宋体" panose="02010600030101010101" pitchFamily="2" charset="-122"/>
                <a:cs typeface="Times New Roman" panose="02020603050405020304" pitchFamily="2" charset="0"/>
              </a:rPr>
              <a:t>     + 1 1010101</a:t>
            </a: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latin typeface="宋体" panose="02010600030101010101" pitchFamily="2" charset="-122"/>
                <a:cs typeface="Times New Roman" panose="02020603050405020304" pitchFamily="2" charset="0"/>
              </a:rPr>
              <a:t>	= </a:t>
            </a:r>
          </a:p>
          <a:p>
            <a:pPr eaLnBrk="1" hangingPunct="1">
              <a:buNone/>
            </a:pPr>
            <a:endParaRPr lang="en-US" altLang="zh-CN" b="1" dirty="0">
              <a:latin typeface="宋体" panose="02010600030101010101" pitchFamily="2" charset="-122"/>
              <a:ea typeface="Times New Roman" panose="02020603050405020304" pitchFamily="2" charset="0"/>
            </a:endParaRPr>
          </a:p>
        </p:txBody>
      </p:sp>
      <p:sp>
        <p:nvSpPr>
          <p:cNvPr id="58372" name="Rectangle 6"/>
          <p:cNvSpPr/>
          <p:nvPr/>
        </p:nvSpPr>
        <p:spPr>
          <a:xfrm>
            <a:off x="0" y="2703513"/>
            <a:ext cx="184150" cy="366712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zh-CN" sz="1800" dirty="0">
              <a:latin typeface="Arial" panose="020B0604020202020204" pitchFamily="34" charset="0"/>
            </a:endParaRPr>
          </a:p>
        </p:txBody>
      </p:sp>
      <p:sp>
        <p:nvSpPr>
          <p:cNvPr id="58373" name="Rectangle 7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lstStyle/>
          <a:p>
            <a:pPr eaLnBrk="1" hangingPunct="1"/>
            <a:r>
              <a:rPr lang="zh-CN" altLang="en-US" b="1" dirty="0">
                <a:solidFill>
                  <a:schemeClr val="accent2"/>
                </a:solidFill>
                <a:latin typeface="宋体" panose="02010600030101010101" pitchFamily="2" charset="-122"/>
              </a:rPr>
              <a:t>机器数的编码格式</a:t>
            </a:r>
            <a:r>
              <a:rPr lang="en-US" altLang="zh-CN" b="1" dirty="0">
                <a:solidFill>
                  <a:schemeClr val="accent2"/>
                </a:solidFill>
                <a:latin typeface="宋体" panose="02010600030101010101" pitchFamily="2" charset="-122"/>
              </a:rPr>
              <a:t>(5)</a:t>
            </a:r>
            <a:r>
              <a:rPr lang="en-US" altLang="zh-CN" b="1" dirty="0">
                <a:solidFill>
                  <a:srgbClr val="FF5050"/>
                </a:solidFill>
                <a:latin typeface="宋体" panose="02010600030101010101" pitchFamily="2" charset="-122"/>
              </a:rPr>
              <a:t>-</a:t>
            </a:r>
            <a:r>
              <a:rPr lang="zh-CN" altLang="en-US" b="1" dirty="0">
                <a:solidFill>
                  <a:srgbClr val="FF5050"/>
                </a:solidFill>
                <a:latin typeface="宋体" panose="02010600030101010101" pitchFamily="2" charset="-122"/>
              </a:rPr>
              <a:t>如何得到</a:t>
            </a:r>
            <a:r>
              <a:rPr lang="zh-CN" altLang="en-US" b="1" dirty="0"/>
              <a:t>补码</a:t>
            </a: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3">
            <a:extLst>
              <a:ext uri="{FF2B5EF4-FFF2-40B4-BE49-F238E27FC236}">
                <a16:creationId xmlns:a16="http://schemas.microsoft.com/office/drawing/2014/main" id="{1A691515-7A2E-FF5D-94F8-FB59D1C0A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0AEA6-0101-42EE-A490-2AC9DC195AD2}" type="slidenum">
              <a:rPr lang="en-US" altLang="zh-CN"/>
              <a:pPr/>
              <a:t>11</a:t>
            </a:fld>
            <a:endParaRPr lang="en-US" altLang="zh-CN"/>
          </a:p>
        </p:txBody>
      </p:sp>
      <p:sp>
        <p:nvSpPr>
          <p:cNvPr id="369666" name="AutoShape 2">
            <a:extLst>
              <a:ext uri="{FF2B5EF4-FFF2-40B4-BE49-F238E27FC236}">
                <a16:creationId xmlns:a16="http://schemas.microsoft.com/office/drawing/2014/main" id="{12044AC8-3431-16D6-5F5F-C4A2557F49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8321" y="2393316"/>
            <a:ext cx="540621" cy="654011"/>
          </a:xfrm>
          <a:prstGeom prst="cube">
            <a:avLst>
              <a:gd name="adj" fmla="val 25000"/>
            </a:avLst>
          </a:prstGeom>
          <a:solidFill>
            <a:schemeClr val="hlink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lIns="91437" tIns="45718" rIns="91437" bIns="45718" anchor="ctr"/>
          <a:lstStyle>
            <a:lvl1pPr defTabSz="7175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358775" defTabSz="7175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717550" defTabSz="7175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074738" defTabSz="7175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433513" defTabSz="7175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90713" defTabSz="7175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347913" defTabSz="7175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805113" defTabSz="7175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262313" defTabSz="7175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1" lang="en-US" altLang="zh-CN" sz="2423">
                <a:latin typeface="Times New Roman" panose="02020603050405020304" pitchFamily="18" charset="0"/>
              </a:rPr>
              <a:t>1</a:t>
            </a:r>
          </a:p>
        </p:txBody>
      </p:sp>
      <p:grpSp>
        <p:nvGrpSpPr>
          <p:cNvPr id="369667" name="Group 3">
            <a:extLst>
              <a:ext uri="{FF2B5EF4-FFF2-40B4-BE49-F238E27FC236}">
                <a16:creationId xmlns:a16="http://schemas.microsoft.com/office/drawing/2014/main" id="{46E1C1D3-36EE-0EB3-0033-DD79B4EF4E56}"/>
              </a:ext>
            </a:extLst>
          </p:cNvPr>
          <p:cNvGrpSpPr>
            <a:grpSpLocks/>
          </p:cNvGrpSpPr>
          <p:nvPr/>
        </p:nvGrpSpPr>
        <p:grpSpPr bwMode="auto">
          <a:xfrm>
            <a:off x="4448488" y="2393316"/>
            <a:ext cx="2715257" cy="654011"/>
            <a:chOff x="3312" y="1248"/>
            <a:chExt cx="1536" cy="576"/>
          </a:xfrm>
        </p:grpSpPr>
        <p:sp>
          <p:nvSpPr>
            <p:cNvPr id="369668" name="AutoShape 4">
              <a:extLst>
                <a:ext uri="{FF2B5EF4-FFF2-40B4-BE49-F238E27FC236}">
                  <a16:creationId xmlns:a16="http://schemas.microsoft.com/office/drawing/2014/main" id="{3E43A925-64CC-1EAE-B00B-7CD0E8516A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2" y="1248"/>
              <a:ext cx="305" cy="576"/>
            </a:xfrm>
            <a:prstGeom prst="cube">
              <a:avLst>
                <a:gd name="adj" fmla="val 25000"/>
              </a:avLst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lIns="91437" tIns="45718" rIns="91437" bIns="45718" anchor="ctr"/>
            <a:lstStyle>
              <a:lvl1pPr defTabSz="7175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358775" defTabSz="7175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717550" defTabSz="7175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074738" defTabSz="7175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1433513" defTabSz="7175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1890713" defTabSz="71755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347913" defTabSz="71755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2805113" defTabSz="71755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262313" defTabSz="71755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en-US" altLang="zh-CN" sz="2423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369669" name="AutoShape 5">
              <a:extLst>
                <a:ext uri="{FF2B5EF4-FFF2-40B4-BE49-F238E27FC236}">
                  <a16:creationId xmlns:a16="http://schemas.microsoft.com/office/drawing/2014/main" id="{71217774-D2D4-6CF7-5756-5E82DC5E1B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7" y="1248"/>
              <a:ext cx="305" cy="576"/>
            </a:xfrm>
            <a:prstGeom prst="cube">
              <a:avLst>
                <a:gd name="adj" fmla="val 25000"/>
              </a:avLst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lIns="91437" tIns="45718" rIns="91437" bIns="45718" anchor="ctr"/>
            <a:lstStyle>
              <a:lvl1pPr defTabSz="7175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358775" defTabSz="7175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717550" defTabSz="7175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074738" defTabSz="7175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1433513" defTabSz="7175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1890713" defTabSz="71755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347913" defTabSz="71755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2805113" defTabSz="71755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262313" defTabSz="71755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en-US" altLang="zh-CN" sz="2423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69670" name="AutoShape 6">
              <a:extLst>
                <a:ext uri="{FF2B5EF4-FFF2-40B4-BE49-F238E27FC236}">
                  <a16:creationId xmlns:a16="http://schemas.microsoft.com/office/drawing/2014/main" id="{29C44E46-77F9-06AB-56B5-8712D9AEA6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0" y="1248"/>
              <a:ext cx="305" cy="576"/>
            </a:xfrm>
            <a:prstGeom prst="cube">
              <a:avLst>
                <a:gd name="adj" fmla="val 25000"/>
              </a:avLst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lIns="91437" tIns="45718" rIns="91437" bIns="45718" anchor="ctr"/>
            <a:lstStyle>
              <a:lvl1pPr defTabSz="7175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358775" defTabSz="7175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717550" defTabSz="7175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074738" defTabSz="7175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1433513" defTabSz="7175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1890713" defTabSz="71755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347913" defTabSz="71755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2805113" defTabSz="71755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262313" defTabSz="71755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en-US" altLang="zh-CN" sz="2423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69671" name="AutoShape 7">
              <a:extLst>
                <a:ext uri="{FF2B5EF4-FFF2-40B4-BE49-F238E27FC236}">
                  <a16:creationId xmlns:a16="http://schemas.microsoft.com/office/drawing/2014/main" id="{A03E591F-F801-42F3-61DE-148771D931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3" y="1248"/>
              <a:ext cx="305" cy="576"/>
            </a:xfrm>
            <a:prstGeom prst="cube">
              <a:avLst>
                <a:gd name="adj" fmla="val 25000"/>
              </a:avLst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lIns="91437" tIns="45718" rIns="91437" bIns="45718" anchor="ctr"/>
            <a:lstStyle>
              <a:lvl1pPr defTabSz="7175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358775" defTabSz="7175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717550" defTabSz="7175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074738" defTabSz="7175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1433513" defTabSz="7175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1890713" defTabSz="71755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347913" defTabSz="71755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2805113" defTabSz="71755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262313" defTabSz="71755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en-US" altLang="zh-CN" sz="2423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369672" name="AutoShape 8">
              <a:extLst>
                <a:ext uri="{FF2B5EF4-FFF2-40B4-BE49-F238E27FC236}">
                  <a16:creationId xmlns:a16="http://schemas.microsoft.com/office/drawing/2014/main" id="{107FA716-D3D1-922C-D46F-9E074019B3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36" y="1248"/>
              <a:ext cx="305" cy="576"/>
            </a:xfrm>
            <a:prstGeom prst="cube">
              <a:avLst>
                <a:gd name="adj" fmla="val 25000"/>
              </a:avLst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lIns="91437" tIns="45718" rIns="91437" bIns="45718" anchor="ctr"/>
            <a:lstStyle>
              <a:lvl1pPr defTabSz="7175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358775" defTabSz="7175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717550" defTabSz="7175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074738" defTabSz="7175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1433513" defTabSz="7175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1890713" defTabSz="71755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347913" defTabSz="71755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2805113" defTabSz="71755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262313" defTabSz="71755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en-US" altLang="zh-CN" sz="2423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369673" name="AutoShape 9">
              <a:extLst>
                <a:ext uri="{FF2B5EF4-FFF2-40B4-BE49-F238E27FC236}">
                  <a16:creationId xmlns:a16="http://schemas.microsoft.com/office/drawing/2014/main" id="{782886B0-1A18-2464-F063-3DAB0DEC38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0" y="1248"/>
              <a:ext cx="305" cy="576"/>
            </a:xfrm>
            <a:prstGeom prst="cube">
              <a:avLst>
                <a:gd name="adj" fmla="val 25000"/>
              </a:avLst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lIns="91437" tIns="45718" rIns="91437" bIns="45718" anchor="ctr"/>
            <a:lstStyle>
              <a:lvl1pPr defTabSz="7175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358775" defTabSz="7175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717550" defTabSz="7175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074738" defTabSz="7175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1433513" defTabSz="7175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1890713" defTabSz="71755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347913" defTabSz="71755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2805113" defTabSz="71755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262313" defTabSz="71755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en-US" altLang="zh-CN" sz="2423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69674" name="AutoShape 10">
              <a:extLst>
                <a:ext uri="{FF2B5EF4-FFF2-40B4-BE49-F238E27FC236}">
                  <a16:creationId xmlns:a16="http://schemas.microsoft.com/office/drawing/2014/main" id="{352BDB9F-607E-48DB-2D2C-48E5288C56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3" y="1248"/>
              <a:ext cx="305" cy="576"/>
            </a:xfrm>
            <a:prstGeom prst="cube">
              <a:avLst>
                <a:gd name="adj" fmla="val 25000"/>
              </a:avLst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lIns="91437" tIns="45718" rIns="91437" bIns="45718" anchor="ctr"/>
            <a:lstStyle>
              <a:lvl1pPr defTabSz="7175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358775" defTabSz="7175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717550" defTabSz="7175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074738" defTabSz="7175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1433513" defTabSz="7175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1890713" defTabSz="71755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347913" defTabSz="71755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2805113" defTabSz="71755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262313" defTabSz="71755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en-US" altLang="zh-CN" sz="2423">
                  <a:latin typeface="Times New Roman" panose="02020603050405020304" pitchFamily="18" charset="0"/>
                </a:rPr>
                <a:t>0</a:t>
              </a:r>
            </a:p>
          </p:txBody>
        </p:sp>
      </p:grpSp>
      <p:grpSp>
        <p:nvGrpSpPr>
          <p:cNvPr id="369675" name="Group 11">
            <a:extLst>
              <a:ext uri="{FF2B5EF4-FFF2-40B4-BE49-F238E27FC236}">
                <a16:creationId xmlns:a16="http://schemas.microsoft.com/office/drawing/2014/main" id="{D79F4937-4821-C15D-D88B-90B6B7F17750}"/>
              </a:ext>
            </a:extLst>
          </p:cNvPr>
          <p:cNvGrpSpPr>
            <a:grpSpLocks/>
          </p:cNvGrpSpPr>
          <p:nvPr/>
        </p:nvGrpSpPr>
        <p:grpSpPr bwMode="auto">
          <a:xfrm>
            <a:off x="4108322" y="1480130"/>
            <a:ext cx="3055424" cy="654010"/>
            <a:chOff x="3230" y="1296"/>
            <a:chExt cx="1728" cy="576"/>
          </a:xfrm>
        </p:grpSpPr>
        <p:sp>
          <p:nvSpPr>
            <p:cNvPr id="369676" name="AutoShape 12">
              <a:extLst>
                <a:ext uri="{FF2B5EF4-FFF2-40B4-BE49-F238E27FC236}">
                  <a16:creationId xmlns:a16="http://schemas.microsoft.com/office/drawing/2014/main" id="{E192203B-2503-2F1E-D1FA-8316EDDF93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0" y="1296"/>
              <a:ext cx="305" cy="576"/>
            </a:xfrm>
            <a:prstGeom prst="cube">
              <a:avLst>
                <a:gd name="adj" fmla="val 25000"/>
              </a:avLst>
            </a:prstGeom>
            <a:solidFill>
              <a:schemeClr val="hlink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lIns="91437" tIns="45718" rIns="91437" bIns="45718" anchor="ctr"/>
            <a:lstStyle>
              <a:lvl1pPr defTabSz="7175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358775" defTabSz="7175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717550" defTabSz="7175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074738" defTabSz="7175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1433513" defTabSz="7175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1890713" defTabSz="71755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347913" defTabSz="71755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2805113" defTabSz="71755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262313" defTabSz="71755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en-US" altLang="zh-CN" sz="2423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69677" name="AutoShape 13">
              <a:extLst>
                <a:ext uri="{FF2B5EF4-FFF2-40B4-BE49-F238E27FC236}">
                  <a16:creationId xmlns:a16="http://schemas.microsoft.com/office/drawing/2014/main" id="{9E78977D-E198-A170-EA83-008017EDC9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2" y="1296"/>
              <a:ext cx="305" cy="576"/>
            </a:xfrm>
            <a:prstGeom prst="cube">
              <a:avLst>
                <a:gd name="adj" fmla="val 25000"/>
              </a:avLst>
            </a:prstGeom>
            <a:solidFill>
              <a:schemeClr val="hlink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lIns="91437" tIns="45718" rIns="91437" bIns="45718" anchor="ctr"/>
            <a:lstStyle>
              <a:lvl1pPr defTabSz="7175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358775" defTabSz="7175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717550" defTabSz="7175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074738" defTabSz="7175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1433513" defTabSz="7175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1890713" defTabSz="71755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347913" defTabSz="71755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2805113" defTabSz="71755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262313" defTabSz="71755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en-US" altLang="zh-CN" sz="2423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69678" name="AutoShape 14">
              <a:extLst>
                <a:ext uri="{FF2B5EF4-FFF2-40B4-BE49-F238E27FC236}">
                  <a16:creationId xmlns:a16="http://schemas.microsoft.com/office/drawing/2014/main" id="{29B060CE-FFFC-D106-4084-673F01B3E2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7" y="1296"/>
              <a:ext cx="305" cy="576"/>
            </a:xfrm>
            <a:prstGeom prst="cube">
              <a:avLst>
                <a:gd name="adj" fmla="val 25000"/>
              </a:avLst>
            </a:prstGeom>
            <a:solidFill>
              <a:schemeClr val="hlink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lIns="91437" tIns="45718" rIns="91437" bIns="45718" anchor="ctr"/>
            <a:lstStyle>
              <a:lvl1pPr defTabSz="7175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358775" defTabSz="7175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717550" defTabSz="7175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074738" defTabSz="7175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1433513" defTabSz="7175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1890713" defTabSz="71755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347913" defTabSz="71755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2805113" defTabSz="71755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262313" defTabSz="71755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en-US" altLang="zh-CN" sz="2423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369679" name="AutoShape 15">
              <a:extLst>
                <a:ext uri="{FF2B5EF4-FFF2-40B4-BE49-F238E27FC236}">
                  <a16:creationId xmlns:a16="http://schemas.microsoft.com/office/drawing/2014/main" id="{27E6433C-7D90-2FF1-E3D9-8154A2A135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1296"/>
              <a:ext cx="305" cy="576"/>
            </a:xfrm>
            <a:prstGeom prst="cube">
              <a:avLst>
                <a:gd name="adj" fmla="val 25000"/>
              </a:avLst>
            </a:prstGeom>
            <a:solidFill>
              <a:schemeClr val="hlink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lIns="91437" tIns="45718" rIns="91437" bIns="45718" anchor="ctr"/>
            <a:lstStyle>
              <a:lvl1pPr defTabSz="7175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358775" defTabSz="7175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717550" defTabSz="7175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074738" defTabSz="7175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1433513" defTabSz="7175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1890713" defTabSz="71755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347913" defTabSz="71755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2805113" defTabSz="71755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262313" defTabSz="71755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en-US" altLang="zh-CN" sz="2423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369680" name="AutoShape 16">
              <a:extLst>
                <a:ext uri="{FF2B5EF4-FFF2-40B4-BE49-F238E27FC236}">
                  <a16:creationId xmlns:a16="http://schemas.microsoft.com/office/drawing/2014/main" id="{357AC007-575E-6F03-A62B-394D17ECB0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43" y="1296"/>
              <a:ext cx="305" cy="576"/>
            </a:xfrm>
            <a:prstGeom prst="cube">
              <a:avLst>
                <a:gd name="adj" fmla="val 25000"/>
              </a:avLst>
            </a:prstGeom>
            <a:solidFill>
              <a:schemeClr val="hlink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lIns="91437" tIns="45718" rIns="91437" bIns="45718" anchor="ctr"/>
            <a:lstStyle>
              <a:lvl1pPr defTabSz="7175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358775" defTabSz="7175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717550" defTabSz="7175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074738" defTabSz="7175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1433513" defTabSz="7175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1890713" defTabSz="71755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347913" defTabSz="71755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2805113" defTabSz="71755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262313" defTabSz="71755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en-US" altLang="zh-CN" sz="2423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69681" name="AutoShape 17">
              <a:extLst>
                <a:ext uri="{FF2B5EF4-FFF2-40B4-BE49-F238E27FC236}">
                  <a16:creationId xmlns:a16="http://schemas.microsoft.com/office/drawing/2014/main" id="{C0D95C01-B295-A4FB-D028-BA421BCB33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6" y="1296"/>
              <a:ext cx="305" cy="576"/>
            </a:xfrm>
            <a:prstGeom prst="cube">
              <a:avLst>
                <a:gd name="adj" fmla="val 25000"/>
              </a:avLst>
            </a:prstGeom>
            <a:solidFill>
              <a:schemeClr val="hlink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lIns="91437" tIns="45718" rIns="91437" bIns="45718" anchor="ctr"/>
            <a:lstStyle>
              <a:lvl1pPr defTabSz="7175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358775" defTabSz="7175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717550" defTabSz="7175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074738" defTabSz="7175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1433513" defTabSz="7175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1890713" defTabSz="71755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347913" defTabSz="71755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2805113" defTabSz="71755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262313" defTabSz="71755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en-US" altLang="zh-CN" sz="2423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69682" name="AutoShape 18">
              <a:extLst>
                <a:ext uri="{FF2B5EF4-FFF2-40B4-BE49-F238E27FC236}">
                  <a16:creationId xmlns:a16="http://schemas.microsoft.com/office/drawing/2014/main" id="{F682F7D1-5674-900E-AA67-097E9B999D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0" y="1296"/>
              <a:ext cx="305" cy="576"/>
            </a:xfrm>
            <a:prstGeom prst="cube">
              <a:avLst>
                <a:gd name="adj" fmla="val 25000"/>
              </a:avLst>
            </a:prstGeom>
            <a:solidFill>
              <a:schemeClr val="hlink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lIns="91437" tIns="45718" rIns="91437" bIns="45718" anchor="ctr"/>
            <a:lstStyle>
              <a:lvl1pPr defTabSz="7175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358775" defTabSz="7175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717550" defTabSz="7175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074738" defTabSz="7175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1433513" defTabSz="7175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1890713" defTabSz="71755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347913" defTabSz="71755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2805113" defTabSz="71755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262313" defTabSz="71755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en-US" altLang="zh-CN" sz="2423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369683" name="AutoShape 19">
              <a:extLst>
                <a:ext uri="{FF2B5EF4-FFF2-40B4-BE49-F238E27FC236}">
                  <a16:creationId xmlns:a16="http://schemas.microsoft.com/office/drawing/2014/main" id="{E6110540-38B6-A7C3-C7A5-1DEDA4175C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3" y="1296"/>
              <a:ext cx="305" cy="576"/>
            </a:xfrm>
            <a:prstGeom prst="cube">
              <a:avLst>
                <a:gd name="adj" fmla="val 25000"/>
              </a:avLst>
            </a:prstGeom>
            <a:solidFill>
              <a:schemeClr val="hlink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lIns="91437" tIns="45718" rIns="91437" bIns="45718" anchor="ctr"/>
            <a:lstStyle>
              <a:lvl1pPr defTabSz="7175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358775" defTabSz="7175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717550" defTabSz="7175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074738" defTabSz="7175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1433513" defTabSz="7175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1890713" defTabSz="71755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347913" defTabSz="71755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2805113" defTabSz="71755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262313" defTabSz="71755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en-US" altLang="zh-CN" sz="2423">
                  <a:latin typeface="Times New Roman" panose="02020603050405020304" pitchFamily="18" charset="0"/>
                </a:rPr>
                <a:t>1</a:t>
              </a:r>
            </a:p>
          </p:txBody>
        </p:sp>
      </p:grpSp>
      <p:grpSp>
        <p:nvGrpSpPr>
          <p:cNvPr id="369684" name="Group 20">
            <a:extLst>
              <a:ext uri="{FF2B5EF4-FFF2-40B4-BE49-F238E27FC236}">
                <a16:creationId xmlns:a16="http://schemas.microsoft.com/office/drawing/2014/main" id="{F5DAD82F-25E9-BD70-4ED4-CA8B665529E0}"/>
              </a:ext>
            </a:extLst>
          </p:cNvPr>
          <p:cNvGrpSpPr>
            <a:grpSpLocks/>
          </p:cNvGrpSpPr>
          <p:nvPr/>
        </p:nvGrpSpPr>
        <p:grpSpPr bwMode="auto">
          <a:xfrm>
            <a:off x="4108321" y="3233608"/>
            <a:ext cx="2695009" cy="651986"/>
            <a:chOff x="2588" y="2037"/>
            <a:chExt cx="1698" cy="411"/>
          </a:xfrm>
        </p:grpSpPr>
        <p:sp>
          <p:nvSpPr>
            <p:cNvPr id="369685" name="AutoShape 21">
              <a:extLst>
                <a:ext uri="{FF2B5EF4-FFF2-40B4-BE49-F238E27FC236}">
                  <a16:creationId xmlns:a16="http://schemas.microsoft.com/office/drawing/2014/main" id="{CD618A94-7A6C-C5FF-22AA-F30B84F132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8" y="2037"/>
              <a:ext cx="340" cy="411"/>
            </a:xfrm>
            <a:prstGeom prst="cube">
              <a:avLst>
                <a:gd name="adj" fmla="val 25000"/>
              </a:avLst>
            </a:prstGeom>
            <a:solidFill>
              <a:schemeClr val="hlink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lIns="91437" tIns="45718" rIns="91437" bIns="45718" anchor="ctr"/>
            <a:lstStyle>
              <a:lvl1pPr defTabSz="7175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358775" defTabSz="7175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717550" defTabSz="7175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074738" defTabSz="7175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1433513" defTabSz="7175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1890713" defTabSz="71755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347913" defTabSz="71755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2805113" defTabSz="71755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262313" defTabSz="71755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en-US" altLang="zh-CN" sz="2423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69686" name="AutoShape 22">
              <a:extLst>
                <a:ext uri="{FF2B5EF4-FFF2-40B4-BE49-F238E27FC236}">
                  <a16:creationId xmlns:a16="http://schemas.microsoft.com/office/drawing/2014/main" id="{4E4B7430-F2C7-9151-E694-0265E73210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02" y="2037"/>
              <a:ext cx="339" cy="411"/>
            </a:xfrm>
            <a:prstGeom prst="cube">
              <a:avLst>
                <a:gd name="adj" fmla="val 25000"/>
              </a:avLst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lIns="91437" tIns="45718" rIns="91437" bIns="45718" anchor="ctr"/>
            <a:lstStyle>
              <a:lvl1pPr defTabSz="7175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358775" defTabSz="7175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717550" defTabSz="7175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074738" defTabSz="7175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1433513" defTabSz="7175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1890713" defTabSz="71755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347913" defTabSz="71755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2805113" defTabSz="71755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262313" defTabSz="71755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en-US" altLang="zh-CN" sz="2423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369687" name="AutoShape 23">
              <a:extLst>
                <a:ext uri="{FF2B5EF4-FFF2-40B4-BE49-F238E27FC236}">
                  <a16:creationId xmlns:a16="http://schemas.microsoft.com/office/drawing/2014/main" id="{9771705C-9D65-625E-2425-1C4CB781A7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1" y="2037"/>
              <a:ext cx="340" cy="411"/>
            </a:xfrm>
            <a:prstGeom prst="cube">
              <a:avLst>
                <a:gd name="adj" fmla="val 25000"/>
              </a:avLst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lIns="91437" tIns="45718" rIns="91437" bIns="45718" anchor="ctr"/>
            <a:lstStyle>
              <a:lvl1pPr defTabSz="7175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358775" defTabSz="7175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717550" defTabSz="7175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074738" defTabSz="7175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1433513" defTabSz="7175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1890713" defTabSz="71755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347913" defTabSz="71755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2805113" defTabSz="71755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262313" defTabSz="71755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en-US" altLang="zh-CN" sz="2423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69688" name="AutoShape 24">
              <a:extLst>
                <a:ext uri="{FF2B5EF4-FFF2-40B4-BE49-F238E27FC236}">
                  <a16:creationId xmlns:a16="http://schemas.microsoft.com/office/drawing/2014/main" id="{164EA4BC-1B3A-8F03-2730-C0514DC3D0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7" y="2037"/>
              <a:ext cx="340" cy="411"/>
            </a:xfrm>
            <a:prstGeom prst="cube">
              <a:avLst>
                <a:gd name="adj" fmla="val 25000"/>
              </a:avLst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lIns="91437" tIns="45718" rIns="91437" bIns="45718" anchor="ctr"/>
            <a:lstStyle>
              <a:lvl1pPr defTabSz="7175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358775" defTabSz="7175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717550" defTabSz="7175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074738" defTabSz="7175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1433513" defTabSz="7175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1890713" defTabSz="71755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347913" defTabSz="71755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2805113" defTabSz="71755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262313" defTabSz="71755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en-US" altLang="zh-CN" sz="2423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69689" name="AutoShape 25">
              <a:extLst>
                <a:ext uri="{FF2B5EF4-FFF2-40B4-BE49-F238E27FC236}">
                  <a16:creationId xmlns:a16="http://schemas.microsoft.com/office/drawing/2014/main" id="{72D747B5-BB7E-8E32-E933-5B776451ED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93" y="2037"/>
              <a:ext cx="340" cy="411"/>
            </a:xfrm>
            <a:prstGeom prst="cube">
              <a:avLst>
                <a:gd name="adj" fmla="val 25000"/>
              </a:avLst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lIns="91437" tIns="45718" rIns="91437" bIns="45718" anchor="ctr"/>
            <a:lstStyle>
              <a:lvl1pPr defTabSz="7175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358775" defTabSz="7175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717550" defTabSz="7175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074738" defTabSz="7175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1433513" defTabSz="7175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1890713" defTabSz="71755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347913" defTabSz="71755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2805113" defTabSz="71755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262313" defTabSz="71755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en-US" altLang="zh-CN" sz="2423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369690" name="AutoShape 26">
              <a:extLst>
                <a:ext uri="{FF2B5EF4-FFF2-40B4-BE49-F238E27FC236}">
                  <a16:creationId xmlns:a16="http://schemas.microsoft.com/office/drawing/2014/main" id="{61FC598C-771B-F91B-3090-9E6614F10F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9" y="2037"/>
              <a:ext cx="340" cy="411"/>
            </a:xfrm>
            <a:prstGeom prst="cube">
              <a:avLst>
                <a:gd name="adj" fmla="val 25000"/>
              </a:avLst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lIns="91437" tIns="45718" rIns="91437" bIns="45718" anchor="ctr"/>
            <a:lstStyle>
              <a:lvl1pPr defTabSz="7175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358775" defTabSz="7175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717550" defTabSz="7175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074738" defTabSz="7175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1433513" defTabSz="7175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1890713" defTabSz="71755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347913" defTabSz="71755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2805113" defTabSz="71755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262313" defTabSz="71755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en-US" altLang="zh-CN" sz="2423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369691" name="AutoShape 27">
              <a:extLst>
                <a:ext uri="{FF2B5EF4-FFF2-40B4-BE49-F238E27FC236}">
                  <a16:creationId xmlns:a16="http://schemas.microsoft.com/office/drawing/2014/main" id="{830E0B9B-2389-0E7A-EF0F-2CAC75F4D0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6" y="2037"/>
              <a:ext cx="340" cy="411"/>
            </a:xfrm>
            <a:prstGeom prst="cube">
              <a:avLst>
                <a:gd name="adj" fmla="val 25000"/>
              </a:avLst>
            </a:prstGeom>
            <a:solidFill>
              <a:srgbClr val="FFFF0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lIns="91437" tIns="45718" rIns="91437" bIns="45718" anchor="ctr"/>
            <a:lstStyle>
              <a:lvl1pPr defTabSz="7175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358775" defTabSz="7175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717550" defTabSz="7175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074738" defTabSz="7175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1433513" defTabSz="7175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1890713" defTabSz="71755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347913" defTabSz="71755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2805113" defTabSz="71755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262313" defTabSz="71755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en-US" altLang="zh-CN" sz="2423">
                  <a:latin typeface="Times New Roman" panose="02020603050405020304" pitchFamily="18" charset="0"/>
                </a:rPr>
                <a:t>1</a:t>
              </a:r>
            </a:p>
          </p:txBody>
        </p:sp>
      </p:grpSp>
      <p:sp>
        <p:nvSpPr>
          <p:cNvPr id="369692" name="AutoShape 28">
            <a:extLst>
              <a:ext uri="{FF2B5EF4-FFF2-40B4-BE49-F238E27FC236}">
                <a16:creationId xmlns:a16="http://schemas.microsoft.com/office/drawing/2014/main" id="{C9DF7DE4-3D69-5BA6-F677-C2DA303770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3124" y="3233608"/>
            <a:ext cx="540621" cy="651986"/>
          </a:xfrm>
          <a:prstGeom prst="cube">
            <a:avLst>
              <a:gd name="adj" fmla="val 25000"/>
            </a:avLst>
          </a:prstGeom>
          <a:solidFill>
            <a:srgbClr val="33CC33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lIns="91437" tIns="45718" rIns="91437" bIns="45718" anchor="ctr"/>
          <a:lstStyle>
            <a:lvl1pPr defTabSz="7175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358775" defTabSz="7175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717550" defTabSz="7175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074738" defTabSz="7175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433513" defTabSz="7175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90713" defTabSz="7175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347913" defTabSz="7175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805113" defTabSz="7175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262313" defTabSz="7175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1" lang="en-US" altLang="zh-CN" sz="2423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69693" name="Line 29">
            <a:extLst>
              <a:ext uri="{FF2B5EF4-FFF2-40B4-BE49-F238E27FC236}">
                <a16:creationId xmlns:a16="http://schemas.microsoft.com/office/drawing/2014/main" id="{CF2D0622-82B2-FF1A-1209-5A25B06DAF26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3733" y="2743606"/>
            <a:ext cx="28144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9694" name="Line 30">
            <a:extLst>
              <a:ext uri="{FF2B5EF4-FFF2-40B4-BE49-F238E27FC236}">
                <a16:creationId xmlns:a16="http://schemas.microsoft.com/office/drawing/2014/main" id="{A4F8CE5C-3443-72D6-CF1D-D50C66A11C6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33733" y="3565675"/>
            <a:ext cx="291571" cy="1619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9696" name="Rectangle 32">
            <a:extLst>
              <a:ext uri="{FF2B5EF4-FFF2-40B4-BE49-F238E27FC236}">
                <a16:creationId xmlns:a16="http://schemas.microsoft.com/office/drawing/2014/main" id="{3D21FBF6-2368-39F6-2F0D-A5E0BE0410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1540" y="367565"/>
            <a:ext cx="5622663" cy="585416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ctr"/>
          <a:lstStyle/>
          <a:p>
            <a:pPr algn="r"/>
            <a:r>
              <a:rPr lang="zh-CN" altLang="en-US" sz="3200" dirty="0">
                <a:solidFill>
                  <a:srgbClr val="FF5050"/>
                </a:solidFill>
                <a:latin typeface="宋体" panose="02010600030101010101" pitchFamily="2" charset="-122"/>
                <a:ea typeface="+mj-ea"/>
                <a:cs typeface="+mj-cs"/>
              </a:rPr>
              <a:t>计算机中数据的表示方法</a:t>
            </a:r>
          </a:p>
        </p:txBody>
      </p:sp>
      <p:grpSp>
        <p:nvGrpSpPr>
          <p:cNvPr id="369698" name="Group 34">
            <a:extLst>
              <a:ext uri="{FF2B5EF4-FFF2-40B4-BE49-F238E27FC236}">
                <a16:creationId xmlns:a16="http://schemas.microsoft.com/office/drawing/2014/main" id="{F87593D0-04A3-61E5-D05D-96DA93A15B75}"/>
              </a:ext>
            </a:extLst>
          </p:cNvPr>
          <p:cNvGrpSpPr>
            <a:grpSpLocks/>
          </p:cNvGrpSpPr>
          <p:nvPr/>
        </p:nvGrpSpPr>
        <p:grpSpPr bwMode="auto">
          <a:xfrm>
            <a:off x="990129" y="4191338"/>
            <a:ext cx="3962534" cy="2360918"/>
            <a:chOff x="3216" y="336"/>
            <a:chExt cx="2544" cy="1776"/>
          </a:xfrm>
        </p:grpSpPr>
        <p:sp>
          <p:nvSpPr>
            <p:cNvPr id="369699" name="AutoShape 35">
              <a:extLst>
                <a:ext uri="{FF2B5EF4-FFF2-40B4-BE49-F238E27FC236}">
                  <a16:creationId xmlns:a16="http://schemas.microsoft.com/office/drawing/2014/main" id="{8BD6CA4B-0FA0-F7C7-E80D-6E305D16AA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336"/>
              <a:ext cx="2544" cy="1776"/>
            </a:xfrm>
            <a:prstGeom prst="irregularSeal1">
              <a:avLst/>
            </a:prstGeom>
            <a:solidFill>
              <a:srgbClr val="FFFF99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lIns="91437" tIns="45718" rIns="91437" bIns="45718" anchor="ctr"/>
            <a:lstStyle>
              <a:lvl1pPr defTabSz="7175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358775" defTabSz="7175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717550" defTabSz="7175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074738" defTabSz="7175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1433513" defTabSz="7175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1890713" defTabSz="71755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347913" defTabSz="71755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2805113" defTabSz="71755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262313" defTabSz="71755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kumimoji="1" lang="zh-CN" altLang="zh-CN" sz="2423">
                <a:latin typeface="Times New Roman" panose="02020603050405020304" pitchFamily="18" charset="0"/>
              </a:endParaRPr>
            </a:p>
          </p:txBody>
        </p:sp>
        <p:sp>
          <p:nvSpPr>
            <p:cNvPr id="369700" name="Rectangle 36">
              <a:extLst>
                <a:ext uri="{FF2B5EF4-FFF2-40B4-BE49-F238E27FC236}">
                  <a16:creationId xmlns:a16="http://schemas.microsoft.com/office/drawing/2014/main" id="{8DCEB559-D551-5EAF-6570-0014A7EFB8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4" y="597"/>
              <a:ext cx="504" cy="6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lIns="91437" tIns="45718" rIns="91437" bIns="45718" anchor="ctr">
              <a:spAutoFit/>
            </a:bodyPr>
            <a:lstStyle>
              <a:lvl1pPr defTabSz="7175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358775" defTabSz="7175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717550" defTabSz="7175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074738" defTabSz="7175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1433513" defTabSz="7175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1890713" defTabSz="71755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347913" defTabSz="71755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2805113" defTabSz="71755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262313" defTabSz="71755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zh-CN" altLang="en-US" sz="2423">
                  <a:solidFill>
                    <a:srgbClr val="FF0000"/>
                  </a:solidFill>
                  <a:latin typeface="Times New Roman" panose="02020603050405020304" pitchFamily="18" charset="0"/>
                </a:rPr>
                <a:t>原码</a:t>
              </a:r>
            </a:p>
          </p:txBody>
        </p:sp>
        <p:sp>
          <p:nvSpPr>
            <p:cNvPr id="369701" name="Rectangle 37">
              <a:extLst>
                <a:ext uri="{FF2B5EF4-FFF2-40B4-BE49-F238E27FC236}">
                  <a16:creationId xmlns:a16="http://schemas.microsoft.com/office/drawing/2014/main" id="{5602907C-54B8-B0C9-F396-3DA494CE0F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837"/>
              <a:ext cx="504" cy="6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lIns="91437" tIns="45718" rIns="91437" bIns="45718" anchor="ctr">
              <a:spAutoFit/>
            </a:bodyPr>
            <a:lstStyle>
              <a:lvl1pPr defTabSz="7175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358775" defTabSz="7175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717550" defTabSz="7175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074738" defTabSz="7175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1433513" defTabSz="7175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1890713" defTabSz="71755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347913" defTabSz="71755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2805113" defTabSz="71755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262313" defTabSz="71755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zh-CN" altLang="en-US" sz="2423">
                  <a:solidFill>
                    <a:srgbClr val="FF0000"/>
                  </a:solidFill>
                  <a:latin typeface="Times New Roman" panose="02020603050405020304" pitchFamily="18" charset="0"/>
                </a:rPr>
                <a:t>反码</a:t>
              </a:r>
            </a:p>
          </p:txBody>
        </p:sp>
        <p:sp>
          <p:nvSpPr>
            <p:cNvPr id="369702" name="Rectangle 38">
              <a:extLst>
                <a:ext uri="{FF2B5EF4-FFF2-40B4-BE49-F238E27FC236}">
                  <a16:creationId xmlns:a16="http://schemas.microsoft.com/office/drawing/2014/main" id="{BB178B37-5F8B-A72C-025D-44CAA98681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2" y="1266"/>
              <a:ext cx="520" cy="3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lIns="91437" tIns="45718" rIns="91437" bIns="45718" anchor="ctr">
              <a:spAutoFit/>
            </a:bodyPr>
            <a:lstStyle>
              <a:lvl1pPr defTabSz="7175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358775" defTabSz="7175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717550" defTabSz="7175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074738" defTabSz="7175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1433513" defTabSz="7175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1890713" defTabSz="71755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347913" defTabSz="71755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2805113" defTabSz="71755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262313" defTabSz="71755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zh-CN" altLang="en-US" sz="2423">
                  <a:solidFill>
                    <a:srgbClr val="FF0000"/>
                  </a:solidFill>
                  <a:latin typeface="Times New Roman" panose="02020603050405020304" pitchFamily="18" charset="0"/>
                </a:rPr>
                <a:t>补码</a:t>
              </a:r>
            </a:p>
          </p:txBody>
        </p:sp>
      </p:grpSp>
      <p:sp>
        <p:nvSpPr>
          <p:cNvPr id="369703" name="AutoShape 39">
            <a:extLst>
              <a:ext uri="{FF2B5EF4-FFF2-40B4-BE49-F238E27FC236}">
                <a16:creationId xmlns:a16="http://schemas.microsoft.com/office/drawing/2014/main" id="{222591C4-0C28-535C-87A6-F1234A9ABC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7465" y="1218931"/>
            <a:ext cx="915210" cy="4420141"/>
          </a:xfrm>
          <a:prstGeom prst="flowChartAlternateProcess">
            <a:avLst/>
          </a:prstGeom>
          <a:solidFill>
            <a:srgbClr val="CC99FF"/>
          </a:solidFill>
          <a:ln>
            <a:noFill/>
          </a:ln>
          <a:effectLst/>
          <a:scene3d>
            <a:camera prst="legacyObliqueTopRight"/>
            <a:lightRig rig="legacyHarsh1" dir="t"/>
          </a:scene3d>
          <a:sp3d extrusionH="430200" prstMaterial="legacyMatte">
            <a:bevelT w="13500" h="13500" prst="angle"/>
            <a:bevelB w="13500" h="13500" prst="angle"/>
            <a:extrusionClr>
              <a:srgbClr val="006600"/>
            </a:extrusionClr>
            <a:contourClr>
              <a:srgbClr val="CC99FF"/>
            </a:contourClr>
          </a:sp3d>
          <a:extLst>
            <a:ext uri="{91240B29-F687-4F45-9708-019B960494DF}">
              <a14:hiddenLine xmlns:a14="http://schemas.microsoft.com/office/drawing/2010/main" w="3175">
                <a:noFill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CC99FF">
                      <a:gamma/>
                      <a:shade val="60000"/>
                      <a:invGamma/>
                    </a:srgbClr>
                  </a:outerShdw>
                </a:effectLst>
              </a14:hiddenEffects>
            </a:ext>
          </a:extLst>
        </p:spPr>
        <p:txBody>
          <a:bodyPr wrap="none" lIns="91437" tIns="45718" rIns="91437" bIns="45718" anchor="ctr">
            <a:flatTx/>
          </a:bodyPr>
          <a:lstStyle>
            <a:lvl1pPr defTabSz="7175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358775" defTabSz="7175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717550" defTabSz="7175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074738" defTabSz="7175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433513" defTabSz="7175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90713" defTabSz="7175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347913" defTabSz="7175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805113" defTabSz="7175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262313" defTabSz="7175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1" lang="zh-CN" altLang="en-US" sz="3954">
                <a:latin typeface="Times New Roman" panose="02020603050405020304" pitchFamily="18" charset="0"/>
              </a:rPr>
              <a:t>带</a:t>
            </a:r>
          </a:p>
          <a:p>
            <a:pPr algn="ctr"/>
            <a:r>
              <a:rPr kumimoji="1" lang="zh-CN" altLang="en-US" sz="3954">
                <a:latin typeface="Times New Roman" panose="02020603050405020304" pitchFamily="18" charset="0"/>
              </a:rPr>
              <a:t>符</a:t>
            </a:r>
          </a:p>
          <a:p>
            <a:pPr algn="ctr"/>
            <a:r>
              <a:rPr kumimoji="1" lang="zh-CN" altLang="en-US" sz="3954">
                <a:latin typeface="Times New Roman" panose="02020603050405020304" pitchFamily="18" charset="0"/>
              </a:rPr>
              <a:t>号</a:t>
            </a:r>
          </a:p>
          <a:p>
            <a:pPr algn="ctr"/>
            <a:r>
              <a:rPr kumimoji="1" lang="zh-CN" altLang="en-US" sz="3954">
                <a:latin typeface="Times New Roman" panose="02020603050405020304" pitchFamily="18" charset="0"/>
              </a:rPr>
              <a:t>的</a:t>
            </a:r>
          </a:p>
          <a:p>
            <a:pPr algn="ctr"/>
            <a:r>
              <a:rPr kumimoji="1" lang="zh-CN" altLang="en-US" sz="3954">
                <a:latin typeface="Times New Roman" panose="02020603050405020304" pitchFamily="18" charset="0"/>
              </a:rPr>
              <a:t>机</a:t>
            </a:r>
          </a:p>
          <a:p>
            <a:pPr algn="ctr"/>
            <a:r>
              <a:rPr kumimoji="1" lang="zh-CN" altLang="en-US" sz="3954">
                <a:latin typeface="Times New Roman" panose="02020603050405020304" pitchFamily="18" charset="0"/>
              </a:rPr>
              <a:t>器</a:t>
            </a:r>
          </a:p>
          <a:p>
            <a:pPr algn="ctr"/>
            <a:r>
              <a:rPr kumimoji="1" lang="zh-CN" altLang="en-US" sz="3954">
                <a:latin typeface="Times New Roman" panose="02020603050405020304" pitchFamily="18" charset="0"/>
              </a:rPr>
              <a:t>数</a:t>
            </a:r>
            <a:endParaRPr kumimoji="1" lang="zh-CN" altLang="en-US" sz="2423">
              <a:latin typeface="Times New Roman" panose="02020603050405020304" pitchFamily="18" charset="0"/>
            </a:endParaRPr>
          </a:p>
        </p:txBody>
      </p:sp>
      <p:sp>
        <p:nvSpPr>
          <p:cNvPr id="369704" name="Rectangle 40">
            <a:extLst>
              <a:ext uri="{FF2B5EF4-FFF2-40B4-BE49-F238E27FC236}">
                <a16:creationId xmlns:a16="http://schemas.microsoft.com/office/drawing/2014/main" id="{4EA18A59-F9B0-8DE7-0B3D-74CB2C2973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803" y="1601391"/>
            <a:ext cx="1407236" cy="759756"/>
          </a:xfrm>
          <a:prstGeom prst="rect">
            <a:avLst/>
          </a:prstGeom>
          <a:solidFill>
            <a:srgbClr val="CCECFF"/>
          </a:solidFill>
          <a:ln>
            <a:noFill/>
          </a:ln>
          <a:effectLst>
            <a:outerShdw dist="107763" dir="2700000" algn="ctr" rotWithShape="0">
              <a:srgbClr val="868686"/>
            </a:outerShdw>
          </a:effectLst>
          <a:extLs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1437" tIns="45718" rIns="91437" bIns="45718" anchor="ctr">
            <a:spAutoFit/>
          </a:bodyPr>
          <a:lstStyle>
            <a:lvl1pPr defTabSz="7175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358775" defTabSz="7175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717550" defTabSz="7175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074738" defTabSz="7175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433513" defTabSz="7175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90713" defTabSz="7175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347913" defTabSz="7175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805113" defTabSz="7175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262313" defTabSz="7175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1" lang="en-US" altLang="zh-CN" sz="4337">
                <a:solidFill>
                  <a:srgbClr val="FF0000"/>
                </a:solidFill>
                <a:latin typeface="隶书" pitchFamily="49" charset="-122"/>
                <a:ea typeface="隶书" pitchFamily="49" charset="-122"/>
              </a:rPr>
              <a:t>-77</a:t>
            </a:r>
            <a:r>
              <a:rPr kumimoji="1" lang="en-US" altLang="zh-CN" sz="3189">
                <a:solidFill>
                  <a:srgbClr val="FFFF00"/>
                </a:solidFill>
                <a:latin typeface="隶书" pitchFamily="49" charset="-122"/>
                <a:ea typeface="隶书" pitchFamily="49" charset="-122"/>
              </a:rPr>
              <a:t> </a:t>
            </a:r>
          </a:p>
        </p:txBody>
      </p:sp>
      <p:sp>
        <p:nvSpPr>
          <p:cNvPr id="369705" name="Rectangle 41">
            <a:extLst>
              <a:ext uri="{FF2B5EF4-FFF2-40B4-BE49-F238E27FC236}">
                <a16:creationId xmlns:a16="http://schemas.microsoft.com/office/drawing/2014/main" id="{DCA106D9-70E8-CEDD-E301-26090C86D4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4013" y="1524677"/>
            <a:ext cx="1447732" cy="609464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00FFFF">
                <a:gamma/>
                <a:shade val="60000"/>
                <a:invGamma/>
              </a:srgb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9706" name="AutoShape 42">
            <a:extLst>
              <a:ext uri="{FF2B5EF4-FFF2-40B4-BE49-F238E27FC236}">
                <a16:creationId xmlns:a16="http://schemas.microsoft.com/office/drawing/2014/main" id="{19FB8DE4-85C0-43C5-3D3E-A8DB6B7BBE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397" y="1828396"/>
            <a:ext cx="838267" cy="305744"/>
          </a:xfrm>
          <a:prstGeom prst="rightArrow">
            <a:avLst>
              <a:gd name="adj1" fmla="val 50000"/>
              <a:gd name="adj2" fmla="val 68543"/>
            </a:avLst>
          </a:prstGeom>
          <a:solidFill>
            <a:srgbClr val="80808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9707" name="Line 43">
            <a:extLst>
              <a:ext uri="{FF2B5EF4-FFF2-40B4-BE49-F238E27FC236}">
                <a16:creationId xmlns:a16="http://schemas.microsoft.com/office/drawing/2014/main" id="{DDE589B4-ACBF-8052-4A0D-25844A08FA76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3733" y="1905338"/>
            <a:ext cx="28144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9708" name="Rectangle 44">
            <a:extLst>
              <a:ext uri="{FF2B5EF4-FFF2-40B4-BE49-F238E27FC236}">
                <a16:creationId xmlns:a16="http://schemas.microsoft.com/office/drawing/2014/main" id="{65C77DA6-EA39-348A-C554-91A70297E1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8523" y="1599593"/>
            <a:ext cx="838267" cy="609466"/>
          </a:xfrm>
          <a:prstGeom prst="rect">
            <a:avLst/>
          </a:prstGeom>
          <a:solidFill>
            <a:srgbClr val="FFFFCC"/>
          </a:solidFill>
          <a:ln>
            <a:noFill/>
          </a:ln>
          <a:effectLst>
            <a:outerShdw dist="107763" dir="2700000" algn="ctr" rotWithShape="0">
              <a:srgbClr val="868686"/>
            </a:outerShdw>
          </a:effectLst>
          <a:extLs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7" tIns="45718" rIns="91437" bIns="45718" anchor="ctr"/>
          <a:lstStyle>
            <a:lvl1pPr defTabSz="7175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358775" defTabSz="7175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717550" defTabSz="7175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074738" defTabSz="7175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433513" defTabSz="7175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90713" defTabSz="7175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347913" defTabSz="7175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805113" defTabSz="7175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262313" defTabSz="7175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1" lang="zh-CN" altLang="en-US" sz="2806">
                <a:latin typeface="Times New Roman" panose="02020603050405020304" pitchFamily="18" charset="0"/>
                <a:ea typeface="楷体_GB2312" pitchFamily="49" charset="-122"/>
              </a:rPr>
              <a:t>原码</a:t>
            </a:r>
            <a:endParaRPr kumimoji="1" lang="zh-CN" altLang="en-US" sz="2423">
              <a:latin typeface="Times New Roman" panose="02020603050405020304" pitchFamily="18" charset="0"/>
            </a:endParaRPr>
          </a:p>
        </p:txBody>
      </p:sp>
      <p:sp>
        <p:nvSpPr>
          <p:cNvPr id="369709" name="Rectangle 45">
            <a:extLst>
              <a:ext uri="{FF2B5EF4-FFF2-40B4-BE49-F238E27FC236}">
                <a16:creationId xmlns:a16="http://schemas.microsoft.com/office/drawing/2014/main" id="{CA51DBD1-769A-F9D0-B201-0ED9E53DBC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8523" y="2437860"/>
            <a:ext cx="838267" cy="609466"/>
          </a:xfrm>
          <a:prstGeom prst="rect">
            <a:avLst/>
          </a:prstGeom>
          <a:solidFill>
            <a:srgbClr val="FFFFCC"/>
          </a:solidFill>
          <a:ln>
            <a:noFill/>
          </a:ln>
          <a:effectLst>
            <a:outerShdw dist="107763" dir="2700000" algn="ctr" rotWithShape="0">
              <a:srgbClr val="868686"/>
            </a:outerShdw>
          </a:effectLst>
          <a:extLs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7" tIns="45718" rIns="91437" bIns="45718" anchor="ctr"/>
          <a:lstStyle>
            <a:lvl1pPr defTabSz="7175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358775" defTabSz="7175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717550" defTabSz="7175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074738" defTabSz="7175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433513" defTabSz="7175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90713" defTabSz="7175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347913" defTabSz="7175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805113" defTabSz="7175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262313" defTabSz="7175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1" lang="zh-CN" altLang="en-US" sz="2806">
                <a:latin typeface="Times New Roman" panose="02020603050405020304" pitchFamily="18" charset="0"/>
                <a:ea typeface="楷体_GB2312" pitchFamily="49" charset="-122"/>
              </a:rPr>
              <a:t>反码</a:t>
            </a:r>
            <a:endParaRPr kumimoji="1" lang="zh-CN" altLang="en-US" sz="2423">
              <a:latin typeface="Times New Roman" panose="02020603050405020304" pitchFamily="18" charset="0"/>
            </a:endParaRPr>
          </a:p>
        </p:txBody>
      </p:sp>
      <p:sp>
        <p:nvSpPr>
          <p:cNvPr id="369710" name="Rectangle 46">
            <a:extLst>
              <a:ext uri="{FF2B5EF4-FFF2-40B4-BE49-F238E27FC236}">
                <a16:creationId xmlns:a16="http://schemas.microsoft.com/office/drawing/2014/main" id="{1E295BBE-D04E-C388-A01E-BBDE38BE70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8523" y="3276128"/>
            <a:ext cx="838267" cy="609466"/>
          </a:xfrm>
          <a:prstGeom prst="rect">
            <a:avLst/>
          </a:prstGeom>
          <a:solidFill>
            <a:srgbClr val="FFFFCC"/>
          </a:solidFill>
          <a:ln>
            <a:noFill/>
          </a:ln>
          <a:effectLst>
            <a:outerShdw dist="107763" dir="2700000" algn="ctr" rotWithShape="0">
              <a:srgbClr val="868686"/>
            </a:outerShdw>
          </a:effectLst>
          <a:extLs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7" tIns="45718" rIns="91437" bIns="45718" anchor="ctr"/>
          <a:lstStyle>
            <a:lvl1pPr defTabSz="7175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358775" defTabSz="7175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717550" defTabSz="7175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074738" defTabSz="7175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433513" defTabSz="7175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90713" defTabSz="7175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347913" defTabSz="7175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805113" defTabSz="7175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262313" defTabSz="7175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1" lang="zh-CN" altLang="en-US" sz="2806">
                <a:latin typeface="Times New Roman" panose="02020603050405020304" pitchFamily="18" charset="0"/>
                <a:ea typeface="楷体_GB2312" pitchFamily="49" charset="-122"/>
              </a:rPr>
              <a:t>补码</a:t>
            </a:r>
            <a:endParaRPr kumimoji="1" lang="zh-CN" altLang="en-US" sz="2423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97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97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6970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EEECD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0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69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4" presetID="24" presetClass="entr" presetSubtype="0" fill="hold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6" dur="1" fill="hold"/>
                                        <p:tgtEl>
                                          <p:spTgt spid="36970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18" presetID="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697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697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23" presetID="24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5" dur="1" fill="hold"/>
                                        <p:tgtEl>
                                          <p:spTgt spid="369708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9500"/>
                            </p:stCondLst>
                            <p:childTnLst>
                              <p:par>
                                <p:cTn id="27" presetID="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697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697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1000"/>
                            </p:stCondLst>
                            <p:childTnLst>
                              <p:par>
                                <p:cTn id="32" presetID="24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4" dur="1" fill="hold"/>
                                        <p:tgtEl>
                                          <p:spTgt spid="36967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12500"/>
                            </p:stCondLst>
                            <p:childTnLst>
                              <p:par>
                                <p:cTn id="36" presetID="24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8" dur="1" fill="hold"/>
                                        <p:tgtEl>
                                          <p:spTgt spid="369709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14000"/>
                            </p:stCondLst>
                            <p:childTnLst>
                              <p:par>
                                <p:cTn id="40" presetID="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696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696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15500"/>
                            </p:stCondLst>
                            <p:childTnLst>
                              <p:par>
                                <p:cTn id="45" presetID="24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7" dur="1" fill="hold"/>
                                        <p:tgtEl>
                                          <p:spTgt spid="369666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17000"/>
                            </p:stCondLst>
                            <p:childTnLst>
                              <p:par>
                                <p:cTn id="49" presetID="24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1" dur="1" fill="hold"/>
                                        <p:tgtEl>
                                          <p:spTgt spid="369667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18500"/>
                            </p:stCondLst>
                            <p:childTnLst>
                              <p:par>
                                <p:cTn id="53" presetID="24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5" dur="1" fill="hold"/>
                                        <p:tgtEl>
                                          <p:spTgt spid="369710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20000"/>
                            </p:stCondLst>
                            <p:childTnLst>
                              <p:par>
                                <p:cTn id="57" presetID="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696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696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21500"/>
                            </p:stCondLst>
                            <p:childTnLst>
                              <p:par>
                                <p:cTn id="62" presetID="24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64" dur="1" fill="hold"/>
                                        <p:tgtEl>
                                          <p:spTgt spid="36968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23000"/>
                            </p:stCondLst>
                            <p:childTnLst>
                              <p:par>
                                <p:cTn id="66" presetID="24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68" dur="1" fill="hold"/>
                                        <p:tgtEl>
                                          <p:spTgt spid="36969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9666" grpId="0" animBg="1" autoUpdateAnimBg="0"/>
      <p:bldP spid="369692" grpId="0" animBg="1" autoUpdateAnimBg="0"/>
      <p:bldP spid="369703" grpId="0" animBg="1" autoUpdateAnimBg="0"/>
      <p:bldP spid="369704" grpId="0" animBg="1" autoUpdateAnimBg="0"/>
      <p:bldP spid="369708" grpId="0" animBg="1" autoUpdateAnimBg="0"/>
      <p:bldP spid="369709" grpId="0" animBg="1" autoUpdateAnimBg="0"/>
      <p:bldP spid="369710" grpId="0" animBg="1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5">
            <a:extLst>
              <a:ext uri="{FF2B5EF4-FFF2-40B4-BE49-F238E27FC236}">
                <a16:creationId xmlns:a16="http://schemas.microsoft.com/office/drawing/2014/main" id="{C4AF0D3E-C76B-AB7A-64F8-FDD09B73E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3F8DF-9070-48BA-8160-F0EF22126AB5}" type="slidenum">
              <a:rPr lang="en-US" altLang="zh-CN"/>
              <a:pPr/>
              <a:t>12</a:t>
            </a:fld>
            <a:endParaRPr lang="en-US" altLang="zh-CN"/>
          </a:p>
        </p:txBody>
      </p:sp>
      <p:sp>
        <p:nvSpPr>
          <p:cNvPr id="372738" name="Rectangle 2">
            <a:extLst>
              <a:ext uri="{FF2B5EF4-FFF2-40B4-BE49-F238E27FC236}">
                <a16:creationId xmlns:a16="http://schemas.microsoft.com/office/drawing/2014/main" id="{40D1BB9F-A19B-258F-4840-4365B7C877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52459" y="548577"/>
            <a:ext cx="3124267" cy="532523"/>
          </a:xfrm>
          <a:noFill/>
          <a:ln w="9525">
            <a:noFill/>
          </a:ln>
        </p:spPr>
        <p:txBody>
          <a:bodyPr vert="horz" wrap="square" lIns="91440" tIns="45720" rIns="91440" bIns="45720" anchor="ctr"/>
          <a:lstStyle/>
          <a:p>
            <a:pPr rtl="0" eaLnBrk="1" hangingPunct="1">
              <a:buFont typeface="Arial" panose="020B0604020202020204" pitchFamily="34" charset="0"/>
            </a:pPr>
            <a:r>
              <a:rPr lang="zh-CN" altLang="en-US" b="1" dirty="0">
                <a:solidFill>
                  <a:srgbClr val="FF5050"/>
                </a:solidFill>
                <a:latin typeface="宋体" panose="02010600030101010101" pitchFamily="2" charset="-122"/>
              </a:rPr>
              <a:t>浮点数 </a:t>
            </a:r>
          </a:p>
        </p:txBody>
      </p:sp>
      <p:sp>
        <p:nvSpPr>
          <p:cNvPr id="372739" name="Rectangle 3">
            <a:extLst>
              <a:ext uri="{FF2B5EF4-FFF2-40B4-BE49-F238E27FC236}">
                <a16:creationId xmlns:a16="http://schemas.microsoft.com/office/drawing/2014/main" id="{65F6FD60-D86C-D4A5-BD01-BCD2FABC36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7544" y="1196752"/>
            <a:ext cx="8409182" cy="4896544"/>
          </a:xfrm>
          <a:noFill/>
          <a:ln/>
        </p:spPr>
        <p:txBody>
          <a:bodyPr/>
          <a:lstStyle/>
          <a:p>
            <a:pPr algn="just" defTabSz="1166317">
              <a:lnSpc>
                <a:spcPct val="95000"/>
              </a:lnSpc>
              <a:spcBef>
                <a:spcPct val="0"/>
              </a:spcBef>
            </a:pPr>
            <a:r>
              <a:rPr lang="zh-CN" altLang="en-US" sz="2400" dirty="0">
                <a:solidFill>
                  <a:schemeClr val="tx2"/>
                </a:solidFill>
                <a:latin typeface="+mn-ea"/>
              </a:rPr>
              <a:t>计算机中的小数，采用浮点数表示法。浮点数是指小数点的位置是可以浮动的。</a:t>
            </a:r>
          </a:p>
          <a:p>
            <a:pPr algn="just" defTabSz="1166317">
              <a:lnSpc>
                <a:spcPct val="95000"/>
              </a:lnSpc>
              <a:spcBef>
                <a:spcPct val="0"/>
              </a:spcBef>
            </a:pPr>
            <a:r>
              <a:rPr lang="en-US" altLang="zh-CN" sz="2400" dirty="0">
                <a:solidFill>
                  <a:schemeClr val="tx2"/>
                </a:solidFill>
                <a:latin typeface="+mn-ea"/>
              </a:rPr>
              <a:t>E</a:t>
            </a:r>
            <a:r>
              <a:rPr lang="zh-CN" altLang="en-US" sz="2400" dirty="0">
                <a:solidFill>
                  <a:schemeClr val="tx2"/>
                </a:solidFill>
                <a:latin typeface="+mn-ea"/>
              </a:rPr>
              <a:t>计数法：一个实数总可以表示成一个乘幂和一个纯小数之积。例如：</a:t>
            </a:r>
          </a:p>
          <a:p>
            <a:pPr marL="0" indent="0" algn="just" defTabSz="1166317">
              <a:lnSpc>
                <a:spcPct val="95000"/>
              </a:lnSpc>
              <a:spcBef>
                <a:spcPct val="0"/>
              </a:spcBef>
              <a:buNone/>
            </a:pPr>
            <a:r>
              <a:rPr lang="en-US" altLang="zh-CN" sz="2400" dirty="0">
                <a:solidFill>
                  <a:schemeClr val="tx2"/>
                </a:solidFill>
                <a:latin typeface="+mn-ea"/>
              </a:rPr>
              <a:t>	123.45 = 10</a:t>
            </a:r>
            <a:r>
              <a:rPr lang="en-US" altLang="zh-CN" sz="2400" baseline="30000" dirty="0">
                <a:solidFill>
                  <a:schemeClr val="tx2"/>
                </a:solidFill>
                <a:latin typeface="+mn-ea"/>
              </a:rPr>
              <a:t>3 </a:t>
            </a:r>
            <a:r>
              <a:rPr lang="en-US" altLang="zh-CN" sz="2400" dirty="0">
                <a:solidFill>
                  <a:schemeClr val="tx2"/>
                </a:solidFill>
                <a:latin typeface="+mn-ea"/>
                <a:sym typeface="Symbol" panose="05050102010706020507" pitchFamily="18" charset="2"/>
              </a:rPr>
              <a:t></a:t>
            </a:r>
            <a:r>
              <a:rPr lang="en-US" altLang="zh-CN" sz="2400" dirty="0">
                <a:solidFill>
                  <a:schemeClr val="tx2"/>
                </a:solidFill>
                <a:latin typeface="+mn-ea"/>
              </a:rPr>
              <a:t> ( 0.12345 )</a:t>
            </a:r>
            <a:r>
              <a:rPr lang="zh-CN" altLang="en-US" sz="2400" dirty="0">
                <a:solidFill>
                  <a:schemeClr val="tx2"/>
                </a:solidFill>
                <a:latin typeface="+mn-ea"/>
              </a:rPr>
              <a:t>，记作</a:t>
            </a:r>
            <a:r>
              <a:rPr lang="en-US" altLang="zh-CN" sz="2400" dirty="0" err="1">
                <a:solidFill>
                  <a:schemeClr val="tx2"/>
                </a:solidFill>
                <a:latin typeface="+mn-ea"/>
              </a:rPr>
              <a:t>0.12345e3</a:t>
            </a:r>
            <a:endParaRPr lang="en-US" altLang="zh-CN" sz="2400" dirty="0">
              <a:solidFill>
                <a:schemeClr val="tx2"/>
              </a:solidFill>
              <a:latin typeface="+mn-ea"/>
            </a:endParaRPr>
          </a:p>
          <a:p>
            <a:pPr marL="0" indent="0" algn="just" defTabSz="1166317">
              <a:lnSpc>
                <a:spcPct val="95000"/>
              </a:lnSpc>
              <a:spcBef>
                <a:spcPct val="0"/>
              </a:spcBef>
              <a:buNone/>
            </a:pPr>
            <a:r>
              <a:rPr lang="en-US" altLang="zh-CN" sz="2400" dirty="0">
                <a:solidFill>
                  <a:schemeClr val="tx2"/>
                </a:solidFill>
                <a:latin typeface="+mn-ea"/>
              </a:rPr>
              <a:t>-0.0034574 = 10</a:t>
            </a:r>
            <a:r>
              <a:rPr lang="en-US" altLang="zh-CN" sz="2400" baseline="30000" dirty="0">
                <a:solidFill>
                  <a:schemeClr val="tx2"/>
                </a:solidFill>
                <a:latin typeface="+mn-ea"/>
              </a:rPr>
              <a:t>-2 </a:t>
            </a:r>
            <a:r>
              <a:rPr lang="en-US" altLang="zh-CN" sz="2400" dirty="0">
                <a:solidFill>
                  <a:schemeClr val="tx2"/>
                </a:solidFill>
                <a:latin typeface="+mn-ea"/>
                <a:sym typeface="Symbol" panose="05050102010706020507" pitchFamily="18" charset="2"/>
              </a:rPr>
              <a:t></a:t>
            </a:r>
            <a:r>
              <a:rPr lang="en-US" altLang="zh-CN" sz="2400" dirty="0">
                <a:solidFill>
                  <a:schemeClr val="tx2"/>
                </a:solidFill>
                <a:latin typeface="+mn-ea"/>
              </a:rPr>
              <a:t> ( -0.34574 )</a:t>
            </a:r>
            <a:r>
              <a:rPr lang="zh-CN" altLang="en-US" sz="2400" dirty="0">
                <a:solidFill>
                  <a:schemeClr val="tx2"/>
                </a:solidFill>
                <a:latin typeface="+mn-ea"/>
              </a:rPr>
              <a:t>，记作</a:t>
            </a:r>
            <a:r>
              <a:rPr lang="en-US" altLang="zh-CN" sz="2400" dirty="0">
                <a:solidFill>
                  <a:schemeClr val="tx2"/>
                </a:solidFill>
                <a:latin typeface="+mn-ea"/>
              </a:rPr>
              <a:t>-</a:t>
            </a:r>
            <a:r>
              <a:rPr lang="en-US" altLang="zh-CN" sz="2400" dirty="0" err="1">
                <a:solidFill>
                  <a:schemeClr val="tx2"/>
                </a:solidFill>
                <a:latin typeface="+mn-ea"/>
              </a:rPr>
              <a:t>0.34574e</a:t>
            </a:r>
            <a:r>
              <a:rPr lang="en-US" altLang="zh-CN" sz="2400" dirty="0">
                <a:solidFill>
                  <a:schemeClr val="tx2"/>
                </a:solidFill>
                <a:latin typeface="+mn-ea"/>
              </a:rPr>
              <a:t>-2</a:t>
            </a:r>
          </a:p>
          <a:p>
            <a:pPr algn="just" defTabSz="1166317">
              <a:lnSpc>
                <a:spcPct val="95000"/>
              </a:lnSpc>
              <a:spcBef>
                <a:spcPct val="0"/>
              </a:spcBef>
            </a:pPr>
            <a:r>
              <a:rPr lang="zh-CN" altLang="en-US" sz="2400" dirty="0">
                <a:solidFill>
                  <a:schemeClr val="tx2"/>
                </a:solidFill>
                <a:latin typeface="+mn-ea"/>
              </a:rPr>
              <a:t>计算机中的小数表示，使用二进制形式的</a:t>
            </a:r>
            <a:r>
              <a:rPr lang="en-US" altLang="zh-CN" sz="2400" dirty="0">
                <a:solidFill>
                  <a:schemeClr val="tx2"/>
                </a:solidFill>
                <a:latin typeface="+mn-ea"/>
              </a:rPr>
              <a:t>e</a:t>
            </a:r>
            <a:r>
              <a:rPr lang="zh-CN" altLang="en-US" sz="2400" dirty="0">
                <a:solidFill>
                  <a:schemeClr val="tx2"/>
                </a:solidFill>
                <a:latin typeface="+mn-ea"/>
              </a:rPr>
              <a:t>计数法。乘幂中的指数部分我们称其为“阶码”</a:t>
            </a:r>
            <a:r>
              <a:rPr lang="en-US" altLang="zh-CN" sz="2400" dirty="0">
                <a:solidFill>
                  <a:schemeClr val="tx2"/>
                </a:solidFill>
                <a:latin typeface="+mn-ea"/>
              </a:rPr>
              <a:t>(</a:t>
            </a:r>
            <a:r>
              <a:rPr lang="zh-CN" altLang="en-US" sz="2400" dirty="0">
                <a:solidFill>
                  <a:schemeClr val="tx2"/>
                </a:solidFill>
                <a:latin typeface="+mn-ea"/>
              </a:rPr>
              <a:t>这是一个整数</a:t>
            </a:r>
            <a:r>
              <a:rPr lang="en-US" altLang="zh-CN" sz="2400" dirty="0">
                <a:solidFill>
                  <a:schemeClr val="tx2"/>
                </a:solidFill>
                <a:latin typeface="+mn-ea"/>
              </a:rPr>
              <a:t>)</a:t>
            </a:r>
            <a:r>
              <a:rPr lang="zh-CN" altLang="en-US" sz="2400" dirty="0">
                <a:solidFill>
                  <a:schemeClr val="tx2"/>
                </a:solidFill>
                <a:latin typeface="+mn-ea"/>
              </a:rPr>
              <a:t>；纯小数部分我们称其为“尾数”。尾数和阶码都有正负之分，且都有固定位数。</a:t>
            </a:r>
            <a:endParaRPr lang="en-US" altLang="zh-CN" sz="2400" dirty="0">
              <a:solidFill>
                <a:schemeClr val="tx2"/>
              </a:solidFill>
              <a:latin typeface="+mn-ea"/>
            </a:endParaRPr>
          </a:p>
          <a:p>
            <a:pPr marL="400050" lvl="1" indent="0" algn="just" defTabSz="1166317">
              <a:lnSpc>
                <a:spcPct val="95000"/>
              </a:lnSpc>
              <a:spcBef>
                <a:spcPct val="0"/>
              </a:spcBef>
              <a:buNone/>
            </a:pPr>
            <a:r>
              <a:rPr lang="zh-CN" altLang="en-US" sz="2400" dirty="0">
                <a:solidFill>
                  <a:schemeClr val="tx2"/>
                </a:solidFill>
                <a:latin typeface="+mn-ea"/>
              </a:rPr>
              <a:t>例如：</a:t>
            </a:r>
            <a:r>
              <a:rPr lang="en-US" altLang="zh-CN" sz="2400" dirty="0">
                <a:solidFill>
                  <a:schemeClr val="tx2"/>
                </a:solidFill>
                <a:latin typeface="+mn-ea"/>
              </a:rPr>
              <a:t>1001.011 = 2</a:t>
            </a:r>
            <a:r>
              <a:rPr lang="en-US" altLang="zh-CN" sz="2400" baseline="30000" dirty="0">
                <a:solidFill>
                  <a:schemeClr val="tx2"/>
                </a:solidFill>
                <a:latin typeface="+mn-ea"/>
              </a:rPr>
              <a:t>4(100)</a:t>
            </a:r>
            <a:r>
              <a:rPr lang="en-US" altLang="zh-CN" sz="2400" dirty="0">
                <a:solidFill>
                  <a:schemeClr val="tx2"/>
                </a:solidFill>
                <a:latin typeface="+mn-ea"/>
              </a:rPr>
              <a:t> </a:t>
            </a:r>
            <a:r>
              <a:rPr lang="en-US" altLang="zh-CN" sz="2400" dirty="0">
                <a:solidFill>
                  <a:schemeClr val="tx2"/>
                </a:solidFill>
                <a:latin typeface="+mn-ea"/>
                <a:sym typeface="Symbol" panose="05050102010706020507" pitchFamily="18" charset="2"/>
              </a:rPr>
              <a:t></a:t>
            </a:r>
            <a:r>
              <a:rPr lang="en-US" altLang="zh-CN" sz="2400" dirty="0">
                <a:solidFill>
                  <a:schemeClr val="tx2"/>
                </a:solidFill>
                <a:latin typeface="+mn-ea"/>
              </a:rPr>
              <a:t> ( 0.1001011 )</a:t>
            </a:r>
          </a:p>
          <a:p>
            <a:pPr marL="0" indent="0" algn="just" defTabSz="1166317">
              <a:lnSpc>
                <a:spcPct val="95000"/>
              </a:lnSpc>
              <a:spcBef>
                <a:spcPct val="0"/>
              </a:spcBef>
              <a:buNone/>
            </a:pPr>
            <a:r>
              <a:rPr lang="en-US" altLang="zh-CN" sz="2400" dirty="0">
                <a:solidFill>
                  <a:schemeClr val="tx2"/>
                </a:solidFill>
                <a:latin typeface="+mn-ea"/>
              </a:rPr>
              <a:t>	-0.0010101 = 2</a:t>
            </a:r>
            <a:r>
              <a:rPr lang="en-US" altLang="zh-CN" sz="2400" baseline="30000" dirty="0">
                <a:solidFill>
                  <a:schemeClr val="tx2"/>
                </a:solidFill>
                <a:latin typeface="+mn-ea"/>
              </a:rPr>
              <a:t>-2(10)</a:t>
            </a:r>
            <a:r>
              <a:rPr lang="en-US" altLang="zh-CN" sz="2400" dirty="0">
                <a:solidFill>
                  <a:schemeClr val="tx2"/>
                </a:solidFill>
                <a:latin typeface="+mn-ea"/>
              </a:rPr>
              <a:t> </a:t>
            </a:r>
            <a:r>
              <a:rPr lang="en-US" altLang="zh-CN" sz="2400" dirty="0">
                <a:solidFill>
                  <a:schemeClr val="tx2"/>
                </a:solidFill>
                <a:latin typeface="+mn-ea"/>
                <a:sym typeface="Symbol" panose="05050102010706020507" pitchFamily="18" charset="2"/>
              </a:rPr>
              <a:t></a:t>
            </a:r>
            <a:r>
              <a:rPr lang="en-US" altLang="zh-CN" sz="2400" dirty="0">
                <a:solidFill>
                  <a:schemeClr val="tx2"/>
                </a:solidFill>
                <a:latin typeface="+mn-ea"/>
              </a:rPr>
              <a:t> ( -0.10101 ) </a:t>
            </a:r>
          </a:p>
        </p:txBody>
      </p:sp>
      <p:pic>
        <p:nvPicPr>
          <p:cNvPr id="5122" name="Picture 2" descr="在这里插入图片描述">
            <a:extLst>
              <a:ext uri="{FF2B5EF4-FFF2-40B4-BE49-F238E27FC236}">
                <a16:creationId xmlns:a16="http://schemas.microsoft.com/office/drawing/2014/main" id="{0122D5F4-92B4-C378-5E01-914E24F533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0"/>
            <a:ext cx="4886325" cy="1247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灯片编号占位符 5"/>
          <p:cNvSpPr txBox="1">
            <a:spLocks noGrp="1"/>
          </p:cNvSpPr>
          <p:nvPr/>
        </p:nvSpPr>
        <p:spPr>
          <a:xfrm>
            <a:off x="6934200" y="63246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r">
              <a:spcBef>
                <a:spcPct val="50000"/>
              </a:spcBef>
            </a:pPr>
            <a:fld id="{9A0DB2DC-4C9A-4742-B13C-FB6460FD3503}" type="slidenum">
              <a:rPr lang="zh-CN" altLang="en-US" sz="1400" dirty="0">
                <a:latin typeface="Times New Roman" panose="02020603050405020304" pitchFamily="2" charset="0"/>
              </a:rPr>
              <a:t>13</a:t>
            </a:fld>
            <a:endParaRPr lang="zh-CN" altLang="en-US" sz="1400" dirty="0">
              <a:latin typeface="Times New Roman" panose="02020603050405020304" pitchFamily="2" charset="0"/>
            </a:endParaRPr>
          </a:p>
        </p:txBody>
      </p:sp>
      <p:grpSp>
        <p:nvGrpSpPr>
          <p:cNvPr id="22530" name="组合 18434"/>
          <p:cNvGrpSpPr/>
          <p:nvPr/>
        </p:nvGrpSpPr>
        <p:grpSpPr>
          <a:xfrm>
            <a:off x="685800" y="1143000"/>
            <a:ext cx="2133600" cy="685800"/>
            <a:chOff x="0" y="0"/>
            <a:chExt cx="912" cy="405"/>
          </a:xfrm>
        </p:grpSpPr>
        <p:pic>
          <p:nvPicPr>
            <p:cNvPr id="22531" name="Picture 8" descr="13"/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0" y="0"/>
              <a:ext cx="912" cy="40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2532" name="Text Box 9"/>
            <p:cNvSpPr txBox="1"/>
            <p:nvPr/>
          </p:nvSpPr>
          <p:spPr>
            <a:xfrm>
              <a:off x="144" y="21"/>
              <a:ext cx="672" cy="306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zh-CN" altLang="en-US" sz="2800" dirty="0">
                  <a:latin typeface="Times New Roman" panose="02020603050405020304" pitchFamily="2" charset="0"/>
                </a:rPr>
                <a:t>字符型</a:t>
              </a:r>
            </a:p>
          </p:txBody>
        </p:sp>
      </p:grpSp>
      <p:sp>
        <p:nvSpPr>
          <p:cNvPr id="18438" name="Rectangle 10"/>
          <p:cNvSpPr/>
          <p:nvPr/>
        </p:nvSpPr>
        <p:spPr>
          <a:xfrm>
            <a:off x="827584" y="1846262"/>
            <a:ext cx="7850187" cy="3598962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/>
          <a:lstStyle/>
          <a:p>
            <a:pPr marL="457200" indent="-457200">
              <a:buClr>
                <a:schemeClr val="accent2"/>
              </a:buClr>
              <a:buSzPct val="75000"/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宋体" panose="02010600030101010101" pitchFamily="2" charset="-122"/>
              </a:rPr>
              <a:t>基础字符数据包括</a:t>
            </a:r>
            <a:r>
              <a:rPr lang="en-US" altLang="zh-CN" sz="2800" dirty="0">
                <a:latin typeface="Times New Roman" panose="02020603050405020304" pitchFamily="2" charset="0"/>
              </a:rPr>
              <a:t>26*2</a:t>
            </a:r>
            <a:r>
              <a:rPr lang="zh-CN" altLang="en-US" sz="2800" dirty="0">
                <a:latin typeface="Times New Roman" panose="02020603050405020304" pitchFamily="2" charset="0"/>
              </a:rPr>
              <a:t>个字母（大小写）</a:t>
            </a:r>
            <a:r>
              <a:rPr lang="en-US" altLang="zh-CN" sz="2800" dirty="0">
                <a:latin typeface="Times New Roman" panose="02020603050405020304" pitchFamily="2" charset="0"/>
              </a:rPr>
              <a:t>+10</a:t>
            </a:r>
            <a:r>
              <a:rPr lang="zh-CN" altLang="en-US" sz="2800" dirty="0">
                <a:latin typeface="Times New Roman" panose="02020603050405020304" pitchFamily="2" charset="0"/>
              </a:rPr>
              <a:t>个数字</a:t>
            </a:r>
            <a:r>
              <a:rPr lang="en-US" altLang="zh-CN" sz="2800" dirty="0">
                <a:latin typeface="Times New Roman" panose="02020603050405020304" pitchFamily="2" charset="0"/>
              </a:rPr>
              <a:t>+</a:t>
            </a:r>
            <a:r>
              <a:rPr lang="zh-CN" altLang="en-US" sz="2800" dirty="0">
                <a:latin typeface="Times New Roman" panose="02020603050405020304" pitchFamily="2" charset="0"/>
              </a:rPr>
              <a:t>其它显示符号，总共</a:t>
            </a:r>
            <a:r>
              <a:rPr lang="en-US" altLang="zh-CN" sz="2800" dirty="0">
                <a:latin typeface="Times New Roman" panose="02020603050405020304" pitchFamily="2" charset="0"/>
              </a:rPr>
              <a:t>95</a:t>
            </a:r>
            <a:r>
              <a:rPr lang="zh-CN" altLang="en-US" sz="2800" dirty="0">
                <a:latin typeface="Times New Roman" panose="02020603050405020304" pitchFamily="2" charset="0"/>
              </a:rPr>
              <a:t>种；还有</a:t>
            </a:r>
            <a:r>
              <a:rPr lang="en-US" altLang="zh-CN" sz="2800" dirty="0">
                <a:latin typeface="Times New Roman" panose="02020603050405020304" pitchFamily="2" charset="0"/>
              </a:rPr>
              <a:t>33</a:t>
            </a:r>
            <a:r>
              <a:rPr lang="zh-CN" altLang="en-US" sz="2800" dirty="0">
                <a:latin typeface="Times New Roman" panose="02020603050405020304" pitchFamily="2" charset="0"/>
              </a:rPr>
              <a:t>种控制符号，总共</a:t>
            </a:r>
            <a:r>
              <a:rPr lang="en-US" altLang="zh-CN" sz="2800" dirty="0">
                <a:latin typeface="Times New Roman" panose="02020603050405020304" pitchFamily="2" charset="0"/>
              </a:rPr>
              <a:t>128</a:t>
            </a:r>
            <a:r>
              <a:rPr lang="zh-CN" altLang="en-US" sz="2800" dirty="0">
                <a:latin typeface="Times New Roman" panose="02020603050405020304" pitchFamily="2" charset="0"/>
              </a:rPr>
              <a:t>种符号； </a:t>
            </a:r>
          </a:p>
          <a:p>
            <a:pPr marL="457200" indent="-457200">
              <a:buClr>
                <a:schemeClr val="accent2"/>
              </a:buClr>
              <a:buSzPct val="75000"/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Times New Roman" panose="02020603050405020304" pitchFamily="2" charset="0"/>
              </a:rPr>
              <a:t>字符型数据在内存中的存储：实际存放的是一个整数值。多数计算机系统采用</a:t>
            </a:r>
            <a:r>
              <a:rPr lang="en-US" altLang="zh-CN" sz="2800" dirty="0">
                <a:latin typeface="Times New Roman" panose="02020603050405020304" pitchFamily="2" charset="0"/>
              </a:rPr>
              <a:t>ASCII</a:t>
            </a:r>
            <a:r>
              <a:rPr lang="zh-CN" altLang="en-US" sz="2800" dirty="0">
                <a:latin typeface="Times New Roman" panose="02020603050405020304" pitchFamily="2" charset="0"/>
              </a:rPr>
              <a:t>（</a:t>
            </a:r>
            <a:r>
              <a:rPr lang="en-US" altLang="zh-CN" sz="2800" i="1" dirty="0">
                <a:latin typeface="Times New Roman" panose="02020603050405020304" pitchFamily="2" charset="0"/>
              </a:rPr>
              <a:t>American Standard Code for Information Interchange</a:t>
            </a:r>
            <a:r>
              <a:rPr lang="zh-CN" altLang="en-US" sz="2800" dirty="0">
                <a:latin typeface="Times New Roman" panose="02020603050405020304" pitchFamily="2" charset="0"/>
              </a:rPr>
              <a:t>）标准编码模式来对字符进行编码 。每个字符占用</a:t>
            </a:r>
            <a:r>
              <a:rPr lang="en-US" altLang="zh-CN" sz="2800" dirty="0">
                <a:latin typeface="Times New Roman" panose="02020603050405020304" pitchFamily="2" charset="0"/>
              </a:rPr>
              <a:t>8</a:t>
            </a:r>
            <a:r>
              <a:rPr lang="zh-CN" altLang="en-US" sz="2800" dirty="0">
                <a:latin typeface="Times New Roman" panose="02020603050405020304" pitchFamily="2" charset="0"/>
              </a:rPr>
              <a:t>位内存（</a:t>
            </a:r>
            <a:r>
              <a:rPr lang="en-US" altLang="zh-CN" sz="2800" dirty="0">
                <a:latin typeface="Times New Roman" panose="02020603050405020304" pitchFamily="2" charset="0"/>
              </a:rPr>
              <a:t>1</a:t>
            </a:r>
            <a:r>
              <a:rPr lang="zh-CN" altLang="en-US" sz="2800" dirty="0">
                <a:latin typeface="Times New Roman" panose="02020603050405020304" pitchFamily="2" charset="0"/>
              </a:rPr>
              <a:t>个字节）；</a:t>
            </a:r>
          </a:p>
        </p:txBody>
      </p:sp>
      <p:sp>
        <p:nvSpPr>
          <p:cNvPr id="22534" name="Rectangle 15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r>
              <a:rPr lang="zh-CN" altLang="en-US" b="1" dirty="0"/>
              <a:t>计算机中的非数值数据</a:t>
            </a:r>
          </a:p>
        </p:txBody>
      </p:sp>
    </p:spTree>
    <p:extLst>
      <p:ext uri="{BB962C8B-B14F-4D97-AF65-F5344CB8AC3E}">
        <p14:creationId xmlns:p14="http://schemas.microsoft.com/office/powerpoint/2010/main" val="37186521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84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3773" name="Group 151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30264564"/>
              </p:ext>
            </p:extLst>
          </p:nvPr>
        </p:nvGraphicFramePr>
        <p:xfrm>
          <a:off x="687391" y="1175074"/>
          <a:ext cx="7772397" cy="5711866"/>
        </p:xfrm>
        <a:graphic>
          <a:graphicData uri="http://schemas.openxmlformats.org/drawingml/2006/table">
            <a:tbl>
              <a:tblPr/>
              <a:tblGrid>
                <a:gridCol w="1133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2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97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82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97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97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156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9792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0974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35264"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L             H      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0000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0001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0010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0011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0100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0101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0110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0111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64"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0000</a:t>
                      </a:r>
                    </a:p>
                  </a:txBody>
                  <a:tcPr marT="45713" marB="45713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NUL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DLE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  <a:cs typeface="Times New Roman" panose="02020603050405020304" pitchFamily="2" charset="0"/>
                        </a:rPr>
                        <a:t>  SP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2" charset="0"/>
                        <a:ea typeface="宋体" panose="02010600030101010101" pitchFamily="2" charset="-122"/>
                        <a:cs typeface="Times New Roman" panose="02020603050405020304" pitchFamily="2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@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P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'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2" charset="0"/>
                        <a:ea typeface="宋体" panose="02010600030101010101" pitchFamily="2" charset="-122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p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0001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2" charset="0"/>
                        <a:ea typeface="宋体" panose="02010600030101010101" pitchFamily="2" charset="-122"/>
                      </a:endParaRPr>
                    </a:p>
                  </a:txBody>
                  <a:tcPr marT="45713" marB="45713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SOH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DC1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!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Q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q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64"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0010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2" charset="0"/>
                        <a:ea typeface="宋体" panose="02010600030101010101" pitchFamily="2" charset="-122"/>
                      </a:endParaRPr>
                    </a:p>
                  </a:txBody>
                  <a:tcPr marT="45713" marB="45713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STX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DC2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"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2" charset="0"/>
                        <a:ea typeface="宋体" panose="02010600030101010101" pitchFamily="2" charset="-122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B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R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b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r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64"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0011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2" charset="0"/>
                        <a:ea typeface="宋体" panose="02010600030101010101" pitchFamily="2" charset="-122"/>
                      </a:endParaRPr>
                    </a:p>
                  </a:txBody>
                  <a:tcPr marT="45713" marB="45713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ETX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DC3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#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C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S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c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s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64"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0100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2" charset="0"/>
                        <a:ea typeface="宋体" panose="02010600030101010101" pitchFamily="2" charset="-122"/>
                      </a:endParaRPr>
                    </a:p>
                  </a:txBody>
                  <a:tcPr marT="45713" marB="45713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EOT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DC4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$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D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T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d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t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264"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0101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2" charset="0"/>
                        <a:ea typeface="宋体" panose="02010600030101010101" pitchFamily="2" charset="-122"/>
                      </a:endParaRPr>
                    </a:p>
                  </a:txBody>
                  <a:tcPr marT="45713" marB="45713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ENQ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NAK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%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E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U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e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u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264"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0110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2" charset="0"/>
                        <a:ea typeface="宋体" panose="02010600030101010101" pitchFamily="2" charset="-122"/>
                      </a:endParaRPr>
                    </a:p>
                  </a:txBody>
                  <a:tcPr marT="45713" marB="45713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ACK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SYN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&amp;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F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V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f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v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264"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0111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2" charset="0"/>
                        <a:ea typeface="宋体" panose="02010600030101010101" pitchFamily="2" charset="-122"/>
                      </a:endParaRPr>
                    </a:p>
                  </a:txBody>
                  <a:tcPr marT="45713" marB="45713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BEL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ETB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,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G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W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g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w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264"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1000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2" charset="0"/>
                        <a:ea typeface="宋体" panose="02010600030101010101" pitchFamily="2" charset="-122"/>
                      </a:endParaRPr>
                    </a:p>
                  </a:txBody>
                  <a:tcPr marT="45713" marB="45713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BS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CAN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)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H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X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h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x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264"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1001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2" charset="0"/>
                        <a:ea typeface="宋体" panose="02010600030101010101" pitchFamily="2" charset="-122"/>
                      </a:endParaRPr>
                    </a:p>
                  </a:txBody>
                  <a:tcPr marT="45713" marB="45713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HT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EM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(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9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I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Y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i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y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7596"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1010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2" charset="0"/>
                        <a:ea typeface="宋体" panose="02010600030101010101" pitchFamily="2" charset="-122"/>
                      </a:endParaRPr>
                    </a:p>
                  </a:txBody>
                  <a:tcPr marT="45713" marB="45713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LF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SUB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*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: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J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Z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j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z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5264"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1011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2" charset="0"/>
                        <a:ea typeface="宋体" panose="02010600030101010101" pitchFamily="2" charset="-122"/>
                      </a:endParaRPr>
                    </a:p>
                  </a:txBody>
                  <a:tcPr marT="45713" marB="45713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VT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ESC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+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;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K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[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k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{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35264"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1100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2" charset="0"/>
                        <a:ea typeface="宋体" panose="02010600030101010101" pitchFamily="2" charset="-122"/>
                      </a:endParaRPr>
                    </a:p>
                  </a:txBody>
                  <a:tcPr marT="45713" marB="45713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FF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FS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'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2" charset="0"/>
                        <a:ea typeface="宋体" panose="02010600030101010101" pitchFamily="2" charset="-122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&lt;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L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\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l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|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35264"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1101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2" charset="0"/>
                        <a:ea typeface="宋体" panose="02010600030101010101" pitchFamily="2" charset="-122"/>
                      </a:endParaRPr>
                    </a:p>
                  </a:txBody>
                  <a:tcPr marT="45713" marB="45713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CR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GS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-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=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M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]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m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}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35264"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1110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2" charset="0"/>
                        <a:ea typeface="宋体" panose="02010600030101010101" pitchFamily="2" charset="-122"/>
                      </a:endParaRPr>
                    </a:p>
                  </a:txBody>
                  <a:tcPr marT="45713" marB="45713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SO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RS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.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&gt;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N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^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n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~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35264"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1111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2" charset="0"/>
                        <a:ea typeface="宋体" panose="02010600030101010101" pitchFamily="2" charset="-122"/>
                      </a:endParaRPr>
                    </a:p>
                  </a:txBody>
                  <a:tcPr marT="45713" marB="45713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SI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US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/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?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O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_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o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DEL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36866" name="灯片编号占位符 4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indent="0" algn="r" eaLnBrk="1" hangingPunct="1">
              <a:spcBef>
                <a:spcPct val="50000"/>
              </a:spcBef>
              <a:buNone/>
            </a:pPr>
            <a:fld id="{9A0DB2DC-4C9A-4742-B13C-FB6460FD3503}" type="slidenum">
              <a:rPr lang="zh-CN" altLang="en-US" sz="1400" b="1" dirty="0"/>
              <a:t>14</a:t>
            </a:fld>
            <a:endParaRPr lang="zh-CN" altLang="en-US" sz="1400" b="1" dirty="0"/>
          </a:p>
        </p:txBody>
      </p:sp>
      <p:sp>
        <p:nvSpPr>
          <p:cNvPr id="36867" name="Text Box 376"/>
          <p:cNvSpPr txBox="1"/>
          <p:nvPr/>
        </p:nvSpPr>
        <p:spPr>
          <a:xfrm>
            <a:off x="2597016" y="551731"/>
            <a:ext cx="4343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8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en-US" altLang="zh-CN" sz="2400" b="1" dirty="0"/>
              <a:t>ASCII</a:t>
            </a:r>
            <a:r>
              <a:rPr lang="zh-CN" altLang="en-US" sz="2400" b="1" dirty="0"/>
              <a:t>表</a:t>
            </a:r>
          </a:p>
        </p:txBody>
      </p:sp>
      <p:sp>
        <p:nvSpPr>
          <p:cNvPr id="37051" name="Line 1406"/>
          <p:cNvSpPr/>
          <p:nvPr/>
        </p:nvSpPr>
        <p:spPr>
          <a:xfrm>
            <a:off x="684212" y="1188816"/>
            <a:ext cx="1150937" cy="28892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055" name="Line 1519"/>
          <p:cNvSpPr/>
          <p:nvPr/>
        </p:nvSpPr>
        <p:spPr>
          <a:xfrm>
            <a:off x="5363071" y="1556792"/>
            <a:ext cx="504825" cy="0"/>
          </a:xfrm>
          <a:prstGeom prst="line">
            <a:avLst/>
          </a:prstGeom>
          <a:ln w="28575" cap="flat" cmpd="sng">
            <a:solidFill>
              <a:srgbClr val="2D35D3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056" name="Line 1520"/>
          <p:cNvSpPr/>
          <p:nvPr/>
        </p:nvSpPr>
        <p:spPr>
          <a:xfrm>
            <a:off x="754856" y="2252683"/>
            <a:ext cx="504825" cy="0"/>
          </a:xfrm>
          <a:prstGeom prst="line">
            <a:avLst/>
          </a:prstGeom>
          <a:ln w="28575" cap="flat" cmpd="sng">
            <a:solidFill>
              <a:srgbClr val="2D35D3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2815810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4">
            <a:extLst>
              <a:ext uri="{FF2B5EF4-FFF2-40B4-BE49-F238E27FC236}">
                <a16:creationId xmlns:a16="http://schemas.microsoft.com/office/drawing/2014/main" id="{B9920CDD-B760-93A1-4495-0A2DA1493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B09AE-E790-48E5-B4D9-959E9FB501E7}" type="slidenum">
              <a:rPr lang="en-US" altLang="zh-CN"/>
              <a:pPr/>
              <a:t>15</a:t>
            </a:fld>
            <a:endParaRPr lang="en-US" altLang="zh-CN"/>
          </a:p>
        </p:txBody>
      </p:sp>
      <p:sp>
        <p:nvSpPr>
          <p:cNvPr id="384017" name="Rectangle 17">
            <a:extLst>
              <a:ext uri="{FF2B5EF4-FFF2-40B4-BE49-F238E27FC236}">
                <a16:creationId xmlns:a16="http://schemas.microsoft.com/office/drawing/2014/main" id="{7CDCF2EC-EED2-BAD3-BEFB-09BC073D3E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08079" y="326422"/>
            <a:ext cx="6629198" cy="763349"/>
          </a:xfrm>
          <a:noFill/>
          <a:ln w="9525">
            <a:noFill/>
          </a:ln>
        </p:spPr>
        <p:txBody>
          <a:bodyPr vert="horz" wrap="square" lIns="91440" tIns="45720" rIns="91440" bIns="45720" anchor="ctr"/>
          <a:lstStyle/>
          <a:p>
            <a:pPr rtl="0" eaLnBrk="1" hangingPunct="1">
              <a:buFont typeface="Arial" panose="020B0604020202020204" pitchFamily="34" charset="0"/>
            </a:pPr>
            <a:r>
              <a:rPr lang="en-US" altLang="zh-CN" b="1" dirty="0">
                <a:solidFill>
                  <a:srgbClr val="FF5050"/>
                </a:solidFill>
                <a:latin typeface="宋体" panose="02010600030101010101" pitchFamily="2" charset="-122"/>
              </a:rPr>
              <a:t>  </a:t>
            </a:r>
            <a:r>
              <a:rPr lang="zh-CN" altLang="en-US" b="1" dirty="0">
                <a:solidFill>
                  <a:srgbClr val="FF5050"/>
                </a:solidFill>
                <a:latin typeface="宋体" panose="02010600030101010101" pitchFamily="2" charset="-122"/>
              </a:rPr>
              <a:t>汉字信息的数字化</a:t>
            </a:r>
          </a:p>
        </p:txBody>
      </p:sp>
      <p:grpSp>
        <p:nvGrpSpPr>
          <p:cNvPr id="384019" name="Group 19">
            <a:extLst>
              <a:ext uri="{FF2B5EF4-FFF2-40B4-BE49-F238E27FC236}">
                <a16:creationId xmlns:a16="http://schemas.microsoft.com/office/drawing/2014/main" id="{2981AE36-ADCF-9D6E-663A-68FE7EE0E723}"/>
              </a:ext>
            </a:extLst>
          </p:cNvPr>
          <p:cNvGrpSpPr>
            <a:grpSpLocks/>
          </p:cNvGrpSpPr>
          <p:nvPr/>
        </p:nvGrpSpPr>
        <p:grpSpPr bwMode="auto">
          <a:xfrm>
            <a:off x="5181465" y="2437861"/>
            <a:ext cx="3733733" cy="3658816"/>
            <a:chOff x="4267" y="2736"/>
            <a:chExt cx="1493" cy="1584"/>
          </a:xfrm>
        </p:grpSpPr>
        <p:graphicFrame>
          <p:nvGraphicFramePr>
            <p:cNvPr id="384020" name="Object 20">
              <a:extLst>
                <a:ext uri="{FF2B5EF4-FFF2-40B4-BE49-F238E27FC236}">
                  <a16:creationId xmlns:a16="http://schemas.microsoft.com/office/drawing/2014/main" id="{19E443BE-5B3E-93BD-3276-26A69ED54DC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67" y="2736"/>
            <a:ext cx="1493" cy="15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3" imgW="4755600" imgH="4827960" progId="MS_ClipArt_Gallery.2">
                    <p:embed/>
                  </p:oleObj>
                </mc:Choice>
                <mc:Fallback>
                  <p:oleObj name="Clip" r:id="rId3" imgW="4755600" imgH="4827960" progId="MS_ClipArt_Gallery.2">
                    <p:embed/>
                    <p:pic>
                      <p:nvPicPr>
                        <p:cNvPr id="384020" name="Object 20">
                          <a:extLst>
                            <a:ext uri="{FF2B5EF4-FFF2-40B4-BE49-F238E27FC236}">
                              <a16:creationId xmlns:a16="http://schemas.microsoft.com/office/drawing/2014/main" id="{19E443BE-5B3E-93BD-3276-26A69ED54DC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67" y="2736"/>
                          <a:ext cx="1493" cy="15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84021" name="Text Box 21">
              <a:extLst>
                <a:ext uri="{FF2B5EF4-FFF2-40B4-BE49-F238E27FC236}">
                  <a16:creationId xmlns:a16="http://schemas.microsoft.com/office/drawing/2014/main" id="{0710E5CD-6B93-BB2A-D6ED-453E187F8E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22" y="2837"/>
              <a:ext cx="507" cy="7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37" tIns="45718" rIns="91437" bIns="45718">
              <a:spAutoFit/>
            </a:bodyPr>
            <a:lstStyle>
              <a:lvl1pPr defTabSz="7175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358775" defTabSz="7175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717550" defTabSz="7175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074738" defTabSz="7175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1433513" defTabSz="7175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1890713" defTabSz="71755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347913" defTabSz="71755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2805113" defTabSz="71755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262313" defTabSz="71755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25000"/>
                </a:lnSpc>
              </a:pPr>
              <a:r>
                <a:rPr kumimoji="1" lang="zh-CN" altLang="en-US" sz="2806" dirty="0">
                  <a:solidFill>
                    <a:srgbClr val="FFFFFF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拼音码</a:t>
              </a:r>
            </a:p>
            <a:p>
              <a:pPr>
                <a:lnSpc>
                  <a:spcPct val="125000"/>
                </a:lnSpc>
              </a:pPr>
              <a:r>
                <a:rPr kumimoji="1" lang="zh-CN" altLang="en-US" sz="2806" dirty="0">
                  <a:solidFill>
                    <a:srgbClr val="FFFFFF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机内码</a:t>
              </a:r>
            </a:p>
            <a:p>
              <a:pPr>
                <a:lnSpc>
                  <a:spcPct val="125000"/>
                </a:lnSpc>
              </a:pPr>
              <a:r>
                <a:rPr kumimoji="1" lang="zh-CN" altLang="en-US" sz="2806" dirty="0">
                  <a:solidFill>
                    <a:srgbClr val="FFFFFF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字形码</a:t>
              </a: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5846673B-99AB-2C7F-253D-01593EF8EEF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761" y="1484784"/>
            <a:ext cx="3783476" cy="4384726"/>
          </a:xfrm>
          <a:prstGeom prst="rect">
            <a:avLst/>
          </a:prstGeom>
        </p:spPr>
      </p:pic>
    </p:spTree>
  </p:cSld>
  <p:clrMapOvr>
    <a:masterClrMapping/>
  </p:clrMapOvr>
  <p:transition spd="slow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384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灯片编号占位符 5"/>
          <p:cNvSpPr txBox="1">
            <a:spLocks noGrp="1"/>
          </p:cNvSpPr>
          <p:nvPr/>
        </p:nvSpPr>
        <p:spPr>
          <a:xfrm>
            <a:off x="6934200" y="63246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r">
              <a:spcBef>
                <a:spcPct val="50000"/>
              </a:spcBef>
            </a:pPr>
            <a:fld id="{9A0DB2DC-4C9A-4742-B13C-FB6460FD3503}" type="slidenum">
              <a:rPr lang="zh-CN" altLang="en-US" sz="1400" dirty="0">
                <a:latin typeface="Times New Roman" panose="02020603050405020304" pitchFamily="2" charset="0"/>
              </a:rPr>
              <a:t>16</a:t>
            </a:fld>
            <a:endParaRPr lang="zh-CN" altLang="en-US" sz="1400" dirty="0">
              <a:latin typeface="Times New Roman" panose="02020603050405020304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291" name="Text Box 4"/>
              <p:cNvSpPr txBox="1"/>
              <p:nvPr/>
            </p:nvSpPr>
            <p:spPr>
              <a:xfrm>
                <a:off x="723900" y="1341438"/>
                <a:ext cx="7962900" cy="447295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zh-CN" altLang="en-US" sz="2800" i="1" dirty="0">
                    <a:solidFill>
                      <a:srgbClr val="FF3300"/>
                    </a:solidFill>
                    <a:latin typeface="宋体" panose="02010600030101010101" pitchFamily="2" charset="-122"/>
                  </a:rPr>
                  <a:t>数据</a:t>
                </a:r>
                <a:r>
                  <a:rPr lang="zh-CN" altLang="en-US" sz="2800" dirty="0">
                    <a:latin typeface="宋体" panose="02010600030101010101" pitchFamily="2" charset="-122"/>
                  </a:rPr>
                  <a:t>是计算机处理的对象。但计算机表示数据的方式只有</a:t>
                </a:r>
                <a:r>
                  <a:rPr lang="zh-CN" altLang="en-US" sz="2800" u="sng" dirty="0">
                    <a:latin typeface="宋体" panose="02010600030101010101" pitchFamily="2" charset="-122"/>
                  </a:rPr>
                  <a:t>整数类型和浮点数类型</a:t>
                </a:r>
                <a:r>
                  <a:rPr lang="zh-CN" altLang="en-US" sz="2800" dirty="0">
                    <a:latin typeface="宋体" panose="02010600030101010101" pitchFamily="2" charset="-122"/>
                  </a:rPr>
                  <a:t>两大类。</a:t>
                </a:r>
              </a:p>
              <a:p>
                <a:pPr eaLnBrk="0" hangingPunct="0">
                  <a:spcBef>
                    <a:spcPct val="50000"/>
                  </a:spcBef>
                </a:pPr>
                <a:r>
                  <a:rPr lang="zh-CN" altLang="en-US" sz="2800" dirty="0">
                    <a:latin typeface="宋体" panose="02010600030101010101" pitchFamily="2" charset="-122"/>
                  </a:rPr>
                  <a:t>数值类的数据依据其本身的特点可以归为不同的类：</a:t>
                </a:r>
                <a:r>
                  <a:rPr lang="zh-CN" altLang="en-US" sz="2800" dirty="0">
                    <a:solidFill>
                      <a:schemeClr val="accent2"/>
                    </a:solidFill>
                    <a:latin typeface="宋体" panose="02010600030101010101" pitchFamily="2" charset="-122"/>
                  </a:rPr>
                  <a:t>整数、分数、无理数、实数、复数</a:t>
                </a:r>
                <a:r>
                  <a:rPr lang="zh-CN" altLang="en-US" sz="2800" dirty="0">
                    <a:latin typeface="宋体" panose="02010600030101010101" pitchFamily="2" charset="-122"/>
                  </a:rPr>
                  <a:t>等。</a:t>
                </a:r>
                <a:endParaRPr lang="en-US" altLang="zh-CN" sz="2800" dirty="0">
                  <a:latin typeface="宋体" panose="02010600030101010101" pitchFamily="2" charset="-122"/>
                </a:endParaRPr>
              </a:p>
              <a:p>
                <a:pPr eaLnBrk="0" hangingPunct="0">
                  <a:spcBef>
                    <a:spcPct val="50000"/>
                  </a:spcBef>
                </a:pPr>
                <a:r>
                  <a:rPr lang="zh-CN" altLang="en-US" sz="2800" dirty="0">
                    <a:latin typeface="宋体" panose="02010600030101010101" pitchFamily="2" charset="-122"/>
                  </a:rPr>
                  <a:t>非数值类的文字、声音、图片等信息都可以数字化为整数编码。</a:t>
                </a:r>
                <a:endParaRPr lang="en-US" altLang="zh-CN" sz="2800" dirty="0">
                  <a:latin typeface="宋体" panose="02010600030101010101" pitchFamily="2" charset="-122"/>
                </a:endParaRPr>
              </a:p>
              <a:p>
                <a:pPr eaLnBrk="0" hangingPunct="0">
                  <a:spcBef>
                    <a:spcPct val="50000"/>
                  </a:spcBef>
                </a:pPr>
                <a:r>
                  <a:rPr lang="zh-CN" altLang="en-US" sz="2800" dirty="0">
                    <a:latin typeface="宋体" panose="02010600030101010101" pitchFamily="2" charset="-122"/>
                  </a:rPr>
                  <a:t>问题：</a:t>
                </a:r>
                <a:r>
                  <a:rPr lang="en-US" altLang="zh-CN" sz="2800" dirty="0">
                    <a:solidFill>
                      <a:schemeClr val="accent2"/>
                    </a:solidFill>
                    <a:latin typeface="宋体" panose="02010600030101010101" pitchFamily="2" charset="-122"/>
                  </a:rPr>
                  <a:t>7.0</a:t>
                </a:r>
                <a:r>
                  <a:rPr lang="zh-CN" altLang="en-US" sz="2800" dirty="0">
                    <a:solidFill>
                      <a:schemeClr val="accent2"/>
                    </a:solidFill>
                    <a:latin typeface="宋体" panose="02010600030101010101" pitchFamily="2" charset="-122"/>
                  </a:rPr>
                  <a:t>、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zh-CN" sz="2800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den>
                    </m:f>
                  </m:oMath>
                </a14:m>
                <a:r>
                  <a:rPr lang="zh-CN" altLang="en-US" sz="2800" dirty="0">
                    <a:solidFill>
                      <a:schemeClr val="accent2"/>
                    </a:solidFill>
                    <a:latin typeface="宋体" panose="02010600030101010101" pitchFamily="2" charset="-122"/>
                  </a:rPr>
                  <a:t>、</a:t>
                </a:r>
                <a14:m>
                  <m:oMath xmlns:m="http://schemas.openxmlformats.org/officeDocument/2006/math">
                    <m:rad>
                      <m:radPr>
                        <m:ctrlPr>
                          <a:rPr lang="zh-CN" altLang="en-US" sz="2800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>
                        <m:r>
                          <a:rPr lang="en-US" altLang="zh-CN" sz="2800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g>
                      <m:e>
                        <m:r>
                          <a:rPr lang="en-US" altLang="zh-CN" sz="2800" b="1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rad>
                  </m:oMath>
                </a14:m>
                <a:r>
                  <a:rPr lang="zh-CN" altLang="en-US" sz="2800" dirty="0">
                    <a:solidFill>
                      <a:schemeClr val="accent2"/>
                    </a:solidFill>
                    <a:latin typeface="宋体" panose="02010600030101010101" pitchFamily="2" charset="-122"/>
                  </a:rPr>
                  <a:t>、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altLang="zh-CN" sz="28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sz="2800" dirty="0">
                    <a:latin typeface="宋体" panose="02010600030101010101" pitchFamily="2" charset="-122"/>
                  </a:rPr>
                  <a:t>、</a:t>
                </a:r>
                <a14:m>
                  <m:oMath xmlns:m="http://schemas.openxmlformats.org/officeDocument/2006/math">
                    <m:r>
                      <a:rPr lang="el-GR" altLang="zh-CN" sz="2800" i="1" dirty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zh-CN" altLang="en-US" sz="2800" dirty="0">
                    <a:latin typeface="宋体" panose="02010600030101010101" pitchFamily="2" charset="-122"/>
                  </a:rPr>
                  <a:t>、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28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800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l-GR" altLang="zh-CN" sz="28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</m:oMath>
                </a14:m>
                <a:r>
                  <a:rPr lang="zh-CN" altLang="en-US" sz="2800" dirty="0">
                    <a:latin typeface="宋体" panose="02010600030101010101" pitchFamily="2" charset="-122"/>
                  </a:rPr>
                  <a:t>该如何设计数据类型？</a:t>
                </a:r>
                <a:endParaRPr lang="en-US" altLang="zh-CN" sz="2800" dirty="0">
                  <a:latin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12291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900" y="1341438"/>
                <a:ext cx="7962900" cy="4472956"/>
              </a:xfrm>
              <a:prstGeom prst="rect">
                <a:avLst/>
              </a:prstGeom>
              <a:blipFill>
                <a:blip r:embed="rId2"/>
                <a:stretch>
                  <a:fillRect l="-1608" t="-1362" b="-2861"/>
                </a:stretch>
              </a:blipFill>
              <a:ln w="9525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340" name="Rectangle 13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r>
              <a:rPr lang="zh-CN" altLang="en-US" b="1" dirty="0"/>
              <a:t>数据类型</a:t>
            </a:r>
          </a:p>
        </p:txBody>
      </p:sp>
    </p:spTree>
    <p:extLst>
      <p:ext uri="{BB962C8B-B14F-4D97-AF65-F5344CB8AC3E}">
        <p14:creationId xmlns:p14="http://schemas.microsoft.com/office/powerpoint/2010/main" val="91674047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灯片编号占位符 5"/>
          <p:cNvSpPr txBox="1">
            <a:spLocks noGrp="1"/>
          </p:cNvSpPr>
          <p:nvPr/>
        </p:nvSpPr>
        <p:spPr>
          <a:xfrm>
            <a:off x="6934200" y="63246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r">
              <a:spcBef>
                <a:spcPct val="50000"/>
              </a:spcBef>
            </a:pPr>
            <a:fld id="{9A0DB2DC-4C9A-4742-B13C-FB6460FD3503}" type="slidenum">
              <a:rPr lang="zh-CN" altLang="en-US" sz="1400" dirty="0">
                <a:latin typeface="Times New Roman" panose="02020603050405020304" pitchFamily="2" charset="0"/>
              </a:rPr>
              <a:t>17</a:t>
            </a:fld>
            <a:endParaRPr lang="zh-CN" altLang="en-US" sz="1400" dirty="0">
              <a:latin typeface="Times New Roman" panose="02020603050405020304" pitchFamily="2" charset="0"/>
            </a:endParaRPr>
          </a:p>
        </p:txBody>
      </p:sp>
      <p:sp>
        <p:nvSpPr>
          <p:cNvPr id="14340" name="Rectangle 13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r>
              <a:rPr lang="zh-CN" altLang="en-US" b="1" dirty="0"/>
              <a:t>数据类型</a:t>
            </a:r>
            <a:r>
              <a:rPr lang="en-US" altLang="zh-CN" b="1" dirty="0"/>
              <a:t>Datatype</a:t>
            </a:r>
            <a:endParaRPr lang="zh-CN" altLang="en-US" b="1" dirty="0"/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3B932DB4-FE95-5315-3492-68CD318F40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319213"/>
            <a:ext cx="8153400" cy="4611687"/>
          </a:xfrm>
        </p:spPr>
        <p:txBody>
          <a:bodyPr/>
          <a:lstStyle/>
          <a:p>
            <a:r>
              <a:rPr lang="zh-CN" altLang="en-US" sz="2800" b="1" dirty="0">
                <a:latin typeface="宋体" panose="02010600030101010101" pitchFamily="2" charset="-122"/>
              </a:rPr>
              <a:t>数据类型包括两层含义：定义了值的集合</a:t>
            </a:r>
            <a:r>
              <a:rPr lang="en-US" altLang="zh-CN" sz="2800" b="1" dirty="0">
                <a:latin typeface="宋体" panose="02010600030101010101" pitchFamily="2" charset="-122"/>
              </a:rPr>
              <a:t>(</a:t>
            </a:r>
            <a:r>
              <a:rPr lang="zh-CN" altLang="en-US" sz="2800" b="1" dirty="0">
                <a:solidFill>
                  <a:schemeClr val="tx1"/>
                </a:solidFill>
                <a:latin typeface="宋体" panose="02010600030101010101" pitchFamily="2" charset="-122"/>
              </a:rPr>
              <a:t>属于该类型的数据能够</a:t>
            </a:r>
            <a:r>
              <a:rPr lang="zh-CN" altLang="en-US" sz="2800" b="1" dirty="0">
                <a:solidFill>
                  <a:srgbClr val="FF3300"/>
                </a:solidFill>
                <a:latin typeface="宋体" panose="02010600030101010101" pitchFamily="2" charset="-122"/>
              </a:rPr>
              <a:t>取值的范围</a:t>
            </a:r>
            <a:r>
              <a:rPr lang="zh-CN" altLang="en-US" sz="2800" b="1" dirty="0">
                <a:latin typeface="宋体" panose="02010600030101010101" pitchFamily="2" charset="-122"/>
              </a:rPr>
              <a:t>）以及能应用于这些数值上的操作集合（</a:t>
            </a:r>
            <a:r>
              <a:rPr lang="zh-CN" altLang="en-US" sz="2800" b="1" dirty="0">
                <a:solidFill>
                  <a:srgbClr val="FF3300"/>
                </a:solidFill>
                <a:latin typeface="宋体" panose="02010600030101010101" pitchFamily="2" charset="-122"/>
              </a:rPr>
              <a:t>数据操作</a:t>
            </a:r>
            <a:r>
              <a:rPr lang="zh-CN" altLang="en-US" sz="2800" b="1" dirty="0">
                <a:latin typeface="宋体" panose="02010600030101010101" pitchFamily="2" charset="-122"/>
              </a:rPr>
              <a:t>）。</a:t>
            </a:r>
            <a:endParaRPr lang="en-US" altLang="zh-CN" sz="2800" b="1" dirty="0">
              <a:latin typeface="宋体" panose="02010600030101010101" pitchFamily="2" charset="-122"/>
            </a:endParaRPr>
          </a:p>
          <a:p>
            <a:endParaRPr lang="en-US" altLang="zh-CN" b="1" dirty="0">
              <a:latin typeface="宋体" panose="02010600030101010101" pitchFamily="2" charset="-122"/>
            </a:endParaRPr>
          </a:p>
          <a:p>
            <a:r>
              <a:rPr lang="zh-CN" altLang="en-US" sz="2800" b="1" dirty="0">
                <a:latin typeface="宋体" panose="02010600030101010101" pitchFamily="2" charset="-122"/>
              </a:rPr>
              <a:t>整数集合，支持编码转换，以及整数的加、减、乘和</a:t>
            </a:r>
            <a:r>
              <a:rPr lang="zh-CN" altLang="en-US" sz="2800" b="1" u="sng" dirty="0">
                <a:latin typeface="宋体" panose="02010600030101010101" pitchFamily="2" charset="-122"/>
              </a:rPr>
              <a:t>整数除法</a:t>
            </a:r>
            <a:r>
              <a:rPr lang="zh-CN" altLang="en-US" sz="2800" b="1" dirty="0">
                <a:latin typeface="宋体" panose="02010600030101010101" pitchFamily="2" charset="-122"/>
              </a:rPr>
              <a:t>运算。</a:t>
            </a:r>
          </a:p>
          <a:p>
            <a:r>
              <a:rPr lang="zh-CN" altLang="en-US" b="1" dirty="0">
                <a:latin typeface="宋体" panose="02010600030101010101" pitchFamily="2" charset="-122"/>
              </a:rPr>
              <a:t>浮点数集合，支持算术运算、数学函数运算。但是浮点数只能近似表示，例</a:t>
            </a:r>
            <a:r>
              <a:rPr lang="en-US" altLang="zh-CN" b="1" dirty="0">
                <a:latin typeface="宋体" panose="02010600030101010101" pitchFamily="2" charset="-122"/>
              </a:rPr>
              <a:t>1/3</a:t>
            </a:r>
            <a:r>
              <a:rPr lang="zh-CN" altLang="en-US" b="1" dirty="0">
                <a:latin typeface="宋体" panose="02010600030101010101" pitchFamily="2" charset="-122"/>
              </a:rPr>
              <a:t>只能表示为有限位的</a:t>
            </a:r>
            <a:r>
              <a:rPr lang="en-US" altLang="zh-CN" b="1" dirty="0">
                <a:latin typeface="宋体" panose="02010600030101010101" pitchFamily="2" charset="-122"/>
              </a:rPr>
              <a:t>0.333…</a:t>
            </a:r>
          </a:p>
          <a:p>
            <a:pPr marL="0" indent="0">
              <a:buNone/>
            </a:pPr>
            <a:r>
              <a:rPr lang="zh-CN" altLang="en-US" b="1" i="1" dirty="0"/>
              <a:t>切记：整数和浮点数在计算机中是两种不同表示方式，数据类型必须区分开。</a:t>
            </a:r>
          </a:p>
        </p:txBody>
      </p:sp>
    </p:spTree>
    <p:extLst>
      <p:ext uri="{BB962C8B-B14F-4D97-AF65-F5344CB8AC3E}">
        <p14:creationId xmlns:p14="http://schemas.microsoft.com/office/powerpoint/2010/main" val="270168994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整数除法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196752"/>
            <a:ext cx="8496944" cy="4611687"/>
          </a:xfrm>
        </p:spPr>
        <p:txBody>
          <a:bodyPr>
            <a:noAutofit/>
          </a:bodyPr>
          <a:lstStyle/>
          <a:p>
            <a:r>
              <a:rPr lang="zh-CN" altLang="en-US" sz="2400" b="1" dirty="0">
                <a:latin typeface="+mn-ea"/>
              </a:rPr>
              <a:t>当一个整数被一个正整数除</a:t>
            </a:r>
            <a:r>
              <a:rPr lang="en-US" sz="2400" b="1" dirty="0">
                <a:latin typeface="+mn-ea"/>
              </a:rPr>
              <a:t>,</a:t>
            </a:r>
            <a:r>
              <a:rPr lang="zh-CN" altLang="en-US" sz="2400" b="1" dirty="0">
                <a:latin typeface="+mn-ea"/>
              </a:rPr>
              <a:t>可得一个商和一个余数</a:t>
            </a:r>
            <a:r>
              <a:rPr lang="en-US" sz="2400" b="1" dirty="0">
                <a:latin typeface="+mn-ea"/>
              </a:rPr>
              <a:t>.</a:t>
            </a:r>
            <a:r>
              <a:rPr lang="zh-CN" altLang="en-US" sz="2400" b="1" dirty="0">
                <a:latin typeface="+mn-ea"/>
              </a:rPr>
              <a:t>传统上这被叫做</a:t>
            </a:r>
            <a:r>
              <a:rPr lang="en-US" sz="2400" b="1" dirty="0">
                <a:latin typeface="+mn-ea"/>
              </a:rPr>
              <a:t>“</a:t>
            </a:r>
            <a:r>
              <a:rPr lang="zh-CN" altLang="en-US" sz="2400" b="1" dirty="0">
                <a:latin typeface="+mn-ea"/>
              </a:rPr>
              <a:t>除法算法</a:t>
            </a:r>
            <a:r>
              <a:rPr lang="en-US" sz="2400" b="1" dirty="0">
                <a:latin typeface="+mn-ea"/>
              </a:rPr>
              <a:t>”,</a:t>
            </a:r>
            <a:r>
              <a:rPr lang="zh-CN" altLang="en-US" sz="2400" b="1" dirty="0">
                <a:latin typeface="+mn-ea"/>
              </a:rPr>
              <a:t>但其实这是一个定理</a:t>
            </a:r>
            <a:r>
              <a:rPr lang="en-US" sz="2400" b="1" dirty="0">
                <a:latin typeface="+mn-ea"/>
              </a:rPr>
              <a:t>.</a:t>
            </a:r>
          </a:p>
          <a:p>
            <a:pPr>
              <a:buNone/>
            </a:pPr>
            <a:r>
              <a:rPr lang="zh-CN" altLang="en-US" sz="2400" b="1" dirty="0">
                <a:latin typeface="+mn-ea"/>
              </a:rPr>
              <a:t>除法算法</a:t>
            </a:r>
            <a:r>
              <a:rPr lang="en-US" sz="2400" b="1" dirty="0">
                <a:latin typeface="+mn-ea"/>
              </a:rPr>
              <a:t>:</a:t>
            </a:r>
            <a:r>
              <a:rPr lang="zh-CN" altLang="en-US" sz="2400" b="1" dirty="0">
                <a:latin typeface="+mn-ea"/>
              </a:rPr>
              <a:t>若</a:t>
            </a:r>
            <a:r>
              <a:rPr lang="en-US" sz="2400" b="1" i="1" dirty="0">
                <a:latin typeface="+mn-ea"/>
              </a:rPr>
              <a:t>a </a:t>
            </a:r>
            <a:r>
              <a:rPr lang="zh-CN" altLang="en-US" sz="2400" b="1" dirty="0">
                <a:latin typeface="+mn-ea"/>
              </a:rPr>
              <a:t>是整数</a:t>
            </a:r>
            <a:r>
              <a:rPr lang="en-US" altLang="zh-CN" sz="2400" b="1" dirty="0">
                <a:latin typeface="+mn-ea"/>
              </a:rPr>
              <a:t>,</a:t>
            </a:r>
            <a:r>
              <a:rPr lang="en-US" sz="2400" b="1" i="1" dirty="0">
                <a:latin typeface="+mn-ea"/>
              </a:rPr>
              <a:t>d </a:t>
            </a:r>
            <a:r>
              <a:rPr lang="zh-CN" altLang="en-US" sz="2400" b="1" dirty="0">
                <a:latin typeface="+mn-ea"/>
              </a:rPr>
              <a:t>是正整数</a:t>
            </a:r>
            <a:r>
              <a:rPr lang="en-US" sz="2400" b="1" dirty="0">
                <a:latin typeface="+mn-ea"/>
              </a:rPr>
              <a:t>,</a:t>
            </a:r>
            <a:r>
              <a:rPr lang="zh-CN" altLang="en-US" sz="2400" b="1" dirty="0">
                <a:latin typeface="+mn-ea"/>
              </a:rPr>
              <a:t>则存在唯一的一对整数 </a:t>
            </a:r>
            <a:r>
              <a:rPr lang="en-US" sz="2400" b="1" i="1" dirty="0">
                <a:latin typeface="+mn-ea"/>
              </a:rPr>
              <a:t>q</a:t>
            </a:r>
            <a:r>
              <a:rPr lang="zh-CN" altLang="en-US" sz="2400" b="1" dirty="0">
                <a:latin typeface="+mn-ea"/>
              </a:rPr>
              <a:t>和 </a:t>
            </a:r>
            <a:r>
              <a:rPr lang="en-US" sz="2400" b="1" i="1" dirty="0" err="1">
                <a:latin typeface="+mn-ea"/>
              </a:rPr>
              <a:t>r</a:t>
            </a:r>
            <a:r>
              <a:rPr lang="en-US" sz="2400" b="1" dirty="0" err="1">
                <a:latin typeface="+mn-ea"/>
              </a:rPr>
              <a:t>,0</a:t>
            </a:r>
            <a:r>
              <a:rPr lang="en-US" sz="2400" b="1" i="1" dirty="0" err="1">
                <a:latin typeface="+mn-ea"/>
              </a:rPr>
              <a:t>≤</a:t>
            </a:r>
            <a:r>
              <a:rPr lang="en-US" sz="2400" b="1" dirty="0" err="1">
                <a:latin typeface="+mn-ea"/>
              </a:rPr>
              <a:t>r</a:t>
            </a:r>
            <a:r>
              <a:rPr lang="en-US" sz="2400" b="1" i="1" dirty="0">
                <a:latin typeface="+mn-ea"/>
              </a:rPr>
              <a:t>&lt;d</a:t>
            </a:r>
            <a:r>
              <a:rPr lang="en-US" sz="2400" b="1" dirty="0">
                <a:latin typeface="+mn-ea"/>
              </a:rPr>
              <a:t>,</a:t>
            </a:r>
            <a:r>
              <a:rPr lang="zh-CN" altLang="en-US" sz="2400" b="1" dirty="0">
                <a:latin typeface="+mn-ea"/>
              </a:rPr>
              <a:t>使得 </a:t>
            </a:r>
            <a:r>
              <a:rPr lang="en-US" sz="2400" b="1" i="1" dirty="0">
                <a:latin typeface="+mn-ea"/>
              </a:rPr>
              <a:t>a = </a:t>
            </a:r>
            <a:r>
              <a:rPr lang="en-US" sz="2400" b="1" i="1" dirty="0" err="1">
                <a:latin typeface="+mn-ea"/>
              </a:rPr>
              <a:t>dq</a:t>
            </a:r>
            <a:r>
              <a:rPr lang="en-US" sz="2400" b="1" i="1" dirty="0">
                <a:latin typeface="+mn-ea"/>
              </a:rPr>
              <a:t> + r </a:t>
            </a:r>
            <a:r>
              <a:rPr lang="en-US" sz="2400" b="1" dirty="0">
                <a:latin typeface="+mn-ea"/>
              </a:rPr>
              <a:t>(</a:t>
            </a:r>
            <a:r>
              <a:rPr lang="zh-CN" altLang="en-US" sz="2400" b="1" dirty="0">
                <a:latin typeface="+mn-ea"/>
              </a:rPr>
              <a:t>数学已证明</a:t>
            </a:r>
            <a:r>
              <a:rPr lang="en-US" sz="2400" b="1" dirty="0">
                <a:latin typeface="+mn-ea"/>
              </a:rPr>
              <a:t>).</a:t>
            </a:r>
          </a:p>
          <a:p>
            <a:pPr lvl="2"/>
            <a:r>
              <a:rPr lang="en-US" sz="2400" b="1" i="1" dirty="0">
                <a:latin typeface="+mn-ea"/>
              </a:rPr>
              <a:t>d </a:t>
            </a:r>
            <a:r>
              <a:rPr lang="zh-CN" altLang="en-US" sz="2400" b="1" dirty="0">
                <a:latin typeface="+mn-ea"/>
              </a:rPr>
              <a:t>称为除数</a:t>
            </a:r>
            <a:r>
              <a:rPr lang="en-US" sz="2400" b="1" dirty="0">
                <a:latin typeface="+mn-ea"/>
              </a:rPr>
              <a:t>.</a:t>
            </a:r>
          </a:p>
          <a:p>
            <a:pPr lvl="2"/>
            <a:r>
              <a:rPr lang="en-US" sz="2400" b="1" i="1" dirty="0">
                <a:latin typeface="+mn-ea"/>
              </a:rPr>
              <a:t>a </a:t>
            </a:r>
            <a:r>
              <a:rPr lang="zh-CN" altLang="en-US" sz="2400" b="1" dirty="0">
                <a:latin typeface="+mn-ea"/>
              </a:rPr>
              <a:t>称为被除数</a:t>
            </a:r>
            <a:r>
              <a:rPr lang="en-US" sz="2400" b="1" dirty="0">
                <a:latin typeface="+mn-ea"/>
              </a:rPr>
              <a:t>.</a:t>
            </a:r>
          </a:p>
          <a:p>
            <a:pPr lvl="2"/>
            <a:r>
              <a:rPr lang="en-US" sz="2400" b="1" i="1" dirty="0">
                <a:latin typeface="+mn-ea"/>
              </a:rPr>
              <a:t>q </a:t>
            </a:r>
            <a:r>
              <a:rPr lang="zh-CN" altLang="en-US" sz="2400" b="1" dirty="0">
                <a:latin typeface="+mn-ea"/>
              </a:rPr>
              <a:t>称为商</a:t>
            </a:r>
            <a:r>
              <a:rPr lang="en-US" sz="2400" b="1" dirty="0">
                <a:latin typeface="+mn-ea"/>
              </a:rPr>
              <a:t>.</a:t>
            </a:r>
          </a:p>
          <a:p>
            <a:pPr lvl="2"/>
            <a:r>
              <a:rPr lang="en-US" sz="2400" b="1" i="1" dirty="0">
                <a:latin typeface="+mn-ea"/>
              </a:rPr>
              <a:t>r </a:t>
            </a:r>
            <a:r>
              <a:rPr lang="zh-CN" altLang="en-US" sz="2400" b="1" dirty="0">
                <a:latin typeface="+mn-ea"/>
              </a:rPr>
              <a:t>称为余数</a:t>
            </a:r>
            <a:r>
              <a:rPr lang="en-US" sz="2400" b="1" dirty="0">
                <a:latin typeface="+mn-ea"/>
              </a:rPr>
              <a:t>.</a:t>
            </a:r>
          </a:p>
          <a:p>
            <a:pPr>
              <a:buNone/>
            </a:pPr>
            <a:r>
              <a:rPr lang="zh-CN" altLang="en-US" sz="2400" b="1" dirty="0">
                <a:latin typeface="+mn-ea"/>
              </a:rPr>
              <a:t>例</a:t>
            </a:r>
            <a:r>
              <a:rPr lang="en-US" sz="2400" b="1" dirty="0">
                <a:latin typeface="+mn-ea"/>
              </a:rPr>
              <a:t>:</a:t>
            </a:r>
          </a:p>
          <a:p>
            <a:pPr lvl="2"/>
            <a:r>
              <a:rPr lang="zh-CN" altLang="en-US" sz="2400" b="1" dirty="0">
                <a:latin typeface="+mn-ea"/>
              </a:rPr>
              <a:t>计算</a:t>
            </a:r>
            <a:r>
              <a:rPr lang="en-US" sz="2400" b="1" dirty="0">
                <a:latin typeface="+mn-ea"/>
              </a:rPr>
              <a:t>101</a:t>
            </a:r>
            <a:r>
              <a:rPr lang="zh-CN" altLang="en-US" sz="2400" b="1" dirty="0">
                <a:latin typeface="+mn-ea"/>
              </a:rPr>
              <a:t>除</a:t>
            </a:r>
            <a:r>
              <a:rPr lang="en-US" sz="2400" b="1" dirty="0">
                <a:latin typeface="+mn-ea"/>
              </a:rPr>
              <a:t>11</a:t>
            </a:r>
            <a:r>
              <a:rPr lang="zh-CN" altLang="en-US" sz="2400" b="1" dirty="0">
                <a:latin typeface="+mn-ea"/>
              </a:rPr>
              <a:t>的商和余数</a:t>
            </a:r>
            <a:r>
              <a:rPr lang="en-US" sz="2400" b="1" dirty="0">
                <a:latin typeface="+mn-ea"/>
              </a:rPr>
              <a:t>?</a:t>
            </a:r>
          </a:p>
          <a:p>
            <a:pPr lvl="2"/>
            <a:r>
              <a:rPr lang="zh-CN" altLang="en-US" sz="2400" b="1" dirty="0">
                <a:latin typeface="+mn-ea"/>
              </a:rPr>
              <a:t>计算</a:t>
            </a:r>
            <a:r>
              <a:rPr lang="en-US" altLang="zh-CN" sz="2400" b="1" dirty="0">
                <a:latin typeface="+mn-ea"/>
              </a:rPr>
              <a:t>−11</a:t>
            </a:r>
            <a:r>
              <a:rPr lang="zh-CN" altLang="en-US" sz="2400" b="1" dirty="0">
                <a:latin typeface="+mn-ea"/>
              </a:rPr>
              <a:t>除</a:t>
            </a:r>
            <a:r>
              <a:rPr lang="en-US" altLang="zh-CN" sz="2400" b="1" dirty="0">
                <a:latin typeface="+mn-ea"/>
              </a:rPr>
              <a:t>3</a:t>
            </a:r>
            <a:r>
              <a:rPr lang="zh-CN" altLang="en-US" sz="2400" b="1" dirty="0">
                <a:latin typeface="+mn-ea"/>
              </a:rPr>
              <a:t>的商和余数</a:t>
            </a:r>
            <a:r>
              <a:rPr lang="en-US" altLang="zh-CN" sz="2400" b="1" dirty="0">
                <a:latin typeface="+mn-ea"/>
              </a:rPr>
              <a:t>?</a:t>
            </a:r>
            <a:endParaRPr lang="en-US" sz="2400" b="1" dirty="0">
              <a:latin typeface="+mn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139952" y="3212976"/>
            <a:ext cx="4032448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rgbClr val="3366FF"/>
                </a:solidFill>
              </a:rPr>
              <a:t>函数</a:t>
            </a:r>
            <a:r>
              <a:rPr lang="en-US" sz="2400" b="1" dirty="0">
                <a:solidFill>
                  <a:srgbClr val="3366FF"/>
                </a:solidFill>
              </a:rPr>
              <a:t>div(/)</a:t>
            </a:r>
            <a:r>
              <a:rPr lang="zh-CN" altLang="en-US" sz="2400" dirty="0">
                <a:solidFill>
                  <a:srgbClr val="3366FF"/>
                </a:solidFill>
              </a:rPr>
              <a:t>和</a:t>
            </a:r>
            <a:r>
              <a:rPr lang="en-US" sz="2400" b="1" dirty="0">
                <a:solidFill>
                  <a:srgbClr val="3366FF"/>
                </a:solidFill>
              </a:rPr>
              <a:t>mod(%)</a:t>
            </a:r>
            <a:r>
              <a:rPr lang="zh-CN" altLang="en-US" sz="2400" b="1" dirty="0">
                <a:solidFill>
                  <a:srgbClr val="3366FF"/>
                </a:solidFill>
              </a:rPr>
              <a:t>的定义</a:t>
            </a:r>
            <a:r>
              <a:rPr lang="en-US" altLang="zh-CN" sz="2400" b="1" dirty="0">
                <a:solidFill>
                  <a:srgbClr val="3366FF"/>
                </a:solidFill>
              </a:rPr>
              <a:t>:</a:t>
            </a:r>
            <a:endParaRPr lang="en-US" sz="2400" b="1" dirty="0">
              <a:solidFill>
                <a:srgbClr val="3366FF"/>
              </a:solidFill>
            </a:endParaRPr>
          </a:p>
          <a:p>
            <a:pPr lvl="1"/>
            <a:r>
              <a:rPr lang="en-US" sz="2400" i="1" dirty="0">
                <a:solidFill>
                  <a:srgbClr val="3366FF"/>
                </a:solidFill>
              </a:rPr>
              <a:t>q=</a:t>
            </a:r>
            <a:r>
              <a:rPr lang="en-US" sz="2400" i="1" dirty="0" err="1">
                <a:solidFill>
                  <a:srgbClr val="3366FF"/>
                </a:solidFill>
              </a:rPr>
              <a:t>a/d</a:t>
            </a:r>
            <a:endParaRPr lang="en-US" sz="2400" i="1" dirty="0">
              <a:solidFill>
                <a:srgbClr val="3366FF"/>
              </a:solidFill>
            </a:endParaRPr>
          </a:p>
          <a:p>
            <a:pPr lvl="1"/>
            <a:r>
              <a:rPr lang="en-US" sz="2400" i="1" dirty="0">
                <a:solidFill>
                  <a:srgbClr val="3366FF"/>
                </a:solidFill>
              </a:rPr>
              <a:t>r=</a:t>
            </a:r>
            <a:r>
              <a:rPr lang="en-US" sz="2400" i="1" dirty="0" err="1">
                <a:solidFill>
                  <a:srgbClr val="3366FF"/>
                </a:solidFill>
              </a:rPr>
              <a:t>a%d</a:t>
            </a:r>
            <a:endParaRPr lang="en-US" sz="2400" i="1" dirty="0">
              <a:solidFill>
                <a:srgbClr val="3366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4466704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灯片编号占位符 5"/>
          <p:cNvSpPr txBox="1">
            <a:spLocks noGrp="1"/>
          </p:cNvSpPr>
          <p:nvPr/>
        </p:nvSpPr>
        <p:spPr>
          <a:xfrm>
            <a:off x="6934200" y="63246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r">
              <a:spcBef>
                <a:spcPct val="50000"/>
              </a:spcBef>
            </a:pPr>
            <a:fld id="{9A0DB2DC-4C9A-4742-B13C-FB6460FD3503}" type="slidenum">
              <a:rPr lang="zh-CN" altLang="en-US" sz="1400" dirty="0">
                <a:latin typeface="Times New Roman" panose="02020603050405020304" pitchFamily="2" charset="0"/>
              </a:rPr>
              <a:t>19</a:t>
            </a:fld>
            <a:endParaRPr lang="zh-CN" altLang="en-US" sz="1400" dirty="0">
              <a:latin typeface="Times New Roman" panose="02020603050405020304" pitchFamily="2" charset="0"/>
            </a:endParaRPr>
          </a:p>
        </p:txBody>
      </p:sp>
      <p:sp>
        <p:nvSpPr>
          <p:cNvPr id="46083" name="Rectangle 7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eaLnBrk="1" hangingPunct="1"/>
            <a:r>
              <a:rPr lang="zh-CN" altLang="en-US" b="1" dirty="0"/>
              <a:t>常量</a:t>
            </a:r>
            <a:r>
              <a:rPr lang="en-US" altLang="zh-CN" b="1" dirty="0"/>
              <a:t>constant</a:t>
            </a:r>
            <a:endParaRPr lang="zh-CN" altLang="en-US" b="1" dirty="0"/>
          </a:p>
        </p:txBody>
      </p:sp>
      <p:sp>
        <p:nvSpPr>
          <p:cNvPr id="37891" name="Rectangle 5"/>
          <p:cNvSpPr>
            <a:spLocks noGrp="1"/>
          </p:cNvSpPr>
          <p:nvPr>
            <p:ph idx="1"/>
          </p:nvPr>
        </p:nvSpPr>
        <p:spPr>
          <a:xfrm>
            <a:off x="685800" y="1268760"/>
            <a:ext cx="7772400" cy="4611687"/>
          </a:xfrm>
        </p:spPr>
        <p:txBody>
          <a:bodyPr wrap="square" lIns="92075" tIns="46038" rIns="92075" bIns="46038" anchor="t"/>
          <a:lstStyle/>
          <a:p>
            <a:pPr algn="just" eaLnBrk="1" hangingPunct="1"/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常量是指在程序执行过程中不能改变的数据。常量按表示形式分为：文字常量、命名常量、符号常量。</a:t>
            </a:r>
          </a:p>
          <a:p>
            <a:pPr algn="just" eaLnBrk="1" hangingPunct="1"/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just" eaLnBrk="1" hangingPunct="1"/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文字常量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是指在程序中直接出现的数据。例：</a:t>
            </a:r>
          </a:p>
          <a:p>
            <a:pPr marL="0" indent="0" algn="just" eaLnBrk="1" hangingPunct="1">
              <a:buNone/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15		</a:t>
            </a:r>
            <a:r>
              <a:rPr lang="zh-CN" altLang="en-US" sz="2400" b="1" u="sng" dirty="0">
                <a:solidFill>
                  <a:srgbClr val="66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整型常量</a:t>
            </a:r>
          </a:p>
          <a:p>
            <a:pPr marL="0" indent="0" algn="just" eaLnBrk="1" hangingPunct="1">
              <a:buNone/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15.4		</a:t>
            </a:r>
            <a:r>
              <a:rPr lang="zh-CN" altLang="en-US" sz="2400" b="1" u="sng" dirty="0">
                <a:solidFill>
                  <a:srgbClr val="66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浮点型常量</a:t>
            </a:r>
          </a:p>
          <a:p>
            <a:pPr marL="0" indent="0" algn="just" eaLnBrk="1" hangingPunct="1">
              <a:buNone/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r>
              <a:rPr lang="en-US" altLang="zh-CN" sz="2400" b="1" dirty="0">
                <a:ea typeface="宋体" panose="02010600030101010101" pitchFamily="2" charset="-122"/>
                <a:cs typeface="宋体" panose="02010600030101010101" pitchFamily="2" charset="-122"/>
              </a:rPr>
              <a:t>'A'	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r>
              <a:rPr lang="zh-CN" altLang="en-US" sz="2400" b="1" u="sng" dirty="0">
                <a:solidFill>
                  <a:srgbClr val="66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字符型常量（英文单引号）</a:t>
            </a:r>
          </a:p>
          <a:p>
            <a:pPr marL="0" indent="0" algn="just" eaLnBrk="1" hangingPunct="1">
              <a:buNone/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r>
              <a:rPr lang="en-US" altLang="zh-CN" sz="2400" b="1" dirty="0">
                <a:ea typeface="宋体" panose="02010600030101010101" pitchFamily="2" charset="-122"/>
                <a:cs typeface="宋体" panose="02010600030101010101" pitchFamily="2" charset="-122"/>
              </a:rPr>
              <a:t>"Hello world!"</a:t>
            </a:r>
            <a:r>
              <a:rPr lang="zh-CN" altLang="en-US" sz="2400" b="1" u="sng" dirty="0">
                <a:solidFill>
                  <a:srgbClr val="66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字符串型常量（英文双引号）</a:t>
            </a:r>
            <a:endParaRPr lang="en-US" altLang="zh-CN" sz="2400" b="1" u="sng" dirty="0">
              <a:solidFill>
                <a:srgbClr val="6600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sz="2400" b="1" dirty="0"/>
              <a:t>若整数常量以</a:t>
            </a:r>
            <a:r>
              <a:rPr lang="en-US" altLang="zh-CN" sz="2400" b="1" dirty="0"/>
              <a:t>0</a:t>
            </a:r>
            <a:r>
              <a:rPr lang="zh-CN" altLang="en-US" sz="2400" b="1" dirty="0"/>
              <a:t>开头，</a:t>
            </a:r>
            <a:r>
              <a:rPr lang="en-US" altLang="zh-CN" sz="2400" b="1" dirty="0"/>
              <a:t>C</a:t>
            </a:r>
            <a:r>
              <a:rPr lang="zh-CN" altLang="en-US" sz="2400" b="1" dirty="0"/>
              <a:t>编译器会认为该常量是八进制数。例</a:t>
            </a:r>
            <a:r>
              <a:rPr lang="en-US" altLang="zh-CN" sz="2400" b="1" dirty="0"/>
              <a:t>040</a:t>
            </a:r>
            <a:r>
              <a:rPr lang="zh-CN" altLang="en-US" sz="2400" b="1" dirty="0"/>
              <a:t>表示十进制的</a:t>
            </a:r>
            <a:r>
              <a:rPr lang="en-US" altLang="zh-CN" sz="2400" b="1" dirty="0"/>
              <a:t>32</a:t>
            </a:r>
            <a:r>
              <a:rPr lang="zh-CN" altLang="en-US" sz="2400" b="1" dirty="0"/>
              <a:t>。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400" b="1" dirty="0"/>
              <a:t>若整数常量以</a:t>
            </a:r>
            <a:r>
              <a:rPr lang="en-US" altLang="zh-CN" sz="2400" b="1" dirty="0" err="1"/>
              <a:t>0x</a:t>
            </a:r>
            <a:r>
              <a:rPr lang="zh-CN" altLang="en-US" sz="2400" b="1" dirty="0"/>
              <a:t>开头，</a:t>
            </a:r>
            <a:r>
              <a:rPr lang="en-US" altLang="zh-CN" sz="2400" b="1" dirty="0"/>
              <a:t>C</a:t>
            </a:r>
            <a:r>
              <a:rPr lang="zh-CN" altLang="en-US" sz="2400" b="1" dirty="0"/>
              <a:t>编译器会认为该常量是十六进制数。例</a:t>
            </a:r>
            <a:r>
              <a:rPr lang="en-US" altLang="zh-CN" sz="2400" b="1" dirty="0" err="1"/>
              <a:t>0xFF</a:t>
            </a:r>
            <a:r>
              <a:rPr lang="zh-CN" altLang="en-US" sz="2400" b="1" dirty="0"/>
              <a:t>即十进制的</a:t>
            </a:r>
            <a:r>
              <a:rPr lang="en-US" altLang="zh-CN" sz="2400" b="1" dirty="0"/>
              <a:t>255</a:t>
            </a:r>
            <a:r>
              <a:rPr lang="zh-CN" altLang="en-US" sz="2400" b="1" dirty="0"/>
              <a:t>。</a:t>
            </a:r>
          </a:p>
          <a:p>
            <a:pPr marL="0" indent="0" algn="just" eaLnBrk="1" hangingPunct="1">
              <a:buNone/>
            </a:pP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E49AAA-D3CB-B16E-D446-6DB36DE33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文字常量练习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8E89641-7FAB-50D6-96C9-760350E8D0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268760"/>
            <a:ext cx="8352928" cy="4611687"/>
          </a:xfrm>
        </p:spPr>
        <p:txBody>
          <a:bodyPr/>
          <a:lstStyle/>
          <a:p>
            <a:r>
              <a:rPr lang="en-US" altLang="zh-CN" sz="2400" dirty="0" err="1"/>
              <a:t>printf</a:t>
            </a:r>
            <a:r>
              <a:rPr lang="en-US" altLang="zh-CN" sz="2400" dirty="0"/>
              <a:t>()</a:t>
            </a:r>
            <a:r>
              <a:rPr lang="zh-CN" altLang="en-US" sz="2400" dirty="0"/>
              <a:t>函数根据转换说明打印各种类型的值。转换说明最简单的形式由一个百分号（</a:t>
            </a:r>
            <a:r>
              <a:rPr lang="en-US" altLang="zh-CN" sz="2400" dirty="0"/>
              <a:t>%</a:t>
            </a:r>
            <a:r>
              <a:rPr lang="zh-CN" altLang="en-US" sz="2400" dirty="0"/>
              <a:t>）和一个转换字符组成，如</a:t>
            </a:r>
            <a:r>
              <a:rPr lang="en-US" altLang="zh-CN" sz="2400" dirty="0"/>
              <a:t>%d</a:t>
            </a:r>
            <a:r>
              <a:rPr lang="zh-CN" altLang="en-US" sz="2400" dirty="0"/>
              <a:t>或</a:t>
            </a:r>
            <a:r>
              <a:rPr lang="en-US" altLang="zh-CN" sz="2400" dirty="0"/>
              <a:t>%f</a:t>
            </a:r>
            <a:r>
              <a:rPr lang="zh-CN" altLang="en-US" sz="2400" dirty="0"/>
              <a:t>，</a:t>
            </a:r>
            <a:r>
              <a:rPr lang="en-US" altLang="zh-CN" sz="2400" dirty="0"/>
              <a:t>%d</a:t>
            </a:r>
            <a:r>
              <a:rPr lang="zh-CN" altLang="en-US" sz="2400" dirty="0"/>
              <a:t>表示按整数类型打印，</a:t>
            </a:r>
            <a:r>
              <a:rPr lang="en-US" altLang="zh-CN" sz="2400" dirty="0"/>
              <a:t>%f</a:t>
            </a:r>
            <a:r>
              <a:rPr lang="zh-CN" altLang="en-US" sz="2400" dirty="0"/>
              <a:t>表示按浮点数打印，</a:t>
            </a:r>
            <a:r>
              <a:rPr lang="en-US" altLang="zh-CN" sz="2400" dirty="0"/>
              <a:t>%e</a:t>
            </a:r>
            <a:r>
              <a:rPr lang="zh-CN" altLang="en-US" sz="2400" dirty="0"/>
              <a:t>表示按</a:t>
            </a:r>
            <a:r>
              <a:rPr lang="en-US" altLang="zh-CN" sz="2400" dirty="0"/>
              <a:t>e</a:t>
            </a:r>
            <a:r>
              <a:rPr lang="zh-CN" altLang="en-US" sz="2400" dirty="0"/>
              <a:t>计数法打印。</a:t>
            </a:r>
            <a:endParaRPr lang="en-US" altLang="zh-CN" sz="2400" dirty="0"/>
          </a:p>
          <a:p>
            <a:pPr marL="0" indent="0">
              <a:buNone/>
            </a:pPr>
            <a:r>
              <a:rPr lang="pt-BR" altLang="zh-CN" sz="2400" dirty="0">
                <a:latin typeface="Consolas" panose="020B0609020204030204" pitchFamily="49" charset="0"/>
              </a:rPr>
              <a:t>#include&lt;stdio.h&gt; </a:t>
            </a:r>
          </a:p>
          <a:p>
            <a:pPr marL="0" indent="0">
              <a:buNone/>
            </a:pPr>
            <a:r>
              <a:rPr lang="pt-BR" altLang="zh-CN" sz="2400" dirty="0">
                <a:latin typeface="Consolas" panose="020B0609020204030204" pitchFamily="49" charset="0"/>
              </a:rPr>
              <a:t>int main(void){</a:t>
            </a:r>
          </a:p>
          <a:p>
            <a:pPr marL="0" indent="0">
              <a:buNone/>
            </a:pPr>
            <a:r>
              <a:rPr lang="pt-BR" altLang="zh-CN" sz="2400" dirty="0">
                <a:latin typeface="Consolas" panose="020B0609020204030204" pitchFamily="49" charset="0"/>
              </a:rPr>
              <a:t>	printf("%d\n",12);</a:t>
            </a:r>
          </a:p>
          <a:p>
            <a:pPr marL="0" indent="0">
              <a:buNone/>
            </a:pPr>
            <a:r>
              <a:rPr lang="pt-BR" altLang="zh-CN" sz="2400" dirty="0">
                <a:latin typeface="Consolas" panose="020B0609020204030204" pitchFamily="49" charset="0"/>
              </a:rPr>
              <a:t>	printf(“%#x\n”,0x3);</a:t>
            </a:r>
            <a:r>
              <a:rPr lang="en-US" altLang="zh-CN" sz="2400" dirty="0">
                <a:latin typeface="Consolas" panose="020B0609020204030204" pitchFamily="49" charset="0"/>
              </a:rPr>
              <a:t>//16</a:t>
            </a:r>
            <a:r>
              <a:rPr lang="zh-CN" altLang="en-US" sz="2400" dirty="0">
                <a:latin typeface="Consolas" panose="020B0609020204030204" pitchFamily="49" charset="0"/>
              </a:rPr>
              <a:t>进制前缀打印</a:t>
            </a:r>
            <a:endParaRPr lang="pt-BR" altLang="zh-CN" sz="24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pt-BR" altLang="zh-CN" sz="2400" dirty="0">
                <a:latin typeface="Consolas" panose="020B0609020204030204" pitchFamily="49" charset="0"/>
              </a:rPr>
              <a:t>	printf("%c\n",'c');</a:t>
            </a:r>
          </a:p>
          <a:p>
            <a:pPr marL="0" indent="0">
              <a:buNone/>
            </a:pPr>
            <a:r>
              <a:rPr lang="pt-BR" altLang="zh-CN" sz="2400" dirty="0">
                <a:latin typeface="Consolas" panose="020B0609020204030204" pitchFamily="49" charset="0"/>
              </a:rPr>
              <a:t>	printf("%c\n",'\041');</a:t>
            </a:r>
          </a:p>
          <a:p>
            <a:pPr marL="0" indent="0">
              <a:buNone/>
            </a:pPr>
            <a:r>
              <a:rPr lang="pt-BR" altLang="zh-CN" sz="2400" dirty="0">
                <a:latin typeface="Consolas" panose="020B0609020204030204" pitchFamily="49" charset="0"/>
              </a:rPr>
              <a:t>	printf("%e\n",2.34e07);</a:t>
            </a:r>
          </a:p>
          <a:p>
            <a:pPr marL="0" indent="0">
              <a:buNone/>
            </a:pPr>
            <a:r>
              <a:rPr lang="pt-BR" altLang="zh-CN" sz="2400" dirty="0">
                <a:latin typeface="Consolas" panose="020B0609020204030204" pitchFamily="49" charset="0"/>
              </a:rPr>
              <a:t>	printf("%f\n",7.0);	</a:t>
            </a:r>
          </a:p>
          <a:p>
            <a:pPr marL="0" indent="0">
              <a:buNone/>
            </a:pPr>
            <a:r>
              <a:rPr lang="pt-BR" altLang="zh-CN" sz="2400" dirty="0">
                <a:latin typeface="Consolas" panose="020B0609020204030204" pitchFamily="49" charset="0"/>
              </a:rPr>
              <a:t>}</a:t>
            </a:r>
            <a:endParaRPr lang="zh-CN" altLang="en-US" sz="2400" dirty="0">
              <a:latin typeface="Consolas" panose="020B0609020204030204" pitchFamily="49" charset="0"/>
            </a:endParaRPr>
          </a:p>
          <a:p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958951443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灯片编号占位符 5"/>
          <p:cNvSpPr txBox="1">
            <a:spLocks noGrp="1"/>
          </p:cNvSpPr>
          <p:nvPr/>
        </p:nvSpPr>
        <p:spPr>
          <a:xfrm>
            <a:off x="6934200" y="63246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r">
              <a:spcBef>
                <a:spcPct val="50000"/>
              </a:spcBef>
            </a:pPr>
            <a:fld id="{9A0DB2DC-4C9A-4742-B13C-FB6460FD3503}" type="slidenum">
              <a:rPr lang="zh-CN" altLang="en-US" sz="1400" dirty="0">
                <a:latin typeface="Times New Roman" panose="02020603050405020304" pitchFamily="2" charset="0"/>
              </a:rPr>
              <a:t>21</a:t>
            </a:fld>
            <a:endParaRPr lang="zh-CN" altLang="en-US" sz="1400" dirty="0">
              <a:latin typeface="Times New Roman" panose="02020603050405020304" pitchFamily="2" charset="0"/>
            </a:endParaRPr>
          </a:p>
        </p:txBody>
      </p:sp>
      <p:sp>
        <p:nvSpPr>
          <p:cNvPr id="39939" name="Rectangle 5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eaLnBrk="1" hangingPunct="1"/>
            <a:r>
              <a:rPr lang="zh-CN" altLang="en-US" b="1" dirty="0"/>
              <a:t>命名常量：被保护的变量</a:t>
            </a:r>
          </a:p>
        </p:txBody>
      </p:sp>
      <p:sp>
        <p:nvSpPr>
          <p:cNvPr id="31747" name="Rectangle 3"/>
          <p:cNvSpPr>
            <a:spLocks noGrp="1"/>
          </p:cNvSpPr>
          <p:nvPr>
            <p:ph idx="1"/>
          </p:nvPr>
        </p:nvSpPr>
        <p:spPr>
          <a:xfrm>
            <a:off x="479293" y="1165582"/>
            <a:ext cx="7772400" cy="4611687"/>
          </a:xfrm>
        </p:spPr>
        <p:txBody>
          <a:bodyPr wrap="square" anchor="t"/>
          <a:lstStyle/>
          <a:p>
            <a:pPr algn="just" eaLnBrk="1" hangingPunct="1">
              <a:buFont typeface="Wingdings" panose="05000000000000000000" pitchFamily="2" charset="2"/>
              <a:buChar char="u"/>
            </a:pPr>
            <a:r>
              <a:rPr lang="zh-CN" altLang="en-US" b="1" dirty="0">
                <a:solidFill>
                  <a:srgbClr val="000099"/>
                </a:solidFill>
                <a:latin typeface="宋体" panose="02010600030101010101" pitchFamily="2" charset="-122"/>
              </a:rPr>
              <a:t>不能改写的变量</a:t>
            </a:r>
            <a:r>
              <a:rPr lang="en-US" altLang="zh-CN" b="1" dirty="0">
                <a:solidFill>
                  <a:srgbClr val="000099"/>
                </a:solidFill>
                <a:latin typeface="宋体" panose="02010600030101010101" pitchFamily="2" charset="-122"/>
              </a:rPr>
              <a:t>(</a:t>
            </a:r>
            <a:r>
              <a:rPr lang="zh-CN" altLang="en-US" b="1" dirty="0">
                <a:solidFill>
                  <a:srgbClr val="000099"/>
                </a:solidFill>
                <a:latin typeface="宋体" panose="02010600030101010101" pitchFamily="2" charset="-122"/>
              </a:rPr>
              <a:t>命名常量</a:t>
            </a:r>
            <a:r>
              <a:rPr lang="en-US" altLang="zh-CN" b="1" dirty="0">
                <a:solidFill>
                  <a:srgbClr val="000099"/>
                </a:solidFill>
                <a:latin typeface="宋体" panose="02010600030101010101" pitchFamily="2" charset="-122"/>
              </a:rPr>
              <a:t>)</a:t>
            </a:r>
            <a:endParaRPr lang="zh-CN" altLang="en-US" b="1" u="sng" dirty="0">
              <a:solidFill>
                <a:srgbClr val="000099"/>
              </a:solidFill>
              <a:latin typeface="宋体" panose="02010600030101010101" pitchFamily="2" charset="-122"/>
            </a:endParaRPr>
          </a:p>
          <a:p>
            <a:pPr algn="just" eaLnBrk="1" hangingPunct="1">
              <a:buNone/>
            </a:pPr>
            <a:r>
              <a:rPr lang="zh-CN" altLang="en-US" b="1" dirty="0">
                <a:latin typeface="宋体" panose="02010600030101010101" pitchFamily="2" charset="-122"/>
              </a:rPr>
              <a:t>	有些变量一旦声明并初始化</a:t>
            </a:r>
            <a:r>
              <a:rPr lang="en-US" altLang="zh-CN" b="1" dirty="0">
                <a:latin typeface="宋体" panose="02010600030101010101" pitchFamily="2" charset="-122"/>
              </a:rPr>
              <a:t>,</a:t>
            </a:r>
            <a:r>
              <a:rPr lang="zh-CN" altLang="en-US" b="1" dirty="0">
                <a:latin typeface="宋体" panose="02010600030101010101" pitchFamily="2" charset="-122"/>
              </a:rPr>
              <a:t>便</a:t>
            </a:r>
            <a:r>
              <a:rPr lang="zh-CN" altLang="en-US" b="1" u="sng" dirty="0">
                <a:solidFill>
                  <a:srgbClr val="000099"/>
                </a:solidFill>
                <a:latin typeface="宋体" panose="02010600030101010101" pitchFamily="2" charset="-122"/>
              </a:rPr>
              <a:t>不允许程序去改变该存储空间中的数据</a:t>
            </a:r>
            <a:r>
              <a:rPr lang="zh-CN" altLang="en-US" b="1" dirty="0">
                <a:latin typeface="宋体" panose="02010600030101010101" pitchFamily="2" charset="-122"/>
              </a:rPr>
              <a:t>。</a:t>
            </a:r>
          </a:p>
          <a:p>
            <a:pPr algn="just" eaLnBrk="1" hangingPunct="1">
              <a:buNone/>
            </a:pPr>
            <a:endParaRPr lang="zh-CN" altLang="en-US" sz="900" b="1" dirty="0">
              <a:latin typeface="宋体" panose="02010600030101010101" pitchFamily="2" charset="-122"/>
            </a:endParaRPr>
          </a:p>
          <a:p>
            <a:pPr algn="just" eaLnBrk="1" hangingPunct="1">
              <a:buNone/>
            </a:pPr>
            <a:r>
              <a:rPr lang="en-US" altLang="zh-CN" b="1" dirty="0">
                <a:latin typeface="宋体" panose="02010600030101010101" pitchFamily="2" charset="-122"/>
              </a:rPr>
              <a:t>  C</a:t>
            </a:r>
            <a:r>
              <a:rPr lang="zh-CN" altLang="en-US" b="1" dirty="0">
                <a:latin typeface="宋体" panose="02010600030101010101" pitchFamily="2" charset="-122"/>
              </a:rPr>
              <a:t>语言中定义一个不能改写的变量：</a:t>
            </a:r>
          </a:p>
          <a:p>
            <a:pPr algn="just" eaLnBrk="1" hangingPunct="1">
              <a:buNone/>
            </a:pPr>
            <a:r>
              <a:rPr lang="zh-CN" altLang="en-US" b="1" dirty="0">
                <a:latin typeface="宋体" panose="02010600030101010101" pitchFamily="2" charset="-122"/>
              </a:rPr>
              <a:t>  </a:t>
            </a:r>
            <a:r>
              <a:rPr lang="en-US" altLang="zh-CN" b="1" dirty="0">
                <a:solidFill>
                  <a:srgbClr val="FF3300"/>
                </a:solidFill>
                <a:latin typeface="宋体" panose="02010600030101010101" pitchFamily="2" charset="-122"/>
              </a:rPr>
              <a:t>const </a:t>
            </a:r>
            <a:r>
              <a:rPr lang="en-US" altLang="zh-CN" b="1" dirty="0">
                <a:solidFill>
                  <a:schemeClr val="tx1"/>
                </a:solidFill>
                <a:latin typeface="宋体" panose="02010600030101010101" pitchFamily="2" charset="-122"/>
              </a:rPr>
              <a:t>float pi = 3.14;</a:t>
            </a:r>
          </a:p>
          <a:p>
            <a:pPr algn="just" eaLnBrk="1" hangingPunct="1">
              <a:buNone/>
            </a:pPr>
            <a:r>
              <a:rPr lang="zh-CN" altLang="en-US" b="1" dirty="0">
                <a:latin typeface="宋体" panose="02010600030101010101" pitchFamily="2" charset="-122"/>
              </a:rPr>
              <a:t>  </a:t>
            </a:r>
            <a:endParaRPr lang="en-US" altLang="zh-CN" b="1" dirty="0"/>
          </a:p>
        </p:txBody>
      </p:sp>
      <p:grpSp>
        <p:nvGrpSpPr>
          <p:cNvPr id="31749" name="组合 31748"/>
          <p:cNvGrpSpPr/>
          <p:nvPr/>
        </p:nvGrpSpPr>
        <p:grpSpPr>
          <a:xfrm>
            <a:off x="5435600" y="3350691"/>
            <a:ext cx="3600450" cy="3167063"/>
            <a:chOff x="0" y="0"/>
            <a:chExt cx="2191" cy="1905"/>
          </a:xfrm>
        </p:grpSpPr>
        <p:sp>
          <p:nvSpPr>
            <p:cNvPr id="39941" name="Rectangle 10"/>
            <p:cNvSpPr/>
            <p:nvPr/>
          </p:nvSpPr>
          <p:spPr>
            <a:xfrm>
              <a:off x="377" y="363"/>
              <a:ext cx="996" cy="183"/>
            </a:xfrm>
            <a:prstGeom prst="rect">
              <a:avLst/>
            </a:prstGeom>
            <a:solidFill>
              <a:srgbClr val="E6E6E6"/>
            </a:solidFill>
            <a:ln w="9525">
              <a:noFill/>
            </a:ln>
          </p:spPr>
          <p:txBody>
            <a:bodyPr anchor="t"/>
            <a:lstStyle/>
            <a:p>
              <a:endParaRPr lang="zh-CN" altLang="en-US" dirty="0">
                <a:latin typeface="Times New Roman" panose="02020603050405020304" pitchFamily="2" charset="0"/>
              </a:endParaRPr>
            </a:p>
          </p:txBody>
        </p:sp>
        <p:sp>
          <p:nvSpPr>
            <p:cNvPr id="39942" name="Rectangle 11"/>
            <p:cNvSpPr/>
            <p:nvPr/>
          </p:nvSpPr>
          <p:spPr>
            <a:xfrm>
              <a:off x="377" y="363"/>
              <a:ext cx="996" cy="183"/>
            </a:xfrm>
            <a:prstGeom prst="rect">
              <a:avLst/>
            </a:prstGeom>
            <a:gradFill rotWithShape="1">
              <a:gsLst>
                <a:gs pos="0">
                  <a:srgbClr val="9966FF"/>
                </a:gs>
                <a:gs pos="100000">
                  <a:schemeClr val="bg1"/>
                </a:gs>
              </a:gsLst>
              <a:lin ang="5400000" scaled="1"/>
              <a:tileRect/>
            </a:gradFill>
            <a:ln w="1587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dirty="0">
                <a:latin typeface="Times New Roman" panose="02020603050405020304" pitchFamily="2" charset="0"/>
              </a:endParaRPr>
            </a:p>
          </p:txBody>
        </p:sp>
        <p:sp>
          <p:nvSpPr>
            <p:cNvPr id="39943" name="Rectangle 12"/>
            <p:cNvSpPr/>
            <p:nvPr/>
          </p:nvSpPr>
          <p:spPr>
            <a:xfrm>
              <a:off x="1488" y="376"/>
              <a:ext cx="703" cy="14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>
              <a:spAutoFit/>
            </a:bodyPr>
            <a:lstStyle/>
            <a:p>
              <a:r>
                <a:rPr lang="en-US" altLang="zh-CN" sz="1600" dirty="0">
                  <a:solidFill>
                    <a:srgbClr val="000000"/>
                  </a:solidFill>
                  <a:latin typeface="Times New Roman" panose="02020603050405020304" pitchFamily="2" charset="0"/>
                </a:rPr>
                <a:t>2000H</a:t>
              </a:r>
              <a:endParaRPr lang="zh-CN" altLang="en-US" sz="1600" dirty="0">
                <a:latin typeface="Times New Roman" panose="02020603050405020304" pitchFamily="2" charset="0"/>
              </a:endParaRPr>
            </a:p>
          </p:txBody>
        </p:sp>
        <p:sp>
          <p:nvSpPr>
            <p:cNvPr id="39944" name="Rectangle 13"/>
            <p:cNvSpPr/>
            <p:nvPr/>
          </p:nvSpPr>
          <p:spPr>
            <a:xfrm>
              <a:off x="377" y="546"/>
              <a:ext cx="996" cy="185"/>
            </a:xfrm>
            <a:prstGeom prst="rect">
              <a:avLst/>
            </a:prstGeom>
            <a:solidFill>
              <a:srgbClr val="E6E6E6"/>
            </a:solidFill>
            <a:ln w="9525">
              <a:noFill/>
            </a:ln>
          </p:spPr>
          <p:txBody>
            <a:bodyPr anchor="t"/>
            <a:lstStyle/>
            <a:p>
              <a:endParaRPr lang="zh-CN" altLang="en-US" dirty="0">
                <a:latin typeface="Times New Roman" panose="02020603050405020304" pitchFamily="2" charset="0"/>
              </a:endParaRPr>
            </a:p>
          </p:txBody>
        </p:sp>
        <p:sp>
          <p:nvSpPr>
            <p:cNvPr id="39945" name="Rectangle 14"/>
            <p:cNvSpPr/>
            <p:nvPr/>
          </p:nvSpPr>
          <p:spPr>
            <a:xfrm>
              <a:off x="377" y="546"/>
              <a:ext cx="996" cy="185"/>
            </a:xfrm>
            <a:prstGeom prst="rect">
              <a:avLst/>
            </a:prstGeom>
            <a:gradFill rotWithShape="1">
              <a:gsLst>
                <a:gs pos="0">
                  <a:srgbClr val="9966FF"/>
                </a:gs>
                <a:gs pos="100000">
                  <a:schemeClr val="bg1"/>
                </a:gs>
              </a:gsLst>
              <a:lin ang="5400000" scaled="1"/>
              <a:tileRect/>
            </a:gradFill>
            <a:ln w="1587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dirty="0">
                <a:latin typeface="Times New Roman" panose="02020603050405020304" pitchFamily="2" charset="0"/>
              </a:endParaRPr>
            </a:p>
          </p:txBody>
        </p:sp>
        <p:sp>
          <p:nvSpPr>
            <p:cNvPr id="39946" name="Rectangle 15"/>
            <p:cNvSpPr/>
            <p:nvPr/>
          </p:nvSpPr>
          <p:spPr>
            <a:xfrm>
              <a:off x="377" y="731"/>
              <a:ext cx="996" cy="398"/>
            </a:xfrm>
            <a:prstGeom prst="rect">
              <a:avLst/>
            </a:prstGeom>
            <a:gradFill rotWithShape="1">
              <a:gsLst>
                <a:gs pos="0">
                  <a:srgbClr val="9966FF"/>
                </a:gs>
                <a:gs pos="100000">
                  <a:schemeClr val="bg1"/>
                </a:gs>
              </a:gsLst>
              <a:lin ang="5400000" scaled="1"/>
              <a:tileRect/>
            </a:gradFill>
            <a:ln w="1587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dirty="0">
                <a:latin typeface="Times New Roman" panose="02020603050405020304" pitchFamily="2" charset="0"/>
              </a:endParaRPr>
            </a:p>
          </p:txBody>
        </p:sp>
        <p:sp>
          <p:nvSpPr>
            <p:cNvPr id="39947" name="Rectangle 16"/>
            <p:cNvSpPr/>
            <p:nvPr/>
          </p:nvSpPr>
          <p:spPr>
            <a:xfrm>
              <a:off x="377" y="731"/>
              <a:ext cx="996" cy="398"/>
            </a:xfrm>
            <a:prstGeom prst="rect">
              <a:avLst/>
            </a:prstGeom>
            <a:noFill/>
            <a:ln w="1587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dirty="0">
                <a:latin typeface="Times New Roman" panose="02020603050405020304" pitchFamily="2" charset="0"/>
              </a:endParaRPr>
            </a:p>
          </p:txBody>
        </p:sp>
        <p:sp>
          <p:nvSpPr>
            <p:cNvPr id="39948" name="Rectangle 17"/>
            <p:cNvSpPr/>
            <p:nvPr/>
          </p:nvSpPr>
          <p:spPr>
            <a:xfrm>
              <a:off x="1476" y="691"/>
              <a:ext cx="344" cy="14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r>
                <a:rPr lang="en-US" altLang="zh-CN" sz="1600" dirty="0">
                  <a:solidFill>
                    <a:srgbClr val="000000"/>
                  </a:solidFill>
                  <a:latin typeface="Times New Roman" panose="02020603050405020304" pitchFamily="2" charset="0"/>
                </a:rPr>
                <a:t>2002H</a:t>
              </a:r>
              <a:endParaRPr lang="en-US" altLang="zh-CN" sz="1600" dirty="0">
                <a:latin typeface="Times New Roman" panose="02020603050405020304" pitchFamily="2" charset="0"/>
              </a:endParaRPr>
            </a:p>
          </p:txBody>
        </p:sp>
        <p:sp>
          <p:nvSpPr>
            <p:cNvPr id="39949" name="Rectangle 18"/>
            <p:cNvSpPr/>
            <p:nvPr/>
          </p:nvSpPr>
          <p:spPr>
            <a:xfrm>
              <a:off x="377" y="1098"/>
              <a:ext cx="996" cy="245"/>
            </a:xfrm>
            <a:prstGeom prst="rect">
              <a:avLst/>
            </a:prstGeom>
            <a:gradFill rotWithShape="1">
              <a:gsLst>
                <a:gs pos="0">
                  <a:srgbClr val="9966FF"/>
                </a:gs>
                <a:gs pos="100000">
                  <a:schemeClr val="bg1"/>
                </a:gs>
              </a:gsLst>
              <a:lin ang="5400000" scaled="1"/>
              <a:tileRect/>
            </a:gradFill>
            <a:ln w="1587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dirty="0">
                <a:latin typeface="Times New Roman" panose="02020603050405020304" pitchFamily="2" charset="0"/>
              </a:endParaRPr>
            </a:p>
          </p:txBody>
        </p:sp>
        <p:sp>
          <p:nvSpPr>
            <p:cNvPr id="39950" name="Rectangle 19"/>
            <p:cNvSpPr/>
            <p:nvPr/>
          </p:nvSpPr>
          <p:spPr>
            <a:xfrm>
              <a:off x="377" y="1098"/>
              <a:ext cx="996" cy="245"/>
            </a:xfrm>
            <a:prstGeom prst="rect">
              <a:avLst/>
            </a:prstGeom>
            <a:noFill/>
            <a:ln w="1587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dirty="0">
                <a:latin typeface="Times New Roman" panose="02020603050405020304" pitchFamily="2" charset="0"/>
              </a:endParaRPr>
            </a:p>
          </p:txBody>
        </p:sp>
        <p:sp>
          <p:nvSpPr>
            <p:cNvPr id="39951" name="Rectangle 20"/>
            <p:cNvSpPr/>
            <p:nvPr/>
          </p:nvSpPr>
          <p:spPr>
            <a:xfrm>
              <a:off x="377" y="1343"/>
              <a:ext cx="996" cy="185"/>
            </a:xfrm>
            <a:prstGeom prst="rect">
              <a:avLst/>
            </a:prstGeom>
            <a:solidFill>
              <a:srgbClr val="E6E6E6"/>
            </a:solidFill>
            <a:ln w="9525">
              <a:noFill/>
            </a:ln>
          </p:spPr>
          <p:txBody>
            <a:bodyPr anchor="t"/>
            <a:lstStyle/>
            <a:p>
              <a:endParaRPr lang="zh-CN" altLang="en-US" dirty="0">
                <a:latin typeface="Times New Roman" panose="02020603050405020304" pitchFamily="2" charset="0"/>
              </a:endParaRPr>
            </a:p>
          </p:txBody>
        </p:sp>
        <p:sp>
          <p:nvSpPr>
            <p:cNvPr id="39952" name="Rectangle 21"/>
            <p:cNvSpPr/>
            <p:nvPr/>
          </p:nvSpPr>
          <p:spPr>
            <a:xfrm>
              <a:off x="377" y="1719"/>
              <a:ext cx="996" cy="186"/>
            </a:xfrm>
            <a:prstGeom prst="rect">
              <a:avLst/>
            </a:prstGeom>
            <a:solidFill>
              <a:srgbClr val="E6E6E6"/>
            </a:solidFill>
            <a:ln w="9525">
              <a:noFill/>
            </a:ln>
          </p:spPr>
          <p:txBody>
            <a:bodyPr anchor="t"/>
            <a:lstStyle/>
            <a:p>
              <a:endParaRPr lang="zh-CN" altLang="en-US" dirty="0">
                <a:latin typeface="Times New Roman" panose="02020603050405020304" pitchFamily="2" charset="0"/>
              </a:endParaRPr>
            </a:p>
          </p:txBody>
        </p:sp>
        <p:sp>
          <p:nvSpPr>
            <p:cNvPr id="39953" name="Rectangle 22"/>
            <p:cNvSpPr/>
            <p:nvPr/>
          </p:nvSpPr>
          <p:spPr>
            <a:xfrm>
              <a:off x="377" y="1074"/>
              <a:ext cx="996" cy="831"/>
            </a:xfrm>
            <a:prstGeom prst="rect">
              <a:avLst/>
            </a:prstGeom>
            <a:gradFill rotWithShape="1">
              <a:gsLst>
                <a:gs pos="0">
                  <a:srgbClr val="9966FF"/>
                </a:gs>
                <a:gs pos="100000">
                  <a:schemeClr val="bg1"/>
                </a:gs>
              </a:gsLst>
              <a:lin ang="5400000" scaled="1"/>
              <a:tileRect/>
            </a:gradFill>
            <a:ln w="1587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dirty="0">
                <a:latin typeface="Times New Roman" panose="02020603050405020304" pitchFamily="2" charset="0"/>
              </a:endParaRPr>
            </a:p>
          </p:txBody>
        </p:sp>
        <p:sp>
          <p:nvSpPr>
            <p:cNvPr id="39954" name="Rectangle 23"/>
            <p:cNvSpPr/>
            <p:nvPr/>
          </p:nvSpPr>
          <p:spPr>
            <a:xfrm>
              <a:off x="1476" y="1129"/>
              <a:ext cx="703" cy="14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>
              <a:spAutoFit/>
            </a:bodyPr>
            <a:lstStyle/>
            <a:p>
              <a:r>
                <a:rPr lang="en-US" altLang="zh-CN" sz="1600" dirty="0">
                  <a:solidFill>
                    <a:srgbClr val="000000"/>
                  </a:solidFill>
                  <a:latin typeface="Times New Roman" panose="02020603050405020304" pitchFamily="2" charset="0"/>
                </a:rPr>
                <a:t>2004H</a:t>
              </a:r>
              <a:endParaRPr lang="en-US" altLang="zh-CN" sz="1600" dirty="0">
                <a:latin typeface="Times New Roman" panose="02020603050405020304" pitchFamily="2" charset="0"/>
              </a:endParaRPr>
            </a:p>
          </p:txBody>
        </p:sp>
        <p:sp>
          <p:nvSpPr>
            <p:cNvPr id="39955" name="Rectangle 24"/>
            <p:cNvSpPr/>
            <p:nvPr/>
          </p:nvSpPr>
          <p:spPr>
            <a:xfrm>
              <a:off x="1476" y="1293"/>
              <a:ext cx="344" cy="14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r>
                <a:rPr lang="en-US" altLang="zh-CN" sz="1600" dirty="0">
                  <a:solidFill>
                    <a:srgbClr val="000000"/>
                  </a:solidFill>
                  <a:latin typeface="Times New Roman" panose="02020603050405020304" pitchFamily="2" charset="0"/>
                </a:rPr>
                <a:t>2005H</a:t>
              </a:r>
              <a:endParaRPr lang="en-US" altLang="zh-CN" sz="1600" dirty="0">
                <a:latin typeface="Times New Roman" panose="02020603050405020304" pitchFamily="2" charset="0"/>
              </a:endParaRPr>
            </a:p>
          </p:txBody>
        </p:sp>
        <p:sp>
          <p:nvSpPr>
            <p:cNvPr id="39956" name="Rectangle 25"/>
            <p:cNvSpPr/>
            <p:nvPr/>
          </p:nvSpPr>
          <p:spPr>
            <a:xfrm>
              <a:off x="1476" y="1708"/>
              <a:ext cx="344" cy="14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r>
                <a:rPr lang="en-US" altLang="zh-CN" sz="1600" dirty="0">
                  <a:solidFill>
                    <a:srgbClr val="000000"/>
                  </a:solidFill>
                  <a:latin typeface="Times New Roman" panose="02020603050405020304" pitchFamily="2" charset="0"/>
                </a:rPr>
                <a:t>2007H</a:t>
              </a:r>
              <a:endParaRPr lang="en-US" altLang="zh-CN" sz="1600" dirty="0">
                <a:latin typeface="Times New Roman" panose="02020603050405020304" pitchFamily="2" charset="0"/>
              </a:endParaRPr>
            </a:p>
          </p:txBody>
        </p:sp>
        <p:sp>
          <p:nvSpPr>
            <p:cNvPr id="39957" name="Rectangle 26"/>
            <p:cNvSpPr/>
            <p:nvPr/>
          </p:nvSpPr>
          <p:spPr>
            <a:xfrm>
              <a:off x="1476" y="1512"/>
              <a:ext cx="344" cy="14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r>
                <a:rPr lang="en-US" altLang="zh-CN" sz="1600" dirty="0">
                  <a:solidFill>
                    <a:srgbClr val="000000"/>
                  </a:solidFill>
                  <a:latin typeface="Times New Roman" panose="02020603050405020304" pitchFamily="2" charset="0"/>
                </a:rPr>
                <a:t>2006H</a:t>
              </a:r>
              <a:endParaRPr lang="en-US" altLang="zh-CN" sz="1600" dirty="0">
                <a:latin typeface="Times New Roman" panose="02020603050405020304" pitchFamily="2" charset="0"/>
              </a:endParaRPr>
            </a:p>
          </p:txBody>
        </p:sp>
        <p:sp>
          <p:nvSpPr>
            <p:cNvPr id="39958" name="Rectangle 27"/>
            <p:cNvSpPr/>
            <p:nvPr/>
          </p:nvSpPr>
          <p:spPr>
            <a:xfrm>
              <a:off x="1476" y="910"/>
              <a:ext cx="344" cy="14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r>
                <a:rPr lang="en-US" altLang="zh-CN" sz="1600" dirty="0">
                  <a:solidFill>
                    <a:srgbClr val="000000"/>
                  </a:solidFill>
                  <a:latin typeface="Times New Roman" panose="02020603050405020304" pitchFamily="2" charset="0"/>
                </a:rPr>
                <a:t>2003H</a:t>
              </a:r>
              <a:endParaRPr lang="en-US" altLang="zh-CN" sz="1600" dirty="0">
                <a:latin typeface="Times New Roman" panose="02020603050405020304" pitchFamily="2" charset="0"/>
              </a:endParaRPr>
            </a:p>
          </p:txBody>
        </p:sp>
        <p:sp>
          <p:nvSpPr>
            <p:cNvPr id="39959" name="Rectangle 28"/>
            <p:cNvSpPr/>
            <p:nvPr/>
          </p:nvSpPr>
          <p:spPr>
            <a:xfrm>
              <a:off x="1476" y="527"/>
              <a:ext cx="344" cy="14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r>
                <a:rPr lang="en-US" altLang="zh-CN" sz="1600" dirty="0">
                  <a:solidFill>
                    <a:srgbClr val="000000"/>
                  </a:solidFill>
                  <a:latin typeface="Times New Roman" panose="02020603050405020304" pitchFamily="2" charset="0"/>
                </a:rPr>
                <a:t>2001H</a:t>
              </a:r>
              <a:endParaRPr lang="en-US" altLang="zh-CN" sz="1600" dirty="0">
                <a:latin typeface="Times New Roman" panose="02020603050405020304" pitchFamily="2" charset="0"/>
              </a:endParaRPr>
            </a:p>
          </p:txBody>
        </p:sp>
        <p:sp>
          <p:nvSpPr>
            <p:cNvPr id="39960" name="Line 30"/>
            <p:cNvSpPr/>
            <p:nvPr/>
          </p:nvSpPr>
          <p:spPr>
            <a:xfrm flipV="1">
              <a:off x="377" y="907"/>
              <a:ext cx="983" cy="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61" name="Line 33"/>
            <p:cNvSpPr/>
            <p:nvPr/>
          </p:nvSpPr>
          <p:spPr>
            <a:xfrm>
              <a:off x="377" y="1293"/>
              <a:ext cx="16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62" name="Line 34"/>
            <p:cNvSpPr/>
            <p:nvPr/>
          </p:nvSpPr>
          <p:spPr>
            <a:xfrm>
              <a:off x="1202" y="1293"/>
              <a:ext cx="16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63" name="Line 35"/>
            <p:cNvSpPr/>
            <p:nvPr/>
          </p:nvSpPr>
          <p:spPr>
            <a:xfrm>
              <a:off x="377" y="1512"/>
              <a:ext cx="16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64" name="Line 36"/>
            <p:cNvSpPr/>
            <p:nvPr/>
          </p:nvSpPr>
          <p:spPr>
            <a:xfrm>
              <a:off x="1202" y="1512"/>
              <a:ext cx="16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65" name="Line 37"/>
            <p:cNvSpPr/>
            <p:nvPr/>
          </p:nvSpPr>
          <p:spPr>
            <a:xfrm>
              <a:off x="377" y="1730"/>
              <a:ext cx="16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66" name="Line 38"/>
            <p:cNvSpPr/>
            <p:nvPr/>
          </p:nvSpPr>
          <p:spPr>
            <a:xfrm>
              <a:off x="1202" y="1730"/>
              <a:ext cx="16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67" name="Rectangle 39"/>
            <p:cNvSpPr/>
            <p:nvPr/>
          </p:nvSpPr>
          <p:spPr>
            <a:xfrm>
              <a:off x="707" y="1381"/>
              <a:ext cx="217" cy="14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r>
                <a:rPr lang="en-US" altLang="zh-CN" sz="1600" dirty="0">
                  <a:solidFill>
                    <a:srgbClr val="FF3300"/>
                  </a:solidFill>
                  <a:latin typeface="Times New Roman" panose="02020603050405020304" pitchFamily="2" charset="0"/>
                </a:rPr>
                <a:t>3.14</a:t>
              </a:r>
            </a:p>
          </p:txBody>
        </p:sp>
        <p:sp>
          <p:nvSpPr>
            <p:cNvPr id="39968" name="Text Box 40"/>
            <p:cNvSpPr txBox="1"/>
            <p:nvPr/>
          </p:nvSpPr>
          <p:spPr>
            <a:xfrm>
              <a:off x="422" y="0"/>
              <a:ext cx="1361" cy="239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 dirty="0">
                  <a:solidFill>
                    <a:srgbClr val="000099"/>
                  </a:solidFill>
                  <a:latin typeface="Times New Roman" panose="02020603050405020304" pitchFamily="2" charset="0"/>
                </a:rPr>
                <a:t>存储空间</a:t>
              </a:r>
            </a:p>
          </p:txBody>
        </p:sp>
        <p:sp>
          <p:nvSpPr>
            <p:cNvPr id="39969" name="Rectangle 44"/>
            <p:cNvSpPr/>
            <p:nvPr/>
          </p:nvSpPr>
          <p:spPr>
            <a:xfrm>
              <a:off x="0" y="1406"/>
              <a:ext cx="128" cy="18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2" charset="0"/>
                </a:rPr>
                <a:t>pi</a:t>
              </a:r>
              <a:endParaRPr lang="en-US" altLang="zh-CN" sz="2000" dirty="0">
                <a:latin typeface="Times New Roman" panose="02020603050405020304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2510421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charRg st="67" end="8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1747">
                                            <p:txEl>
                                              <p:charRg st="67" end="8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charRg st="83" end="9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1747">
                                            <p:txEl>
                                              <p:charRg st="83" end="9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charRg st="96" end="9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1747">
                                            <p:txEl>
                                              <p:charRg st="96" end="9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31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灯片编号占位符 5"/>
          <p:cNvSpPr txBox="1">
            <a:spLocks noGrp="1"/>
          </p:cNvSpPr>
          <p:nvPr/>
        </p:nvSpPr>
        <p:spPr>
          <a:xfrm>
            <a:off x="6934200" y="63246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r">
              <a:spcBef>
                <a:spcPct val="50000"/>
              </a:spcBef>
            </a:pPr>
            <a:fld id="{9A0DB2DC-4C9A-4742-B13C-FB6460FD3503}" type="slidenum">
              <a:rPr lang="zh-CN" altLang="en-US" sz="1400" dirty="0">
                <a:latin typeface="Times New Roman" panose="02020603050405020304" pitchFamily="2" charset="0"/>
              </a:rPr>
              <a:t>22</a:t>
            </a:fld>
            <a:endParaRPr lang="zh-CN" altLang="en-US" sz="1400" dirty="0">
              <a:latin typeface="Times New Roman" panose="02020603050405020304" pitchFamily="2" charset="0"/>
            </a:endParaRPr>
          </a:p>
        </p:txBody>
      </p:sp>
      <p:sp>
        <p:nvSpPr>
          <p:cNvPr id="39939" name="Rectangle 5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eaLnBrk="1" hangingPunct="1"/>
            <a:r>
              <a:rPr lang="zh-CN" altLang="en-US" b="1" dirty="0"/>
              <a:t>符号常量</a:t>
            </a:r>
          </a:p>
        </p:txBody>
      </p:sp>
      <p:sp>
        <p:nvSpPr>
          <p:cNvPr id="31747" name="Rectangle 3"/>
          <p:cNvSpPr>
            <a:spLocks noGrp="1"/>
          </p:cNvSpPr>
          <p:nvPr>
            <p:ph idx="1"/>
          </p:nvPr>
        </p:nvSpPr>
        <p:spPr>
          <a:xfrm>
            <a:off x="479293" y="1165582"/>
            <a:ext cx="7772400" cy="4611687"/>
          </a:xfrm>
        </p:spPr>
        <p:txBody>
          <a:bodyPr wrap="square" anchor="t"/>
          <a:lstStyle/>
          <a:p>
            <a:pPr algn="just" eaLnBrk="1" hangingPunct="1"/>
            <a:r>
              <a:rPr lang="zh-CN" altLang="en-US" b="1" dirty="0">
                <a:solidFill>
                  <a:srgbClr val="000099"/>
                </a:solidFill>
                <a:latin typeface="宋体" panose="02010600030101010101" pitchFamily="2" charset="-122"/>
              </a:rPr>
              <a:t>符号常量：程序代码中预先统一设定的文字常量，并以自定义的标识符表示。类似 速记中的速记符号。</a:t>
            </a:r>
            <a:endParaRPr lang="zh-CN" altLang="en-US" b="1" u="sng" dirty="0">
              <a:solidFill>
                <a:srgbClr val="000099"/>
              </a:solidFill>
              <a:latin typeface="宋体" panose="02010600030101010101" pitchFamily="2" charset="-122"/>
            </a:endParaRPr>
          </a:p>
          <a:p>
            <a:pPr algn="just" eaLnBrk="1" hangingPunct="1">
              <a:buNone/>
            </a:pPr>
            <a:r>
              <a:rPr lang="zh-CN" altLang="en-US" b="1" dirty="0">
                <a:latin typeface="宋体" panose="02010600030101010101" pitchFamily="2" charset="-122"/>
              </a:rPr>
              <a:t>	符号常量的使用格式</a:t>
            </a:r>
            <a:r>
              <a:rPr lang="en-US" altLang="zh-CN" b="1" dirty="0">
                <a:latin typeface="宋体" panose="02010600030101010101" pitchFamily="2" charset="-122"/>
              </a:rPr>
              <a:t>:</a:t>
            </a:r>
          </a:p>
          <a:p>
            <a:pPr algn="just" eaLnBrk="1" hangingPunct="1">
              <a:buNone/>
            </a:pPr>
            <a:r>
              <a:rPr lang="en-US" altLang="zh-CN" b="1" dirty="0">
                <a:latin typeface="宋体" panose="02010600030101010101" pitchFamily="2" charset="-122"/>
              </a:rPr>
              <a:t>	</a:t>
            </a:r>
            <a:r>
              <a:rPr lang="en-US" altLang="zh-CN" dirty="0">
                <a:latin typeface="Consolas" panose="020B0609020204030204" pitchFamily="49" charset="0"/>
              </a:rPr>
              <a:t>#define </a:t>
            </a:r>
            <a:r>
              <a:rPr lang="zh-CN" altLang="en-US" dirty="0">
                <a:latin typeface="Consolas" panose="020B0609020204030204" pitchFamily="49" charset="0"/>
              </a:rPr>
              <a:t>常量名</a:t>
            </a:r>
            <a:r>
              <a:rPr lang="en-US" altLang="zh-CN" dirty="0">
                <a:latin typeface="Consolas" panose="020B0609020204030204" pitchFamily="49" charset="0"/>
              </a:rPr>
              <a:t> </a:t>
            </a:r>
            <a:r>
              <a:rPr lang="zh-CN" altLang="en-US" dirty="0">
                <a:latin typeface="Consolas" panose="020B0609020204030204" pitchFamily="49" charset="0"/>
              </a:rPr>
              <a:t>文字常量或表达式</a:t>
            </a:r>
          </a:p>
          <a:p>
            <a:pPr algn="just" eaLnBrk="1" hangingPunct="1">
              <a:buNone/>
            </a:pPr>
            <a:endParaRPr lang="zh-CN" altLang="en-US" sz="900" b="1" dirty="0">
              <a:latin typeface="宋体" panose="02010600030101010101" pitchFamily="2" charset="-122"/>
            </a:endParaRPr>
          </a:p>
          <a:p>
            <a:pPr algn="just" eaLnBrk="1" hangingPunct="1">
              <a:buNone/>
            </a:pPr>
            <a:r>
              <a:rPr lang="en-US" altLang="zh-CN" b="1" dirty="0">
                <a:latin typeface="宋体" panose="02010600030101010101" pitchFamily="2" charset="-122"/>
              </a:rPr>
              <a:t>  </a:t>
            </a:r>
            <a:r>
              <a:rPr lang="zh-CN" altLang="en-US" b="1" dirty="0">
                <a:latin typeface="宋体" panose="02010600030101010101" pitchFamily="2" charset="-122"/>
              </a:rPr>
              <a:t>例：</a:t>
            </a:r>
          </a:p>
          <a:p>
            <a:pPr algn="just" eaLnBrk="1" hangingPunct="1">
              <a:buNone/>
            </a:pPr>
            <a:r>
              <a:rPr lang="zh-CN" altLang="en-US" sz="2400" dirty="0">
                <a:latin typeface="Consolas" panose="020B0609020204030204" pitchFamily="49" charset="0"/>
              </a:rPr>
              <a:t>  </a:t>
            </a:r>
            <a:r>
              <a:rPr lang="en-US" altLang="zh-CN" sz="2400" dirty="0">
                <a:latin typeface="Consolas" panose="020B0609020204030204" pitchFamily="49" charset="0"/>
              </a:rPr>
              <a:t>#define N  100</a:t>
            </a:r>
          </a:p>
          <a:p>
            <a:pPr algn="just" eaLnBrk="1" hangingPunct="1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int main(void){</a:t>
            </a:r>
          </a:p>
          <a:p>
            <a:pPr algn="just" eaLnBrk="1" hangingPunct="1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	</a:t>
            </a:r>
            <a:r>
              <a:rPr lang="en-US" altLang="zh-CN" sz="2400" dirty="0" err="1">
                <a:latin typeface="Consolas" panose="020B0609020204030204" pitchFamily="49" charset="0"/>
              </a:rPr>
              <a:t>printf</a:t>
            </a:r>
            <a:r>
              <a:rPr lang="en-US" altLang="zh-CN" sz="2400" dirty="0">
                <a:latin typeface="Consolas" panose="020B0609020204030204" pitchFamily="49" charset="0"/>
              </a:rPr>
              <a:t>(</a:t>
            </a:r>
            <a:r>
              <a:rPr lang="pt-BR" altLang="zh-CN" sz="2400" dirty="0">
                <a:latin typeface="Consolas" panose="020B0609020204030204" pitchFamily="49" charset="0"/>
              </a:rPr>
              <a:t>"%d\n"</a:t>
            </a:r>
            <a:r>
              <a:rPr lang="en-US" altLang="zh-CN" sz="2400" dirty="0">
                <a:latin typeface="Consolas" panose="020B0609020204030204" pitchFamily="49" charset="0"/>
              </a:rPr>
              <a:t>,2*N);</a:t>
            </a:r>
          </a:p>
          <a:p>
            <a:pPr algn="just" eaLnBrk="1" hangingPunct="1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}</a:t>
            </a:r>
          </a:p>
        </p:txBody>
      </p:sp>
    </p:spTree>
    <p:extLst>
      <p:ext uri="{BB962C8B-B14F-4D97-AF65-F5344CB8AC3E}">
        <p14:creationId xmlns:p14="http://schemas.microsoft.com/office/powerpoint/2010/main" val="45051544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charRg st="67" end="8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1747">
                                            <p:txEl>
                                              <p:charRg st="67" end="8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charRg st="83" end="9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1747">
                                            <p:txEl>
                                              <p:charRg st="83" end="9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charRg st="96" end="9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1747">
                                            <p:txEl>
                                              <p:charRg st="96" end="9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灯片编号占位符 3"/>
          <p:cNvSpPr txBox="1">
            <a:spLocks noGrp="1"/>
          </p:cNvSpPr>
          <p:nvPr/>
        </p:nvSpPr>
        <p:spPr>
          <a:xfrm>
            <a:off x="6934200" y="63246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r">
              <a:spcBef>
                <a:spcPct val="50000"/>
              </a:spcBef>
            </a:pPr>
            <a:fld id="{9A0DB2DC-4C9A-4742-B13C-FB6460FD3503}" type="slidenum">
              <a:rPr lang="zh-CN" altLang="en-US" sz="1400" dirty="0">
                <a:latin typeface="Times New Roman" panose="02020603050405020304" pitchFamily="2" charset="0"/>
              </a:rPr>
              <a:t>23</a:t>
            </a:fld>
            <a:endParaRPr lang="zh-CN" altLang="en-US" sz="1400" dirty="0">
              <a:latin typeface="Times New Roman" panose="02020603050405020304" pitchFamily="2" charset="0"/>
            </a:endParaRPr>
          </a:p>
        </p:txBody>
      </p:sp>
      <p:sp>
        <p:nvSpPr>
          <p:cNvPr id="13314" name="灯片编号占位符 5"/>
          <p:cNvSpPr txBox="1">
            <a:spLocks noGrp="1"/>
          </p:cNvSpPr>
          <p:nvPr/>
        </p:nvSpPr>
        <p:spPr>
          <a:xfrm>
            <a:off x="6934200" y="63246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r">
              <a:spcBef>
                <a:spcPct val="50000"/>
              </a:spcBef>
            </a:pPr>
            <a:fld id="{9A0DB2DC-4C9A-4742-B13C-FB6460FD3503}" type="slidenum">
              <a:rPr lang="zh-CN" altLang="en-US" sz="1400" dirty="0">
                <a:latin typeface="Times New Roman" panose="02020603050405020304" pitchFamily="2" charset="0"/>
              </a:rPr>
              <a:t>23</a:t>
            </a:fld>
            <a:endParaRPr lang="zh-CN" altLang="en-US" sz="1400" dirty="0">
              <a:latin typeface="Times New Roman" panose="02020603050405020304" pitchFamily="2" charset="0"/>
            </a:endParaRPr>
          </a:p>
        </p:txBody>
      </p:sp>
      <p:sp>
        <p:nvSpPr>
          <p:cNvPr id="11268" name="Text Box 4"/>
          <p:cNvSpPr txBox="1"/>
          <p:nvPr/>
        </p:nvSpPr>
        <p:spPr>
          <a:xfrm>
            <a:off x="422275" y="1229360"/>
            <a:ext cx="8416290" cy="3754874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eaLnBrk="0" hangingPunct="0">
              <a:spcBef>
                <a:spcPct val="50000"/>
              </a:spcBef>
              <a:buClr>
                <a:srgbClr val="6600FF"/>
              </a:buClr>
              <a:buSzPct val="50000"/>
              <a:buFont typeface="Wingdings" panose="05000000000000000000" pitchFamily="2" charset="2"/>
              <a:buChar char="u"/>
            </a:pPr>
            <a:r>
              <a:rPr lang="zh-CN" altLang="en-US" sz="2800" dirty="0">
                <a:latin typeface="宋体" panose="02010600030101010101" pitchFamily="2" charset="-122"/>
              </a:rPr>
              <a:t>计算机中的变量，</a:t>
            </a:r>
            <a:r>
              <a:rPr lang="zh-CN" altLang="en-US" sz="2800" dirty="0">
                <a:latin typeface="宋体" panose="02010600030101010101" pitchFamily="2" charset="-122"/>
                <a:cs typeface="宋体" panose="02010600030101010101" pitchFamily="2" charset="-122"/>
              </a:rPr>
              <a:t>指在程序执行过程中可能改变或被赋值的数据。</a:t>
            </a:r>
            <a:endParaRPr lang="en-US" altLang="zh-CN" sz="2800" dirty="0">
              <a:latin typeface="宋体" panose="02010600030101010101" pitchFamily="2" charset="-122"/>
            </a:endParaRPr>
          </a:p>
          <a:p>
            <a:pPr eaLnBrk="0" hangingPunct="0">
              <a:spcBef>
                <a:spcPct val="50000"/>
              </a:spcBef>
              <a:buClr>
                <a:srgbClr val="6600FF"/>
              </a:buClr>
              <a:buSzPct val="50000"/>
              <a:buFont typeface="Wingdings" panose="05000000000000000000" pitchFamily="2" charset="2"/>
              <a:buChar char="u"/>
            </a:pPr>
            <a:r>
              <a:rPr lang="zh-CN" altLang="en-US" sz="2800" dirty="0">
                <a:latin typeface="宋体" panose="02010600030101010101" pitchFamily="2" charset="-122"/>
              </a:rPr>
              <a:t>变量的命名规则，遵从</a:t>
            </a:r>
            <a:r>
              <a:rPr lang="zh-CN" altLang="en-US" sz="2800" dirty="0">
                <a:latin typeface="宋体" panose="02010600030101010101" pitchFamily="2" charset="-122"/>
                <a:sym typeface="+mn-ea"/>
              </a:rPr>
              <a:t>标识符规则</a:t>
            </a:r>
            <a:r>
              <a:rPr lang="en-US" altLang="zh-CN" sz="2800" dirty="0">
                <a:latin typeface="宋体" panose="02010600030101010101" pitchFamily="2" charset="-122"/>
                <a:sym typeface="+mn-ea"/>
              </a:rPr>
              <a:t>(Identifier)</a:t>
            </a:r>
            <a:r>
              <a:rPr lang="zh-CN" altLang="en-US" sz="2800" dirty="0">
                <a:latin typeface="宋体" panose="02010600030101010101" pitchFamily="2" charset="-122"/>
              </a:rPr>
              <a:t>。</a:t>
            </a:r>
          </a:p>
          <a:p>
            <a:pPr eaLnBrk="0" hangingPunct="0">
              <a:spcBef>
                <a:spcPct val="50000"/>
              </a:spcBef>
              <a:buClr>
                <a:srgbClr val="6600FF"/>
              </a:buClr>
              <a:buSzPct val="50000"/>
              <a:buFont typeface="Wingdings" panose="05000000000000000000" pitchFamily="2" charset="2"/>
              <a:buChar char="u"/>
            </a:pPr>
            <a:r>
              <a:rPr lang="en-US" altLang="zh-CN" sz="2800" dirty="0">
                <a:latin typeface="宋体" panose="02010600030101010101" pitchFamily="2" charset="-122"/>
              </a:rPr>
              <a:t>C</a:t>
            </a:r>
            <a:r>
              <a:rPr lang="zh-CN" altLang="en-US" sz="2800" dirty="0">
                <a:latin typeface="宋体" panose="02010600030101010101" pitchFamily="2" charset="-122"/>
              </a:rPr>
              <a:t>语言规定：标识符由英语大写</a:t>
            </a:r>
            <a:r>
              <a:rPr lang="zh-CN" altLang="en-US" sz="2800" dirty="0">
                <a:latin typeface="宋体" panose="02010600030101010101" pitchFamily="2" charset="-122"/>
                <a:sym typeface="+mn-ea"/>
              </a:rPr>
              <a:t>字母</a:t>
            </a:r>
            <a:r>
              <a:rPr lang="en-US" altLang="zh-CN" sz="2800" dirty="0">
                <a:latin typeface="宋体" panose="02010600030101010101" pitchFamily="2" charset="-122"/>
              </a:rPr>
              <a:t>A</a:t>
            </a:r>
            <a:r>
              <a:rPr lang="zh-CN" altLang="en-US" sz="2800" dirty="0">
                <a:latin typeface="宋体" panose="02010600030101010101" pitchFamily="2" charset="-122"/>
              </a:rPr>
              <a:t>到</a:t>
            </a:r>
            <a:r>
              <a:rPr lang="en-US" altLang="zh-CN" sz="2800" dirty="0">
                <a:latin typeface="宋体" panose="02010600030101010101" pitchFamily="2" charset="-122"/>
              </a:rPr>
              <a:t>Z、</a:t>
            </a:r>
            <a:r>
              <a:rPr lang="zh-CN" altLang="en-US" sz="2800" dirty="0">
                <a:latin typeface="宋体" panose="02010600030101010101" pitchFamily="2" charset="-122"/>
              </a:rPr>
              <a:t>小写字母</a:t>
            </a:r>
            <a:r>
              <a:rPr lang="en-US" altLang="zh-CN" sz="2800" dirty="0">
                <a:latin typeface="宋体" panose="02010600030101010101" pitchFamily="2" charset="-122"/>
              </a:rPr>
              <a:t>a</a:t>
            </a:r>
            <a:r>
              <a:rPr lang="zh-CN" altLang="en-US" sz="2800" dirty="0">
                <a:latin typeface="宋体" panose="02010600030101010101" pitchFamily="2" charset="-122"/>
              </a:rPr>
              <a:t>到</a:t>
            </a:r>
            <a:r>
              <a:rPr lang="en-US" altLang="zh-CN" sz="2800" dirty="0">
                <a:latin typeface="宋体" panose="02010600030101010101" pitchFamily="2" charset="-122"/>
              </a:rPr>
              <a:t>z、</a:t>
            </a:r>
            <a:r>
              <a:rPr lang="zh-CN" altLang="en-US" sz="2800" dirty="0">
                <a:latin typeface="宋体" panose="02010600030101010101" pitchFamily="2" charset="-122"/>
              </a:rPr>
              <a:t>数字0到9和下划线组成，但第一个字符必须是字母或下划线。</a:t>
            </a:r>
          </a:p>
          <a:p>
            <a:pPr eaLnBrk="0" hangingPunct="0">
              <a:spcBef>
                <a:spcPct val="50000"/>
              </a:spcBef>
              <a:buClr>
                <a:srgbClr val="6600FF"/>
              </a:buClr>
              <a:buSzPct val="50000"/>
              <a:buFont typeface="Wingdings" panose="05000000000000000000" pitchFamily="2" charset="2"/>
              <a:buChar char="u"/>
            </a:pPr>
            <a:r>
              <a:rPr lang="zh-CN" altLang="en-US" sz="2800" dirty="0">
                <a:latin typeface="宋体" panose="02010600030101010101" pitchFamily="2" charset="-122"/>
              </a:rPr>
              <a:t>长度限制，</a:t>
            </a:r>
            <a:r>
              <a:rPr lang="en-US" altLang="zh-CN" sz="2800" dirty="0">
                <a:sym typeface="+mn-ea"/>
              </a:rPr>
              <a:t>C</a:t>
            </a:r>
            <a:r>
              <a:rPr lang="zh-CN" altLang="en-US" sz="2800" dirty="0">
                <a:sym typeface="+mn-ea"/>
              </a:rPr>
              <a:t>编译器只认为前</a:t>
            </a:r>
            <a:r>
              <a:rPr lang="en-US" altLang="zh-CN" sz="2800" dirty="0">
                <a:sym typeface="+mn-ea"/>
              </a:rPr>
              <a:t>31</a:t>
            </a:r>
            <a:r>
              <a:rPr lang="zh-CN" altLang="en-US" sz="2800" dirty="0">
                <a:sym typeface="+mn-ea"/>
              </a:rPr>
              <a:t>个字符有效。</a:t>
            </a:r>
            <a:endParaRPr lang="zh-CN" altLang="en-US" sz="2800" dirty="0">
              <a:latin typeface="Times New Roman" panose="02020603050405020304" pitchFamily="2" charset="0"/>
            </a:endParaRPr>
          </a:p>
        </p:txBody>
      </p:sp>
      <p:sp>
        <p:nvSpPr>
          <p:cNvPr id="13316" name="Rectangle 6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eaLnBrk="1" hangingPunct="1"/>
            <a:r>
              <a:rPr lang="zh-CN" altLang="en-US" b="1" dirty="0"/>
              <a:t>数据变量</a:t>
            </a:r>
            <a:r>
              <a:rPr lang="en-US" altLang="zh-CN" b="1" dirty="0"/>
              <a:t>Variable</a:t>
            </a:r>
            <a:endParaRPr lang="zh-CN" altLang="en-US" b="1" dirty="0"/>
          </a:p>
        </p:txBody>
      </p:sp>
      <p:sp>
        <p:nvSpPr>
          <p:cNvPr id="11270" name="Text Box 7"/>
          <p:cNvSpPr txBox="1"/>
          <p:nvPr/>
        </p:nvSpPr>
        <p:spPr>
          <a:xfrm>
            <a:off x="742632" y="4553347"/>
            <a:ext cx="7775575" cy="159956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noFill/>
          </a:ln>
        </p:spPr>
        <p:txBody>
          <a:bodyPr anchor="t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2" charset="0"/>
              </a:rPr>
              <a:t>思考：以下哪些是合法的</a:t>
            </a:r>
            <a:r>
              <a:rPr lang="en-US" altLang="zh-CN" sz="2800" dirty="0">
                <a:latin typeface="Times New Roman" panose="02020603050405020304" pitchFamily="2" charset="0"/>
              </a:rPr>
              <a:t>C</a:t>
            </a:r>
            <a:r>
              <a:rPr lang="zh-CN" altLang="en-US" sz="2800" dirty="0">
                <a:latin typeface="Times New Roman" panose="02020603050405020304" pitchFamily="2" charset="0"/>
              </a:rPr>
              <a:t>语言标识符</a:t>
            </a:r>
          </a:p>
          <a:p>
            <a:pPr>
              <a:spcBef>
                <a:spcPct val="50000"/>
              </a:spcBef>
            </a:pPr>
            <a:r>
              <a:rPr lang="en-US" altLang="zh-CN" sz="2800" dirty="0">
                <a:latin typeface="Times New Roman" panose="02020603050405020304" pitchFamily="2" charset="0"/>
              </a:rPr>
              <a:t>age</a:t>
            </a:r>
            <a:r>
              <a:rPr lang="zh-CN" altLang="en-US" sz="2800" dirty="0">
                <a:latin typeface="Times New Roman" panose="02020603050405020304" pitchFamily="2" charset="0"/>
              </a:rPr>
              <a:t>，</a:t>
            </a:r>
            <a:r>
              <a:rPr lang="en-US" altLang="zh-CN" sz="2800" dirty="0">
                <a:latin typeface="Times New Roman" panose="02020603050405020304" pitchFamily="2" charset="0"/>
              </a:rPr>
              <a:t>_</a:t>
            </a:r>
            <a:r>
              <a:rPr lang="en-US" altLang="zh-CN" sz="2800" dirty="0" err="1">
                <a:latin typeface="Times New Roman" panose="02020603050405020304" pitchFamily="2" charset="0"/>
              </a:rPr>
              <a:t>class_no</a:t>
            </a:r>
            <a:r>
              <a:rPr lang="zh-CN" altLang="en-US" dirty="0">
                <a:latin typeface="Times New Roman" panose="02020603050405020304" pitchFamily="2" charset="0"/>
              </a:rPr>
              <a:t>，</a:t>
            </a:r>
            <a:r>
              <a:rPr lang="en-US" altLang="zh-CN" sz="2800" dirty="0" err="1">
                <a:latin typeface="Times New Roman" panose="02020603050405020304" pitchFamily="2" charset="0"/>
              </a:rPr>
              <a:t>name1</a:t>
            </a:r>
            <a:r>
              <a:rPr lang="zh-CN" altLang="en-US" sz="2800" dirty="0">
                <a:latin typeface="Times New Roman" panose="02020603050405020304" pitchFamily="2" charset="0"/>
              </a:rPr>
              <a:t>，</a:t>
            </a:r>
            <a:r>
              <a:rPr lang="en-US" altLang="zh-CN" sz="2800" dirty="0" err="1">
                <a:latin typeface="Times New Roman" panose="02020603050405020304" pitchFamily="2" charset="0"/>
              </a:rPr>
              <a:t>name1</a:t>
            </a:r>
            <a:r>
              <a:rPr lang="zh-CN" altLang="en-US" sz="2800" dirty="0">
                <a:latin typeface="Times New Roman" panose="02020603050405020304" pitchFamily="2" charset="0"/>
              </a:rPr>
              <a:t>％，</a:t>
            </a:r>
            <a:r>
              <a:rPr lang="en-US" altLang="zh-CN" sz="2800" dirty="0">
                <a:latin typeface="Times New Roman" panose="02020603050405020304" pitchFamily="2" charset="0"/>
              </a:rPr>
              <a:t>2name</a:t>
            </a:r>
            <a:r>
              <a:rPr lang="zh-CN" altLang="en-US" sz="2800" dirty="0">
                <a:latin typeface="Times New Roman" panose="02020603050405020304" pitchFamily="2" charset="0"/>
              </a:rPr>
              <a:t>，</a:t>
            </a:r>
            <a:r>
              <a:rPr lang="en-US" altLang="zh-CN" sz="2800" dirty="0">
                <a:latin typeface="Times New Roman" panose="02020603050405020304" pitchFamily="2" charset="0"/>
              </a:rPr>
              <a:t>#age</a:t>
            </a:r>
            <a:endParaRPr lang="zh-CN" altLang="en-US" sz="2800" dirty="0">
              <a:latin typeface="Times New Roman" panose="02020603050405020304" pitchFamily="2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charRg st="21" end="10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268">
                                            <p:txEl>
                                              <p:charRg st="21" end="10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268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1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70" grpId="0" bldLvl="0" animBg="1"/>
      <p:bldP spid="11270" grpId="1" bldLvl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灯片编号占位符 5"/>
          <p:cNvSpPr txBox="1">
            <a:spLocks noGrp="1"/>
          </p:cNvSpPr>
          <p:nvPr/>
        </p:nvSpPr>
        <p:spPr>
          <a:xfrm>
            <a:off x="6934200" y="63246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r">
              <a:spcBef>
                <a:spcPct val="50000"/>
              </a:spcBef>
            </a:pPr>
            <a:fld id="{9A0DB2DC-4C9A-4742-B13C-FB6460FD3503}" type="slidenum">
              <a:rPr lang="zh-CN" altLang="en-US" sz="1400" dirty="0">
                <a:latin typeface="Times New Roman" panose="02020603050405020304" pitchFamily="2" charset="0"/>
              </a:rPr>
              <a:t>24</a:t>
            </a:fld>
            <a:endParaRPr lang="zh-CN" altLang="en-US" sz="1400" dirty="0">
              <a:latin typeface="Times New Roman" panose="02020603050405020304" pitchFamily="2" charset="0"/>
            </a:endParaRPr>
          </a:p>
        </p:txBody>
      </p:sp>
      <p:sp>
        <p:nvSpPr>
          <p:cNvPr id="31746" name="Text Box 4"/>
          <p:cNvSpPr txBox="1"/>
          <p:nvPr/>
        </p:nvSpPr>
        <p:spPr>
          <a:xfrm>
            <a:off x="454024" y="1271152"/>
            <a:ext cx="8235951" cy="249299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eaLnBrk="0" hangingPunct="0">
              <a:spcBef>
                <a:spcPct val="50000"/>
              </a:spcBef>
              <a:buChar char="•"/>
            </a:pPr>
            <a:r>
              <a:rPr lang="zh-CN" altLang="en-US" sz="2400" dirty="0">
                <a:latin typeface="宋体" panose="02010600030101010101" pitchFamily="2" charset="-122"/>
                <a:sym typeface="+mn-ea"/>
              </a:rPr>
              <a:t>使用变量前，必须</a:t>
            </a:r>
            <a:r>
              <a:rPr lang="zh-CN" altLang="en-US" sz="2400" dirty="0">
                <a:solidFill>
                  <a:srgbClr val="6600FF"/>
                </a:solidFill>
                <a:latin typeface="宋体" panose="02010600030101010101" pitchFamily="2" charset="-122"/>
                <a:sym typeface="+mn-ea"/>
              </a:rPr>
              <a:t>先声明变量的数据类型和名称。</a:t>
            </a:r>
          </a:p>
          <a:p>
            <a:pPr eaLnBrk="0" hangingPunct="0">
              <a:spcBef>
                <a:spcPct val="50000"/>
              </a:spcBef>
              <a:buChar char="•"/>
            </a:pPr>
            <a:r>
              <a:rPr lang="en-US" altLang="zh-CN" sz="2400" dirty="0">
                <a:sym typeface="+mn-ea"/>
              </a:rPr>
              <a:t>C</a:t>
            </a:r>
            <a:r>
              <a:rPr lang="zh-CN" altLang="en-US" sz="2400" dirty="0">
                <a:sym typeface="+mn-ea"/>
              </a:rPr>
              <a:t>变量定义格式：</a:t>
            </a:r>
          </a:p>
          <a:p>
            <a:pPr eaLnBrk="0" hangingPunct="0">
              <a:spcBef>
                <a:spcPct val="50000"/>
              </a:spcBef>
            </a:pPr>
            <a:r>
              <a:rPr lang="zh-CN" altLang="en-US" sz="2400" dirty="0">
                <a:solidFill>
                  <a:srgbClr val="000099"/>
                </a:solidFill>
                <a:sym typeface="+mn-ea"/>
              </a:rPr>
              <a:t>数据类型 变量名</a:t>
            </a:r>
            <a:r>
              <a:rPr lang="en-US" altLang="zh-CN" sz="2400" dirty="0">
                <a:solidFill>
                  <a:srgbClr val="000099"/>
                </a:solidFill>
                <a:sym typeface="+mn-ea"/>
              </a:rPr>
              <a:t>1[,</a:t>
            </a:r>
            <a:r>
              <a:rPr lang="zh-CN" altLang="en-US" sz="2400" dirty="0">
                <a:solidFill>
                  <a:srgbClr val="000099"/>
                </a:solidFill>
                <a:sym typeface="+mn-ea"/>
              </a:rPr>
              <a:t>变量名</a:t>
            </a:r>
            <a:r>
              <a:rPr lang="en-US" altLang="zh-CN" sz="2400" dirty="0">
                <a:solidFill>
                  <a:srgbClr val="000099"/>
                </a:solidFill>
                <a:sym typeface="+mn-ea"/>
              </a:rPr>
              <a:t>2</a:t>
            </a:r>
            <a:r>
              <a:rPr lang="zh-CN" altLang="en-US" sz="2400" dirty="0">
                <a:solidFill>
                  <a:srgbClr val="000099"/>
                </a:solidFill>
                <a:sym typeface="+mn-ea"/>
              </a:rPr>
              <a:t>，</a:t>
            </a:r>
            <a:r>
              <a:rPr lang="en-US" altLang="zh-CN" sz="2400" dirty="0">
                <a:solidFill>
                  <a:srgbClr val="000099"/>
                </a:solidFill>
                <a:latin typeface="宋体" panose="02010600030101010101" pitchFamily="2" charset="-122"/>
                <a:sym typeface="+mn-ea"/>
              </a:rPr>
              <a:t>…</a:t>
            </a:r>
            <a:r>
              <a:rPr lang="en-US" altLang="zh-CN" sz="2400" dirty="0">
                <a:solidFill>
                  <a:srgbClr val="000099"/>
                </a:solidFill>
                <a:sym typeface="+mn-ea"/>
              </a:rPr>
              <a:t>];</a:t>
            </a:r>
          </a:p>
          <a:p>
            <a:pPr algn="l" eaLnBrk="0" hangingPunct="0">
              <a:spcBef>
                <a:spcPct val="50000"/>
              </a:spcBef>
              <a:buClrTx/>
              <a:buSzTx/>
            </a:pPr>
            <a:r>
              <a:rPr lang="zh-CN" altLang="en-US" sz="2400" dirty="0">
                <a:latin typeface="宋体" panose="02010600030101010101" pitchFamily="2" charset="-122"/>
                <a:sym typeface="+mn-ea"/>
              </a:rPr>
              <a:t>变量声明将引起内存空间的分配</a:t>
            </a:r>
            <a:r>
              <a:rPr lang="en-US" altLang="zh-CN" sz="2400" dirty="0">
                <a:latin typeface="宋体" panose="02010600030101010101" pitchFamily="2" charset="-122"/>
                <a:sym typeface="+mn-ea"/>
              </a:rPr>
              <a:t>,</a:t>
            </a:r>
            <a:r>
              <a:rPr lang="zh-CN" altLang="en-US" sz="2400" dirty="0">
                <a:latin typeface="宋体" panose="02010600030101010101" pitchFamily="2" charset="-122"/>
                <a:sym typeface="+mn-ea"/>
              </a:rPr>
              <a:t>保证变量名对应内存中的一片存储单元（存储单元个数取决于变量的数据类型）。</a:t>
            </a:r>
            <a:endParaRPr lang="zh-CN" altLang="en-US" sz="2400" dirty="0">
              <a:latin typeface="宋体" panose="02010600030101010101" pitchFamily="2" charset="-122"/>
            </a:endParaRPr>
          </a:p>
        </p:txBody>
      </p:sp>
      <p:sp>
        <p:nvSpPr>
          <p:cNvPr id="31781" name="Rectangle 47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r>
              <a:rPr lang="zh-CN" altLang="en-US" b="1" dirty="0"/>
              <a:t>变量声明</a:t>
            </a:r>
          </a:p>
        </p:txBody>
      </p:sp>
      <p:grpSp>
        <p:nvGrpSpPr>
          <p:cNvPr id="25606" name="组合 25605"/>
          <p:cNvGrpSpPr/>
          <p:nvPr/>
        </p:nvGrpSpPr>
        <p:grpSpPr>
          <a:xfrm>
            <a:off x="5580112" y="3685996"/>
            <a:ext cx="3259088" cy="2867204"/>
            <a:chOff x="0" y="0"/>
            <a:chExt cx="2132" cy="1905"/>
          </a:xfrm>
        </p:grpSpPr>
        <p:sp>
          <p:nvSpPr>
            <p:cNvPr id="33798" name="Rectangle 44"/>
            <p:cNvSpPr/>
            <p:nvPr/>
          </p:nvSpPr>
          <p:spPr>
            <a:xfrm>
              <a:off x="318" y="363"/>
              <a:ext cx="996" cy="183"/>
            </a:xfrm>
            <a:prstGeom prst="rect">
              <a:avLst/>
            </a:prstGeom>
            <a:solidFill>
              <a:srgbClr val="E6E6E6"/>
            </a:solidFill>
            <a:ln w="9525">
              <a:noFill/>
            </a:ln>
          </p:spPr>
          <p:txBody>
            <a:bodyPr anchor="t"/>
            <a:lstStyle/>
            <a:p>
              <a:endParaRPr lang="zh-CN" altLang="en-US" dirty="0">
                <a:latin typeface="Times New Roman" panose="02020603050405020304" pitchFamily="2" charset="0"/>
              </a:endParaRPr>
            </a:p>
          </p:txBody>
        </p:sp>
        <p:sp>
          <p:nvSpPr>
            <p:cNvPr id="33799" name="Rectangle 45"/>
            <p:cNvSpPr/>
            <p:nvPr/>
          </p:nvSpPr>
          <p:spPr>
            <a:xfrm>
              <a:off x="318" y="363"/>
              <a:ext cx="996" cy="183"/>
            </a:xfrm>
            <a:prstGeom prst="rect">
              <a:avLst/>
            </a:prstGeom>
            <a:gradFill rotWithShape="1">
              <a:gsLst>
                <a:gs pos="0">
                  <a:srgbClr val="9966FF"/>
                </a:gs>
                <a:gs pos="100000">
                  <a:schemeClr val="bg1"/>
                </a:gs>
              </a:gsLst>
              <a:lin ang="5400000" scaled="1"/>
              <a:tileRect/>
            </a:gradFill>
            <a:ln w="1587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dirty="0">
                <a:latin typeface="Times New Roman" panose="02020603050405020304" pitchFamily="2" charset="0"/>
              </a:endParaRPr>
            </a:p>
          </p:txBody>
        </p:sp>
        <p:sp>
          <p:nvSpPr>
            <p:cNvPr id="33800" name="Rectangle 46"/>
            <p:cNvSpPr/>
            <p:nvPr/>
          </p:nvSpPr>
          <p:spPr>
            <a:xfrm>
              <a:off x="1429" y="376"/>
              <a:ext cx="703" cy="15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>
              <a:spAutoFit/>
            </a:bodyPr>
            <a:lstStyle/>
            <a:p>
              <a:r>
                <a:rPr lang="en-US" altLang="zh-CN" sz="1600" dirty="0">
                  <a:solidFill>
                    <a:srgbClr val="000000"/>
                  </a:solidFill>
                  <a:latin typeface="Times New Roman" panose="02020603050405020304" pitchFamily="2" charset="0"/>
                </a:rPr>
                <a:t>2000H</a:t>
              </a:r>
              <a:endParaRPr lang="zh-CN" altLang="en-US" sz="1600" dirty="0">
                <a:latin typeface="Times New Roman" panose="02020603050405020304" pitchFamily="2" charset="0"/>
              </a:endParaRPr>
            </a:p>
          </p:txBody>
        </p:sp>
        <p:sp>
          <p:nvSpPr>
            <p:cNvPr id="33801" name="Rectangle 47"/>
            <p:cNvSpPr/>
            <p:nvPr/>
          </p:nvSpPr>
          <p:spPr>
            <a:xfrm>
              <a:off x="318" y="546"/>
              <a:ext cx="996" cy="185"/>
            </a:xfrm>
            <a:prstGeom prst="rect">
              <a:avLst/>
            </a:prstGeom>
            <a:solidFill>
              <a:srgbClr val="E6E6E6"/>
            </a:solidFill>
            <a:ln w="9525">
              <a:noFill/>
            </a:ln>
          </p:spPr>
          <p:txBody>
            <a:bodyPr anchor="t"/>
            <a:lstStyle/>
            <a:p>
              <a:endParaRPr lang="zh-CN" altLang="en-US" dirty="0">
                <a:latin typeface="Times New Roman" panose="02020603050405020304" pitchFamily="2" charset="0"/>
              </a:endParaRPr>
            </a:p>
          </p:txBody>
        </p:sp>
        <p:sp>
          <p:nvSpPr>
            <p:cNvPr id="33802" name="Rectangle 48"/>
            <p:cNvSpPr/>
            <p:nvPr/>
          </p:nvSpPr>
          <p:spPr>
            <a:xfrm>
              <a:off x="318" y="546"/>
              <a:ext cx="996" cy="185"/>
            </a:xfrm>
            <a:prstGeom prst="rect">
              <a:avLst/>
            </a:prstGeom>
            <a:gradFill rotWithShape="1">
              <a:gsLst>
                <a:gs pos="0">
                  <a:srgbClr val="9966FF"/>
                </a:gs>
                <a:gs pos="100000">
                  <a:schemeClr val="bg1"/>
                </a:gs>
              </a:gsLst>
              <a:lin ang="5400000" scaled="1"/>
              <a:tileRect/>
            </a:gradFill>
            <a:ln w="1587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dirty="0">
                <a:latin typeface="Times New Roman" panose="02020603050405020304" pitchFamily="2" charset="0"/>
              </a:endParaRPr>
            </a:p>
          </p:txBody>
        </p:sp>
        <p:sp>
          <p:nvSpPr>
            <p:cNvPr id="33803" name="Rectangle 49"/>
            <p:cNvSpPr/>
            <p:nvPr/>
          </p:nvSpPr>
          <p:spPr>
            <a:xfrm>
              <a:off x="318" y="731"/>
              <a:ext cx="996" cy="398"/>
            </a:xfrm>
            <a:prstGeom prst="rect">
              <a:avLst/>
            </a:prstGeom>
            <a:gradFill rotWithShape="1">
              <a:gsLst>
                <a:gs pos="0">
                  <a:srgbClr val="9966FF"/>
                </a:gs>
                <a:gs pos="100000">
                  <a:schemeClr val="bg1"/>
                </a:gs>
              </a:gsLst>
              <a:lin ang="5400000" scaled="1"/>
              <a:tileRect/>
            </a:gradFill>
            <a:ln w="1587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dirty="0">
                <a:latin typeface="Times New Roman" panose="02020603050405020304" pitchFamily="2" charset="0"/>
              </a:endParaRPr>
            </a:p>
          </p:txBody>
        </p:sp>
        <p:sp>
          <p:nvSpPr>
            <p:cNvPr id="33804" name="Rectangle 50"/>
            <p:cNvSpPr/>
            <p:nvPr/>
          </p:nvSpPr>
          <p:spPr>
            <a:xfrm>
              <a:off x="318" y="731"/>
              <a:ext cx="996" cy="398"/>
            </a:xfrm>
            <a:prstGeom prst="rect">
              <a:avLst/>
            </a:prstGeom>
            <a:noFill/>
            <a:ln w="1587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dirty="0">
                <a:latin typeface="Times New Roman" panose="02020603050405020304" pitchFamily="2" charset="0"/>
              </a:endParaRPr>
            </a:p>
          </p:txBody>
        </p:sp>
        <p:sp>
          <p:nvSpPr>
            <p:cNvPr id="33805" name="Rectangle 51"/>
            <p:cNvSpPr/>
            <p:nvPr/>
          </p:nvSpPr>
          <p:spPr>
            <a:xfrm>
              <a:off x="1417" y="691"/>
              <a:ext cx="356" cy="15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r>
                <a:rPr lang="en-US" altLang="zh-CN" sz="1600" dirty="0">
                  <a:solidFill>
                    <a:srgbClr val="000000"/>
                  </a:solidFill>
                  <a:latin typeface="Times New Roman" panose="02020603050405020304" pitchFamily="2" charset="0"/>
                </a:rPr>
                <a:t>2002H</a:t>
              </a:r>
              <a:endParaRPr lang="en-US" altLang="zh-CN" sz="1600" dirty="0">
                <a:latin typeface="Times New Roman" panose="02020603050405020304" pitchFamily="2" charset="0"/>
              </a:endParaRPr>
            </a:p>
          </p:txBody>
        </p:sp>
        <p:sp>
          <p:nvSpPr>
            <p:cNvPr id="33806" name="Rectangle 52"/>
            <p:cNvSpPr/>
            <p:nvPr/>
          </p:nvSpPr>
          <p:spPr>
            <a:xfrm>
              <a:off x="318" y="1098"/>
              <a:ext cx="996" cy="245"/>
            </a:xfrm>
            <a:prstGeom prst="rect">
              <a:avLst/>
            </a:prstGeom>
            <a:gradFill rotWithShape="1">
              <a:gsLst>
                <a:gs pos="0">
                  <a:srgbClr val="9966FF"/>
                </a:gs>
                <a:gs pos="100000">
                  <a:schemeClr val="bg1"/>
                </a:gs>
              </a:gsLst>
              <a:lin ang="5400000" scaled="1"/>
              <a:tileRect/>
            </a:gradFill>
            <a:ln w="1587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dirty="0">
                <a:latin typeface="Times New Roman" panose="02020603050405020304" pitchFamily="2" charset="0"/>
              </a:endParaRPr>
            </a:p>
          </p:txBody>
        </p:sp>
        <p:sp>
          <p:nvSpPr>
            <p:cNvPr id="33807" name="Rectangle 53"/>
            <p:cNvSpPr/>
            <p:nvPr/>
          </p:nvSpPr>
          <p:spPr>
            <a:xfrm>
              <a:off x="318" y="1098"/>
              <a:ext cx="996" cy="245"/>
            </a:xfrm>
            <a:prstGeom prst="rect">
              <a:avLst/>
            </a:prstGeom>
            <a:noFill/>
            <a:ln w="1587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dirty="0">
                <a:latin typeface="Times New Roman" panose="02020603050405020304" pitchFamily="2" charset="0"/>
              </a:endParaRPr>
            </a:p>
          </p:txBody>
        </p:sp>
        <p:sp>
          <p:nvSpPr>
            <p:cNvPr id="33808" name="Rectangle 54"/>
            <p:cNvSpPr/>
            <p:nvPr/>
          </p:nvSpPr>
          <p:spPr>
            <a:xfrm>
              <a:off x="318" y="1343"/>
              <a:ext cx="996" cy="185"/>
            </a:xfrm>
            <a:prstGeom prst="rect">
              <a:avLst/>
            </a:prstGeom>
            <a:solidFill>
              <a:srgbClr val="E6E6E6"/>
            </a:solidFill>
            <a:ln w="9525">
              <a:noFill/>
            </a:ln>
          </p:spPr>
          <p:txBody>
            <a:bodyPr anchor="t"/>
            <a:lstStyle/>
            <a:p>
              <a:endParaRPr lang="zh-CN" altLang="en-US" dirty="0">
                <a:latin typeface="Times New Roman" panose="02020603050405020304" pitchFamily="2" charset="0"/>
              </a:endParaRPr>
            </a:p>
          </p:txBody>
        </p:sp>
        <p:sp>
          <p:nvSpPr>
            <p:cNvPr id="33809" name="Rectangle 55"/>
            <p:cNvSpPr/>
            <p:nvPr/>
          </p:nvSpPr>
          <p:spPr>
            <a:xfrm>
              <a:off x="318" y="1719"/>
              <a:ext cx="996" cy="186"/>
            </a:xfrm>
            <a:prstGeom prst="rect">
              <a:avLst/>
            </a:prstGeom>
            <a:solidFill>
              <a:srgbClr val="E6E6E6"/>
            </a:solidFill>
            <a:ln w="9525">
              <a:noFill/>
            </a:ln>
          </p:spPr>
          <p:txBody>
            <a:bodyPr anchor="t"/>
            <a:lstStyle/>
            <a:p>
              <a:endParaRPr lang="zh-CN" altLang="en-US" dirty="0">
                <a:latin typeface="Times New Roman" panose="02020603050405020304" pitchFamily="2" charset="0"/>
              </a:endParaRPr>
            </a:p>
          </p:txBody>
        </p:sp>
        <p:sp>
          <p:nvSpPr>
            <p:cNvPr id="33810" name="Rectangle 56"/>
            <p:cNvSpPr/>
            <p:nvPr/>
          </p:nvSpPr>
          <p:spPr>
            <a:xfrm>
              <a:off x="318" y="1074"/>
              <a:ext cx="996" cy="831"/>
            </a:xfrm>
            <a:prstGeom prst="rect">
              <a:avLst/>
            </a:prstGeom>
            <a:gradFill rotWithShape="1">
              <a:gsLst>
                <a:gs pos="0">
                  <a:srgbClr val="9966FF"/>
                </a:gs>
                <a:gs pos="100000">
                  <a:schemeClr val="bg1"/>
                </a:gs>
              </a:gsLst>
              <a:lin ang="5400000" scaled="1"/>
              <a:tileRect/>
            </a:gradFill>
            <a:ln w="1587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dirty="0">
                <a:latin typeface="Times New Roman" panose="02020603050405020304" pitchFamily="2" charset="0"/>
              </a:endParaRPr>
            </a:p>
          </p:txBody>
        </p:sp>
        <p:sp>
          <p:nvSpPr>
            <p:cNvPr id="33811" name="Rectangle 57"/>
            <p:cNvSpPr/>
            <p:nvPr/>
          </p:nvSpPr>
          <p:spPr>
            <a:xfrm>
              <a:off x="1417" y="1129"/>
              <a:ext cx="703" cy="154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>
              <a:spAutoFit/>
            </a:bodyPr>
            <a:lstStyle/>
            <a:p>
              <a:r>
                <a:rPr lang="en-US" altLang="zh-CN" sz="1600" dirty="0">
                  <a:solidFill>
                    <a:srgbClr val="000000"/>
                  </a:solidFill>
                  <a:latin typeface="Times New Roman" panose="02020603050405020304" pitchFamily="2" charset="0"/>
                </a:rPr>
                <a:t>2004H</a:t>
              </a:r>
              <a:endParaRPr lang="en-US" altLang="zh-CN" sz="1600" dirty="0">
                <a:latin typeface="Times New Roman" panose="02020603050405020304" pitchFamily="2" charset="0"/>
              </a:endParaRPr>
            </a:p>
          </p:txBody>
        </p:sp>
        <p:sp>
          <p:nvSpPr>
            <p:cNvPr id="33812" name="Rectangle 58"/>
            <p:cNvSpPr/>
            <p:nvPr/>
          </p:nvSpPr>
          <p:spPr>
            <a:xfrm>
              <a:off x="1417" y="1293"/>
              <a:ext cx="356" cy="15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r>
                <a:rPr lang="en-US" altLang="zh-CN" sz="1600" dirty="0">
                  <a:solidFill>
                    <a:srgbClr val="000000"/>
                  </a:solidFill>
                  <a:latin typeface="Times New Roman" panose="02020603050405020304" pitchFamily="2" charset="0"/>
                </a:rPr>
                <a:t>2005H</a:t>
              </a:r>
              <a:endParaRPr lang="en-US" altLang="zh-CN" sz="1600" dirty="0">
                <a:latin typeface="Times New Roman" panose="02020603050405020304" pitchFamily="2" charset="0"/>
              </a:endParaRPr>
            </a:p>
          </p:txBody>
        </p:sp>
        <p:sp>
          <p:nvSpPr>
            <p:cNvPr id="33813" name="Rectangle 59"/>
            <p:cNvSpPr/>
            <p:nvPr/>
          </p:nvSpPr>
          <p:spPr>
            <a:xfrm>
              <a:off x="1417" y="1708"/>
              <a:ext cx="356" cy="15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r>
                <a:rPr lang="en-US" altLang="zh-CN" sz="1600" dirty="0">
                  <a:solidFill>
                    <a:srgbClr val="000000"/>
                  </a:solidFill>
                  <a:latin typeface="Times New Roman" panose="02020603050405020304" pitchFamily="2" charset="0"/>
                </a:rPr>
                <a:t>2007H</a:t>
              </a:r>
              <a:endParaRPr lang="en-US" altLang="zh-CN" sz="1600" dirty="0">
                <a:latin typeface="Times New Roman" panose="02020603050405020304" pitchFamily="2" charset="0"/>
              </a:endParaRPr>
            </a:p>
          </p:txBody>
        </p:sp>
        <p:sp>
          <p:nvSpPr>
            <p:cNvPr id="33814" name="Rectangle 60"/>
            <p:cNvSpPr/>
            <p:nvPr/>
          </p:nvSpPr>
          <p:spPr>
            <a:xfrm>
              <a:off x="1417" y="1512"/>
              <a:ext cx="356" cy="15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r>
                <a:rPr lang="en-US" altLang="zh-CN" sz="1600" dirty="0">
                  <a:solidFill>
                    <a:srgbClr val="000000"/>
                  </a:solidFill>
                  <a:latin typeface="Times New Roman" panose="02020603050405020304" pitchFamily="2" charset="0"/>
                </a:rPr>
                <a:t>2006H</a:t>
              </a:r>
              <a:endParaRPr lang="en-US" altLang="zh-CN" sz="1600" dirty="0">
                <a:latin typeface="Times New Roman" panose="02020603050405020304" pitchFamily="2" charset="0"/>
              </a:endParaRPr>
            </a:p>
          </p:txBody>
        </p:sp>
        <p:sp>
          <p:nvSpPr>
            <p:cNvPr id="33815" name="Rectangle 61"/>
            <p:cNvSpPr/>
            <p:nvPr/>
          </p:nvSpPr>
          <p:spPr>
            <a:xfrm>
              <a:off x="1417" y="910"/>
              <a:ext cx="356" cy="15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r>
                <a:rPr lang="en-US" altLang="zh-CN" sz="1600" dirty="0">
                  <a:solidFill>
                    <a:srgbClr val="000000"/>
                  </a:solidFill>
                  <a:latin typeface="Times New Roman" panose="02020603050405020304" pitchFamily="2" charset="0"/>
                </a:rPr>
                <a:t>2003H</a:t>
              </a:r>
              <a:endParaRPr lang="en-US" altLang="zh-CN" sz="1600" dirty="0">
                <a:latin typeface="Times New Roman" panose="02020603050405020304" pitchFamily="2" charset="0"/>
              </a:endParaRPr>
            </a:p>
          </p:txBody>
        </p:sp>
        <p:sp>
          <p:nvSpPr>
            <p:cNvPr id="33816" name="Rectangle 62"/>
            <p:cNvSpPr/>
            <p:nvPr/>
          </p:nvSpPr>
          <p:spPr>
            <a:xfrm>
              <a:off x="1417" y="527"/>
              <a:ext cx="356" cy="15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r>
                <a:rPr lang="en-US" altLang="zh-CN" sz="1600" dirty="0">
                  <a:solidFill>
                    <a:srgbClr val="000000"/>
                  </a:solidFill>
                  <a:latin typeface="Times New Roman" panose="02020603050405020304" pitchFamily="2" charset="0"/>
                </a:rPr>
                <a:t>2001H</a:t>
              </a:r>
              <a:endParaRPr lang="en-US" altLang="zh-CN" sz="1600" dirty="0">
                <a:latin typeface="Times New Roman" panose="02020603050405020304" pitchFamily="2" charset="0"/>
              </a:endParaRPr>
            </a:p>
          </p:txBody>
        </p:sp>
        <p:sp>
          <p:nvSpPr>
            <p:cNvPr id="33817" name="Rectangle 63"/>
            <p:cNvSpPr/>
            <p:nvPr/>
          </p:nvSpPr>
          <p:spPr>
            <a:xfrm>
              <a:off x="55" y="527"/>
              <a:ext cx="171" cy="15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r>
                <a:rPr lang="en-US" altLang="zh-CN" sz="1600" dirty="0">
                  <a:solidFill>
                    <a:srgbClr val="000000"/>
                  </a:solidFill>
                  <a:latin typeface="Times New Roman" panose="02020603050405020304" pitchFamily="2" charset="0"/>
                </a:rPr>
                <a:t>sex</a:t>
              </a:r>
              <a:endParaRPr lang="en-US" altLang="zh-CN" sz="1600" dirty="0">
                <a:latin typeface="Times New Roman" panose="02020603050405020304" pitchFamily="2" charset="0"/>
              </a:endParaRPr>
            </a:p>
          </p:txBody>
        </p:sp>
        <p:sp>
          <p:nvSpPr>
            <p:cNvPr id="33818" name="Line 64"/>
            <p:cNvSpPr/>
            <p:nvPr/>
          </p:nvSpPr>
          <p:spPr>
            <a:xfrm>
              <a:off x="318" y="910"/>
              <a:ext cx="16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19" name="Line 65"/>
            <p:cNvSpPr/>
            <p:nvPr/>
          </p:nvSpPr>
          <p:spPr>
            <a:xfrm>
              <a:off x="1143" y="910"/>
              <a:ext cx="16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20" name="Rectangle 66"/>
            <p:cNvSpPr/>
            <p:nvPr/>
          </p:nvSpPr>
          <p:spPr>
            <a:xfrm>
              <a:off x="55" y="833"/>
              <a:ext cx="185" cy="15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r>
                <a:rPr lang="en-US" altLang="zh-CN" sz="1600" dirty="0">
                  <a:solidFill>
                    <a:srgbClr val="000000"/>
                  </a:solidFill>
                  <a:latin typeface="Times New Roman" panose="02020603050405020304" pitchFamily="2" charset="0"/>
                </a:rPr>
                <a:t>age</a:t>
              </a:r>
              <a:endParaRPr lang="en-US" altLang="zh-CN" sz="1600" dirty="0">
                <a:latin typeface="Times New Roman" panose="02020603050405020304" pitchFamily="2" charset="0"/>
              </a:endParaRPr>
            </a:p>
          </p:txBody>
        </p:sp>
        <p:sp>
          <p:nvSpPr>
            <p:cNvPr id="33821" name="Line 67"/>
            <p:cNvSpPr/>
            <p:nvPr/>
          </p:nvSpPr>
          <p:spPr>
            <a:xfrm>
              <a:off x="318" y="1293"/>
              <a:ext cx="16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22" name="Line 68"/>
            <p:cNvSpPr/>
            <p:nvPr/>
          </p:nvSpPr>
          <p:spPr>
            <a:xfrm>
              <a:off x="1143" y="1293"/>
              <a:ext cx="16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23" name="Line 69"/>
            <p:cNvSpPr/>
            <p:nvPr/>
          </p:nvSpPr>
          <p:spPr>
            <a:xfrm>
              <a:off x="318" y="1512"/>
              <a:ext cx="16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24" name="Line 70"/>
            <p:cNvSpPr/>
            <p:nvPr/>
          </p:nvSpPr>
          <p:spPr>
            <a:xfrm>
              <a:off x="1143" y="1512"/>
              <a:ext cx="16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25" name="Line 71"/>
            <p:cNvSpPr/>
            <p:nvPr/>
          </p:nvSpPr>
          <p:spPr>
            <a:xfrm>
              <a:off x="318" y="1730"/>
              <a:ext cx="16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26" name="Line 72"/>
            <p:cNvSpPr/>
            <p:nvPr/>
          </p:nvSpPr>
          <p:spPr>
            <a:xfrm>
              <a:off x="1143" y="1730"/>
              <a:ext cx="16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27" name="Rectangle 73"/>
            <p:cNvSpPr/>
            <p:nvPr/>
          </p:nvSpPr>
          <p:spPr>
            <a:xfrm>
              <a:off x="0" y="1381"/>
              <a:ext cx="286" cy="15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r>
                <a:rPr lang="en-US" altLang="zh-CN" sz="1600" dirty="0">
                  <a:solidFill>
                    <a:srgbClr val="000000"/>
                  </a:solidFill>
                  <a:latin typeface="Times New Roman" panose="02020603050405020304" pitchFamily="2" charset="0"/>
                </a:rPr>
                <a:t>score</a:t>
              </a:r>
              <a:endParaRPr lang="en-US" altLang="zh-CN" sz="1600" dirty="0">
                <a:latin typeface="Times New Roman" panose="02020603050405020304" pitchFamily="2" charset="0"/>
              </a:endParaRPr>
            </a:p>
          </p:txBody>
        </p:sp>
        <p:sp>
          <p:nvSpPr>
            <p:cNvPr id="33828" name="Text Box 74"/>
            <p:cNvSpPr txBox="1"/>
            <p:nvPr/>
          </p:nvSpPr>
          <p:spPr>
            <a:xfrm>
              <a:off x="363" y="0"/>
              <a:ext cx="1361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 dirty="0">
                  <a:solidFill>
                    <a:srgbClr val="000099"/>
                  </a:solidFill>
                  <a:latin typeface="Times New Roman" panose="02020603050405020304" pitchFamily="2" charset="0"/>
                </a:rPr>
                <a:t>存储空间</a:t>
              </a:r>
            </a:p>
          </p:txBody>
        </p:sp>
      </p:grpSp>
      <p:sp>
        <p:nvSpPr>
          <p:cNvPr id="33831" name="Text Box 80"/>
          <p:cNvSpPr txBox="1"/>
          <p:nvPr/>
        </p:nvSpPr>
        <p:spPr>
          <a:xfrm>
            <a:off x="611560" y="3915216"/>
            <a:ext cx="3024336" cy="137287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noFill/>
          </a:ln>
        </p:spPr>
        <p:txBody>
          <a:bodyPr anchor="t"/>
          <a:lstStyle/>
          <a:p>
            <a:pPr algn="just" eaLnBrk="0" hangingPunct="0"/>
            <a:r>
              <a:rPr lang="en-US" altLang="zh-CN" sz="2400" b="0" dirty="0">
                <a:latin typeface="Consolas" panose="020B0609020204030204" pitchFamily="49" charset="0"/>
              </a:rPr>
              <a:t>char sex;</a:t>
            </a:r>
          </a:p>
          <a:p>
            <a:pPr algn="just" eaLnBrk="0" hangingPunct="0"/>
            <a:r>
              <a:rPr lang="en-US" altLang="zh-CN" sz="2400" b="0" dirty="0">
                <a:latin typeface="Consolas" panose="020B0609020204030204" pitchFamily="49" charset="0"/>
              </a:rPr>
              <a:t>int age;</a:t>
            </a:r>
          </a:p>
          <a:p>
            <a:pPr algn="just" eaLnBrk="0" hangingPunct="0"/>
            <a:r>
              <a:rPr lang="en-US" altLang="zh-CN" sz="2400" b="0" dirty="0">
                <a:latin typeface="Consolas" panose="020B0609020204030204" pitchFamily="49" charset="0"/>
              </a:rPr>
              <a:t>float score;</a:t>
            </a:r>
            <a:endParaRPr lang="zh-CN" altLang="en-US" sz="2400" b="0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8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8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831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灯片编号占位符 5"/>
          <p:cNvSpPr txBox="1">
            <a:spLocks noGrp="1"/>
          </p:cNvSpPr>
          <p:nvPr/>
        </p:nvSpPr>
        <p:spPr>
          <a:xfrm>
            <a:off x="6934200" y="63246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r">
              <a:spcBef>
                <a:spcPct val="50000"/>
              </a:spcBef>
            </a:pPr>
            <a:fld id="{9A0DB2DC-4C9A-4742-B13C-FB6460FD3503}" type="slidenum">
              <a:rPr lang="zh-CN" altLang="en-US" sz="1400" dirty="0">
                <a:latin typeface="Times New Roman" panose="02020603050405020304" pitchFamily="2" charset="0"/>
              </a:rPr>
              <a:t>25</a:t>
            </a:fld>
            <a:endParaRPr lang="zh-CN" altLang="en-US" sz="1400" dirty="0">
              <a:latin typeface="Times New Roman" panose="02020603050405020304" pitchFamily="2" charset="0"/>
            </a:endParaRPr>
          </a:p>
        </p:txBody>
      </p:sp>
      <p:sp>
        <p:nvSpPr>
          <p:cNvPr id="31746" name="Text Box 4"/>
          <p:cNvSpPr txBox="1"/>
          <p:nvPr/>
        </p:nvSpPr>
        <p:spPr>
          <a:xfrm>
            <a:off x="454024" y="1271152"/>
            <a:ext cx="8235951" cy="249299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eaLnBrk="0" hangingPunct="0">
              <a:spcBef>
                <a:spcPct val="50000"/>
              </a:spcBef>
              <a:buChar char="•"/>
            </a:pPr>
            <a:r>
              <a:rPr lang="zh-CN" altLang="en-US" sz="2400" dirty="0">
                <a:latin typeface="宋体" panose="02010600030101010101" pitchFamily="2" charset="-122"/>
                <a:sym typeface="+mn-ea"/>
              </a:rPr>
              <a:t>变量声明时，可以</a:t>
            </a:r>
            <a:r>
              <a:rPr lang="zh-CN" altLang="en-US" sz="2400" dirty="0">
                <a:solidFill>
                  <a:srgbClr val="6600FF"/>
                </a:solidFill>
                <a:latin typeface="宋体" panose="02010600030101010101" pitchFamily="2" charset="-122"/>
                <a:sym typeface="+mn-ea"/>
              </a:rPr>
              <a:t>给变量一个初始值。</a:t>
            </a:r>
          </a:p>
          <a:p>
            <a:pPr eaLnBrk="0" hangingPunct="0">
              <a:spcBef>
                <a:spcPct val="50000"/>
              </a:spcBef>
              <a:buChar char="•"/>
            </a:pPr>
            <a:r>
              <a:rPr lang="en-US" altLang="zh-CN" sz="2400" dirty="0">
                <a:sym typeface="+mn-ea"/>
              </a:rPr>
              <a:t>C</a:t>
            </a:r>
            <a:r>
              <a:rPr lang="zh-CN" altLang="en-US" sz="2400" dirty="0">
                <a:sym typeface="+mn-ea"/>
              </a:rPr>
              <a:t>变量初始化格式：</a:t>
            </a:r>
          </a:p>
          <a:p>
            <a:pPr eaLnBrk="0" hangingPunct="0">
              <a:spcBef>
                <a:spcPct val="50000"/>
              </a:spcBef>
            </a:pPr>
            <a:r>
              <a:rPr lang="zh-CN" altLang="en-US" sz="2400" dirty="0">
                <a:solidFill>
                  <a:srgbClr val="000099"/>
                </a:solidFill>
                <a:sym typeface="+mn-ea"/>
              </a:rPr>
              <a:t>数据类型 变量名</a:t>
            </a:r>
            <a:r>
              <a:rPr lang="en-US" altLang="zh-CN" sz="2400" dirty="0">
                <a:solidFill>
                  <a:srgbClr val="000099"/>
                </a:solidFill>
                <a:sym typeface="+mn-ea"/>
              </a:rPr>
              <a:t>1=</a:t>
            </a:r>
            <a:r>
              <a:rPr lang="zh-CN" altLang="en-US" sz="2400" dirty="0">
                <a:solidFill>
                  <a:srgbClr val="000099"/>
                </a:solidFill>
                <a:sym typeface="+mn-ea"/>
              </a:rPr>
              <a:t>值</a:t>
            </a:r>
            <a:r>
              <a:rPr lang="en-US" altLang="zh-CN" sz="2400" dirty="0">
                <a:solidFill>
                  <a:srgbClr val="000099"/>
                </a:solidFill>
                <a:sym typeface="+mn-ea"/>
              </a:rPr>
              <a:t>1[,</a:t>
            </a:r>
            <a:r>
              <a:rPr lang="zh-CN" altLang="en-US" sz="2400" dirty="0">
                <a:solidFill>
                  <a:srgbClr val="000099"/>
                </a:solidFill>
                <a:sym typeface="+mn-ea"/>
              </a:rPr>
              <a:t>变量名</a:t>
            </a:r>
            <a:r>
              <a:rPr lang="en-US" altLang="zh-CN" sz="2400" dirty="0">
                <a:solidFill>
                  <a:srgbClr val="000099"/>
                </a:solidFill>
                <a:sym typeface="+mn-ea"/>
              </a:rPr>
              <a:t>2</a:t>
            </a:r>
            <a:r>
              <a:rPr lang="zh-CN" altLang="en-US" sz="2400" dirty="0">
                <a:solidFill>
                  <a:srgbClr val="000099"/>
                </a:solidFill>
                <a:sym typeface="+mn-ea"/>
              </a:rPr>
              <a:t>，</a:t>
            </a:r>
            <a:r>
              <a:rPr lang="en-US" altLang="zh-CN" sz="2400" dirty="0">
                <a:solidFill>
                  <a:srgbClr val="000099"/>
                </a:solidFill>
                <a:latin typeface="宋体" panose="02010600030101010101" pitchFamily="2" charset="-122"/>
                <a:sym typeface="+mn-ea"/>
              </a:rPr>
              <a:t>…</a:t>
            </a:r>
            <a:r>
              <a:rPr lang="en-US" altLang="zh-CN" sz="2400" dirty="0">
                <a:solidFill>
                  <a:srgbClr val="000099"/>
                </a:solidFill>
                <a:sym typeface="+mn-ea"/>
              </a:rPr>
              <a:t>];</a:t>
            </a:r>
          </a:p>
          <a:p>
            <a:pPr algn="l" eaLnBrk="0" hangingPunct="0">
              <a:spcBef>
                <a:spcPct val="50000"/>
              </a:spcBef>
              <a:buClrTx/>
              <a:buSzTx/>
            </a:pPr>
            <a:r>
              <a:rPr lang="zh-CN" altLang="en-US" sz="2400" dirty="0">
                <a:latin typeface="宋体" panose="02010600030101010101" pitchFamily="2" charset="-122"/>
                <a:sym typeface="+mn-ea"/>
              </a:rPr>
              <a:t>程序算法中涉及判断逻辑，或者暂存中间结果的变量，一定要初始化，因为分配的内存空间不会自动初始化。</a:t>
            </a:r>
            <a:endParaRPr lang="zh-CN" altLang="en-US" sz="2400" dirty="0">
              <a:latin typeface="宋体" panose="02010600030101010101" pitchFamily="2" charset="-122"/>
            </a:endParaRPr>
          </a:p>
        </p:txBody>
      </p:sp>
      <p:sp>
        <p:nvSpPr>
          <p:cNvPr id="31781" name="Rectangle 47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r>
              <a:rPr lang="zh-CN" altLang="en-US" b="1" dirty="0"/>
              <a:t>初始化变量</a:t>
            </a:r>
          </a:p>
        </p:txBody>
      </p:sp>
      <p:sp>
        <p:nvSpPr>
          <p:cNvPr id="33831" name="Text Box 80"/>
          <p:cNvSpPr txBox="1"/>
          <p:nvPr/>
        </p:nvSpPr>
        <p:spPr>
          <a:xfrm>
            <a:off x="482202" y="3918512"/>
            <a:ext cx="8235951" cy="137287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noFill/>
          </a:ln>
        </p:spPr>
        <p:txBody>
          <a:bodyPr anchor="t"/>
          <a:lstStyle/>
          <a:p>
            <a:pPr algn="just" eaLnBrk="0" hangingPunct="0"/>
            <a:r>
              <a:rPr lang="en-US" altLang="zh-CN" sz="2400" b="0" dirty="0">
                <a:latin typeface="Consolas" panose="020B0609020204030204" pitchFamily="49" charset="0"/>
              </a:rPr>
              <a:t>int hogs = 21;</a:t>
            </a:r>
          </a:p>
          <a:p>
            <a:pPr algn="just" eaLnBrk="0" hangingPunct="0"/>
            <a:r>
              <a:rPr lang="en-US" altLang="zh-CN" sz="2400" b="0" dirty="0">
                <a:latin typeface="Consolas" panose="020B0609020204030204" pitchFamily="49" charset="0"/>
              </a:rPr>
              <a:t>int cows = 32, goats = 14;</a:t>
            </a:r>
          </a:p>
          <a:p>
            <a:pPr algn="just" eaLnBrk="0" hangingPunct="0"/>
            <a:r>
              <a:rPr lang="en-US" altLang="zh-CN" sz="2400" b="0" dirty="0">
                <a:latin typeface="Consolas" panose="020B0609020204030204" pitchFamily="49" charset="0"/>
              </a:rPr>
              <a:t>int dogs, cats = 94; /*</a:t>
            </a:r>
            <a:r>
              <a:rPr lang="zh-CN" altLang="en-US" sz="2400" b="0" dirty="0">
                <a:latin typeface="Consolas" panose="020B0609020204030204" pitchFamily="49" charset="0"/>
              </a:rPr>
              <a:t>有效，但是这种格式很糟糕 *</a:t>
            </a:r>
            <a:r>
              <a:rPr lang="en-US" altLang="zh-CN" sz="2400" b="0" dirty="0">
                <a:latin typeface="Consolas" panose="020B0609020204030204" pitchFamily="49" charset="0"/>
              </a:rPr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315333203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8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8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83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indent="0" algn="r" eaLnBrk="1" hangingPunct="1">
              <a:spcBef>
                <a:spcPct val="50000"/>
              </a:spcBef>
              <a:buNone/>
            </a:pPr>
            <a:fld id="{9A0DB2DC-4C9A-4742-B13C-FB6460FD3503}" type="slidenum">
              <a:rPr lang="zh-CN" altLang="en-US" sz="1400" b="1" dirty="0"/>
              <a:t>26</a:t>
            </a:fld>
            <a:endParaRPr lang="zh-CN" altLang="en-US" sz="1400" b="1" dirty="0"/>
          </a:p>
        </p:txBody>
      </p:sp>
      <p:grpSp>
        <p:nvGrpSpPr>
          <p:cNvPr id="2" name="Group 81"/>
          <p:cNvGrpSpPr/>
          <p:nvPr/>
        </p:nvGrpSpPr>
        <p:grpSpPr>
          <a:xfrm>
            <a:off x="4932040" y="3116288"/>
            <a:ext cx="3384550" cy="3024187"/>
            <a:chOff x="2880" y="2024"/>
            <a:chExt cx="2132" cy="1905"/>
          </a:xfrm>
        </p:grpSpPr>
        <p:sp>
          <p:nvSpPr>
            <p:cNvPr id="50192" name="Rectangle 50"/>
            <p:cNvSpPr/>
            <p:nvPr/>
          </p:nvSpPr>
          <p:spPr>
            <a:xfrm>
              <a:off x="3198" y="2387"/>
              <a:ext cx="996" cy="183"/>
            </a:xfrm>
            <a:prstGeom prst="rect">
              <a:avLst/>
            </a:prstGeom>
            <a:solidFill>
              <a:srgbClr val="E6E6E6"/>
            </a:solidFill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8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buNone/>
              </a:pPr>
              <a:endParaRPr lang="zh-CN" altLang="en-US" sz="1800" b="1" dirty="0"/>
            </a:p>
          </p:txBody>
        </p:sp>
        <p:sp>
          <p:nvSpPr>
            <p:cNvPr id="50193" name="Rectangle 51"/>
            <p:cNvSpPr/>
            <p:nvPr/>
          </p:nvSpPr>
          <p:spPr>
            <a:xfrm>
              <a:off x="3198" y="2387"/>
              <a:ext cx="996" cy="183"/>
            </a:xfrm>
            <a:prstGeom prst="rect">
              <a:avLst/>
            </a:prstGeom>
            <a:gradFill rotWithShape="1">
              <a:gsLst>
                <a:gs pos="0">
                  <a:srgbClr val="9966FF"/>
                </a:gs>
                <a:gs pos="100000">
                  <a:schemeClr val="bg1"/>
                </a:gs>
              </a:gsLst>
              <a:lin ang="5400000" scaled="1"/>
              <a:tileRect/>
            </a:gradFill>
            <a:ln w="1587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8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buNone/>
              </a:pPr>
              <a:endParaRPr lang="zh-CN" altLang="en-US" sz="1800" b="1" dirty="0"/>
            </a:p>
          </p:txBody>
        </p:sp>
        <p:sp>
          <p:nvSpPr>
            <p:cNvPr id="50194" name="Rectangle 52"/>
            <p:cNvSpPr/>
            <p:nvPr/>
          </p:nvSpPr>
          <p:spPr>
            <a:xfrm>
              <a:off x="4309" y="2400"/>
              <a:ext cx="703" cy="15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8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600" b="1" dirty="0">
                  <a:solidFill>
                    <a:srgbClr val="000000"/>
                  </a:solidFill>
                </a:rPr>
                <a:t>2000H</a:t>
              </a:r>
              <a:endParaRPr lang="zh-CN" altLang="en-US" sz="1600" b="1" dirty="0"/>
            </a:p>
          </p:txBody>
        </p:sp>
        <p:sp>
          <p:nvSpPr>
            <p:cNvPr id="50195" name="Rectangle 53"/>
            <p:cNvSpPr/>
            <p:nvPr/>
          </p:nvSpPr>
          <p:spPr>
            <a:xfrm>
              <a:off x="3198" y="2570"/>
              <a:ext cx="996" cy="185"/>
            </a:xfrm>
            <a:prstGeom prst="rect">
              <a:avLst/>
            </a:prstGeom>
            <a:solidFill>
              <a:srgbClr val="E6E6E6"/>
            </a:solidFill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8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buNone/>
              </a:pPr>
              <a:endParaRPr lang="zh-CN" altLang="en-US" sz="1800" b="1" dirty="0"/>
            </a:p>
          </p:txBody>
        </p:sp>
        <p:sp>
          <p:nvSpPr>
            <p:cNvPr id="50196" name="Rectangle 54"/>
            <p:cNvSpPr/>
            <p:nvPr/>
          </p:nvSpPr>
          <p:spPr>
            <a:xfrm>
              <a:off x="3198" y="2570"/>
              <a:ext cx="996" cy="185"/>
            </a:xfrm>
            <a:prstGeom prst="rect">
              <a:avLst/>
            </a:prstGeom>
            <a:gradFill rotWithShape="1">
              <a:gsLst>
                <a:gs pos="0">
                  <a:srgbClr val="9966FF"/>
                </a:gs>
                <a:gs pos="100000">
                  <a:schemeClr val="bg1"/>
                </a:gs>
              </a:gsLst>
              <a:lin ang="5400000" scaled="1"/>
              <a:tileRect/>
            </a:gradFill>
            <a:ln w="1587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8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buNone/>
              </a:pPr>
              <a:endParaRPr lang="zh-CN" altLang="en-US" sz="1800" b="1" dirty="0"/>
            </a:p>
          </p:txBody>
        </p:sp>
        <p:sp>
          <p:nvSpPr>
            <p:cNvPr id="50197" name="Rectangle 55"/>
            <p:cNvSpPr/>
            <p:nvPr/>
          </p:nvSpPr>
          <p:spPr>
            <a:xfrm>
              <a:off x="3198" y="2755"/>
              <a:ext cx="996" cy="398"/>
            </a:xfrm>
            <a:prstGeom prst="rect">
              <a:avLst/>
            </a:prstGeom>
            <a:gradFill rotWithShape="1">
              <a:gsLst>
                <a:gs pos="0">
                  <a:srgbClr val="9966FF"/>
                </a:gs>
                <a:gs pos="100000">
                  <a:schemeClr val="bg1"/>
                </a:gs>
              </a:gsLst>
              <a:lin ang="5400000" scaled="1"/>
              <a:tileRect/>
            </a:gradFill>
            <a:ln w="1587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8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buNone/>
              </a:pPr>
              <a:endParaRPr lang="zh-CN" altLang="en-US" sz="1800" b="1" dirty="0"/>
            </a:p>
          </p:txBody>
        </p:sp>
        <p:sp>
          <p:nvSpPr>
            <p:cNvPr id="50198" name="Rectangle 56"/>
            <p:cNvSpPr/>
            <p:nvPr/>
          </p:nvSpPr>
          <p:spPr>
            <a:xfrm>
              <a:off x="3198" y="2755"/>
              <a:ext cx="996" cy="398"/>
            </a:xfrm>
            <a:prstGeom prst="rect">
              <a:avLst/>
            </a:prstGeom>
            <a:noFill/>
            <a:ln w="1587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8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buNone/>
              </a:pPr>
              <a:endParaRPr lang="zh-CN" altLang="en-US" sz="1800" b="1" dirty="0"/>
            </a:p>
          </p:txBody>
        </p:sp>
        <p:sp>
          <p:nvSpPr>
            <p:cNvPr id="50199" name="Rectangle 57"/>
            <p:cNvSpPr/>
            <p:nvPr/>
          </p:nvSpPr>
          <p:spPr>
            <a:xfrm>
              <a:off x="4297" y="2715"/>
              <a:ext cx="356" cy="15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8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600" b="1" dirty="0">
                  <a:solidFill>
                    <a:srgbClr val="000000"/>
                  </a:solidFill>
                </a:rPr>
                <a:t>2002H</a:t>
              </a:r>
              <a:endParaRPr lang="en-US" altLang="zh-CN" sz="1600" b="1" dirty="0"/>
            </a:p>
          </p:txBody>
        </p:sp>
        <p:sp>
          <p:nvSpPr>
            <p:cNvPr id="50200" name="Rectangle 58"/>
            <p:cNvSpPr/>
            <p:nvPr/>
          </p:nvSpPr>
          <p:spPr>
            <a:xfrm>
              <a:off x="3198" y="3122"/>
              <a:ext cx="996" cy="245"/>
            </a:xfrm>
            <a:prstGeom prst="rect">
              <a:avLst/>
            </a:prstGeom>
            <a:gradFill rotWithShape="1">
              <a:gsLst>
                <a:gs pos="0">
                  <a:srgbClr val="9966FF"/>
                </a:gs>
                <a:gs pos="100000">
                  <a:schemeClr val="bg1"/>
                </a:gs>
              </a:gsLst>
              <a:lin ang="5400000" scaled="1"/>
              <a:tileRect/>
            </a:gradFill>
            <a:ln w="1587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8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b="1" dirty="0"/>
            </a:p>
          </p:txBody>
        </p:sp>
        <p:sp>
          <p:nvSpPr>
            <p:cNvPr id="50201" name="Rectangle 59"/>
            <p:cNvSpPr/>
            <p:nvPr/>
          </p:nvSpPr>
          <p:spPr>
            <a:xfrm>
              <a:off x="3198" y="3122"/>
              <a:ext cx="996" cy="245"/>
            </a:xfrm>
            <a:prstGeom prst="rect">
              <a:avLst/>
            </a:prstGeom>
            <a:noFill/>
            <a:ln w="1587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8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buNone/>
              </a:pPr>
              <a:endParaRPr lang="zh-CN" altLang="en-US" sz="1800" b="1" dirty="0"/>
            </a:p>
          </p:txBody>
        </p:sp>
        <p:sp>
          <p:nvSpPr>
            <p:cNvPr id="50202" name="Rectangle 60"/>
            <p:cNvSpPr/>
            <p:nvPr/>
          </p:nvSpPr>
          <p:spPr>
            <a:xfrm>
              <a:off x="3198" y="3367"/>
              <a:ext cx="996" cy="185"/>
            </a:xfrm>
            <a:prstGeom prst="rect">
              <a:avLst/>
            </a:prstGeom>
            <a:solidFill>
              <a:srgbClr val="E6E6E6"/>
            </a:solidFill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8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buNone/>
              </a:pPr>
              <a:endParaRPr lang="zh-CN" altLang="en-US" sz="1800" b="1" dirty="0"/>
            </a:p>
          </p:txBody>
        </p:sp>
        <p:sp>
          <p:nvSpPr>
            <p:cNvPr id="50203" name="Rectangle 61"/>
            <p:cNvSpPr/>
            <p:nvPr/>
          </p:nvSpPr>
          <p:spPr>
            <a:xfrm>
              <a:off x="3198" y="3743"/>
              <a:ext cx="996" cy="186"/>
            </a:xfrm>
            <a:prstGeom prst="rect">
              <a:avLst/>
            </a:prstGeom>
            <a:solidFill>
              <a:srgbClr val="E6E6E6"/>
            </a:solidFill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8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buNone/>
              </a:pPr>
              <a:endParaRPr lang="zh-CN" altLang="en-US" sz="1800" b="1" dirty="0"/>
            </a:p>
          </p:txBody>
        </p:sp>
        <p:sp>
          <p:nvSpPr>
            <p:cNvPr id="50204" name="Rectangle 62"/>
            <p:cNvSpPr/>
            <p:nvPr/>
          </p:nvSpPr>
          <p:spPr>
            <a:xfrm>
              <a:off x="3198" y="3098"/>
              <a:ext cx="996" cy="831"/>
            </a:xfrm>
            <a:prstGeom prst="rect">
              <a:avLst/>
            </a:prstGeom>
            <a:gradFill rotWithShape="1">
              <a:gsLst>
                <a:gs pos="0">
                  <a:srgbClr val="9966FF"/>
                </a:gs>
                <a:gs pos="100000">
                  <a:schemeClr val="bg1"/>
                </a:gs>
              </a:gsLst>
              <a:lin ang="5400000" scaled="1"/>
              <a:tileRect/>
            </a:gradFill>
            <a:ln w="1587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8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buNone/>
              </a:pPr>
              <a:endParaRPr lang="zh-CN" altLang="en-US" sz="1800" b="1" dirty="0"/>
            </a:p>
          </p:txBody>
        </p:sp>
        <p:sp>
          <p:nvSpPr>
            <p:cNvPr id="50205" name="Rectangle 63"/>
            <p:cNvSpPr/>
            <p:nvPr/>
          </p:nvSpPr>
          <p:spPr>
            <a:xfrm>
              <a:off x="4297" y="3153"/>
              <a:ext cx="703" cy="154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8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600" b="1" dirty="0">
                  <a:solidFill>
                    <a:srgbClr val="000000"/>
                  </a:solidFill>
                </a:rPr>
                <a:t>2004H</a:t>
              </a:r>
              <a:endParaRPr lang="en-US" altLang="zh-CN" sz="1600" b="1" dirty="0"/>
            </a:p>
          </p:txBody>
        </p:sp>
        <p:sp>
          <p:nvSpPr>
            <p:cNvPr id="50206" name="Rectangle 64"/>
            <p:cNvSpPr/>
            <p:nvPr/>
          </p:nvSpPr>
          <p:spPr>
            <a:xfrm>
              <a:off x="4297" y="3317"/>
              <a:ext cx="356" cy="15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8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600" b="1" dirty="0">
                  <a:solidFill>
                    <a:srgbClr val="000000"/>
                  </a:solidFill>
                </a:rPr>
                <a:t>2005H</a:t>
              </a:r>
              <a:endParaRPr lang="en-US" altLang="zh-CN" sz="1600" b="1" dirty="0"/>
            </a:p>
          </p:txBody>
        </p:sp>
        <p:sp>
          <p:nvSpPr>
            <p:cNvPr id="50207" name="Rectangle 65"/>
            <p:cNvSpPr/>
            <p:nvPr/>
          </p:nvSpPr>
          <p:spPr>
            <a:xfrm>
              <a:off x="4297" y="3732"/>
              <a:ext cx="356" cy="15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8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600" b="1" dirty="0">
                  <a:solidFill>
                    <a:srgbClr val="000000"/>
                  </a:solidFill>
                </a:rPr>
                <a:t>2007H</a:t>
              </a:r>
              <a:endParaRPr lang="en-US" altLang="zh-CN" sz="1600" b="1" dirty="0"/>
            </a:p>
          </p:txBody>
        </p:sp>
        <p:sp>
          <p:nvSpPr>
            <p:cNvPr id="50208" name="Rectangle 66"/>
            <p:cNvSpPr/>
            <p:nvPr/>
          </p:nvSpPr>
          <p:spPr>
            <a:xfrm>
              <a:off x="4297" y="3536"/>
              <a:ext cx="356" cy="15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8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600" b="1" dirty="0">
                  <a:solidFill>
                    <a:srgbClr val="000000"/>
                  </a:solidFill>
                </a:rPr>
                <a:t>2006H</a:t>
              </a:r>
              <a:endParaRPr lang="en-US" altLang="zh-CN" sz="1600" b="1" dirty="0"/>
            </a:p>
          </p:txBody>
        </p:sp>
        <p:sp>
          <p:nvSpPr>
            <p:cNvPr id="50209" name="Rectangle 67"/>
            <p:cNvSpPr/>
            <p:nvPr/>
          </p:nvSpPr>
          <p:spPr>
            <a:xfrm>
              <a:off x="4297" y="2934"/>
              <a:ext cx="356" cy="15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8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600" b="1" dirty="0">
                  <a:solidFill>
                    <a:srgbClr val="000000"/>
                  </a:solidFill>
                </a:rPr>
                <a:t>2003H</a:t>
              </a:r>
              <a:endParaRPr lang="en-US" altLang="zh-CN" sz="1600" b="1" dirty="0"/>
            </a:p>
          </p:txBody>
        </p:sp>
        <p:sp>
          <p:nvSpPr>
            <p:cNvPr id="50210" name="Rectangle 68"/>
            <p:cNvSpPr/>
            <p:nvPr/>
          </p:nvSpPr>
          <p:spPr>
            <a:xfrm>
              <a:off x="4297" y="2551"/>
              <a:ext cx="356" cy="15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8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600" b="1" dirty="0">
                  <a:solidFill>
                    <a:srgbClr val="000000"/>
                  </a:solidFill>
                </a:rPr>
                <a:t>2001H</a:t>
              </a:r>
              <a:endParaRPr lang="en-US" altLang="zh-CN" sz="1600" b="1" dirty="0"/>
            </a:p>
          </p:txBody>
        </p:sp>
        <p:sp>
          <p:nvSpPr>
            <p:cNvPr id="50211" name="Rectangle 69"/>
            <p:cNvSpPr/>
            <p:nvPr/>
          </p:nvSpPr>
          <p:spPr>
            <a:xfrm>
              <a:off x="2935" y="2551"/>
              <a:ext cx="171" cy="15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8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600" b="1" dirty="0">
                  <a:solidFill>
                    <a:srgbClr val="000000"/>
                  </a:solidFill>
                </a:rPr>
                <a:t>sex</a:t>
              </a:r>
              <a:endParaRPr lang="en-US" altLang="zh-CN" sz="1600" b="1" dirty="0"/>
            </a:p>
          </p:txBody>
        </p:sp>
        <p:sp>
          <p:nvSpPr>
            <p:cNvPr id="50212" name="Line 70"/>
            <p:cNvSpPr/>
            <p:nvPr/>
          </p:nvSpPr>
          <p:spPr>
            <a:xfrm>
              <a:off x="3198" y="2934"/>
              <a:ext cx="16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13" name="Line 71"/>
            <p:cNvSpPr/>
            <p:nvPr/>
          </p:nvSpPr>
          <p:spPr>
            <a:xfrm>
              <a:off x="4023" y="2934"/>
              <a:ext cx="16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14" name="Rectangle 72"/>
            <p:cNvSpPr/>
            <p:nvPr/>
          </p:nvSpPr>
          <p:spPr>
            <a:xfrm>
              <a:off x="2935" y="2857"/>
              <a:ext cx="185" cy="15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8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600" b="1" dirty="0">
                  <a:solidFill>
                    <a:srgbClr val="000000"/>
                  </a:solidFill>
                </a:rPr>
                <a:t>age</a:t>
              </a:r>
              <a:endParaRPr lang="en-US" altLang="zh-CN" sz="1600" b="1" dirty="0"/>
            </a:p>
          </p:txBody>
        </p:sp>
        <p:sp>
          <p:nvSpPr>
            <p:cNvPr id="50215" name="Line 73"/>
            <p:cNvSpPr/>
            <p:nvPr/>
          </p:nvSpPr>
          <p:spPr>
            <a:xfrm>
              <a:off x="3198" y="3317"/>
              <a:ext cx="16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16" name="Line 74"/>
            <p:cNvSpPr/>
            <p:nvPr/>
          </p:nvSpPr>
          <p:spPr>
            <a:xfrm>
              <a:off x="4023" y="3317"/>
              <a:ext cx="16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17" name="Line 75"/>
            <p:cNvSpPr/>
            <p:nvPr/>
          </p:nvSpPr>
          <p:spPr>
            <a:xfrm>
              <a:off x="3198" y="3536"/>
              <a:ext cx="16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18" name="Line 76"/>
            <p:cNvSpPr/>
            <p:nvPr/>
          </p:nvSpPr>
          <p:spPr>
            <a:xfrm>
              <a:off x="4023" y="3536"/>
              <a:ext cx="16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19" name="Line 77"/>
            <p:cNvSpPr/>
            <p:nvPr/>
          </p:nvSpPr>
          <p:spPr>
            <a:xfrm>
              <a:off x="3198" y="3754"/>
              <a:ext cx="16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20" name="Line 78"/>
            <p:cNvSpPr/>
            <p:nvPr/>
          </p:nvSpPr>
          <p:spPr>
            <a:xfrm>
              <a:off x="4023" y="3754"/>
              <a:ext cx="16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21" name="Rectangle 79"/>
            <p:cNvSpPr/>
            <p:nvPr/>
          </p:nvSpPr>
          <p:spPr>
            <a:xfrm>
              <a:off x="2880" y="3405"/>
              <a:ext cx="286" cy="15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8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600" b="1" dirty="0">
                  <a:solidFill>
                    <a:srgbClr val="000000"/>
                  </a:solidFill>
                </a:rPr>
                <a:t>score</a:t>
              </a:r>
              <a:endParaRPr lang="en-US" altLang="zh-CN" sz="1600" b="1" dirty="0"/>
            </a:p>
          </p:txBody>
        </p:sp>
        <p:sp>
          <p:nvSpPr>
            <p:cNvPr id="50222" name="Text Box 80"/>
            <p:cNvSpPr txBox="1"/>
            <p:nvPr/>
          </p:nvSpPr>
          <p:spPr>
            <a:xfrm>
              <a:off x="3243" y="2024"/>
              <a:ext cx="1361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8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2000" b="1" dirty="0">
                  <a:solidFill>
                    <a:srgbClr val="000099"/>
                  </a:solidFill>
                </a:rPr>
                <a:t>存储空间</a:t>
              </a:r>
            </a:p>
          </p:txBody>
        </p:sp>
      </p:grpSp>
      <p:sp>
        <p:nvSpPr>
          <p:cNvPr id="243866" name="Rectangle 154"/>
          <p:cNvSpPr/>
          <p:nvPr/>
        </p:nvSpPr>
        <p:spPr>
          <a:xfrm>
            <a:off x="5870575" y="3933825"/>
            <a:ext cx="257175" cy="30797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8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solidFill>
                  <a:srgbClr val="FF3300"/>
                </a:solidFill>
              </a:rPr>
              <a:t>70</a:t>
            </a:r>
          </a:p>
        </p:txBody>
      </p:sp>
      <p:sp>
        <p:nvSpPr>
          <p:cNvPr id="243867" name="Rectangle 155"/>
          <p:cNvSpPr/>
          <p:nvPr/>
        </p:nvSpPr>
        <p:spPr>
          <a:xfrm>
            <a:off x="5870575" y="4419600"/>
            <a:ext cx="254000" cy="3048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8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solidFill>
                  <a:srgbClr val="FF3300"/>
                </a:solidFill>
              </a:rPr>
              <a:t>18</a:t>
            </a:r>
          </a:p>
        </p:txBody>
      </p:sp>
      <p:sp>
        <p:nvSpPr>
          <p:cNvPr id="243868" name="Rectangle 156"/>
          <p:cNvSpPr/>
          <p:nvPr/>
        </p:nvSpPr>
        <p:spPr>
          <a:xfrm>
            <a:off x="5783263" y="5289550"/>
            <a:ext cx="444500" cy="3048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8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solidFill>
                  <a:srgbClr val="FF3300"/>
                </a:solidFill>
              </a:rPr>
              <a:t>89.5</a:t>
            </a:r>
          </a:p>
        </p:txBody>
      </p:sp>
      <p:sp>
        <p:nvSpPr>
          <p:cNvPr id="50190" name="Rectangle 159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lstStyle/>
          <a:p>
            <a:pPr eaLnBrk="1" hangingPunct="1"/>
            <a:r>
              <a:rPr lang="zh-CN" altLang="en-US" b="1" dirty="0">
                <a:latin typeface="宋体" panose="02010600030101010101" pitchFamily="2" charset="-122"/>
              </a:rPr>
              <a:t>变量赋值</a:t>
            </a:r>
            <a:endParaRPr lang="zh-CN" altLang="en-US" b="1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25AA98A-5BB3-E536-13B5-F59FF37B7B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544" y="1304157"/>
            <a:ext cx="8208912" cy="4456906"/>
          </a:xfrm>
        </p:spPr>
        <p:txBody>
          <a:bodyPr/>
          <a:lstStyle/>
          <a:p>
            <a:r>
              <a:rPr lang="zh-CN" altLang="en-US" sz="2400" b="1" dirty="0"/>
              <a:t>变量赋值：把一个值写入已声明变量代表的存储空间。</a:t>
            </a:r>
            <a:endParaRPr lang="en-US" altLang="zh-CN" sz="2400" b="1" dirty="0"/>
          </a:p>
          <a:p>
            <a:r>
              <a:rPr lang="en-US" altLang="zh-CN" sz="2400" b="1" dirty="0"/>
              <a:t>C</a:t>
            </a:r>
            <a:r>
              <a:rPr lang="zh-CN" altLang="en-US" sz="2400" b="1" dirty="0"/>
              <a:t>语言变量赋值格式：</a:t>
            </a:r>
            <a:endParaRPr lang="en-US" altLang="zh-CN" sz="2400" b="1" dirty="0"/>
          </a:p>
          <a:p>
            <a:pPr marL="457200" lvl="1" indent="0">
              <a:buNone/>
            </a:pPr>
            <a:r>
              <a:rPr lang="zh-CN" altLang="en-US" sz="2400" b="1" dirty="0">
                <a:solidFill>
                  <a:srgbClr val="000099"/>
                </a:solidFill>
              </a:rPr>
              <a:t>变量名</a:t>
            </a:r>
            <a:r>
              <a:rPr lang="en-US" altLang="zh-CN" sz="2400" b="1" dirty="0">
                <a:solidFill>
                  <a:srgbClr val="000099"/>
                </a:solidFill>
              </a:rPr>
              <a:t>=</a:t>
            </a:r>
            <a:r>
              <a:rPr lang="zh-CN" altLang="en-US" sz="2400" b="1" dirty="0">
                <a:solidFill>
                  <a:srgbClr val="000099"/>
                </a:solidFill>
              </a:rPr>
              <a:t>表达式</a:t>
            </a:r>
            <a:endParaRPr lang="en-US" altLang="zh-CN" sz="2400" b="1" dirty="0">
              <a:solidFill>
                <a:srgbClr val="000099"/>
              </a:solidFill>
            </a:endParaRPr>
          </a:p>
          <a:p>
            <a:pPr marL="0" lvl="0" indent="0" algn="just" eaLnBrk="1" hangingPunct="1">
              <a:spcBef>
                <a:spcPct val="50000"/>
              </a:spcBef>
              <a:buNone/>
            </a:pPr>
            <a:r>
              <a:rPr lang="zh-CN" altLang="en-US" sz="2400" b="1" dirty="0"/>
              <a:t>例：</a:t>
            </a:r>
          </a:p>
          <a:p>
            <a:pPr marL="0" lvl="0" indent="0" algn="just" eaLnBrk="1" hangingPunct="1">
              <a:spcBef>
                <a:spcPct val="50000"/>
              </a:spcBef>
              <a:buNone/>
            </a:pPr>
            <a:r>
              <a:rPr lang="en-US" altLang="zh-CN" sz="2400" dirty="0">
                <a:solidFill>
                  <a:srgbClr val="000099"/>
                </a:solidFill>
                <a:latin typeface="Consolas" panose="020B0609020204030204" pitchFamily="49" charset="0"/>
              </a:rPr>
              <a:t>	sex=</a:t>
            </a:r>
            <a:r>
              <a:rPr lang="en-US" altLang="zh-CN" sz="2400" b="1" dirty="0">
                <a:ea typeface="宋体" panose="02010600030101010101" pitchFamily="2" charset="-122"/>
                <a:cs typeface="宋体" panose="02010600030101010101" pitchFamily="2" charset="-122"/>
              </a:rPr>
              <a:t>'F'</a:t>
            </a:r>
            <a:r>
              <a:rPr lang="en-US" altLang="zh-CN" sz="2400" dirty="0">
                <a:solidFill>
                  <a:srgbClr val="000099"/>
                </a:solidFill>
                <a:latin typeface="Consolas" panose="020B0609020204030204" pitchFamily="49" charset="0"/>
              </a:rPr>
              <a:t>;</a:t>
            </a:r>
            <a:endParaRPr lang="zh-CN" altLang="en-US" sz="2400" dirty="0">
              <a:solidFill>
                <a:srgbClr val="000099"/>
              </a:solidFill>
              <a:latin typeface="Consolas" panose="020B0609020204030204" pitchFamily="49" charset="0"/>
            </a:endParaRPr>
          </a:p>
          <a:p>
            <a:pPr marL="0" lvl="0" indent="0" algn="just" eaLnBrk="1" hangingPunct="1">
              <a:spcBef>
                <a:spcPct val="50000"/>
              </a:spcBef>
              <a:buNone/>
            </a:pPr>
            <a:r>
              <a:rPr lang="en-US" altLang="zh-CN" sz="2400" dirty="0">
                <a:solidFill>
                  <a:srgbClr val="000099"/>
                </a:solidFill>
                <a:latin typeface="Consolas" panose="020B0609020204030204" pitchFamily="49" charset="0"/>
              </a:rPr>
              <a:t>	age=18;</a:t>
            </a:r>
          </a:p>
          <a:p>
            <a:pPr marL="0" lvl="0" indent="0" algn="just" eaLnBrk="1" hangingPunct="1">
              <a:spcBef>
                <a:spcPct val="50000"/>
              </a:spcBef>
              <a:buNone/>
            </a:pPr>
            <a:r>
              <a:rPr lang="en-US" altLang="zh-CN" sz="2400" dirty="0">
                <a:solidFill>
                  <a:srgbClr val="000099"/>
                </a:solidFill>
                <a:latin typeface="Consolas" panose="020B0609020204030204" pitchFamily="49" charset="0"/>
              </a:rPr>
              <a:t>	score=89.5;</a:t>
            </a:r>
          </a:p>
          <a:p>
            <a:endParaRPr lang="zh-CN" altLang="en-US" sz="24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43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43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43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3866" grpId="0"/>
      <p:bldP spid="243867" grpId="0"/>
      <p:bldP spid="24386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r>
              <a:rPr lang="en-US" altLang="zh-CN" dirty="0"/>
              <a:t>C</a:t>
            </a:r>
            <a:r>
              <a:rPr lang="zh-CN" altLang="en-US" dirty="0"/>
              <a:t>语言的整数类型关键字</a:t>
            </a:r>
          </a:p>
        </p:txBody>
      </p:sp>
      <p:graphicFrame>
        <p:nvGraphicFramePr>
          <p:cNvPr id="14339" name="内容占位符 1433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46210031"/>
              </p:ext>
            </p:extLst>
          </p:nvPr>
        </p:nvGraphicFramePr>
        <p:xfrm>
          <a:off x="611560" y="1628800"/>
          <a:ext cx="8136904" cy="3670936"/>
        </p:xfrm>
        <a:graphic>
          <a:graphicData uri="http://schemas.openxmlformats.org/drawingml/2006/table">
            <a:tbl>
              <a:tblPr/>
              <a:tblGrid>
                <a:gridCol w="29946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422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4663"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 b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342900" lvl="0" indent="-342900" algn="ctr" fontAlgn="ctr">
                        <a:spcBef>
                          <a:spcPct val="0"/>
                        </a:spcBef>
                        <a:buNone/>
                      </a:pP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数据类型关键字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 b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342900" lvl="0" indent="-342900" algn="ctr" fontAlgn="ctr">
                        <a:spcBef>
                          <a:spcPct val="0"/>
                        </a:spcBef>
                        <a:buNone/>
                      </a:pP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含义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662"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 b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342900" lvl="0" indent="-342900" font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0" dirty="0">
                          <a:latin typeface="Consolas" panose="020B0609020204030204" pitchFamily="49" charset="0"/>
                          <a:cs typeface="Times New Roman" panose="02020603050405020304" pitchFamily="2" charset="0"/>
                        </a:rPr>
                        <a:t>int</a:t>
                      </a:r>
                      <a:endParaRPr lang="en-US" altLang="x-none" sz="2400" b="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 b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342900" lvl="0" indent="-342900" fontAlgn="ctr">
                        <a:spcBef>
                          <a:spcPct val="0"/>
                        </a:spcBef>
                        <a:buNone/>
                      </a:pPr>
                      <a:r>
                        <a:rPr lang="zh-CN" altLang="en-US" sz="2400" dirty="0">
                          <a:latin typeface="宋体" panose="02010600030101010101" pitchFamily="2" charset="-122"/>
                        </a:rPr>
                        <a:t>整数</a:t>
                      </a:r>
                      <a:endParaRPr lang="zh-CN" altLang="en-US" sz="2400" dirty="0"/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662"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 b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342900" lvl="0" indent="-342900" fontAlgn="ctr">
                        <a:spcBef>
                          <a:spcPct val="0"/>
                        </a:spcBef>
                        <a:buNone/>
                      </a:pPr>
                      <a:r>
                        <a:rPr lang="en-US" altLang="zh-CN" sz="2400" b="0" dirty="0">
                          <a:latin typeface="Consolas" panose="020B0609020204030204" pitchFamily="49" charset="0"/>
                          <a:cs typeface="Times New Roman" panose="02020603050405020304" pitchFamily="2" charset="0"/>
                        </a:rPr>
                        <a:t>short</a:t>
                      </a:r>
                      <a:endParaRPr lang="en-US" altLang="x-none" sz="2400" b="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 b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342900" lvl="0" indent="-342900" fontAlgn="ctr">
                        <a:spcBef>
                          <a:spcPct val="0"/>
                        </a:spcBef>
                        <a:buNone/>
                      </a:pPr>
                      <a:r>
                        <a:rPr lang="zh-CN" altLang="en-US" sz="2400" dirty="0">
                          <a:latin typeface="宋体" panose="02010600030101010101" pitchFamily="2" charset="-122"/>
                        </a:rPr>
                        <a:t>短整数，节省空间</a:t>
                      </a:r>
                      <a:endParaRPr lang="zh-CN" altLang="en-US" sz="24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4663"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 b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342900" lvl="0" indent="-342900" fontAlgn="ctr">
                        <a:spcBef>
                          <a:spcPct val="0"/>
                        </a:spcBef>
                        <a:buNone/>
                      </a:pPr>
                      <a:r>
                        <a:rPr lang="en-US" altLang="zh-CN" sz="2400" b="0" dirty="0">
                          <a:latin typeface="Consolas" panose="020B0609020204030204" pitchFamily="49" charset="0"/>
                          <a:cs typeface="Times New Roman" panose="02020603050405020304" pitchFamily="2" charset="0"/>
                        </a:rPr>
                        <a:t>long</a:t>
                      </a:r>
                      <a:endParaRPr lang="en-US" altLang="x-none" sz="2400" b="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 b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342900" lvl="0" indent="-342900" fontAlgn="ctr">
                        <a:spcBef>
                          <a:spcPct val="0"/>
                        </a:spcBef>
                        <a:buNone/>
                      </a:pPr>
                      <a:r>
                        <a:rPr lang="zh-CN" altLang="en-US" sz="2400" dirty="0"/>
                        <a:t>长整数，位数不比</a:t>
                      </a:r>
                      <a:r>
                        <a:rPr lang="en-US" altLang="zh-CN" sz="2400" dirty="0"/>
                        <a:t>int</a:t>
                      </a:r>
                      <a:r>
                        <a:rPr lang="zh-CN" altLang="en-US" sz="2400" dirty="0"/>
                        <a:t>小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4663">
                <a:tc>
                  <a:txBody>
                    <a:bodyPr/>
                    <a:lstStyle/>
                    <a:p>
                      <a:pPr marL="342900" lvl="0" indent="-342900" fontAlgn="ctr">
                        <a:spcBef>
                          <a:spcPct val="0"/>
                        </a:spcBef>
                        <a:buNone/>
                      </a:pPr>
                      <a:r>
                        <a:rPr lang="en-US" altLang="zh-CN" sz="2400" b="0" dirty="0">
                          <a:latin typeface="Consolas" panose="020B0609020204030204" pitchFamily="49" charset="0"/>
                          <a:cs typeface="Times New Roman" panose="02020603050405020304" pitchFamily="2" charset="0"/>
                        </a:rPr>
                        <a:t>long long</a:t>
                      </a:r>
                      <a:endParaRPr lang="en-US" altLang="x-none" sz="2400" b="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zh-CN" altLang="en-US" sz="2400" dirty="0"/>
                        <a:t>较大整数，至少</a:t>
                      </a:r>
                      <a:r>
                        <a:rPr lang="en-US" altLang="zh-CN" sz="2400" dirty="0"/>
                        <a:t>64</a:t>
                      </a:r>
                      <a:r>
                        <a:rPr lang="zh-CN" altLang="en-US" sz="2400" dirty="0"/>
                        <a:t>位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768986"/>
                  </a:ext>
                </a:extLst>
              </a:tr>
              <a:tr h="474663"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 b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342900" lvl="0" indent="-342900" fontAlgn="ctr">
                        <a:spcBef>
                          <a:spcPct val="0"/>
                        </a:spcBef>
                        <a:buNone/>
                      </a:pPr>
                      <a:r>
                        <a:rPr lang="en-US" altLang="zh-CN" sz="2400" b="0" dirty="0">
                          <a:latin typeface="Consolas" panose="020B0609020204030204" pitchFamily="49" charset="0"/>
                          <a:cs typeface="Times New Roman" panose="02020603050405020304" pitchFamily="2" charset="0"/>
                        </a:rPr>
                        <a:t>unsigned</a:t>
                      </a:r>
                      <a:endParaRPr lang="en-US" altLang="x-none" sz="2400" b="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 b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342900" lvl="0" indent="-342900" fontAlgn="ctr">
                        <a:spcBef>
                          <a:spcPct val="0"/>
                        </a:spcBef>
                        <a:buNone/>
                      </a:pPr>
                      <a:r>
                        <a:rPr lang="zh-CN" altLang="en-US" sz="2400" dirty="0">
                          <a:latin typeface="宋体" panose="02010600030101010101" pitchFamily="2" charset="-122"/>
                        </a:rPr>
                        <a:t>无符号整数（非负整数）</a:t>
                      </a:r>
                      <a:endParaRPr lang="zh-CN" altLang="en-US" sz="24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5797658"/>
                  </a:ext>
                </a:extLst>
              </a:tr>
              <a:tr h="474663">
                <a:tc>
                  <a:txBody>
                    <a:bodyPr/>
                    <a:lstStyle/>
                    <a:p>
                      <a:pPr marL="342900" lvl="0" indent="-342900" fontAlgn="ctr">
                        <a:spcBef>
                          <a:spcPct val="0"/>
                        </a:spcBef>
                        <a:buNone/>
                      </a:pPr>
                      <a:r>
                        <a:rPr lang="en-US" altLang="zh-CN" sz="2400" b="0" dirty="0">
                          <a:latin typeface="Consolas" panose="020B0609020204030204" pitchFamily="49" charset="0"/>
                        </a:rPr>
                        <a:t>char</a:t>
                      </a:r>
                      <a:endParaRPr lang="en-US" altLang="x-none" sz="2400" b="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zh-CN" altLang="en-US" sz="2400" dirty="0">
                          <a:latin typeface="宋体" panose="02010600030101010101" pitchFamily="2" charset="-122"/>
                        </a:rPr>
                        <a:t>字母、字符，</a:t>
                      </a:r>
                      <a:r>
                        <a:rPr lang="en-US" altLang="zh-CN" sz="2400" dirty="0">
                          <a:latin typeface="宋体" panose="02010600030101010101" pitchFamily="2" charset="-122"/>
                        </a:rPr>
                        <a:t>ASCII</a:t>
                      </a:r>
                      <a:r>
                        <a:rPr lang="zh-CN" altLang="en-US" sz="2400" dirty="0">
                          <a:latin typeface="宋体" panose="02010600030101010101" pitchFamily="2" charset="-122"/>
                        </a:rPr>
                        <a:t>字符集和扩展的各种自然语言字符集</a:t>
                      </a:r>
                      <a:endParaRPr lang="zh-CN" altLang="en-US" sz="24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66312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6386435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E0D75E-EC10-0EB8-1516-9F5E03B58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sizeof</a:t>
            </a:r>
            <a:r>
              <a:rPr lang="zh-CN" altLang="en-US" dirty="0"/>
              <a:t>关键字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76EC2F6-55C7-FA12-D4DB-0A436B778C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544" y="1125538"/>
            <a:ext cx="7772400" cy="4611687"/>
          </a:xfrm>
        </p:spPr>
        <p:txBody>
          <a:bodyPr/>
          <a:lstStyle/>
          <a:p>
            <a:r>
              <a:rPr lang="en-US" altLang="zh-CN" sz="2400" dirty="0" err="1">
                <a:latin typeface="Consolas" panose="020B0609020204030204" pitchFamily="49" charset="0"/>
              </a:rPr>
              <a:t>sizeof</a:t>
            </a:r>
            <a:r>
              <a:rPr lang="zh-CN" altLang="en-US" sz="2400" dirty="0">
                <a:latin typeface="Consolas" panose="020B0609020204030204" pitchFamily="49" charset="0"/>
              </a:rPr>
              <a:t>关键字的使用格式</a:t>
            </a:r>
            <a:r>
              <a:rPr lang="en-US" altLang="zh-CN" sz="2400" dirty="0">
                <a:latin typeface="Consolas" panose="020B0609020204030204" pitchFamily="49" charset="0"/>
              </a:rPr>
              <a:t>:</a:t>
            </a: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</a:t>
            </a:r>
            <a:r>
              <a:rPr lang="en-US" altLang="zh-CN" sz="2400" dirty="0" err="1">
                <a:latin typeface="Consolas" panose="020B0609020204030204" pitchFamily="49" charset="0"/>
              </a:rPr>
              <a:t>size_t</a:t>
            </a:r>
            <a:r>
              <a:rPr lang="en-US" altLang="zh-CN" sz="2400" dirty="0">
                <a:latin typeface="Consolas" panose="020B0609020204030204" pitchFamily="49" charset="0"/>
              </a:rPr>
              <a:t> </a:t>
            </a:r>
            <a:r>
              <a:rPr lang="en-US" altLang="zh-CN" sz="2400" dirty="0" err="1">
                <a:latin typeface="Consolas" panose="020B0609020204030204" pitchFamily="49" charset="0"/>
              </a:rPr>
              <a:t>sizeof</a:t>
            </a:r>
            <a:r>
              <a:rPr lang="en-US" altLang="zh-CN" sz="2400" dirty="0">
                <a:latin typeface="Consolas" panose="020B0609020204030204" pitchFamily="49" charset="0"/>
              </a:rPr>
              <a:t> (type</a:t>
            </a:r>
            <a:r>
              <a:rPr lang="zh-CN" altLang="en-US" sz="2400" dirty="0">
                <a:latin typeface="Consolas" panose="020B0609020204030204" pitchFamily="49" charset="0"/>
              </a:rPr>
              <a:t>或</a:t>
            </a:r>
            <a:r>
              <a:rPr lang="en-US" altLang="zh-CN" sz="2400" dirty="0">
                <a:latin typeface="Consolas" panose="020B0609020204030204" pitchFamily="49" charset="0"/>
              </a:rPr>
              <a:t>expression)</a:t>
            </a:r>
          </a:p>
          <a:p>
            <a:r>
              <a:rPr lang="zh-CN" altLang="en-US" sz="2400" dirty="0">
                <a:latin typeface="Consolas" panose="020B0609020204030204" pitchFamily="49" charset="0"/>
              </a:rPr>
              <a:t>关键字</a:t>
            </a:r>
            <a:r>
              <a:rPr lang="en-US" altLang="zh-CN" sz="2400" dirty="0" err="1">
                <a:latin typeface="Consolas" panose="020B0609020204030204" pitchFamily="49" charset="0"/>
              </a:rPr>
              <a:t>sizeof</a:t>
            </a:r>
            <a:r>
              <a:rPr lang="zh-CN" altLang="en-US" sz="2400" dirty="0">
                <a:latin typeface="Consolas" panose="020B0609020204030204" pitchFamily="49" charset="0"/>
              </a:rPr>
              <a:t>返回给定的数据类型或表达式结果值所占内存的字节数</a:t>
            </a:r>
            <a:r>
              <a:rPr lang="en-US" altLang="zh-CN" sz="2400" dirty="0">
                <a:latin typeface="Consolas" panose="020B0609020204030204" pitchFamily="49" charset="0"/>
              </a:rPr>
              <a:t>.</a:t>
            </a:r>
          </a:p>
          <a:p>
            <a:pPr marL="0" indent="0"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/* </a:t>
            </a:r>
            <a:r>
              <a:rPr lang="en-US" altLang="zh-CN" sz="2000" dirty="0" err="1">
                <a:latin typeface="Consolas" panose="020B0609020204030204" pitchFamily="49" charset="0"/>
              </a:rPr>
              <a:t>sizeof.c</a:t>
            </a:r>
            <a:r>
              <a:rPr lang="en-US" altLang="zh-CN" sz="2000" dirty="0">
                <a:latin typeface="Consolas" panose="020B0609020204030204" pitchFamily="49" charset="0"/>
              </a:rPr>
              <a:t>—</a:t>
            </a:r>
            <a:r>
              <a:rPr lang="zh-CN" altLang="en-US" sz="2000" dirty="0">
                <a:latin typeface="Consolas" panose="020B0609020204030204" pitchFamily="49" charset="0"/>
              </a:rPr>
              <a:t>测试各个数据类型的存储长度*</a:t>
            </a:r>
            <a:r>
              <a:rPr lang="en-US" altLang="zh-CN" sz="2000" dirty="0">
                <a:latin typeface="Consolas" panose="020B0609020204030204" pitchFamily="49" charset="0"/>
              </a:rPr>
              <a:t>/</a:t>
            </a:r>
          </a:p>
          <a:p>
            <a:pPr marL="0" indent="0">
              <a:buNone/>
            </a:pPr>
            <a:r>
              <a:rPr lang="pt-BR" altLang="zh-CN" sz="2000" dirty="0">
                <a:latin typeface="Consolas" panose="020B0609020204030204" pitchFamily="49" charset="0"/>
              </a:rPr>
              <a:t>#include &lt;stdio.h&gt;</a:t>
            </a:r>
          </a:p>
          <a:p>
            <a:pPr marL="0" indent="0">
              <a:buNone/>
            </a:pPr>
            <a:r>
              <a:rPr lang="pt-BR" altLang="zh-CN" sz="2000" dirty="0">
                <a:latin typeface="Consolas" panose="020B0609020204030204" pitchFamily="49" charset="0"/>
              </a:rPr>
              <a:t>int main(void){</a:t>
            </a:r>
          </a:p>
          <a:p>
            <a:pPr marL="0" indent="0">
              <a:buNone/>
            </a:pPr>
            <a:r>
              <a:rPr lang="pt-BR" altLang="zh-CN" sz="2000" dirty="0">
                <a:latin typeface="Consolas" panose="020B0609020204030204" pitchFamily="49" charset="0"/>
              </a:rPr>
              <a:t>    printf("int length=%d\n",sizeof(int));</a:t>
            </a:r>
          </a:p>
          <a:p>
            <a:pPr marL="0" indent="0">
              <a:buNone/>
            </a:pPr>
            <a:r>
              <a:rPr lang="pt-BR" altLang="zh-CN" sz="2000" dirty="0">
                <a:latin typeface="Consolas" panose="020B0609020204030204" pitchFamily="49" charset="0"/>
              </a:rPr>
              <a:t>    printf("short length=%d\n",sizeof(short));</a:t>
            </a:r>
          </a:p>
          <a:p>
            <a:pPr marL="0" indent="0">
              <a:buNone/>
            </a:pPr>
            <a:r>
              <a:rPr lang="pt-BR" altLang="zh-CN" sz="2000" dirty="0">
                <a:latin typeface="Consolas" panose="020B0609020204030204" pitchFamily="49" charset="0"/>
              </a:rPr>
              <a:t>    printf("long length=%d\n",sizeof(long));</a:t>
            </a:r>
          </a:p>
          <a:p>
            <a:pPr marL="0" indent="0">
              <a:buNone/>
            </a:pPr>
            <a:r>
              <a:rPr lang="pt-BR" altLang="zh-CN" sz="2000" dirty="0">
                <a:latin typeface="Consolas" panose="020B0609020204030204" pitchFamily="49" charset="0"/>
              </a:rPr>
              <a:t>    printf("long long length=%d\n",sizeof(long long));</a:t>
            </a:r>
          </a:p>
          <a:p>
            <a:pPr marL="0" indent="0">
              <a:buNone/>
            </a:pPr>
            <a:r>
              <a:rPr lang="pt-BR" altLang="zh-CN" sz="2000" dirty="0">
                <a:latin typeface="Consolas" panose="020B0609020204030204" pitchFamily="49" charset="0"/>
              </a:rPr>
              <a:t>    printf("unsigned length=%d\n",sizeof(unsigned));</a:t>
            </a:r>
          </a:p>
          <a:p>
            <a:pPr marL="0" indent="0">
              <a:buNone/>
            </a:pPr>
            <a:r>
              <a:rPr lang="pt-BR" altLang="zh-CN" sz="2000" dirty="0">
                <a:latin typeface="Consolas" panose="020B0609020204030204" pitchFamily="49" charset="0"/>
              </a:rPr>
              <a:t>    printf("char length=%d\n",sizeof(char));</a:t>
            </a:r>
          </a:p>
          <a:p>
            <a:pPr marL="0" indent="0">
              <a:buNone/>
            </a:pPr>
            <a:r>
              <a:rPr lang="pt-BR" altLang="zh-CN" sz="2000" dirty="0">
                <a:latin typeface="Consolas" panose="020B0609020204030204" pitchFamily="49" charset="0"/>
              </a:rPr>
              <a:t>    printf("float length=%d\n",sizeof(float));</a:t>
            </a:r>
          </a:p>
          <a:p>
            <a:pPr marL="0" indent="0">
              <a:buNone/>
            </a:pPr>
            <a:r>
              <a:rPr lang="pt-BR" altLang="zh-CN" sz="2000" dirty="0">
                <a:latin typeface="Consolas" panose="020B0609020204030204" pitchFamily="49" charset="0"/>
              </a:rPr>
              <a:t>    printf("double length=%d\n",sizeof(double));</a:t>
            </a:r>
          </a:p>
          <a:p>
            <a:pPr marL="0" indent="0">
              <a:buNone/>
            </a:pPr>
            <a:r>
              <a:rPr lang="pt-BR" altLang="zh-CN" sz="2000" dirty="0">
                <a:latin typeface="Consolas" panose="020B0609020204030204" pitchFamily="49" charset="0"/>
              </a:rPr>
              <a:t>}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178724543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34DD1E-13AE-75FA-B679-DF043DABF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整数溢出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3B6F921-6D52-3EFE-E302-4B6A411FB4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/* </a:t>
            </a:r>
            <a:r>
              <a:rPr lang="en-US" altLang="zh-CN" sz="2000" dirty="0" err="1">
                <a:latin typeface="Consolas" panose="020B0609020204030204" pitchFamily="49" charset="0"/>
              </a:rPr>
              <a:t>toobig</a:t>
            </a:r>
            <a:r>
              <a:rPr lang="en-US" altLang="zh-CN" sz="2000" dirty="0">
                <a:latin typeface="Consolas" panose="020B0609020204030204" pitchFamily="49" charset="0"/>
              </a:rPr>
              <a:t>. c--</a:t>
            </a:r>
            <a:r>
              <a:rPr lang="zh-CN" altLang="en-US" sz="2000" dirty="0">
                <a:latin typeface="Consolas" panose="020B0609020204030204" pitchFamily="49" charset="0"/>
              </a:rPr>
              <a:t>超出系统允许的最大</a:t>
            </a:r>
            <a:r>
              <a:rPr lang="en-US" altLang="zh-CN" sz="2000" dirty="0">
                <a:latin typeface="Consolas" panose="020B0609020204030204" pitchFamily="49" charset="0"/>
              </a:rPr>
              <a:t>int</a:t>
            </a:r>
            <a:r>
              <a:rPr lang="zh-CN" altLang="en-US" sz="2000" dirty="0">
                <a:latin typeface="Consolas" panose="020B0609020204030204" pitchFamily="49" charset="0"/>
              </a:rPr>
              <a:t>值*</a:t>
            </a:r>
            <a:r>
              <a:rPr lang="en-US" altLang="zh-CN" sz="2000" dirty="0">
                <a:latin typeface="Consolas" panose="020B0609020204030204" pitchFamily="49" charset="0"/>
              </a:rPr>
              <a:t>/</a:t>
            </a:r>
          </a:p>
          <a:p>
            <a:pPr marL="0" indent="0"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#include &lt;</a:t>
            </a:r>
            <a:r>
              <a:rPr lang="en-US" altLang="zh-CN" sz="2000" dirty="0" err="1">
                <a:latin typeface="Consolas" panose="020B0609020204030204" pitchFamily="49" charset="0"/>
              </a:rPr>
              <a:t>stdio.h</a:t>
            </a:r>
            <a:r>
              <a:rPr lang="en-US" altLang="zh-CN" sz="2000" dirty="0"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int main(void)</a:t>
            </a:r>
          </a:p>
          <a:p>
            <a:pPr marL="0" indent="0"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int </a:t>
            </a:r>
            <a:r>
              <a:rPr lang="en-US" altLang="zh-CN" sz="2000" dirty="0" err="1">
                <a:latin typeface="Consolas" panose="020B0609020204030204" pitchFamily="49" charset="0"/>
              </a:rPr>
              <a:t>i</a:t>
            </a:r>
            <a:r>
              <a:rPr lang="en-US" altLang="zh-CN" sz="2000" dirty="0">
                <a:latin typeface="Consolas" panose="020B0609020204030204" pitchFamily="49" charset="0"/>
              </a:rPr>
              <a:t> = 2147483647;</a:t>
            </a:r>
          </a:p>
          <a:p>
            <a:pPr marL="0" indent="0"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unsigned int j = 4294967295;</a:t>
            </a:r>
          </a:p>
          <a:p>
            <a:pPr marL="0" indent="0"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</a:t>
            </a:r>
            <a:r>
              <a:rPr lang="en-US" altLang="zh-CN" sz="2000" dirty="0" err="1">
                <a:latin typeface="Consolas" panose="020B0609020204030204" pitchFamily="49" charset="0"/>
              </a:rPr>
              <a:t>printf</a:t>
            </a:r>
            <a:r>
              <a:rPr lang="en-US" altLang="zh-CN" sz="2000" dirty="0">
                <a:latin typeface="Consolas" panose="020B0609020204030204" pitchFamily="49" charset="0"/>
              </a:rPr>
              <a:t>("%d %d %d\n", </a:t>
            </a:r>
            <a:r>
              <a:rPr lang="en-US" altLang="zh-CN" sz="2000" dirty="0" err="1">
                <a:latin typeface="Consolas" panose="020B0609020204030204" pitchFamily="49" charset="0"/>
              </a:rPr>
              <a:t>i</a:t>
            </a:r>
            <a:r>
              <a:rPr lang="en-US" altLang="zh-CN" sz="2000" dirty="0">
                <a:latin typeface="Consolas" panose="020B0609020204030204" pitchFamily="49" charset="0"/>
              </a:rPr>
              <a:t>, </a:t>
            </a:r>
            <a:r>
              <a:rPr lang="en-US" altLang="zh-CN" sz="2000" dirty="0" err="1">
                <a:latin typeface="Consolas" panose="020B0609020204030204" pitchFamily="49" charset="0"/>
              </a:rPr>
              <a:t>i+1</a:t>
            </a:r>
            <a:r>
              <a:rPr lang="en-US" altLang="zh-CN" sz="2000" dirty="0">
                <a:latin typeface="Consolas" panose="020B0609020204030204" pitchFamily="49" charset="0"/>
              </a:rPr>
              <a:t>, </a:t>
            </a:r>
            <a:r>
              <a:rPr lang="en-US" altLang="zh-CN" sz="2000" dirty="0" err="1">
                <a:latin typeface="Consolas" panose="020B0609020204030204" pitchFamily="49" charset="0"/>
              </a:rPr>
              <a:t>i+2</a:t>
            </a:r>
            <a:r>
              <a:rPr lang="en-US" altLang="zh-CN" sz="200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</a:t>
            </a:r>
            <a:r>
              <a:rPr lang="en-US" altLang="zh-CN" sz="2000" dirty="0" err="1">
                <a:latin typeface="Consolas" panose="020B0609020204030204" pitchFamily="49" charset="0"/>
              </a:rPr>
              <a:t>printf</a:t>
            </a:r>
            <a:r>
              <a:rPr lang="en-US" altLang="zh-CN" sz="2000" dirty="0">
                <a:latin typeface="Consolas" panose="020B0609020204030204" pitchFamily="49" charset="0"/>
              </a:rPr>
              <a:t>("%u %u %u\n", j, </a:t>
            </a:r>
            <a:r>
              <a:rPr lang="en-US" altLang="zh-CN" sz="2000" dirty="0" err="1">
                <a:latin typeface="Consolas" panose="020B0609020204030204" pitchFamily="49" charset="0"/>
              </a:rPr>
              <a:t>j+1</a:t>
            </a:r>
            <a:r>
              <a:rPr lang="en-US" altLang="zh-CN" sz="2000" dirty="0">
                <a:latin typeface="Consolas" panose="020B0609020204030204" pitchFamily="49" charset="0"/>
              </a:rPr>
              <a:t>, </a:t>
            </a:r>
            <a:r>
              <a:rPr lang="en-US" altLang="zh-CN" sz="2000" dirty="0" err="1">
                <a:latin typeface="Consolas" panose="020B0609020204030204" pitchFamily="49" charset="0"/>
              </a:rPr>
              <a:t>j+2</a:t>
            </a:r>
            <a:r>
              <a:rPr lang="en-US" altLang="zh-CN" sz="200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return 0;</a:t>
            </a:r>
          </a:p>
          <a:p>
            <a:pPr marL="0" indent="0"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zh-CN" altLang="en-US" sz="20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0674626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32CB77-2B83-1C8D-47F9-C077925FE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printf</a:t>
            </a:r>
            <a:r>
              <a:rPr lang="en-US" altLang="zh-CN" dirty="0"/>
              <a:t>()</a:t>
            </a:r>
            <a:r>
              <a:rPr lang="zh-CN" altLang="en-US" dirty="0"/>
              <a:t>数据类型不匹配的测试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04A65AD-1B48-3030-B334-F2E67CBF9C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151856"/>
            <a:ext cx="8352928" cy="5445496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/>
              <a:t>/* </a:t>
            </a:r>
            <a:r>
              <a:rPr lang="en-US" altLang="zh-CN" sz="2000" dirty="0" err="1"/>
              <a:t>print2.c</a:t>
            </a:r>
            <a:r>
              <a:rPr lang="en-US" altLang="zh-CN" sz="2000" dirty="0"/>
              <a:t>--</a:t>
            </a:r>
            <a:r>
              <a:rPr lang="zh-CN" altLang="en-US" sz="2000" dirty="0"/>
              <a:t>更多</a:t>
            </a:r>
            <a:r>
              <a:rPr lang="en-US" altLang="zh-CN" sz="2000" dirty="0" err="1"/>
              <a:t>printf</a:t>
            </a:r>
            <a:r>
              <a:rPr lang="en-US" altLang="zh-CN" sz="2000" dirty="0"/>
              <a:t>()</a:t>
            </a:r>
            <a:r>
              <a:rPr lang="zh-CN" altLang="en-US" sz="2000" dirty="0"/>
              <a:t>的特性*</a:t>
            </a:r>
            <a:r>
              <a:rPr lang="en-US" altLang="zh-CN" sz="2000" dirty="0"/>
              <a:t>/</a:t>
            </a:r>
          </a:p>
          <a:p>
            <a:pPr marL="0" indent="0">
              <a:buNone/>
            </a:pPr>
            <a:r>
              <a:rPr lang="en-US" altLang="zh-CN" sz="2000" dirty="0"/>
              <a:t>#include &lt;</a:t>
            </a:r>
            <a:r>
              <a:rPr lang="en-US" altLang="zh-CN" sz="2000" dirty="0" err="1"/>
              <a:t>stdio.h</a:t>
            </a:r>
            <a:r>
              <a:rPr lang="en-US" altLang="zh-CN" sz="2000" dirty="0"/>
              <a:t>&gt;</a:t>
            </a:r>
          </a:p>
          <a:p>
            <a:pPr marL="0" indent="0">
              <a:buNone/>
            </a:pPr>
            <a:r>
              <a:rPr lang="en-US" altLang="zh-CN" sz="2000" dirty="0"/>
              <a:t>int main(void)</a:t>
            </a:r>
          </a:p>
          <a:p>
            <a:pPr marL="0" indent="0">
              <a:buNone/>
            </a:pPr>
            <a:r>
              <a:rPr lang="en-US" altLang="zh-CN" sz="2000" dirty="0"/>
              <a:t>{</a:t>
            </a:r>
          </a:p>
          <a:p>
            <a:pPr marL="0" indent="0">
              <a:buNone/>
            </a:pPr>
            <a:r>
              <a:rPr lang="en-US" altLang="zh-CN" sz="2000" dirty="0"/>
              <a:t> unsigned int un = 3000000000; /*int</a:t>
            </a:r>
            <a:r>
              <a:rPr lang="zh-CN" altLang="en-US" sz="2000" dirty="0"/>
              <a:t>为</a:t>
            </a:r>
            <a:r>
              <a:rPr lang="en-US" altLang="zh-CN" sz="2000" dirty="0"/>
              <a:t>32</a:t>
            </a:r>
            <a:r>
              <a:rPr lang="zh-CN" altLang="en-US" sz="2000" dirty="0"/>
              <a:t>位和</a:t>
            </a:r>
            <a:r>
              <a:rPr lang="en-US" altLang="zh-CN" sz="2000" dirty="0"/>
              <a:t>short</a:t>
            </a:r>
            <a:r>
              <a:rPr lang="zh-CN" altLang="en-US" sz="2000" dirty="0"/>
              <a:t>为</a:t>
            </a:r>
            <a:r>
              <a:rPr lang="en-US" altLang="zh-CN" sz="2000" dirty="0"/>
              <a:t>16</a:t>
            </a:r>
            <a:r>
              <a:rPr lang="zh-CN" altLang="en-US" sz="2000" dirty="0"/>
              <a:t>位的系统*</a:t>
            </a:r>
            <a:r>
              <a:rPr lang="en-US" altLang="zh-CN" sz="2000" dirty="0"/>
              <a:t>/</a:t>
            </a:r>
          </a:p>
          <a:p>
            <a:pPr marL="0" indent="0">
              <a:buNone/>
            </a:pPr>
            <a:r>
              <a:rPr lang="en-US" altLang="zh-CN" sz="2000" dirty="0"/>
              <a:t> short end = 200;</a:t>
            </a:r>
          </a:p>
          <a:p>
            <a:pPr marL="0" indent="0">
              <a:buNone/>
            </a:pPr>
            <a:r>
              <a:rPr lang="en-US" altLang="zh-CN" sz="2000" dirty="0"/>
              <a:t> long big = 65537;</a:t>
            </a:r>
          </a:p>
          <a:p>
            <a:pPr marL="0" indent="0">
              <a:buNone/>
            </a:pPr>
            <a:r>
              <a:rPr lang="en-US" altLang="zh-CN" sz="2000" dirty="0"/>
              <a:t> long long </a:t>
            </a:r>
            <a:r>
              <a:rPr lang="en-US" altLang="zh-CN" sz="2000" dirty="0" err="1"/>
              <a:t>verybig</a:t>
            </a:r>
            <a:r>
              <a:rPr lang="en-US" altLang="zh-CN" sz="2000" dirty="0"/>
              <a:t> = 12345678908642;</a:t>
            </a:r>
          </a:p>
          <a:p>
            <a:pPr marL="0" indent="0">
              <a:buNone/>
            </a:pPr>
            <a:r>
              <a:rPr lang="en-US" altLang="zh-CN" sz="2000" dirty="0"/>
              <a:t> </a:t>
            </a:r>
            <a:r>
              <a:rPr lang="en-US" altLang="zh-CN" sz="2000" dirty="0" err="1"/>
              <a:t>printf</a:t>
            </a:r>
            <a:r>
              <a:rPr lang="en-US" altLang="zh-CN" sz="2000" dirty="0"/>
              <a:t>("un = %u and not %d\n", un, un);</a:t>
            </a:r>
          </a:p>
          <a:p>
            <a:pPr marL="0" indent="0">
              <a:buNone/>
            </a:pPr>
            <a:r>
              <a:rPr lang="en-US" altLang="zh-CN" sz="2000" dirty="0"/>
              <a:t> </a:t>
            </a:r>
            <a:r>
              <a:rPr lang="en-US" altLang="zh-CN" sz="2000" dirty="0" err="1"/>
              <a:t>printf</a:t>
            </a:r>
            <a:r>
              <a:rPr lang="en-US" altLang="zh-CN" sz="2000" dirty="0"/>
              <a:t>("end = %</a:t>
            </a:r>
            <a:r>
              <a:rPr lang="en-US" altLang="zh-CN" sz="2000" dirty="0" err="1"/>
              <a:t>hd</a:t>
            </a:r>
            <a:r>
              <a:rPr lang="en-US" altLang="zh-CN" sz="2000" dirty="0"/>
              <a:t> and %d\n", end, end);</a:t>
            </a:r>
          </a:p>
          <a:p>
            <a:pPr marL="0" indent="0">
              <a:buNone/>
            </a:pPr>
            <a:r>
              <a:rPr lang="en-US" altLang="zh-CN" sz="2000" dirty="0"/>
              <a:t> </a:t>
            </a:r>
            <a:r>
              <a:rPr lang="en-US" altLang="zh-CN" sz="2000" dirty="0" err="1"/>
              <a:t>printf</a:t>
            </a:r>
            <a:r>
              <a:rPr lang="en-US" altLang="zh-CN" sz="2000" dirty="0"/>
              <a:t>("big = %</a:t>
            </a:r>
            <a:r>
              <a:rPr lang="en-US" altLang="zh-CN" sz="2000" dirty="0" err="1"/>
              <a:t>ld</a:t>
            </a:r>
            <a:r>
              <a:rPr lang="en-US" altLang="zh-CN" sz="2000" dirty="0"/>
              <a:t> and not %</a:t>
            </a:r>
            <a:r>
              <a:rPr lang="en-US" altLang="zh-CN" sz="2000" dirty="0" err="1"/>
              <a:t>hd</a:t>
            </a:r>
            <a:r>
              <a:rPr lang="en-US" altLang="zh-CN" sz="2000" dirty="0"/>
              <a:t>\n", big, big);</a:t>
            </a:r>
          </a:p>
          <a:p>
            <a:pPr marL="0" indent="0">
              <a:buNone/>
            </a:pPr>
            <a:r>
              <a:rPr lang="en-US" altLang="zh-CN" sz="2000" dirty="0"/>
              <a:t> </a:t>
            </a:r>
            <a:r>
              <a:rPr lang="en-US" altLang="zh-CN" sz="2000" dirty="0" err="1"/>
              <a:t>printf</a:t>
            </a:r>
            <a:r>
              <a:rPr lang="en-US" altLang="zh-CN" sz="2000" dirty="0"/>
              <a:t>("</a:t>
            </a:r>
            <a:r>
              <a:rPr lang="en-US" altLang="zh-CN" sz="2000" dirty="0" err="1"/>
              <a:t>verybig</a:t>
            </a:r>
            <a:r>
              <a:rPr lang="en-US" altLang="zh-CN" sz="2000" dirty="0"/>
              <a:t>= %</a:t>
            </a:r>
            <a:r>
              <a:rPr lang="en-US" altLang="zh-CN" sz="2000" dirty="0" err="1"/>
              <a:t>lld</a:t>
            </a:r>
            <a:r>
              <a:rPr lang="en-US" altLang="zh-CN" sz="2000" dirty="0"/>
              <a:t> and not %</a:t>
            </a:r>
            <a:r>
              <a:rPr lang="en-US" altLang="zh-CN" sz="2000" dirty="0" err="1"/>
              <a:t>ld</a:t>
            </a:r>
            <a:r>
              <a:rPr lang="en-US" altLang="zh-CN" sz="2000" dirty="0"/>
              <a:t>\n", </a:t>
            </a:r>
            <a:r>
              <a:rPr lang="en-US" altLang="zh-CN" sz="2000" dirty="0" err="1"/>
              <a:t>verybig</a:t>
            </a:r>
            <a:r>
              <a:rPr lang="en-US" altLang="zh-CN" sz="2000" dirty="0"/>
              <a:t>, </a:t>
            </a:r>
            <a:r>
              <a:rPr lang="en-US" altLang="zh-CN" sz="2000" dirty="0" err="1"/>
              <a:t>verybig</a:t>
            </a:r>
            <a:r>
              <a:rPr lang="en-US" altLang="zh-CN" sz="2000" dirty="0"/>
              <a:t>);</a:t>
            </a:r>
          </a:p>
          <a:p>
            <a:pPr marL="0" indent="0">
              <a:buNone/>
            </a:pPr>
            <a:r>
              <a:rPr lang="en-US" altLang="zh-CN" sz="2000" dirty="0"/>
              <a:t> return 0;</a:t>
            </a:r>
          </a:p>
          <a:p>
            <a:pPr marL="0" indent="0">
              <a:buNone/>
            </a:pPr>
            <a:r>
              <a:rPr lang="en-US" altLang="zh-CN" sz="2000" dirty="0"/>
              <a:t>}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751669043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5B9825-3539-B32F-6C94-9532811C5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scanf</a:t>
            </a:r>
            <a:r>
              <a:rPr lang="zh-CN" altLang="en-US" dirty="0"/>
              <a:t>输入函数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D55C24-6DD6-6A87-F8DA-85C4849D1C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660" y="1268760"/>
            <a:ext cx="8495828" cy="4611687"/>
          </a:xfrm>
        </p:spPr>
        <p:txBody>
          <a:bodyPr/>
          <a:lstStyle/>
          <a:p>
            <a:r>
              <a:rPr lang="en-US" altLang="zh-CN" sz="2800" dirty="0" err="1"/>
              <a:t>scanf</a:t>
            </a:r>
            <a:r>
              <a:rPr lang="en-US" altLang="zh-CN" sz="2800" dirty="0"/>
              <a:t>()</a:t>
            </a:r>
            <a:r>
              <a:rPr lang="zh-CN" altLang="en-US" sz="2800" dirty="0"/>
              <a:t>函数根据转换说明接受键盘输入的各种类型的值。转换说明最重要的是指定数据类型，由一个百分号（</a:t>
            </a:r>
            <a:r>
              <a:rPr lang="en-US" altLang="zh-CN" sz="2800" dirty="0"/>
              <a:t>%</a:t>
            </a:r>
            <a:r>
              <a:rPr lang="zh-CN" altLang="en-US" sz="2800" dirty="0"/>
              <a:t>）和一个类型转换字符组成，可选类型前缀</a:t>
            </a:r>
            <a:r>
              <a:rPr lang="en-US" altLang="zh-CN" sz="2800" dirty="0"/>
              <a:t>h(</a:t>
            </a:r>
            <a:r>
              <a:rPr lang="zh-CN" altLang="en-US" sz="2800" dirty="0"/>
              <a:t>短</a:t>
            </a:r>
            <a:r>
              <a:rPr lang="en-US" altLang="zh-CN" sz="2800" dirty="0"/>
              <a:t>)</a:t>
            </a:r>
            <a:r>
              <a:rPr lang="zh-CN" altLang="en-US" sz="2800" dirty="0"/>
              <a:t>或</a:t>
            </a:r>
            <a:r>
              <a:rPr lang="en-US" altLang="zh-CN" sz="2800" dirty="0"/>
              <a:t>l</a:t>
            </a:r>
            <a:r>
              <a:rPr lang="en-US" altLang="zh-CN" dirty="0"/>
              <a:t>(</a:t>
            </a:r>
            <a:r>
              <a:rPr lang="zh-CN" altLang="en-US" dirty="0"/>
              <a:t>长</a:t>
            </a:r>
            <a:r>
              <a:rPr lang="en-US" altLang="zh-CN" dirty="0"/>
              <a:t>)</a:t>
            </a:r>
            <a:r>
              <a:rPr lang="zh-CN" altLang="en-US" sz="2800" dirty="0"/>
              <a:t>。</a:t>
            </a:r>
            <a:endParaRPr lang="en-US" altLang="zh-CN" sz="2800" dirty="0"/>
          </a:p>
          <a:p>
            <a:r>
              <a:rPr lang="en-US" altLang="zh-CN" sz="2800" dirty="0"/>
              <a:t>%d</a:t>
            </a:r>
            <a:r>
              <a:rPr lang="zh-CN" altLang="en-US" sz="2800" dirty="0"/>
              <a:t>表示</a:t>
            </a:r>
            <a:r>
              <a:rPr lang="en-US" altLang="zh-CN" sz="2800" dirty="0"/>
              <a:t>10</a:t>
            </a:r>
            <a:r>
              <a:rPr lang="zh-CN" altLang="en-US" sz="2800" dirty="0"/>
              <a:t>进制整数，</a:t>
            </a:r>
            <a:r>
              <a:rPr lang="en-US" altLang="zh-CN" sz="2800" dirty="0"/>
              <a:t>%u</a:t>
            </a:r>
            <a:r>
              <a:rPr lang="zh-CN" altLang="en-US" sz="2800" dirty="0"/>
              <a:t>表示无符号整数，</a:t>
            </a:r>
            <a:r>
              <a:rPr lang="en-US" altLang="zh-CN" sz="2800" dirty="0"/>
              <a:t>%</a:t>
            </a:r>
            <a:r>
              <a:rPr lang="en-US" altLang="zh-CN" sz="2800" dirty="0" err="1"/>
              <a:t>lld</a:t>
            </a:r>
            <a:r>
              <a:rPr lang="zh-CN" altLang="en-US" sz="2800" dirty="0"/>
              <a:t>表示</a:t>
            </a:r>
            <a:r>
              <a:rPr lang="en-US" altLang="zh-CN" sz="2800" dirty="0"/>
              <a:t>long long int</a:t>
            </a:r>
            <a:r>
              <a:rPr lang="zh-CN" altLang="en-US" sz="2800" dirty="0"/>
              <a:t>类型。</a:t>
            </a:r>
            <a:endParaRPr lang="en-US" altLang="zh-CN" sz="2800" dirty="0"/>
          </a:p>
          <a:p>
            <a:r>
              <a:rPr lang="en-US" altLang="zh-CN" sz="2800" dirty="0"/>
              <a:t>%f</a:t>
            </a:r>
            <a:r>
              <a:rPr lang="zh-CN" altLang="en-US" sz="2800" dirty="0"/>
              <a:t>表示单精度浮点数，</a:t>
            </a:r>
            <a:r>
              <a:rPr lang="en-US" altLang="zh-CN" sz="2800" dirty="0"/>
              <a:t>%</a:t>
            </a:r>
            <a:r>
              <a:rPr lang="en-US" altLang="zh-CN" sz="2800" dirty="0" err="1"/>
              <a:t>lf</a:t>
            </a:r>
            <a:r>
              <a:rPr lang="zh-CN" altLang="en-US" sz="2800" dirty="0"/>
              <a:t>表示双精度浮点数，</a:t>
            </a:r>
            <a:endParaRPr lang="en-US" altLang="zh-CN" sz="2800" dirty="0"/>
          </a:p>
          <a:p>
            <a:r>
              <a:rPr lang="en-US" altLang="zh-CN" sz="2800" dirty="0"/>
              <a:t>%e</a:t>
            </a:r>
            <a:r>
              <a:rPr lang="zh-CN" altLang="en-US" sz="2800" dirty="0"/>
              <a:t>表示接受一个</a:t>
            </a:r>
            <a:r>
              <a:rPr lang="en-US" altLang="zh-CN" sz="2800" dirty="0"/>
              <a:t>e</a:t>
            </a:r>
            <a:r>
              <a:rPr lang="zh-CN" altLang="en-US" sz="2800" dirty="0"/>
              <a:t>计数格式的小数，</a:t>
            </a:r>
            <a:endParaRPr lang="en-US" altLang="zh-CN" sz="2800" dirty="0"/>
          </a:p>
          <a:p>
            <a:r>
              <a:rPr lang="en-US" altLang="zh-CN" sz="2800" dirty="0"/>
              <a:t>%</a:t>
            </a:r>
            <a:r>
              <a:rPr lang="en-US" altLang="zh-CN" dirty="0"/>
              <a:t>c</a:t>
            </a:r>
            <a:r>
              <a:rPr lang="zh-CN" altLang="en-US" dirty="0"/>
              <a:t>表示接受一个字符。</a:t>
            </a:r>
            <a:endParaRPr lang="en-US" altLang="zh-CN" dirty="0"/>
          </a:p>
          <a:p>
            <a:r>
              <a:rPr lang="en-US" altLang="zh-CN" sz="2800" dirty="0"/>
              <a:t>%</a:t>
            </a:r>
            <a:r>
              <a:rPr lang="en-US" altLang="zh-CN" dirty="0"/>
              <a:t>o</a:t>
            </a:r>
            <a:r>
              <a:rPr lang="zh-CN" altLang="en-US" dirty="0"/>
              <a:t>表示</a:t>
            </a:r>
            <a:r>
              <a:rPr lang="en-US" altLang="zh-CN" dirty="0"/>
              <a:t>8</a:t>
            </a:r>
            <a:r>
              <a:rPr lang="zh-CN" altLang="en-US" dirty="0"/>
              <a:t>进制无符号整数，</a:t>
            </a:r>
            <a:r>
              <a:rPr lang="en-US" altLang="zh-CN" dirty="0"/>
              <a:t>%x</a:t>
            </a:r>
            <a:r>
              <a:rPr lang="zh-CN" altLang="en-US" dirty="0"/>
              <a:t>表示</a:t>
            </a:r>
            <a:r>
              <a:rPr lang="en-US" altLang="zh-CN" dirty="0"/>
              <a:t>16</a:t>
            </a:r>
            <a:r>
              <a:rPr lang="zh-CN" altLang="en-US" dirty="0"/>
              <a:t>进制无符号整数。</a:t>
            </a:r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2551606184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</a:t>
            </a:r>
            <a:r>
              <a:rPr lang="zh-CN" altLang="en-US" dirty="0"/>
              <a:t>程序示例：字符的存储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sz="2400" dirty="0"/>
              <a:t>/*认识字符在计算机中的存储和显示*/</a:t>
            </a:r>
          </a:p>
          <a:p>
            <a:pPr marL="0" indent="0">
              <a:buNone/>
            </a:pPr>
            <a:r>
              <a:rPr lang="zh-CN" altLang="en-US" sz="2400" dirty="0"/>
              <a:t>#include&lt;stdio.h&gt;</a:t>
            </a:r>
          </a:p>
          <a:p>
            <a:pPr marL="0" indent="0">
              <a:buNone/>
            </a:pPr>
            <a:r>
              <a:rPr lang="en-US" altLang="zh-CN" sz="2400" dirty="0"/>
              <a:t>int main(void)</a:t>
            </a:r>
          </a:p>
          <a:p>
            <a:pPr marL="0" indent="0">
              <a:buNone/>
            </a:pPr>
            <a:r>
              <a:rPr lang="zh-CN" altLang="en-US" sz="2400" dirty="0"/>
              <a:t>{</a:t>
            </a:r>
          </a:p>
          <a:p>
            <a:pPr marL="0" indent="0">
              <a:buNone/>
            </a:pPr>
            <a:r>
              <a:rPr lang="zh-CN" altLang="en-US" sz="2400" dirty="0"/>
              <a:t>	char </a:t>
            </a:r>
            <a:r>
              <a:rPr lang="en-US" altLang="zh-CN" sz="2400" dirty="0" err="1"/>
              <a:t>ch</a:t>
            </a:r>
            <a:r>
              <a:rPr lang="zh-CN" altLang="en-US" sz="2400" dirty="0"/>
              <a:t>;</a:t>
            </a:r>
          </a:p>
          <a:p>
            <a:pPr marL="0" indent="0">
              <a:buNone/>
            </a:pPr>
            <a:r>
              <a:rPr lang="zh-CN" altLang="en-US" sz="2400" dirty="0"/>
              <a:t>	</a:t>
            </a:r>
            <a:r>
              <a:rPr lang="en-US" altLang="zh-CN" sz="2400" dirty="0" err="1"/>
              <a:t>scanf</a:t>
            </a:r>
            <a:r>
              <a:rPr lang="en-US" altLang="zh-CN" sz="2400" dirty="0"/>
              <a:t>("</a:t>
            </a:r>
            <a:r>
              <a:rPr lang="zh-CN" altLang="en-US" sz="2400" dirty="0"/>
              <a:t>%c</a:t>
            </a:r>
            <a:r>
              <a:rPr lang="en-US" altLang="zh-CN" sz="2400" dirty="0"/>
              <a:t>"</a:t>
            </a:r>
            <a:r>
              <a:rPr lang="zh-CN" altLang="en-US" sz="2400" dirty="0"/>
              <a:t>,&amp;</a:t>
            </a:r>
            <a:r>
              <a:rPr lang="en-US" altLang="zh-CN" sz="2400" dirty="0" err="1"/>
              <a:t>ch</a:t>
            </a:r>
            <a:r>
              <a:rPr lang="zh-CN" altLang="en-US" sz="2400" dirty="0"/>
              <a:t>);</a:t>
            </a:r>
          </a:p>
          <a:p>
            <a:pPr marL="0" indent="0">
              <a:buNone/>
            </a:pPr>
            <a:r>
              <a:rPr lang="zh-CN" altLang="en-US" sz="2400" dirty="0"/>
              <a:t>	</a:t>
            </a:r>
            <a:r>
              <a:rPr lang="en-US" altLang="zh-CN" sz="2400" dirty="0" err="1"/>
              <a:t>printf</a:t>
            </a:r>
            <a:r>
              <a:rPr lang="en-US" altLang="zh-CN" sz="2400" dirty="0"/>
              <a:t>("</a:t>
            </a:r>
            <a:r>
              <a:rPr lang="zh-CN" altLang="en-US" sz="2400" dirty="0"/>
              <a:t>char:%c,int:%d</a:t>
            </a:r>
            <a:r>
              <a:rPr lang="en-US" altLang="zh-CN" sz="2400" dirty="0"/>
              <a:t> </a:t>
            </a:r>
            <a:r>
              <a:rPr lang="zh-CN" altLang="en-US" sz="2400" dirty="0"/>
              <a:t>\n</a:t>
            </a:r>
            <a:r>
              <a:rPr lang="en-US" altLang="zh-CN" sz="2400" dirty="0"/>
              <a:t>"</a:t>
            </a:r>
            <a:r>
              <a:rPr lang="zh-CN" altLang="en-US" sz="2400" dirty="0"/>
              <a:t>,</a:t>
            </a:r>
            <a:r>
              <a:rPr lang="en-US" altLang="zh-CN" sz="2400" dirty="0" err="1"/>
              <a:t>ch</a:t>
            </a:r>
            <a:r>
              <a:rPr lang="zh-CN" altLang="en-US" sz="2400" dirty="0"/>
              <a:t>,</a:t>
            </a:r>
            <a:r>
              <a:rPr lang="en-US" altLang="zh-CN" sz="2400" dirty="0" err="1"/>
              <a:t>ch</a:t>
            </a:r>
            <a:r>
              <a:rPr lang="zh-CN" altLang="en-US" sz="2400" dirty="0"/>
              <a:t>);</a:t>
            </a:r>
          </a:p>
          <a:p>
            <a:pPr marL="0" indent="0">
              <a:buNone/>
            </a:pPr>
            <a:r>
              <a:rPr lang="zh-CN" altLang="en-US" sz="2400" dirty="0"/>
              <a:t>	return 0;</a:t>
            </a:r>
          </a:p>
          <a:p>
            <a:pPr marL="0" indent="0">
              <a:buNone/>
            </a:pPr>
            <a:r>
              <a:rPr lang="zh-CN" altLang="en-US" sz="2400" dirty="0"/>
              <a:t>}</a:t>
            </a:r>
          </a:p>
          <a:p>
            <a:pPr marL="0" indent="0">
              <a:buNone/>
            </a:pPr>
            <a:r>
              <a:rPr lang="zh-CN" altLang="en-US" sz="2400" b="1" dirty="0"/>
              <a:t>输入</a:t>
            </a:r>
            <a:r>
              <a:rPr lang="en-US" altLang="zh-CN" sz="2400" b="1" dirty="0"/>
              <a:t>'A',</a:t>
            </a:r>
            <a:r>
              <a:rPr lang="zh-CN" altLang="en-US" sz="2400" b="1" dirty="0"/>
              <a:t>结果</a:t>
            </a:r>
            <a:r>
              <a:rPr lang="en-US" altLang="zh-CN" sz="2400" b="1" dirty="0" err="1"/>
              <a:t>char:A,int:65</a:t>
            </a:r>
            <a:endParaRPr lang="en-US" altLang="zh-CN" sz="2400" b="1" dirty="0"/>
          </a:p>
        </p:txBody>
      </p:sp>
    </p:spTree>
    <p:extLst>
      <p:ext uri="{BB962C8B-B14F-4D97-AF65-F5344CB8AC3E}">
        <p14:creationId xmlns:p14="http://schemas.microsoft.com/office/powerpoint/2010/main" val="12132970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indent="0" algn="r" eaLnBrk="1" hangingPunct="1">
              <a:spcBef>
                <a:spcPct val="50000"/>
              </a:spcBef>
              <a:buNone/>
            </a:pPr>
            <a:fld id="{9A0DB2DC-4C9A-4742-B13C-FB6460FD3503}" type="slidenum">
              <a:rPr lang="zh-CN" altLang="en-US" sz="1400" b="1" dirty="0"/>
              <a:t>33</a:t>
            </a:fld>
            <a:endParaRPr lang="zh-CN" altLang="en-US" sz="1400" b="1" dirty="0"/>
          </a:p>
        </p:txBody>
      </p:sp>
      <p:sp>
        <p:nvSpPr>
          <p:cNvPr id="3891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lstStyle/>
          <a:p>
            <a:pPr eaLnBrk="1" hangingPunct="1"/>
            <a:r>
              <a:rPr lang="zh-CN" altLang="en-US" b="1" dirty="0"/>
              <a:t>字符输入函数</a:t>
            </a:r>
            <a:r>
              <a:rPr lang="en-US" altLang="zh-CN" b="1" dirty="0" err="1"/>
              <a:t>getchar</a:t>
            </a:r>
            <a:r>
              <a:rPr lang="en-US" altLang="zh-CN" b="1" dirty="0"/>
              <a:t>()</a:t>
            </a:r>
            <a:endParaRPr lang="zh-CN" altLang="en-US" b="1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F889BD-1B30-4D54-AF7C-561100F4E1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lnSpc>
                <a:spcPct val="150000"/>
              </a:lnSpc>
              <a:buClr>
                <a:schemeClr val="accent2"/>
              </a:buClr>
              <a:buSzPct val="75000"/>
              <a:buNone/>
            </a:pP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scanf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函数可以接受字符输入，但不如专门的字符输入函数简单易用。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0" indent="0" eaLnBrk="1" hangingPunct="1">
              <a:lnSpc>
                <a:spcPct val="150000"/>
              </a:lnSpc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例：</a:t>
            </a:r>
            <a:r>
              <a:rPr lang="it-IT" altLang="zh-CN" sz="2400" dirty="0">
                <a:ea typeface="微软雅黑" panose="020B0503020204020204" pitchFamily="34" charset="-122"/>
              </a:rPr>
              <a:t>scanf("%c%c",&amp;chA,&amp;chB);</a:t>
            </a:r>
          </a:p>
          <a:p>
            <a:pPr lvl="0" eaLnBrk="1" hangingPunct="1">
              <a:lnSpc>
                <a:spcPct val="150000"/>
              </a:lnSpc>
              <a:buClr>
                <a:schemeClr val="accent2"/>
              </a:buClr>
              <a:buSzPct val="75000"/>
              <a:buFont typeface="Wingdings" panose="05000000000000000000" pitchFamily="2" charset="2"/>
              <a:buChar char="ü"/>
            </a:pPr>
            <a:r>
              <a:rPr lang="en-US" altLang="zh-CN" sz="2400" b="1" dirty="0" err="1">
                <a:latin typeface="宋体" panose="02010600030101010101" pitchFamily="2" charset="-122"/>
              </a:rPr>
              <a:t>getchar</a:t>
            </a:r>
            <a:r>
              <a:rPr lang="en-US" altLang="zh-CN" sz="2400" b="1" dirty="0">
                <a:latin typeface="宋体" panose="02010600030101010101" pitchFamily="2" charset="-122"/>
              </a:rPr>
              <a:t>()</a:t>
            </a:r>
            <a:r>
              <a:rPr lang="zh-CN" altLang="en-US" sz="2400" b="1" dirty="0">
                <a:latin typeface="宋体" panose="02010600030101010101" pitchFamily="2" charset="-122"/>
              </a:rPr>
              <a:t>函数从键盘</a:t>
            </a:r>
            <a:r>
              <a:rPr lang="en-US" altLang="zh-CN" sz="2400" b="1" dirty="0">
                <a:latin typeface="宋体" panose="02010600030101010101" pitchFamily="2" charset="-122"/>
              </a:rPr>
              <a:t>(STDIN</a:t>
            </a:r>
            <a:r>
              <a:rPr lang="zh-CN" altLang="en-US" sz="2400" b="1" dirty="0">
                <a:latin typeface="宋体" panose="02010600030101010101" pitchFamily="2" charset="-122"/>
              </a:rPr>
              <a:t>标准输入</a:t>
            </a:r>
            <a:r>
              <a:rPr lang="en-US" altLang="zh-CN" sz="2400" b="1" dirty="0">
                <a:latin typeface="宋体" panose="02010600030101010101" pitchFamily="2" charset="-122"/>
              </a:rPr>
              <a:t>)</a:t>
            </a:r>
            <a:r>
              <a:rPr lang="zh-CN" altLang="en-US" sz="2400" b="1" dirty="0">
                <a:latin typeface="宋体" panose="02010600030101010101" pitchFamily="2" charset="-122"/>
              </a:rPr>
              <a:t>获取并返回下一个字符</a:t>
            </a:r>
            <a:r>
              <a:rPr lang="en-US" altLang="zh-CN" sz="2400" b="1" dirty="0">
                <a:latin typeface="宋体" panose="02010600030101010101" pitchFamily="2" charset="-122"/>
              </a:rPr>
              <a:t>,</a:t>
            </a:r>
            <a:r>
              <a:rPr lang="zh-CN" altLang="en-US" sz="2400" b="1" dirty="0">
                <a:latin typeface="宋体" panose="02010600030101010101" pitchFamily="2" charset="-122"/>
              </a:rPr>
              <a:t>如果失败则返回</a:t>
            </a:r>
            <a:r>
              <a:rPr lang="en-US" altLang="zh-CN" sz="2400" b="1" dirty="0">
                <a:latin typeface="宋体" panose="02010600030101010101" pitchFamily="2" charset="-122"/>
              </a:rPr>
              <a:t>-1</a:t>
            </a:r>
            <a:r>
              <a:rPr lang="zh-CN" altLang="en-US" sz="2400" b="1" dirty="0">
                <a:latin typeface="宋体" panose="02010600030101010101" pitchFamily="2" charset="-122"/>
              </a:rPr>
              <a:t>。</a:t>
            </a:r>
            <a:endParaRPr lang="en-US" altLang="zh-CN" sz="2400" b="1" dirty="0">
              <a:latin typeface="宋体" panose="02010600030101010101" pitchFamily="2" charset="-122"/>
            </a:endParaRPr>
          </a:p>
          <a:p>
            <a:pPr marL="0" lvl="0" indent="0" eaLnBrk="1" hangingPunct="1">
              <a:lnSpc>
                <a:spcPct val="150000"/>
              </a:lnSpc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例：</a:t>
            </a:r>
            <a:r>
              <a:rPr lang="en-US" altLang="zh-CN" sz="2400" dirty="0" err="1"/>
              <a:t>ch</a:t>
            </a:r>
            <a:r>
              <a:rPr lang="en-US" altLang="zh-CN" sz="2400" dirty="0"/>
              <a:t> = </a:t>
            </a:r>
            <a:r>
              <a:rPr lang="en-US" altLang="zh-CN" sz="2400" dirty="0" err="1"/>
              <a:t>getchar</a:t>
            </a:r>
            <a:r>
              <a:rPr lang="en-US" altLang="zh-CN" sz="2400" dirty="0"/>
              <a:t>();</a:t>
            </a:r>
          </a:p>
          <a:p>
            <a:pPr eaLnBrk="1" hangingPunct="1">
              <a:lnSpc>
                <a:spcPct val="150000"/>
              </a:lnSpc>
              <a:buClr>
                <a:schemeClr val="accent2"/>
              </a:buClr>
              <a:buSzPct val="75000"/>
              <a:buFont typeface="Wingdings" panose="05000000000000000000" pitchFamily="2" charset="2"/>
              <a:buChar char="ü"/>
            </a:pPr>
            <a:r>
              <a:rPr lang="en-US" altLang="zh-CN" sz="2400" b="1" dirty="0" err="1">
                <a:latin typeface="宋体" panose="02010600030101010101" pitchFamily="2" charset="-122"/>
              </a:rPr>
              <a:t>putchar</a:t>
            </a:r>
            <a:r>
              <a:rPr lang="en-US" altLang="zh-CN" sz="2400" b="1" dirty="0">
                <a:latin typeface="宋体" panose="02010600030101010101" pitchFamily="2" charset="-122"/>
              </a:rPr>
              <a:t>()</a:t>
            </a:r>
            <a:r>
              <a:rPr lang="zh-CN" altLang="en-US" sz="2400" b="1" dirty="0">
                <a:latin typeface="宋体" panose="02010600030101010101" pitchFamily="2" charset="-122"/>
              </a:rPr>
              <a:t>函数是把一个字符输出到显示器</a:t>
            </a:r>
            <a:r>
              <a:rPr lang="en-US" altLang="zh-CN" sz="2400" b="1" dirty="0">
                <a:latin typeface="宋体" panose="02010600030101010101" pitchFamily="2" charset="-122"/>
              </a:rPr>
              <a:t>(</a:t>
            </a:r>
            <a:r>
              <a:rPr lang="en-US" altLang="zh-CN" sz="2400" b="1" dirty="0" err="1">
                <a:latin typeface="宋体" panose="02010600030101010101" pitchFamily="2" charset="-122"/>
              </a:rPr>
              <a:t>STDOUT</a:t>
            </a:r>
            <a:r>
              <a:rPr lang="zh-CN" altLang="en-US" sz="2400" b="1" dirty="0">
                <a:latin typeface="宋体" panose="02010600030101010101" pitchFamily="2" charset="-122"/>
              </a:rPr>
              <a:t>标准输出</a:t>
            </a:r>
            <a:r>
              <a:rPr lang="en-US" altLang="zh-CN" sz="2400" b="1" dirty="0">
                <a:latin typeface="宋体" panose="02010600030101010101" pitchFamily="2" charset="-122"/>
              </a:rPr>
              <a:t>).	</a:t>
            </a:r>
            <a:r>
              <a:rPr lang="zh-CN" altLang="en-US" sz="2400" b="1" dirty="0">
                <a:latin typeface="宋体" panose="02010600030101010101" pitchFamily="2" charset="-122"/>
              </a:rPr>
              <a:t>例：</a:t>
            </a:r>
            <a:r>
              <a:rPr lang="en-US" altLang="zh-CN" sz="2400" dirty="0" err="1"/>
              <a:t>putchar</a:t>
            </a:r>
            <a:r>
              <a:rPr lang="en-US" altLang="zh-CN" sz="2400" dirty="0"/>
              <a:t>(</a:t>
            </a:r>
            <a:r>
              <a:rPr lang="en-US" altLang="zh-CN" sz="2400" dirty="0" err="1"/>
              <a:t>ch</a:t>
            </a:r>
            <a:r>
              <a:rPr lang="en-US" altLang="zh-CN" sz="2400" dirty="0"/>
              <a:t>); </a:t>
            </a:r>
          </a:p>
        </p:txBody>
      </p:sp>
    </p:spTree>
    <p:extLst>
      <p:ext uri="{BB962C8B-B14F-4D97-AF65-F5344CB8AC3E}">
        <p14:creationId xmlns:p14="http://schemas.microsoft.com/office/powerpoint/2010/main" val="821572146"/>
      </p:ext>
    </p:ext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r>
              <a:rPr lang="en-US" altLang="zh-CN" dirty="0"/>
              <a:t>C</a:t>
            </a:r>
            <a:r>
              <a:rPr lang="zh-CN" altLang="en-US" dirty="0"/>
              <a:t>语言的浮点数类型关键字</a:t>
            </a:r>
          </a:p>
        </p:txBody>
      </p:sp>
      <p:graphicFrame>
        <p:nvGraphicFramePr>
          <p:cNvPr id="14339" name="内容占位符 1433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20138377"/>
              </p:ext>
            </p:extLst>
          </p:nvPr>
        </p:nvGraphicFramePr>
        <p:xfrm>
          <a:off x="611560" y="1628800"/>
          <a:ext cx="8136904" cy="1898651"/>
        </p:xfrm>
        <a:graphic>
          <a:graphicData uri="http://schemas.openxmlformats.org/drawingml/2006/table">
            <a:tbl>
              <a:tblPr/>
              <a:tblGrid>
                <a:gridCol w="29946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422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4663"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 b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342900" lvl="0" indent="-342900" algn="ctr" fontAlgn="ctr">
                        <a:spcBef>
                          <a:spcPct val="0"/>
                        </a:spcBef>
                        <a:buNone/>
                      </a:pP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数据类型关键字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 b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342900" lvl="0" indent="-342900" algn="ctr" fontAlgn="ctr">
                        <a:spcBef>
                          <a:spcPct val="0"/>
                        </a:spcBef>
                        <a:buNone/>
                      </a:pP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含义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662"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 b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342900" lvl="0" indent="-342900" font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0" dirty="0">
                          <a:latin typeface="Consolas" panose="020B0609020204030204" pitchFamily="49" charset="0"/>
                          <a:cs typeface="Times New Roman" panose="02020603050405020304" pitchFamily="2" charset="0"/>
                        </a:rPr>
                        <a:t>float</a:t>
                      </a:r>
                      <a:endParaRPr lang="en-US" altLang="x-none" sz="2400" b="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 b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342900" lvl="0" indent="-342900" fontAlgn="ctr">
                        <a:spcBef>
                          <a:spcPct val="0"/>
                        </a:spcBef>
                        <a:buNone/>
                      </a:pPr>
                      <a:r>
                        <a:rPr lang="zh-CN" altLang="en-US" sz="2400" dirty="0">
                          <a:latin typeface="宋体" panose="02010600030101010101" pitchFamily="2" charset="-122"/>
                        </a:rPr>
                        <a:t>浮点数，单精度小数</a:t>
                      </a:r>
                      <a:endParaRPr lang="zh-CN" altLang="en-US" sz="24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4663"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 b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342900" lvl="0" indent="-342900" font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0" dirty="0">
                          <a:latin typeface="Consolas" panose="020B0609020204030204" pitchFamily="49" charset="0"/>
                          <a:cs typeface="Times New Roman" panose="02020603050405020304" pitchFamily="2" charset="0"/>
                        </a:rPr>
                        <a:t>double</a:t>
                      </a:r>
                      <a:endParaRPr lang="en-US" altLang="x-none" sz="2400" b="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 b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342900" lvl="0" indent="-342900" fontAlgn="ctr">
                        <a:spcBef>
                          <a:spcPct val="0"/>
                        </a:spcBef>
                        <a:buNone/>
                      </a:pPr>
                      <a:r>
                        <a:rPr lang="zh-CN" altLang="en-US" sz="2400" dirty="0">
                          <a:latin typeface="宋体" panose="02010600030101010101" pitchFamily="2" charset="-122"/>
                        </a:rPr>
                        <a:t>双精度浮点数</a:t>
                      </a:r>
                      <a:endParaRPr lang="zh-CN" altLang="en-US" sz="2400" dirty="0"/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4663"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 b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342900" lvl="0" indent="-342900" fontAlgn="ctr">
                        <a:spcBef>
                          <a:spcPct val="0"/>
                        </a:spcBef>
                        <a:buNone/>
                      </a:pPr>
                      <a:endParaRPr lang="en-US" altLang="x-none" sz="2400" b="1" dirty="0"/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 b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342900" lvl="0" indent="-342900" fontAlgn="ctr">
                        <a:spcBef>
                          <a:spcPct val="0"/>
                        </a:spcBef>
                        <a:buNone/>
                      </a:pPr>
                      <a:endParaRPr lang="zh-CN" altLang="en-US" sz="24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57976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8481660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灯片编号占位符 5"/>
          <p:cNvSpPr txBox="1">
            <a:spLocks noGrp="1"/>
          </p:cNvSpPr>
          <p:nvPr/>
        </p:nvSpPr>
        <p:spPr>
          <a:xfrm>
            <a:off x="6934200" y="63246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r">
              <a:spcBef>
                <a:spcPct val="50000"/>
              </a:spcBef>
            </a:pPr>
            <a:fld id="{9A0DB2DC-4C9A-4742-B13C-FB6460FD3503}" type="slidenum">
              <a:rPr lang="zh-CN" altLang="en-US" sz="1400" dirty="0">
                <a:latin typeface="Times New Roman" panose="02020603050405020304" pitchFamily="2" charset="0"/>
              </a:rPr>
              <a:t>35</a:t>
            </a:fld>
            <a:endParaRPr lang="zh-CN" altLang="en-US" sz="1400" dirty="0">
              <a:latin typeface="Times New Roman" panose="02020603050405020304" pitchFamily="2" charset="0"/>
            </a:endParaRPr>
          </a:p>
        </p:txBody>
      </p:sp>
      <p:sp>
        <p:nvSpPr>
          <p:cNvPr id="41986" name="Rectangle 4"/>
          <p:cNvSpPr/>
          <p:nvPr/>
        </p:nvSpPr>
        <p:spPr>
          <a:xfrm>
            <a:off x="539750" y="1268413"/>
            <a:ext cx="7921625" cy="4893647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r>
              <a:rPr lang="en-US" altLang="zh-CN" sz="2400" b="0" dirty="0">
                <a:latin typeface="+mn-lt"/>
                <a:cs typeface="+mn-lt"/>
              </a:rPr>
              <a:t>/*</a:t>
            </a:r>
            <a:r>
              <a:rPr lang="en-US" altLang="zh-CN" sz="2400" b="0" dirty="0" err="1">
                <a:latin typeface="+mn-lt"/>
                <a:cs typeface="+mn-lt"/>
              </a:rPr>
              <a:t>float.c</a:t>
            </a:r>
            <a:r>
              <a:rPr lang="en-US" altLang="zh-CN" sz="2400" b="0" dirty="0">
                <a:latin typeface="+mn-lt"/>
                <a:cs typeface="+mn-lt"/>
              </a:rPr>
              <a:t> – </a:t>
            </a:r>
            <a:r>
              <a:rPr lang="zh-CN" altLang="en-US" sz="2400" b="0" dirty="0">
                <a:latin typeface="+mn-lt"/>
                <a:cs typeface="+mn-lt"/>
              </a:rPr>
              <a:t>测试浮点数的精度 </a:t>
            </a:r>
            <a:r>
              <a:rPr lang="en-US" altLang="zh-CN" sz="2400" b="0" dirty="0">
                <a:latin typeface="+mn-lt"/>
                <a:cs typeface="+mn-lt"/>
              </a:rPr>
              <a:t>*/</a:t>
            </a:r>
            <a:r>
              <a:rPr lang="zh-CN" altLang="en-US" sz="2400" b="0" dirty="0">
                <a:latin typeface="+mn-lt"/>
                <a:cs typeface="+mn-lt"/>
              </a:rPr>
              <a:t> </a:t>
            </a:r>
            <a:endParaRPr lang="en-US" altLang="zh-CN" sz="2400" b="0" dirty="0">
              <a:latin typeface="+mn-lt"/>
              <a:cs typeface="+mn-lt"/>
            </a:endParaRPr>
          </a:p>
          <a:p>
            <a:r>
              <a:rPr lang="en-US" altLang="zh-CN" sz="2400" b="0" dirty="0">
                <a:latin typeface="+mn-lt"/>
                <a:cs typeface="+mn-lt"/>
              </a:rPr>
              <a:t>#include &lt;</a:t>
            </a:r>
            <a:r>
              <a:rPr lang="en-US" altLang="zh-CN" sz="2400" b="0" dirty="0" err="1">
                <a:latin typeface="+mn-lt"/>
                <a:cs typeface="+mn-lt"/>
              </a:rPr>
              <a:t>stdio.h</a:t>
            </a:r>
            <a:r>
              <a:rPr lang="en-US" altLang="zh-CN" sz="2400" b="0" dirty="0">
                <a:latin typeface="+mn-lt"/>
                <a:cs typeface="+mn-lt"/>
              </a:rPr>
              <a:t>&gt; </a:t>
            </a:r>
          </a:p>
          <a:p>
            <a:r>
              <a:rPr lang="en-US" altLang="zh-CN" sz="2400" b="0" dirty="0">
                <a:latin typeface="+mn-lt"/>
                <a:cs typeface="+mn-lt"/>
              </a:rPr>
              <a:t>int main(void)</a:t>
            </a:r>
          </a:p>
          <a:p>
            <a:r>
              <a:rPr lang="en-US" altLang="zh-CN" sz="2400" b="0" dirty="0">
                <a:latin typeface="+mn-lt"/>
                <a:cs typeface="+mn-lt"/>
              </a:rPr>
              <a:t>{</a:t>
            </a:r>
          </a:p>
          <a:p>
            <a:r>
              <a:rPr lang="en-US" altLang="zh-CN" sz="2400" b="0" dirty="0">
                <a:latin typeface="+mn-lt"/>
                <a:cs typeface="+mn-lt"/>
              </a:rPr>
              <a:t> </a:t>
            </a:r>
            <a:r>
              <a:rPr lang="en-US" altLang="zh-CN" sz="2400" b="0" dirty="0" err="1">
                <a:latin typeface="+mn-lt"/>
                <a:cs typeface="+mn-lt"/>
              </a:rPr>
              <a:t>printf</a:t>
            </a:r>
            <a:r>
              <a:rPr lang="en-US" altLang="zh-CN" sz="2400" b="0" dirty="0">
                <a:latin typeface="+mn-lt"/>
                <a:cs typeface="+mn-lt"/>
              </a:rPr>
              <a:t>("approximate float number exam.\n");</a:t>
            </a:r>
          </a:p>
          <a:p>
            <a:r>
              <a:rPr lang="en-US" altLang="zh-CN" sz="2400" b="0" dirty="0">
                <a:latin typeface="+mn-lt"/>
                <a:cs typeface="+mn-lt"/>
              </a:rPr>
              <a:t> float data;   /*</a:t>
            </a:r>
            <a:r>
              <a:rPr lang="zh-CN" altLang="en-US" sz="2400" b="0" dirty="0">
                <a:latin typeface="+mn-lt"/>
                <a:cs typeface="+mn-lt"/>
              </a:rPr>
              <a:t>变量定义*</a:t>
            </a:r>
            <a:r>
              <a:rPr lang="en-US" altLang="zh-CN" sz="2400" b="0" dirty="0">
                <a:latin typeface="+mn-lt"/>
                <a:cs typeface="+mn-lt"/>
              </a:rPr>
              <a:t>/</a:t>
            </a:r>
          </a:p>
          <a:p>
            <a:endParaRPr lang="en-US" altLang="zh-CN" sz="2400" b="0" dirty="0">
              <a:latin typeface="+mn-lt"/>
              <a:cs typeface="+mn-lt"/>
            </a:endParaRPr>
          </a:p>
          <a:p>
            <a:r>
              <a:rPr lang="en-US" altLang="zh-CN" sz="2400" b="0" dirty="0">
                <a:latin typeface="+mn-lt"/>
                <a:cs typeface="+mn-lt"/>
              </a:rPr>
              <a:t>    </a:t>
            </a:r>
            <a:r>
              <a:rPr lang="en-US" altLang="zh-CN" sz="2400" b="0" dirty="0" err="1">
                <a:latin typeface="+mn-lt"/>
                <a:cs typeface="+mn-lt"/>
              </a:rPr>
              <a:t>printf</a:t>
            </a:r>
            <a:r>
              <a:rPr lang="en-US" altLang="zh-CN" sz="2400" b="0" dirty="0">
                <a:latin typeface="+mn-lt"/>
                <a:cs typeface="+mn-lt"/>
              </a:rPr>
              <a:t>("Enter a real number:");           </a:t>
            </a:r>
          </a:p>
          <a:p>
            <a:r>
              <a:rPr lang="en-US" altLang="zh-CN" sz="2400" b="0" dirty="0">
                <a:latin typeface="+mn-lt"/>
                <a:cs typeface="+mn-lt"/>
              </a:rPr>
              <a:t>    </a:t>
            </a:r>
            <a:r>
              <a:rPr lang="en-US" altLang="zh-CN" sz="2400" b="0" dirty="0" err="1">
                <a:latin typeface="+mn-lt"/>
                <a:cs typeface="+mn-lt"/>
              </a:rPr>
              <a:t>scanf</a:t>
            </a:r>
            <a:r>
              <a:rPr lang="en-US" altLang="zh-CN" sz="2400" b="0" dirty="0">
                <a:latin typeface="+mn-lt"/>
                <a:cs typeface="+mn-lt"/>
              </a:rPr>
              <a:t>("%</a:t>
            </a:r>
            <a:r>
              <a:rPr lang="en-US" altLang="zh-CN" sz="2400" b="0" dirty="0" err="1">
                <a:latin typeface="+mn-lt"/>
                <a:cs typeface="+mn-lt"/>
              </a:rPr>
              <a:t>f",&amp;data</a:t>
            </a:r>
            <a:r>
              <a:rPr lang="en-US" altLang="zh-CN" sz="2400" b="0" dirty="0">
                <a:latin typeface="+mn-lt"/>
                <a:cs typeface="+mn-lt"/>
              </a:rPr>
              <a:t>); /*</a:t>
            </a:r>
            <a:r>
              <a:rPr lang="zh-CN" altLang="en-US" sz="2400" b="0" dirty="0">
                <a:latin typeface="+mn-lt"/>
                <a:cs typeface="+mn-lt"/>
              </a:rPr>
              <a:t>从键盘读取</a:t>
            </a:r>
            <a:r>
              <a:rPr lang="en-US" altLang="zh-CN" sz="2400" b="0" dirty="0">
                <a:latin typeface="+mn-lt"/>
                <a:cs typeface="+mn-lt"/>
              </a:rPr>
              <a:t>float</a:t>
            </a:r>
            <a:r>
              <a:rPr lang="zh-CN" altLang="en-US" sz="2400" b="0" dirty="0">
                <a:latin typeface="+mn-lt"/>
                <a:cs typeface="+mn-lt"/>
              </a:rPr>
              <a:t>小数*</a:t>
            </a:r>
            <a:r>
              <a:rPr lang="en-US" altLang="zh-CN" sz="2400" b="0" dirty="0">
                <a:latin typeface="+mn-lt"/>
                <a:cs typeface="+mn-lt"/>
              </a:rPr>
              <a:t>/</a:t>
            </a:r>
          </a:p>
          <a:p>
            <a:r>
              <a:rPr lang="en-US" altLang="zh-CN" sz="2400" b="0" dirty="0">
                <a:latin typeface="+mn-lt"/>
                <a:cs typeface="+mn-lt"/>
              </a:rPr>
              <a:t>    </a:t>
            </a:r>
            <a:r>
              <a:rPr lang="en-US" altLang="zh-CN" sz="2400" b="0" dirty="0" err="1">
                <a:latin typeface="+mn-lt"/>
                <a:cs typeface="+mn-lt"/>
              </a:rPr>
              <a:t>printf</a:t>
            </a:r>
            <a:r>
              <a:rPr lang="en-US" altLang="zh-CN" sz="2400" b="0" dirty="0">
                <a:latin typeface="+mn-lt"/>
                <a:cs typeface="+mn-lt"/>
              </a:rPr>
              <a:t>("stored number is : %.</a:t>
            </a:r>
            <a:r>
              <a:rPr lang="en-US" altLang="zh-CN" sz="2400" b="0" dirty="0" err="1">
                <a:latin typeface="+mn-lt"/>
                <a:cs typeface="+mn-lt"/>
              </a:rPr>
              <a:t>8f</a:t>
            </a:r>
            <a:r>
              <a:rPr lang="en-US" altLang="zh-CN" sz="2400" b="0" dirty="0">
                <a:latin typeface="+mn-lt"/>
                <a:cs typeface="+mn-lt"/>
              </a:rPr>
              <a:t>\</a:t>
            </a:r>
            <a:r>
              <a:rPr lang="en-US" altLang="zh-CN" sz="2400" b="0" dirty="0" err="1">
                <a:latin typeface="+mn-lt"/>
                <a:cs typeface="+mn-lt"/>
              </a:rPr>
              <a:t>n",data</a:t>
            </a:r>
            <a:r>
              <a:rPr lang="en-US" altLang="zh-CN" sz="2400" b="0" dirty="0">
                <a:latin typeface="+mn-lt"/>
                <a:cs typeface="+mn-lt"/>
              </a:rPr>
              <a:t>); /*</a:t>
            </a:r>
            <a:r>
              <a:rPr lang="zh-CN" altLang="en-US" sz="2400" b="0" dirty="0">
                <a:latin typeface="+mn-lt"/>
                <a:cs typeface="+mn-lt"/>
              </a:rPr>
              <a:t>打印实际存入计算机的小数*</a:t>
            </a:r>
            <a:r>
              <a:rPr lang="en-US" altLang="zh-CN" sz="2400" b="0" dirty="0">
                <a:latin typeface="+mn-lt"/>
                <a:cs typeface="+mn-lt"/>
              </a:rPr>
              <a:t>/</a:t>
            </a:r>
          </a:p>
          <a:p>
            <a:r>
              <a:rPr lang="en-US" altLang="zh-CN" sz="2400" b="0" dirty="0">
                <a:latin typeface="+mn-lt"/>
                <a:cs typeface="+mn-lt"/>
              </a:rPr>
              <a:t>     return 0;</a:t>
            </a:r>
          </a:p>
          <a:p>
            <a:r>
              <a:rPr lang="en-US" altLang="zh-CN" sz="2400" b="0" dirty="0">
                <a:latin typeface="+mn-lt"/>
                <a:cs typeface="+mn-lt"/>
              </a:rPr>
              <a:t>} </a:t>
            </a:r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29254900-00E6-4C03-A66C-750D4CF650A4}"/>
              </a:ext>
            </a:extLst>
          </p:cNvPr>
          <p:cNvSpPr txBox="1">
            <a:spLocks/>
          </p:cNvSpPr>
          <p:nvPr/>
        </p:nvSpPr>
        <p:spPr>
          <a:xfrm>
            <a:off x="1263650" y="404813"/>
            <a:ext cx="7772400" cy="720725"/>
          </a:xfrm>
          <a:prstGeom prst="rect">
            <a:avLst/>
          </a:prstGeom>
        </p:spPr>
        <p:txBody>
          <a:bodyPr wrap="square" anchor="ctr"/>
          <a:lstStyle>
            <a:lvl1pPr marL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rgbClr val="FF3300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FontTx/>
            </a:pPr>
            <a:r>
              <a:rPr lang="zh-CN" altLang="en-US" b="1" dirty="0"/>
              <a:t>小数的近似表示</a:t>
            </a:r>
          </a:p>
        </p:txBody>
      </p:sp>
    </p:spTree>
    <p:extLst>
      <p:ext uri="{BB962C8B-B14F-4D97-AF65-F5344CB8AC3E}">
        <p14:creationId xmlns:p14="http://schemas.microsoft.com/office/powerpoint/2010/main" val="2302651354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31190" y="1405890"/>
            <a:ext cx="8083550" cy="44941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b="0" dirty="0">
                <a:latin typeface="宋体" panose="02010600030101010101" pitchFamily="2" charset="-122"/>
                <a:cs typeface="微软雅黑" panose="020B0503020204020204" charset="-122"/>
              </a:rPr>
              <a:t>5. </a:t>
            </a: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测试和调试程序</a:t>
            </a:r>
            <a:endParaRPr lang="en-US" altLang="zh-CN" sz="28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 lvl="1">
              <a:lnSpc>
                <a:spcPct val="130000"/>
              </a:lnSpc>
            </a:pPr>
            <a:r>
              <a:rPr lang="zh-CN" altLang="en-US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测试数据</a:t>
            </a:r>
            <a:r>
              <a:rPr lang="en-US" altLang="zh-CN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1: </a:t>
            </a:r>
            <a:r>
              <a:rPr lang="en-US" altLang="zh-CN" sz="2800" b="0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0.32</a:t>
            </a:r>
          </a:p>
          <a:p>
            <a:pPr lvl="1">
              <a:lnSpc>
                <a:spcPct val="130000"/>
              </a:lnSpc>
            </a:pPr>
            <a:r>
              <a:rPr lang="zh-CN" altLang="en-US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测试数据</a:t>
            </a:r>
            <a:r>
              <a:rPr lang="en-US" altLang="zh-CN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2: 3.99</a:t>
            </a:r>
          </a:p>
          <a:p>
            <a:pPr lvl="1">
              <a:lnSpc>
                <a:spcPct val="130000"/>
              </a:lnSpc>
            </a:pPr>
            <a:r>
              <a:rPr lang="zh-CN" altLang="en-US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测试数据</a:t>
            </a:r>
            <a:r>
              <a:rPr lang="en-US" altLang="zh-CN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3: 3.141592653589793238462643383279502884197169399375105820974944592307816406</a:t>
            </a:r>
          </a:p>
          <a:p>
            <a:pPr lvl="1">
              <a:lnSpc>
                <a:spcPct val="130000"/>
              </a:lnSpc>
            </a:pPr>
            <a:r>
              <a:rPr lang="zh-CN" altLang="en-US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测试数据</a:t>
            </a:r>
            <a:r>
              <a:rPr lang="en-US" altLang="zh-CN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4: 0.000000005</a:t>
            </a:r>
          </a:p>
          <a:p>
            <a:pPr lvl="1">
              <a:lnSpc>
                <a:spcPct val="130000"/>
              </a:lnSpc>
            </a:pPr>
            <a:r>
              <a:rPr lang="zh-CN" altLang="en-US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测试数据</a:t>
            </a:r>
            <a:r>
              <a:rPr lang="en-US" altLang="zh-CN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5: -1234567890.0012345</a:t>
            </a:r>
          </a:p>
        </p:txBody>
      </p:sp>
      <p:sp>
        <p:nvSpPr>
          <p:cNvPr id="12294" name="Rectangle 12"/>
          <p:cNvSpPr>
            <a:spLocks noGrp="1"/>
          </p:cNvSpPr>
          <p:nvPr/>
        </p:nvSpPr>
        <p:spPr>
          <a:xfrm>
            <a:off x="1263650" y="404813"/>
            <a:ext cx="7772400" cy="72072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/>
          <a:lstStyle>
            <a:lvl1pPr marL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rgbClr val="FF3300"/>
                </a:solidFill>
                <a:latin typeface="+mj-lt"/>
                <a:ea typeface="+mj-ea"/>
                <a:cs typeface="+mj-cs"/>
              </a:defRPr>
            </a:lvl1pPr>
          </a:lstStyle>
          <a:p>
            <a:pPr eaLnBrk="1" hangingPunct="1"/>
            <a:r>
              <a:rPr lang="zh-CN" altLang="en-US" b="1" dirty="0"/>
              <a:t>测试</a:t>
            </a:r>
          </a:p>
        </p:txBody>
      </p:sp>
    </p:spTree>
    <p:extLst>
      <p:ext uri="{BB962C8B-B14F-4D97-AF65-F5344CB8AC3E}">
        <p14:creationId xmlns:p14="http://schemas.microsoft.com/office/powerpoint/2010/main" val="2276941183"/>
      </p:ext>
    </p:extLst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标题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zh-CN" altLang="en-US" dirty="0"/>
              <a:t>精度：计算机中的小数是有限位的</a:t>
            </a: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7E587216-F4FC-4BED-B17B-AB1C5CDAFFC0}"/>
              </a:ext>
            </a:extLst>
          </p:cNvPr>
          <p:cNvSpPr txBox="1"/>
          <p:nvPr/>
        </p:nvSpPr>
        <p:spPr>
          <a:xfrm>
            <a:off x="323528" y="1190208"/>
            <a:ext cx="8496944" cy="5262979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800" dirty="0" err="1"/>
              <a:t>IEEE754</a:t>
            </a:r>
            <a:r>
              <a:rPr lang="zh-CN" altLang="en-US" sz="2800" dirty="0"/>
              <a:t>规定，</a:t>
            </a:r>
            <a:r>
              <a:rPr lang="en-US" altLang="zh-CN" sz="2800" i="1" dirty="0">
                <a:solidFill>
                  <a:srgbClr val="FF3300"/>
                </a:solidFill>
                <a:latin typeface="宋体" panose="02010600030101010101" pitchFamily="2" charset="-122"/>
              </a:rPr>
              <a:t>float</a:t>
            </a:r>
            <a:r>
              <a:rPr lang="zh-CN" altLang="en-US" sz="2800" dirty="0">
                <a:latin typeface="宋体" panose="02010600030101010101" pitchFamily="2" charset="-122"/>
              </a:rPr>
              <a:t>单精度浮点数字长</a:t>
            </a:r>
            <a:r>
              <a:rPr lang="en-US" altLang="zh-CN" sz="2800" dirty="0">
                <a:latin typeface="宋体" panose="02010600030101010101" pitchFamily="2" charset="-122"/>
              </a:rPr>
              <a:t>32</a:t>
            </a:r>
            <a:r>
              <a:rPr lang="zh-CN" altLang="en-US" sz="2800" dirty="0">
                <a:latin typeface="宋体" panose="02010600030101010101" pitchFamily="2" charset="-122"/>
              </a:rPr>
              <a:t>位，分配如下：</a:t>
            </a:r>
            <a:endParaRPr lang="en-US" altLang="zh-CN" sz="2800" dirty="0">
              <a:latin typeface="宋体" panose="02010600030101010101" pitchFamily="2" charset="-122"/>
            </a:endParaRPr>
          </a:p>
          <a:p>
            <a:pPr eaLnBrk="0" hangingPunct="0">
              <a:spcBef>
                <a:spcPct val="50000"/>
              </a:spcBef>
            </a:pPr>
            <a:endParaRPr lang="zh-CN" altLang="en-US" sz="2800" dirty="0">
              <a:latin typeface="宋体" panose="02010600030101010101" pitchFamily="2" charset="-122"/>
            </a:endParaRPr>
          </a:p>
          <a:p>
            <a:pPr eaLnBrk="0" hangingPunct="0">
              <a:spcBef>
                <a:spcPct val="50000"/>
              </a:spcBef>
            </a:pPr>
            <a:endParaRPr lang="en-US" altLang="zh-CN" sz="2800" dirty="0">
              <a:latin typeface="宋体" panose="02010600030101010101" pitchFamily="2" charset="-122"/>
            </a:endParaRPr>
          </a:p>
          <a:p>
            <a:pPr eaLnBrk="0" hangingPunct="0">
              <a:spcBef>
                <a:spcPct val="50000"/>
              </a:spcBef>
            </a:pPr>
            <a:r>
              <a:rPr lang="zh-CN" altLang="en-US" sz="2800" dirty="0">
                <a:latin typeface="宋体" panose="02010600030101010101" pitchFamily="2" charset="-122"/>
              </a:rPr>
              <a:t>尾数最大值</a:t>
            </a:r>
            <a:r>
              <a:rPr lang="en-US" altLang="zh-CN" sz="2800" dirty="0">
                <a:latin typeface="宋体" panose="02010600030101010101" pitchFamily="2" charset="-122"/>
              </a:rPr>
              <a:t>1.111…(23</a:t>
            </a:r>
            <a:r>
              <a:rPr lang="zh-CN" altLang="en-US" sz="2800" dirty="0">
                <a:latin typeface="宋体" panose="02010600030101010101" pitchFamily="2" charset="-122"/>
              </a:rPr>
              <a:t>个</a:t>
            </a:r>
            <a:r>
              <a:rPr lang="en-US" altLang="zh-CN" sz="2800" dirty="0">
                <a:latin typeface="宋体" panose="02010600030101010101" pitchFamily="2" charset="-122"/>
              </a:rPr>
              <a:t>1),</a:t>
            </a:r>
            <a:r>
              <a:rPr lang="zh-CN" altLang="en-US" sz="2800" dirty="0">
                <a:latin typeface="宋体" panose="02010600030101010101" pitchFamily="2" charset="-122"/>
              </a:rPr>
              <a:t>约等于</a:t>
            </a:r>
            <a:r>
              <a:rPr lang="en-US" altLang="zh-CN" sz="2800" dirty="0">
                <a:latin typeface="宋体" panose="02010600030101010101" pitchFamily="2" charset="-122"/>
              </a:rPr>
              <a:t>2; </a:t>
            </a:r>
            <a:r>
              <a:rPr lang="zh-CN" altLang="en-US" sz="2800" dirty="0">
                <a:latin typeface="宋体" panose="02010600030101010101" pitchFamily="2" charset="-122"/>
              </a:rPr>
              <a:t>指数</a:t>
            </a:r>
            <a:r>
              <a:rPr lang="en-US" altLang="zh-CN" sz="2800" dirty="0">
                <a:latin typeface="宋体" panose="02010600030101010101" pitchFamily="2" charset="-122"/>
              </a:rPr>
              <a:t>8</a:t>
            </a:r>
            <a:r>
              <a:rPr lang="zh-CN" altLang="en-US" sz="2800" dirty="0">
                <a:latin typeface="宋体" panose="02010600030101010101" pitchFamily="2" charset="-122"/>
              </a:rPr>
              <a:t>位最大是</a:t>
            </a:r>
            <a:r>
              <a:rPr lang="en-US" altLang="zh-CN" sz="2800" dirty="0">
                <a:latin typeface="宋体" panose="02010600030101010101" pitchFamily="2" charset="-122"/>
              </a:rPr>
              <a:t>127;</a:t>
            </a:r>
            <a:r>
              <a:rPr lang="zh-CN" altLang="en-US" sz="2800" dirty="0">
                <a:latin typeface="宋体" panose="02010600030101010101" pitchFamily="2" charset="-122"/>
              </a:rPr>
              <a:t>因此</a:t>
            </a:r>
            <a:r>
              <a:rPr lang="en-US" altLang="zh-CN" sz="2800" dirty="0">
                <a:latin typeface="宋体" panose="02010600030101010101" pitchFamily="2" charset="-122"/>
              </a:rPr>
              <a:t>32</a:t>
            </a:r>
            <a:r>
              <a:rPr lang="zh-CN" altLang="en-US" sz="2800" dirty="0">
                <a:latin typeface="宋体" panose="02010600030101010101" pitchFamily="2" charset="-122"/>
              </a:rPr>
              <a:t>位</a:t>
            </a:r>
            <a:r>
              <a:rPr lang="en-US" altLang="zh-CN" sz="2800" dirty="0">
                <a:latin typeface="宋体" panose="02010600030101010101" pitchFamily="2" charset="-122"/>
              </a:rPr>
              <a:t>float</a:t>
            </a:r>
            <a:r>
              <a:rPr lang="zh-CN" altLang="en-US" sz="2800" dirty="0">
                <a:latin typeface="宋体" panose="02010600030101010101" pitchFamily="2" charset="-122"/>
              </a:rPr>
              <a:t>最大值为</a:t>
            </a:r>
            <a:r>
              <a:rPr lang="en-US" altLang="zh-CN" sz="2800" dirty="0">
                <a:latin typeface="宋体" panose="02010600030101010101" pitchFamily="2" charset="-122"/>
              </a:rPr>
              <a:t>2</a:t>
            </a:r>
            <a:r>
              <a:rPr lang="zh-CN" altLang="en-US" sz="2800" dirty="0">
                <a:latin typeface="宋体" panose="02010600030101010101" pitchFamily="2" charset="-122"/>
              </a:rPr>
              <a:t>*</a:t>
            </a:r>
            <a:r>
              <a:rPr lang="en-US" altLang="zh-CN" sz="2800" dirty="0">
                <a:latin typeface="宋体" panose="02010600030101010101" pitchFamily="2" charset="-122"/>
              </a:rPr>
              <a:t>2^127=3.4*10^38</a:t>
            </a:r>
            <a:r>
              <a:rPr lang="zh-CN" altLang="en-US" sz="2800" dirty="0">
                <a:latin typeface="宋体" panose="02010600030101010101" pitchFamily="2" charset="-122"/>
              </a:rPr>
              <a:t>，负值最小同理为 </a:t>
            </a:r>
            <a:r>
              <a:rPr lang="en-US" altLang="zh-CN" sz="2800" dirty="0">
                <a:latin typeface="宋体" panose="02010600030101010101" pitchFamily="2" charset="-122"/>
              </a:rPr>
              <a:t>-2</a:t>
            </a:r>
            <a:r>
              <a:rPr lang="zh-CN" altLang="en-US" sz="2800" dirty="0">
                <a:latin typeface="宋体" panose="02010600030101010101" pitchFamily="2" charset="-122"/>
              </a:rPr>
              <a:t>*</a:t>
            </a:r>
            <a:r>
              <a:rPr lang="en-US" altLang="zh-CN" sz="2800" dirty="0">
                <a:latin typeface="宋体" panose="02010600030101010101" pitchFamily="2" charset="-122"/>
              </a:rPr>
              <a:t>2^127=-3.4*10^38</a:t>
            </a:r>
            <a:r>
              <a:rPr lang="zh-CN" altLang="en-US" sz="2800" dirty="0">
                <a:latin typeface="宋体" panose="02010600030101010101" pitchFamily="2" charset="-122"/>
              </a:rPr>
              <a:t>。可表示十进制的</a:t>
            </a:r>
            <a:r>
              <a:rPr lang="en-US" altLang="zh-CN" sz="2800" dirty="0">
                <a:solidFill>
                  <a:srgbClr val="FF3300"/>
                </a:solidFill>
                <a:latin typeface="宋体" panose="02010600030101010101" pitchFamily="2" charset="-122"/>
              </a:rPr>
              <a:t>6</a:t>
            </a:r>
            <a:r>
              <a:rPr lang="zh-CN" altLang="en-US" sz="2800" dirty="0">
                <a:solidFill>
                  <a:srgbClr val="FF3300"/>
                </a:solidFill>
                <a:latin typeface="宋体" panose="02010600030101010101" pitchFamily="2" charset="-122"/>
              </a:rPr>
              <a:t>或</a:t>
            </a:r>
            <a:r>
              <a:rPr lang="en-US" altLang="zh-CN" sz="2800" dirty="0">
                <a:solidFill>
                  <a:srgbClr val="FF3300"/>
                </a:solidFill>
                <a:latin typeface="宋体" panose="02010600030101010101" pitchFamily="2" charset="-122"/>
              </a:rPr>
              <a:t>7</a:t>
            </a:r>
            <a:r>
              <a:rPr lang="zh-CN" altLang="en-US" sz="2800" dirty="0">
                <a:solidFill>
                  <a:srgbClr val="FF3300"/>
                </a:solidFill>
                <a:latin typeface="宋体" panose="02010600030101010101" pitchFamily="2" charset="-122"/>
              </a:rPr>
              <a:t>位有效数字</a:t>
            </a:r>
            <a:r>
              <a:rPr lang="zh-CN" altLang="en-US" sz="2800" dirty="0">
                <a:latin typeface="宋体" panose="02010600030101010101" pitchFamily="2" charset="-122"/>
              </a:rPr>
              <a:t>。</a:t>
            </a:r>
            <a:endParaRPr lang="en-US" altLang="zh-CN" sz="2800" dirty="0">
              <a:latin typeface="宋体" panose="02010600030101010101" pitchFamily="2" charset="-122"/>
            </a:endParaRPr>
          </a:p>
          <a:p>
            <a:pPr eaLnBrk="0" hangingPunct="0">
              <a:spcBef>
                <a:spcPct val="50000"/>
              </a:spcBef>
            </a:pPr>
            <a:r>
              <a:rPr lang="en-US" altLang="zh-CN" sz="2800" dirty="0">
                <a:solidFill>
                  <a:schemeClr val="accent2"/>
                </a:solidFill>
                <a:latin typeface="宋体" panose="02010600030101010101" pitchFamily="2" charset="-122"/>
              </a:rPr>
              <a:t>Double</a:t>
            </a:r>
            <a:r>
              <a:rPr lang="zh-CN" altLang="en-US" sz="2800" dirty="0">
                <a:latin typeface="宋体" panose="02010600030101010101" pitchFamily="2" charset="-122"/>
              </a:rPr>
              <a:t>双精度浮点数</a:t>
            </a:r>
            <a:r>
              <a:rPr lang="zh-CN" altLang="en-US" sz="2800" dirty="0">
                <a:solidFill>
                  <a:schemeClr val="accent2"/>
                </a:solidFill>
                <a:latin typeface="宋体" panose="02010600030101010101" pitchFamily="2" charset="-122"/>
              </a:rPr>
              <a:t>字长</a:t>
            </a:r>
            <a:r>
              <a:rPr lang="en-US" altLang="zh-CN" sz="2800" dirty="0">
                <a:solidFill>
                  <a:schemeClr val="accent2"/>
                </a:solidFill>
                <a:latin typeface="宋体" panose="02010600030101010101" pitchFamily="2" charset="-122"/>
              </a:rPr>
              <a:t>64</a:t>
            </a:r>
            <a:r>
              <a:rPr lang="zh-CN" altLang="en-US" sz="2800" dirty="0">
                <a:solidFill>
                  <a:schemeClr val="accent2"/>
                </a:solidFill>
                <a:latin typeface="宋体" panose="02010600030101010101" pitchFamily="2" charset="-122"/>
              </a:rPr>
              <a:t>位</a:t>
            </a:r>
            <a:r>
              <a:rPr lang="zh-CN" altLang="en-US" sz="2800" dirty="0">
                <a:latin typeface="宋体" panose="02010600030101010101" pitchFamily="2" charset="-122"/>
              </a:rPr>
              <a:t>。正负号</a:t>
            </a:r>
            <a:r>
              <a:rPr lang="en-US" altLang="zh-CN" sz="2800" dirty="0">
                <a:latin typeface="宋体" panose="02010600030101010101" pitchFamily="2" charset="-122"/>
              </a:rPr>
              <a:t>1</a:t>
            </a:r>
            <a:r>
              <a:rPr lang="zh-CN" altLang="en-US" sz="2800" dirty="0">
                <a:latin typeface="宋体" panose="02010600030101010101" pitchFamily="2" charset="-122"/>
              </a:rPr>
              <a:t>位，尾数</a:t>
            </a:r>
            <a:r>
              <a:rPr lang="en-US" altLang="zh-CN" sz="2800" dirty="0">
                <a:latin typeface="宋体" panose="02010600030101010101" pitchFamily="2" charset="-122"/>
              </a:rPr>
              <a:t>52</a:t>
            </a:r>
            <a:r>
              <a:rPr lang="zh-CN" altLang="en-US" sz="2800" dirty="0">
                <a:latin typeface="宋体" panose="02010600030101010101" pitchFamily="2" charset="-122"/>
              </a:rPr>
              <a:t>位，指数</a:t>
            </a:r>
            <a:r>
              <a:rPr lang="en-US" altLang="zh-CN" sz="2800" dirty="0">
                <a:latin typeface="宋体" panose="02010600030101010101" pitchFamily="2" charset="-122"/>
              </a:rPr>
              <a:t>11</a:t>
            </a:r>
            <a:r>
              <a:rPr lang="zh-CN" altLang="en-US" sz="2800" dirty="0">
                <a:latin typeface="宋体" panose="02010600030101010101" pitchFamily="2" charset="-122"/>
              </a:rPr>
              <a:t>位。可表示</a:t>
            </a:r>
            <a:r>
              <a:rPr lang="zh-CN" altLang="en-US" sz="2800" dirty="0">
                <a:solidFill>
                  <a:srgbClr val="FF3300"/>
                </a:solidFill>
                <a:latin typeface="宋体" panose="02010600030101010101" pitchFamily="2" charset="-122"/>
              </a:rPr>
              <a:t>十进制的</a:t>
            </a:r>
            <a:r>
              <a:rPr lang="en-US" altLang="zh-CN" sz="2800" dirty="0">
                <a:solidFill>
                  <a:srgbClr val="FF3300"/>
                </a:solidFill>
                <a:latin typeface="宋体" panose="02010600030101010101" pitchFamily="2" charset="-122"/>
              </a:rPr>
              <a:t>15</a:t>
            </a:r>
            <a:r>
              <a:rPr lang="zh-CN" altLang="en-US" sz="2800" dirty="0">
                <a:solidFill>
                  <a:srgbClr val="FF3300"/>
                </a:solidFill>
                <a:latin typeface="宋体" panose="02010600030101010101" pitchFamily="2" charset="-122"/>
              </a:rPr>
              <a:t>或</a:t>
            </a:r>
            <a:r>
              <a:rPr lang="en-US" altLang="zh-CN" sz="2800" dirty="0">
                <a:solidFill>
                  <a:srgbClr val="FF3300"/>
                </a:solidFill>
                <a:latin typeface="宋体" panose="02010600030101010101" pitchFamily="2" charset="-122"/>
              </a:rPr>
              <a:t>16</a:t>
            </a:r>
            <a:r>
              <a:rPr lang="zh-CN" altLang="en-US" sz="2800" dirty="0">
                <a:solidFill>
                  <a:srgbClr val="FF3300"/>
                </a:solidFill>
                <a:latin typeface="宋体" panose="02010600030101010101" pitchFamily="2" charset="-122"/>
              </a:rPr>
              <a:t>位有效数字</a:t>
            </a:r>
            <a:r>
              <a:rPr lang="zh-CN" altLang="en-US" sz="2800" dirty="0">
                <a:latin typeface="宋体" panose="02010600030101010101" pitchFamily="2" charset="-122"/>
              </a:rPr>
              <a:t>。</a:t>
            </a:r>
          </a:p>
        </p:txBody>
      </p:sp>
      <p:graphicFrame>
        <p:nvGraphicFramePr>
          <p:cNvPr id="2" name="表格 2">
            <a:extLst>
              <a:ext uri="{FF2B5EF4-FFF2-40B4-BE49-F238E27FC236}">
                <a16:creationId xmlns:a16="http://schemas.microsoft.com/office/drawing/2014/main" id="{3C8DF00C-CB61-46F0-8C44-9C3322F43FA0}"/>
              </a:ext>
            </a:extLst>
          </p:cNvPr>
          <p:cNvGraphicFramePr>
            <a:graphicFrameLocks noGrp="1"/>
          </p:cNvGraphicFramePr>
          <p:nvPr/>
        </p:nvGraphicFramePr>
        <p:xfrm>
          <a:off x="1547664" y="1988840"/>
          <a:ext cx="5735960" cy="1112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71960">
                  <a:extLst>
                    <a:ext uri="{9D8B030D-6E8A-4147-A177-3AD203B41FA5}">
                      <a16:colId xmlns:a16="http://schemas.microsoft.com/office/drawing/2014/main" val="349337140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2646163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5771556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rgbClr val="FF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正负号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rgbClr val="FF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尾数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rgbClr val="FF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指数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46803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占</a:t>
                      </a:r>
                      <a:r>
                        <a:rPr lang="en-US" altLang="zh-CN" dirty="0"/>
                        <a:t>1</a:t>
                      </a:r>
                      <a:r>
                        <a:rPr lang="zh-CN" altLang="en-US" dirty="0"/>
                        <a:t>位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占</a:t>
                      </a:r>
                      <a:r>
                        <a:rPr lang="en-US" altLang="zh-CN" dirty="0"/>
                        <a:t>23</a:t>
                      </a:r>
                      <a:r>
                        <a:rPr lang="zh-CN" altLang="en-US" dirty="0"/>
                        <a:t>位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占</a:t>
                      </a:r>
                      <a:r>
                        <a:rPr lang="en-US" altLang="zh-CN" dirty="0"/>
                        <a:t>8</a:t>
                      </a:r>
                      <a:r>
                        <a:rPr lang="zh-CN" altLang="en-US" dirty="0"/>
                        <a:t>位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80623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r>
                        <a:rPr lang="zh-CN" altLang="en-US" dirty="0"/>
                        <a:t>正</a:t>
                      </a:r>
                      <a:r>
                        <a:rPr lang="en-US" altLang="zh-CN" dirty="0"/>
                        <a:t>,1</a:t>
                      </a:r>
                      <a:r>
                        <a:rPr lang="zh-CN" altLang="en-US" dirty="0"/>
                        <a:t>负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小数位，决定精度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整数</a:t>
                      </a:r>
                      <a:r>
                        <a:rPr lang="en-US" altLang="zh-CN" dirty="0"/>
                        <a:t>,</a:t>
                      </a:r>
                      <a:r>
                        <a:rPr lang="zh-CN" altLang="en-US" dirty="0"/>
                        <a:t>决定范围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85121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00153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D45BC376-0BFD-4369-9625-DCDA416D4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CB522-499B-4C30-BF74-5ABDA7D08592}" type="slidenum">
              <a:rPr lang="en-US" altLang="zh-CN"/>
              <a:pPr/>
              <a:t>38</a:t>
            </a:fld>
            <a:endParaRPr lang="en-US" altLang="zh-CN"/>
          </a:p>
        </p:txBody>
      </p:sp>
      <p:sp>
        <p:nvSpPr>
          <p:cNvPr id="345090" name="Rectangle 2">
            <a:extLst>
              <a:ext uri="{FF2B5EF4-FFF2-40B4-BE49-F238E27FC236}">
                <a16:creationId xmlns:a16="http://schemas.microsoft.com/office/drawing/2014/main" id="{26A658BA-50DB-4B0B-AE93-EC0011C4DD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61098" y="293023"/>
            <a:ext cx="8372550" cy="757275"/>
          </a:xfrm>
          <a:noFill/>
          <a:ln/>
        </p:spPr>
        <p:txBody>
          <a:bodyPr/>
          <a:lstStyle/>
          <a:p>
            <a:r>
              <a:rPr lang="en-US" altLang="zh-CN" sz="3571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 sz="3571" dirty="0"/>
              <a:t>十进制小数转换为二进制小数</a:t>
            </a:r>
            <a:endParaRPr lang="zh-CN" altLang="en-US" sz="3571" b="1" dirty="0">
              <a:cs typeface="Times New Roman" panose="02020603050405020304" pitchFamily="18" charset="0"/>
            </a:endParaRPr>
          </a:p>
        </p:txBody>
      </p:sp>
      <p:sp>
        <p:nvSpPr>
          <p:cNvPr id="345091" name="Rectangle 3">
            <a:extLst>
              <a:ext uri="{FF2B5EF4-FFF2-40B4-BE49-F238E27FC236}">
                <a16:creationId xmlns:a16="http://schemas.microsoft.com/office/drawing/2014/main" id="{177494A6-8A71-4CB1-8E27-5C33B2EC41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64464" y="1268760"/>
            <a:ext cx="8415072" cy="4740059"/>
          </a:xfrm>
          <a:noFill/>
          <a:ln/>
        </p:spPr>
        <p:txBody>
          <a:bodyPr/>
          <a:lstStyle/>
          <a:p>
            <a:pPr marL="0" indent="0" algn="just" defTabSz="971931">
              <a:lnSpc>
                <a:spcPct val="105000"/>
              </a:lnSpc>
              <a:buNone/>
            </a:pPr>
            <a:r>
              <a:rPr lang="zh-CN" altLang="en-US" sz="2168" b="1" dirty="0">
                <a:latin typeface="宋体" panose="02010600030101010101" pitchFamily="2" charset="-122"/>
                <a:ea typeface="黑体" panose="02010609060101010101" pitchFamily="49" charset="-122"/>
              </a:rPr>
              <a:t>乘基取整法</a:t>
            </a:r>
            <a:r>
              <a:rPr lang="en-US" altLang="zh-CN" sz="2168" b="1" dirty="0">
                <a:latin typeface="宋体" panose="02010600030101010101" pitchFamily="2" charset="-122"/>
                <a:ea typeface="黑体" panose="02010609060101010101" pitchFamily="49" charset="-122"/>
              </a:rPr>
              <a:t>:</a:t>
            </a:r>
            <a:r>
              <a:rPr lang="en-US" altLang="zh-CN" sz="2168" b="1" dirty="0">
                <a:ea typeface="黑体" panose="02010609060101010101" pitchFamily="49" charset="-122"/>
              </a:rPr>
              <a:t>“</a:t>
            </a:r>
            <a:r>
              <a:rPr lang="zh-CN" altLang="en-US" sz="2168" b="1" dirty="0">
                <a:latin typeface="宋体" panose="02010600030101010101" pitchFamily="2" charset="-122"/>
                <a:ea typeface="黑体" panose="02010609060101010101" pitchFamily="49" charset="-122"/>
              </a:rPr>
              <a:t>乘基取整，先整为高</a:t>
            </a:r>
            <a:r>
              <a:rPr lang="en-US" altLang="zh-CN" sz="2168" b="1" dirty="0">
                <a:latin typeface="宋体" panose="02010600030101010101" pitchFamily="2" charset="-122"/>
                <a:ea typeface="黑体" panose="02010609060101010101" pitchFamily="49" charset="-122"/>
              </a:rPr>
              <a:t>(</a:t>
            </a:r>
            <a:r>
              <a:rPr lang="zh-CN" altLang="en-US" sz="2168" b="1" dirty="0">
                <a:latin typeface="宋体" panose="02010600030101010101" pitchFamily="2" charset="-122"/>
                <a:ea typeface="黑体" panose="02010609060101010101" pitchFamily="49" charset="-122"/>
              </a:rPr>
              <a:t>位</a:t>
            </a:r>
            <a:r>
              <a:rPr lang="en-US" altLang="zh-CN" sz="2168" b="1" dirty="0">
                <a:latin typeface="宋体" panose="02010600030101010101" pitchFamily="2" charset="-122"/>
                <a:ea typeface="黑体" panose="02010609060101010101" pitchFamily="49" charset="-122"/>
              </a:rPr>
              <a:t>),</a:t>
            </a:r>
            <a:r>
              <a:rPr lang="zh-CN" altLang="en-US" sz="2168" b="1" dirty="0">
                <a:latin typeface="宋体" panose="02010600030101010101" pitchFamily="2" charset="-122"/>
                <a:ea typeface="黑体" panose="02010609060101010101" pitchFamily="49" charset="-122"/>
              </a:rPr>
              <a:t>后整为低</a:t>
            </a:r>
            <a:r>
              <a:rPr lang="en-US" altLang="zh-CN" sz="2168" b="1" dirty="0">
                <a:latin typeface="宋体" panose="02010600030101010101" pitchFamily="2" charset="-122"/>
                <a:ea typeface="黑体" panose="02010609060101010101" pitchFamily="49" charset="-122"/>
              </a:rPr>
              <a:t>(</a:t>
            </a:r>
            <a:r>
              <a:rPr lang="zh-CN" altLang="en-US" sz="2168" b="1" dirty="0">
                <a:latin typeface="宋体" panose="02010600030101010101" pitchFamily="2" charset="-122"/>
                <a:ea typeface="黑体" panose="02010609060101010101" pitchFamily="49" charset="-122"/>
              </a:rPr>
              <a:t>位</a:t>
            </a:r>
            <a:r>
              <a:rPr lang="en-US" altLang="zh-CN" sz="2168" b="1" dirty="0">
                <a:latin typeface="宋体" panose="02010600030101010101" pitchFamily="2" charset="-122"/>
                <a:ea typeface="黑体" panose="02010609060101010101" pitchFamily="49" charset="-122"/>
              </a:rPr>
              <a:t>)</a:t>
            </a:r>
            <a:r>
              <a:rPr lang="en-US" altLang="zh-CN" sz="2168" b="1" dirty="0">
                <a:ea typeface="黑体" panose="02010609060101010101" pitchFamily="49" charset="-122"/>
              </a:rPr>
              <a:t>”</a:t>
            </a:r>
            <a:endParaRPr lang="en-US" altLang="zh-CN" sz="2168" b="1" dirty="0">
              <a:latin typeface="宋体" panose="02010600030101010101" pitchFamily="2" charset="-122"/>
              <a:ea typeface="黑体" panose="02010609060101010101" pitchFamily="49" charset="-122"/>
            </a:endParaRPr>
          </a:p>
          <a:p>
            <a:pPr marL="0" indent="0" algn="just" defTabSz="971931">
              <a:lnSpc>
                <a:spcPct val="105000"/>
              </a:lnSpc>
              <a:buNone/>
            </a:pPr>
            <a:r>
              <a:rPr lang="zh-CN" altLang="en-US" sz="2168" b="1" dirty="0">
                <a:latin typeface="宋体" panose="02010600030101010101" pitchFamily="2" charset="-122"/>
                <a:ea typeface="黑体" panose="02010609060101010101" pitchFamily="49" charset="-122"/>
              </a:rPr>
              <a:t>例</a:t>
            </a:r>
            <a:r>
              <a:rPr lang="en-US" altLang="zh-CN" sz="2168" b="1" dirty="0">
                <a:latin typeface="宋体" panose="02010600030101010101" pitchFamily="2" charset="-122"/>
                <a:ea typeface="黑体" panose="02010609060101010101" pitchFamily="49" charset="-122"/>
              </a:rPr>
              <a:t>:</a:t>
            </a:r>
            <a:r>
              <a:rPr lang="zh-CN" altLang="en-US" sz="2168" b="1" dirty="0">
                <a:latin typeface="宋体" panose="02010600030101010101" pitchFamily="2" charset="-122"/>
                <a:ea typeface="黑体" panose="02010609060101010101" pitchFamily="49" charset="-122"/>
              </a:rPr>
              <a:t>（ </a:t>
            </a:r>
            <a:r>
              <a:rPr lang="en-US" altLang="zh-CN" sz="2168" b="1" dirty="0">
                <a:latin typeface="宋体" panose="02010600030101010101" pitchFamily="2" charset="-122"/>
                <a:ea typeface="黑体" panose="02010609060101010101" pitchFamily="49" charset="-122"/>
              </a:rPr>
              <a:t>0.625</a:t>
            </a:r>
            <a:r>
              <a:rPr lang="zh-CN" altLang="en-US" sz="2168" b="1" dirty="0">
                <a:latin typeface="宋体" panose="02010600030101010101" pitchFamily="2" charset="-122"/>
                <a:ea typeface="黑体" panose="02010609060101010101" pitchFamily="49" charset="-122"/>
              </a:rPr>
              <a:t>）</a:t>
            </a:r>
            <a:r>
              <a:rPr lang="en-US" altLang="zh-CN" sz="2168" b="1" baseline="-30000" dirty="0">
                <a:latin typeface="宋体" panose="02010600030101010101" pitchFamily="2" charset="-122"/>
                <a:ea typeface="黑体" panose="02010609060101010101" pitchFamily="49" charset="-122"/>
              </a:rPr>
              <a:t>10</a:t>
            </a:r>
            <a:r>
              <a:rPr lang="zh-CN" altLang="en-US" sz="2168" b="1" dirty="0">
                <a:latin typeface="宋体" panose="02010600030101010101" pitchFamily="2" charset="-122"/>
                <a:ea typeface="黑体" panose="02010609060101010101" pitchFamily="49" charset="-122"/>
              </a:rPr>
              <a:t>＝（</a:t>
            </a:r>
            <a:r>
              <a:rPr lang="en-US" altLang="zh-CN" sz="2168" b="1" dirty="0">
                <a:latin typeface="宋体" panose="02010600030101010101" pitchFamily="2" charset="-122"/>
                <a:ea typeface="黑体" panose="02010609060101010101" pitchFamily="49" charset="-122"/>
              </a:rPr>
              <a:t>0.101</a:t>
            </a:r>
            <a:r>
              <a:rPr lang="zh-CN" altLang="en-US" sz="2168" b="1" dirty="0">
                <a:latin typeface="宋体" panose="02010600030101010101" pitchFamily="2" charset="-122"/>
                <a:ea typeface="黑体" panose="02010609060101010101" pitchFamily="49" charset="-122"/>
              </a:rPr>
              <a:t>）</a:t>
            </a:r>
            <a:r>
              <a:rPr lang="en-US" altLang="zh-CN" sz="2168" b="1" baseline="-30000" dirty="0">
                <a:latin typeface="宋体" panose="02010600030101010101" pitchFamily="2" charset="-122"/>
                <a:ea typeface="黑体" panose="02010609060101010101" pitchFamily="49" charset="-122"/>
              </a:rPr>
              <a:t>2</a:t>
            </a:r>
          </a:p>
          <a:p>
            <a:pPr marL="0" indent="0" algn="just" defTabSz="971931">
              <a:lnSpc>
                <a:spcPct val="110000"/>
              </a:lnSpc>
              <a:spcBef>
                <a:spcPct val="5000"/>
              </a:spcBef>
              <a:buNone/>
            </a:pPr>
            <a:r>
              <a:rPr lang="en-US" altLang="zh-CN" sz="2168" b="1" dirty="0">
                <a:latin typeface="宋体" panose="02010600030101010101" pitchFamily="2" charset="-122"/>
                <a:ea typeface="黑体" panose="02010609060101010101" pitchFamily="49" charset="-122"/>
              </a:rPr>
              <a:t>         					</a:t>
            </a:r>
            <a:r>
              <a:rPr lang="en-US" altLang="zh-CN" sz="2168" b="1" dirty="0">
                <a:ea typeface="黑体" panose="02010609060101010101" pitchFamily="49" charset="-122"/>
              </a:rPr>
              <a:t>   		            	        0.625   </a:t>
            </a:r>
            <a:r>
              <a:rPr lang="zh-CN" altLang="en-US" sz="2168" b="1" dirty="0">
                <a:latin typeface="宋体" panose="02010600030101010101" pitchFamily="2" charset="-122"/>
                <a:ea typeface="黑体" panose="02010609060101010101" pitchFamily="49" charset="-122"/>
              </a:rPr>
              <a:t>整数</a:t>
            </a:r>
            <a:endParaRPr lang="zh-CN" altLang="en-US" sz="2168" b="1" dirty="0">
              <a:ea typeface="黑体" panose="02010609060101010101" pitchFamily="49" charset="-122"/>
            </a:endParaRPr>
          </a:p>
          <a:p>
            <a:pPr marL="0" indent="0" algn="just" defTabSz="971931">
              <a:lnSpc>
                <a:spcPct val="110000"/>
              </a:lnSpc>
              <a:spcBef>
                <a:spcPct val="5000"/>
              </a:spcBef>
              <a:buNone/>
            </a:pPr>
            <a:r>
              <a:rPr lang="zh-CN" altLang="en-US" sz="2168" b="1" dirty="0">
                <a:ea typeface="黑体" panose="02010609060101010101" pitchFamily="49" charset="-122"/>
              </a:rPr>
              <a:t>        </a:t>
            </a:r>
            <a:r>
              <a:rPr lang="zh-CN" altLang="en-US" sz="2168" b="1" u="sng" dirty="0">
                <a:ea typeface="黑体" panose="02010609060101010101" pitchFamily="49" charset="-122"/>
              </a:rPr>
              <a:t> </a:t>
            </a:r>
            <a:r>
              <a:rPr lang="en-US" altLang="zh-CN" sz="2168" b="1" u="sng" dirty="0">
                <a:ea typeface="黑体" panose="02010609060101010101" pitchFamily="49" charset="-122"/>
              </a:rPr>
              <a:t>×        2  </a:t>
            </a:r>
            <a:r>
              <a:rPr lang="en-US" altLang="zh-CN" sz="2168" b="1" dirty="0">
                <a:ea typeface="黑体" panose="02010609060101010101" pitchFamily="49" charset="-122"/>
              </a:rPr>
              <a:t>              </a:t>
            </a:r>
          </a:p>
          <a:p>
            <a:pPr marL="0" indent="0" algn="just" defTabSz="971931">
              <a:lnSpc>
                <a:spcPct val="110000"/>
              </a:lnSpc>
              <a:spcBef>
                <a:spcPct val="5000"/>
              </a:spcBef>
              <a:buNone/>
            </a:pPr>
            <a:r>
              <a:rPr lang="en-US" altLang="zh-CN" sz="2168" b="1" dirty="0">
                <a:ea typeface="黑体" panose="02010609060101010101" pitchFamily="49" charset="-122"/>
              </a:rPr>
              <a:t>              1 .25     1</a:t>
            </a:r>
          </a:p>
          <a:p>
            <a:pPr marL="0" indent="0" algn="just" defTabSz="971931">
              <a:lnSpc>
                <a:spcPct val="110000"/>
              </a:lnSpc>
              <a:spcBef>
                <a:spcPct val="5000"/>
              </a:spcBef>
              <a:buNone/>
            </a:pPr>
            <a:r>
              <a:rPr lang="en-US" altLang="zh-CN" sz="2168" b="1" dirty="0">
                <a:ea typeface="黑体" panose="02010609060101010101" pitchFamily="49" charset="-122"/>
              </a:rPr>
              <a:t>               0.25</a:t>
            </a:r>
          </a:p>
          <a:p>
            <a:pPr marL="0" indent="0" algn="just" defTabSz="971931">
              <a:lnSpc>
                <a:spcPct val="110000"/>
              </a:lnSpc>
              <a:spcBef>
                <a:spcPct val="5000"/>
              </a:spcBef>
              <a:buNone/>
            </a:pPr>
            <a:r>
              <a:rPr lang="en-US" altLang="zh-CN" sz="2168" b="1" dirty="0">
                <a:ea typeface="黑体" panose="02010609060101010101" pitchFamily="49" charset="-122"/>
              </a:rPr>
              <a:t>        </a:t>
            </a:r>
            <a:r>
              <a:rPr lang="en-US" altLang="zh-CN" sz="2168" b="1" u="sng" dirty="0">
                <a:ea typeface="黑体" panose="02010609060101010101" pitchFamily="49" charset="-122"/>
              </a:rPr>
              <a:t> ×        2</a:t>
            </a:r>
          </a:p>
          <a:p>
            <a:pPr marL="0" indent="0" algn="just" defTabSz="971931">
              <a:lnSpc>
                <a:spcPct val="110000"/>
              </a:lnSpc>
              <a:spcBef>
                <a:spcPct val="5000"/>
              </a:spcBef>
              <a:buNone/>
            </a:pPr>
            <a:r>
              <a:rPr lang="en-US" altLang="zh-CN" sz="2168" b="1" dirty="0">
                <a:ea typeface="黑体" panose="02010609060101010101" pitchFamily="49" charset="-122"/>
              </a:rPr>
              <a:t>               0.5</a:t>
            </a:r>
            <a:r>
              <a:rPr lang="en-US" altLang="zh-CN" sz="2168" b="1" dirty="0">
                <a:latin typeface="宋体" panose="02010600030101010101" pitchFamily="2" charset="-122"/>
                <a:ea typeface="黑体" panose="02010609060101010101" pitchFamily="49" charset="-122"/>
              </a:rPr>
              <a:t>   </a:t>
            </a:r>
            <a:r>
              <a:rPr lang="en-US" altLang="zh-CN" sz="2168" b="1" dirty="0">
                <a:ea typeface="黑体" panose="02010609060101010101" pitchFamily="49" charset="-122"/>
              </a:rPr>
              <a:t>   0</a:t>
            </a:r>
          </a:p>
          <a:p>
            <a:pPr marL="0" indent="0" algn="just" defTabSz="971931">
              <a:lnSpc>
                <a:spcPct val="110000"/>
              </a:lnSpc>
              <a:spcBef>
                <a:spcPct val="5000"/>
              </a:spcBef>
              <a:buNone/>
            </a:pPr>
            <a:r>
              <a:rPr lang="en-US" altLang="zh-CN" sz="2168" b="1" dirty="0">
                <a:ea typeface="黑体" panose="02010609060101010101" pitchFamily="49" charset="-122"/>
              </a:rPr>
              <a:t>         </a:t>
            </a:r>
            <a:r>
              <a:rPr lang="en-US" altLang="zh-CN" sz="2168" b="1" u="sng" dirty="0">
                <a:ea typeface="黑体" panose="02010609060101010101" pitchFamily="49" charset="-122"/>
              </a:rPr>
              <a:t>×      2</a:t>
            </a:r>
          </a:p>
          <a:p>
            <a:pPr marL="0" indent="0" algn="just" defTabSz="971931">
              <a:lnSpc>
                <a:spcPct val="110000"/>
              </a:lnSpc>
              <a:spcBef>
                <a:spcPct val="5000"/>
              </a:spcBef>
              <a:buNone/>
            </a:pPr>
            <a:r>
              <a:rPr lang="en-US" altLang="zh-CN" sz="2168" b="1" dirty="0">
                <a:ea typeface="黑体" panose="02010609060101010101" pitchFamily="49" charset="-122"/>
              </a:rPr>
              <a:t>               1.0      1</a:t>
            </a:r>
            <a:endParaRPr lang="en-US" altLang="zh-CN" sz="2168" b="1" dirty="0">
              <a:latin typeface="宋体" panose="02010600030101010101" pitchFamily="2" charset="-122"/>
              <a:ea typeface="黑体" panose="02010609060101010101" pitchFamily="49" charset="-122"/>
            </a:endParaRPr>
          </a:p>
        </p:txBody>
      </p:sp>
      <p:sp>
        <p:nvSpPr>
          <p:cNvPr id="345096" name="Line 8">
            <a:extLst>
              <a:ext uri="{FF2B5EF4-FFF2-40B4-BE49-F238E27FC236}">
                <a16:creationId xmlns:a16="http://schemas.microsoft.com/office/drawing/2014/main" id="{606AF760-9AB5-4554-8E3A-CB396BBFDD10}"/>
              </a:ext>
            </a:extLst>
          </p:cNvPr>
          <p:cNvSpPr>
            <a:spLocks noChangeShapeType="1"/>
          </p:cNvSpPr>
          <p:nvPr/>
        </p:nvSpPr>
        <p:spPr bwMode="auto">
          <a:xfrm>
            <a:off x="3635896" y="2636912"/>
            <a:ext cx="0" cy="27942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FBD6E182-B710-4271-BD0E-E6FFF7D2A92C}"/>
              </a:ext>
            </a:extLst>
          </p:cNvPr>
          <p:cNvSpPr txBox="1">
            <a:spLocks noChangeArrowheads="1"/>
          </p:cNvSpPr>
          <p:nvPr/>
        </p:nvSpPr>
        <p:spPr>
          <a:xfrm>
            <a:off x="4693337" y="1786690"/>
            <a:ext cx="4427984" cy="4380019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rgbClr val="FF0000"/>
            </a:solidFill>
          </a:ln>
        </p:spPr>
        <p:txBody>
          <a:bodyPr anchor="t"/>
          <a:lstStyle>
            <a:lvl1pPr marL="342900" lvl="0" indent="-3429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65000"/>
              <a:buFont typeface="Wingdings" panose="05000000000000000000" pitchFamily="2" charset="2"/>
              <a:buChar char="n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37369" indent="0" defTabSz="971931">
              <a:lnSpc>
                <a:spcPct val="90000"/>
              </a:lnSpc>
              <a:spcBef>
                <a:spcPct val="10000"/>
              </a:spcBef>
              <a:buFontTx/>
              <a:buNone/>
            </a:pPr>
            <a:r>
              <a:rPr lang="zh-CN" altLang="en-US" sz="2168" b="1" dirty="0">
                <a:solidFill>
                  <a:srgbClr val="2D35D3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例</a:t>
            </a:r>
            <a:r>
              <a:rPr lang="en-US" altLang="zh-CN" sz="2168" b="1" dirty="0">
                <a:solidFill>
                  <a:srgbClr val="2D35D3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:</a:t>
            </a:r>
            <a:r>
              <a:rPr lang="zh-CN" altLang="en-US" sz="2168" b="1" dirty="0">
                <a:solidFill>
                  <a:srgbClr val="2D35D3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（</a:t>
            </a:r>
            <a:r>
              <a:rPr lang="en-US" altLang="zh-CN" sz="2168" b="1" dirty="0">
                <a:solidFill>
                  <a:srgbClr val="2D35D3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0.32</a:t>
            </a:r>
            <a:r>
              <a:rPr lang="zh-CN" altLang="en-US" sz="2168" b="1" dirty="0">
                <a:solidFill>
                  <a:srgbClr val="2D35D3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）</a:t>
            </a:r>
            <a:r>
              <a:rPr lang="en-US" altLang="zh-CN" sz="2168" b="1" baseline="-30000" dirty="0">
                <a:solidFill>
                  <a:srgbClr val="2D35D3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10</a:t>
            </a:r>
            <a:r>
              <a:rPr lang="zh-CN" altLang="en-US" sz="2168" b="1" dirty="0">
                <a:solidFill>
                  <a:srgbClr val="2D35D3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＝（</a:t>
            </a:r>
            <a:r>
              <a:rPr lang="en-US" altLang="zh-CN" sz="2168" b="1" dirty="0">
                <a:solidFill>
                  <a:srgbClr val="2D35D3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0.0101…</a:t>
            </a:r>
            <a:r>
              <a:rPr lang="zh-CN" altLang="en-US" sz="2168" b="1" dirty="0">
                <a:solidFill>
                  <a:srgbClr val="2D35D3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）</a:t>
            </a:r>
            <a:r>
              <a:rPr lang="en-US" altLang="zh-CN" sz="2168" b="1" baseline="-30000" dirty="0">
                <a:solidFill>
                  <a:srgbClr val="2D35D3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2</a:t>
            </a:r>
          </a:p>
          <a:p>
            <a:pPr marL="437369" indent="0" defTabSz="971931">
              <a:lnSpc>
                <a:spcPct val="90000"/>
              </a:lnSpc>
              <a:spcBef>
                <a:spcPct val="10000"/>
              </a:spcBef>
              <a:buFontTx/>
              <a:buNone/>
            </a:pPr>
            <a:r>
              <a:rPr lang="en-US" altLang="zh-CN" sz="2168" b="1" dirty="0">
                <a:solidFill>
                  <a:srgbClr val="2D35D3"/>
                </a:solidFill>
                <a:ea typeface="黑体" panose="02010609060101010101" pitchFamily="49" charset="-122"/>
              </a:rPr>
              <a:t>                                                                                                                                                                	0.32   </a:t>
            </a:r>
            <a:r>
              <a:rPr lang="zh-CN" altLang="en-US" sz="2168" b="1" dirty="0">
                <a:solidFill>
                  <a:srgbClr val="2D35D3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整数</a:t>
            </a:r>
            <a:endParaRPr lang="en-US" altLang="zh-CN" sz="2168" b="1" dirty="0">
              <a:solidFill>
                <a:srgbClr val="2D35D3"/>
              </a:solidFill>
              <a:latin typeface="宋体" panose="02010600030101010101" pitchFamily="2" charset="-122"/>
              <a:ea typeface="黑体" panose="02010609060101010101" pitchFamily="49" charset="-122"/>
            </a:endParaRPr>
          </a:p>
          <a:p>
            <a:pPr marL="437369" indent="0" defTabSz="971931">
              <a:lnSpc>
                <a:spcPct val="90000"/>
              </a:lnSpc>
              <a:spcBef>
                <a:spcPct val="10000"/>
              </a:spcBef>
              <a:buFontTx/>
              <a:buNone/>
            </a:pPr>
            <a:r>
              <a:rPr lang="en-US" altLang="zh-CN" sz="2168" b="1" u="sng" dirty="0">
                <a:solidFill>
                  <a:srgbClr val="2D35D3"/>
                </a:solidFill>
                <a:ea typeface="黑体" panose="02010609060101010101" pitchFamily="49" charset="-122"/>
              </a:rPr>
              <a:t>×     2</a:t>
            </a:r>
            <a:r>
              <a:rPr lang="en-US" altLang="zh-CN" sz="2168" b="1" dirty="0">
                <a:solidFill>
                  <a:srgbClr val="2D35D3"/>
                </a:solidFill>
                <a:ea typeface="黑体" panose="02010609060101010101" pitchFamily="49" charset="-122"/>
              </a:rPr>
              <a:t>                </a:t>
            </a:r>
          </a:p>
          <a:p>
            <a:pPr marL="437369" indent="0" defTabSz="971931">
              <a:lnSpc>
                <a:spcPct val="90000"/>
              </a:lnSpc>
              <a:spcBef>
                <a:spcPct val="10000"/>
              </a:spcBef>
              <a:buFontTx/>
              <a:buNone/>
            </a:pPr>
            <a:r>
              <a:rPr lang="en-US" altLang="zh-CN" sz="2168" b="1" dirty="0">
                <a:solidFill>
                  <a:srgbClr val="2D35D3"/>
                </a:solidFill>
                <a:ea typeface="黑体" panose="02010609060101010101" pitchFamily="49" charset="-122"/>
              </a:rPr>
              <a:t>	0.64   0</a:t>
            </a:r>
          </a:p>
          <a:p>
            <a:pPr marL="437369" indent="0" defTabSz="971931">
              <a:lnSpc>
                <a:spcPct val="90000"/>
              </a:lnSpc>
              <a:spcBef>
                <a:spcPct val="10000"/>
              </a:spcBef>
              <a:buFontTx/>
              <a:buNone/>
            </a:pPr>
            <a:r>
              <a:rPr lang="en-US" altLang="zh-CN" sz="2168" b="1" u="sng" dirty="0">
                <a:solidFill>
                  <a:srgbClr val="2D35D3"/>
                </a:solidFill>
                <a:ea typeface="黑体" panose="02010609060101010101" pitchFamily="49" charset="-122"/>
              </a:rPr>
              <a:t>×     2</a:t>
            </a:r>
          </a:p>
          <a:p>
            <a:pPr marL="437369" indent="0" defTabSz="971931">
              <a:lnSpc>
                <a:spcPct val="90000"/>
              </a:lnSpc>
              <a:spcBef>
                <a:spcPct val="10000"/>
              </a:spcBef>
              <a:buFontTx/>
              <a:buNone/>
            </a:pPr>
            <a:r>
              <a:rPr lang="en-US" altLang="zh-CN" sz="2168" b="1" dirty="0">
                <a:solidFill>
                  <a:srgbClr val="2D35D3"/>
                </a:solidFill>
                <a:ea typeface="黑体" panose="02010609060101010101" pitchFamily="49" charset="-122"/>
              </a:rPr>
              <a:t>    1.28   1</a:t>
            </a:r>
          </a:p>
          <a:p>
            <a:pPr marL="437369" indent="0" defTabSz="971931">
              <a:lnSpc>
                <a:spcPct val="90000"/>
              </a:lnSpc>
              <a:spcBef>
                <a:spcPct val="10000"/>
              </a:spcBef>
              <a:buFontTx/>
              <a:buNone/>
            </a:pPr>
            <a:r>
              <a:rPr lang="en-US" altLang="zh-CN" sz="2168" b="1" dirty="0">
                <a:solidFill>
                  <a:srgbClr val="2D35D3"/>
                </a:solidFill>
                <a:ea typeface="黑体" panose="02010609060101010101" pitchFamily="49" charset="-122"/>
              </a:rPr>
              <a:t>    0.28    </a:t>
            </a:r>
          </a:p>
          <a:p>
            <a:pPr marL="437369" indent="0" defTabSz="971931">
              <a:lnSpc>
                <a:spcPct val="90000"/>
              </a:lnSpc>
              <a:spcBef>
                <a:spcPct val="10000"/>
              </a:spcBef>
              <a:buFontTx/>
              <a:buNone/>
            </a:pPr>
            <a:r>
              <a:rPr lang="en-US" altLang="zh-CN" sz="2168" b="1" u="sng" dirty="0">
                <a:solidFill>
                  <a:srgbClr val="2D35D3"/>
                </a:solidFill>
                <a:ea typeface="黑体" panose="02010609060101010101" pitchFamily="49" charset="-122"/>
              </a:rPr>
              <a:t>×     2</a:t>
            </a:r>
          </a:p>
          <a:p>
            <a:pPr marL="437369" indent="0" defTabSz="971931">
              <a:lnSpc>
                <a:spcPct val="90000"/>
              </a:lnSpc>
              <a:spcBef>
                <a:spcPct val="10000"/>
              </a:spcBef>
              <a:buFontTx/>
              <a:buNone/>
            </a:pPr>
            <a:r>
              <a:rPr lang="en-US" altLang="zh-CN" sz="2168" b="1" dirty="0">
                <a:solidFill>
                  <a:srgbClr val="2D35D3"/>
                </a:solidFill>
                <a:ea typeface="黑体" panose="02010609060101010101" pitchFamily="49" charset="-122"/>
              </a:rPr>
              <a:t>    0.56	 0</a:t>
            </a:r>
          </a:p>
          <a:p>
            <a:pPr marL="437369" indent="0" defTabSz="971931">
              <a:lnSpc>
                <a:spcPct val="90000"/>
              </a:lnSpc>
              <a:spcBef>
                <a:spcPct val="10000"/>
              </a:spcBef>
              <a:buFontTx/>
              <a:buNone/>
            </a:pPr>
            <a:r>
              <a:rPr lang="en-US" altLang="zh-CN" sz="2168" b="1" u="sng" dirty="0">
                <a:solidFill>
                  <a:srgbClr val="2D35D3"/>
                </a:solidFill>
                <a:ea typeface="黑体" panose="02010609060101010101" pitchFamily="49" charset="-122"/>
              </a:rPr>
              <a:t>×     2</a:t>
            </a:r>
            <a:r>
              <a:rPr lang="en-US" altLang="zh-CN" sz="2168" b="1" dirty="0">
                <a:solidFill>
                  <a:srgbClr val="2D35D3"/>
                </a:solidFill>
                <a:ea typeface="黑体" panose="02010609060101010101" pitchFamily="49" charset="-122"/>
              </a:rPr>
              <a:t>	</a:t>
            </a:r>
          </a:p>
          <a:p>
            <a:pPr marL="437369" indent="0" defTabSz="971931">
              <a:lnSpc>
                <a:spcPct val="90000"/>
              </a:lnSpc>
              <a:spcBef>
                <a:spcPct val="10000"/>
              </a:spcBef>
              <a:buFontTx/>
              <a:buNone/>
            </a:pPr>
            <a:r>
              <a:rPr lang="en-US" altLang="zh-CN" sz="2168" b="1" dirty="0">
                <a:solidFill>
                  <a:srgbClr val="2D35D3"/>
                </a:solidFill>
                <a:ea typeface="黑体" panose="02010609060101010101" pitchFamily="49" charset="-122"/>
              </a:rPr>
              <a:t>    1.12   1	</a:t>
            </a:r>
          </a:p>
          <a:p>
            <a:pPr marL="437369" indent="0" defTabSz="971931">
              <a:lnSpc>
                <a:spcPct val="90000"/>
              </a:lnSpc>
              <a:spcBef>
                <a:spcPct val="10000"/>
              </a:spcBef>
              <a:buFontTx/>
              <a:buNone/>
            </a:pPr>
            <a:r>
              <a:rPr lang="en-US" altLang="zh-CN" sz="2168" b="1" dirty="0">
                <a:solidFill>
                  <a:srgbClr val="2D35D3"/>
                </a:solidFill>
                <a:ea typeface="黑体" panose="02010609060101010101" pitchFamily="49" charset="-122"/>
              </a:rPr>
              <a:t>	       </a:t>
            </a:r>
            <a:r>
              <a:rPr lang="en-US" altLang="zh-CN" sz="2168" b="1" dirty="0">
                <a:solidFill>
                  <a:srgbClr val="2D35D3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…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C0275A5-7C92-7BFF-8E1F-40E83D80BD8E}"/>
              </a:ext>
            </a:extLst>
          </p:cNvPr>
          <p:cNvSpPr txBox="1"/>
          <p:nvPr/>
        </p:nvSpPr>
        <p:spPr>
          <a:xfrm>
            <a:off x="287525" y="5544882"/>
            <a:ext cx="4405812" cy="1200329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indent="0" defTabSz="971931">
              <a:lnSpc>
                <a:spcPct val="90000"/>
              </a:lnSpc>
              <a:spcBef>
                <a:spcPts val="0"/>
              </a:spcBef>
              <a:buNone/>
            </a:pPr>
            <a:r>
              <a:rPr lang="zh-CN" altLang="en-US" sz="2000" b="0" dirty="0">
                <a:latin typeface="+mn-ea"/>
              </a:rPr>
              <a:t>十进制小数并不是都能够用有限位的二进制数精确地表示</a:t>
            </a:r>
            <a:r>
              <a:rPr lang="en-US" altLang="zh-CN" sz="2000" b="0" dirty="0">
                <a:latin typeface="+mn-ea"/>
              </a:rPr>
              <a:t>,</a:t>
            </a:r>
            <a:r>
              <a:rPr lang="zh-CN" altLang="en-US" sz="2000" b="0" dirty="0">
                <a:latin typeface="+mn-ea"/>
              </a:rPr>
              <a:t>这时应根据精度要求转换到一定的位数为止，作为其近似值</a:t>
            </a:r>
            <a:r>
              <a:rPr lang="en-US" altLang="zh-CN" sz="2000" b="0" dirty="0">
                <a:latin typeface="+mn-ea"/>
              </a:rPr>
              <a:t>.</a:t>
            </a:r>
          </a:p>
        </p:txBody>
      </p:sp>
    </p:spTree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18A026-D9A6-EE51-967F-F6FDBD77F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数据类型小结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51C7DEF-D4C8-9346-CAD9-D34DE51AB2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544" y="1319213"/>
            <a:ext cx="8424936" cy="4611687"/>
          </a:xfrm>
        </p:spPr>
        <p:txBody>
          <a:bodyPr/>
          <a:lstStyle/>
          <a:p>
            <a:r>
              <a:rPr lang="zh-CN" altLang="en-US" dirty="0"/>
              <a:t>计算机中的浮点数和整数在本质上不同，其存储方式和运算过程有很大区别。</a:t>
            </a:r>
            <a:endParaRPr lang="en-US" altLang="zh-CN" dirty="0"/>
          </a:p>
          <a:p>
            <a:r>
              <a:rPr lang="zh-CN" altLang="en-US" dirty="0"/>
              <a:t>即使两个</a:t>
            </a:r>
            <a:r>
              <a:rPr lang="en-US" altLang="zh-CN" dirty="0"/>
              <a:t>32</a:t>
            </a:r>
            <a:r>
              <a:rPr lang="zh-CN" altLang="en-US" dirty="0"/>
              <a:t>位存储单元存储的位组合完全相同，但是一个解释为</a:t>
            </a:r>
            <a:r>
              <a:rPr lang="en-US" altLang="zh-CN" dirty="0"/>
              <a:t>float</a:t>
            </a:r>
            <a:r>
              <a:rPr lang="zh-CN" altLang="en-US" dirty="0"/>
              <a:t>类型，另一个解释为</a:t>
            </a:r>
            <a:r>
              <a:rPr lang="en-US" altLang="zh-CN" dirty="0"/>
              <a:t>long</a:t>
            </a:r>
            <a:r>
              <a:rPr lang="zh-CN" altLang="en-US" dirty="0"/>
              <a:t>类型，这两个相同的位组合表示的值也完全不同。例如，在</a:t>
            </a:r>
            <a:r>
              <a:rPr lang="en-US" altLang="zh-CN" dirty="0"/>
              <a:t>PC</a:t>
            </a:r>
            <a:r>
              <a:rPr lang="zh-CN" altLang="en-US" dirty="0"/>
              <a:t>中，假设一个位组合表示</a:t>
            </a:r>
            <a:r>
              <a:rPr lang="en-US" altLang="zh-CN" dirty="0"/>
              <a:t>float</a:t>
            </a:r>
            <a:r>
              <a:rPr lang="zh-CN" altLang="en-US" dirty="0"/>
              <a:t>类型的数</a:t>
            </a:r>
            <a:r>
              <a:rPr lang="en-US" altLang="zh-CN" dirty="0"/>
              <a:t>256.0</a:t>
            </a:r>
            <a:r>
              <a:rPr lang="zh-CN" altLang="en-US" dirty="0"/>
              <a:t>，如果将其解释为</a:t>
            </a:r>
            <a:r>
              <a:rPr lang="en-US" altLang="zh-CN" dirty="0"/>
              <a:t>long</a:t>
            </a:r>
            <a:r>
              <a:rPr lang="zh-CN" altLang="en-US" dirty="0"/>
              <a:t>类型，得到的值是</a:t>
            </a:r>
            <a:r>
              <a:rPr lang="en-US" altLang="zh-CN" dirty="0"/>
              <a:t>113246208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en-US" altLang="zh-CN" dirty="0"/>
              <a:t>C</a:t>
            </a:r>
            <a:r>
              <a:rPr lang="zh-CN" altLang="en-US" dirty="0"/>
              <a:t>语言允许编写混合数据类型的表达式，但是会进行自动类型转换，以便在实际运算时统一使用一种类型。</a:t>
            </a:r>
          </a:p>
        </p:txBody>
      </p:sp>
    </p:spTree>
    <p:extLst>
      <p:ext uri="{BB962C8B-B14F-4D97-AF65-F5344CB8AC3E}">
        <p14:creationId xmlns:p14="http://schemas.microsoft.com/office/powerpoint/2010/main" val="3354252427"/>
      </p:ext>
    </p:extLst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81A319-D59C-948E-290A-DAA759F8A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基本数据类型练习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4C53D13-A39D-57DA-25AB-ED20F999D7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544" y="1268760"/>
            <a:ext cx="8352928" cy="4611687"/>
          </a:xfrm>
        </p:spPr>
        <p:txBody>
          <a:bodyPr/>
          <a:lstStyle/>
          <a:p>
            <a:pPr algn="just"/>
            <a:r>
              <a:rPr lang="zh-CN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问题描述：</a:t>
            </a:r>
            <a:r>
              <a:rPr lang="zh-CN" altLang="zh-CN" sz="2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编写一程序，按照顺序分别输入某学生的性别、年龄和身高</a:t>
            </a:r>
            <a:r>
              <a:rPr lang="en-US" altLang="zh-CN" sz="2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zh-CN" sz="2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以米为单位</a:t>
            </a:r>
            <a:r>
              <a:rPr lang="en-US" altLang="zh-CN" sz="2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zh-CN" sz="2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，你的任务是将三者按照规定的格式输出。性别要用一个字符型</a:t>
            </a:r>
            <a:r>
              <a:rPr lang="en-US" altLang="zh-CN" sz="2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(char</a:t>
            </a:r>
            <a:r>
              <a:rPr lang="zh-CN" altLang="zh-CN" sz="2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型</a:t>
            </a:r>
            <a:r>
              <a:rPr lang="en-US" altLang="zh-CN" sz="2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zh-CN" sz="2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变量存储，年龄要用一个整型</a:t>
            </a:r>
            <a:r>
              <a:rPr lang="en-US" altLang="zh-CN" sz="2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(int </a:t>
            </a:r>
            <a:r>
              <a:rPr lang="zh-CN" altLang="zh-CN" sz="2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型</a:t>
            </a:r>
            <a:r>
              <a:rPr lang="en-US" altLang="zh-CN" sz="2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zh-CN" sz="2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变量存储，身高要用一个单精度浮点型</a:t>
            </a:r>
            <a:r>
              <a:rPr lang="en-US" altLang="zh-CN" sz="2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(float </a:t>
            </a:r>
            <a:r>
              <a:rPr lang="zh-CN" altLang="zh-CN" sz="2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型</a:t>
            </a:r>
            <a:r>
              <a:rPr lang="en-US" altLang="zh-CN" sz="2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zh-CN" sz="2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变量存储。输入时三者各占一行。</a:t>
            </a:r>
          </a:p>
          <a:p>
            <a:pPr algn="just"/>
            <a:r>
              <a:rPr lang="zh-CN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输入与输出要求：</a:t>
            </a:r>
            <a:r>
              <a:rPr lang="zh-CN" altLang="zh-CN" sz="2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首先输入的是一个字符</a:t>
            </a:r>
            <a:r>
              <a:rPr lang="en-US" altLang="zh-CN" sz="2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‘M’</a:t>
            </a:r>
            <a:r>
              <a:rPr lang="zh-CN" altLang="zh-CN" sz="2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或</a:t>
            </a:r>
            <a:r>
              <a:rPr lang="en-US" altLang="zh-CN" sz="2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‘F</a:t>
            </a:r>
            <a:r>
              <a:rPr lang="zh-CN" altLang="zh-CN" sz="2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’代表性别；然后输入的是一个整数，代表年龄；最后输入的是一个浮点数，代表身高。你要输出的语句形如：“</a:t>
            </a:r>
            <a:r>
              <a:rPr lang="en-US" altLang="zh-CN" sz="2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The sex is M, the age is 18, and the height is 1.660000.</a:t>
            </a:r>
            <a:r>
              <a:rPr lang="zh-CN" altLang="zh-CN" sz="2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”，这句话要占一行。</a:t>
            </a:r>
          </a:p>
          <a:p>
            <a:pPr algn="just"/>
            <a:r>
              <a:rPr lang="zh-CN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程序运行效果：</a:t>
            </a:r>
            <a:endParaRPr lang="zh-CN" altLang="zh-CN" sz="20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b="1" kern="100" spc="-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Sample 1:</a:t>
            </a:r>
            <a:endParaRPr lang="zh-CN" altLang="zh-CN" sz="20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en-US" altLang="zh-CN" sz="2000" kern="100" spc="-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Please input sex:</a:t>
            </a:r>
            <a:r>
              <a:rPr lang="en-US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M</a:t>
            </a:r>
            <a:r>
              <a:rPr lang="zh-CN" altLang="zh-CN" sz="20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↙</a:t>
            </a:r>
            <a:endParaRPr lang="zh-CN" altLang="zh-CN" sz="20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en-US" altLang="zh-CN" sz="2000" kern="100" spc="-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Please input age:</a:t>
            </a:r>
            <a:r>
              <a:rPr lang="en-US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18</a:t>
            </a:r>
            <a:r>
              <a:rPr lang="zh-CN" altLang="zh-CN" sz="20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↙</a:t>
            </a:r>
            <a:endParaRPr lang="zh-CN" altLang="zh-CN" sz="20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en-US" altLang="zh-CN" sz="2000" kern="100" spc="-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Please input </a:t>
            </a:r>
            <a:r>
              <a:rPr lang="en-US" altLang="zh-CN" sz="2000" kern="100" spc="-100" dirty="0" err="1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height:1.66</a:t>
            </a:r>
            <a:r>
              <a:rPr lang="en-US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zh-CN" sz="20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↙</a:t>
            </a:r>
            <a:endParaRPr lang="zh-CN" altLang="zh-CN" sz="20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en-US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The sex is M, the age is 18, and the height is 1.660000.</a:t>
            </a:r>
            <a:endParaRPr lang="zh-CN" altLang="zh-CN" sz="20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90624604"/>
      </p:ext>
    </p:extLst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灯片编号占位符 3"/>
          <p:cNvSpPr txBox="1">
            <a:spLocks noGrp="1"/>
          </p:cNvSpPr>
          <p:nvPr/>
        </p:nvSpPr>
        <p:spPr>
          <a:xfrm>
            <a:off x="6934200" y="63246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r">
              <a:spcBef>
                <a:spcPct val="50000"/>
              </a:spcBef>
            </a:pPr>
            <a:fld id="{9A0DB2DC-4C9A-4742-B13C-FB6460FD3503}" type="slidenum">
              <a:rPr lang="zh-CN" altLang="en-US" sz="1400" dirty="0">
                <a:latin typeface="Times New Roman" panose="02020603050405020304" pitchFamily="2" charset="0"/>
              </a:rPr>
              <a:t>41</a:t>
            </a:fld>
            <a:endParaRPr lang="zh-CN" altLang="en-US" sz="1400" dirty="0">
              <a:latin typeface="Times New Roman" panose="02020603050405020304" pitchFamily="2" charset="0"/>
            </a:endParaRPr>
          </a:p>
        </p:txBody>
      </p:sp>
      <p:sp>
        <p:nvSpPr>
          <p:cNvPr id="74754" name="灯片编号占位符 4"/>
          <p:cNvSpPr txBox="1">
            <a:spLocks noGrp="1"/>
          </p:cNvSpPr>
          <p:nvPr/>
        </p:nvSpPr>
        <p:spPr>
          <a:xfrm>
            <a:off x="6934200" y="63246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r">
              <a:spcBef>
                <a:spcPct val="50000"/>
              </a:spcBef>
            </a:pPr>
            <a:fld id="{9A0DB2DC-4C9A-4742-B13C-FB6460FD3503}" type="slidenum">
              <a:rPr lang="zh-CN" altLang="en-US" sz="1400" dirty="0">
                <a:latin typeface="Times New Roman" panose="02020603050405020304" pitchFamily="2" charset="0"/>
              </a:rPr>
              <a:t>41</a:t>
            </a:fld>
            <a:endParaRPr lang="zh-CN" altLang="en-US" sz="1400" dirty="0">
              <a:latin typeface="Times New Roman" panose="02020603050405020304" pitchFamily="2" charset="0"/>
            </a:endParaRPr>
          </a:p>
        </p:txBody>
      </p:sp>
      <p:graphicFrame>
        <p:nvGraphicFramePr>
          <p:cNvPr id="74755" name="Object 4"/>
          <p:cNvGraphicFramePr>
            <a:graphicFrameLocks noGrp="1" noChangeAspect="1"/>
          </p:cNvGraphicFramePr>
          <p:nvPr>
            <p:ph idx="4294967295"/>
          </p:nvPr>
        </p:nvGraphicFramePr>
        <p:xfrm>
          <a:off x="3635375" y="2420938"/>
          <a:ext cx="2232025" cy="2078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132205" imgH="1054100" progId="">
                  <p:embed/>
                </p:oleObj>
              </mc:Choice>
              <mc:Fallback>
                <p:oleObj r:id="rId2" imgW="1132205" imgH="1054100" progId="">
                  <p:embed/>
                  <p:pic>
                    <p:nvPicPr>
                      <p:cNvPr id="74755" name="Object 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635375" y="2420938"/>
                        <a:ext cx="2232025" cy="2078037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theme/theme1.xml><?xml version="1.0" encoding="utf-8"?>
<a:theme xmlns:a="http://schemas.openxmlformats.org/drawingml/2006/main" name="经分互动规范介绍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编程类讲义字体">
      <a:majorFont>
        <a:latin typeface="Consolas"/>
        <a:ea typeface="宋体"/>
        <a:cs typeface=""/>
      </a:majorFont>
      <a:minorFont>
        <a:latin typeface="Consolas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7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FF"/>
        </a:lt1>
        <a:dk2>
          <a:srgbClr val="FFFF00"/>
        </a:dk2>
        <a:lt2>
          <a:srgbClr val="0000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CDCDC"/>
        </a:accent4>
        <a:accent5>
          <a:srgbClr val="FFCAAA"/>
        </a:accent5>
        <a:accent6>
          <a:srgbClr val="00E5E5"/>
        </a:accent6>
        <a:hlink>
          <a:srgbClr val="FF0033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2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1E1E1"/>
        </a:accent5>
        <a:accent6>
          <a:srgbClr val="787878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9"/>
        </a:accent5>
        <a:accent6>
          <a:srgbClr val="0000E5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1E1E1"/>
        </a:accent5>
        <a:accent6>
          <a:srgbClr val="005BE5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9E5B7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1967</TotalTime>
  <Words>4620</Words>
  <Application>Microsoft Office PowerPoint</Application>
  <PresentationFormat>全屏显示(4:3)</PresentationFormat>
  <Paragraphs>632</Paragraphs>
  <Slides>41</Slides>
  <Notes>5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41</vt:i4>
      </vt:variant>
    </vt:vector>
  </HeadingPairs>
  <TitlesOfParts>
    <vt:vector size="56" baseType="lpstr">
      <vt:lpstr>Monotype Sorts</vt:lpstr>
      <vt:lpstr>仿宋</vt:lpstr>
      <vt:lpstr>黑体</vt:lpstr>
      <vt:lpstr>华文中宋</vt:lpstr>
      <vt:lpstr>楷体_GB2312</vt:lpstr>
      <vt:lpstr>隶书</vt:lpstr>
      <vt:lpstr>宋体</vt:lpstr>
      <vt:lpstr>微软雅黑</vt:lpstr>
      <vt:lpstr>Arial</vt:lpstr>
      <vt:lpstr>Cambria Math</vt:lpstr>
      <vt:lpstr>Consolas</vt:lpstr>
      <vt:lpstr>Times New Roman</vt:lpstr>
      <vt:lpstr>Wingdings</vt:lpstr>
      <vt:lpstr>经分互动规范介绍</vt:lpstr>
      <vt:lpstr>Clip</vt:lpstr>
      <vt:lpstr>PowerPoint 演示文稿</vt:lpstr>
      <vt:lpstr>计算机中的数据表示</vt:lpstr>
      <vt:lpstr>计算机存储单元：位、字节、字</vt:lpstr>
      <vt:lpstr>PowerPoint 演示文稿</vt:lpstr>
      <vt:lpstr>计算机中数据表示方法</vt:lpstr>
      <vt:lpstr>机器数的编码格式(1)</vt:lpstr>
      <vt:lpstr>机器数的编码格式(2)</vt:lpstr>
      <vt:lpstr>机器数的编码格式(3)-补码的由来</vt:lpstr>
      <vt:lpstr>机器数的编码格式(4)-补码的由来</vt:lpstr>
      <vt:lpstr>机器数的编码格式(5)-如何得到补码</vt:lpstr>
      <vt:lpstr>PowerPoint 演示文稿</vt:lpstr>
      <vt:lpstr>浮点数 </vt:lpstr>
      <vt:lpstr>计算机中的非数值数据</vt:lpstr>
      <vt:lpstr>PowerPoint 演示文稿</vt:lpstr>
      <vt:lpstr>  汉字信息的数字化</vt:lpstr>
      <vt:lpstr>数据类型</vt:lpstr>
      <vt:lpstr>数据类型Datatype</vt:lpstr>
      <vt:lpstr>整数除法</vt:lpstr>
      <vt:lpstr>常量constant</vt:lpstr>
      <vt:lpstr>文字常量练习</vt:lpstr>
      <vt:lpstr>命名常量：被保护的变量</vt:lpstr>
      <vt:lpstr>符号常量</vt:lpstr>
      <vt:lpstr>数据变量Variable</vt:lpstr>
      <vt:lpstr>变量声明</vt:lpstr>
      <vt:lpstr>初始化变量</vt:lpstr>
      <vt:lpstr>变量赋值</vt:lpstr>
      <vt:lpstr>C语言的整数类型关键字</vt:lpstr>
      <vt:lpstr>sizeof关键字</vt:lpstr>
      <vt:lpstr>整数溢出</vt:lpstr>
      <vt:lpstr>printf()数据类型不匹配的测试</vt:lpstr>
      <vt:lpstr>scanf输入函数</vt:lpstr>
      <vt:lpstr>C程序示例：字符的存储</vt:lpstr>
      <vt:lpstr>字符输入函数getchar()</vt:lpstr>
      <vt:lpstr>C语言的浮点数类型关键字</vt:lpstr>
      <vt:lpstr>PowerPoint 演示文稿</vt:lpstr>
      <vt:lpstr>PowerPoint 演示文稿</vt:lpstr>
      <vt:lpstr>精度：计算机中的小数是有限位的</vt:lpstr>
      <vt:lpstr>  十进制小数转换为二进制小数</vt:lpstr>
      <vt:lpstr>数据类型小结</vt:lpstr>
      <vt:lpstr>基本数据类型练习</vt:lpstr>
      <vt:lpstr>PowerPoint 演示文稿</vt:lpstr>
    </vt:vector>
  </TitlesOfParts>
  <Company>bupt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计算机导轮与程序设计</dc:title>
  <dc:creator>cyzhou</dc:creator>
  <cp:lastModifiedBy>zhang yanmei</cp:lastModifiedBy>
  <cp:revision>1051</cp:revision>
  <dcterms:created xsi:type="dcterms:W3CDTF">2001-07-15T23:49:00Z</dcterms:created>
  <dcterms:modified xsi:type="dcterms:W3CDTF">2023-09-13T07:57:33Z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2052-11.1.0.9098</vt:lpwstr>
  </property>
</Properties>
</file>