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1959" r:id="rId2"/>
    <p:sldId id="1960" r:id="rId3"/>
    <p:sldId id="1961" r:id="rId4"/>
    <p:sldId id="1962" r:id="rId5"/>
    <p:sldId id="1963" r:id="rId6"/>
    <p:sldId id="1964" r:id="rId7"/>
    <p:sldId id="1965" r:id="rId8"/>
    <p:sldId id="1969" r:id="rId9"/>
    <p:sldId id="388" r:id="rId10"/>
    <p:sldId id="349" r:id="rId11"/>
    <p:sldId id="405" r:id="rId12"/>
    <p:sldId id="452" r:id="rId13"/>
    <p:sldId id="1971" r:id="rId14"/>
    <p:sldId id="406" r:id="rId15"/>
    <p:sldId id="1970" r:id="rId16"/>
    <p:sldId id="354" r:id="rId17"/>
    <p:sldId id="443" r:id="rId18"/>
    <p:sldId id="1563" r:id="rId19"/>
    <p:sldId id="1555" r:id="rId20"/>
    <p:sldId id="1556" r:id="rId21"/>
    <p:sldId id="1557" r:id="rId22"/>
    <p:sldId id="1558" r:id="rId23"/>
    <p:sldId id="1559" r:id="rId24"/>
    <p:sldId id="1560" r:id="rId25"/>
    <p:sldId id="1561" r:id="rId26"/>
    <p:sldId id="1562" r:id="rId27"/>
    <p:sldId id="346" r:id="rId28"/>
    <p:sldId id="1980" r:id="rId29"/>
    <p:sldId id="325" r:id="rId30"/>
    <p:sldId id="474" r:id="rId31"/>
    <p:sldId id="326" r:id="rId32"/>
    <p:sldId id="327" r:id="rId33"/>
    <p:sldId id="1147" r:id="rId34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快速排序" id="{DA2D1ED5-7FC5-409D-80D5-134DAA6DBC47}">
          <p14:sldIdLst>
            <p14:sldId id="1959"/>
            <p14:sldId id="1960"/>
            <p14:sldId id="1961"/>
            <p14:sldId id="1962"/>
            <p14:sldId id="1963"/>
            <p14:sldId id="1964"/>
            <p14:sldId id="1965"/>
          </p14:sldIdLst>
        </p14:section>
        <p14:section name="归并排序" id="{DEE4FA89-8727-461C-9BB3-0C65F71F4ED6}">
          <p14:sldIdLst>
            <p14:sldId id="1969"/>
            <p14:sldId id="388"/>
            <p14:sldId id="349"/>
            <p14:sldId id="405"/>
            <p14:sldId id="452"/>
            <p14:sldId id="1971"/>
            <p14:sldId id="406"/>
            <p14:sldId id="1970"/>
            <p14:sldId id="354"/>
            <p14:sldId id="443"/>
          </p14:sldIdLst>
        </p14:section>
        <p14:section name="约瑟夫环" id="{7644C6D2-874E-467C-8729-7E11B5772BA3}">
          <p14:sldIdLst>
            <p14:sldId id="1563"/>
            <p14:sldId id="1555"/>
            <p14:sldId id="1556"/>
            <p14:sldId id="1557"/>
            <p14:sldId id="1558"/>
            <p14:sldId id="1559"/>
            <p14:sldId id="1560"/>
            <p14:sldId id="1561"/>
            <p14:sldId id="1562"/>
            <p14:sldId id="346"/>
            <p14:sldId id="1980"/>
            <p14:sldId id="325"/>
            <p14:sldId id="474"/>
            <p14:sldId id="326"/>
            <p14:sldId id="327"/>
          </p14:sldIdLst>
        </p14:section>
        <p14:section name="end" id="{95B223D5-089E-4A6B-86F4-67F59C1391AC}">
          <p14:sldIdLst>
            <p14:sldId id="11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83">
          <p15:clr>
            <a:srgbClr val="A4A3A4"/>
          </p15:clr>
        </p15:guide>
        <p15:guide id="2" pos="29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2">
          <p15:clr>
            <a:srgbClr val="A4A3A4"/>
          </p15:clr>
        </p15:guide>
        <p15:guide id="2" pos="22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FFFF"/>
    <a:srgbClr val="000099"/>
    <a:srgbClr val="003399"/>
    <a:srgbClr val="FFFF66"/>
    <a:srgbClr val="FF66CC"/>
    <a:srgbClr val="9900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744" autoAdjust="0"/>
    <p:restoredTop sz="93826" autoAdjust="0"/>
  </p:normalViewPr>
  <p:slideViewPr>
    <p:cSldViewPr>
      <p:cViewPr varScale="1">
        <p:scale>
          <a:sx n="67" d="100"/>
          <a:sy n="67" d="100"/>
        </p:scale>
        <p:origin x="604" y="52"/>
      </p:cViewPr>
      <p:guideLst>
        <p:guide orient="horz" pos="2283"/>
        <p:guide pos="29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598"/>
    </p:cViewPr>
  </p:sorterViewPr>
  <p:notesViewPr>
    <p:cSldViewPr>
      <p:cViewPr varScale="1">
        <p:scale>
          <a:sx n="62" d="100"/>
          <a:sy n="62" d="100"/>
        </p:scale>
        <p:origin x="-2436" y="-90"/>
      </p:cViewPr>
      <p:guideLst>
        <p:guide orient="horz" pos="2882"/>
        <p:guide pos="22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3A1D5920-E781-45E2-AC47-9045A780A24A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45D2F3F-009E-4C69-B954-65C8D576346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CD573-0D49-40E5-93E7-DC3FCED26C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CF81A-63DF-425F-8382-179C6EBDE7B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5B4C6-FA0B-43F5-9B36-C09E90DCCB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B816D3-0A73-4BB0-AF78-3AE6E035861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DCD31-C104-402E-B1B7-C115A793F4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71CB8-5422-4627-929F-D04EDEDC549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ED743-0921-459D-BB2C-FAFFDF8127E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76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buFontTx/>
              <a:buNone/>
              <a:defRPr sz="1400" b="1"/>
            </a:lvl1pPr>
          </a:lstStyle>
          <a:p>
            <a:pPr>
              <a:defRPr/>
            </a:pPr>
            <a:fld id="{528C3BB1-4401-40CC-883B-BDFB3B36ED38}" type="slidenum">
              <a:rPr lang="zh-CN" altLang="en-US"/>
              <a:t>‹#›</a:t>
            </a:fld>
            <a:endParaRPr lang="en-US" altLang="zh-CN"/>
          </a:p>
        </p:txBody>
      </p:sp>
      <p:grpSp>
        <p:nvGrpSpPr>
          <p:cNvPr id="1030" name="Group 7"/>
          <p:cNvGrpSpPr/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5" name="Line 9"/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" name="Line 10"/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Line 11"/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Line 12"/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Line 13"/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Line 14"/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Line 15"/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1" name="Line 16"/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32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</p:txBody>
      </p:sp>
      <p:pic>
        <p:nvPicPr>
          <p:cNvPr id="1033" name="Picture 18" descr="bupt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hf sldNum="0" hdr="0" ftr="0"/>
  <p:txStyles>
    <p:titleStyle>
      <a:lvl1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 txBox="1"/>
          <p:nvPr/>
        </p:nvSpPr>
        <p:spPr>
          <a:xfrm>
            <a:off x="1835696" y="500144"/>
            <a:ext cx="7010400" cy="685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快速排序（选学）</a:t>
            </a:r>
          </a:p>
        </p:txBody>
      </p:sp>
      <p:sp>
        <p:nvSpPr>
          <p:cNvPr id="25602" name="Rectangle 3" descr="Rectangle: Click to edit Master text styles&#10;Second level&#10;Third level&#10;Fourth level&#10;Fifth level"/>
          <p:cNvSpPr txBox="1"/>
          <p:nvPr/>
        </p:nvSpPr>
        <p:spPr>
          <a:xfrm>
            <a:off x="73025" y="1981200"/>
            <a:ext cx="8915400" cy="11017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基本思想：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、选择一个记录作为枢轴值，将记录分成</a:t>
            </a: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部分。</a:t>
            </a:r>
          </a:p>
        </p:txBody>
      </p:sp>
      <p:sp>
        <p:nvSpPr>
          <p:cNvPr id="25603" name="Rectangle 15"/>
          <p:cNvSpPr/>
          <p:nvPr/>
        </p:nvSpPr>
        <p:spPr>
          <a:xfrm>
            <a:off x="498475" y="5102225"/>
            <a:ext cx="8489950" cy="954088"/>
          </a:xfrm>
          <a:prstGeom prst="rect">
            <a:avLst/>
          </a:prstGeom>
          <a:noFill/>
          <a:ln w="50800">
            <a:noFill/>
          </a:ln>
        </p:spPr>
        <p:txBody>
          <a:bodyPr anchor="t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、分别对这两部分重复上述过程。直到区间内只有一个元素。</a:t>
            </a:r>
          </a:p>
        </p:txBody>
      </p:sp>
      <p:sp>
        <p:nvSpPr>
          <p:cNvPr id="25604" name="AutoShape 18"/>
          <p:cNvSpPr/>
          <p:nvPr/>
        </p:nvSpPr>
        <p:spPr>
          <a:xfrm>
            <a:off x="7299325" y="2971800"/>
            <a:ext cx="1871663" cy="792163"/>
          </a:xfrm>
          <a:prstGeom prst="cloudCallout">
            <a:avLst>
              <a:gd name="adj1" fmla="val -88653"/>
              <a:gd name="adj2" fmla="val 67968"/>
            </a:avLst>
          </a:prstGeom>
          <a:solidFill>
            <a:srgbClr val="FFFF00"/>
          </a:solidFill>
          <a:ln w="254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anchor="t"/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5605" name="Group 16"/>
          <p:cNvGrpSpPr/>
          <p:nvPr/>
        </p:nvGrpSpPr>
        <p:grpSpPr>
          <a:xfrm>
            <a:off x="930275" y="2941638"/>
            <a:ext cx="5761038" cy="1897062"/>
            <a:chOff x="1247" y="1752"/>
            <a:chExt cx="3629" cy="1195"/>
          </a:xfrm>
        </p:grpSpPr>
        <p:sp>
          <p:nvSpPr>
            <p:cNvPr id="25606" name="Text Box 5"/>
            <p:cNvSpPr txBox="1"/>
            <p:nvPr/>
          </p:nvSpPr>
          <p:spPr>
            <a:xfrm>
              <a:off x="1247" y="2195"/>
              <a:ext cx="3629" cy="288"/>
            </a:xfrm>
            <a:prstGeom prst="rect">
              <a:avLst/>
            </a:prstGeom>
            <a:noFill/>
            <a:ln w="50800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  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  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i-1 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]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 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i+1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i+2  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   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 </a:t>
              </a:r>
              <a:r>
                <a:rPr lang="en-US" altLang="zh-CN" sz="2400" b="1" dirty="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</a:p>
          </p:txBody>
        </p:sp>
        <p:sp>
          <p:nvSpPr>
            <p:cNvPr id="25607" name="Line 8"/>
            <p:cNvSpPr/>
            <p:nvPr/>
          </p:nvSpPr>
          <p:spPr>
            <a:xfrm>
              <a:off x="2916" y="2043"/>
              <a:ext cx="0" cy="253"/>
            </a:xfrm>
            <a:prstGeom prst="line">
              <a:avLst/>
            </a:prstGeom>
            <a:ln w="25400" cap="rnd" cmpd="sng">
              <a:solidFill>
                <a:srgbClr val="008000"/>
              </a:solidFill>
              <a:prstDash val="sysDot"/>
              <a:miter/>
              <a:headEnd type="none" w="sm" len="sm"/>
              <a:tailEnd type="stealth" w="med" len="lg"/>
            </a:ln>
          </p:spPr>
        </p:sp>
        <p:sp>
          <p:nvSpPr>
            <p:cNvPr id="25608" name="AutoShape 9"/>
            <p:cNvSpPr/>
            <p:nvPr/>
          </p:nvSpPr>
          <p:spPr>
            <a:xfrm rot="-5400000">
              <a:off x="1921" y="1968"/>
              <a:ext cx="194" cy="1270"/>
            </a:xfrm>
            <a:prstGeom prst="leftBrace">
              <a:avLst>
                <a:gd name="adj1" fmla="val 54462"/>
                <a:gd name="adj2" fmla="val 49019"/>
              </a:avLst>
            </a:prstGeom>
            <a:noFill/>
            <a:ln w="12700" cap="flat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9" name="AutoShape 10"/>
            <p:cNvSpPr/>
            <p:nvPr/>
          </p:nvSpPr>
          <p:spPr>
            <a:xfrm rot="-5400000">
              <a:off x="3830" y="1913"/>
              <a:ext cx="181" cy="1361"/>
            </a:xfrm>
            <a:prstGeom prst="leftBrace">
              <a:avLst>
                <a:gd name="adj1" fmla="val 62556"/>
                <a:gd name="adj2" fmla="val 49019"/>
              </a:avLst>
            </a:prstGeom>
            <a:noFill/>
            <a:ln w="12700" cap="flat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0" name="Text Box 11"/>
            <p:cNvSpPr txBox="1"/>
            <p:nvPr/>
          </p:nvSpPr>
          <p:spPr>
            <a:xfrm>
              <a:off x="1610" y="2659"/>
              <a:ext cx="998" cy="288"/>
            </a:xfrm>
            <a:prstGeom prst="rect">
              <a:avLst/>
            </a:prstGeom>
            <a:noFill/>
            <a:ln w="50800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全部</a:t>
              </a:r>
              <a:r>
                <a:rPr lang="en-US" altLang="zh-CN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&lt;=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 </a:t>
              </a:r>
            </a:p>
          </p:txBody>
        </p:sp>
        <p:sp>
          <p:nvSpPr>
            <p:cNvPr id="25611" name="Text Box 13"/>
            <p:cNvSpPr txBox="1"/>
            <p:nvPr/>
          </p:nvSpPr>
          <p:spPr>
            <a:xfrm>
              <a:off x="2653" y="1752"/>
              <a:ext cx="544" cy="288"/>
            </a:xfrm>
            <a:prstGeom prst="rect">
              <a:avLst/>
            </a:prstGeom>
            <a:noFill/>
            <a:ln w="50800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轴值</a:t>
              </a:r>
              <a:endPara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5612" name="Text Box 14"/>
            <p:cNvSpPr txBox="1"/>
            <p:nvPr/>
          </p:nvSpPr>
          <p:spPr>
            <a:xfrm>
              <a:off x="3379" y="2614"/>
              <a:ext cx="998" cy="288"/>
            </a:xfrm>
            <a:prstGeom prst="rect">
              <a:avLst/>
            </a:prstGeom>
            <a:noFill/>
            <a:ln w="50800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全部</a:t>
              </a:r>
              <a:r>
                <a:rPr lang="en-US" altLang="zh-CN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&gt;=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 </a:t>
              </a:r>
            </a:p>
          </p:txBody>
        </p:sp>
      </p:grpSp>
      <p:sp>
        <p:nvSpPr>
          <p:cNvPr id="25613" name="矩形 1"/>
          <p:cNvSpPr/>
          <p:nvPr/>
        </p:nvSpPr>
        <p:spPr>
          <a:xfrm>
            <a:off x="215900" y="1140460"/>
            <a:ext cx="8772525" cy="9540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能迅速地对乱序作大幅度调整，特别</a:t>
            </a:r>
            <a:r>
              <a:rPr lang="zh-CN" altLang="en-US" sz="2800" b="1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适用于</a:t>
            </a:r>
            <a:r>
              <a:rPr lang="zh-CN" altLang="zh-CN" sz="2800" b="1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杂乱无章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的数据集合的排序。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5" name="组合 5"/>
          <p:cNvGrpSpPr/>
          <p:nvPr/>
        </p:nvGrpSpPr>
        <p:grpSpPr>
          <a:xfrm>
            <a:off x="382588" y="0"/>
            <a:ext cx="8304212" cy="1757363"/>
            <a:chOff x="382588" y="0"/>
            <a:chExt cx="8304212" cy="1757363"/>
          </a:xfrm>
        </p:grpSpPr>
        <p:sp>
          <p:nvSpPr>
            <p:cNvPr id="26626" name="AutoShape 2" descr="白色大理石"/>
            <p:cNvSpPr/>
            <p:nvPr/>
          </p:nvSpPr>
          <p:spPr>
            <a:xfrm>
              <a:off x="990600" y="922338"/>
              <a:ext cx="7696200" cy="377825"/>
            </a:xfrm>
            <a:prstGeom prst="parallelogram">
              <a:avLst>
                <a:gd name="adj" fmla="val 294790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AutoShape 3"/>
            <p:cNvSpPr>
              <a:spLocks noChangeArrowheads="1"/>
            </p:cNvSpPr>
            <p:nvPr/>
          </p:nvSpPr>
          <p:spPr bwMode="auto">
            <a:xfrm>
              <a:off x="2057400" y="606425"/>
              <a:ext cx="533400" cy="631825"/>
            </a:xfrm>
            <a:prstGeom prst="can">
              <a:avLst>
                <a:gd name="adj" fmla="val 2961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AutoShape 4"/>
            <p:cNvSpPr>
              <a:spLocks noChangeArrowheads="1"/>
            </p:cNvSpPr>
            <p:nvPr/>
          </p:nvSpPr>
          <p:spPr bwMode="auto">
            <a:xfrm>
              <a:off x="3048000" y="544513"/>
              <a:ext cx="533400" cy="6937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AutoShape 5"/>
            <p:cNvSpPr>
              <a:spLocks noChangeArrowheads="1"/>
            </p:cNvSpPr>
            <p:nvPr/>
          </p:nvSpPr>
          <p:spPr bwMode="auto">
            <a:xfrm>
              <a:off x="4038600" y="292100"/>
              <a:ext cx="533400" cy="946150"/>
            </a:xfrm>
            <a:prstGeom prst="can">
              <a:avLst>
                <a:gd name="adj" fmla="val 4434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AutoShape 6"/>
            <p:cNvSpPr>
              <a:spLocks noChangeArrowheads="1"/>
            </p:cNvSpPr>
            <p:nvPr/>
          </p:nvSpPr>
          <p:spPr bwMode="auto">
            <a:xfrm>
              <a:off x="5029200" y="544513"/>
              <a:ext cx="533400" cy="6937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AutoShape 7"/>
            <p:cNvSpPr>
              <a:spLocks noChangeArrowheads="1"/>
            </p:cNvSpPr>
            <p:nvPr/>
          </p:nvSpPr>
          <p:spPr bwMode="auto">
            <a:xfrm>
              <a:off x="6019800" y="669925"/>
              <a:ext cx="533400" cy="568325"/>
            </a:xfrm>
            <a:prstGeom prst="can">
              <a:avLst>
                <a:gd name="adj" fmla="val 26637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AutoShape 8"/>
            <p:cNvSpPr>
              <a:spLocks noChangeArrowheads="1"/>
            </p:cNvSpPr>
            <p:nvPr/>
          </p:nvSpPr>
          <p:spPr bwMode="auto">
            <a:xfrm>
              <a:off x="7010400" y="922338"/>
              <a:ext cx="533400" cy="315912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3" name="Text Box 9"/>
            <p:cNvSpPr txBox="1"/>
            <p:nvPr/>
          </p:nvSpPr>
          <p:spPr>
            <a:xfrm>
              <a:off x="696568" y="1300163"/>
              <a:ext cx="704373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0                  1           2           3           4           5           6</a:t>
              </a:r>
            </a:p>
          </p:txBody>
        </p:sp>
        <p:sp>
          <p:nvSpPr>
            <p:cNvPr id="26634" name="Text Box 10"/>
            <p:cNvSpPr txBox="1"/>
            <p:nvPr/>
          </p:nvSpPr>
          <p:spPr>
            <a:xfrm>
              <a:off x="468313" y="0"/>
              <a:ext cx="80962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pivot</a:t>
              </a:r>
            </a:p>
          </p:txBody>
        </p:sp>
        <p:sp>
          <p:nvSpPr>
            <p:cNvPr id="26635" name="Line 20"/>
            <p:cNvSpPr/>
            <p:nvPr/>
          </p:nvSpPr>
          <p:spPr>
            <a:xfrm>
              <a:off x="7239000" y="152400"/>
              <a:ext cx="0" cy="762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36" name="Rectangle 21"/>
            <p:cNvSpPr/>
            <p:nvPr/>
          </p:nvSpPr>
          <p:spPr>
            <a:xfrm>
              <a:off x="6858000" y="0"/>
              <a:ext cx="762000" cy="381000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  <p:sp>
          <p:nvSpPr>
            <p:cNvPr id="26637" name="Line 22"/>
            <p:cNvSpPr/>
            <p:nvPr/>
          </p:nvSpPr>
          <p:spPr>
            <a:xfrm>
              <a:off x="2362200" y="228600"/>
              <a:ext cx="0" cy="381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38" name="Rectangle 23"/>
            <p:cNvSpPr/>
            <p:nvPr/>
          </p:nvSpPr>
          <p:spPr>
            <a:xfrm>
              <a:off x="2057400" y="0"/>
              <a:ext cx="762000" cy="381000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26639" name="AutoShape 53" descr="白色大理石"/>
            <p:cNvSpPr/>
            <p:nvPr/>
          </p:nvSpPr>
          <p:spPr>
            <a:xfrm>
              <a:off x="382588" y="935038"/>
              <a:ext cx="1066800" cy="381000"/>
            </a:xfrm>
            <a:prstGeom prst="parallelogram">
              <a:avLst>
                <a:gd name="adj" fmla="val 101668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AutoShape 54"/>
            <p:cNvSpPr>
              <a:spLocks noChangeArrowheads="1"/>
            </p:cNvSpPr>
            <p:nvPr/>
          </p:nvSpPr>
          <p:spPr bwMode="auto">
            <a:xfrm>
              <a:off x="611188" y="630238"/>
              <a:ext cx="533400" cy="631825"/>
            </a:xfrm>
            <a:prstGeom prst="can">
              <a:avLst>
                <a:gd name="adj" fmla="val 29613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81000" y="1639888"/>
            <a:ext cx="8001000" cy="990600"/>
            <a:chOff x="381000" y="1933575"/>
            <a:chExt cx="8001000" cy="990600"/>
          </a:xfrm>
        </p:grpSpPr>
        <p:grpSp>
          <p:nvGrpSpPr>
            <p:cNvPr id="26642" name="Group 11"/>
            <p:cNvGrpSpPr/>
            <p:nvPr/>
          </p:nvGrpSpPr>
          <p:grpSpPr>
            <a:xfrm>
              <a:off x="381000" y="1933575"/>
              <a:ext cx="8001000" cy="990600"/>
              <a:chOff x="240" y="2160"/>
              <a:chExt cx="5040" cy="624"/>
            </a:xfrm>
          </p:grpSpPr>
          <p:sp>
            <p:nvSpPr>
              <p:cNvPr id="26643" name="AutoShape 12" descr="白色大理石"/>
              <p:cNvSpPr/>
              <p:nvPr/>
            </p:nvSpPr>
            <p:spPr>
              <a:xfrm>
                <a:off x="624" y="2544"/>
                <a:ext cx="4656" cy="238"/>
              </a:xfrm>
              <a:prstGeom prst="parallelogram">
                <a:avLst>
                  <a:gd name="adj" fmla="val 283116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AutoShape 13"/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336" cy="437"/>
              </a:xfrm>
              <a:prstGeom prst="can">
                <a:avLst>
                  <a:gd name="adj" fmla="val 3251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59" name="AutoShape 14"/>
              <p:cNvSpPr>
                <a:spLocks noChangeArrowheads="1"/>
              </p:cNvSpPr>
              <p:nvPr/>
            </p:nvSpPr>
            <p:spPr bwMode="auto">
              <a:xfrm>
                <a:off x="1872" y="2304"/>
                <a:ext cx="336" cy="437"/>
              </a:xfrm>
              <a:prstGeom prst="can">
                <a:avLst>
                  <a:gd name="adj" fmla="val 3251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AutoShape 15"/>
              <p:cNvSpPr>
                <a:spLocks noChangeArrowheads="1"/>
              </p:cNvSpPr>
              <p:nvPr/>
            </p:nvSpPr>
            <p:spPr bwMode="auto">
              <a:xfrm>
                <a:off x="3840" y="2400"/>
                <a:ext cx="336" cy="358"/>
              </a:xfrm>
              <a:prstGeom prst="can">
                <a:avLst>
                  <a:gd name="adj" fmla="val 26637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AutoShape 16"/>
              <p:cNvSpPr>
                <a:spLocks noChangeArrowheads="1"/>
              </p:cNvSpPr>
              <p:nvPr/>
            </p:nvSpPr>
            <p:spPr bwMode="auto">
              <a:xfrm>
                <a:off x="2544" y="2160"/>
                <a:ext cx="336" cy="596"/>
              </a:xfrm>
              <a:prstGeom prst="can">
                <a:avLst>
                  <a:gd name="adj" fmla="val 4434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AutoShape 17"/>
              <p:cNvSpPr>
                <a:spLocks noChangeArrowheads="1"/>
              </p:cNvSpPr>
              <p:nvPr/>
            </p:nvSpPr>
            <p:spPr bwMode="auto">
              <a:xfrm>
                <a:off x="1296" y="2537"/>
                <a:ext cx="336" cy="199"/>
              </a:xfrm>
              <a:prstGeom prst="can">
                <a:avLst>
                  <a:gd name="adj" fmla="val 25000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49" name="AutoShape 18" descr="白色大理石"/>
              <p:cNvSpPr/>
              <p:nvPr/>
            </p:nvSpPr>
            <p:spPr>
              <a:xfrm>
                <a:off x="240" y="2544"/>
                <a:ext cx="816" cy="240"/>
              </a:xfrm>
              <a:prstGeom prst="parallelogram">
                <a:avLst>
                  <a:gd name="adj" fmla="val 187914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AutoShape 19"/>
              <p:cNvSpPr>
                <a:spLocks noChangeArrowheads="1"/>
              </p:cNvSpPr>
              <p:nvPr/>
            </p:nvSpPr>
            <p:spPr bwMode="auto">
              <a:xfrm>
                <a:off x="384" y="2352"/>
                <a:ext cx="336" cy="398"/>
              </a:xfrm>
              <a:prstGeom prst="can">
                <a:avLst>
                  <a:gd name="adj" fmla="val 29613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51" name="Line 20"/>
            <p:cNvSpPr/>
            <p:nvPr/>
          </p:nvSpPr>
          <p:spPr>
            <a:xfrm>
              <a:off x="7391400" y="2314575"/>
              <a:ext cx="0" cy="41751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52" name="Rectangle 21"/>
            <p:cNvSpPr/>
            <p:nvPr/>
          </p:nvSpPr>
          <p:spPr>
            <a:xfrm>
              <a:off x="6905625" y="2133548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  <p:sp>
          <p:nvSpPr>
            <p:cNvPr id="26653" name="Line 20"/>
            <p:cNvSpPr/>
            <p:nvPr/>
          </p:nvSpPr>
          <p:spPr>
            <a:xfrm flipH="1">
              <a:off x="2362199" y="2124075"/>
              <a:ext cx="2899" cy="38496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54" name="Rectangle 21"/>
            <p:cNvSpPr/>
            <p:nvPr/>
          </p:nvSpPr>
          <p:spPr>
            <a:xfrm>
              <a:off x="1843088" y="1933575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66713" y="2733675"/>
            <a:ext cx="8258175" cy="1143000"/>
            <a:chOff x="323850" y="2932113"/>
            <a:chExt cx="8258175" cy="1143000"/>
          </a:xfrm>
        </p:grpSpPr>
        <p:grpSp>
          <p:nvGrpSpPr>
            <p:cNvPr id="26656" name="Group 24"/>
            <p:cNvGrpSpPr/>
            <p:nvPr/>
          </p:nvGrpSpPr>
          <p:grpSpPr>
            <a:xfrm>
              <a:off x="323850" y="3068638"/>
              <a:ext cx="8258175" cy="1006475"/>
              <a:chOff x="222" y="2822"/>
              <a:chExt cx="5202" cy="634"/>
            </a:xfrm>
          </p:grpSpPr>
          <p:grpSp>
            <p:nvGrpSpPr>
              <p:cNvPr id="26657" name="Group 25"/>
              <p:cNvGrpSpPr/>
              <p:nvPr/>
            </p:nvGrpSpPr>
            <p:grpSpPr>
              <a:xfrm>
                <a:off x="768" y="2822"/>
                <a:ext cx="4656" cy="634"/>
                <a:chOff x="768" y="2822"/>
                <a:chExt cx="4656" cy="634"/>
              </a:xfrm>
            </p:grpSpPr>
            <p:sp>
              <p:nvSpPr>
                <p:cNvPr id="26658" name="AutoShape 26" descr="白色大理石"/>
                <p:cNvSpPr/>
                <p:nvPr/>
              </p:nvSpPr>
              <p:spPr>
                <a:xfrm>
                  <a:off x="768" y="3218"/>
                  <a:ext cx="4656" cy="238"/>
                </a:xfrm>
                <a:prstGeom prst="parallelogram">
                  <a:avLst>
                    <a:gd name="adj" fmla="val 283116"/>
                  </a:avLst>
                </a:prstGeom>
                <a:blipFill rotWithShape="0">
                  <a:blip r:embed="rId2"/>
                </a:blip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107763" dir="2699999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>
                    <a:buFont typeface="Arial" panose="020B0604020202020204" pitchFamily="34" charset="0"/>
                    <a:buNone/>
                  </a:pPr>
                  <a:endParaRPr lang="zh-CN" altLang="en-US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" name="AutoShape 27"/>
                <p:cNvSpPr>
                  <a:spLocks noChangeArrowheads="1"/>
                </p:cNvSpPr>
                <p:nvPr/>
              </p:nvSpPr>
              <p:spPr bwMode="auto">
                <a:xfrm>
                  <a:off x="3168" y="2966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25*</a:t>
                  </a:r>
                </a:p>
              </p:txBody>
            </p:sp>
            <p:sp>
              <p:nvSpPr>
                <p:cNvPr id="75" name="AutoShape 28"/>
                <p:cNvSpPr>
                  <a:spLocks noChangeArrowheads="1"/>
                </p:cNvSpPr>
                <p:nvPr/>
              </p:nvSpPr>
              <p:spPr bwMode="auto">
                <a:xfrm>
                  <a:off x="4512" y="2976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66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</a:t>
                  </a:r>
                </a:p>
              </p:txBody>
            </p:sp>
            <p:sp>
              <p:nvSpPr>
                <p:cNvPr id="76" name="AutoShape 29"/>
                <p:cNvSpPr>
                  <a:spLocks noChangeArrowheads="1"/>
                </p:cNvSpPr>
                <p:nvPr/>
              </p:nvSpPr>
              <p:spPr bwMode="auto">
                <a:xfrm>
                  <a:off x="3840" y="3062"/>
                  <a:ext cx="336" cy="358"/>
                </a:xfrm>
                <a:prstGeom prst="can">
                  <a:avLst>
                    <a:gd name="adj" fmla="val 26637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16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7" name="AutoShape 30"/>
                <p:cNvSpPr>
                  <a:spLocks noChangeArrowheads="1"/>
                </p:cNvSpPr>
                <p:nvPr/>
              </p:nvSpPr>
              <p:spPr bwMode="auto">
                <a:xfrm>
                  <a:off x="2544" y="2822"/>
                  <a:ext cx="336" cy="596"/>
                </a:xfrm>
                <a:prstGeom prst="can">
                  <a:avLst>
                    <a:gd name="adj" fmla="val 4434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8" name="AutoShape 31"/>
                <p:cNvSpPr>
                  <a:spLocks noChangeArrowheads="1"/>
                </p:cNvSpPr>
                <p:nvPr/>
              </p:nvSpPr>
              <p:spPr bwMode="auto">
                <a:xfrm>
                  <a:off x="1296" y="3168"/>
                  <a:ext cx="336" cy="199"/>
                </a:xfrm>
                <a:prstGeom prst="can">
                  <a:avLst>
                    <a:gd name="adj" fmla="val 25000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33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08</a:t>
                  </a:r>
                  <a:endPara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6664" name="AutoShape 32" descr="白色大理石"/>
              <p:cNvSpPr/>
              <p:nvPr/>
            </p:nvSpPr>
            <p:spPr>
              <a:xfrm>
                <a:off x="222" y="3201"/>
                <a:ext cx="816" cy="240"/>
              </a:xfrm>
              <a:prstGeom prst="parallelogram">
                <a:avLst>
                  <a:gd name="adj" fmla="val 187914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AutoShape 33"/>
              <p:cNvSpPr>
                <a:spLocks noChangeArrowheads="1"/>
              </p:cNvSpPr>
              <p:nvPr/>
            </p:nvSpPr>
            <p:spPr bwMode="auto">
              <a:xfrm>
                <a:off x="366" y="3009"/>
                <a:ext cx="336" cy="398"/>
              </a:xfrm>
              <a:prstGeom prst="can">
                <a:avLst>
                  <a:gd name="adj" fmla="val 29613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66" name="Line 20"/>
            <p:cNvSpPr/>
            <p:nvPr/>
          </p:nvSpPr>
          <p:spPr>
            <a:xfrm flipH="1">
              <a:off x="3359425" y="3477868"/>
              <a:ext cx="2899" cy="38496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67" name="Rectangle 21"/>
            <p:cNvSpPr/>
            <p:nvPr/>
          </p:nvSpPr>
          <p:spPr>
            <a:xfrm>
              <a:off x="2840314" y="3287368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26668" name="Line 20"/>
            <p:cNvSpPr/>
            <p:nvPr/>
          </p:nvSpPr>
          <p:spPr>
            <a:xfrm>
              <a:off x="6353175" y="3113140"/>
              <a:ext cx="0" cy="41751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69" name="Rectangle 21"/>
            <p:cNvSpPr/>
            <p:nvPr/>
          </p:nvSpPr>
          <p:spPr>
            <a:xfrm>
              <a:off x="5867400" y="2932113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95288" y="3933825"/>
            <a:ext cx="8229600" cy="1222375"/>
            <a:chOff x="395288" y="3933826"/>
            <a:chExt cx="8229600" cy="1222374"/>
          </a:xfrm>
        </p:grpSpPr>
        <p:grpSp>
          <p:nvGrpSpPr>
            <p:cNvPr id="26671" name="Group 34"/>
            <p:cNvGrpSpPr/>
            <p:nvPr/>
          </p:nvGrpSpPr>
          <p:grpSpPr>
            <a:xfrm>
              <a:off x="395288" y="4149725"/>
              <a:ext cx="8229600" cy="1006475"/>
              <a:chOff x="240" y="3494"/>
              <a:chExt cx="5184" cy="634"/>
            </a:xfrm>
          </p:grpSpPr>
          <p:grpSp>
            <p:nvGrpSpPr>
              <p:cNvPr id="26672" name="Group 35"/>
              <p:cNvGrpSpPr/>
              <p:nvPr/>
            </p:nvGrpSpPr>
            <p:grpSpPr>
              <a:xfrm>
                <a:off x="768" y="3494"/>
                <a:ext cx="4656" cy="634"/>
                <a:chOff x="768" y="3494"/>
                <a:chExt cx="4656" cy="634"/>
              </a:xfrm>
            </p:grpSpPr>
            <p:sp>
              <p:nvSpPr>
                <p:cNvPr id="26673" name="AutoShape 36" descr="白色大理石"/>
                <p:cNvSpPr/>
                <p:nvPr/>
              </p:nvSpPr>
              <p:spPr>
                <a:xfrm>
                  <a:off x="768" y="3890"/>
                  <a:ext cx="4656" cy="238"/>
                </a:xfrm>
                <a:prstGeom prst="parallelogram">
                  <a:avLst>
                    <a:gd name="adj" fmla="val 283116"/>
                  </a:avLst>
                </a:prstGeom>
                <a:blipFill rotWithShape="0">
                  <a:blip r:embed="rId2"/>
                </a:blip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107763" dir="2699999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>
                    <a:buFont typeface="Arial" panose="020B0604020202020204" pitchFamily="34" charset="0"/>
                    <a:buNone/>
                  </a:pPr>
                  <a:endParaRPr lang="zh-CN" altLang="en-US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" name="AutoShape 37"/>
                <p:cNvSpPr>
                  <a:spLocks noChangeArrowheads="1"/>
                </p:cNvSpPr>
                <p:nvPr/>
              </p:nvSpPr>
              <p:spPr bwMode="auto">
                <a:xfrm>
                  <a:off x="3168" y="3638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25*</a:t>
                  </a:r>
                </a:p>
              </p:txBody>
            </p:sp>
            <p:sp>
              <p:nvSpPr>
                <p:cNvPr id="85" name="AutoShape 38"/>
                <p:cNvSpPr>
                  <a:spLocks noChangeArrowheads="1"/>
                </p:cNvSpPr>
                <p:nvPr/>
              </p:nvSpPr>
              <p:spPr bwMode="auto">
                <a:xfrm>
                  <a:off x="4512" y="3648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66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</a:t>
                  </a:r>
                </a:p>
              </p:txBody>
            </p:sp>
            <p:sp>
              <p:nvSpPr>
                <p:cNvPr id="86" name="AutoShape 39"/>
                <p:cNvSpPr>
                  <a:spLocks noChangeArrowheads="1"/>
                </p:cNvSpPr>
                <p:nvPr/>
              </p:nvSpPr>
              <p:spPr bwMode="auto">
                <a:xfrm>
                  <a:off x="1920" y="3696"/>
                  <a:ext cx="336" cy="358"/>
                </a:xfrm>
                <a:prstGeom prst="can">
                  <a:avLst>
                    <a:gd name="adj" fmla="val 26637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66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87" name="AutoShape 40"/>
                <p:cNvSpPr>
                  <a:spLocks noChangeArrowheads="1"/>
                </p:cNvSpPr>
                <p:nvPr/>
              </p:nvSpPr>
              <p:spPr bwMode="auto">
                <a:xfrm>
                  <a:off x="2544" y="3494"/>
                  <a:ext cx="336" cy="596"/>
                </a:xfrm>
                <a:prstGeom prst="can">
                  <a:avLst>
                    <a:gd name="adj" fmla="val 4434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8" name="AutoShape 41"/>
                <p:cNvSpPr>
                  <a:spLocks noChangeArrowheads="1"/>
                </p:cNvSpPr>
                <p:nvPr/>
              </p:nvSpPr>
              <p:spPr bwMode="auto">
                <a:xfrm>
                  <a:off x="1296" y="3840"/>
                  <a:ext cx="336" cy="199"/>
                </a:xfrm>
                <a:prstGeom prst="can">
                  <a:avLst>
                    <a:gd name="adj" fmla="val 25000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08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6679" name="AutoShape 42" descr="白色大理石"/>
              <p:cNvSpPr/>
              <p:nvPr/>
            </p:nvSpPr>
            <p:spPr>
              <a:xfrm>
                <a:off x="240" y="3888"/>
                <a:ext cx="816" cy="240"/>
              </a:xfrm>
              <a:prstGeom prst="parallelogram">
                <a:avLst>
                  <a:gd name="adj" fmla="val 187914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" name="AutoShape 43"/>
              <p:cNvSpPr>
                <a:spLocks noChangeArrowheads="1"/>
              </p:cNvSpPr>
              <p:nvPr/>
            </p:nvSpPr>
            <p:spPr bwMode="auto">
              <a:xfrm>
                <a:off x="384" y="3696"/>
                <a:ext cx="336" cy="398"/>
              </a:xfrm>
              <a:prstGeom prst="can">
                <a:avLst>
                  <a:gd name="adj" fmla="val 29613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81" name="Line 20"/>
            <p:cNvSpPr/>
            <p:nvPr/>
          </p:nvSpPr>
          <p:spPr>
            <a:xfrm flipH="1">
              <a:off x="4297844" y="4035530"/>
              <a:ext cx="2899" cy="38496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82" name="Rectangle 21"/>
            <p:cNvSpPr/>
            <p:nvPr/>
          </p:nvSpPr>
          <p:spPr>
            <a:xfrm>
              <a:off x="3751192" y="3933826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26683" name="Line 20"/>
            <p:cNvSpPr/>
            <p:nvPr/>
          </p:nvSpPr>
          <p:spPr>
            <a:xfrm>
              <a:off x="6438900" y="4525221"/>
              <a:ext cx="0" cy="41751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84" name="Rectangle 21"/>
            <p:cNvSpPr/>
            <p:nvPr/>
          </p:nvSpPr>
          <p:spPr>
            <a:xfrm>
              <a:off x="5953125" y="4344194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8300" y="5065713"/>
            <a:ext cx="8229600" cy="1185862"/>
            <a:chOff x="395288" y="5081380"/>
            <a:chExt cx="8229600" cy="1186070"/>
          </a:xfrm>
        </p:grpSpPr>
        <p:grpSp>
          <p:nvGrpSpPr>
            <p:cNvPr id="26686" name="Group 44"/>
            <p:cNvGrpSpPr/>
            <p:nvPr/>
          </p:nvGrpSpPr>
          <p:grpSpPr>
            <a:xfrm>
              <a:off x="395288" y="5229225"/>
              <a:ext cx="8229600" cy="1038225"/>
              <a:chOff x="249" y="3294"/>
              <a:chExt cx="5184" cy="654"/>
            </a:xfrm>
          </p:grpSpPr>
          <p:sp>
            <p:nvSpPr>
              <p:cNvPr id="26687" name="AutoShape 45" descr="白色大理石"/>
              <p:cNvSpPr/>
              <p:nvPr/>
            </p:nvSpPr>
            <p:spPr>
              <a:xfrm>
                <a:off x="777" y="3710"/>
                <a:ext cx="4656" cy="238"/>
              </a:xfrm>
              <a:prstGeom prst="parallelogram">
                <a:avLst>
                  <a:gd name="adj" fmla="val 283116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AutoShape 46"/>
              <p:cNvSpPr>
                <a:spLocks noChangeArrowheads="1"/>
              </p:cNvSpPr>
              <p:nvPr/>
            </p:nvSpPr>
            <p:spPr bwMode="auto">
              <a:xfrm>
                <a:off x="3897" y="3294"/>
                <a:ext cx="336" cy="596"/>
              </a:xfrm>
              <a:prstGeom prst="can">
                <a:avLst>
                  <a:gd name="adj" fmla="val 4434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66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2" name="AutoShape 47"/>
              <p:cNvSpPr>
                <a:spLocks noChangeArrowheads="1"/>
              </p:cNvSpPr>
              <p:nvPr/>
            </p:nvSpPr>
            <p:spPr bwMode="auto">
              <a:xfrm>
                <a:off x="3177" y="3458"/>
                <a:ext cx="336" cy="437"/>
              </a:xfrm>
              <a:prstGeom prst="can">
                <a:avLst>
                  <a:gd name="adj" fmla="val 3251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93" name="AutoShape 48"/>
              <p:cNvSpPr>
                <a:spLocks noChangeArrowheads="1"/>
              </p:cNvSpPr>
              <p:nvPr/>
            </p:nvSpPr>
            <p:spPr bwMode="auto">
              <a:xfrm>
                <a:off x="4521" y="3468"/>
                <a:ext cx="336" cy="437"/>
              </a:xfrm>
              <a:prstGeom prst="can">
                <a:avLst>
                  <a:gd name="adj" fmla="val 3251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66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94" name="AutoShape 49"/>
              <p:cNvSpPr>
                <a:spLocks noChangeArrowheads="1"/>
              </p:cNvSpPr>
              <p:nvPr/>
            </p:nvSpPr>
            <p:spPr bwMode="auto">
              <a:xfrm>
                <a:off x="1929" y="3516"/>
                <a:ext cx="336" cy="358"/>
              </a:xfrm>
              <a:prstGeom prst="can">
                <a:avLst>
                  <a:gd name="adj" fmla="val 26637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66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95" name="AutoShape 50"/>
              <p:cNvSpPr>
                <a:spLocks noChangeArrowheads="1"/>
              </p:cNvSpPr>
              <p:nvPr/>
            </p:nvSpPr>
            <p:spPr bwMode="auto">
              <a:xfrm>
                <a:off x="1305" y="3660"/>
                <a:ext cx="336" cy="199"/>
              </a:xfrm>
              <a:prstGeom prst="can">
                <a:avLst>
                  <a:gd name="adj" fmla="val 25000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93" name="AutoShape 51" descr="白色大理石"/>
              <p:cNvSpPr/>
              <p:nvPr/>
            </p:nvSpPr>
            <p:spPr>
              <a:xfrm>
                <a:off x="249" y="3698"/>
                <a:ext cx="672" cy="240"/>
              </a:xfrm>
              <a:prstGeom prst="parallelogram">
                <a:avLst>
                  <a:gd name="adj" fmla="val 101668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AutoShape 52"/>
              <p:cNvSpPr>
                <a:spLocks noChangeArrowheads="1"/>
              </p:cNvSpPr>
              <p:nvPr/>
            </p:nvSpPr>
            <p:spPr bwMode="auto">
              <a:xfrm>
                <a:off x="393" y="3506"/>
                <a:ext cx="336" cy="398"/>
              </a:xfrm>
              <a:prstGeom prst="can">
                <a:avLst>
                  <a:gd name="adj" fmla="val 29613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95" name="Line 20"/>
            <p:cNvSpPr/>
            <p:nvPr/>
          </p:nvSpPr>
          <p:spPr>
            <a:xfrm flipH="1">
              <a:off x="4414836" y="5675312"/>
              <a:ext cx="2899" cy="38496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96" name="Rectangle 21"/>
            <p:cNvSpPr/>
            <p:nvPr/>
          </p:nvSpPr>
          <p:spPr>
            <a:xfrm>
              <a:off x="3895725" y="5484812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26697" name="Line 20"/>
            <p:cNvSpPr/>
            <p:nvPr/>
          </p:nvSpPr>
          <p:spPr>
            <a:xfrm>
              <a:off x="5286375" y="5262407"/>
              <a:ext cx="0" cy="41751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6698" name="Rectangle 21"/>
            <p:cNvSpPr/>
            <p:nvPr/>
          </p:nvSpPr>
          <p:spPr>
            <a:xfrm>
              <a:off x="4800600" y="5081380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</p:grpSp>
      <p:sp>
        <p:nvSpPr>
          <p:cNvPr id="26699" name="Line 20"/>
          <p:cNvSpPr/>
          <p:nvPr/>
        </p:nvSpPr>
        <p:spPr>
          <a:xfrm flipH="1">
            <a:off x="3263900" y="1585913"/>
            <a:ext cx="3175" cy="384175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6700" name="Rectangle 21"/>
          <p:cNvSpPr/>
          <p:nvPr/>
        </p:nvSpPr>
        <p:spPr>
          <a:xfrm>
            <a:off x="2743200" y="1466850"/>
            <a:ext cx="762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itchFamily="49" charset="-122"/>
              </a:rPr>
              <a:t>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3" descr="Rectangle: Click to edit Master text styles&#10;Second level&#10;Third level&#10;Fourth level&#10;Fifth level"/>
          <p:cNvSpPr txBox="1"/>
          <p:nvPr/>
        </p:nvSpPr>
        <p:spPr>
          <a:xfrm>
            <a:off x="-76200" y="1447800"/>
            <a:ext cx="9220200" cy="46196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算法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① 初始化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取第一个记录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r[low]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作为基准，保存在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〔0]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位置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右侧扫描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从后向前找到第一个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比基准小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的记录，移至位置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low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low++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③ 左侧扫描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从前到后找到第一个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比基准大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的记录，移至位置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high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high--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反复执行②③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，直到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low=high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结束，将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r[0]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移至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r[low]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85775" y="-104775"/>
            <a:ext cx="7162800" cy="1679575"/>
            <a:chOff x="485775" y="-104775"/>
            <a:chExt cx="7162800" cy="1679576"/>
          </a:xfrm>
        </p:grpSpPr>
        <p:grpSp>
          <p:nvGrpSpPr>
            <p:cNvPr id="27651" name="组合 1"/>
            <p:cNvGrpSpPr/>
            <p:nvPr/>
          </p:nvGrpSpPr>
          <p:grpSpPr>
            <a:xfrm>
              <a:off x="485775" y="-104775"/>
              <a:ext cx="7162800" cy="1217613"/>
              <a:chOff x="485775" y="-104671"/>
              <a:chExt cx="7162800" cy="1217509"/>
            </a:xfrm>
          </p:grpSpPr>
          <p:grpSp>
            <p:nvGrpSpPr>
              <p:cNvPr id="27652" name="Group 3"/>
              <p:cNvGrpSpPr/>
              <p:nvPr/>
            </p:nvGrpSpPr>
            <p:grpSpPr>
              <a:xfrm>
                <a:off x="485775" y="104775"/>
                <a:ext cx="7162800" cy="1008063"/>
                <a:chOff x="521" y="1162"/>
                <a:chExt cx="4512" cy="635"/>
              </a:xfrm>
            </p:grpSpPr>
            <p:sp>
              <p:nvSpPr>
                <p:cNvPr id="27653" name="AutoShape 4" descr="白色大理石"/>
                <p:cNvSpPr/>
                <p:nvPr/>
              </p:nvSpPr>
              <p:spPr>
                <a:xfrm>
                  <a:off x="521" y="1547"/>
                  <a:ext cx="1872" cy="238"/>
                </a:xfrm>
                <a:prstGeom prst="parallelogram">
                  <a:avLst>
                    <a:gd name="adj" fmla="val 113830"/>
                  </a:avLst>
                </a:prstGeom>
                <a:blipFill rotWithShape="0">
                  <a:blip r:embed="rId2"/>
                </a:blip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107763" dir="2699999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>
                    <a:buFont typeface="Arial" panose="020B0604020202020204" pitchFamily="34" charset="0"/>
                    <a:buNone/>
                  </a:pPr>
                  <a:endParaRPr lang="zh-CN" altLang="en-US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654" name="AutoShape 5" descr="白色大理石"/>
                <p:cNvSpPr/>
                <p:nvPr/>
              </p:nvSpPr>
              <p:spPr>
                <a:xfrm>
                  <a:off x="2681" y="1559"/>
                  <a:ext cx="2352" cy="238"/>
                </a:xfrm>
                <a:prstGeom prst="parallelogram">
                  <a:avLst>
                    <a:gd name="adj" fmla="val 143017"/>
                  </a:avLst>
                </a:prstGeom>
                <a:blipFill rotWithShape="0">
                  <a:blip r:embed="rId2"/>
                </a:blip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107763" dir="2699999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>
                    <a:buFont typeface="Arial" panose="020B0604020202020204" pitchFamily="34" charset="0"/>
                    <a:buNone/>
                  </a:pPr>
                  <a:endParaRPr lang="zh-CN" altLang="en-US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" name="AutoShape 6"/>
                <p:cNvSpPr>
                  <a:spLocks noChangeArrowheads="1"/>
                </p:cNvSpPr>
                <p:nvPr/>
              </p:nvSpPr>
              <p:spPr bwMode="auto">
                <a:xfrm>
                  <a:off x="2441" y="1360"/>
                  <a:ext cx="336" cy="398"/>
                </a:xfrm>
                <a:prstGeom prst="can">
                  <a:avLst>
                    <a:gd name="adj" fmla="val 29613"/>
                  </a:avLst>
                </a:prstGeom>
                <a:solidFill>
                  <a:srgbClr val="00B050"/>
                </a:soli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21</a:t>
                  </a:r>
                  <a:endPara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" name="AutoShape 7"/>
                <p:cNvSpPr>
                  <a:spLocks noChangeArrowheads="1"/>
                </p:cNvSpPr>
                <p:nvPr/>
              </p:nvSpPr>
              <p:spPr bwMode="auto">
                <a:xfrm>
                  <a:off x="3065" y="1321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25*</a:t>
                  </a:r>
                </a:p>
              </p:txBody>
            </p:sp>
            <p:sp>
              <p:nvSpPr>
                <p:cNvPr id="9" name="AutoShape 8"/>
                <p:cNvSpPr>
                  <a:spLocks noChangeArrowheads="1"/>
                </p:cNvSpPr>
                <p:nvPr/>
              </p:nvSpPr>
              <p:spPr bwMode="auto">
                <a:xfrm>
                  <a:off x="4286" y="1298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" name="AutoShape 9"/>
                <p:cNvSpPr>
                  <a:spLocks noChangeArrowheads="1"/>
                </p:cNvSpPr>
                <p:nvPr/>
              </p:nvSpPr>
              <p:spPr bwMode="auto">
                <a:xfrm>
                  <a:off x="1625" y="1400"/>
                  <a:ext cx="336" cy="358"/>
                </a:xfrm>
                <a:prstGeom prst="can">
                  <a:avLst>
                    <a:gd name="adj" fmla="val 26637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16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" name="AutoShape 10"/>
                <p:cNvSpPr>
                  <a:spLocks noChangeArrowheads="1"/>
                </p:cNvSpPr>
                <p:nvPr/>
              </p:nvSpPr>
              <p:spPr bwMode="auto">
                <a:xfrm>
                  <a:off x="3675" y="1162"/>
                  <a:ext cx="336" cy="596"/>
                </a:xfrm>
                <a:prstGeom prst="can">
                  <a:avLst>
                    <a:gd name="adj" fmla="val 4434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" name="AutoShape 11"/>
                <p:cNvSpPr>
                  <a:spLocks noChangeArrowheads="1"/>
                </p:cNvSpPr>
                <p:nvPr/>
              </p:nvSpPr>
              <p:spPr bwMode="auto">
                <a:xfrm>
                  <a:off x="1001" y="1559"/>
                  <a:ext cx="336" cy="199"/>
                </a:xfrm>
                <a:prstGeom prst="can">
                  <a:avLst>
                    <a:gd name="adj" fmla="val 25000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08</a:t>
                  </a:r>
                </a:p>
              </p:txBody>
            </p:sp>
          </p:grpSp>
          <p:sp>
            <p:nvSpPr>
              <p:cNvPr id="27661" name="Line 20"/>
              <p:cNvSpPr/>
              <p:nvPr/>
            </p:nvSpPr>
            <p:spPr>
              <a:xfrm>
                <a:off x="3628819" y="45452"/>
                <a:ext cx="0" cy="41751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27662" name="Rectangle 21"/>
              <p:cNvSpPr/>
              <p:nvPr/>
            </p:nvSpPr>
            <p:spPr>
              <a:xfrm>
                <a:off x="3159195" y="-60325"/>
                <a:ext cx="762000" cy="381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itchFamily="49" charset="-122"/>
                  </a:rPr>
                  <a:t>l</a:t>
                </a:r>
              </a:p>
            </p:txBody>
          </p:sp>
          <p:sp>
            <p:nvSpPr>
              <p:cNvPr id="27663" name="Line 20"/>
              <p:cNvSpPr/>
              <p:nvPr/>
            </p:nvSpPr>
            <p:spPr>
              <a:xfrm>
                <a:off x="3914775" y="43760"/>
                <a:ext cx="0" cy="41751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27664" name="Rectangle 21"/>
              <p:cNvSpPr/>
              <p:nvPr/>
            </p:nvSpPr>
            <p:spPr>
              <a:xfrm>
                <a:off x="3628819" y="-104671"/>
                <a:ext cx="762000" cy="381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itchFamily="49" charset="-122"/>
                  </a:rPr>
                  <a:t>h</a:t>
                </a:r>
              </a:p>
            </p:txBody>
          </p:sp>
        </p:grpSp>
        <p:sp>
          <p:nvSpPr>
            <p:cNvPr id="27665" name="Text Box 5"/>
            <p:cNvSpPr txBox="1"/>
            <p:nvPr/>
          </p:nvSpPr>
          <p:spPr>
            <a:xfrm>
              <a:off x="3327400" y="1112838"/>
              <a:ext cx="1174750" cy="4619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position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3" name="Group 3"/>
          <p:cNvGrpSpPr/>
          <p:nvPr/>
        </p:nvGrpSpPr>
        <p:grpSpPr>
          <a:xfrm>
            <a:off x="420688" y="1765300"/>
            <a:ext cx="7772400" cy="1128713"/>
            <a:chOff x="385" y="1257"/>
            <a:chExt cx="4896" cy="711"/>
          </a:xfrm>
        </p:grpSpPr>
        <p:sp>
          <p:nvSpPr>
            <p:cNvPr id="28674" name="AutoShape 4" descr="白色大理石"/>
            <p:cNvSpPr/>
            <p:nvPr/>
          </p:nvSpPr>
          <p:spPr>
            <a:xfrm>
              <a:off x="1057" y="1718"/>
              <a:ext cx="1536" cy="238"/>
            </a:xfrm>
            <a:prstGeom prst="parallelogram">
              <a:avLst>
                <a:gd name="adj" fmla="val 179479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75" name="Text Box 5"/>
            <p:cNvSpPr txBox="1"/>
            <p:nvPr/>
          </p:nvSpPr>
          <p:spPr>
            <a:xfrm>
              <a:off x="2597" y="1257"/>
              <a:ext cx="74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position</a:t>
              </a:r>
            </a:p>
          </p:txBody>
        </p:sp>
        <p:sp>
          <p:nvSpPr>
            <p:cNvPr id="28676" name="AutoShape 6" descr="白色大理石"/>
            <p:cNvSpPr/>
            <p:nvPr/>
          </p:nvSpPr>
          <p:spPr>
            <a:xfrm>
              <a:off x="2929" y="1730"/>
              <a:ext cx="2352" cy="238"/>
            </a:xfrm>
            <a:prstGeom prst="parallelogram">
              <a:avLst>
                <a:gd name="adj" fmla="val 143017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AutoShape 7"/>
            <p:cNvSpPr>
              <a:spLocks noChangeArrowheads="1"/>
            </p:cNvSpPr>
            <p:nvPr/>
          </p:nvSpPr>
          <p:spPr bwMode="auto">
            <a:xfrm>
              <a:off x="2689" y="1531"/>
              <a:ext cx="336" cy="398"/>
            </a:xfrm>
            <a:prstGeom prst="can">
              <a:avLst>
                <a:gd name="adj" fmla="val 29613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AutoShape 8"/>
            <p:cNvSpPr>
              <a:spLocks noChangeArrowheads="1"/>
            </p:cNvSpPr>
            <p:nvPr/>
          </p:nvSpPr>
          <p:spPr bwMode="auto">
            <a:xfrm>
              <a:off x="3313" y="1492"/>
              <a:ext cx="336" cy="4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AutoShape 9"/>
            <p:cNvSpPr>
              <a:spLocks noChangeArrowheads="1"/>
            </p:cNvSpPr>
            <p:nvPr/>
          </p:nvSpPr>
          <p:spPr bwMode="auto">
            <a:xfrm>
              <a:off x="4604" y="1480"/>
              <a:ext cx="336" cy="4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AutoShape 10"/>
            <p:cNvSpPr>
              <a:spLocks noChangeArrowheads="1"/>
            </p:cNvSpPr>
            <p:nvPr/>
          </p:nvSpPr>
          <p:spPr bwMode="auto">
            <a:xfrm>
              <a:off x="1873" y="1571"/>
              <a:ext cx="336" cy="358"/>
            </a:xfrm>
            <a:prstGeom prst="can">
              <a:avLst>
                <a:gd name="adj" fmla="val 26637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AutoShape 11"/>
            <p:cNvSpPr>
              <a:spLocks noChangeArrowheads="1"/>
            </p:cNvSpPr>
            <p:nvPr/>
          </p:nvSpPr>
          <p:spPr bwMode="auto">
            <a:xfrm>
              <a:off x="3939" y="1322"/>
              <a:ext cx="336" cy="596"/>
            </a:xfrm>
            <a:prstGeom prst="can">
              <a:avLst>
                <a:gd name="adj" fmla="val 4434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AutoShape 12"/>
            <p:cNvSpPr>
              <a:spLocks noChangeArrowheads="1"/>
            </p:cNvSpPr>
            <p:nvPr/>
          </p:nvSpPr>
          <p:spPr bwMode="auto">
            <a:xfrm>
              <a:off x="1249" y="1730"/>
              <a:ext cx="336" cy="199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3" name="Text Box 14"/>
            <p:cNvSpPr txBox="1"/>
            <p:nvPr/>
          </p:nvSpPr>
          <p:spPr>
            <a:xfrm>
              <a:off x="385" y="1622"/>
              <a:ext cx="72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隶书" pitchFamily="49" charset="-122"/>
                </a:rPr>
                <a:t>第一趟</a:t>
              </a:r>
            </a:p>
          </p:txBody>
        </p:sp>
      </p:grpSp>
      <p:grpSp>
        <p:nvGrpSpPr>
          <p:cNvPr id="2" name="Group 15"/>
          <p:cNvGrpSpPr/>
          <p:nvPr/>
        </p:nvGrpSpPr>
        <p:grpSpPr>
          <a:xfrm>
            <a:off x="420688" y="3270250"/>
            <a:ext cx="7848600" cy="1035050"/>
            <a:chOff x="385" y="2205"/>
            <a:chExt cx="4944" cy="652"/>
          </a:xfrm>
        </p:grpSpPr>
        <p:sp>
          <p:nvSpPr>
            <p:cNvPr id="28685" name="AutoShape 16" descr="白色大理石"/>
            <p:cNvSpPr/>
            <p:nvPr/>
          </p:nvSpPr>
          <p:spPr>
            <a:xfrm>
              <a:off x="1633" y="2619"/>
              <a:ext cx="912" cy="238"/>
            </a:xfrm>
            <a:prstGeom prst="parallelogram">
              <a:avLst>
                <a:gd name="adj" fmla="val 55455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AutoShape 17" descr="白色大理石"/>
            <p:cNvSpPr/>
            <p:nvPr/>
          </p:nvSpPr>
          <p:spPr>
            <a:xfrm>
              <a:off x="3601" y="2619"/>
              <a:ext cx="1728" cy="238"/>
            </a:xfrm>
            <a:prstGeom prst="parallelogram">
              <a:avLst>
                <a:gd name="adj" fmla="val 105074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AutoShape 18"/>
            <p:cNvSpPr>
              <a:spLocks noChangeArrowheads="1"/>
            </p:cNvSpPr>
            <p:nvPr/>
          </p:nvSpPr>
          <p:spPr bwMode="auto">
            <a:xfrm>
              <a:off x="3265" y="2380"/>
              <a:ext cx="336" cy="4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AutoShape 19"/>
            <p:cNvSpPr>
              <a:spLocks noChangeArrowheads="1"/>
            </p:cNvSpPr>
            <p:nvPr/>
          </p:nvSpPr>
          <p:spPr bwMode="auto">
            <a:xfrm>
              <a:off x="1921" y="2460"/>
              <a:ext cx="336" cy="357"/>
            </a:xfrm>
            <a:prstGeom prst="can">
              <a:avLst>
                <a:gd name="adj" fmla="val 2656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AutoShape 20"/>
            <p:cNvSpPr>
              <a:spLocks noChangeArrowheads="1"/>
            </p:cNvSpPr>
            <p:nvPr/>
          </p:nvSpPr>
          <p:spPr bwMode="auto">
            <a:xfrm>
              <a:off x="1297" y="2619"/>
              <a:ext cx="336" cy="198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AutoShape 21"/>
            <p:cNvSpPr>
              <a:spLocks noChangeArrowheads="1"/>
            </p:cNvSpPr>
            <p:nvPr/>
          </p:nvSpPr>
          <p:spPr bwMode="auto">
            <a:xfrm>
              <a:off x="4649" y="2341"/>
              <a:ext cx="336" cy="4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AutoShape 22"/>
            <p:cNvSpPr>
              <a:spLocks noChangeArrowheads="1"/>
            </p:cNvSpPr>
            <p:nvPr/>
          </p:nvSpPr>
          <p:spPr bwMode="auto">
            <a:xfrm>
              <a:off x="4014" y="2205"/>
              <a:ext cx="336" cy="596"/>
            </a:xfrm>
            <a:prstGeom prst="can">
              <a:avLst>
                <a:gd name="adj" fmla="val 4434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AutoShape 23"/>
            <p:cNvSpPr>
              <a:spLocks noChangeArrowheads="1"/>
            </p:cNvSpPr>
            <p:nvPr/>
          </p:nvSpPr>
          <p:spPr bwMode="auto">
            <a:xfrm>
              <a:off x="2689" y="2420"/>
              <a:ext cx="336" cy="397"/>
            </a:xfrm>
            <a:prstGeom prst="can">
              <a:avLst>
                <a:gd name="adj" fmla="val 29539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3" name="Text Box 25"/>
            <p:cNvSpPr txBox="1"/>
            <p:nvPr/>
          </p:nvSpPr>
          <p:spPr>
            <a:xfrm>
              <a:off x="385" y="2478"/>
              <a:ext cx="72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隶书" pitchFamily="49" charset="-122"/>
                </a:rPr>
                <a:t>第二趟</a:t>
              </a:r>
            </a:p>
          </p:txBody>
        </p:sp>
      </p:grpSp>
      <p:grpSp>
        <p:nvGrpSpPr>
          <p:cNvPr id="38" name="Group 26"/>
          <p:cNvGrpSpPr/>
          <p:nvPr/>
        </p:nvGrpSpPr>
        <p:grpSpPr>
          <a:xfrm>
            <a:off x="420688" y="4567238"/>
            <a:ext cx="7696200" cy="995362"/>
            <a:chOff x="240" y="2928"/>
            <a:chExt cx="4848" cy="627"/>
          </a:xfrm>
        </p:grpSpPr>
        <p:sp>
          <p:nvSpPr>
            <p:cNvPr id="28695" name="AutoShape 27" descr="白色大理石"/>
            <p:cNvSpPr/>
            <p:nvPr/>
          </p:nvSpPr>
          <p:spPr>
            <a:xfrm>
              <a:off x="4080" y="3318"/>
              <a:ext cx="1008" cy="234"/>
            </a:xfrm>
            <a:prstGeom prst="parallelogram">
              <a:avLst>
                <a:gd name="adj" fmla="val 62340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AutoShape 28"/>
            <p:cNvSpPr>
              <a:spLocks noChangeArrowheads="1"/>
            </p:cNvSpPr>
            <p:nvPr/>
          </p:nvSpPr>
          <p:spPr bwMode="auto">
            <a:xfrm>
              <a:off x="4416" y="2928"/>
              <a:ext cx="336" cy="585"/>
            </a:xfrm>
            <a:prstGeom prst="can">
              <a:avLst>
                <a:gd name="adj" fmla="val 43527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AutoShape 29"/>
            <p:cNvSpPr>
              <a:spLocks noChangeArrowheads="1"/>
            </p:cNvSpPr>
            <p:nvPr/>
          </p:nvSpPr>
          <p:spPr bwMode="auto">
            <a:xfrm>
              <a:off x="1104" y="3318"/>
              <a:ext cx="336" cy="19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AutoShape 30"/>
            <p:cNvSpPr>
              <a:spLocks noChangeArrowheads="1"/>
            </p:cNvSpPr>
            <p:nvPr/>
          </p:nvSpPr>
          <p:spPr bwMode="auto">
            <a:xfrm>
              <a:off x="1728" y="3162"/>
              <a:ext cx="336" cy="351"/>
            </a:xfrm>
            <a:prstGeom prst="can">
              <a:avLst>
                <a:gd name="adj" fmla="val 2611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AutoShape 31"/>
            <p:cNvSpPr>
              <a:spLocks noChangeArrowheads="1"/>
            </p:cNvSpPr>
            <p:nvPr/>
          </p:nvSpPr>
          <p:spPr bwMode="auto">
            <a:xfrm>
              <a:off x="3648" y="3084"/>
              <a:ext cx="336" cy="429"/>
            </a:xfrm>
            <a:prstGeom prst="can">
              <a:avLst>
                <a:gd name="adj" fmla="val 3192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AutoShape 32"/>
            <p:cNvSpPr>
              <a:spLocks noChangeArrowheads="1"/>
            </p:cNvSpPr>
            <p:nvPr/>
          </p:nvSpPr>
          <p:spPr bwMode="auto">
            <a:xfrm>
              <a:off x="3024" y="3084"/>
              <a:ext cx="336" cy="429"/>
            </a:xfrm>
            <a:prstGeom prst="can">
              <a:avLst>
                <a:gd name="adj" fmla="val 3192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AutoShape 33"/>
            <p:cNvSpPr>
              <a:spLocks noChangeArrowheads="1"/>
            </p:cNvSpPr>
            <p:nvPr/>
          </p:nvSpPr>
          <p:spPr bwMode="auto">
            <a:xfrm>
              <a:off x="2400" y="3123"/>
              <a:ext cx="336" cy="390"/>
            </a:xfrm>
            <a:prstGeom prst="can">
              <a:avLst>
                <a:gd name="adj" fmla="val 29018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2" name="Text Box 34"/>
            <p:cNvSpPr txBox="1"/>
            <p:nvPr/>
          </p:nvSpPr>
          <p:spPr>
            <a:xfrm>
              <a:off x="240" y="3264"/>
              <a:ext cx="72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隶书" pitchFamily="49" charset="-122"/>
                </a:rPr>
                <a:t>第三趟</a:t>
              </a:r>
            </a:p>
          </p:txBody>
        </p:sp>
      </p:grpSp>
      <p:grpSp>
        <p:nvGrpSpPr>
          <p:cNvPr id="28703" name="组合 38"/>
          <p:cNvGrpSpPr/>
          <p:nvPr/>
        </p:nvGrpSpPr>
        <p:grpSpPr>
          <a:xfrm>
            <a:off x="382588" y="0"/>
            <a:ext cx="8304212" cy="1757363"/>
            <a:chOff x="382588" y="0"/>
            <a:chExt cx="8304212" cy="1757363"/>
          </a:xfrm>
        </p:grpSpPr>
        <p:sp>
          <p:nvSpPr>
            <p:cNvPr id="28704" name="AutoShape 2" descr="白色大理石"/>
            <p:cNvSpPr/>
            <p:nvPr/>
          </p:nvSpPr>
          <p:spPr>
            <a:xfrm>
              <a:off x="990600" y="922338"/>
              <a:ext cx="7696200" cy="377825"/>
            </a:xfrm>
            <a:prstGeom prst="parallelogram">
              <a:avLst>
                <a:gd name="adj" fmla="val 294790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AutoShape 3"/>
            <p:cNvSpPr>
              <a:spLocks noChangeArrowheads="1"/>
            </p:cNvSpPr>
            <p:nvPr/>
          </p:nvSpPr>
          <p:spPr bwMode="auto">
            <a:xfrm>
              <a:off x="2057400" y="606425"/>
              <a:ext cx="533400" cy="631825"/>
            </a:xfrm>
            <a:prstGeom prst="can">
              <a:avLst>
                <a:gd name="adj" fmla="val 2961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AutoShape 4"/>
            <p:cNvSpPr>
              <a:spLocks noChangeArrowheads="1"/>
            </p:cNvSpPr>
            <p:nvPr/>
          </p:nvSpPr>
          <p:spPr bwMode="auto">
            <a:xfrm>
              <a:off x="3048000" y="544513"/>
              <a:ext cx="533400" cy="6937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AutoShape 5"/>
            <p:cNvSpPr>
              <a:spLocks noChangeArrowheads="1"/>
            </p:cNvSpPr>
            <p:nvPr/>
          </p:nvSpPr>
          <p:spPr bwMode="auto">
            <a:xfrm>
              <a:off x="4038600" y="292100"/>
              <a:ext cx="533400" cy="946150"/>
            </a:xfrm>
            <a:prstGeom prst="can">
              <a:avLst>
                <a:gd name="adj" fmla="val 4434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AutoShape 6"/>
            <p:cNvSpPr>
              <a:spLocks noChangeArrowheads="1"/>
            </p:cNvSpPr>
            <p:nvPr/>
          </p:nvSpPr>
          <p:spPr bwMode="auto">
            <a:xfrm>
              <a:off x="5029200" y="544513"/>
              <a:ext cx="533400" cy="6937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AutoShape 7"/>
            <p:cNvSpPr>
              <a:spLocks noChangeArrowheads="1"/>
            </p:cNvSpPr>
            <p:nvPr/>
          </p:nvSpPr>
          <p:spPr bwMode="auto">
            <a:xfrm>
              <a:off x="6019800" y="669925"/>
              <a:ext cx="533400" cy="568325"/>
            </a:xfrm>
            <a:prstGeom prst="can">
              <a:avLst>
                <a:gd name="adj" fmla="val 26637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AutoShape 8"/>
            <p:cNvSpPr>
              <a:spLocks noChangeArrowheads="1"/>
            </p:cNvSpPr>
            <p:nvPr/>
          </p:nvSpPr>
          <p:spPr bwMode="auto">
            <a:xfrm>
              <a:off x="7010400" y="922338"/>
              <a:ext cx="533400" cy="315912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1" name="Text Box 9"/>
            <p:cNvSpPr txBox="1"/>
            <p:nvPr/>
          </p:nvSpPr>
          <p:spPr>
            <a:xfrm>
              <a:off x="696568" y="1300163"/>
              <a:ext cx="704373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0                  1           2           3           4           5           6</a:t>
              </a:r>
            </a:p>
          </p:txBody>
        </p:sp>
        <p:sp>
          <p:nvSpPr>
            <p:cNvPr id="28712" name="Text Box 10"/>
            <p:cNvSpPr txBox="1"/>
            <p:nvPr/>
          </p:nvSpPr>
          <p:spPr>
            <a:xfrm>
              <a:off x="468313" y="0"/>
              <a:ext cx="80962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pivot</a:t>
              </a:r>
            </a:p>
          </p:txBody>
        </p:sp>
        <p:sp>
          <p:nvSpPr>
            <p:cNvPr id="28713" name="Line 20"/>
            <p:cNvSpPr/>
            <p:nvPr/>
          </p:nvSpPr>
          <p:spPr>
            <a:xfrm>
              <a:off x="7239000" y="152400"/>
              <a:ext cx="0" cy="762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8714" name="Rectangle 21"/>
            <p:cNvSpPr/>
            <p:nvPr/>
          </p:nvSpPr>
          <p:spPr>
            <a:xfrm>
              <a:off x="6858000" y="0"/>
              <a:ext cx="762000" cy="381000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itchFamily="49" charset="-122"/>
                </a:rPr>
                <a:t>j</a:t>
              </a:r>
            </a:p>
          </p:txBody>
        </p:sp>
        <p:sp>
          <p:nvSpPr>
            <p:cNvPr id="28715" name="Line 22"/>
            <p:cNvSpPr/>
            <p:nvPr/>
          </p:nvSpPr>
          <p:spPr>
            <a:xfrm>
              <a:off x="2362200" y="228600"/>
              <a:ext cx="0" cy="381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28716" name="Rectangle 23"/>
            <p:cNvSpPr/>
            <p:nvPr/>
          </p:nvSpPr>
          <p:spPr>
            <a:xfrm>
              <a:off x="2057400" y="0"/>
              <a:ext cx="762000" cy="381000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itchFamily="49" charset="-122"/>
                </a:rPr>
                <a:t>i</a:t>
              </a:r>
            </a:p>
          </p:txBody>
        </p:sp>
        <p:sp>
          <p:nvSpPr>
            <p:cNvPr id="28717" name="AutoShape 53" descr="白色大理石"/>
            <p:cNvSpPr/>
            <p:nvPr/>
          </p:nvSpPr>
          <p:spPr>
            <a:xfrm>
              <a:off x="382588" y="935038"/>
              <a:ext cx="1066800" cy="381000"/>
            </a:xfrm>
            <a:prstGeom prst="parallelogram">
              <a:avLst>
                <a:gd name="adj" fmla="val 101668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AutoShape 54"/>
            <p:cNvSpPr>
              <a:spLocks noChangeArrowheads="1"/>
            </p:cNvSpPr>
            <p:nvPr/>
          </p:nvSpPr>
          <p:spPr bwMode="auto">
            <a:xfrm>
              <a:off x="611188" y="630238"/>
              <a:ext cx="533400" cy="631825"/>
            </a:xfrm>
            <a:prstGeom prst="can">
              <a:avLst>
                <a:gd name="adj" fmla="val 29613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 txBox="1">
            <a:spLocks noGrp="1"/>
          </p:cNvSpPr>
          <p:nvPr>
            <p:ph type="dt" sz="half" idx="10"/>
          </p:nvPr>
        </p:nvSpPr>
        <p:spPr bwMode="gray">
          <a:xfrm>
            <a:off x="457200" y="6356350"/>
            <a:ext cx="2133600" cy="365125"/>
          </a:xfrm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BUPT</a:t>
            </a: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altLang="en-US" b="1" dirty="0"/>
              <a:t>快速排序的递归算法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void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quick_sort (int a[], </a:t>
            </a: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int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low, </a:t>
            </a: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int 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high)</a:t>
            </a: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</a:t>
            </a:r>
            <a:endParaRPr lang="en-US" altLang="zh-CN" sz="2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{  int pivotloc;</a:t>
            </a: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if 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( low &lt; high ) 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{   pivotloc = partition(a, low, high ) ;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    quick_sort (a, low, pivotloc-1) ; 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    quick_sort (a, pivotloc+1, high ) ;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 }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}  //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递归的快速排序算法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 txBox="1">
            <a:spLocks noGrp="1"/>
          </p:cNvSpPr>
          <p:nvPr>
            <p:ph type="dt" sz="half" idx="10"/>
          </p:nvPr>
        </p:nvSpPr>
        <p:spPr bwMode="gray">
          <a:xfrm>
            <a:off x="457200" y="6356350"/>
            <a:ext cx="2133600" cy="365125"/>
          </a:xfrm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BUPT</a:t>
            </a: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altLang="en-US" b="1" dirty="0"/>
              <a:t>快速排序的核心算法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8620" y="1210945"/>
            <a:ext cx="8654415" cy="5415280"/>
          </a:xfrm>
        </p:spPr>
        <p:txBody>
          <a:bodyPr/>
          <a:lstStyle/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int partition (int a[], int low, int  high)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{ int pivotkey = a[low];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while  (low &lt; high ){ </a:t>
            </a: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   while (low&lt;high &amp;&amp; a[high] &gt;=pivotkey)  high--;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   a[low] =a[high];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   while (low&lt;high &amp;&amp; a[low]&lt;=pivotkey )  low++;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   a[high] = a[low];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a[low]=pivotkey; </a:t>
            </a: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return low;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}  // Partition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" descr="Rectangle: Click to edit Master text styles&#10;Second level&#10;Third level&#10;Fourth level&#10;Fifth level"/>
          <p:cNvSpPr txBox="1"/>
          <p:nvPr/>
        </p:nvSpPr>
        <p:spPr>
          <a:xfrm>
            <a:off x="200660" y="1153795"/>
            <a:ext cx="8783638" cy="6318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最好情况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2770" name="Group 4"/>
          <p:cNvGrpSpPr/>
          <p:nvPr/>
        </p:nvGrpSpPr>
        <p:grpSpPr>
          <a:xfrm>
            <a:off x="5222875" y="2014538"/>
            <a:ext cx="4086225" cy="1916112"/>
            <a:chOff x="1640" y="2931"/>
            <a:chExt cx="2574" cy="1269"/>
          </a:xfrm>
        </p:grpSpPr>
        <p:sp>
          <p:nvSpPr>
            <p:cNvPr id="32771" name="Line 5"/>
            <p:cNvSpPr/>
            <p:nvPr/>
          </p:nvSpPr>
          <p:spPr>
            <a:xfrm>
              <a:off x="3056" y="3121"/>
              <a:ext cx="643" cy="38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2" name="Line 6"/>
            <p:cNvSpPr/>
            <p:nvPr/>
          </p:nvSpPr>
          <p:spPr>
            <a:xfrm flipH="1">
              <a:off x="2219" y="3121"/>
              <a:ext cx="644" cy="38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3" name="Line 7"/>
            <p:cNvSpPr/>
            <p:nvPr/>
          </p:nvSpPr>
          <p:spPr>
            <a:xfrm>
              <a:off x="3764" y="3629"/>
              <a:ext cx="257" cy="317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4" name="Line 8"/>
            <p:cNvSpPr/>
            <p:nvPr/>
          </p:nvSpPr>
          <p:spPr>
            <a:xfrm flipH="1">
              <a:off x="3378" y="3565"/>
              <a:ext cx="321" cy="38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5" name="Line 9"/>
            <p:cNvSpPr/>
            <p:nvPr/>
          </p:nvSpPr>
          <p:spPr>
            <a:xfrm>
              <a:off x="2219" y="3565"/>
              <a:ext cx="258" cy="38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6" name="Line 10"/>
            <p:cNvSpPr/>
            <p:nvPr/>
          </p:nvSpPr>
          <p:spPr>
            <a:xfrm flipH="1">
              <a:off x="1769" y="3629"/>
              <a:ext cx="322" cy="38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7" name="Oval 11"/>
            <p:cNvSpPr/>
            <p:nvPr/>
          </p:nvSpPr>
          <p:spPr>
            <a:xfrm>
              <a:off x="1640" y="3882"/>
              <a:ext cx="322" cy="31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n/4</a:t>
              </a:r>
            </a:p>
          </p:txBody>
        </p:sp>
        <p:sp>
          <p:nvSpPr>
            <p:cNvPr id="32778" name="Oval 12"/>
            <p:cNvSpPr/>
            <p:nvPr/>
          </p:nvSpPr>
          <p:spPr>
            <a:xfrm>
              <a:off x="2348" y="3882"/>
              <a:ext cx="322" cy="31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n/4</a:t>
              </a:r>
            </a:p>
          </p:txBody>
        </p:sp>
        <p:sp>
          <p:nvSpPr>
            <p:cNvPr id="32779" name="Oval 13"/>
            <p:cNvSpPr/>
            <p:nvPr/>
          </p:nvSpPr>
          <p:spPr>
            <a:xfrm>
              <a:off x="3185" y="3882"/>
              <a:ext cx="321" cy="31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n/4</a:t>
              </a:r>
            </a:p>
          </p:txBody>
        </p:sp>
        <p:sp>
          <p:nvSpPr>
            <p:cNvPr id="32780" name="Oval 14"/>
            <p:cNvSpPr/>
            <p:nvPr/>
          </p:nvSpPr>
          <p:spPr>
            <a:xfrm>
              <a:off x="3892" y="3882"/>
              <a:ext cx="322" cy="31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n/4</a:t>
              </a:r>
            </a:p>
          </p:txBody>
        </p:sp>
        <p:sp>
          <p:nvSpPr>
            <p:cNvPr id="32781" name="Oval 15"/>
            <p:cNvSpPr/>
            <p:nvPr/>
          </p:nvSpPr>
          <p:spPr>
            <a:xfrm>
              <a:off x="2026" y="3375"/>
              <a:ext cx="322" cy="317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n/2</a:t>
              </a:r>
            </a:p>
          </p:txBody>
        </p:sp>
        <p:sp>
          <p:nvSpPr>
            <p:cNvPr id="32782" name="Oval 16"/>
            <p:cNvSpPr/>
            <p:nvPr/>
          </p:nvSpPr>
          <p:spPr>
            <a:xfrm>
              <a:off x="3571" y="3375"/>
              <a:ext cx="321" cy="317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n/2</a:t>
              </a:r>
            </a:p>
          </p:txBody>
        </p:sp>
        <p:sp>
          <p:nvSpPr>
            <p:cNvPr id="32783" name="Oval 17"/>
            <p:cNvSpPr/>
            <p:nvPr/>
          </p:nvSpPr>
          <p:spPr>
            <a:xfrm>
              <a:off x="2789" y="2931"/>
              <a:ext cx="322" cy="317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</a:t>
              </a:r>
            </a:p>
          </p:txBody>
        </p:sp>
      </p:grpSp>
      <p:sp>
        <p:nvSpPr>
          <p:cNvPr id="32784" name="Rectangle 18"/>
          <p:cNvSpPr/>
          <p:nvPr/>
        </p:nvSpPr>
        <p:spPr>
          <a:xfrm>
            <a:off x="200660" y="1547178"/>
            <a:ext cx="8597900" cy="946150"/>
          </a:xfrm>
          <a:prstGeom prst="rect">
            <a:avLst/>
          </a:prstGeom>
          <a:noFill/>
          <a:ln w="50800">
            <a:noFill/>
          </a:ln>
        </p:spPr>
        <p:txBody>
          <a:bodyPr anchor="t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每次划分的左侧序列和右侧序列的长度相同。表长为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的序列可划分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log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层。</a:t>
            </a:r>
          </a:p>
        </p:txBody>
      </p:sp>
      <p:sp>
        <p:nvSpPr>
          <p:cNvPr id="32785" name="Rectangle 20"/>
          <p:cNvSpPr/>
          <p:nvPr/>
        </p:nvSpPr>
        <p:spPr>
          <a:xfrm>
            <a:off x="96838" y="2615565"/>
            <a:ext cx="5330825" cy="1384300"/>
          </a:xfrm>
          <a:prstGeom prst="rect">
            <a:avLst/>
          </a:prstGeom>
          <a:noFill/>
          <a:ln w="50800">
            <a:noFill/>
          </a:ln>
        </p:spPr>
        <p:txBody>
          <a:bodyPr anchor="t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定位一个记录要对整个待划分序列扫描一遍，所需时间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O(n)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总的时间复杂度：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O(nlog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32786" name="矩形 22"/>
          <p:cNvSpPr/>
          <p:nvPr/>
        </p:nvSpPr>
        <p:spPr>
          <a:xfrm>
            <a:off x="4759960" y="446405"/>
            <a:ext cx="3855720" cy="5892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0" indent="0" defTabSz="0">
              <a:buFont typeface="Wingdings" panose="05000000000000000000" pitchFamily="2" charset="2"/>
              <a:buNone/>
              <a:tabLst>
                <a:tab pos="200025" algn="l"/>
              </a:tabLst>
            </a:pP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快速排序算法评价</a:t>
            </a:r>
          </a:p>
        </p:txBody>
      </p:sp>
      <p:sp>
        <p:nvSpPr>
          <p:cNvPr id="32787" name="矩形 23"/>
          <p:cNvSpPr/>
          <p:nvPr/>
        </p:nvSpPr>
        <p:spPr>
          <a:xfrm>
            <a:off x="325438" y="3924300"/>
            <a:ext cx="20891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最坏情况</a:t>
            </a:r>
          </a:p>
        </p:txBody>
      </p:sp>
      <p:sp>
        <p:nvSpPr>
          <p:cNvPr id="32788" name="Text Box 8"/>
          <p:cNvSpPr txBox="1"/>
          <p:nvPr/>
        </p:nvSpPr>
        <p:spPr>
          <a:xfrm>
            <a:off x="152400" y="4460875"/>
            <a:ext cx="8901113" cy="11699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楷体_GB2312" pitchFamily="49" charset="-122"/>
              </a:rPr>
              <a:t>若待排记录的初始状态有序（正、逆）时，快速排序将蜕化为起泡排序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其时间复杂度为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O(n</a:t>
            </a:r>
            <a:r>
              <a:rPr lang="en-US" altLang="zh-CN" sz="2800" b="1" baseline="3000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</p:txBody>
      </p:sp>
      <p:sp>
        <p:nvSpPr>
          <p:cNvPr id="32789" name="Rectangle 9"/>
          <p:cNvSpPr/>
          <p:nvPr/>
        </p:nvSpPr>
        <p:spPr>
          <a:xfrm>
            <a:off x="152400" y="5791200"/>
            <a:ext cx="8901430" cy="8655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空间复杂度：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递归深度。最好O(log</a:t>
            </a:r>
            <a:r>
              <a:rPr lang="zh-CN" altLang="en-US" sz="2800" b="1" baseline="-25000" dirty="0">
                <a:solidFill>
                  <a:schemeClr val="tx1"/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n)，最坏情况 O(n)。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07D0EBE2-0229-409F-A3A6-DFD607ADC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403225"/>
            <a:ext cx="367240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归并排序（选学）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31950312-F569-4B57-A4C2-B6C59B12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34" y="1292225"/>
            <a:ext cx="88392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FF3300"/>
                </a:solidFill>
                <a:latin typeface="+mn-ea"/>
                <a:ea typeface="+mn-ea"/>
              </a:rPr>
              <a:t>归并：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是指将若干个已排好序的部分合并成一个有序的部分。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归并分类：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        </a:t>
            </a:r>
            <a:r>
              <a:rPr lang="zh-CN" altLang="en-US" sz="2800" b="1" dirty="0">
                <a:solidFill>
                  <a:srgbClr val="FF3300"/>
                </a:solidFill>
                <a:latin typeface="+mn-ea"/>
                <a:ea typeface="+mn-ea"/>
              </a:rPr>
              <a:t>二路归并、三路归并、多路归并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归并排序的实现有两种方法：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         </a:t>
            </a:r>
            <a:r>
              <a:rPr lang="zh-CN" altLang="en-US" sz="2800" b="1" dirty="0">
                <a:solidFill>
                  <a:srgbClr val="FF3300"/>
                </a:solidFill>
                <a:latin typeface="+mn-ea"/>
                <a:ea typeface="+mn-ea"/>
              </a:rPr>
              <a:t>非递归方法和递归方法。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en-US" altLang="zh-CN" sz="2800" b="1" dirty="0">
              <a:latin typeface="+mn-ea"/>
              <a:ea typeface="+mn-ea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335BB8-FA46-42CA-8686-39C5FB7D47F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2C417471-51F3-409A-A3AA-76B7D48A82D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112963"/>
            <a:ext cx="5943600" cy="554037"/>
            <a:chOff x="816" y="1152"/>
            <a:chExt cx="3744" cy="349"/>
          </a:xfrm>
        </p:grpSpPr>
        <p:sp>
          <p:nvSpPr>
            <p:cNvPr id="43010" name="AutoShape 6">
              <a:extLst>
                <a:ext uri="{FF2B5EF4-FFF2-40B4-BE49-F238E27FC236}">
                  <a16:creationId xmlns:a16="http://schemas.microsoft.com/office/drawing/2014/main" id="{7A0D9C1E-D30C-460E-97AC-A4333D68D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165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60</a:t>
              </a:r>
            </a:p>
          </p:txBody>
        </p:sp>
        <p:sp>
          <p:nvSpPr>
            <p:cNvPr id="43011" name="AutoShape 7">
              <a:extLst>
                <a:ext uri="{FF2B5EF4-FFF2-40B4-BE49-F238E27FC236}">
                  <a16:creationId xmlns:a16="http://schemas.microsoft.com/office/drawing/2014/main" id="{FEC2CFAC-8E1F-4558-90A6-0B780CADD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165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43012" name="AutoShape 8">
              <a:extLst>
                <a:ext uri="{FF2B5EF4-FFF2-40B4-BE49-F238E27FC236}">
                  <a16:creationId xmlns:a16="http://schemas.microsoft.com/office/drawing/2014/main" id="{5908C8EC-7A56-4683-B995-005D2267D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165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31</a:t>
              </a:r>
            </a:p>
          </p:txBody>
        </p:sp>
        <p:sp>
          <p:nvSpPr>
            <p:cNvPr id="43013" name="AutoShape 9">
              <a:extLst>
                <a:ext uri="{FF2B5EF4-FFF2-40B4-BE49-F238E27FC236}">
                  <a16:creationId xmlns:a16="http://schemas.microsoft.com/office/drawing/2014/main" id="{447B2E8E-DB07-476A-BDB5-AAE887F28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" y="1152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3014" name="AutoShape 10">
              <a:extLst>
                <a:ext uri="{FF2B5EF4-FFF2-40B4-BE49-F238E27FC236}">
                  <a16:creationId xmlns:a16="http://schemas.microsoft.com/office/drawing/2014/main" id="{7DBBFEB6-EC57-4BCB-BF2D-DC1DC611A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152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43015" name="AutoShape 11">
              <a:extLst>
                <a:ext uri="{FF2B5EF4-FFF2-40B4-BE49-F238E27FC236}">
                  <a16:creationId xmlns:a16="http://schemas.microsoft.com/office/drawing/2014/main" id="{FE063D24-320D-4E0B-8F7F-16B0E8AFA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1152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55</a:t>
              </a:r>
            </a:p>
          </p:txBody>
        </p:sp>
        <p:sp>
          <p:nvSpPr>
            <p:cNvPr id="43016" name="AutoShape 12">
              <a:extLst>
                <a:ext uri="{FF2B5EF4-FFF2-40B4-BE49-F238E27FC236}">
                  <a16:creationId xmlns:a16="http://schemas.microsoft.com/office/drawing/2014/main" id="{F4036CB1-C2C9-43D3-B288-4B2C3ED17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152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65</a:t>
              </a:r>
            </a:p>
          </p:txBody>
        </p:sp>
      </p:grpSp>
      <p:grpSp>
        <p:nvGrpSpPr>
          <p:cNvPr id="12" name="Group 13">
            <a:extLst>
              <a:ext uri="{FF2B5EF4-FFF2-40B4-BE49-F238E27FC236}">
                <a16:creationId xmlns:a16="http://schemas.microsoft.com/office/drawing/2014/main" id="{BCBF06BE-B12A-404D-91F6-0EB18A83DD1D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667000"/>
            <a:ext cx="1219200" cy="990600"/>
            <a:chOff x="816" y="1501"/>
            <a:chExt cx="768" cy="624"/>
          </a:xfrm>
        </p:grpSpPr>
        <p:sp>
          <p:nvSpPr>
            <p:cNvPr id="43018" name="Line 14">
              <a:extLst>
                <a:ext uri="{FF2B5EF4-FFF2-40B4-BE49-F238E27FC236}">
                  <a16:creationId xmlns:a16="http://schemas.microsoft.com/office/drawing/2014/main" id="{D2D4AFF3-ED00-4DA9-9154-1D363D316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01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9" name="Line 15">
              <a:extLst>
                <a:ext uri="{FF2B5EF4-FFF2-40B4-BE49-F238E27FC236}">
                  <a16:creationId xmlns:a16="http://schemas.microsoft.com/office/drawing/2014/main" id="{D8E20A3E-3EC2-46D9-A518-C106D6DB8F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501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0" name="AutoShape 16">
              <a:extLst>
                <a:ext uri="{FF2B5EF4-FFF2-40B4-BE49-F238E27FC236}">
                  <a16:creationId xmlns:a16="http://schemas.microsoft.com/office/drawing/2014/main" id="{1C329B09-730B-4186-9AF2-37B744C2C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789"/>
              <a:ext cx="768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20  60</a:t>
              </a:r>
            </a:p>
          </p:txBody>
        </p:sp>
      </p:grpSp>
      <p:grpSp>
        <p:nvGrpSpPr>
          <p:cNvPr id="16" name="Group 17">
            <a:extLst>
              <a:ext uri="{FF2B5EF4-FFF2-40B4-BE49-F238E27FC236}">
                <a16:creationId xmlns:a16="http://schemas.microsoft.com/office/drawing/2014/main" id="{F1B9905A-ABA7-48F8-9DB6-23746F4A83AC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667000"/>
            <a:ext cx="1219200" cy="990600"/>
            <a:chOff x="2016" y="1501"/>
            <a:chExt cx="768" cy="624"/>
          </a:xfrm>
        </p:grpSpPr>
        <p:sp>
          <p:nvSpPr>
            <p:cNvPr id="43022" name="Line 18">
              <a:extLst>
                <a:ext uri="{FF2B5EF4-FFF2-40B4-BE49-F238E27FC236}">
                  <a16:creationId xmlns:a16="http://schemas.microsoft.com/office/drawing/2014/main" id="{7F5B746C-704C-46EC-97E1-905E49F04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501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9">
              <a:extLst>
                <a:ext uri="{FF2B5EF4-FFF2-40B4-BE49-F238E27FC236}">
                  <a16:creationId xmlns:a16="http://schemas.microsoft.com/office/drawing/2014/main" id="{2DFCB7D3-C08E-4293-A60E-2F514C42A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1501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AutoShape 20">
              <a:extLst>
                <a:ext uri="{FF2B5EF4-FFF2-40B4-BE49-F238E27FC236}">
                  <a16:creationId xmlns:a16="http://schemas.microsoft.com/office/drawing/2014/main" id="{7B45F0AC-F896-420D-8534-4F6C6BE56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789"/>
              <a:ext cx="768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5   31</a:t>
              </a:r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B7075E4C-530A-45E4-BE9A-939B37C56183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660650"/>
            <a:ext cx="1219200" cy="990600"/>
            <a:chOff x="3168" y="1497"/>
            <a:chExt cx="768" cy="624"/>
          </a:xfrm>
        </p:grpSpPr>
        <p:sp>
          <p:nvSpPr>
            <p:cNvPr id="43026" name="Line 22">
              <a:extLst>
                <a:ext uri="{FF2B5EF4-FFF2-40B4-BE49-F238E27FC236}">
                  <a16:creationId xmlns:a16="http://schemas.microsoft.com/office/drawing/2014/main" id="{42E07347-8007-40F0-9AFF-C6CB0ECCC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97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7" name="Line 23">
              <a:extLst>
                <a:ext uri="{FF2B5EF4-FFF2-40B4-BE49-F238E27FC236}">
                  <a16:creationId xmlns:a16="http://schemas.microsoft.com/office/drawing/2014/main" id="{C43F4B21-6F3A-4C7B-99F9-50CC3A2EB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1497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8" name="AutoShape 24">
              <a:extLst>
                <a:ext uri="{FF2B5EF4-FFF2-40B4-BE49-F238E27FC236}">
                  <a16:creationId xmlns:a16="http://schemas.microsoft.com/office/drawing/2014/main" id="{ED858EF6-9708-4850-A24B-FBC4E3B8A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785"/>
              <a:ext cx="768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44   55</a:t>
              </a:r>
            </a:p>
          </p:txBody>
        </p:sp>
      </p:grpSp>
      <p:grpSp>
        <p:nvGrpSpPr>
          <p:cNvPr id="24" name="Group 25">
            <a:extLst>
              <a:ext uri="{FF2B5EF4-FFF2-40B4-BE49-F238E27FC236}">
                <a16:creationId xmlns:a16="http://schemas.microsoft.com/office/drawing/2014/main" id="{FB20E0F2-759C-4C93-B375-7EE297A201C6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2667000"/>
            <a:ext cx="533400" cy="990600"/>
            <a:chOff x="4176" y="1501"/>
            <a:chExt cx="336" cy="624"/>
          </a:xfrm>
        </p:grpSpPr>
        <p:sp>
          <p:nvSpPr>
            <p:cNvPr id="43030" name="Line 26">
              <a:extLst>
                <a:ext uri="{FF2B5EF4-FFF2-40B4-BE49-F238E27FC236}">
                  <a16:creationId xmlns:a16="http://schemas.microsoft.com/office/drawing/2014/main" id="{88F73333-77DE-44C6-A6C5-8A06A23FD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501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1" name="AutoShape 27">
              <a:extLst>
                <a:ext uri="{FF2B5EF4-FFF2-40B4-BE49-F238E27FC236}">
                  <a16:creationId xmlns:a16="http://schemas.microsoft.com/office/drawing/2014/main" id="{078D5476-AC85-46DD-BDD7-BD0CFD436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789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65</a:t>
              </a:r>
            </a:p>
          </p:txBody>
        </p:sp>
      </p:grpSp>
      <p:grpSp>
        <p:nvGrpSpPr>
          <p:cNvPr id="27" name="Group 28">
            <a:extLst>
              <a:ext uri="{FF2B5EF4-FFF2-40B4-BE49-F238E27FC236}">
                <a16:creationId xmlns:a16="http://schemas.microsoft.com/office/drawing/2014/main" id="{1D035148-4509-433B-8BC0-111ACE77AD5F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657600"/>
            <a:ext cx="2286000" cy="1371600"/>
            <a:chOff x="1056" y="2125"/>
            <a:chExt cx="1440" cy="864"/>
          </a:xfrm>
        </p:grpSpPr>
        <p:sp>
          <p:nvSpPr>
            <p:cNvPr id="43033" name="Line 29">
              <a:extLst>
                <a:ext uri="{FF2B5EF4-FFF2-40B4-BE49-F238E27FC236}">
                  <a16:creationId xmlns:a16="http://schemas.microsoft.com/office/drawing/2014/main" id="{07005BA9-D8BB-448F-B091-5804D35C6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25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4" name="Line 30">
              <a:extLst>
                <a:ext uri="{FF2B5EF4-FFF2-40B4-BE49-F238E27FC236}">
                  <a16:creationId xmlns:a16="http://schemas.microsoft.com/office/drawing/2014/main" id="{8FA7F102-359E-4A70-9D2F-E5C301A5AB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125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5" name="AutoShape 31">
              <a:extLst>
                <a:ext uri="{FF2B5EF4-FFF2-40B4-BE49-F238E27FC236}">
                  <a16:creationId xmlns:a16="http://schemas.microsoft.com/office/drawing/2014/main" id="{CCF024AA-8FFA-4CF4-918A-D528F4DF9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653"/>
              <a:ext cx="1440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5  20  31  60</a:t>
              </a:r>
            </a:p>
          </p:txBody>
        </p:sp>
      </p:grpSp>
      <p:grpSp>
        <p:nvGrpSpPr>
          <p:cNvPr id="31" name="Group 32">
            <a:extLst>
              <a:ext uri="{FF2B5EF4-FFF2-40B4-BE49-F238E27FC236}">
                <a16:creationId xmlns:a16="http://schemas.microsoft.com/office/drawing/2014/main" id="{98D5CB7E-84F3-43FC-8ED4-95B4011097A7}"/>
              </a:ext>
            </a:extLst>
          </p:cNvPr>
          <p:cNvGrpSpPr>
            <a:grpSpLocks/>
          </p:cNvGrpSpPr>
          <p:nvPr/>
        </p:nvGrpSpPr>
        <p:grpSpPr bwMode="auto">
          <a:xfrm>
            <a:off x="5700713" y="3733800"/>
            <a:ext cx="1828800" cy="1309688"/>
            <a:chOff x="3399" y="2173"/>
            <a:chExt cx="1152" cy="825"/>
          </a:xfrm>
        </p:grpSpPr>
        <p:sp>
          <p:nvSpPr>
            <p:cNvPr id="43037" name="Line 33">
              <a:extLst>
                <a:ext uri="{FF2B5EF4-FFF2-40B4-BE49-F238E27FC236}">
                  <a16:creationId xmlns:a16="http://schemas.microsoft.com/office/drawing/2014/main" id="{3C397EE3-11D2-4825-A250-1C124FA7F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73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8" name="Line 34">
              <a:extLst>
                <a:ext uri="{FF2B5EF4-FFF2-40B4-BE49-F238E27FC236}">
                  <a16:creationId xmlns:a16="http://schemas.microsoft.com/office/drawing/2014/main" id="{6ABA40D6-BA55-4DB5-8FC3-CBD61B2E9B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2173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9" name="AutoShape 35">
              <a:extLst>
                <a:ext uri="{FF2B5EF4-FFF2-40B4-BE49-F238E27FC236}">
                  <a16:creationId xmlns:a16="http://schemas.microsoft.com/office/drawing/2014/main" id="{950407AB-9AF1-4B0B-9DA7-68EBEE05A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2662"/>
              <a:ext cx="1152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44  55  65</a:t>
              </a:r>
            </a:p>
          </p:txBody>
        </p:sp>
      </p:grpSp>
      <p:grpSp>
        <p:nvGrpSpPr>
          <p:cNvPr id="35" name="Group 36">
            <a:extLst>
              <a:ext uri="{FF2B5EF4-FFF2-40B4-BE49-F238E27FC236}">
                <a16:creationId xmlns:a16="http://schemas.microsoft.com/office/drawing/2014/main" id="{4AC91155-47B2-4137-B207-7D531A4B950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5029200"/>
            <a:ext cx="3962400" cy="1219200"/>
            <a:chOff x="1488" y="2989"/>
            <a:chExt cx="2496" cy="768"/>
          </a:xfrm>
        </p:grpSpPr>
        <p:sp>
          <p:nvSpPr>
            <p:cNvPr id="43041" name="Line 37">
              <a:extLst>
                <a:ext uri="{FF2B5EF4-FFF2-40B4-BE49-F238E27FC236}">
                  <a16:creationId xmlns:a16="http://schemas.microsoft.com/office/drawing/2014/main" id="{CEEEA991-5EFB-4892-BCFD-2AF16B9B2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989"/>
              <a:ext cx="62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" name="Line 38">
              <a:extLst>
                <a:ext uri="{FF2B5EF4-FFF2-40B4-BE49-F238E27FC236}">
                  <a16:creationId xmlns:a16="http://schemas.microsoft.com/office/drawing/2014/main" id="{2A7CC883-05D7-4844-B64E-FD71A4D3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037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" name="AutoShape 39">
              <a:extLst>
                <a:ext uri="{FF2B5EF4-FFF2-40B4-BE49-F238E27FC236}">
                  <a16:creationId xmlns:a16="http://schemas.microsoft.com/office/drawing/2014/main" id="{309E90B3-4E1D-4705-BCEB-6B43A838C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421"/>
              <a:ext cx="249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5  20  31  44  55  60  65</a:t>
              </a:r>
            </a:p>
          </p:txBody>
        </p:sp>
      </p:grpSp>
      <p:sp>
        <p:nvSpPr>
          <p:cNvPr id="43044" name="AutoShape 40">
            <a:extLst>
              <a:ext uri="{FF2B5EF4-FFF2-40B4-BE49-F238E27FC236}">
                <a16:creationId xmlns:a16="http://schemas.microsoft.com/office/drawing/2014/main" id="{5E24FE52-BEAD-4DAC-A1E5-7B09CB988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073150"/>
            <a:ext cx="4953000" cy="609600"/>
          </a:xfrm>
          <a:prstGeom prst="cube">
            <a:avLst>
              <a:gd name="adj" fmla="val 14324"/>
            </a:avLst>
          </a:prstGeom>
          <a:solidFill>
            <a:srgbClr val="FFFFCC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60    20    31     5    44     55    65</a:t>
            </a:r>
          </a:p>
        </p:txBody>
      </p:sp>
      <p:sp>
        <p:nvSpPr>
          <p:cNvPr id="43045" name="Rectangle 2">
            <a:extLst>
              <a:ext uri="{FF2B5EF4-FFF2-40B4-BE49-F238E27FC236}">
                <a16:creationId xmlns:a16="http://schemas.microsoft.com/office/drawing/2014/main" id="{005C8A77-7037-4926-9765-6A37A42DA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0504" y="531813"/>
            <a:ext cx="3135992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二路归并排序</a:t>
            </a:r>
          </a:p>
        </p:txBody>
      </p:sp>
      <p:sp>
        <p:nvSpPr>
          <p:cNvPr id="43046" name="TextBox 40">
            <a:extLst>
              <a:ext uri="{FF2B5EF4-FFF2-40B4-BE49-F238E27FC236}">
                <a16:creationId xmlns:a16="http://schemas.microsoft.com/office/drawing/2014/main" id="{E38EDAC2-706C-4648-A719-916C8E746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73150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初始序列：</a:t>
            </a:r>
          </a:p>
        </p:txBody>
      </p:sp>
      <p:sp>
        <p:nvSpPr>
          <p:cNvPr id="43047" name="TextBox 41">
            <a:extLst>
              <a:ext uri="{FF2B5EF4-FFF2-40B4-BE49-F238E27FC236}">
                <a16:creationId xmlns:a16="http://schemas.microsoft.com/office/drawing/2014/main" id="{B1EEDA87-485C-4CF0-AD02-26D9DD0D2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2168525"/>
            <a:ext cx="1828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初始：</a:t>
            </a:r>
          </a:p>
        </p:txBody>
      </p:sp>
      <p:sp>
        <p:nvSpPr>
          <p:cNvPr id="43048" name="TextBox 42">
            <a:extLst>
              <a:ext uri="{FF2B5EF4-FFF2-40B4-BE49-F238E27FC236}">
                <a16:creationId xmlns:a16="http://schemas.microsoft.com/office/drawing/2014/main" id="{89329741-0EB7-445B-87B5-23C9A7AC7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3155950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一趟：</a:t>
            </a:r>
          </a:p>
        </p:txBody>
      </p:sp>
      <p:sp>
        <p:nvSpPr>
          <p:cNvPr id="43049" name="TextBox 43">
            <a:extLst>
              <a:ext uri="{FF2B5EF4-FFF2-40B4-BE49-F238E27FC236}">
                <a16:creationId xmlns:a16="http://schemas.microsoft.com/office/drawing/2014/main" id="{587A97C4-2026-4002-9F54-82428D4DC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4479925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二趟：</a:t>
            </a:r>
          </a:p>
        </p:txBody>
      </p:sp>
      <p:sp>
        <p:nvSpPr>
          <p:cNvPr id="43050" name="TextBox 44">
            <a:extLst>
              <a:ext uri="{FF2B5EF4-FFF2-40B4-BE49-F238E27FC236}">
                <a16:creationId xmlns:a16="http://schemas.microsoft.com/office/drawing/2014/main" id="{D06E8EEA-91CB-4949-929B-CB14EC781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5724525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三趟：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929CC9-DA17-4ACA-92C5-47087C05DA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F983E0C6-FC9F-4386-A1B2-FF7053EB1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22988"/>
              </p:ext>
            </p:extLst>
          </p:nvPr>
        </p:nvGraphicFramePr>
        <p:xfrm>
          <a:off x="898525" y="1752600"/>
          <a:ext cx="7777163" cy="549275"/>
        </p:xfrm>
        <a:graphic>
          <a:graphicData uri="http://schemas.openxmlformats.org/drawingml/2006/table">
            <a:tbl>
              <a:tblPr/>
              <a:tblGrid>
                <a:gridCol w="70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08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059" name="Text Box 29">
            <a:extLst>
              <a:ext uri="{FF2B5EF4-FFF2-40B4-BE49-F238E27FC236}">
                <a16:creationId xmlns:a16="http://schemas.microsoft.com/office/drawing/2014/main" id="{144A51D5-05A3-462E-81EE-0C2CB2039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3455988"/>
            <a:ext cx="79057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low </a:t>
            </a:r>
          </a:p>
        </p:txBody>
      </p:sp>
      <p:sp>
        <p:nvSpPr>
          <p:cNvPr id="44060" name="Text Box 30">
            <a:extLst>
              <a:ext uri="{FF2B5EF4-FFF2-40B4-BE49-F238E27FC236}">
                <a16:creationId xmlns:a16="http://schemas.microsoft.com/office/drawing/2014/main" id="{66A5001B-2C9B-4667-8411-27ED3309F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913" y="1250950"/>
            <a:ext cx="79057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44061" name="Text Box 31">
            <a:extLst>
              <a:ext uri="{FF2B5EF4-FFF2-40B4-BE49-F238E27FC236}">
                <a16:creationId xmlns:a16="http://schemas.microsoft.com/office/drawing/2014/main" id="{E9EE3CC2-044B-4D5B-8534-FA00A8CA3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575" y="1293813"/>
            <a:ext cx="89376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high</a:t>
            </a:r>
          </a:p>
        </p:txBody>
      </p:sp>
      <p:graphicFrame>
        <p:nvGraphicFramePr>
          <p:cNvPr id="8" name="Group 90">
            <a:extLst>
              <a:ext uri="{FF2B5EF4-FFF2-40B4-BE49-F238E27FC236}">
                <a16:creationId xmlns:a16="http://schemas.microsoft.com/office/drawing/2014/main" id="{763C4129-1080-479E-93EC-ADA44352F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62960"/>
              </p:ext>
            </p:extLst>
          </p:nvPr>
        </p:nvGraphicFramePr>
        <p:xfrm>
          <a:off x="971550" y="4152900"/>
          <a:ext cx="7777163" cy="458796"/>
        </p:xfrm>
        <a:graphic>
          <a:graphicData uri="http://schemas.openxmlformats.org/drawingml/2006/table">
            <a:tbl>
              <a:tblPr/>
              <a:tblGrid>
                <a:gridCol w="70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 Box 59">
            <a:extLst>
              <a:ext uri="{FF2B5EF4-FFF2-40B4-BE49-F238E27FC236}">
                <a16:creationId xmlns:a16="http://schemas.microsoft.com/office/drawing/2014/main" id="{7DDFC1EF-7977-4DA0-9596-2C1E60ACA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575" y="3565525"/>
            <a:ext cx="89376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high</a:t>
            </a:r>
          </a:p>
        </p:txBody>
      </p:sp>
      <p:sp>
        <p:nvSpPr>
          <p:cNvPr id="44089" name="Text Box 60">
            <a:extLst>
              <a:ext uri="{FF2B5EF4-FFF2-40B4-BE49-F238E27FC236}">
                <a16:creationId xmlns:a16="http://schemas.microsoft.com/office/drawing/2014/main" id="{AE91D611-3DF1-42B3-8BD3-62DBCDF9B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" y="1700213"/>
            <a:ext cx="87471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 r [ ]</a:t>
            </a:r>
          </a:p>
        </p:txBody>
      </p:sp>
      <p:sp>
        <p:nvSpPr>
          <p:cNvPr id="12" name="Text Box 61">
            <a:extLst>
              <a:ext uri="{FF2B5EF4-FFF2-40B4-BE49-F238E27FC236}">
                <a16:creationId xmlns:a16="http://schemas.microsoft.com/office/drawing/2014/main" id="{D0FE8DC9-E6A6-4858-9D2E-0980B7ECB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141788"/>
            <a:ext cx="865188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r1 [ ]</a:t>
            </a:r>
          </a:p>
        </p:txBody>
      </p:sp>
      <p:sp>
        <p:nvSpPr>
          <p:cNvPr id="13" name="Text Box 62">
            <a:extLst>
              <a:ext uri="{FF2B5EF4-FFF2-40B4-BE49-F238E27FC236}">
                <a16:creationId xmlns:a16="http://schemas.microsoft.com/office/drawing/2014/main" id="{C8D18357-CD19-4651-AC5B-673BC636F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2420938"/>
            <a:ext cx="369888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14" name="Text Box 63">
            <a:extLst>
              <a:ext uri="{FF2B5EF4-FFF2-40B4-BE49-F238E27FC236}">
                <a16:creationId xmlns:a16="http://schemas.microsoft.com/office/drawing/2014/main" id="{21A318C6-9FF8-4150-8FB4-84303E060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038" y="2374900"/>
            <a:ext cx="36988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5" name="Text Box 64">
            <a:extLst>
              <a:ext uri="{FF2B5EF4-FFF2-40B4-BE49-F238E27FC236}">
                <a16:creationId xmlns:a16="http://schemas.microsoft.com/office/drawing/2014/main" id="{02399692-AF97-4415-8378-4F6484FD8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08</a:t>
            </a:r>
          </a:p>
        </p:txBody>
      </p:sp>
      <p:sp>
        <p:nvSpPr>
          <p:cNvPr id="16" name="Text Box 65">
            <a:extLst>
              <a:ext uri="{FF2B5EF4-FFF2-40B4-BE49-F238E27FC236}">
                <a16:creationId xmlns:a16="http://schemas.microsoft.com/office/drawing/2014/main" id="{EB5F4306-BAF1-435A-B36E-BCDDF8AD4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163" y="2420938"/>
            <a:ext cx="369887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17" name="Text Box 66">
            <a:extLst>
              <a:ext uri="{FF2B5EF4-FFF2-40B4-BE49-F238E27FC236}">
                <a16:creationId xmlns:a16="http://schemas.microsoft.com/office/drawing/2014/main" id="{793A8762-784C-4059-9D1A-32218E405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738" y="2374900"/>
            <a:ext cx="36988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8" name="Text Box 67">
            <a:extLst>
              <a:ext uri="{FF2B5EF4-FFF2-40B4-BE49-F238E27FC236}">
                <a16:creationId xmlns:a16="http://schemas.microsoft.com/office/drawing/2014/main" id="{02DEB903-0CE8-4E39-8414-765416DFF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143375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9" name="Text Box 68">
            <a:extLst>
              <a:ext uri="{FF2B5EF4-FFF2-40B4-BE49-F238E27FC236}">
                <a16:creationId xmlns:a16="http://schemas.microsoft.com/office/drawing/2014/main" id="{4D515653-9AFF-4900-A2A3-61FFE0B5B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850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21</a:t>
            </a:r>
          </a:p>
        </p:txBody>
      </p:sp>
      <p:sp>
        <p:nvSpPr>
          <p:cNvPr id="20" name="Text Box 69">
            <a:extLst>
              <a:ext uri="{FF2B5EF4-FFF2-40B4-BE49-F238E27FC236}">
                <a16:creationId xmlns:a16="http://schemas.microsoft.com/office/drawing/2014/main" id="{108A1D91-3CF1-4755-BA55-978D2C03C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FF0000"/>
                </a:solidFill>
              </a:rPr>
              <a:t>22</a:t>
            </a:r>
          </a:p>
        </p:txBody>
      </p:sp>
      <p:sp>
        <p:nvSpPr>
          <p:cNvPr id="21" name="Text Box 70">
            <a:extLst>
              <a:ext uri="{FF2B5EF4-FFF2-40B4-BE49-F238E27FC236}">
                <a16:creationId xmlns:a16="http://schemas.microsoft.com/office/drawing/2014/main" id="{031C7C7A-E673-4D9A-AEDC-065F02B34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FF0000"/>
                </a:solidFill>
              </a:rPr>
              <a:t>23</a:t>
            </a:r>
          </a:p>
        </p:txBody>
      </p:sp>
      <p:sp>
        <p:nvSpPr>
          <p:cNvPr id="22" name="Text Box 71">
            <a:extLst>
              <a:ext uri="{FF2B5EF4-FFF2-40B4-BE49-F238E27FC236}">
                <a16:creationId xmlns:a16="http://schemas.microsoft.com/office/drawing/2014/main" id="{13550144-4ED9-4B82-B440-12F19EF9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25</a:t>
            </a:r>
          </a:p>
        </p:txBody>
      </p:sp>
      <p:sp>
        <p:nvSpPr>
          <p:cNvPr id="23" name="Text Box 72">
            <a:extLst>
              <a:ext uri="{FF2B5EF4-FFF2-40B4-BE49-F238E27FC236}">
                <a16:creationId xmlns:a16="http://schemas.microsoft.com/office/drawing/2014/main" id="{5707256D-16A7-457A-80D9-D75228111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4141788"/>
            <a:ext cx="576262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 u="sng"/>
              <a:t>25</a:t>
            </a:r>
          </a:p>
        </p:txBody>
      </p:sp>
      <p:sp>
        <p:nvSpPr>
          <p:cNvPr id="24" name="Text Box 73">
            <a:extLst>
              <a:ext uri="{FF2B5EF4-FFF2-40B4-BE49-F238E27FC236}">
                <a16:creationId xmlns:a16="http://schemas.microsoft.com/office/drawing/2014/main" id="{72D35D8E-8E79-4511-8760-983B68677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141788"/>
            <a:ext cx="576262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49</a:t>
            </a:r>
          </a:p>
        </p:txBody>
      </p:sp>
      <p:sp>
        <p:nvSpPr>
          <p:cNvPr id="25" name="Text Box 74">
            <a:extLst>
              <a:ext uri="{FF2B5EF4-FFF2-40B4-BE49-F238E27FC236}">
                <a16:creationId xmlns:a16="http://schemas.microsoft.com/office/drawing/2014/main" id="{5486E030-F5E5-4125-A917-B4EBB3D11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141788"/>
            <a:ext cx="576262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62</a:t>
            </a:r>
          </a:p>
        </p:txBody>
      </p:sp>
      <p:sp>
        <p:nvSpPr>
          <p:cNvPr id="26" name="Text Box 75">
            <a:extLst>
              <a:ext uri="{FF2B5EF4-FFF2-40B4-BE49-F238E27FC236}">
                <a16:creationId xmlns:a16="http://schemas.microsoft.com/office/drawing/2014/main" id="{587D068A-3BA8-42CC-9C5F-583724B22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72</a:t>
            </a:r>
          </a:p>
        </p:txBody>
      </p:sp>
      <p:sp>
        <p:nvSpPr>
          <p:cNvPr id="27" name="Text Box 76">
            <a:extLst>
              <a:ext uri="{FF2B5EF4-FFF2-40B4-BE49-F238E27FC236}">
                <a16:creationId xmlns:a16="http://schemas.microsoft.com/office/drawing/2014/main" id="{36550CAE-28D8-4618-B48A-D91A4588F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9425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93</a:t>
            </a:r>
          </a:p>
        </p:txBody>
      </p:sp>
      <p:sp>
        <p:nvSpPr>
          <p:cNvPr id="28" name="Text Box 77">
            <a:extLst>
              <a:ext uri="{FF2B5EF4-FFF2-40B4-BE49-F238E27FC236}">
                <a16:creationId xmlns:a16="http://schemas.microsoft.com/office/drawing/2014/main" id="{45EB511D-0801-4A37-9B4B-064F71C84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9900" y="2374900"/>
            <a:ext cx="36988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9" name="Text Box 78">
            <a:extLst>
              <a:ext uri="{FF2B5EF4-FFF2-40B4-BE49-F238E27FC236}">
                <a16:creationId xmlns:a16="http://schemas.microsoft.com/office/drawing/2014/main" id="{B891B8C2-036B-4A24-873E-FFABF6D05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791075"/>
            <a:ext cx="369887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0" name="Text Box 79">
            <a:extLst>
              <a:ext uri="{FF2B5EF4-FFF2-40B4-BE49-F238E27FC236}">
                <a16:creationId xmlns:a16="http://schemas.microsoft.com/office/drawing/2014/main" id="{4EF11C75-2920-4E48-9392-B0E2DF351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25" y="4814888"/>
            <a:ext cx="369888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1" name="Text Box 80">
            <a:extLst>
              <a:ext uri="{FF2B5EF4-FFF2-40B4-BE49-F238E27FC236}">
                <a16:creationId xmlns:a16="http://schemas.microsoft.com/office/drawing/2014/main" id="{A0C64B25-07D4-45DD-B2DF-6BD7A08C5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350" y="4814888"/>
            <a:ext cx="369888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2" name="Text Box 81">
            <a:extLst>
              <a:ext uri="{FF2B5EF4-FFF2-40B4-BE49-F238E27FC236}">
                <a16:creationId xmlns:a16="http://schemas.microsoft.com/office/drawing/2014/main" id="{3FE7B2F4-F793-40EE-8276-F4A57B0D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888" y="2446338"/>
            <a:ext cx="369887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33" name="Text Box 82">
            <a:extLst>
              <a:ext uri="{FF2B5EF4-FFF2-40B4-BE49-F238E27FC236}">
                <a16:creationId xmlns:a16="http://schemas.microsoft.com/office/drawing/2014/main" id="{F38C1211-6684-46BE-A905-BCE3916A6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88" y="4814888"/>
            <a:ext cx="369887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4" name="Text Box 83">
            <a:extLst>
              <a:ext uri="{FF2B5EF4-FFF2-40B4-BE49-F238E27FC236}">
                <a16:creationId xmlns:a16="http://schemas.microsoft.com/office/drawing/2014/main" id="{729B3628-CCB3-4984-A9AB-FBA9E8505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775" y="4814888"/>
            <a:ext cx="369888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6" name="Text Box 85">
            <a:extLst>
              <a:ext uri="{FF2B5EF4-FFF2-40B4-BE49-F238E27FC236}">
                <a16:creationId xmlns:a16="http://schemas.microsoft.com/office/drawing/2014/main" id="{A71F0B05-E3DD-43B5-A04C-007EDD98C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9188" y="2349500"/>
            <a:ext cx="36988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44114" name="TextBox 36">
            <a:extLst>
              <a:ext uri="{FF2B5EF4-FFF2-40B4-BE49-F238E27FC236}">
                <a16:creationId xmlns:a16="http://schemas.microsoft.com/office/drawing/2014/main" id="{70DCF23F-6573-479E-851B-C75888281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648" y="404764"/>
            <a:ext cx="690384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合并：将两个有序表合并为一个有序表</a:t>
            </a:r>
          </a:p>
        </p:txBody>
      </p:sp>
      <p:sp>
        <p:nvSpPr>
          <p:cNvPr id="44115" name="Text Box 29">
            <a:extLst>
              <a:ext uri="{FF2B5EF4-FFF2-40B4-BE49-F238E27FC236}">
                <a16:creationId xmlns:a16="http://schemas.microsoft.com/office/drawing/2014/main" id="{33E7E436-8FDC-45B9-9EB6-AA9432B12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1330325"/>
            <a:ext cx="79057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low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FBC97C-8B25-4784-97FE-AFBE944C3E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3" grpId="1"/>
      <p:bldP spid="14" grpId="0"/>
      <p:bldP spid="14" grpId="1"/>
      <p:bldP spid="15" grpId="0"/>
      <p:bldP spid="16" grpId="0"/>
      <p:bldP spid="16" grpId="1"/>
      <p:bldP spid="17" grpId="0"/>
      <p:bldP spid="17" grpId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3" grpId="0"/>
      <p:bldP spid="33" grpId="1"/>
      <p:bldP spid="34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9">
            <a:extLst>
              <a:ext uri="{FF2B5EF4-FFF2-40B4-BE49-F238E27FC236}">
                <a16:creationId xmlns:a16="http://schemas.microsoft.com/office/drawing/2014/main" id="{E649E1B6-AC8C-4697-874A-22276ECBA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74763"/>
            <a:ext cx="8382000" cy="408644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merge_sort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 L[],int 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low,int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high)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{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int mid;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if (low &lt; high){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mid=(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low+high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)/2;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merge_sort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L,low,mid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);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merge_sort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(L,mid+1,high);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merge(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L,low,mid,high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);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 }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}</a:t>
            </a:r>
          </a:p>
          <a:p>
            <a:pPr algn="just"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400" dirty="0">
              <a:latin typeface="Consolas" panose="020B0609020204030204" pitchFamily="49" charset="0"/>
              <a:ea typeface="Dotum" panose="020B0600000101010101" pitchFamily="34" charset="-127"/>
              <a:sym typeface="宋体" panose="02010600030101010101" pitchFamily="2" charset="-122"/>
            </a:endParaRPr>
          </a:p>
        </p:txBody>
      </p:sp>
      <p:sp>
        <p:nvSpPr>
          <p:cNvPr id="47106" name="TextBox 36">
            <a:extLst>
              <a:ext uri="{FF2B5EF4-FFF2-40B4-BE49-F238E27FC236}">
                <a16:creationId xmlns:a16="http://schemas.microsoft.com/office/drawing/2014/main" id="{D746253B-75C5-4747-86CD-A978DC3FA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6" y="620688"/>
            <a:ext cx="344279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归并排序的递归算法</a:t>
            </a:r>
            <a:endParaRPr lang="en-US" altLang="zh-CN" sz="2800" b="1" dirty="0">
              <a:solidFill>
                <a:srgbClr val="FF0000"/>
              </a:solidFill>
              <a:latin typeface="方正姚体" pitchFamily="2" charset="-122"/>
              <a:ea typeface="方正姚体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F92F82-24B4-4AF1-96DD-C454D990EE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9">
            <a:extLst>
              <a:ext uri="{FF2B5EF4-FFF2-40B4-BE49-F238E27FC236}">
                <a16:creationId xmlns:a16="http://schemas.microsoft.com/office/drawing/2014/main" id="{908DF750-AC22-46E3-9E6A-5955AD749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272198"/>
            <a:ext cx="8568952" cy="4972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void merge(int L[], int low, int mid, int high){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int k, begin1, begin2, end1, end2;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begin1 = low;  	end1 = mid;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begin2 = mid + 1;  end2 = high;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 //int temp[high-low+1];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int *temp = (int *) malloc((high - low + 1) * 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sizeof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(int));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400" dirty="0">
              <a:latin typeface="Consolas" panose="020B0609020204030204" pitchFamily="49" charset="0"/>
              <a:ea typeface="Dotum" panose="020B0600000101010101" pitchFamily="34" charset="-127"/>
              <a:sym typeface="宋体" panose="02010600030101010101" pitchFamily="2" charset="-122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//2.将左右两部分合并排序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for(k = 0; begin1 &lt;= end1 &amp;&amp; begin2 &lt;= end2; k++){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    if(L[begin1] &lt;= L[begin2])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temp[k] = L[begin1++];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    else  temp[k] = L[begin2++];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} 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B0856E-BABC-4B2F-9D3E-9A16374B01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" name="TextBox 36">
            <a:extLst>
              <a:ext uri="{FF2B5EF4-FFF2-40B4-BE49-F238E27FC236}">
                <a16:creationId xmlns:a16="http://schemas.microsoft.com/office/drawing/2014/main" id="{F00E8CB7-2139-4129-B336-D86FB90AD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620688"/>
            <a:ext cx="4018856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归并排序的核心算法（</a:t>
            </a:r>
            <a:r>
              <a:rPr lang="en-US" altLang="zh-CN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）</a:t>
            </a:r>
            <a:endParaRPr lang="en-US" altLang="zh-CN" sz="2800" b="1" dirty="0">
              <a:solidFill>
                <a:srgbClr val="FF0000"/>
              </a:solidFill>
              <a:latin typeface="方正姚体" pitchFamily="2" charset="-122"/>
              <a:ea typeface="方正姚体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9">
            <a:extLst>
              <a:ext uri="{FF2B5EF4-FFF2-40B4-BE49-F238E27FC236}">
                <a16:creationId xmlns:a16="http://schemas.microsoft.com/office/drawing/2014/main" id="{908DF750-AC22-46E3-9E6A-5955AD749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773100"/>
            <a:ext cx="8496944" cy="3938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if(begin1 &lt;= end1) //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左剩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		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memcpy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(temp+k,L+begin1,(end1-begin1+1)*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sizeof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(int));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else //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右剩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		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memcpy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(temp+k,L+begin2,(end2-begin2+1)*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sizeof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(int));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400" dirty="0">
              <a:latin typeface="Consolas" panose="020B0609020204030204" pitchFamily="49" charset="0"/>
              <a:ea typeface="Dotum" panose="020B0600000101010101" pitchFamily="34" charset="-127"/>
              <a:sym typeface="宋体" panose="02010600030101010101" pitchFamily="2" charset="-122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//3.排序后复制到原数组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memcpy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L+low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, temp, (high-low+1)*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sizeof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(int));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free(temp); //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释放空间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} 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B0856E-BABC-4B2F-9D3E-9A16374B01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" name="TextBox 36">
            <a:extLst>
              <a:ext uri="{FF2B5EF4-FFF2-40B4-BE49-F238E27FC236}">
                <a16:creationId xmlns:a16="http://schemas.microsoft.com/office/drawing/2014/main" id="{D5B60C11-265F-41C1-8518-87A5B7526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620688"/>
            <a:ext cx="4018856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归并排序的核心算法（</a:t>
            </a:r>
            <a:r>
              <a:rPr lang="en-US" altLang="zh-CN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）</a:t>
            </a:r>
            <a:endParaRPr lang="en-US" altLang="zh-CN" sz="2800" b="1" dirty="0">
              <a:solidFill>
                <a:srgbClr val="FF0000"/>
              </a:solidFill>
              <a:latin typeface="方正姚体" pitchFamily="2" charset="-122"/>
              <a:ea typeface="方正姚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546102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Box 36">
            <a:extLst>
              <a:ext uri="{FF2B5EF4-FFF2-40B4-BE49-F238E27FC236}">
                <a16:creationId xmlns:a16="http://schemas.microsoft.com/office/drawing/2014/main" id="{EB5D303A-2A5B-45AC-B85C-489731EE4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346" y="533400"/>
            <a:ext cx="4180334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归并排序的非递归算法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D384C30A-F6C6-4AF1-A9FB-30194DE5905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1268760"/>
            <a:ext cx="8229600" cy="491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 </a:t>
            </a:r>
            <a:r>
              <a:rPr lang="en-US" altLang="zh-CN" sz="24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mergesort</a:t>
            </a:r>
            <a:r>
              <a: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latin typeface="Consolas" panose="020B0609020204030204" pitchFamily="49" charset="0"/>
              </a:rPr>
              <a:t>( int L[],int last ) {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int </a:t>
            </a:r>
            <a:r>
              <a:rPr lang="en-US" altLang="zh-CN" sz="2400" dirty="0" err="1">
                <a:latin typeface="Consolas" panose="020B0609020204030204" pitchFamily="49" charset="0"/>
              </a:rPr>
              <a:t>len,low,mid,high,i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for (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=1 ;  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 &lt; last; 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*=2 ) 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{       low = 1;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while  (low + 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 &lt;= L-&gt;last) 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{    mid= low+len-1;  high = </a:t>
            </a:r>
            <a:r>
              <a:rPr lang="en-US" altLang="zh-CN" sz="2400" dirty="0" err="1">
                <a:latin typeface="Consolas" panose="020B0609020204030204" pitchFamily="49" charset="0"/>
              </a:rPr>
              <a:t>mid+len</a:t>
            </a:r>
            <a:r>
              <a:rPr lang="en-US" altLang="zh-CN" sz="2400" dirty="0"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     if(high&gt;last) high=last;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     merge(</a:t>
            </a:r>
            <a:r>
              <a:rPr lang="en-US" altLang="zh-CN" sz="2400" dirty="0" err="1">
                <a:latin typeface="Consolas" panose="020B0609020204030204" pitchFamily="49" charset="0"/>
              </a:rPr>
              <a:t>L,low,mid,high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              low=high+1;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}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}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BDD013-D790-400D-B44C-44CC716658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D62DD40A-15BF-40DD-9D9C-F485965AA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476672"/>
            <a:ext cx="4896544" cy="682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．归并排序的性能分析</a:t>
            </a:r>
          </a:p>
        </p:txBody>
      </p:sp>
      <p:sp>
        <p:nvSpPr>
          <p:cNvPr id="3481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DA2271F-1709-4F2E-BD35-98F71CC1CC7A}"/>
              </a:ext>
            </a:extLst>
          </p:cNvPr>
          <p:cNvSpPr txBox="1"/>
          <p:nvPr/>
        </p:nvSpPr>
        <p:spPr>
          <a:xfrm>
            <a:off x="60325" y="1062038"/>
            <a:ext cx="8855075" cy="50212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时间性能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  归并排序需要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log</a:t>
            </a:r>
            <a:r>
              <a:rPr lang="en-US" altLang="zh-CN" sz="2800" b="1" baseline="-25000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趟，每趟需要把结果存在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r[1~n]</a:t>
            </a: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中，需要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O(n)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时间复杂度</a:t>
            </a: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O(nlog</a:t>
            </a:r>
            <a:r>
              <a:rPr lang="en-US" altLang="zh-CN" sz="2800" b="1" baseline="-25000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n)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空间性能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noProof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空间复杂度： 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O(n)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归并排序是</a:t>
            </a: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稳定的</a:t>
            </a: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排序方法</a:t>
            </a:r>
            <a:endParaRPr lang="en-US" altLang="zh-CN" sz="28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较少用于内部排序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缺点：合并数组需要额外存储空间，解决方法是链表</a:t>
            </a:r>
            <a:r>
              <a:rPr lang="en-US" altLang="zh-CN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优点：效率高；用迭代取代递归，小部分使用插入排序，效率会更高。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zh-CN" altLang="en-US" sz="28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E0121A-C37E-411F-9188-AF7CE57FF3C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26">
            <a:extLst>
              <a:ext uri="{FF2B5EF4-FFF2-40B4-BE49-F238E27FC236}">
                <a16:creationId xmlns:a16="http://schemas.microsoft.com/office/drawing/2014/main" id="{C6BD28AC-F093-4110-BF26-A1798F63B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4144" y="548680"/>
            <a:ext cx="91201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spcBef>
                <a:spcPct val="0"/>
              </a:spcBef>
              <a:defRPr sz="32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r" eaLnBrk="0" hangingPunct="0">
              <a:spcBef>
                <a:spcPct val="0"/>
              </a:spcBef>
              <a:defRPr sz="3200">
                <a:solidFill>
                  <a:srgbClr val="FF3300"/>
                </a:solidFill>
              </a:defRPr>
            </a:lvl2pPr>
            <a:lvl3pPr algn="r" eaLnBrk="0" hangingPunct="0">
              <a:spcBef>
                <a:spcPct val="0"/>
              </a:spcBef>
              <a:defRPr sz="3200">
                <a:solidFill>
                  <a:srgbClr val="FF3300"/>
                </a:solidFill>
              </a:defRPr>
            </a:lvl3pPr>
            <a:lvl4pPr algn="r" eaLnBrk="0" hangingPunct="0">
              <a:spcBef>
                <a:spcPct val="0"/>
              </a:spcBef>
              <a:defRPr sz="3200">
                <a:solidFill>
                  <a:srgbClr val="FF3300"/>
                </a:solidFill>
              </a:defRPr>
            </a:lvl4pPr>
            <a:lvl5pPr algn="r" eaLnBrk="0" hangingPunct="0">
              <a:spcBef>
                <a:spcPct val="0"/>
              </a:spcBef>
              <a:defRPr sz="3200">
                <a:solidFill>
                  <a:srgbClr val="FF3300"/>
                </a:solidFill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</a:defRPr>
            </a:lvl9pPr>
          </a:lstStyle>
          <a:p>
            <a:pPr>
              <a:buNone/>
            </a:pPr>
            <a:r>
              <a:rPr lang="en-US" altLang="zh-CN" dirty="0"/>
              <a:t>             </a:t>
            </a:r>
            <a:r>
              <a:rPr lang="zh-CN" altLang="en-US" dirty="0"/>
              <a:t>各种排序方法的综合比较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CBF44666-3B28-4A53-9FFC-EC78E4FFD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45060"/>
              </p:ext>
            </p:extLst>
          </p:nvPr>
        </p:nvGraphicFramePr>
        <p:xfrm>
          <a:off x="1073150" y="1371600"/>
          <a:ext cx="6705600" cy="3230880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排序方法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平均时间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最坏情况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最好情况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辅助空间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稳定性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插入排序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选择排序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冒泡排序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快速排序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归并排序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850D29-3737-4D08-BB20-A2A1BA6E125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5">
            <a:extLst>
              <a:ext uri="{FF2B5EF4-FFF2-40B4-BE49-F238E27FC236}">
                <a16:creationId xmlns:a16="http://schemas.microsoft.com/office/drawing/2014/main" id="{3E277FF3-AF40-4D4D-BA82-2E26CE225E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gray"/>
        <p:txBody>
          <a:bodyPr wrap="square" numCol="1" anchor="t" anchorCtr="0" compatLnSpc="1"/>
          <a:lstStyle/>
          <a:p>
            <a:pPr>
              <a:defRPr/>
            </a:pPr>
            <a:r>
              <a:rPr lang="en-US" altLang="zh-CN" sz="1000" b="1">
                <a:solidFill>
                  <a:schemeClr val="bg1"/>
                </a:solidFill>
                <a:latin typeface="+mj-lt"/>
              </a:rPr>
              <a:t>BUPT</a:t>
            </a: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0A4ADE72-75B6-42AD-A4D9-BF2C9798C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56176" y="404813"/>
            <a:ext cx="2879874" cy="720725"/>
          </a:xfrm>
        </p:spPr>
        <p:txBody>
          <a:bodyPr/>
          <a:lstStyle/>
          <a:p>
            <a:pPr algn="l" eaLnBrk="1" hangingPunct="1"/>
            <a:r>
              <a:rPr lang="zh-CN" altLang="zh-CN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排序算法分析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626DF22-649F-4092-801B-F8D00867CE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522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快速排序是目前基于比较的内部排序中最好的方法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关键字随机分布时，快速排序的平均时间最短，堆排序次之，但后者所需的辅助空间少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较小时如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(n&lt;50)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，可采用直接插入或简单选择排序，前者是稳定排序，但后者通常记录移动次数少于前者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较大时，应采用时间复杂度为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O(nlgn)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的排序方法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主要为快速排序和堆排序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或者基数排序的方法，但后者对关键字的结构有一定要求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较大时，为避免顺序存储时大量移动记录的时间开销，可考虑用链表作为存储结构（如插入排序、归并排序、基数排序）</a:t>
            </a:r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0700" y="1854835"/>
            <a:ext cx="8102600" cy="1961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 sz="3200" b="1" dirty="0"/>
              <a:t>约瑟夫环问题：</a:t>
            </a:r>
          </a:p>
          <a:p>
            <a:pPr indent="0">
              <a:buNone/>
            </a:pPr>
            <a:r>
              <a:rPr lang="zh-CN" altLang="en-US" sz="3200" b="1" dirty="0"/>
              <a:t>一圈共有N个人，开始报数，报到M的人自杀，然后重新开始报数，问最后自杀的人是谁？</a:t>
            </a:r>
          </a:p>
        </p:txBody>
      </p:sp>
      <p:sp>
        <p:nvSpPr>
          <p:cNvPr id="159747" name="Rectangle 5"/>
          <p:cNvSpPr>
            <a:spLocks noGrp="1"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约瑟夫环与循环数组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F0AF5F-8053-4E4A-96E2-2350A5DED4A6}" type="slidenum">
              <a:rPr lang="zh-CN" altLang="en-US" sz="1400" smtClean="0"/>
              <a:t>19</a:t>
            </a:fld>
            <a:endParaRPr lang="en-US" altLang="zh-CN" sz="1400"/>
          </a:p>
        </p:txBody>
      </p:sp>
      <p:sp>
        <p:nvSpPr>
          <p:cNvPr id="15974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约瑟夫环：猴子选大王</a:t>
            </a:r>
          </a:p>
        </p:txBody>
      </p:sp>
      <p:sp>
        <p:nvSpPr>
          <p:cNvPr id="159748" name="Rectangle 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b="1" dirty="0"/>
              <a:t>猴子选大王：有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只猴子围成一圈，每只猴子从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依次编号。打算从中选出一个大王，经过协商，决定出选大王的规则：从第一个猴子开始循环报数，数到</a:t>
            </a:r>
            <a:r>
              <a:rPr lang="en-US" altLang="zh-CN" sz="2400" b="1" dirty="0"/>
              <a:t>M</a:t>
            </a:r>
            <a:r>
              <a:rPr lang="zh-CN" altLang="en-US" sz="2400" b="1" dirty="0"/>
              <a:t>的猴子出圈，最后剩下来的就是大王。</a:t>
            </a:r>
            <a:r>
              <a:rPr lang="zh-CN" altLang="en-US" sz="2400" dirty="0"/>
              <a:t> </a:t>
            </a:r>
          </a:p>
        </p:txBody>
      </p:sp>
      <p:sp>
        <p:nvSpPr>
          <p:cNvPr id="395271" name="Oval 7"/>
          <p:cNvSpPr>
            <a:spLocks noChangeArrowheads="1"/>
          </p:cNvSpPr>
          <p:nvPr/>
        </p:nvSpPr>
        <p:spPr bwMode="auto">
          <a:xfrm>
            <a:off x="2016919" y="4022725"/>
            <a:ext cx="2449512" cy="19431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5272" name="Rectangle 8"/>
          <p:cNvSpPr>
            <a:spLocks noChangeArrowheads="1"/>
          </p:cNvSpPr>
          <p:nvPr/>
        </p:nvSpPr>
        <p:spPr bwMode="auto">
          <a:xfrm>
            <a:off x="4373152" y="4193381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②</a:t>
            </a:r>
          </a:p>
        </p:txBody>
      </p:sp>
      <p:sp>
        <p:nvSpPr>
          <p:cNvPr id="395273" name="Rectangle 9"/>
          <p:cNvSpPr>
            <a:spLocks noChangeArrowheads="1"/>
          </p:cNvSpPr>
          <p:nvPr/>
        </p:nvSpPr>
        <p:spPr bwMode="auto">
          <a:xfrm>
            <a:off x="2971006" y="3505748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5274" name="Rectangle 10"/>
          <p:cNvSpPr>
            <a:spLocks noChangeArrowheads="1"/>
          </p:cNvSpPr>
          <p:nvPr/>
        </p:nvSpPr>
        <p:spPr bwMode="auto">
          <a:xfrm>
            <a:off x="4373152" y="5272881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5275" name="Rectangle 11"/>
          <p:cNvSpPr>
            <a:spLocks noChangeArrowheads="1"/>
          </p:cNvSpPr>
          <p:nvPr/>
        </p:nvSpPr>
        <p:spPr bwMode="auto">
          <a:xfrm>
            <a:off x="2944265" y="5965825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④</a:t>
            </a:r>
          </a:p>
        </p:txBody>
      </p:sp>
      <p:sp>
        <p:nvSpPr>
          <p:cNvPr id="395276" name="Rectangle 12"/>
          <p:cNvSpPr>
            <a:spLocks noChangeArrowheads="1"/>
          </p:cNvSpPr>
          <p:nvPr/>
        </p:nvSpPr>
        <p:spPr bwMode="auto">
          <a:xfrm>
            <a:off x="1475582" y="5272881"/>
            <a:ext cx="541337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⑤</a:t>
            </a:r>
          </a:p>
        </p:txBody>
      </p:sp>
      <p:sp>
        <p:nvSpPr>
          <p:cNvPr id="395277" name="Rectangle 13"/>
          <p:cNvSpPr>
            <a:spLocks noChangeArrowheads="1"/>
          </p:cNvSpPr>
          <p:nvPr/>
        </p:nvSpPr>
        <p:spPr bwMode="auto">
          <a:xfrm>
            <a:off x="1475581" y="4193381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5278" name="Text Box 14"/>
          <p:cNvSpPr txBox="1">
            <a:spLocks noChangeArrowheads="1"/>
          </p:cNvSpPr>
          <p:nvPr/>
        </p:nvSpPr>
        <p:spPr bwMode="auto">
          <a:xfrm>
            <a:off x="5508104" y="3823549"/>
            <a:ext cx="2881312" cy="2465387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若数到</a:t>
            </a:r>
            <a:r>
              <a:rPr lang="en-US" altLang="zh-CN" sz="2400" b="1"/>
              <a:t>4</a:t>
            </a:r>
            <a:r>
              <a:rPr lang="zh-CN" altLang="en-US" sz="2400" b="1"/>
              <a:t>的猴子出圈，则出圈的猴子编号依次是：</a:t>
            </a:r>
            <a:r>
              <a:rPr lang="en-US" altLang="zh-CN" sz="2400" b="1"/>
              <a:t>4</a:t>
            </a:r>
            <a:r>
              <a:rPr lang="zh-CN" altLang="en-US" sz="2400" b="1"/>
              <a:t>、</a:t>
            </a:r>
            <a:r>
              <a:rPr lang="en-US" altLang="zh-CN" sz="2400" b="1"/>
              <a:t>2</a:t>
            </a:r>
            <a:r>
              <a:rPr lang="zh-CN" altLang="en-US" sz="2400" b="1"/>
              <a:t>、</a:t>
            </a:r>
            <a:r>
              <a:rPr lang="en-US" altLang="zh-CN" sz="2400" b="1"/>
              <a:t>1</a:t>
            </a:r>
            <a:r>
              <a:rPr lang="zh-CN" altLang="en-US" sz="2400" b="1"/>
              <a:t>、</a:t>
            </a:r>
            <a:r>
              <a:rPr lang="en-US" altLang="zh-CN" sz="2400" b="1"/>
              <a:t>3</a:t>
            </a:r>
            <a:r>
              <a:rPr lang="zh-CN" altLang="en-US" sz="2400" b="1"/>
              <a:t>、</a:t>
            </a:r>
            <a:r>
              <a:rPr lang="en-US" altLang="zh-CN" sz="2400" b="1"/>
              <a:t>6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编号为</a:t>
            </a:r>
            <a:r>
              <a:rPr lang="en-US" altLang="zh-CN" sz="2400" b="1"/>
              <a:t>5</a:t>
            </a:r>
            <a:r>
              <a:rPr lang="zh-CN" altLang="en-US" sz="2400" b="1"/>
              <a:t>的猴子即为大王。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842BA4-9153-4DBD-A1B5-EA528C570325}" type="slidenum">
              <a:rPr lang="zh-CN" altLang="en-US" sz="1400" smtClean="0"/>
              <a:t>20</a:t>
            </a:fld>
            <a:endParaRPr lang="en-US" altLang="zh-CN" sz="1400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en-US" altLang="zh-CN" dirty="0"/>
          </a:p>
        </p:txBody>
      </p:sp>
      <p:sp>
        <p:nvSpPr>
          <p:cNvPr id="402444" name="Text Box 12"/>
          <p:cNvSpPr txBox="1">
            <a:spLocks noChangeArrowheads="1"/>
          </p:cNvSpPr>
          <p:nvPr/>
        </p:nvSpPr>
        <p:spPr bwMode="auto">
          <a:xfrm>
            <a:off x="2195513" y="37163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1</a:t>
            </a:r>
            <a:endParaRPr lang="zh-CN" altLang="en-US" sz="2400" b="1"/>
          </a:p>
        </p:txBody>
      </p:sp>
      <p:sp>
        <p:nvSpPr>
          <p:cNvPr id="402445" name="Text Box 13"/>
          <p:cNvSpPr txBox="1">
            <a:spLocks noChangeArrowheads="1"/>
          </p:cNvSpPr>
          <p:nvPr/>
        </p:nvSpPr>
        <p:spPr bwMode="auto">
          <a:xfrm>
            <a:off x="2771775" y="37163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2</a:t>
            </a:r>
          </a:p>
        </p:txBody>
      </p:sp>
      <p:sp>
        <p:nvSpPr>
          <p:cNvPr id="402446" name="Text Box 14"/>
          <p:cNvSpPr txBox="1">
            <a:spLocks noChangeArrowheads="1"/>
          </p:cNvSpPr>
          <p:nvPr/>
        </p:nvSpPr>
        <p:spPr bwMode="auto">
          <a:xfrm>
            <a:off x="3348038" y="37163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402447" name="Text Box 15"/>
          <p:cNvSpPr txBox="1">
            <a:spLocks noChangeArrowheads="1"/>
          </p:cNvSpPr>
          <p:nvPr/>
        </p:nvSpPr>
        <p:spPr bwMode="auto">
          <a:xfrm>
            <a:off x="3922713" y="37163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402448" name="Text Box 16"/>
          <p:cNvSpPr txBox="1">
            <a:spLocks noChangeArrowheads="1"/>
          </p:cNvSpPr>
          <p:nvPr/>
        </p:nvSpPr>
        <p:spPr bwMode="auto">
          <a:xfrm>
            <a:off x="4498975" y="37163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402449" name="Text Box 17"/>
          <p:cNvSpPr txBox="1">
            <a:spLocks noChangeArrowheads="1"/>
          </p:cNvSpPr>
          <p:nvPr/>
        </p:nvSpPr>
        <p:spPr bwMode="auto">
          <a:xfrm>
            <a:off x="5075238" y="37163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endParaRPr lang="en-US" altLang="zh-CN" sz="2400" b="1"/>
          </a:p>
        </p:txBody>
      </p:sp>
      <p:sp>
        <p:nvSpPr>
          <p:cNvPr id="402450" name="Text Box 18"/>
          <p:cNvSpPr txBox="1">
            <a:spLocks noChangeArrowheads="1"/>
          </p:cNvSpPr>
          <p:nvPr/>
        </p:nvSpPr>
        <p:spPr bwMode="auto">
          <a:xfrm>
            <a:off x="1187450" y="3716338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数组</a:t>
            </a:r>
            <a:r>
              <a:rPr lang="en-US" altLang="zh-CN" sz="2400" b="1"/>
              <a:t>a</a:t>
            </a: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4970725" y="29495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4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5546987" y="29495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6123250" y="29495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3226966" y="29495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3803228" y="29495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2</a:t>
            </a: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4379491" y="29495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2218903" y="2949575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/>
              <a:t>数组</a:t>
            </a:r>
            <a:r>
              <a:rPr lang="en-US" altLang="zh-CN" sz="2400" b="1" dirty="0"/>
              <a:t>a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0919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猴子可以被抽象为序号</a:t>
            </a:r>
            <a:r>
              <a:rPr lang="zh-CN" altLang="en-US" sz="2400" b="1" kern="0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猴子具有相邻关系（线性），</a:t>
            </a:r>
            <a:r>
              <a:rPr lang="zh-CN" altLang="en-US" sz="2400" b="1" kern="0" dirty="0"/>
              <a:t>因此可以用一个一维数组来存储猴子的序号，存储位置的相邻体现了猴子之间的相邻。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kern="0" dirty="0"/>
          </a:p>
          <a:p>
            <a:pPr eaLnBrk="1" hangingPunct="1">
              <a:lnSpc>
                <a:spcPct val="90000"/>
              </a:lnSpc>
            </a:pPr>
            <a:endParaRPr lang="zh-CN" altLang="en-US" sz="2400" b="1" kern="0" dirty="0"/>
          </a:p>
          <a:p>
            <a:pPr eaLnBrk="1" hangingPunct="1">
              <a:lnSpc>
                <a:spcPct val="90000"/>
              </a:lnSpc>
            </a:pPr>
            <a:endParaRPr lang="en-US" altLang="zh-CN" sz="2400" b="1" kern="0" dirty="0"/>
          </a:p>
          <a:p>
            <a:pPr eaLnBrk="1" hangingPunct="1">
              <a:lnSpc>
                <a:spcPct val="90000"/>
              </a:lnSpc>
            </a:pPr>
            <a:endParaRPr lang="en-US" altLang="zh-CN" sz="2400" b="1" kern="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kern="0" dirty="0"/>
              <a:t>当猴子</a:t>
            </a:r>
            <a:r>
              <a:rPr lang="en-US" altLang="zh-CN" sz="2400" b="1" kern="0" dirty="0"/>
              <a:t>4</a:t>
            </a:r>
            <a:r>
              <a:rPr lang="zh-CN" altLang="en-US" sz="2400" b="1" kern="0" dirty="0"/>
              <a:t>出圈后，从数组中删除对应的序号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kern="0" dirty="0"/>
              <a:t>这种存储方式可以解决问题，但是删除操作涉及数组元素的批量移动，算法不够高效。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kern="0" dirty="0"/>
              <a:t>能否在一个猴子出圈的时候不用删除一个数组元素？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kern="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A7AFFDF-CD4A-41D3-89EA-470DA9C30502}" type="slidenum">
              <a:rPr lang="zh-CN" altLang="en-US" sz="1400" smtClean="0"/>
              <a:t>21</a:t>
            </a:fld>
            <a:endParaRPr lang="en-US" altLang="zh-CN" sz="1400"/>
          </a:p>
        </p:txBody>
      </p:sp>
      <p:sp>
        <p:nvSpPr>
          <p:cNvPr id="161795" name="Rectangle 5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en-US" altLang="zh-CN" dirty="0"/>
          </a:p>
        </p:txBody>
      </p:sp>
      <p:sp>
        <p:nvSpPr>
          <p:cNvPr id="161796" name="Rectangle 52"/>
          <p:cNvSpPr>
            <a:spLocks noGrp="1" noChangeArrowheads="1"/>
          </p:cNvSpPr>
          <p:nvPr>
            <p:ph type="body" idx="1"/>
          </p:nvPr>
        </p:nvSpPr>
        <p:spPr>
          <a:xfrm>
            <a:off x="685800" y="958850"/>
            <a:ext cx="7772400" cy="4611688"/>
          </a:xfrm>
          <a:noFill/>
        </p:spPr>
        <p:txBody>
          <a:bodyPr/>
          <a:lstStyle/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</p:txBody>
      </p:sp>
      <p:sp>
        <p:nvSpPr>
          <p:cNvPr id="396341" name="Text Box 53"/>
          <p:cNvSpPr txBox="1">
            <a:spLocks noChangeArrowheads="1"/>
          </p:cNvSpPr>
          <p:nvPr/>
        </p:nvSpPr>
        <p:spPr bwMode="auto">
          <a:xfrm>
            <a:off x="395288" y="2781300"/>
            <a:ext cx="8280400" cy="193899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数组下标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代表猴子编号</a:t>
            </a:r>
            <a:r>
              <a:rPr lang="zh-CN" altLang="en-US" sz="2400" b="1" dirty="0"/>
              <a:t>；</a:t>
            </a:r>
            <a:r>
              <a:rPr lang="en-US" altLang="zh-CN" sz="2400" b="1" dirty="0"/>
              <a:t>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存储编号为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的猴子的下一个猴子的编号（应用指针的原理）。例如：下标为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的数组元素存放值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，表示编号为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的猴子的下一个猴子是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。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/>
              <a:t>当编号为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的猴子出圈后， 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号后面猴子的编号保存到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号前面猴子处</a:t>
            </a:r>
            <a:r>
              <a:rPr lang="en-US" altLang="zh-CN" sz="2400" b="1" dirty="0"/>
              <a:t>:a[3]=a[4]</a:t>
            </a:r>
          </a:p>
        </p:txBody>
      </p:sp>
      <p:sp>
        <p:nvSpPr>
          <p:cNvPr id="396342" name="Text Box 54"/>
          <p:cNvSpPr txBox="1">
            <a:spLocks noChangeArrowheads="1"/>
          </p:cNvSpPr>
          <p:nvPr/>
        </p:nvSpPr>
        <p:spPr bwMode="auto">
          <a:xfrm>
            <a:off x="1331913" y="16287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en-US" sz="2400" b="1"/>
          </a:p>
        </p:txBody>
      </p:sp>
      <p:sp>
        <p:nvSpPr>
          <p:cNvPr id="396343" name="Text Box 55"/>
          <p:cNvSpPr txBox="1">
            <a:spLocks noChangeArrowheads="1"/>
          </p:cNvSpPr>
          <p:nvPr/>
        </p:nvSpPr>
        <p:spPr bwMode="auto">
          <a:xfrm>
            <a:off x="1908175" y="16287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2</a:t>
            </a:r>
          </a:p>
        </p:txBody>
      </p:sp>
      <p:sp>
        <p:nvSpPr>
          <p:cNvPr id="396344" name="Text Box 56"/>
          <p:cNvSpPr txBox="1">
            <a:spLocks noChangeArrowheads="1"/>
          </p:cNvSpPr>
          <p:nvPr/>
        </p:nvSpPr>
        <p:spPr bwMode="auto">
          <a:xfrm>
            <a:off x="2484438" y="16287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396345" name="Text Box 57"/>
          <p:cNvSpPr txBox="1">
            <a:spLocks noChangeArrowheads="1"/>
          </p:cNvSpPr>
          <p:nvPr/>
        </p:nvSpPr>
        <p:spPr bwMode="auto">
          <a:xfrm>
            <a:off x="3059113" y="16287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4</a:t>
            </a:r>
          </a:p>
        </p:txBody>
      </p:sp>
      <p:sp>
        <p:nvSpPr>
          <p:cNvPr id="396346" name="Text Box 58"/>
          <p:cNvSpPr txBox="1">
            <a:spLocks noChangeArrowheads="1"/>
          </p:cNvSpPr>
          <p:nvPr/>
        </p:nvSpPr>
        <p:spPr bwMode="auto">
          <a:xfrm>
            <a:off x="3635375" y="16287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396347" name="Text Box 59"/>
          <p:cNvSpPr txBox="1">
            <a:spLocks noChangeArrowheads="1"/>
          </p:cNvSpPr>
          <p:nvPr/>
        </p:nvSpPr>
        <p:spPr bwMode="auto">
          <a:xfrm>
            <a:off x="4211638" y="16287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396348" name="Text Box 60"/>
          <p:cNvSpPr txBox="1">
            <a:spLocks noChangeArrowheads="1"/>
          </p:cNvSpPr>
          <p:nvPr/>
        </p:nvSpPr>
        <p:spPr bwMode="auto">
          <a:xfrm>
            <a:off x="1331913" y="2060575"/>
            <a:ext cx="4176712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  </a:t>
            </a:r>
            <a:r>
              <a:rPr lang="en-US" altLang="zh-CN" sz="2400" b="1"/>
              <a:t>0     </a:t>
            </a:r>
            <a:r>
              <a:rPr lang="en-US" altLang="zh-CN" sz="2400" b="1">
                <a:solidFill>
                  <a:srgbClr val="FF3300"/>
                </a:solidFill>
              </a:rPr>
              <a:t>1      2     3     4      5      6</a:t>
            </a:r>
          </a:p>
        </p:txBody>
      </p:sp>
      <p:sp>
        <p:nvSpPr>
          <p:cNvPr id="396349" name="Oval 61"/>
          <p:cNvSpPr>
            <a:spLocks noChangeArrowheads="1"/>
          </p:cNvSpPr>
          <p:nvPr/>
        </p:nvSpPr>
        <p:spPr bwMode="auto">
          <a:xfrm>
            <a:off x="6372225" y="836613"/>
            <a:ext cx="1441450" cy="12969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50" name="Rectangle 62"/>
          <p:cNvSpPr>
            <a:spLocks noChangeArrowheads="1"/>
          </p:cNvSpPr>
          <p:nvPr/>
        </p:nvSpPr>
        <p:spPr bwMode="auto">
          <a:xfrm>
            <a:off x="7667625" y="74930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②</a:t>
            </a:r>
          </a:p>
        </p:txBody>
      </p:sp>
      <p:sp>
        <p:nvSpPr>
          <p:cNvPr id="396351" name="Rectangle 63"/>
          <p:cNvSpPr>
            <a:spLocks noChangeArrowheads="1"/>
          </p:cNvSpPr>
          <p:nvPr/>
        </p:nvSpPr>
        <p:spPr bwMode="auto">
          <a:xfrm>
            <a:off x="6804025" y="404813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6352" name="Rectangle 64"/>
          <p:cNvSpPr>
            <a:spLocks noChangeArrowheads="1"/>
          </p:cNvSpPr>
          <p:nvPr/>
        </p:nvSpPr>
        <p:spPr bwMode="auto">
          <a:xfrm>
            <a:off x="7667625" y="1700213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6353" name="Rectangle 65"/>
          <p:cNvSpPr>
            <a:spLocks noChangeArrowheads="1"/>
          </p:cNvSpPr>
          <p:nvPr/>
        </p:nvSpPr>
        <p:spPr bwMode="auto">
          <a:xfrm>
            <a:off x="6877050" y="206057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④</a:t>
            </a:r>
          </a:p>
        </p:txBody>
      </p:sp>
      <p:sp>
        <p:nvSpPr>
          <p:cNvPr id="396354" name="Rectangle 66"/>
          <p:cNvSpPr>
            <a:spLocks noChangeArrowheads="1"/>
          </p:cNvSpPr>
          <p:nvPr/>
        </p:nvSpPr>
        <p:spPr bwMode="auto">
          <a:xfrm>
            <a:off x="5975350" y="1700213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⑤</a:t>
            </a:r>
          </a:p>
        </p:txBody>
      </p:sp>
      <p:sp>
        <p:nvSpPr>
          <p:cNvPr id="396355" name="Rectangle 67"/>
          <p:cNvSpPr>
            <a:spLocks noChangeArrowheads="1"/>
          </p:cNvSpPr>
          <p:nvPr/>
        </p:nvSpPr>
        <p:spPr bwMode="auto">
          <a:xfrm>
            <a:off x="5975350" y="74930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6356" name="Text Box 68"/>
          <p:cNvSpPr txBox="1">
            <a:spLocks noChangeArrowheads="1"/>
          </p:cNvSpPr>
          <p:nvPr/>
        </p:nvSpPr>
        <p:spPr bwMode="auto">
          <a:xfrm>
            <a:off x="4787900" y="16287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1</a:t>
            </a:r>
          </a:p>
        </p:txBody>
      </p:sp>
      <p:sp>
        <p:nvSpPr>
          <p:cNvPr id="396357" name="Text Box 69"/>
          <p:cNvSpPr txBox="1">
            <a:spLocks noChangeArrowheads="1"/>
          </p:cNvSpPr>
          <p:nvPr/>
        </p:nvSpPr>
        <p:spPr bwMode="auto">
          <a:xfrm>
            <a:off x="1331913" y="4914900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en-US" sz="2400" b="1"/>
          </a:p>
        </p:txBody>
      </p:sp>
      <p:sp>
        <p:nvSpPr>
          <p:cNvPr id="396358" name="Text Box 70"/>
          <p:cNvSpPr txBox="1">
            <a:spLocks noChangeArrowheads="1"/>
          </p:cNvSpPr>
          <p:nvPr/>
        </p:nvSpPr>
        <p:spPr bwMode="auto">
          <a:xfrm>
            <a:off x="1908175" y="4914900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2</a:t>
            </a:r>
          </a:p>
        </p:txBody>
      </p:sp>
      <p:sp>
        <p:nvSpPr>
          <p:cNvPr id="396359" name="Text Box 71"/>
          <p:cNvSpPr txBox="1">
            <a:spLocks noChangeArrowheads="1"/>
          </p:cNvSpPr>
          <p:nvPr/>
        </p:nvSpPr>
        <p:spPr bwMode="auto">
          <a:xfrm>
            <a:off x="2484438" y="4914900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396360" name="Text Box 72"/>
          <p:cNvSpPr txBox="1">
            <a:spLocks noChangeArrowheads="1"/>
          </p:cNvSpPr>
          <p:nvPr/>
        </p:nvSpPr>
        <p:spPr bwMode="auto">
          <a:xfrm>
            <a:off x="3059113" y="4914900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96361" name="Text Box 73"/>
          <p:cNvSpPr txBox="1">
            <a:spLocks noChangeArrowheads="1"/>
          </p:cNvSpPr>
          <p:nvPr/>
        </p:nvSpPr>
        <p:spPr bwMode="auto">
          <a:xfrm>
            <a:off x="3635375" y="4914900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396362" name="Text Box 74"/>
          <p:cNvSpPr txBox="1">
            <a:spLocks noChangeArrowheads="1"/>
          </p:cNvSpPr>
          <p:nvPr/>
        </p:nvSpPr>
        <p:spPr bwMode="auto">
          <a:xfrm>
            <a:off x="4211638" y="4914900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396363" name="Text Box 75"/>
          <p:cNvSpPr txBox="1">
            <a:spLocks noChangeArrowheads="1"/>
          </p:cNvSpPr>
          <p:nvPr/>
        </p:nvSpPr>
        <p:spPr bwMode="auto">
          <a:xfrm>
            <a:off x="1331913" y="5346700"/>
            <a:ext cx="4176712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  </a:t>
            </a:r>
            <a:r>
              <a:rPr lang="en-US" altLang="zh-CN" sz="2400" b="1"/>
              <a:t>0     </a:t>
            </a:r>
            <a:r>
              <a:rPr lang="en-US" altLang="zh-CN" sz="2400" b="1">
                <a:solidFill>
                  <a:srgbClr val="FF3300"/>
                </a:solidFill>
              </a:rPr>
              <a:t>1</a:t>
            </a:r>
            <a:r>
              <a:rPr lang="en-US" altLang="zh-CN" sz="2400" b="1"/>
              <a:t>      </a:t>
            </a:r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en-US" altLang="zh-CN" sz="2400" b="1"/>
              <a:t>     </a:t>
            </a:r>
            <a:r>
              <a:rPr lang="en-US" altLang="zh-CN" sz="2400" b="1">
                <a:solidFill>
                  <a:srgbClr val="FF3300"/>
                </a:solidFill>
              </a:rPr>
              <a:t>3</a:t>
            </a:r>
            <a:r>
              <a:rPr lang="en-US" altLang="zh-CN" sz="2400" b="1"/>
              <a:t>     4      </a:t>
            </a:r>
            <a:r>
              <a:rPr lang="en-US" altLang="zh-CN" sz="2400" b="1">
                <a:solidFill>
                  <a:srgbClr val="FF3300"/>
                </a:solidFill>
              </a:rPr>
              <a:t>5</a:t>
            </a:r>
            <a:r>
              <a:rPr lang="en-US" altLang="zh-CN" sz="2400" b="1"/>
              <a:t>      </a:t>
            </a:r>
            <a:r>
              <a:rPr lang="en-US" altLang="zh-CN" sz="2400" b="1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396364" name="Text Box 76"/>
          <p:cNvSpPr txBox="1">
            <a:spLocks noChangeArrowheads="1"/>
          </p:cNvSpPr>
          <p:nvPr/>
        </p:nvSpPr>
        <p:spPr bwMode="auto">
          <a:xfrm>
            <a:off x="4787900" y="4914900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1</a:t>
            </a:r>
          </a:p>
        </p:txBody>
      </p:sp>
      <p:sp>
        <p:nvSpPr>
          <p:cNvPr id="396365" name="Oval 77"/>
          <p:cNvSpPr>
            <a:spLocks noChangeArrowheads="1"/>
          </p:cNvSpPr>
          <p:nvPr/>
        </p:nvSpPr>
        <p:spPr bwMode="auto">
          <a:xfrm>
            <a:off x="6337300" y="4783138"/>
            <a:ext cx="1441450" cy="12969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66" name="Rectangle 78"/>
          <p:cNvSpPr>
            <a:spLocks noChangeArrowheads="1"/>
          </p:cNvSpPr>
          <p:nvPr/>
        </p:nvSpPr>
        <p:spPr bwMode="auto">
          <a:xfrm>
            <a:off x="6769100" y="434975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6367" name="Rectangle 79"/>
          <p:cNvSpPr>
            <a:spLocks noChangeArrowheads="1"/>
          </p:cNvSpPr>
          <p:nvPr/>
        </p:nvSpPr>
        <p:spPr bwMode="auto">
          <a:xfrm>
            <a:off x="7632700" y="5646738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6368" name="Rectangle 80"/>
          <p:cNvSpPr>
            <a:spLocks noChangeArrowheads="1"/>
          </p:cNvSpPr>
          <p:nvPr/>
        </p:nvSpPr>
        <p:spPr bwMode="auto">
          <a:xfrm>
            <a:off x="5940425" y="5646738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⑤</a:t>
            </a:r>
          </a:p>
        </p:txBody>
      </p:sp>
      <p:sp>
        <p:nvSpPr>
          <p:cNvPr id="396369" name="Rectangle 81"/>
          <p:cNvSpPr>
            <a:spLocks noChangeArrowheads="1"/>
          </p:cNvSpPr>
          <p:nvPr/>
        </p:nvSpPr>
        <p:spPr bwMode="auto">
          <a:xfrm>
            <a:off x="5940425" y="469582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6370" name="Freeform 82"/>
          <p:cNvSpPr/>
          <p:nvPr/>
        </p:nvSpPr>
        <p:spPr bwMode="auto">
          <a:xfrm>
            <a:off x="2051050" y="5829300"/>
            <a:ext cx="3252788" cy="263525"/>
          </a:xfrm>
          <a:custGeom>
            <a:avLst/>
            <a:gdLst>
              <a:gd name="T0" fmla="*/ 1913 w 2049"/>
              <a:gd name="T1" fmla="*/ 0 h 302"/>
              <a:gd name="T2" fmla="*/ 1777 w 2049"/>
              <a:gd name="T3" fmla="*/ 227 h 302"/>
              <a:gd name="T4" fmla="*/ 280 w 2049"/>
              <a:gd name="T5" fmla="*/ 272 h 302"/>
              <a:gd name="T6" fmla="*/ 99 w 2049"/>
              <a:gd name="T7" fmla="*/ 45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9" h="302">
                <a:moveTo>
                  <a:pt x="1913" y="0"/>
                </a:moveTo>
                <a:cubicBezTo>
                  <a:pt x="1981" y="91"/>
                  <a:pt x="2049" y="182"/>
                  <a:pt x="1777" y="227"/>
                </a:cubicBezTo>
                <a:cubicBezTo>
                  <a:pt x="1505" y="272"/>
                  <a:pt x="560" y="302"/>
                  <a:pt x="280" y="272"/>
                </a:cubicBezTo>
                <a:cubicBezTo>
                  <a:pt x="0" y="242"/>
                  <a:pt x="49" y="143"/>
                  <a:pt x="99" y="45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1" name="Freeform 83"/>
          <p:cNvSpPr/>
          <p:nvPr/>
        </p:nvSpPr>
        <p:spPr bwMode="auto">
          <a:xfrm>
            <a:off x="2195513" y="5732463"/>
            <a:ext cx="576262" cy="144462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2" name="Freeform 84"/>
          <p:cNvSpPr/>
          <p:nvPr/>
        </p:nvSpPr>
        <p:spPr bwMode="auto">
          <a:xfrm>
            <a:off x="3276600" y="5732463"/>
            <a:ext cx="1150938" cy="144462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3" name="Freeform 85"/>
          <p:cNvSpPr/>
          <p:nvPr/>
        </p:nvSpPr>
        <p:spPr bwMode="auto">
          <a:xfrm>
            <a:off x="4500563" y="5732463"/>
            <a:ext cx="647700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4" name="Freeform 86"/>
          <p:cNvSpPr/>
          <p:nvPr/>
        </p:nvSpPr>
        <p:spPr bwMode="auto">
          <a:xfrm>
            <a:off x="2124075" y="2420938"/>
            <a:ext cx="647700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5" name="Freeform 87"/>
          <p:cNvSpPr/>
          <p:nvPr/>
        </p:nvSpPr>
        <p:spPr bwMode="auto">
          <a:xfrm>
            <a:off x="2814638" y="2463800"/>
            <a:ext cx="503237" cy="71438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6" name="Freeform 88"/>
          <p:cNvSpPr/>
          <p:nvPr/>
        </p:nvSpPr>
        <p:spPr bwMode="auto">
          <a:xfrm>
            <a:off x="3348038" y="2420938"/>
            <a:ext cx="503237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7" name="Freeform 89"/>
          <p:cNvSpPr/>
          <p:nvPr/>
        </p:nvSpPr>
        <p:spPr bwMode="auto">
          <a:xfrm>
            <a:off x="3895725" y="2420938"/>
            <a:ext cx="503238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8" name="Freeform 90"/>
          <p:cNvSpPr/>
          <p:nvPr/>
        </p:nvSpPr>
        <p:spPr bwMode="auto">
          <a:xfrm>
            <a:off x="4500563" y="2420938"/>
            <a:ext cx="503237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9" name="Freeform 91"/>
          <p:cNvSpPr/>
          <p:nvPr/>
        </p:nvSpPr>
        <p:spPr bwMode="auto">
          <a:xfrm>
            <a:off x="1703388" y="2455863"/>
            <a:ext cx="3852862" cy="252412"/>
          </a:xfrm>
          <a:custGeom>
            <a:avLst/>
            <a:gdLst>
              <a:gd name="T0" fmla="*/ 2125 w 2427"/>
              <a:gd name="T1" fmla="*/ 0 h 159"/>
              <a:gd name="T2" fmla="*/ 2125 w 2427"/>
              <a:gd name="T3" fmla="*/ 136 h 159"/>
              <a:gd name="T4" fmla="*/ 310 w 2427"/>
              <a:gd name="T5" fmla="*/ 136 h 159"/>
              <a:gd name="T6" fmla="*/ 265 w 2427"/>
              <a:gd name="T7" fmla="*/ 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27" h="159">
                <a:moveTo>
                  <a:pt x="2125" y="0"/>
                </a:moveTo>
                <a:cubicBezTo>
                  <a:pt x="2276" y="56"/>
                  <a:pt x="2427" y="113"/>
                  <a:pt x="2125" y="136"/>
                </a:cubicBezTo>
                <a:cubicBezTo>
                  <a:pt x="1823" y="159"/>
                  <a:pt x="620" y="159"/>
                  <a:pt x="310" y="136"/>
                </a:cubicBezTo>
                <a:cubicBezTo>
                  <a:pt x="0" y="113"/>
                  <a:pt x="132" y="56"/>
                  <a:pt x="26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80" name="Text Box 92"/>
          <p:cNvSpPr txBox="1">
            <a:spLocks noChangeArrowheads="1"/>
          </p:cNvSpPr>
          <p:nvPr/>
        </p:nvSpPr>
        <p:spPr bwMode="auto">
          <a:xfrm>
            <a:off x="323850" y="1628775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数组</a:t>
            </a:r>
            <a:r>
              <a:rPr lang="en-US" altLang="zh-CN" sz="2400" b="1"/>
              <a:t>a</a:t>
            </a:r>
          </a:p>
        </p:txBody>
      </p:sp>
      <p:sp>
        <p:nvSpPr>
          <p:cNvPr id="396381" name="Text Box 93"/>
          <p:cNvSpPr txBox="1">
            <a:spLocks noChangeArrowheads="1"/>
          </p:cNvSpPr>
          <p:nvPr/>
        </p:nvSpPr>
        <p:spPr bwMode="auto">
          <a:xfrm>
            <a:off x="323850" y="4940300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数组</a:t>
            </a:r>
            <a:r>
              <a:rPr lang="en-US" altLang="zh-CN" sz="2400" b="1"/>
              <a:t>a</a:t>
            </a:r>
          </a:p>
        </p:txBody>
      </p:sp>
      <p:sp>
        <p:nvSpPr>
          <p:cNvPr id="396382" name="Rectangle 94"/>
          <p:cNvSpPr>
            <a:spLocks noChangeArrowheads="1"/>
          </p:cNvSpPr>
          <p:nvPr/>
        </p:nvSpPr>
        <p:spPr bwMode="auto">
          <a:xfrm>
            <a:off x="7667625" y="472440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②</a:t>
            </a:r>
          </a:p>
        </p:txBody>
      </p:sp>
      <p:sp>
        <p:nvSpPr>
          <p:cNvPr id="396383" name="Freeform 95"/>
          <p:cNvSpPr/>
          <p:nvPr/>
        </p:nvSpPr>
        <p:spPr bwMode="auto">
          <a:xfrm>
            <a:off x="2771775" y="5803900"/>
            <a:ext cx="576263" cy="144463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BE733D-D1F1-4653-8B30-5206A01C3A2B}" type="slidenum">
              <a:rPr lang="zh-CN" altLang="en-US" sz="1400" smtClean="0"/>
              <a:t>22</a:t>
            </a:fld>
            <a:endParaRPr lang="en-US" altLang="zh-CN" sz="1400"/>
          </a:p>
        </p:txBody>
      </p:sp>
      <p:sp>
        <p:nvSpPr>
          <p:cNvPr id="162819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/>
              <a:t>出圈</a:t>
            </a:r>
          </a:p>
        </p:txBody>
      </p:sp>
      <p:sp>
        <p:nvSpPr>
          <p:cNvPr id="16282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700213"/>
            <a:ext cx="7772400" cy="4611687"/>
          </a:xfrm>
          <a:noFill/>
        </p:spPr>
        <p:txBody>
          <a:bodyPr/>
          <a:lstStyle/>
          <a:p>
            <a:pPr eaLnBrk="1" hangingPunct="1"/>
            <a:endParaRPr lang="zh-CN" altLang="en-US" sz="2400" b="1"/>
          </a:p>
          <a:p>
            <a:pPr eaLnBrk="1" hangingPunct="1"/>
            <a:endParaRPr lang="zh-CN" altLang="en-US" sz="2400" b="1"/>
          </a:p>
          <a:p>
            <a:pPr eaLnBrk="1" hangingPunct="1"/>
            <a:r>
              <a:rPr lang="zh-CN" altLang="en-US" sz="2400" b="1"/>
              <a:t>假设</a:t>
            </a:r>
            <a:r>
              <a:rPr lang="en-US" altLang="zh-CN" sz="2400" b="1"/>
              <a:t>5</a:t>
            </a:r>
            <a:r>
              <a:rPr lang="zh-CN" altLang="en-US" sz="2400" b="1"/>
              <a:t>号猴子要出圈，则需要把</a:t>
            </a:r>
            <a:r>
              <a:rPr lang="en-US" altLang="zh-CN" sz="2400" b="1"/>
              <a:t>5</a:t>
            </a:r>
            <a:r>
              <a:rPr lang="zh-CN" altLang="en-US" sz="2400" b="1"/>
              <a:t>号后面猴子的编号保存到</a:t>
            </a:r>
            <a:r>
              <a:rPr lang="en-US" altLang="zh-CN" sz="2400" b="1"/>
              <a:t>5</a:t>
            </a:r>
            <a:r>
              <a:rPr lang="zh-CN" altLang="en-US" sz="2400" b="1"/>
              <a:t>号前面猴子处</a:t>
            </a:r>
            <a:r>
              <a:rPr lang="en-US" altLang="zh-CN" sz="2400" b="1"/>
              <a:t>:   a[3]=a[5]</a:t>
            </a:r>
          </a:p>
        </p:txBody>
      </p:sp>
      <p:sp>
        <p:nvSpPr>
          <p:cNvPr id="397318" name="Text Box 6"/>
          <p:cNvSpPr txBox="1">
            <a:spLocks noChangeArrowheads="1"/>
          </p:cNvSpPr>
          <p:nvPr/>
        </p:nvSpPr>
        <p:spPr bwMode="auto">
          <a:xfrm>
            <a:off x="827088" y="5013325"/>
            <a:ext cx="7561262" cy="1014413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2"/>
            </a:solidFill>
            <a:miter lim="800000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更一般的，编号为</a:t>
            </a:r>
            <a:r>
              <a:rPr lang="en-US" altLang="zh-CN" sz="2400" b="1"/>
              <a:t>i</a:t>
            </a:r>
            <a:r>
              <a:rPr lang="zh-CN" altLang="en-US" sz="2400" b="1"/>
              <a:t>的猴子出圈：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 </a:t>
            </a:r>
            <a:r>
              <a:rPr lang="en-US" altLang="zh-CN" sz="2400" b="1"/>
              <a:t>a[prei]=a[i];  </a:t>
            </a:r>
            <a:r>
              <a:rPr lang="zh-CN" altLang="en-US" sz="2400" b="1"/>
              <a:t>其中</a:t>
            </a:r>
            <a:r>
              <a:rPr lang="en-US" altLang="zh-CN" sz="2400" b="1"/>
              <a:t>prei</a:t>
            </a:r>
            <a:r>
              <a:rPr lang="zh-CN" altLang="en-US" sz="2400" b="1"/>
              <a:t>是圈中第</a:t>
            </a:r>
            <a:r>
              <a:rPr lang="en-US" altLang="zh-CN" sz="2400" b="1"/>
              <a:t>i</a:t>
            </a:r>
            <a:r>
              <a:rPr lang="zh-CN" altLang="en-US" sz="2400" b="1"/>
              <a:t>号猴子前面猴子的编号</a:t>
            </a:r>
          </a:p>
        </p:txBody>
      </p:sp>
      <p:sp>
        <p:nvSpPr>
          <p:cNvPr id="397319" name="Oval 7"/>
          <p:cNvSpPr>
            <a:spLocks noChangeArrowheads="1"/>
          </p:cNvSpPr>
          <p:nvPr/>
        </p:nvSpPr>
        <p:spPr bwMode="auto">
          <a:xfrm>
            <a:off x="6372225" y="1196975"/>
            <a:ext cx="1441450" cy="12969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20" name="Rectangle 8"/>
          <p:cNvSpPr>
            <a:spLocks noChangeArrowheads="1"/>
          </p:cNvSpPr>
          <p:nvPr/>
        </p:nvSpPr>
        <p:spPr bwMode="auto">
          <a:xfrm>
            <a:off x="6804025" y="69215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7321" name="Rectangle 9"/>
          <p:cNvSpPr>
            <a:spLocks noChangeArrowheads="1"/>
          </p:cNvSpPr>
          <p:nvPr/>
        </p:nvSpPr>
        <p:spPr bwMode="auto">
          <a:xfrm>
            <a:off x="7667625" y="206057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7322" name="Rectangle 10"/>
          <p:cNvSpPr>
            <a:spLocks noChangeArrowheads="1"/>
          </p:cNvSpPr>
          <p:nvPr/>
        </p:nvSpPr>
        <p:spPr bwMode="auto">
          <a:xfrm>
            <a:off x="5975350" y="206057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⑤</a:t>
            </a:r>
          </a:p>
        </p:txBody>
      </p:sp>
      <p:sp>
        <p:nvSpPr>
          <p:cNvPr id="397323" name="Rectangle 11"/>
          <p:cNvSpPr>
            <a:spLocks noChangeArrowheads="1"/>
          </p:cNvSpPr>
          <p:nvPr/>
        </p:nvSpPr>
        <p:spPr bwMode="auto">
          <a:xfrm>
            <a:off x="5975350" y="1109663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7324" name="Oval 12"/>
          <p:cNvSpPr>
            <a:spLocks noChangeArrowheads="1"/>
          </p:cNvSpPr>
          <p:nvPr/>
        </p:nvSpPr>
        <p:spPr bwMode="auto">
          <a:xfrm>
            <a:off x="6481763" y="3644900"/>
            <a:ext cx="1441450" cy="12969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25" name="Rectangle 13"/>
          <p:cNvSpPr>
            <a:spLocks noChangeArrowheads="1"/>
          </p:cNvSpPr>
          <p:nvPr/>
        </p:nvSpPr>
        <p:spPr bwMode="auto">
          <a:xfrm>
            <a:off x="6913563" y="3213100"/>
            <a:ext cx="541337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7326" name="Rectangle 14"/>
          <p:cNvSpPr>
            <a:spLocks noChangeArrowheads="1"/>
          </p:cNvSpPr>
          <p:nvPr/>
        </p:nvSpPr>
        <p:spPr bwMode="auto">
          <a:xfrm>
            <a:off x="7777163" y="4508500"/>
            <a:ext cx="541337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7327" name="Rectangle 15"/>
          <p:cNvSpPr>
            <a:spLocks noChangeArrowheads="1"/>
          </p:cNvSpPr>
          <p:nvPr/>
        </p:nvSpPr>
        <p:spPr bwMode="auto">
          <a:xfrm>
            <a:off x="6084888" y="3557588"/>
            <a:ext cx="541337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7328" name="Text Box 16"/>
          <p:cNvSpPr txBox="1">
            <a:spLocks noChangeArrowheads="1"/>
          </p:cNvSpPr>
          <p:nvPr/>
        </p:nvSpPr>
        <p:spPr bwMode="auto">
          <a:xfrm>
            <a:off x="1619250" y="13414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en-US" sz="2400" b="1"/>
          </a:p>
        </p:txBody>
      </p:sp>
      <p:sp>
        <p:nvSpPr>
          <p:cNvPr id="397329" name="Text Box 17"/>
          <p:cNvSpPr txBox="1">
            <a:spLocks noChangeArrowheads="1"/>
          </p:cNvSpPr>
          <p:nvPr/>
        </p:nvSpPr>
        <p:spPr bwMode="auto">
          <a:xfrm>
            <a:off x="2195513" y="13414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397330" name="Text Box 18"/>
          <p:cNvSpPr txBox="1">
            <a:spLocks noChangeArrowheads="1"/>
          </p:cNvSpPr>
          <p:nvPr/>
        </p:nvSpPr>
        <p:spPr bwMode="auto">
          <a:xfrm>
            <a:off x="2771775" y="13414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397331" name="Text Box 19"/>
          <p:cNvSpPr txBox="1">
            <a:spLocks noChangeArrowheads="1"/>
          </p:cNvSpPr>
          <p:nvPr/>
        </p:nvSpPr>
        <p:spPr bwMode="auto">
          <a:xfrm>
            <a:off x="3346450" y="13414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397332" name="Text Box 20"/>
          <p:cNvSpPr txBox="1">
            <a:spLocks noChangeArrowheads="1"/>
          </p:cNvSpPr>
          <p:nvPr/>
        </p:nvSpPr>
        <p:spPr bwMode="auto">
          <a:xfrm>
            <a:off x="3922713" y="13414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397333" name="Text Box 21"/>
          <p:cNvSpPr txBox="1">
            <a:spLocks noChangeArrowheads="1"/>
          </p:cNvSpPr>
          <p:nvPr/>
        </p:nvSpPr>
        <p:spPr bwMode="auto">
          <a:xfrm>
            <a:off x="4498975" y="13414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397334" name="Text Box 22"/>
          <p:cNvSpPr txBox="1">
            <a:spLocks noChangeArrowheads="1"/>
          </p:cNvSpPr>
          <p:nvPr/>
        </p:nvSpPr>
        <p:spPr bwMode="auto">
          <a:xfrm>
            <a:off x="1619250" y="1773238"/>
            <a:ext cx="417671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  </a:t>
            </a:r>
            <a:r>
              <a:rPr lang="en-US" altLang="zh-CN" sz="2400" b="1"/>
              <a:t>0     </a:t>
            </a:r>
            <a:r>
              <a:rPr lang="en-US" altLang="zh-CN" sz="2400" b="1">
                <a:solidFill>
                  <a:srgbClr val="FF3300"/>
                </a:solidFill>
              </a:rPr>
              <a:t>1</a:t>
            </a:r>
            <a:r>
              <a:rPr lang="en-US" altLang="zh-CN" sz="2400" b="1"/>
              <a:t>      2     </a:t>
            </a:r>
            <a:r>
              <a:rPr lang="en-US" altLang="zh-CN" sz="2400" b="1">
                <a:solidFill>
                  <a:srgbClr val="FF3300"/>
                </a:solidFill>
              </a:rPr>
              <a:t>3</a:t>
            </a:r>
            <a:r>
              <a:rPr lang="en-US" altLang="zh-CN" sz="2400" b="1"/>
              <a:t>     4      </a:t>
            </a:r>
            <a:r>
              <a:rPr lang="en-US" altLang="zh-CN" sz="2400" b="1">
                <a:solidFill>
                  <a:srgbClr val="FF3300"/>
                </a:solidFill>
              </a:rPr>
              <a:t>5</a:t>
            </a:r>
            <a:r>
              <a:rPr lang="en-US" altLang="zh-CN" sz="2400" b="1"/>
              <a:t>      </a:t>
            </a:r>
            <a:r>
              <a:rPr lang="en-US" altLang="zh-CN" sz="2400" b="1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397335" name="Text Box 23"/>
          <p:cNvSpPr txBox="1">
            <a:spLocks noChangeArrowheads="1"/>
          </p:cNvSpPr>
          <p:nvPr/>
        </p:nvSpPr>
        <p:spPr bwMode="auto">
          <a:xfrm>
            <a:off x="5075238" y="13414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1</a:t>
            </a:r>
          </a:p>
        </p:txBody>
      </p:sp>
      <p:sp>
        <p:nvSpPr>
          <p:cNvPr id="397336" name="Freeform 24"/>
          <p:cNvSpPr/>
          <p:nvPr/>
        </p:nvSpPr>
        <p:spPr bwMode="auto">
          <a:xfrm>
            <a:off x="2338388" y="2255838"/>
            <a:ext cx="3252787" cy="309562"/>
          </a:xfrm>
          <a:custGeom>
            <a:avLst/>
            <a:gdLst>
              <a:gd name="T0" fmla="*/ 1913 w 2049"/>
              <a:gd name="T1" fmla="*/ 0 h 302"/>
              <a:gd name="T2" fmla="*/ 1777 w 2049"/>
              <a:gd name="T3" fmla="*/ 227 h 302"/>
              <a:gd name="T4" fmla="*/ 280 w 2049"/>
              <a:gd name="T5" fmla="*/ 272 h 302"/>
              <a:gd name="T6" fmla="*/ 99 w 2049"/>
              <a:gd name="T7" fmla="*/ 45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9" h="302">
                <a:moveTo>
                  <a:pt x="1913" y="0"/>
                </a:moveTo>
                <a:cubicBezTo>
                  <a:pt x="1981" y="91"/>
                  <a:pt x="2049" y="182"/>
                  <a:pt x="1777" y="227"/>
                </a:cubicBezTo>
                <a:cubicBezTo>
                  <a:pt x="1505" y="272"/>
                  <a:pt x="560" y="302"/>
                  <a:pt x="280" y="272"/>
                </a:cubicBezTo>
                <a:cubicBezTo>
                  <a:pt x="0" y="242"/>
                  <a:pt x="49" y="143"/>
                  <a:pt x="99" y="45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37" name="Freeform 25"/>
          <p:cNvSpPr/>
          <p:nvPr/>
        </p:nvSpPr>
        <p:spPr bwMode="auto">
          <a:xfrm>
            <a:off x="2482850" y="2159000"/>
            <a:ext cx="1008063" cy="144463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38" name="Freeform 26"/>
          <p:cNvSpPr/>
          <p:nvPr/>
        </p:nvSpPr>
        <p:spPr bwMode="auto">
          <a:xfrm>
            <a:off x="3563938" y="2159000"/>
            <a:ext cx="1150937" cy="144463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39" name="Freeform 27"/>
          <p:cNvSpPr/>
          <p:nvPr/>
        </p:nvSpPr>
        <p:spPr bwMode="auto">
          <a:xfrm>
            <a:off x="4787900" y="2159000"/>
            <a:ext cx="647700" cy="71438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40" name="Text Box 28"/>
          <p:cNvSpPr txBox="1">
            <a:spLocks noChangeArrowheads="1"/>
          </p:cNvSpPr>
          <p:nvPr/>
        </p:nvSpPr>
        <p:spPr bwMode="auto">
          <a:xfrm>
            <a:off x="611188" y="1366838"/>
            <a:ext cx="1008062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数组</a:t>
            </a:r>
            <a:r>
              <a:rPr lang="en-US" altLang="zh-CN" sz="2400" b="1"/>
              <a:t>a</a:t>
            </a:r>
          </a:p>
        </p:txBody>
      </p:sp>
      <p:grpSp>
        <p:nvGrpSpPr>
          <p:cNvPr id="162844" name="Group 29"/>
          <p:cNvGrpSpPr/>
          <p:nvPr/>
        </p:nvGrpSpPr>
        <p:grpSpPr bwMode="auto">
          <a:xfrm>
            <a:off x="1331913" y="3500438"/>
            <a:ext cx="4176712" cy="1154112"/>
            <a:chOff x="839" y="2340"/>
            <a:chExt cx="2631" cy="727"/>
          </a:xfrm>
        </p:grpSpPr>
        <p:grpSp>
          <p:nvGrpSpPr>
            <p:cNvPr id="162845" name="Group 30"/>
            <p:cNvGrpSpPr/>
            <p:nvPr/>
          </p:nvGrpSpPr>
          <p:grpSpPr bwMode="auto">
            <a:xfrm>
              <a:off x="839" y="2340"/>
              <a:ext cx="2631" cy="560"/>
              <a:chOff x="839" y="2416"/>
              <a:chExt cx="2631" cy="560"/>
            </a:xfrm>
          </p:grpSpPr>
          <p:sp>
            <p:nvSpPr>
              <p:cNvPr id="397343" name="Text Box 31"/>
              <p:cNvSpPr txBox="1">
                <a:spLocks noChangeArrowheads="1"/>
              </p:cNvSpPr>
              <p:nvPr/>
            </p:nvSpPr>
            <p:spPr bwMode="auto">
              <a:xfrm>
                <a:off x="839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endParaRPr lang="zh-CN" altLang="en-US" sz="2400" b="1"/>
              </a:p>
            </p:txBody>
          </p:sp>
          <p:sp>
            <p:nvSpPr>
              <p:cNvPr id="397344" name="Text Box 32"/>
              <p:cNvSpPr txBox="1">
                <a:spLocks noChangeArrowheads="1"/>
              </p:cNvSpPr>
              <p:nvPr/>
            </p:nvSpPr>
            <p:spPr bwMode="auto">
              <a:xfrm>
                <a:off x="1202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3</a:t>
                </a:r>
              </a:p>
            </p:txBody>
          </p:sp>
          <p:sp>
            <p:nvSpPr>
              <p:cNvPr id="397345" name="Text Box 33"/>
              <p:cNvSpPr txBox="1">
                <a:spLocks noChangeArrowheads="1"/>
              </p:cNvSpPr>
              <p:nvPr/>
            </p:nvSpPr>
            <p:spPr bwMode="auto">
              <a:xfrm>
                <a:off x="1565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3</a:t>
                </a:r>
              </a:p>
            </p:txBody>
          </p:sp>
          <p:sp>
            <p:nvSpPr>
              <p:cNvPr id="397346" name="Text Box 34"/>
              <p:cNvSpPr txBox="1">
                <a:spLocks noChangeArrowheads="1"/>
              </p:cNvSpPr>
              <p:nvPr/>
            </p:nvSpPr>
            <p:spPr bwMode="auto">
              <a:xfrm>
                <a:off x="1927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>
                    <a:solidFill>
                      <a:schemeClr val="accent2"/>
                    </a:solidFill>
                  </a:rPr>
                  <a:t>6</a:t>
                </a:r>
              </a:p>
            </p:txBody>
          </p:sp>
          <p:sp>
            <p:nvSpPr>
              <p:cNvPr id="397347" name="Text Box 35"/>
              <p:cNvSpPr txBox="1">
                <a:spLocks noChangeArrowheads="1"/>
              </p:cNvSpPr>
              <p:nvPr/>
            </p:nvSpPr>
            <p:spPr bwMode="auto">
              <a:xfrm>
                <a:off x="2290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5</a:t>
                </a:r>
              </a:p>
            </p:txBody>
          </p:sp>
          <p:sp>
            <p:nvSpPr>
              <p:cNvPr id="397348" name="Text Box 36"/>
              <p:cNvSpPr txBox="1">
                <a:spLocks noChangeArrowheads="1"/>
              </p:cNvSpPr>
              <p:nvPr/>
            </p:nvSpPr>
            <p:spPr bwMode="auto">
              <a:xfrm>
                <a:off x="2653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6</a:t>
                </a:r>
              </a:p>
            </p:txBody>
          </p:sp>
          <p:sp>
            <p:nvSpPr>
              <p:cNvPr id="397349" name="Text Box 37"/>
              <p:cNvSpPr txBox="1">
                <a:spLocks noChangeArrowheads="1"/>
              </p:cNvSpPr>
              <p:nvPr/>
            </p:nvSpPr>
            <p:spPr bwMode="auto">
              <a:xfrm>
                <a:off x="839" y="2688"/>
                <a:ext cx="2631" cy="288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None/>
                  <a:defRPr/>
                </a:pPr>
                <a:r>
                  <a:rPr lang="zh-CN" altLang="en-US" sz="2400" b="1"/>
                  <a:t>  </a:t>
                </a:r>
                <a:r>
                  <a:rPr lang="en-US" altLang="zh-CN" sz="2400" b="1"/>
                  <a:t>0     </a:t>
                </a:r>
                <a:r>
                  <a:rPr lang="en-US" altLang="zh-CN" sz="2400" b="1">
                    <a:solidFill>
                      <a:srgbClr val="FF3300"/>
                    </a:solidFill>
                  </a:rPr>
                  <a:t>1</a:t>
                </a:r>
                <a:r>
                  <a:rPr lang="en-US" altLang="zh-CN" sz="2400" b="1"/>
                  <a:t>      2     </a:t>
                </a:r>
                <a:r>
                  <a:rPr lang="en-US" altLang="zh-CN" sz="2400" b="1">
                    <a:solidFill>
                      <a:srgbClr val="FF3300"/>
                    </a:solidFill>
                  </a:rPr>
                  <a:t>3</a:t>
                </a:r>
                <a:r>
                  <a:rPr lang="en-US" altLang="zh-CN" sz="2400" b="1"/>
                  <a:t>     4      5      </a:t>
                </a:r>
                <a:r>
                  <a:rPr lang="en-US" altLang="zh-CN" sz="2400" b="1">
                    <a:solidFill>
                      <a:srgbClr val="FF3300"/>
                    </a:solidFill>
                  </a:rPr>
                  <a:t>6</a:t>
                </a:r>
              </a:p>
            </p:txBody>
          </p:sp>
          <p:sp>
            <p:nvSpPr>
              <p:cNvPr id="397350" name="Text Box 38"/>
              <p:cNvSpPr txBox="1">
                <a:spLocks noChangeArrowheads="1"/>
              </p:cNvSpPr>
              <p:nvPr/>
            </p:nvSpPr>
            <p:spPr bwMode="auto">
              <a:xfrm>
                <a:off x="3016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1</a:t>
                </a:r>
              </a:p>
            </p:txBody>
          </p:sp>
        </p:grpSp>
        <p:sp>
          <p:nvSpPr>
            <p:cNvPr id="397351" name="Freeform 39"/>
            <p:cNvSpPr/>
            <p:nvPr/>
          </p:nvSpPr>
          <p:spPr bwMode="auto">
            <a:xfrm>
              <a:off x="1429" y="2885"/>
              <a:ext cx="635" cy="91"/>
            </a:xfrm>
            <a:custGeom>
              <a:avLst/>
              <a:gdLst>
                <a:gd name="T0" fmla="*/ 0 w 635"/>
                <a:gd name="T1" fmla="*/ 0 h 91"/>
                <a:gd name="T2" fmla="*/ 318 w 635"/>
                <a:gd name="T3" fmla="*/ 91 h 91"/>
                <a:gd name="T4" fmla="*/ 635 w 635"/>
                <a:gd name="T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5" h="91">
                  <a:moveTo>
                    <a:pt x="0" y="0"/>
                  </a:moveTo>
                  <a:cubicBezTo>
                    <a:pt x="106" y="45"/>
                    <a:pt x="212" y="91"/>
                    <a:pt x="318" y="91"/>
                  </a:cubicBezTo>
                  <a:cubicBezTo>
                    <a:pt x="424" y="91"/>
                    <a:pt x="529" y="45"/>
                    <a:pt x="635" y="0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7352" name="Freeform 40"/>
            <p:cNvSpPr/>
            <p:nvPr/>
          </p:nvSpPr>
          <p:spPr bwMode="auto">
            <a:xfrm>
              <a:off x="2109" y="2840"/>
              <a:ext cx="1043" cy="91"/>
            </a:xfrm>
            <a:custGeom>
              <a:avLst/>
              <a:gdLst>
                <a:gd name="T0" fmla="*/ 0 w 635"/>
                <a:gd name="T1" fmla="*/ 0 h 91"/>
                <a:gd name="T2" fmla="*/ 318 w 635"/>
                <a:gd name="T3" fmla="*/ 91 h 91"/>
                <a:gd name="T4" fmla="*/ 635 w 635"/>
                <a:gd name="T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5" h="91">
                  <a:moveTo>
                    <a:pt x="0" y="0"/>
                  </a:moveTo>
                  <a:cubicBezTo>
                    <a:pt x="106" y="45"/>
                    <a:pt x="212" y="91"/>
                    <a:pt x="318" y="91"/>
                  </a:cubicBezTo>
                  <a:cubicBezTo>
                    <a:pt x="424" y="91"/>
                    <a:pt x="529" y="45"/>
                    <a:pt x="635" y="0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7353" name="Freeform 41"/>
            <p:cNvSpPr/>
            <p:nvPr/>
          </p:nvSpPr>
          <p:spPr bwMode="auto">
            <a:xfrm>
              <a:off x="1292" y="2840"/>
              <a:ext cx="2049" cy="227"/>
            </a:xfrm>
            <a:custGeom>
              <a:avLst/>
              <a:gdLst>
                <a:gd name="T0" fmla="*/ 1913 w 2049"/>
                <a:gd name="T1" fmla="*/ 0 h 302"/>
                <a:gd name="T2" fmla="*/ 1777 w 2049"/>
                <a:gd name="T3" fmla="*/ 227 h 302"/>
                <a:gd name="T4" fmla="*/ 280 w 2049"/>
                <a:gd name="T5" fmla="*/ 272 h 302"/>
                <a:gd name="T6" fmla="*/ 99 w 2049"/>
                <a:gd name="T7" fmla="*/ 45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49" h="302">
                  <a:moveTo>
                    <a:pt x="1913" y="0"/>
                  </a:moveTo>
                  <a:cubicBezTo>
                    <a:pt x="1981" y="91"/>
                    <a:pt x="2049" y="182"/>
                    <a:pt x="1777" y="227"/>
                  </a:cubicBezTo>
                  <a:cubicBezTo>
                    <a:pt x="1505" y="272"/>
                    <a:pt x="560" y="302"/>
                    <a:pt x="280" y="272"/>
                  </a:cubicBezTo>
                  <a:cubicBezTo>
                    <a:pt x="0" y="242"/>
                    <a:pt x="49" y="143"/>
                    <a:pt x="99" y="45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BAF5BC-BCF3-4159-AA14-3451C53460FA}" type="slidenum">
              <a:rPr lang="zh-CN" altLang="en-US" sz="1400" smtClean="0"/>
              <a:t>23</a:t>
            </a:fld>
            <a:endParaRPr lang="en-US" altLang="zh-CN" sz="1400"/>
          </a:p>
        </p:txBody>
      </p:sp>
      <p:sp>
        <p:nvSpPr>
          <p:cNvPr id="1638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zh-CN" altLang="en-US" dirty="0"/>
          </a:p>
        </p:txBody>
      </p:sp>
      <p:sp>
        <p:nvSpPr>
          <p:cNvPr id="163844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如何判断只剩一只猴子：</a:t>
            </a:r>
          </a:p>
        </p:txBody>
      </p:sp>
      <p:sp>
        <p:nvSpPr>
          <p:cNvPr id="398342" name="Rectangle 6"/>
          <p:cNvSpPr>
            <a:spLocks noChangeArrowheads="1"/>
          </p:cNvSpPr>
          <p:nvPr/>
        </p:nvSpPr>
        <p:spPr bwMode="auto">
          <a:xfrm>
            <a:off x="611188" y="3183731"/>
            <a:ext cx="5618162" cy="3362325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/>
              <a:t>方法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：若当前访问的序号为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的猴子是最后一个猴子，则</a:t>
            </a:r>
            <a:r>
              <a:rPr lang="en-US" altLang="zh-CN" sz="2400" b="1" dirty="0"/>
              <a:t>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]==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如图，假设当前只剩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号猴子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则 </a:t>
            </a:r>
            <a:r>
              <a:rPr lang="en-US" altLang="zh-CN" sz="2400" b="1" dirty="0"/>
              <a:t>a[3]==3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/>
              <a:t>方法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：设置一个计数器用来计算出圈猴子的数量，当出圈数量为猴子总数</a:t>
            </a:r>
            <a:r>
              <a:rPr lang="en-US" altLang="zh-CN" sz="2400" b="1" dirty="0"/>
              <a:t>-1</a:t>
            </a:r>
            <a:r>
              <a:rPr lang="zh-CN" altLang="en-US" sz="2400" b="1" dirty="0"/>
              <a:t>时，表示只剩一只猴子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zh-CN" sz="2400" b="1" dirty="0"/>
          </a:p>
          <a:p>
            <a:pPr>
              <a:spcBef>
                <a:spcPct val="50000"/>
              </a:spcBef>
              <a:buFontTx/>
              <a:buNone/>
              <a:defRPr/>
            </a:pPr>
            <a:endParaRPr lang="zh-CN" altLang="en-US" sz="2800" b="1" dirty="0"/>
          </a:p>
        </p:txBody>
      </p:sp>
      <p:sp>
        <p:nvSpPr>
          <p:cNvPr id="398343" name="Oval 7"/>
          <p:cNvSpPr>
            <a:spLocks noChangeArrowheads="1"/>
          </p:cNvSpPr>
          <p:nvPr/>
        </p:nvSpPr>
        <p:spPr bwMode="auto">
          <a:xfrm>
            <a:off x="6372225" y="2060575"/>
            <a:ext cx="1441450" cy="12969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8344" name="Rectangle 8"/>
          <p:cNvSpPr>
            <a:spLocks noChangeArrowheads="1"/>
          </p:cNvSpPr>
          <p:nvPr/>
        </p:nvSpPr>
        <p:spPr bwMode="auto">
          <a:xfrm>
            <a:off x="7667625" y="292417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grpSp>
        <p:nvGrpSpPr>
          <p:cNvPr id="163848" name="Group 9"/>
          <p:cNvGrpSpPr/>
          <p:nvPr/>
        </p:nvGrpSpPr>
        <p:grpSpPr bwMode="auto">
          <a:xfrm>
            <a:off x="1258888" y="1989138"/>
            <a:ext cx="4176712" cy="889000"/>
            <a:chOff x="839" y="2416"/>
            <a:chExt cx="2631" cy="560"/>
          </a:xfrm>
        </p:grpSpPr>
        <p:sp>
          <p:nvSpPr>
            <p:cNvPr id="398346" name="Text Box 10"/>
            <p:cNvSpPr txBox="1">
              <a:spLocks noChangeArrowheads="1"/>
            </p:cNvSpPr>
            <p:nvPr/>
          </p:nvSpPr>
          <p:spPr bwMode="auto">
            <a:xfrm>
              <a:off x="839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zh-CN" altLang="en-US" sz="2400" b="1"/>
            </a:p>
          </p:txBody>
        </p:sp>
        <p:sp>
          <p:nvSpPr>
            <p:cNvPr id="398347" name="Text Box 11"/>
            <p:cNvSpPr txBox="1">
              <a:spLocks noChangeArrowheads="1"/>
            </p:cNvSpPr>
            <p:nvPr/>
          </p:nvSpPr>
          <p:spPr bwMode="auto">
            <a:xfrm>
              <a:off x="1202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  <p:sp>
          <p:nvSpPr>
            <p:cNvPr id="398348" name="Text Box 12"/>
            <p:cNvSpPr txBox="1">
              <a:spLocks noChangeArrowheads="1"/>
            </p:cNvSpPr>
            <p:nvPr/>
          </p:nvSpPr>
          <p:spPr bwMode="auto">
            <a:xfrm>
              <a:off x="1565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  <p:sp>
          <p:nvSpPr>
            <p:cNvPr id="398349" name="Text Box 13"/>
            <p:cNvSpPr txBox="1">
              <a:spLocks noChangeArrowheads="1"/>
            </p:cNvSpPr>
            <p:nvPr/>
          </p:nvSpPr>
          <p:spPr bwMode="auto">
            <a:xfrm>
              <a:off x="1927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398350" name="Text Box 14"/>
            <p:cNvSpPr txBox="1">
              <a:spLocks noChangeArrowheads="1"/>
            </p:cNvSpPr>
            <p:nvPr/>
          </p:nvSpPr>
          <p:spPr bwMode="auto">
            <a:xfrm>
              <a:off x="2290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  <p:sp>
          <p:nvSpPr>
            <p:cNvPr id="398351" name="Text Box 15"/>
            <p:cNvSpPr txBox="1">
              <a:spLocks noChangeArrowheads="1"/>
            </p:cNvSpPr>
            <p:nvPr/>
          </p:nvSpPr>
          <p:spPr bwMode="auto">
            <a:xfrm>
              <a:off x="2653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  <p:sp>
          <p:nvSpPr>
            <p:cNvPr id="398352" name="Text Box 16"/>
            <p:cNvSpPr txBox="1">
              <a:spLocks noChangeArrowheads="1"/>
            </p:cNvSpPr>
            <p:nvPr/>
          </p:nvSpPr>
          <p:spPr bwMode="auto">
            <a:xfrm>
              <a:off x="839" y="2688"/>
              <a:ext cx="2631" cy="288"/>
            </a:xfrm>
            <a:prstGeom prst="rect">
              <a:avLst/>
            </a:prstGeom>
            <a:noFill/>
            <a:ln>
              <a:noFill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 b="1"/>
                <a:t>  </a:t>
              </a:r>
              <a:r>
                <a:rPr lang="en-US" altLang="zh-CN" sz="2400" b="1"/>
                <a:t>0     1      2     </a:t>
              </a:r>
              <a:r>
                <a:rPr lang="en-US" altLang="zh-CN" sz="2400" b="1">
                  <a:solidFill>
                    <a:srgbClr val="FF3300"/>
                  </a:solidFill>
                </a:rPr>
                <a:t>3</a:t>
              </a:r>
              <a:r>
                <a:rPr lang="en-US" altLang="zh-CN" sz="2400" b="1"/>
                <a:t>     4      5      6</a:t>
              </a:r>
            </a:p>
          </p:txBody>
        </p:sp>
        <p:sp>
          <p:nvSpPr>
            <p:cNvPr id="398353" name="Text Box 17"/>
            <p:cNvSpPr txBox="1">
              <a:spLocks noChangeArrowheads="1"/>
            </p:cNvSpPr>
            <p:nvPr/>
          </p:nvSpPr>
          <p:spPr bwMode="auto">
            <a:xfrm>
              <a:off x="3016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E06A27-E520-4CD2-B888-61BDAE4C2349}" type="slidenum">
              <a:rPr lang="zh-CN" altLang="en-US" sz="1400" smtClean="0"/>
              <a:t>24</a:t>
            </a:fld>
            <a:endParaRPr lang="en-US" altLang="zh-CN" sz="1400"/>
          </a:p>
        </p:txBody>
      </p:sp>
      <p:graphicFrame>
        <p:nvGraphicFramePr>
          <p:cNvPr id="165891" name="Object 5"/>
          <p:cNvGraphicFramePr>
            <a:graphicFrameLocks noChangeAspect="1"/>
          </p:cNvGraphicFramePr>
          <p:nvPr/>
        </p:nvGraphicFramePr>
        <p:xfrm>
          <a:off x="1189038" y="115888"/>
          <a:ext cx="3455987" cy="336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83485" imgH="2415540" progId="Visio.Drawing.11">
                  <p:embed/>
                </p:oleObj>
              </mc:Choice>
              <mc:Fallback>
                <p:oleObj name="Visio" r:id="rId2" imgW="2483485" imgH="241554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115888"/>
                        <a:ext cx="3455987" cy="336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3495" name="Group 39"/>
          <p:cNvGrpSpPr/>
          <p:nvPr/>
        </p:nvGrpSpPr>
        <p:grpSpPr bwMode="auto">
          <a:xfrm>
            <a:off x="4356100" y="2349500"/>
            <a:ext cx="2089150" cy="509588"/>
            <a:chOff x="2744" y="2387"/>
            <a:chExt cx="1316" cy="321"/>
          </a:xfrm>
        </p:grpSpPr>
        <p:sp>
          <p:nvSpPr>
            <p:cNvPr id="165961" name="Text Box 14"/>
            <p:cNvSpPr txBox="1">
              <a:spLocks noChangeArrowheads="1"/>
            </p:cNvSpPr>
            <p:nvPr/>
          </p:nvSpPr>
          <p:spPr bwMode="auto">
            <a:xfrm>
              <a:off x="3107" y="2477"/>
              <a:ext cx="95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a[prei]=a[i]</a:t>
              </a:r>
            </a:p>
          </p:txBody>
        </p:sp>
        <p:sp>
          <p:nvSpPr>
            <p:cNvPr id="165962" name="Line 18"/>
            <p:cNvSpPr>
              <a:spLocks noChangeShapeType="1"/>
            </p:cNvSpPr>
            <p:nvPr/>
          </p:nvSpPr>
          <p:spPr bwMode="auto">
            <a:xfrm>
              <a:off x="2744" y="2614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63" name="Rectangle 20"/>
            <p:cNvSpPr>
              <a:spLocks noChangeArrowheads="1"/>
            </p:cNvSpPr>
            <p:nvPr/>
          </p:nvSpPr>
          <p:spPr bwMode="auto">
            <a:xfrm>
              <a:off x="3016" y="2387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③</a:t>
              </a:r>
            </a:p>
          </p:txBody>
        </p:sp>
      </p:grpSp>
      <p:grpSp>
        <p:nvGrpSpPr>
          <p:cNvPr id="403494" name="Group 38"/>
          <p:cNvGrpSpPr/>
          <p:nvPr/>
        </p:nvGrpSpPr>
        <p:grpSpPr bwMode="auto">
          <a:xfrm>
            <a:off x="3600450" y="1701800"/>
            <a:ext cx="3276600" cy="509588"/>
            <a:chOff x="2268" y="1979"/>
            <a:chExt cx="2064" cy="321"/>
          </a:xfrm>
        </p:grpSpPr>
        <p:sp>
          <p:nvSpPr>
            <p:cNvPr id="403466" name="Line 10"/>
            <p:cNvSpPr>
              <a:spLocks noChangeShapeType="1"/>
            </p:cNvSpPr>
            <p:nvPr/>
          </p:nvSpPr>
          <p:spPr bwMode="auto">
            <a:xfrm>
              <a:off x="2268" y="2160"/>
              <a:ext cx="953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5959" name="Text Box 16"/>
            <p:cNvSpPr txBox="1">
              <a:spLocks noChangeArrowheads="1"/>
            </p:cNvSpPr>
            <p:nvPr/>
          </p:nvSpPr>
          <p:spPr bwMode="auto">
            <a:xfrm>
              <a:off x="3152" y="2069"/>
              <a:ext cx="1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count%4==0</a:t>
              </a:r>
            </a:p>
          </p:txBody>
        </p:sp>
        <p:sp>
          <p:nvSpPr>
            <p:cNvPr id="165960" name="Rectangle 22"/>
            <p:cNvSpPr>
              <a:spLocks noChangeArrowheads="1"/>
            </p:cNvSpPr>
            <p:nvPr/>
          </p:nvSpPr>
          <p:spPr bwMode="auto">
            <a:xfrm>
              <a:off x="2880" y="1979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②</a:t>
              </a:r>
            </a:p>
          </p:txBody>
        </p:sp>
      </p:grpSp>
      <p:grpSp>
        <p:nvGrpSpPr>
          <p:cNvPr id="403491" name="Group 35"/>
          <p:cNvGrpSpPr/>
          <p:nvPr/>
        </p:nvGrpSpPr>
        <p:grpSpPr bwMode="auto">
          <a:xfrm>
            <a:off x="4211638" y="1412875"/>
            <a:ext cx="3887787" cy="438150"/>
            <a:chOff x="2653" y="1797"/>
            <a:chExt cx="2449" cy="276"/>
          </a:xfrm>
        </p:grpSpPr>
        <p:sp>
          <p:nvSpPr>
            <p:cNvPr id="165955" name="Rectangle 21"/>
            <p:cNvSpPr>
              <a:spLocks noChangeArrowheads="1"/>
            </p:cNvSpPr>
            <p:nvPr/>
          </p:nvSpPr>
          <p:spPr bwMode="auto">
            <a:xfrm>
              <a:off x="3515" y="1797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165956" name="Line 23"/>
            <p:cNvSpPr>
              <a:spLocks noChangeShapeType="1"/>
            </p:cNvSpPr>
            <p:nvPr/>
          </p:nvSpPr>
          <p:spPr bwMode="auto">
            <a:xfrm>
              <a:off x="2653" y="1842"/>
              <a:ext cx="1134" cy="1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7" name="Text Box 24"/>
            <p:cNvSpPr txBox="1">
              <a:spLocks noChangeArrowheads="1"/>
            </p:cNvSpPr>
            <p:nvPr/>
          </p:nvSpPr>
          <p:spPr bwMode="auto">
            <a:xfrm>
              <a:off x="3787" y="1842"/>
              <a:ext cx="13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prei=i;i=a[i]</a:t>
              </a:r>
            </a:p>
          </p:txBody>
        </p:sp>
      </p:grpSp>
      <p:grpSp>
        <p:nvGrpSpPr>
          <p:cNvPr id="403496" name="Group 40"/>
          <p:cNvGrpSpPr/>
          <p:nvPr/>
        </p:nvGrpSpPr>
        <p:grpSpPr bwMode="auto">
          <a:xfrm>
            <a:off x="4427538" y="2781300"/>
            <a:ext cx="4464050" cy="1601788"/>
            <a:chOff x="2789" y="2614"/>
            <a:chExt cx="2540" cy="1056"/>
          </a:xfrm>
        </p:grpSpPr>
        <p:sp>
          <p:nvSpPr>
            <p:cNvPr id="165952" name="Text Box 15"/>
            <p:cNvSpPr txBox="1">
              <a:spLocks noChangeArrowheads="1"/>
            </p:cNvSpPr>
            <p:nvPr/>
          </p:nvSpPr>
          <p:spPr bwMode="auto">
            <a:xfrm>
              <a:off x="3651" y="2704"/>
              <a:ext cx="1678" cy="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i=prei(</a:t>
              </a:r>
              <a:r>
                <a:rPr lang="zh-CN" altLang="en-US" sz="2000" b="1"/>
                <a:t>当编号为</a:t>
              </a:r>
              <a:r>
                <a:rPr lang="en-US" altLang="zh-CN" sz="2000" b="1"/>
                <a:t>i</a:t>
              </a:r>
              <a:r>
                <a:rPr lang="zh-CN" altLang="en-US" sz="2000" b="1"/>
                <a:t>的猴子出圈后，为了能通过</a:t>
              </a:r>
              <a:r>
                <a:rPr lang="en-US" altLang="zh-CN" sz="2000" b="1"/>
                <a:t>i=a[i]</a:t>
              </a:r>
              <a:r>
                <a:rPr lang="zh-CN" altLang="en-US" sz="2000" b="1"/>
                <a:t>操作数到下一个猴子，必须执行此操作</a:t>
              </a:r>
              <a:r>
                <a:rPr lang="en-US" altLang="zh-CN" sz="2000" b="1"/>
                <a:t>)</a:t>
              </a:r>
            </a:p>
          </p:txBody>
        </p:sp>
        <p:sp>
          <p:nvSpPr>
            <p:cNvPr id="165953" name="Line 25"/>
            <p:cNvSpPr>
              <a:spLocks noChangeShapeType="1"/>
            </p:cNvSpPr>
            <p:nvPr/>
          </p:nvSpPr>
          <p:spPr bwMode="auto">
            <a:xfrm>
              <a:off x="2789" y="2614"/>
              <a:ext cx="862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4" name="Rectangle 26"/>
            <p:cNvSpPr>
              <a:spLocks noChangeArrowheads="1"/>
            </p:cNvSpPr>
            <p:nvPr/>
          </p:nvSpPr>
          <p:spPr bwMode="auto">
            <a:xfrm>
              <a:off x="3465" y="2655"/>
              <a:ext cx="250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⑤</a:t>
              </a:r>
            </a:p>
          </p:txBody>
        </p:sp>
      </p:grpSp>
      <p:grpSp>
        <p:nvGrpSpPr>
          <p:cNvPr id="403490" name="Group 34"/>
          <p:cNvGrpSpPr/>
          <p:nvPr/>
        </p:nvGrpSpPr>
        <p:grpSpPr bwMode="auto">
          <a:xfrm>
            <a:off x="4140200" y="1052513"/>
            <a:ext cx="2305050" cy="439737"/>
            <a:chOff x="2608" y="1570"/>
            <a:chExt cx="1452" cy="277"/>
          </a:xfrm>
        </p:grpSpPr>
        <p:sp>
          <p:nvSpPr>
            <p:cNvPr id="165949" name="Line 17"/>
            <p:cNvSpPr>
              <a:spLocks noChangeShapeType="1"/>
            </p:cNvSpPr>
            <p:nvPr/>
          </p:nvSpPr>
          <p:spPr bwMode="auto">
            <a:xfrm flipV="1">
              <a:off x="2608" y="1752"/>
              <a:ext cx="544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0" name="Rectangle 19"/>
            <p:cNvSpPr>
              <a:spLocks noChangeArrowheads="1"/>
            </p:cNvSpPr>
            <p:nvPr/>
          </p:nvSpPr>
          <p:spPr bwMode="auto">
            <a:xfrm>
              <a:off x="2880" y="1570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65951" name="Text Box 27"/>
            <p:cNvSpPr txBox="1">
              <a:spLocks noChangeArrowheads="1"/>
            </p:cNvSpPr>
            <p:nvPr/>
          </p:nvSpPr>
          <p:spPr bwMode="auto">
            <a:xfrm>
              <a:off x="3107" y="1616"/>
              <a:ext cx="95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count++</a:t>
              </a:r>
            </a:p>
          </p:txBody>
        </p:sp>
      </p:grpSp>
      <p:grpSp>
        <p:nvGrpSpPr>
          <p:cNvPr id="403497" name="Group 41"/>
          <p:cNvGrpSpPr/>
          <p:nvPr/>
        </p:nvGrpSpPr>
        <p:grpSpPr bwMode="auto">
          <a:xfrm>
            <a:off x="4321175" y="3213100"/>
            <a:ext cx="1619250" cy="511175"/>
            <a:chOff x="2722" y="2931"/>
            <a:chExt cx="1020" cy="322"/>
          </a:xfrm>
        </p:grpSpPr>
        <p:sp>
          <p:nvSpPr>
            <p:cNvPr id="403467" name="Line 11"/>
            <p:cNvSpPr>
              <a:spLocks noChangeShapeType="1"/>
            </p:cNvSpPr>
            <p:nvPr/>
          </p:nvSpPr>
          <p:spPr bwMode="auto">
            <a:xfrm>
              <a:off x="2722" y="2931"/>
              <a:ext cx="5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5948" name="Text Box 28"/>
            <p:cNvSpPr txBox="1">
              <a:spLocks noChangeArrowheads="1"/>
            </p:cNvSpPr>
            <p:nvPr/>
          </p:nvSpPr>
          <p:spPr bwMode="auto">
            <a:xfrm>
              <a:off x="3334" y="3022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无</a:t>
              </a:r>
            </a:p>
          </p:txBody>
        </p:sp>
      </p:grpSp>
      <p:grpSp>
        <p:nvGrpSpPr>
          <p:cNvPr id="403492" name="Group 36"/>
          <p:cNvGrpSpPr/>
          <p:nvPr/>
        </p:nvGrpSpPr>
        <p:grpSpPr bwMode="auto">
          <a:xfrm>
            <a:off x="3851275" y="549275"/>
            <a:ext cx="2736850" cy="438150"/>
            <a:chOff x="2426" y="1253"/>
            <a:chExt cx="1724" cy="276"/>
          </a:xfrm>
        </p:grpSpPr>
        <p:sp>
          <p:nvSpPr>
            <p:cNvPr id="165944" name="Text Box 29"/>
            <p:cNvSpPr txBox="1">
              <a:spLocks noChangeArrowheads="1"/>
            </p:cNvSpPr>
            <p:nvPr/>
          </p:nvSpPr>
          <p:spPr bwMode="auto">
            <a:xfrm>
              <a:off x="3107" y="1298"/>
              <a:ext cx="104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/>
                <a:t>!a[i]=i</a:t>
              </a:r>
            </a:p>
          </p:txBody>
        </p:sp>
        <p:sp>
          <p:nvSpPr>
            <p:cNvPr id="165945" name="Line 30"/>
            <p:cNvSpPr>
              <a:spLocks noChangeShapeType="1"/>
            </p:cNvSpPr>
            <p:nvPr/>
          </p:nvSpPr>
          <p:spPr bwMode="auto">
            <a:xfrm flipV="1">
              <a:off x="2426" y="1434"/>
              <a:ext cx="72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6" name="Rectangle 31"/>
            <p:cNvSpPr>
              <a:spLocks noChangeArrowheads="1"/>
            </p:cNvSpPr>
            <p:nvPr/>
          </p:nvSpPr>
          <p:spPr bwMode="auto">
            <a:xfrm>
              <a:off x="2925" y="1253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⑥</a:t>
              </a:r>
            </a:p>
          </p:txBody>
        </p:sp>
      </p:grpSp>
      <p:grpSp>
        <p:nvGrpSpPr>
          <p:cNvPr id="403493" name="Group 37"/>
          <p:cNvGrpSpPr/>
          <p:nvPr/>
        </p:nvGrpSpPr>
        <p:grpSpPr bwMode="auto">
          <a:xfrm>
            <a:off x="3563938" y="-26988"/>
            <a:ext cx="3600450" cy="431801"/>
            <a:chOff x="2245" y="890"/>
            <a:chExt cx="2268" cy="272"/>
          </a:xfrm>
        </p:grpSpPr>
        <p:sp>
          <p:nvSpPr>
            <p:cNvPr id="165942" name="Text Box 32"/>
            <p:cNvSpPr txBox="1">
              <a:spLocks noChangeArrowheads="1"/>
            </p:cNvSpPr>
            <p:nvPr/>
          </p:nvSpPr>
          <p:spPr bwMode="auto">
            <a:xfrm>
              <a:off x="2925" y="890"/>
              <a:ext cx="15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count=0;i=</a:t>
              </a:r>
              <a:r>
                <a:rPr lang="zh-CN" altLang="en-US" sz="2000" b="1"/>
                <a:t>猴子总数</a:t>
              </a:r>
              <a:endParaRPr lang="en-US" altLang="zh-CN" sz="2000" b="1"/>
            </a:p>
          </p:txBody>
        </p:sp>
        <p:sp>
          <p:nvSpPr>
            <p:cNvPr id="165943" name="Line 33"/>
            <p:cNvSpPr>
              <a:spLocks noChangeShapeType="1"/>
            </p:cNvSpPr>
            <p:nvPr/>
          </p:nvSpPr>
          <p:spPr bwMode="auto">
            <a:xfrm flipV="1">
              <a:off x="2245" y="1071"/>
              <a:ext cx="68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3579" name="Group 123"/>
          <p:cNvGrpSpPr/>
          <p:nvPr/>
        </p:nvGrpSpPr>
        <p:grpSpPr bwMode="auto">
          <a:xfrm>
            <a:off x="250825" y="3933825"/>
            <a:ext cx="8569325" cy="2297113"/>
            <a:chOff x="158" y="2478"/>
            <a:chExt cx="5398" cy="1447"/>
          </a:xfrm>
        </p:grpSpPr>
        <p:sp>
          <p:nvSpPr>
            <p:cNvPr id="165902" name="Rectangle 82"/>
            <p:cNvSpPr>
              <a:spLocks noChangeArrowheads="1"/>
            </p:cNvSpPr>
            <p:nvPr/>
          </p:nvSpPr>
          <p:spPr bwMode="auto">
            <a:xfrm>
              <a:off x="158" y="2478"/>
              <a:ext cx="5353" cy="1406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03" name="Oval 83"/>
            <p:cNvSpPr>
              <a:spLocks noChangeArrowheads="1"/>
            </p:cNvSpPr>
            <p:nvPr/>
          </p:nvSpPr>
          <p:spPr bwMode="auto">
            <a:xfrm>
              <a:off x="248" y="2613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04" name="Oval 84"/>
            <p:cNvSpPr>
              <a:spLocks noChangeArrowheads="1"/>
            </p:cNvSpPr>
            <p:nvPr/>
          </p:nvSpPr>
          <p:spPr bwMode="auto">
            <a:xfrm>
              <a:off x="475" y="2976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05" name="Oval 85"/>
            <p:cNvSpPr>
              <a:spLocks noChangeArrowheads="1"/>
            </p:cNvSpPr>
            <p:nvPr/>
          </p:nvSpPr>
          <p:spPr bwMode="auto">
            <a:xfrm>
              <a:off x="248" y="3294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06" name="Text Box 86"/>
            <p:cNvSpPr txBox="1">
              <a:spLocks noChangeArrowheads="1"/>
            </p:cNvSpPr>
            <p:nvPr/>
          </p:nvSpPr>
          <p:spPr bwMode="auto">
            <a:xfrm>
              <a:off x="429" y="2523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prei</a:t>
              </a:r>
            </a:p>
          </p:txBody>
        </p:sp>
        <p:sp>
          <p:nvSpPr>
            <p:cNvPr id="165907" name="Text Box 87"/>
            <p:cNvSpPr txBox="1">
              <a:spLocks noChangeArrowheads="1"/>
            </p:cNvSpPr>
            <p:nvPr/>
          </p:nvSpPr>
          <p:spPr bwMode="auto">
            <a:xfrm>
              <a:off x="702" y="2931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</a:t>
              </a:r>
            </a:p>
          </p:txBody>
        </p:sp>
        <p:sp>
          <p:nvSpPr>
            <p:cNvPr id="165908" name="Freeform 88"/>
            <p:cNvSpPr/>
            <p:nvPr/>
          </p:nvSpPr>
          <p:spPr bwMode="auto">
            <a:xfrm>
              <a:off x="384" y="2749"/>
              <a:ext cx="182" cy="227"/>
            </a:xfrm>
            <a:custGeom>
              <a:avLst/>
              <a:gdLst>
                <a:gd name="T0" fmla="*/ 0 w 182"/>
                <a:gd name="T1" fmla="*/ 0 h 227"/>
                <a:gd name="T2" fmla="*/ 182 w 182"/>
                <a:gd name="T3" fmla="*/ 227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227">
                  <a:moveTo>
                    <a:pt x="0" y="0"/>
                  </a:moveTo>
                  <a:cubicBezTo>
                    <a:pt x="76" y="94"/>
                    <a:pt x="152" y="189"/>
                    <a:pt x="182" y="227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9" name="Line 89"/>
            <p:cNvSpPr>
              <a:spLocks noChangeShapeType="1"/>
            </p:cNvSpPr>
            <p:nvPr/>
          </p:nvSpPr>
          <p:spPr bwMode="auto">
            <a:xfrm flipH="1">
              <a:off x="384" y="3158"/>
              <a:ext cx="136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0" name="Oval 90"/>
            <p:cNvSpPr>
              <a:spLocks noChangeArrowheads="1"/>
            </p:cNvSpPr>
            <p:nvPr/>
          </p:nvSpPr>
          <p:spPr bwMode="auto">
            <a:xfrm>
              <a:off x="1383" y="2568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11" name="Oval 91"/>
            <p:cNvSpPr>
              <a:spLocks noChangeArrowheads="1"/>
            </p:cNvSpPr>
            <p:nvPr/>
          </p:nvSpPr>
          <p:spPr bwMode="auto">
            <a:xfrm>
              <a:off x="1610" y="2931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12" name="Oval 92"/>
            <p:cNvSpPr>
              <a:spLocks noChangeArrowheads="1"/>
            </p:cNvSpPr>
            <p:nvPr/>
          </p:nvSpPr>
          <p:spPr bwMode="auto">
            <a:xfrm>
              <a:off x="1383" y="3249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13" name="Text Box 93"/>
            <p:cNvSpPr txBox="1">
              <a:spLocks noChangeArrowheads="1"/>
            </p:cNvSpPr>
            <p:nvPr/>
          </p:nvSpPr>
          <p:spPr bwMode="auto">
            <a:xfrm>
              <a:off x="1564" y="2478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prei</a:t>
              </a:r>
            </a:p>
          </p:txBody>
        </p:sp>
        <p:sp>
          <p:nvSpPr>
            <p:cNvPr id="165914" name="Text Box 94"/>
            <p:cNvSpPr txBox="1">
              <a:spLocks noChangeArrowheads="1"/>
            </p:cNvSpPr>
            <p:nvPr/>
          </p:nvSpPr>
          <p:spPr bwMode="auto">
            <a:xfrm>
              <a:off x="1837" y="2886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</a:t>
              </a:r>
            </a:p>
          </p:txBody>
        </p:sp>
        <p:sp>
          <p:nvSpPr>
            <p:cNvPr id="165915" name="Freeform 95"/>
            <p:cNvSpPr/>
            <p:nvPr/>
          </p:nvSpPr>
          <p:spPr bwMode="auto">
            <a:xfrm>
              <a:off x="1519" y="2704"/>
              <a:ext cx="182" cy="227"/>
            </a:xfrm>
            <a:custGeom>
              <a:avLst/>
              <a:gdLst>
                <a:gd name="T0" fmla="*/ 0 w 182"/>
                <a:gd name="T1" fmla="*/ 0 h 227"/>
                <a:gd name="T2" fmla="*/ 182 w 182"/>
                <a:gd name="T3" fmla="*/ 227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227">
                  <a:moveTo>
                    <a:pt x="0" y="0"/>
                  </a:moveTo>
                  <a:cubicBezTo>
                    <a:pt x="76" y="94"/>
                    <a:pt x="152" y="189"/>
                    <a:pt x="182" y="227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6" name="Line 96"/>
            <p:cNvSpPr>
              <a:spLocks noChangeShapeType="1"/>
            </p:cNvSpPr>
            <p:nvPr/>
          </p:nvSpPr>
          <p:spPr bwMode="auto">
            <a:xfrm flipH="1">
              <a:off x="1519" y="3113"/>
              <a:ext cx="136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7" name="Line 97"/>
            <p:cNvSpPr>
              <a:spLocks noChangeShapeType="1"/>
            </p:cNvSpPr>
            <p:nvPr/>
          </p:nvSpPr>
          <p:spPr bwMode="auto">
            <a:xfrm>
              <a:off x="1610" y="2886"/>
              <a:ext cx="227" cy="2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8" name="Line 98"/>
            <p:cNvSpPr>
              <a:spLocks noChangeShapeType="1"/>
            </p:cNvSpPr>
            <p:nvPr/>
          </p:nvSpPr>
          <p:spPr bwMode="auto">
            <a:xfrm flipH="1">
              <a:off x="1655" y="2886"/>
              <a:ext cx="182" cy="2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9" name="Line 99"/>
            <p:cNvSpPr>
              <a:spLocks noChangeShapeType="1"/>
            </p:cNvSpPr>
            <p:nvPr/>
          </p:nvSpPr>
          <p:spPr bwMode="auto">
            <a:xfrm>
              <a:off x="1475" y="2750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0" name="Text Box 100"/>
            <p:cNvSpPr txBox="1">
              <a:spLocks noChangeArrowheads="1"/>
            </p:cNvSpPr>
            <p:nvPr/>
          </p:nvSpPr>
          <p:spPr bwMode="auto">
            <a:xfrm>
              <a:off x="839" y="3476"/>
              <a:ext cx="14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出圈：</a:t>
              </a:r>
              <a:r>
                <a:rPr lang="en-US" altLang="zh-CN" sz="2000" b="1"/>
                <a:t>a[prei]=a[i]</a:t>
              </a:r>
            </a:p>
          </p:txBody>
        </p:sp>
        <p:sp>
          <p:nvSpPr>
            <p:cNvPr id="165921" name="Oval 101"/>
            <p:cNvSpPr>
              <a:spLocks noChangeArrowheads="1"/>
            </p:cNvSpPr>
            <p:nvPr/>
          </p:nvSpPr>
          <p:spPr bwMode="auto">
            <a:xfrm>
              <a:off x="2879" y="2613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22" name="Oval 102"/>
            <p:cNvSpPr>
              <a:spLocks noChangeArrowheads="1"/>
            </p:cNvSpPr>
            <p:nvPr/>
          </p:nvSpPr>
          <p:spPr bwMode="auto">
            <a:xfrm>
              <a:off x="3106" y="2976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23" name="Oval 103"/>
            <p:cNvSpPr>
              <a:spLocks noChangeArrowheads="1"/>
            </p:cNvSpPr>
            <p:nvPr/>
          </p:nvSpPr>
          <p:spPr bwMode="auto">
            <a:xfrm>
              <a:off x="2879" y="3294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24" name="Text Box 104"/>
            <p:cNvSpPr txBox="1">
              <a:spLocks noChangeArrowheads="1"/>
            </p:cNvSpPr>
            <p:nvPr/>
          </p:nvSpPr>
          <p:spPr bwMode="auto">
            <a:xfrm>
              <a:off x="3107" y="2523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</a:t>
              </a:r>
            </a:p>
          </p:txBody>
        </p:sp>
        <p:sp>
          <p:nvSpPr>
            <p:cNvPr id="165925" name="Freeform 105"/>
            <p:cNvSpPr/>
            <p:nvPr/>
          </p:nvSpPr>
          <p:spPr bwMode="auto">
            <a:xfrm>
              <a:off x="3015" y="2749"/>
              <a:ext cx="182" cy="227"/>
            </a:xfrm>
            <a:custGeom>
              <a:avLst/>
              <a:gdLst>
                <a:gd name="T0" fmla="*/ 0 w 182"/>
                <a:gd name="T1" fmla="*/ 0 h 227"/>
                <a:gd name="T2" fmla="*/ 182 w 182"/>
                <a:gd name="T3" fmla="*/ 227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227">
                  <a:moveTo>
                    <a:pt x="0" y="0"/>
                  </a:moveTo>
                  <a:cubicBezTo>
                    <a:pt x="76" y="94"/>
                    <a:pt x="152" y="189"/>
                    <a:pt x="182" y="227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6" name="Line 106"/>
            <p:cNvSpPr>
              <a:spLocks noChangeShapeType="1"/>
            </p:cNvSpPr>
            <p:nvPr/>
          </p:nvSpPr>
          <p:spPr bwMode="auto">
            <a:xfrm flipH="1">
              <a:off x="3015" y="3158"/>
              <a:ext cx="136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7" name="Line 107"/>
            <p:cNvSpPr>
              <a:spLocks noChangeShapeType="1"/>
            </p:cNvSpPr>
            <p:nvPr/>
          </p:nvSpPr>
          <p:spPr bwMode="auto">
            <a:xfrm>
              <a:off x="3106" y="2931"/>
              <a:ext cx="227" cy="2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8" name="Line 108"/>
            <p:cNvSpPr>
              <a:spLocks noChangeShapeType="1"/>
            </p:cNvSpPr>
            <p:nvPr/>
          </p:nvSpPr>
          <p:spPr bwMode="auto">
            <a:xfrm flipH="1">
              <a:off x="3151" y="2931"/>
              <a:ext cx="182" cy="2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9" name="Line 109"/>
            <p:cNvSpPr>
              <a:spLocks noChangeShapeType="1"/>
            </p:cNvSpPr>
            <p:nvPr/>
          </p:nvSpPr>
          <p:spPr bwMode="auto">
            <a:xfrm>
              <a:off x="2971" y="2795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0" name="Text Box 110"/>
            <p:cNvSpPr txBox="1">
              <a:spLocks noChangeArrowheads="1"/>
            </p:cNvSpPr>
            <p:nvPr/>
          </p:nvSpPr>
          <p:spPr bwMode="auto">
            <a:xfrm>
              <a:off x="2562" y="3521"/>
              <a:ext cx="145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下次报数前要满足的状态</a:t>
              </a:r>
            </a:p>
          </p:txBody>
        </p:sp>
        <p:sp>
          <p:nvSpPr>
            <p:cNvPr id="165931" name="Oval 111"/>
            <p:cNvSpPr>
              <a:spLocks noChangeArrowheads="1"/>
            </p:cNvSpPr>
            <p:nvPr/>
          </p:nvSpPr>
          <p:spPr bwMode="auto">
            <a:xfrm>
              <a:off x="4421" y="2568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32" name="Oval 112"/>
            <p:cNvSpPr>
              <a:spLocks noChangeArrowheads="1"/>
            </p:cNvSpPr>
            <p:nvPr/>
          </p:nvSpPr>
          <p:spPr bwMode="auto">
            <a:xfrm>
              <a:off x="4648" y="2931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33" name="Oval 113"/>
            <p:cNvSpPr>
              <a:spLocks noChangeArrowheads="1"/>
            </p:cNvSpPr>
            <p:nvPr/>
          </p:nvSpPr>
          <p:spPr bwMode="auto">
            <a:xfrm>
              <a:off x="4421" y="3249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34" name="Text Box 114"/>
            <p:cNvSpPr txBox="1">
              <a:spLocks noChangeArrowheads="1"/>
            </p:cNvSpPr>
            <p:nvPr/>
          </p:nvSpPr>
          <p:spPr bwMode="auto">
            <a:xfrm>
              <a:off x="4286" y="3249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</a:t>
              </a:r>
            </a:p>
          </p:txBody>
        </p:sp>
        <p:sp>
          <p:nvSpPr>
            <p:cNvPr id="165935" name="Freeform 115"/>
            <p:cNvSpPr/>
            <p:nvPr/>
          </p:nvSpPr>
          <p:spPr bwMode="auto">
            <a:xfrm>
              <a:off x="4557" y="2704"/>
              <a:ext cx="182" cy="227"/>
            </a:xfrm>
            <a:custGeom>
              <a:avLst/>
              <a:gdLst>
                <a:gd name="T0" fmla="*/ 0 w 182"/>
                <a:gd name="T1" fmla="*/ 0 h 227"/>
                <a:gd name="T2" fmla="*/ 182 w 182"/>
                <a:gd name="T3" fmla="*/ 227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227">
                  <a:moveTo>
                    <a:pt x="0" y="0"/>
                  </a:moveTo>
                  <a:cubicBezTo>
                    <a:pt x="76" y="94"/>
                    <a:pt x="152" y="189"/>
                    <a:pt x="182" y="227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6" name="Line 116"/>
            <p:cNvSpPr>
              <a:spLocks noChangeShapeType="1"/>
            </p:cNvSpPr>
            <p:nvPr/>
          </p:nvSpPr>
          <p:spPr bwMode="auto">
            <a:xfrm flipH="1">
              <a:off x="4557" y="3113"/>
              <a:ext cx="136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7" name="Line 117"/>
            <p:cNvSpPr>
              <a:spLocks noChangeShapeType="1"/>
            </p:cNvSpPr>
            <p:nvPr/>
          </p:nvSpPr>
          <p:spPr bwMode="auto">
            <a:xfrm>
              <a:off x="4648" y="2886"/>
              <a:ext cx="227" cy="2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8" name="Line 118"/>
            <p:cNvSpPr>
              <a:spLocks noChangeShapeType="1"/>
            </p:cNvSpPr>
            <p:nvPr/>
          </p:nvSpPr>
          <p:spPr bwMode="auto">
            <a:xfrm flipH="1">
              <a:off x="4693" y="2886"/>
              <a:ext cx="182" cy="2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9" name="Line 119"/>
            <p:cNvSpPr>
              <a:spLocks noChangeShapeType="1"/>
            </p:cNvSpPr>
            <p:nvPr/>
          </p:nvSpPr>
          <p:spPr bwMode="auto">
            <a:xfrm>
              <a:off x="4513" y="2750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0" name="Text Box 120"/>
            <p:cNvSpPr txBox="1">
              <a:spLocks noChangeArrowheads="1"/>
            </p:cNvSpPr>
            <p:nvPr/>
          </p:nvSpPr>
          <p:spPr bwMode="auto">
            <a:xfrm>
              <a:off x="4104" y="3476"/>
              <a:ext cx="145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执行下次报数</a:t>
              </a:r>
              <a:r>
                <a:rPr lang="en-US" altLang="zh-CN" sz="2000" b="1"/>
                <a:t>prei=i;i=a[i]</a:t>
              </a:r>
              <a:r>
                <a:rPr lang="zh-CN" altLang="en-US" sz="2000" b="1"/>
                <a:t>后</a:t>
              </a:r>
            </a:p>
          </p:txBody>
        </p:sp>
        <p:sp>
          <p:nvSpPr>
            <p:cNvPr id="165941" name="Text Box 121"/>
            <p:cNvSpPr txBox="1">
              <a:spLocks noChangeArrowheads="1"/>
            </p:cNvSpPr>
            <p:nvPr/>
          </p:nvSpPr>
          <p:spPr bwMode="auto">
            <a:xfrm>
              <a:off x="4058" y="2523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prei</a:t>
              </a:r>
            </a:p>
          </p:txBody>
        </p:sp>
      </p:grpSp>
      <p:sp>
        <p:nvSpPr>
          <p:cNvPr id="403578" name="Text Box 122"/>
          <p:cNvSpPr txBox="1">
            <a:spLocks noChangeArrowheads="1"/>
          </p:cNvSpPr>
          <p:nvPr/>
        </p:nvSpPr>
        <p:spPr bwMode="auto">
          <a:xfrm>
            <a:off x="2124075" y="5805488"/>
            <a:ext cx="1225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</a:rPr>
              <a:t>i=prei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1000"/>
                                        <p:tgtEl>
                                          <p:spTgt spid="40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578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73EA8B-9675-42D8-94AA-476056EDA57C}" type="slidenum">
              <a:rPr lang="zh-CN" altLang="en-US" sz="1400" smtClean="0"/>
              <a:t>25</a:t>
            </a:fld>
            <a:endParaRPr lang="en-US" altLang="zh-CN" sz="1400"/>
          </a:p>
        </p:txBody>
      </p:sp>
      <p:sp>
        <p:nvSpPr>
          <p:cNvPr id="1669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zh-CN" altLang="en-US" dirty="0"/>
          </a:p>
        </p:txBody>
      </p:sp>
      <p:sp>
        <p:nvSpPr>
          <p:cNvPr id="16691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536" y="1193800"/>
            <a:ext cx="7772400" cy="5062537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i,m,n</a:t>
            </a:r>
            <a:r>
              <a:rPr lang="en-US" altLang="zh-CN" sz="2000" dirty="0">
                <a:latin typeface="Consolas" panose="020B0609020204030204" pitchFamily="49" charset="0"/>
              </a:rPr>
              <a:t> , 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a[40];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</a:t>
            </a:r>
            <a:r>
              <a:rPr lang="zh-CN" altLang="en-US" sz="2000" dirty="0">
                <a:latin typeface="Consolas" panose="020B0609020204030204" pitchFamily="49" charset="0"/>
              </a:rPr>
              <a:t>输入猴子总数：</a:t>
            </a:r>
            <a:r>
              <a:rPr lang="en-US" altLang="zh-CN" sz="2000" dirty="0">
                <a:latin typeface="Consolas" panose="020B0609020204030204" pitchFamily="49" charset="0"/>
              </a:rPr>
              <a:t>");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d",&amp;n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</a:t>
            </a:r>
            <a:r>
              <a:rPr lang="zh-CN" altLang="en-US" sz="2000" dirty="0">
                <a:latin typeface="Consolas" panose="020B0609020204030204" pitchFamily="49" charset="0"/>
              </a:rPr>
              <a:t>输入间隔数：</a:t>
            </a:r>
            <a:r>
              <a:rPr lang="en-US" altLang="zh-CN" sz="2000" dirty="0">
                <a:latin typeface="Consolas" panose="020B0609020204030204" pitchFamily="49" charset="0"/>
              </a:rPr>
              <a:t>");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d",&amp;m</a:t>
            </a:r>
            <a:r>
              <a:rPr lang="en-US" altLang="zh-CN" sz="2000" dirty="0">
                <a:latin typeface="Consolas" panose="020B0609020204030204" pitchFamily="49" charset="0"/>
              </a:rPr>
              <a:t>); 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=1;i&lt;=n-1;i++)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]=i+1;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a[n]=1;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selectKing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a,n,m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return 0;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22944D-04CE-4B5E-8D42-86ED8884A1D0}" type="slidenum">
              <a:rPr lang="zh-CN" altLang="en-US" sz="1400" smtClean="0"/>
              <a:t>26</a:t>
            </a:fld>
            <a:endParaRPr lang="en-US" altLang="zh-CN" sz="1400"/>
          </a:p>
        </p:txBody>
      </p:sp>
      <p:sp>
        <p:nvSpPr>
          <p:cNvPr id="16793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zh-CN" altLang="en-US" dirty="0"/>
          </a:p>
        </p:txBody>
      </p:sp>
      <p:sp>
        <p:nvSpPr>
          <p:cNvPr id="16794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772400" cy="4967287"/>
          </a:xfrm>
          <a:noFill/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selectKing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a[],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n,int</a:t>
            </a:r>
            <a:r>
              <a:rPr lang="en-US" altLang="zh-CN" sz="2000" dirty="0">
                <a:latin typeface="Consolas" panose="020B0609020204030204" pitchFamily="49" charset="0"/>
              </a:rPr>
              <a:t> m)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count,prei,i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count=0;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=n;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while(a[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]!=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){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count++; //</a:t>
            </a:r>
            <a:r>
              <a:rPr lang="zh-CN" altLang="en-US" sz="2000" dirty="0">
                <a:latin typeface="Consolas" panose="020B0609020204030204" pitchFamily="49" charset="0"/>
              </a:rPr>
              <a:t>报数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 err="1">
                <a:latin typeface="Consolas" panose="020B0609020204030204" pitchFamily="49" charset="0"/>
              </a:rPr>
              <a:t>prei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if(</a:t>
            </a:r>
            <a:r>
              <a:rPr lang="en-US" altLang="zh-CN" sz="2000" dirty="0" err="1">
                <a:latin typeface="Consolas" panose="020B0609020204030204" pitchFamily="49" charset="0"/>
              </a:rPr>
              <a:t>count%m</a:t>
            </a:r>
            <a:r>
              <a:rPr lang="en-US" altLang="zh-CN" sz="2000" dirty="0">
                <a:latin typeface="Consolas" panose="020B0609020204030204" pitchFamily="49" charset="0"/>
              </a:rPr>
              <a:t>==0){//</a:t>
            </a:r>
            <a:r>
              <a:rPr lang="zh-CN" altLang="en-US" sz="2000" dirty="0">
                <a:latin typeface="Consolas" panose="020B0609020204030204" pitchFamily="49" charset="0"/>
              </a:rPr>
              <a:t>出圈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</a:t>
            </a:r>
            <a:r>
              <a:rPr lang="en-US" altLang="zh-CN" sz="2000" dirty="0">
                <a:latin typeface="Consolas" panose="020B0609020204030204" pitchFamily="49" charset="0"/>
              </a:rPr>
              <a:t>a[</a:t>
            </a:r>
            <a:r>
              <a:rPr lang="en-US" altLang="zh-CN" sz="2000" dirty="0" err="1">
                <a:latin typeface="Consolas" panose="020B0609020204030204" pitchFamily="49" charset="0"/>
              </a:rPr>
              <a:t>prei</a:t>
            </a:r>
            <a:r>
              <a:rPr lang="en-US" altLang="zh-CN" sz="2000" dirty="0">
                <a:latin typeface="Consolas" panose="020B0609020204030204" pitchFamily="49" charset="0"/>
              </a:rPr>
              <a:t>]=a[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</a:t>
            </a:r>
            <a:r>
              <a:rPr lang="zh-CN" altLang="en-US" sz="2000" dirty="0">
                <a:latin typeface="Consolas" panose="020B0609020204030204" pitchFamily="49" charset="0"/>
              </a:rPr>
              <a:t>号猴子出圈</a:t>
            </a:r>
            <a:r>
              <a:rPr lang="en-US" altLang="zh-CN" sz="2000" dirty="0">
                <a:latin typeface="Consolas" panose="020B0609020204030204" pitchFamily="49" charset="0"/>
              </a:rPr>
              <a:t>\n",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prei</a:t>
            </a:r>
            <a:r>
              <a:rPr lang="en-US" altLang="zh-CN" sz="2000" dirty="0">
                <a:latin typeface="Consolas" panose="020B0609020204030204" pitchFamily="49" charset="0"/>
              </a:rPr>
              <a:t>; //</a:t>
            </a:r>
            <a:r>
              <a:rPr lang="zh-CN" altLang="en-US" sz="2000" dirty="0">
                <a:latin typeface="Consolas" panose="020B0609020204030204" pitchFamily="49" charset="0"/>
              </a:rPr>
              <a:t>下次循环准备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}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</a:t>
            </a:r>
            <a:r>
              <a:rPr lang="zh-CN" altLang="en-US" sz="2000" dirty="0">
                <a:latin typeface="Consolas" panose="020B0609020204030204" pitchFamily="49" charset="0"/>
              </a:rPr>
              <a:t>号是大王</a:t>
            </a:r>
            <a:r>
              <a:rPr lang="en-US" altLang="zh-CN" sz="2000" dirty="0">
                <a:latin typeface="Consolas" panose="020B0609020204030204" pitchFamily="49" charset="0"/>
              </a:rPr>
              <a:t>",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 eaLnBrk="0" hangingPunct="0"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buSzPct val="6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73EA8B-9675-42D8-94AA-476056EDA57C}" type="slidenum">
              <a:rPr lang="zh-CN" altLang="en-US" sz="1050"/>
              <a:t>27</a:t>
            </a:fld>
            <a:endParaRPr lang="en-US" altLang="zh-CN" sz="1050"/>
          </a:p>
        </p:txBody>
      </p:sp>
      <p:sp>
        <p:nvSpPr>
          <p:cNvPr id="1669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约瑟夫环算法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-1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创建环</a:t>
            </a:r>
          </a:p>
        </p:txBody>
      </p:sp>
      <p:sp>
        <p:nvSpPr>
          <p:cNvPr id="16691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3962400" cy="3796665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int create_joseph_cycle(int a[],int n){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 int i;     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for(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=1;i&lt;=n-1;i++) 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   a[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]=i+1;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a[n]=1;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return n;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5"/>
          <p:cNvSpPr>
            <a:spLocks noGrp="1" noChangeArrowheads="1"/>
          </p:cNvSpPr>
          <p:nvPr/>
        </p:nvSpPr>
        <p:spPr>
          <a:xfrm>
            <a:off x="4782616" y="1327076"/>
            <a:ext cx="3962400" cy="379666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int main(){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int a[100]={0},n,m;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("</a:t>
            </a:r>
            <a:r>
              <a:rPr lang="zh-CN" altLang="en-US" sz="2200" dirty="0">
                <a:latin typeface="Consolas" panose="020B0609020204030204" pitchFamily="49" charset="0"/>
                <a:sym typeface="+mn-ea"/>
              </a:rPr>
              <a:t>输入人数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n</a:t>
            </a:r>
            <a:r>
              <a:rPr lang="zh-CN" altLang="en-US" sz="2200" dirty="0">
                <a:latin typeface="Consolas" panose="020B0609020204030204" pitchFamily="49" charset="0"/>
                <a:sym typeface="+mn-ea"/>
              </a:rPr>
              <a:t>：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");   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scanf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("%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d",&amp;n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); 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create_joseph_cycle(a,n);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("</a:t>
            </a:r>
            <a:r>
              <a:rPr lang="zh-CN" altLang="en-US" sz="2200" dirty="0">
                <a:latin typeface="Consolas" panose="020B0609020204030204" pitchFamily="49" charset="0"/>
                <a:sym typeface="+mn-ea"/>
              </a:rPr>
              <a:t>输入报数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m</a:t>
            </a:r>
            <a:r>
              <a:rPr lang="zh-CN" altLang="en-US" sz="2200" dirty="0">
                <a:latin typeface="Consolas" panose="020B0609020204030204" pitchFamily="49" charset="0"/>
                <a:sym typeface="+mn-ea"/>
              </a:rPr>
              <a:t>：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");   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scanf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("%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d",&amp;m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); 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</a:t>
            </a:r>
            <a:r>
              <a:rPr lang="en-US" altLang="zh-CN" sz="2200" dirty="0" err="1">
                <a:latin typeface="Consolas" panose="020B0609020204030204" pitchFamily="49" charset="0"/>
              </a:rPr>
              <a:t>josephCycle</a:t>
            </a:r>
            <a:r>
              <a:rPr lang="en-US" altLang="zh-CN" sz="2200" dirty="0">
                <a:latin typeface="Consolas" panose="020B0609020204030204" pitchFamily="49" charset="0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</a:rPr>
              <a:t>a,n,m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return 0;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342995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 eaLnBrk="0" hangingPunct="0"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buSzPct val="6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22944D-04CE-4B5E-8D42-86ED8884A1D0}" type="slidenum">
              <a:rPr lang="zh-CN" altLang="en-US" sz="1050"/>
              <a:t>28</a:t>
            </a:fld>
            <a:endParaRPr lang="en-US" altLang="zh-CN" sz="1050"/>
          </a:p>
        </p:txBody>
      </p:sp>
      <p:sp>
        <p:nvSpPr>
          <p:cNvPr id="16793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约瑟夫环算法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报数出圈</a:t>
            </a:r>
          </a:p>
        </p:txBody>
      </p:sp>
      <p:sp>
        <p:nvSpPr>
          <p:cNvPr id="16794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7544" y="1196752"/>
            <a:ext cx="7704856" cy="5445224"/>
          </a:xfrm>
          <a:noFill/>
        </p:spPr>
        <p:txBody>
          <a:bodyPr/>
          <a:lstStyle/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void josephCycle(</a:t>
            </a:r>
            <a:r>
              <a:rPr lang="en-US" altLang="zh-CN" sz="2200" dirty="0" err="1">
                <a:latin typeface="Consolas" panose="020B0609020204030204" pitchFamily="49" charset="0"/>
              </a:rPr>
              <a:t>int</a:t>
            </a:r>
            <a:r>
              <a:rPr lang="en-US" altLang="zh-CN" sz="2200" dirty="0">
                <a:latin typeface="Consolas" panose="020B0609020204030204" pitchFamily="49" charset="0"/>
              </a:rPr>
              <a:t> a[],</a:t>
            </a:r>
            <a:r>
              <a:rPr lang="en-US" altLang="zh-CN" sz="2200" dirty="0" err="1">
                <a:latin typeface="Consolas" panose="020B0609020204030204" pitchFamily="49" charset="0"/>
              </a:rPr>
              <a:t>int</a:t>
            </a:r>
            <a:r>
              <a:rPr lang="en-US" altLang="zh-CN" sz="2200" dirty="0">
                <a:latin typeface="Consolas" panose="020B0609020204030204" pitchFamily="49" charset="0"/>
              </a:rPr>
              <a:t> </a:t>
            </a:r>
            <a:r>
              <a:rPr lang="en-US" altLang="zh-CN" sz="2200" dirty="0" err="1">
                <a:latin typeface="Consolas" panose="020B0609020204030204" pitchFamily="49" charset="0"/>
              </a:rPr>
              <a:t>n,int</a:t>
            </a:r>
            <a:r>
              <a:rPr lang="en-US" altLang="zh-CN" sz="2200" dirty="0">
                <a:latin typeface="Consolas" panose="020B0609020204030204" pitchFamily="49" charset="0"/>
              </a:rPr>
              <a:t> m){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</a:t>
            </a:r>
            <a:r>
              <a:rPr lang="en-US" altLang="zh-CN" sz="2200" dirty="0" err="1">
                <a:latin typeface="Consolas" panose="020B0609020204030204" pitchFamily="49" charset="0"/>
              </a:rPr>
              <a:t>int</a:t>
            </a:r>
            <a:r>
              <a:rPr lang="en-US" altLang="zh-CN" sz="2200" dirty="0">
                <a:latin typeface="Consolas" panose="020B0609020204030204" pitchFamily="49" charset="0"/>
              </a:rPr>
              <a:t> </a:t>
            </a:r>
            <a:r>
              <a:rPr lang="en-US" altLang="zh-CN" sz="2200" dirty="0" err="1">
                <a:latin typeface="Consolas" panose="020B0609020204030204" pitchFamily="49" charset="0"/>
              </a:rPr>
              <a:t>count,prei,i</a:t>
            </a:r>
            <a:r>
              <a:rPr lang="en-US" altLang="zh-CN" sz="2200" dirty="0">
                <a:latin typeface="Consolas" panose="020B0609020204030204" pitchFamily="49" charset="0"/>
              </a:rPr>
              <a:t>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count=0;  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=n;//</a:t>
            </a:r>
            <a:r>
              <a:rPr lang="zh-CN" altLang="en-US" sz="2200" dirty="0">
                <a:latin typeface="Consolas" panose="020B0609020204030204" pitchFamily="49" charset="0"/>
              </a:rPr>
              <a:t>预备从</a:t>
            </a:r>
            <a:r>
              <a:rPr lang="en-US" altLang="zh-CN" sz="2200" dirty="0">
                <a:latin typeface="Consolas" panose="020B0609020204030204" pitchFamily="49" charset="0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</a:rPr>
              <a:t>号开始的前编号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while (a[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]!=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){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count++; //</a:t>
            </a:r>
            <a:r>
              <a:rPr lang="zh-CN" altLang="en-US" sz="2200" dirty="0">
                <a:latin typeface="Consolas" panose="020B0609020204030204" pitchFamily="49" charset="0"/>
              </a:rPr>
              <a:t>报数 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</a:t>
            </a:r>
            <a:r>
              <a:rPr lang="en-US" altLang="zh-CN" sz="2200" dirty="0" err="1">
                <a:latin typeface="Consolas" panose="020B0609020204030204" pitchFamily="49" charset="0"/>
              </a:rPr>
              <a:t>prei</a:t>
            </a:r>
            <a:r>
              <a:rPr lang="en-US" altLang="zh-CN" sz="2200" dirty="0">
                <a:latin typeface="Consolas" panose="020B0609020204030204" pitchFamily="49" charset="0"/>
              </a:rPr>
              <a:t>=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=a[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];//</a:t>
            </a:r>
            <a:r>
              <a:rPr lang="zh-CN" altLang="en-US" sz="2200" dirty="0">
                <a:latin typeface="Consolas" panose="020B0609020204030204" pitchFamily="49" charset="0"/>
              </a:rPr>
              <a:t>找下一个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if(</a:t>
            </a:r>
            <a:r>
              <a:rPr lang="en-US" altLang="zh-CN" sz="2200" dirty="0" err="1">
                <a:latin typeface="Consolas" panose="020B0609020204030204" pitchFamily="49" charset="0"/>
              </a:rPr>
              <a:t>count%m</a:t>
            </a:r>
            <a:r>
              <a:rPr lang="en-US" altLang="zh-CN" sz="2200" dirty="0">
                <a:latin typeface="Consolas" panose="020B0609020204030204" pitchFamily="49" charset="0"/>
              </a:rPr>
              <a:t>==0){//</a:t>
            </a:r>
            <a:r>
              <a:rPr lang="zh-CN" altLang="en-US" sz="2200" dirty="0">
                <a:latin typeface="Consolas" panose="020B0609020204030204" pitchFamily="49" charset="0"/>
              </a:rPr>
              <a:t>出圈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       </a:t>
            </a:r>
            <a:r>
              <a:rPr lang="en-US" altLang="zh-CN" sz="2200" dirty="0">
                <a:latin typeface="Consolas" panose="020B0609020204030204" pitchFamily="49" charset="0"/>
              </a:rPr>
              <a:t>a[</a:t>
            </a:r>
            <a:r>
              <a:rPr lang="en-US" altLang="zh-CN" sz="2200" dirty="0" err="1">
                <a:latin typeface="Consolas" panose="020B0609020204030204" pitchFamily="49" charset="0"/>
              </a:rPr>
              <a:t>prei</a:t>
            </a:r>
            <a:r>
              <a:rPr lang="en-US" altLang="zh-CN" sz="2200" dirty="0">
                <a:latin typeface="Consolas" panose="020B0609020204030204" pitchFamily="49" charset="0"/>
              </a:rPr>
              <a:t>]=a[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];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    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("%d</a:t>
            </a:r>
            <a:r>
              <a:rPr lang="zh-CN" altLang="en-US" sz="2200" dirty="0">
                <a:latin typeface="Consolas" panose="020B0609020204030204" pitchFamily="49" charset="0"/>
              </a:rPr>
              <a:t>号出圈</a:t>
            </a:r>
            <a:r>
              <a:rPr lang="en-US" altLang="zh-CN" sz="2200" dirty="0">
                <a:latin typeface="Consolas" panose="020B0609020204030204" pitchFamily="49" charset="0"/>
              </a:rPr>
              <a:t>\n",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    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=</a:t>
            </a:r>
            <a:r>
              <a:rPr lang="en-US" altLang="zh-CN" sz="2200" dirty="0" err="1">
                <a:latin typeface="Consolas" panose="020B0609020204030204" pitchFamily="49" charset="0"/>
              </a:rPr>
              <a:t>prei</a:t>
            </a:r>
            <a:r>
              <a:rPr lang="en-US" altLang="zh-CN" sz="2200" dirty="0">
                <a:latin typeface="Consolas" panose="020B0609020204030204" pitchFamily="49" charset="0"/>
              </a:rPr>
              <a:t>;//</a:t>
            </a:r>
            <a:r>
              <a:rPr lang="zh-CN" altLang="en-US" sz="2200" dirty="0">
                <a:latin typeface="Consolas" panose="020B0609020204030204" pitchFamily="49" charset="0"/>
              </a:rPr>
              <a:t>出圈后返回前结点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  </a:t>
            </a:r>
            <a:r>
              <a:rPr lang="en-US" altLang="zh-CN" sz="2200" dirty="0">
                <a:latin typeface="Consolas" panose="020B0609020204030204" pitchFamily="49" charset="0"/>
              </a:rPr>
              <a:t>}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}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("The last is No.%d !",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}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26549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36229"/>
            <a:ext cx="8604885" cy="3458528"/>
          </a:xfrm>
        </p:spPr>
        <p:txBody>
          <a:bodyPr/>
          <a:lstStyle/>
          <a:p>
            <a:r>
              <a:rPr lang="zh-CN" altLang="en-US" sz="2400" dirty="0"/>
              <a:t>Problem 11:发子弹</a:t>
            </a:r>
          </a:p>
          <a:p>
            <a:r>
              <a:rPr lang="zh-CN" altLang="en-US" sz="2400" dirty="0"/>
              <a:t>问题描述：在某次实弹射击训练中，班长将十个战士围成一圈发子弹。首先，班长给第一个战士10颗，第二个战士2颗，第三个战士8颗，第四个战士22颗，第五个战士16颗，第六个战士4颗，第七个战士10颗，第八个战士6颗，第九个战士14颗，第十个战士20颗。然后按如下方法将每个战士手中的子弹进行调整：所有的战士检查自己手中的子弹数，如果子弹数为奇数，则向班长再要一颗。然后每个战士再同时将自己手中的子弹分一半给下一个战士（第10 个战士将手中的子弹分一半给第1个战士)。问需要调整多少次后，每个战士手中的子弹数都相等？每人各有多少颗子弹？</a:t>
            </a:r>
          </a:p>
          <a:p>
            <a:r>
              <a:rPr lang="zh-CN" altLang="en-US" sz="2400" dirty="0"/>
              <a:t>分析：数组循环遍历并更新，直到所有元素相等。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#include &lt;stdio.h&gt;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int give_bullet(int a[],int last);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int equal(int a[],int last);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{   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int a[10]={10,2,8,22,16,4,10,6,14,20};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give_bullet(a,9);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发子弹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36228"/>
            <a:ext cx="8006715" cy="60371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give_bullet</a:t>
            </a:r>
            <a:r>
              <a:rPr lang="en-US" altLang="zh-CN" sz="2400" dirty="0">
                <a:latin typeface="Consolas" panose="020B0609020204030204" pitchFamily="49" charset="0"/>
              </a:rPr>
              <a:t>(int a[],int last)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	int </a:t>
            </a:r>
            <a:r>
              <a:rPr lang="en-US" altLang="zh-CN" sz="2400" dirty="0" err="1">
                <a:latin typeface="Consolas" panose="020B0609020204030204" pitchFamily="49" charset="0"/>
              </a:rPr>
              <a:t>i,temp,cnt</a:t>
            </a:r>
            <a:r>
              <a:rPr lang="en-US" altLang="zh-CN" sz="2400" dirty="0">
                <a:latin typeface="Consolas" panose="020B0609020204030204" pitchFamily="49" charset="0"/>
              </a:rPr>
              <a:t>=0;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while (!equal(</a:t>
            </a:r>
            <a:r>
              <a:rPr lang="en-US" altLang="zh-CN" sz="2400" dirty="0" err="1">
                <a:latin typeface="Consolas" panose="020B0609020204030204" pitchFamily="49" charset="0"/>
              </a:rPr>
              <a:t>a,last</a:t>
            </a:r>
            <a:r>
              <a:rPr lang="en-US" altLang="zh-CN" sz="2400" dirty="0">
                <a:latin typeface="Consolas" panose="020B0609020204030204" pitchFamily="49" charset="0"/>
              </a:rPr>
              <a:t>)){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</a:rPr>
              <a:t>cnt</a:t>
            </a:r>
            <a:r>
              <a:rPr lang="en-US" altLang="zh-CN" sz="2400" dirty="0">
                <a:latin typeface="Consolas" panose="020B0609020204030204" pitchFamily="49" charset="0"/>
              </a:rPr>
              <a:t>++;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("\</a:t>
            </a:r>
            <a:r>
              <a:rPr lang="en-US" altLang="zh-CN" sz="2400" dirty="0" err="1">
                <a:latin typeface="Consolas" panose="020B0609020204030204" pitchFamily="49" charset="0"/>
              </a:rPr>
              <a:t>nThe</a:t>
            </a:r>
            <a:r>
              <a:rPr lang="en-US" altLang="zh-CN" sz="2400" dirty="0">
                <a:latin typeface="Consolas" panose="020B0609020204030204" pitchFamily="49" charset="0"/>
              </a:rPr>
              <a:t> %d exchange:",</a:t>
            </a:r>
            <a:r>
              <a:rPr lang="en-US" altLang="zh-CN" sz="2400" dirty="0" err="1">
                <a:latin typeface="Consolas" panose="020B0609020204030204" pitchFamily="49" charset="0"/>
              </a:rPr>
              <a:t>cnt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for(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0;i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last;i</a:t>
            </a:r>
            <a:r>
              <a:rPr lang="en-US" altLang="zh-CN" sz="2400" dirty="0">
                <a:latin typeface="Consolas" panose="020B0609020204030204" pitchFamily="49" charset="0"/>
              </a:rPr>
              <a:t>++){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if (</a:t>
            </a:r>
            <a:r>
              <a:rPr lang="en-US" altLang="zh-CN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==0 &amp;&amp; </a:t>
            </a:r>
            <a:r>
              <a:rPr lang="en-US" altLang="zh-CN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cnt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&gt;1) a[</a:t>
            </a:r>
            <a:r>
              <a:rPr lang="en-US" altLang="zh-CN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]+=a[last]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   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if (1==a[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]%2) a[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]++;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		   a[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]/=2; 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(" %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d",a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		   if (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&lt;last) a[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i+1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]+=a[</a:t>
            </a:r>
            <a:r>
              <a:rPr lang="en-US" altLang="zh-CN" sz="2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196752"/>
            <a:ext cx="7772400" cy="461168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int equal(int a[],int last)</a:t>
            </a:r>
            <a:r>
              <a:rPr lang="en-US" altLang="zh-CN" sz="2400" dirty="0">
                <a:latin typeface="Consolas" panose="020B0609020204030204" pitchFamily="49" charset="0"/>
              </a:rPr>
              <a:t>//</a:t>
            </a:r>
            <a:r>
              <a:rPr lang="zh-CN" altLang="en-US" sz="2400" dirty="0">
                <a:latin typeface="Consolas" panose="020B0609020204030204" pitchFamily="49" charset="0"/>
              </a:rPr>
              <a:t>判断数组元素是否全部相等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int i;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for (i=0;i&lt;last;i++)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    if (a[i]!=a[i+1]) break;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if (i==last) return 1;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else return 0;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4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33</a:t>
            </a:fld>
            <a:endParaRPr lang="zh-CN" altLang="en-US" sz="1400" b="1" dirty="0"/>
          </a:p>
        </p:txBody>
      </p:sp>
      <p:graphicFrame>
        <p:nvGraphicFramePr>
          <p:cNvPr id="73731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348038" y="2640013"/>
          <a:ext cx="2376487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205" imgH="1054100" progId="">
                  <p:embed/>
                </p:oleObj>
              </mc:Choice>
              <mc:Fallback>
                <p:oleObj r:id="rId2" imgW="1132205" imgH="1054100" progId="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8038" y="2640013"/>
                        <a:ext cx="2376487" cy="22129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1827</TotalTime>
  <Words>3262</Words>
  <Application>Microsoft Office PowerPoint</Application>
  <PresentationFormat>全屏显示(4:3)</PresentationFormat>
  <Paragraphs>569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方正姚体</vt:lpstr>
      <vt:lpstr>楷体</vt:lpstr>
      <vt:lpstr>楷体_GB2312</vt:lpstr>
      <vt:lpstr>宋体</vt:lpstr>
      <vt:lpstr>微软雅黑</vt:lpstr>
      <vt:lpstr>Arial</vt:lpstr>
      <vt:lpstr>Consolas</vt:lpstr>
      <vt:lpstr>Times New Roman</vt:lpstr>
      <vt:lpstr>Wingdings</vt:lpstr>
      <vt:lpstr>Wingdings 2</vt:lpstr>
      <vt:lpstr>经分互动规范介绍</vt:lpstr>
      <vt:lpstr>Visio</vt:lpstr>
      <vt:lpstr>PowerPoint 演示文稿</vt:lpstr>
      <vt:lpstr>PowerPoint 演示文稿</vt:lpstr>
      <vt:lpstr>PowerPoint 演示文稿</vt:lpstr>
      <vt:lpstr>PowerPoint 演示文稿</vt:lpstr>
      <vt:lpstr>快速排序的递归算法</vt:lpstr>
      <vt:lpstr>快速排序的核心算法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排序算法分析</vt:lpstr>
      <vt:lpstr>PowerPoint 演示文稿</vt:lpstr>
      <vt:lpstr>约瑟夫环：猴子选大王</vt:lpstr>
      <vt:lpstr>猴子选大王</vt:lpstr>
      <vt:lpstr>猴子选大王</vt:lpstr>
      <vt:lpstr>猴子选大王-出圈</vt:lpstr>
      <vt:lpstr>猴子选大王</vt:lpstr>
      <vt:lpstr>PowerPoint 演示文稿</vt:lpstr>
      <vt:lpstr>猴子选大王</vt:lpstr>
      <vt:lpstr>猴子选大王</vt:lpstr>
      <vt:lpstr>约瑟夫环算法-1创建环</vt:lpstr>
      <vt:lpstr>约瑟夫环算法2-报数出圈</vt:lpstr>
      <vt:lpstr>PowerPoint 演示文稿</vt:lpstr>
      <vt:lpstr>PowerPoint 演示文稿</vt:lpstr>
      <vt:lpstr>发子弹</vt:lpstr>
      <vt:lpstr>PowerPoint 演示文稿</vt:lpstr>
      <vt:lpstr>PowerPoint 演示文稿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PASCAL程序设计</dc:title>
  <dc:creator>cyzhou</dc:creator>
  <cp:lastModifiedBy>zhang yanmei</cp:lastModifiedBy>
  <cp:revision>2060</cp:revision>
  <dcterms:created xsi:type="dcterms:W3CDTF">2002-12-06T01:10:00Z</dcterms:created>
  <dcterms:modified xsi:type="dcterms:W3CDTF">2022-10-27T06:30:00Z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2052-11.1.0.8013</vt:lpwstr>
  </property>
</Properties>
</file>