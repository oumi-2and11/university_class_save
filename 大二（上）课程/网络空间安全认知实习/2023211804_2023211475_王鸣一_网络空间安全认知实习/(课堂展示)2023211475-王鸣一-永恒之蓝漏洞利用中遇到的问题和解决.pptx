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18" r:id="rId3"/>
    <p:sldId id="1262" r:id="rId5"/>
    <p:sldId id="1263" r:id="rId6"/>
    <p:sldId id="1264" r:id="rId7"/>
    <p:sldId id="1265" r:id="rId8"/>
    <p:sldId id="1266" r:id="rId9"/>
    <p:sldId id="1267" r:id="rId10"/>
    <p:sldId id="1268" r:id="rId11"/>
    <p:sldId id="1272" r:id="rId12"/>
    <p:sldId id="1270" r:id="rId13"/>
    <p:sldId id="1261" r:id="rId14"/>
  </p:sldIdLst>
  <p:sldSz cx="12192000" cy="6858000"/>
  <p:notesSz cx="6797675" cy="9928225"/>
  <p:custDataLst>
    <p:tags r:id="rId1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2"/>
        </a:solidFill>
        <a:latin typeface="FuturaA Md BT"/>
        <a:ea typeface="宋体" panose="02010600030101010101" pitchFamily="2" charset="-122"/>
        <a:cs typeface="+mn-cs"/>
      </a:defRPr>
    </a:lvl1pPr>
    <a:lvl2pPr marL="609600" algn="l" rtl="0" fontAlgn="base">
      <a:spcBef>
        <a:spcPct val="0"/>
      </a:spcBef>
      <a:spcAft>
        <a:spcPct val="0"/>
      </a:spcAft>
      <a:defRPr sz="3200" kern="1200">
        <a:solidFill>
          <a:schemeClr val="tx2"/>
        </a:solidFill>
        <a:latin typeface="FuturaA Md BT"/>
        <a:ea typeface="宋体" panose="02010600030101010101" pitchFamily="2" charset="-122"/>
        <a:cs typeface="+mn-cs"/>
      </a:defRPr>
    </a:lvl2pPr>
    <a:lvl3pPr marL="1219200" algn="l" rtl="0" fontAlgn="base">
      <a:spcBef>
        <a:spcPct val="0"/>
      </a:spcBef>
      <a:spcAft>
        <a:spcPct val="0"/>
      </a:spcAft>
      <a:defRPr sz="3200" kern="1200">
        <a:solidFill>
          <a:schemeClr val="tx2"/>
        </a:solidFill>
        <a:latin typeface="FuturaA Md BT"/>
        <a:ea typeface="宋体" panose="02010600030101010101" pitchFamily="2" charset="-122"/>
        <a:cs typeface="+mn-cs"/>
      </a:defRPr>
    </a:lvl3pPr>
    <a:lvl4pPr marL="1828800" algn="l" rtl="0" fontAlgn="base">
      <a:spcBef>
        <a:spcPct val="0"/>
      </a:spcBef>
      <a:spcAft>
        <a:spcPct val="0"/>
      </a:spcAft>
      <a:defRPr sz="3200" kern="1200">
        <a:solidFill>
          <a:schemeClr val="tx2"/>
        </a:solidFill>
        <a:latin typeface="FuturaA Md BT"/>
        <a:ea typeface="宋体" panose="02010600030101010101" pitchFamily="2" charset="-122"/>
        <a:cs typeface="+mn-cs"/>
      </a:defRPr>
    </a:lvl4pPr>
    <a:lvl5pPr marL="2438400" algn="l" rtl="0" fontAlgn="base">
      <a:spcBef>
        <a:spcPct val="0"/>
      </a:spcBef>
      <a:spcAft>
        <a:spcPct val="0"/>
      </a:spcAft>
      <a:defRPr sz="3200" kern="1200">
        <a:solidFill>
          <a:schemeClr val="tx2"/>
        </a:solidFill>
        <a:latin typeface="FuturaA Md BT"/>
        <a:ea typeface="宋体" panose="02010600030101010101" pitchFamily="2" charset="-122"/>
        <a:cs typeface="+mn-cs"/>
      </a:defRPr>
    </a:lvl5pPr>
    <a:lvl6pPr marL="3048000" algn="l" defTabSz="1219200" rtl="0" eaLnBrk="1" latinLnBrk="0" hangingPunct="1">
      <a:defRPr sz="3200" kern="1200">
        <a:solidFill>
          <a:schemeClr val="tx2"/>
        </a:solidFill>
        <a:latin typeface="FuturaA Md BT"/>
        <a:ea typeface="宋体" panose="02010600030101010101" pitchFamily="2" charset="-122"/>
        <a:cs typeface="+mn-cs"/>
      </a:defRPr>
    </a:lvl6pPr>
    <a:lvl7pPr marL="3657600" algn="l" defTabSz="1219200" rtl="0" eaLnBrk="1" latinLnBrk="0" hangingPunct="1">
      <a:defRPr sz="3200" kern="1200">
        <a:solidFill>
          <a:schemeClr val="tx2"/>
        </a:solidFill>
        <a:latin typeface="FuturaA Md BT"/>
        <a:ea typeface="宋体" panose="02010600030101010101" pitchFamily="2" charset="-122"/>
        <a:cs typeface="+mn-cs"/>
      </a:defRPr>
    </a:lvl7pPr>
    <a:lvl8pPr marL="4267200" algn="l" defTabSz="1219200" rtl="0" eaLnBrk="1" latinLnBrk="0" hangingPunct="1">
      <a:defRPr sz="3200" kern="1200">
        <a:solidFill>
          <a:schemeClr val="tx2"/>
        </a:solidFill>
        <a:latin typeface="FuturaA Md BT"/>
        <a:ea typeface="宋体" panose="02010600030101010101" pitchFamily="2" charset="-122"/>
        <a:cs typeface="+mn-cs"/>
      </a:defRPr>
    </a:lvl8pPr>
    <a:lvl9pPr marL="4876800" algn="l" defTabSz="1219200" rtl="0" eaLnBrk="1" latinLnBrk="0" hangingPunct="1">
      <a:defRPr sz="3200" kern="1200">
        <a:solidFill>
          <a:schemeClr val="tx2"/>
        </a:solidFill>
        <a:latin typeface="FuturaA Md BT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66CCFF"/>
    <a:srgbClr val="FFFF66"/>
    <a:srgbClr val="FF3399"/>
    <a:srgbClr val="CC99FF"/>
    <a:srgbClr val="00FF99"/>
    <a:srgbClr val="6666FF"/>
    <a:srgbClr val="FF99FF"/>
    <a:srgbClr val="CC66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74" autoAdjust="0"/>
    <p:restoredTop sz="82771" autoAdjust="0"/>
  </p:normalViewPr>
  <p:slideViewPr>
    <p:cSldViewPr showGuides="1">
      <p:cViewPr varScale="1">
        <p:scale>
          <a:sx n="62" d="100"/>
          <a:sy n="62" d="100"/>
        </p:scale>
        <p:origin x="498" y="2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523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5907"/>
            <a:ext cx="4984962" cy="44677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9523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39E604E4-B7D4-43E6-ACE0-A1F318D637A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609600" algn="l" rtl="0" eaLnBrk="0" fontAlgn="base" hangingPunct="0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1219200" algn="l" rtl="0" eaLnBrk="0" fontAlgn="base" hangingPunct="0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828800" algn="l" rtl="0" eaLnBrk="0" fontAlgn="base" hangingPunct="0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2438400" algn="l" rtl="0" eaLnBrk="0" fontAlgn="base" hangingPunct="0">
      <a:spcBef>
        <a:spcPct val="30000"/>
      </a:spcBef>
      <a:spcAft>
        <a:spcPct val="0"/>
      </a:spcAft>
      <a:defRPr kumimoji="1" sz="1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FuturaA Md BT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FuturaA Md BT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FuturaA Md BT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FuturaA Md BT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FuturaA Md BT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FuturaA Md BT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FuturaA Md BT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FuturaA Md BT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FuturaA Md BT"/>
                <a:ea typeface="宋体" panose="02010600030101010101" pitchFamily="2" charset="-122"/>
              </a:defRPr>
            </a:lvl9pPr>
          </a:lstStyle>
          <a:p>
            <a:pPr eaLnBrk="1" hangingPunct="1"/>
            <a:fld id="{3F865BA9-FFCB-47CC-AC0F-3A8D62EA5622}" type="slidenum">
              <a:rPr lang="zh-CN" altLang="en-US" sz="1200" smtClean="0">
                <a:solidFill>
                  <a:schemeClr val="tx1"/>
                </a:solidFill>
                <a:latin typeface="Tahoma" panose="020B0604030504040204" pitchFamily="34" charset="0"/>
              </a:rPr>
            </a:fld>
            <a:endParaRPr lang="en-US" altLang="zh-CN" sz="12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9563" y="869950"/>
            <a:ext cx="6180137" cy="3476625"/>
          </a:xfrm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931" y="4721078"/>
            <a:ext cx="4981815" cy="417812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8055" eaLnBrk="1" hangingPunct="1"/>
            <a:r>
              <a:rPr lang="zh-CN" altLang="en-US" sz="1400" dirty="0">
                <a:solidFill>
                  <a:srgbClr val="C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微软雅黑" panose="020B0503020204020204" pitchFamily="34" charset="-122"/>
              </a:rPr>
              <a:t>例如：</a:t>
            </a:r>
            <a:endParaRPr lang="en-US" altLang="zh-CN" sz="1400" dirty="0">
              <a:solidFill>
                <a:srgbClr val="C3481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微软雅黑" panose="020B0503020204020204" pitchFamily="34" charset="-122"/>
            </a:endParaRPr>
          </a:p>
          <a:p>
            <a:pPr defTabSz="948055" eaLnBrk="1" hangingPunct="1"/>
            <a:r>
              <a:rPr lang="zh-CN" altLang="en-US" sz="1400" dirty="0">
                <a:solidFill>
                  <a:srgbClr val="C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微软雅黑" panose="020B0503020204020204" pitchFamily="34" charset="-122"/>
              </a:rPr>
              <a:t>哔哩哔哩创新分析</a:t>
            </a:r>
            <a:endParaRPr lang="en-US" altLang="zh-CN" sz="1400" dirty="0">
              <a:solidFill>
                <a:srgbClr val="C3481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微软雅黑" panose="020B0503020204020204" pitchFamily="34" charset="-122"/>
            </a:endParaRPr>
          </a:p>
          <a:p>
            <a:pPr defTabSz="948055" eaLnBrk="1" hangingPunct="1"/>
            <a:r>
              <a:rPr kumimoji="1" lang="zh-CN" altLang="en-US" sz="1400" i="1" dirty="0">
                <a:latin typeface="+mn-ea"/>
              </a:rPr>
              <a:t>沙河班</a:t>
            </a:r>
            <a:endParaRPr kumimoji="1" lang="en-US" altLang="zh-CN" sz="1400" i="1" dirty="0">
              <a:latin typeface="+mn-ea"/>
            </a:endParaRPr>
          </a:p>
          <a:p>
            <a:pPr defTabSz="948055" eaLnBrk="1" hangingPunct="1"/>
            <a:r>
              <a:rPr kumimoji="1" lang="zh-CN" altLang="en-US" sz="1400" i="1" dirty="0">
                <a:latin typeface="+mn-ea"/>
              </a:rPr>
              <a:t>计算机学院 </a:t>
            </a:r>
            <a:r>
              <a:rPr kumimoji="1" lang="en-US" altLang="zh-CN" sz="1400" i="1" dirty="0">
                <a:latin typeface="+mn-ea"/>
              </a:rPr>
              <a:t>2022123456 </a:t>
            </a:r>
            <a:r>
              <a:rPr kumimoji="1" lang="zh-CN" altLang="en-US" sz="1400" i="1" dirty="0">
                <a:latin typeface="+mn-ea"/>
              </a:rPr>
              <a:t>王浩然 </a:t>
            </a:r>
            <a:r>
              <a:rPr kumimoji="1" lang="en-US" altLang="zh-CN" sz="1400" i="1" dirty="0">
                <a:latin typeface="+mn-ea"/>
              </a:rPr>
              <a:t>13987654321</a:t>
            </a:r>
            <a:endParaRPr lang="en-US" altLang="zh-CN" sz="1400" dirty="0">
              <a:solidFill>
                <a:srgbClr val="C3481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高德地图与百度地图的导航大战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2013年10月，百度公司把高德地图告上法庭，声称高德在无事实依据的情况下指责百度“卖假药”、“把用户导入沟里”，对百度公司声誉造成不利影响。据了解，高德方面也已经决定对百度提出反诉。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此前，双方就导航免费互相指责对手，曾爆发大规模“口水战”，2013年8月28日，百度地图官微宣布旗下百度导航业务永久全免费；随后，高德导航官微发布长微博，宣布高德导航手机应用即日起实行免费政策，并表示于29日召开发布会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但就在8月29日上午，百度地图官微再次发布重要决定，宣布对之前购买过百度导航的用户将进行全部退款，当天下午高德召开发布会，对百度向付费用户退款的举措，高德高层称，百度是互联网公司，本来就不应收费，导航不专业应给用户赔钱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书籍、论文的引用格式可使用百度学术网站（</a:t>
            </a:r>
            <a:r>
              <a:rPr lang="en-US" altLang="zh-CN" dirty="0"/>
              <a:t>xueshu.baidu.com</a:t>
            </a:r>
            <a:r>
              <a:rPr lang="zh-CN" altLang="en-US" dirty="0"/>
              <a:t>）上的引用格式，方法是在百度学术上搜索相关书籍、论文，点击“引用”，然后选择“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PingFangSC-Semibold"/>
              </a:rPr>
              <a:t>GB/T 7714</a:t>
            </a:r>
            <a:r>
              <a:rPr lang="zh-CN" altLang="en-US" dirty="0"/>
              <a:t>”格式的引用。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E604E4-B7D4-43E6-ACE0-A1F318D637A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/>
          <p:cNvSpPr>
            <a:spLocks noChangeShapeType="1"/>
          </p:cNvSpPr>
          <p:nvPr/>
        </p:nvSpPr>
        <p:spPr bwMode="auto">
          <a:xfrm flipV="1">
            <a:off x="431800" y="1268413"/>
            <a:ext cx="11328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zh-CN" altLang="en-US" sz="3200">
              <a:latin typeface="FuturaA Md BT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1101957" y="6453189"/>
            <a:ext cx="1090044" cy="3248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20651" tIns="59267" rIns="120651" bIns="59267">
            <a:spAutoFit/>
          </a:bodyPr>
          <a:lstStyle/>
          <a:p>
            <a:pPr algn="r" eaLnBrk="0" hangingPunct="0">
              <a:defRPr/>
            </a:pPr>
            <a:r>
              <a:rPr lang="zh-CN" altLang="en-US" sz="1335">
                <a:latin typeface="FuturaA Md BT" charset="0"/>
              </a:rPr>
              <a:t>   </a:t>
            </a:r>
            <a:r>
              <a:rPr lang="en-US" altLang="zh-CN" sz="1335">
                <a:latin typeface="FuturaA Md BT" charset="0"/>
              </a:rPr>
              <a:t>Page </a:t>
            </a:r>
            <a:fld id="{FEB369E1-783D-4E83-9C69-8CE61697A308}" type="slidenum">
              <a:rPr lang="en-US" altLang="zh-CN" sz="1335">
                <a:latin typeface="FuturaA Md BT" charset="0"/>
              </a:rPr>
            </a:fld>
            <a:endParaRPr lang="en-US" altLang="zh-CN" sz="1335">
              <a:latin typeface="FuturaA Md BT" charset="0"/>
            </a:endParaRPr>
          </a:p>
        </p:txBody>
      </p:sp>
      <p:grpSp>
        <p:nvGrpSpPr>
          <p:cNvPr id="5" name="Group 10"/>
          <p:cNvGrpSpPr/>
          <p:nvPr userDrawn="1"/>
        </p:nvGrpSpPr>
        <p:grpSpPr bwMode="auto">
          <a:xfrm>
            <a:off x="1102786" y="5516566"/>
            <a:ext cx="11087100" cy="1435555"/>
            <a:chOff x="249" y="2341"/>
            <a:chExt cx="5178" cy="1702"/>
          </a:xfrm>
        </p:grpSpPr>
        <p:pic>
          <p:nvPicPr>
            <p:cNvPr id="6" name="Picture 11" descr="未命名-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" y="2341"/>
              <a:ext cx="5178" cy="1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12"/>
            <p:cNvSpPr>
              <a:spLocks noChangeArrowheads="1"/>
            </p:cNvSpPr>
            <p:nvPr/>
          </p:nvSpPr>
          <p:spPr bwMode="gray">
            <a:xfrm>
              <a:off x="1891" y="3593"/>
              <a:ext cx="86" cy="4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endParaRPr lang="zh-CN" altLang="en-US" sz="1865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pic>
        <p:nvPicPr>
          <p:cNvPr id="8" name="Picture 16" descr="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20" y="333375"/>
            <a:ext cx="3599125" cy="719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77" name="Rectangle 5"/>
          <p:cNvSpPr>
            <a:spLocks noGrp="1" noChangeArrowheads="1"/>
          </p:cNvSpPr>
          <p:nvPr>
            <p:ph type="ctrTitle" sz="quarter" hasCustomPrompt="1"/>
          </p:nvPr>
        </p:nvSpPr>
        <p:spPr bwMode="auto">
          <a:xfrm>
            <a:off x="1871133" y="2133600"/>
            <a:ext cx="8441267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0488" tIns="44450" rIns="90488" bIns="44450" numCol="1" anchor="ctr" anchorCtr="1" compatLnSpc="1"/>
          <a:lstStyle>
            <a:lvl1pPr>
              <a:defRPr/>
            </a:lvl1pPr>
          </a:lstStyle>
          <a:p>
            <a:r>
              <a:rPr lang="en-US" altLang="zh-CN"/>
              <a:t>TITLE</a:t>
            </a:r>
            <a:endParaRPr lang="en-US" altLang="zh-CN"/>
          </a:p>
        </p:txBody>
      </p:sp>
    </p:spTree>
  </p:cSld>
  <p:clrMapOvr>
    <a:masterClrMapping/>
  </p:clrMapOvr>
  <p:transition>
    <p:strips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34924"/>
            <a:ext cx="11247040" cy="731093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/>
            </a:lvl1pPr>
            <a:lvl2pPr marL="609600" indent="0">
              <a:buNone/>
              <a:defRPr sz="2400"/>
            </a:lvl2pPr>
            <a:lvl3pPr marL="1219200" indent="0">
              <a:buNone/>
              <a:defRPr sz="2135"/>
            </a:lvl3pPr>
            <a:lvl4pPr marL="1828800" indent="0">
              <a:buNone/>
              <a:defRPr sz="1865"/>
            </a:lvl4pPr>
            <a:lvl5pPr marL="2438400" indent="0">
              <a:buNone/>
              <a:defRPr sz="1865"/>
            </a:lvl5pPr>
            <a:lvl6pPr marL="3048000" indent="0">
              <a:buNone/>
              <a:defRPr sz="1865"/>
            </a:lvl6pPr>
            <a:lvl7pPr marL="3657600" indent="0">
              <a:buNone/>
              <a:defRPr sz="1865"/>
            </a:lvl7pPr>
            <a:lvl8pPr marL="4267200" indent="0">
              <a:buNone/>
              <a:defRPr sz="1865"/>
            </a:lvl8pPr>
            <a:lvl9pPr marL="4876800" indent="0">
              <a:buNone/>
              <a:defRPr sz="18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45635" y="1484313"/>
            <a:ext cx="4948767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2" y="1484313"/>
            <a:ext cx="4948767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trips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73563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7356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45635" y="1484313"/>
            <a:ext cx="4948767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2" y="1484313"/>
            <a:ext cx="4948767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45635" y="1484313"/>
            <a:ext cx="4948767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2" y="1484313"/>
            <a:ext cx="4948767" cy="2185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2" y="3822702"/>
            <a:ext cx="4948767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7356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045634" y="1484313"/>
            <a:ext cx="10100733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2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ChangeArrowheads="1"/>
          </p:cNvSpPr>
          <p:nvPr/>
        </p:nvSpPr>
        <p:spPr bwMode="auto">
          <a:xfrm>
            <a:off x="11150047" y="6453189"/>
            <a:ext cx="1041954" cy="3248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20651" tIns="59267" rIns="120651" bIns="59267">
            <a:spAutoFit/>
          </a:bodyPr>
          <a:lstStyle/>
          <a:p>
            <a:pPr algn="r" eaLnBrk="0" hangingPunct="0">
              <a:defRPr/>
            </a:pPr>
            <a:r>
              <a:rPr lang="zh-CN" altLang="en-US" sz="1335">
                <a:latin typeface="FuturaA Md BT" charset="0"/>
              </a:rPr>
              <a:t>  </a:t>
            </a:r>
            <a:r>
              <a:rPr lang="en-US" altLang="zh-CN" sz="1335">
                <a:latin typeface="FuturaA Md BT" charset="0"/>
              </a:rPr>
              <a:t>Page </a:t>
            </a:r>
            <a:fld id="{0E00DC89-7662-483E-9F20-6C94E6B6B8FB}" type="slidenum">
              <a:rPr lang="en-US" altLang="zh-CN" sz="1335">
                <a:latin typeface="FuturaA Md BT" charset="0"/>
              </a:rPr>
            </a:fld>
            <a:endParaRPr lang="en-US" altLang="zh-CN" sz="1335">
              <a:latin typeface="FuturaA Md BT" charset="0"/>
            </a:endParaRPr>
          </a:p>
        </p:txBody>
      </p:sp>
      <p:sp>
        <p:nvSpPr>
          <p:cNvPr id="411652" name="Line 4"/>
          <p:cNvSpPr>
            <a:spLocks noChangeShapeType="1"/>
          </p:cNvSpPr>
          <p:nvPr/>
        </p:nvSpPr>
        <p:spPr bwMode="auto">
          <a:xfrm>
            <a:off x="239186" y="765175"/>
            <a:ext cx="11618383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zh-CN" altLang="en-US" sz="3200">
              <a:latin typeface="FuturaA Md BT" charset="0"/>
            </a:endParaRPr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>
            <a:off x="0" y="6237289"/>
            <a:ext cx="12192000" cy="6121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20651" tIns="59267" rIns="120651" bIns="59267">
            <a:spAutoFit/>
          </a:bodyPr>
          <a:lstStyle/>
          <a:p>
            <a:pPr eaLnBrk="0" hangingPunct="0">
              <a:defRPr/>
            </a:pPr>
            <a:r>
              <a:rPr lang="zh-CN" altLang="en-US" sz="3200" b="1">
                <a:solidFill>
                  <a:srgbClr val="436ACB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</a:t>
            </a:r>
            <a:endParaRPr lang="zh-CN" altLang="en-US" sz="3200" b="1">
              <a:latin typeface="FuturaA Md BT" charset="0"/>
              <a:ea typeface="隶书" panose="02010509060101010101" pitchFamily="49" charset="-122"/>
            </a:endParaRPr>
          </a:p>
        </p:txBody>
      </p:sp>
      <p:sp>
        <p:nvSpPr>
          <p:cNvPr id="1536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45634" y="1484313"/>
            <a:ext cx="1010073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</p:txBody>
      </p:sp>
      <p:pic>
        <p:nvPicPr>
          <p:cNvPr id="15366" name="Picture 10" descr="logo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18" y="115889"/>
            <a:ext cx="244699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strips dir="ru"/>
  </p:transition>
  <p:txStyles>
    <p:titleStyle>
      <a:lvl1pPr algn="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609600" algn="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1219200" algn="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828800" algn="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2438400" algn="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455295" indent="-455295" algn="l" rtl="0" eaLnBrk="0" fontAlgn="base" hangingPunct="0">
        <a:spcBef>
          <a:spcPct val="50000"/>
        </a:spcBef>
        <a:spcAft>
          <a:spcPct val="0"/>
        </a:spcAft>
        <a:buClr>
          <a:srgbClr val="0066FF"/>
        </a:buClr>
        <a:buFont typeface="Wingdings" panose="05000000000000000000" pitchFamily="2" charset="2"/>
        <a:buChar char="n"/>
        <a:defRPr sz="3735">
          <a:solidFill>
            <a:schemeClr val="tx1"/>
          </a:solidFill>
          <a:latin typeface="+mn-lt"/>
          <a:ea typeface="+mn-ea"/>
          <a:cs typeface="+mn-cs"/>
        </a:defRPr>
      </a:lvl1pPr>
      <a:lvl2pPr marL="988695" indent="-381000" algn="l" rtl="0" eaLnBrk="0" fontAlgn="base" hangingPunct="0">
        <a:spcBef>
          <a:spcPct val="50000"/>
        </a:spcBef>
        <a:spcAft>
          <a:spcPct val="0"/>
        </a:spcAft>
        <a:buClr>
          <a:srgbClr val="F35B1B"/>
        </a:buClr>
        <a:buSzPct val="83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</a:defRPr>
      </a:lvl2pPr>
      <a:lvl3pPr marL="1522095" indent="-381000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SzPct val="88000"/>
        <a:buFont typeface="Wingdings" panose="05000000000000000000" pitchFamily="2" charset="2"/>
        <a:buChar char="Ø"/>
        <a:defRPr sz="2665">
          <a:solidFill>
            <a:schemeClr val="tx1"/>
          </a:solidFill>
          <a:latin typeface="+mn-lt"/>
          <a:ea typeface="+mn-ea"/>
        </a:defRPr>
      </a:lvl3pPr>
      <a:lvl4pPr marL="1970405" indent="-296545" algn="l" rtl="0" eaLnBrk="0" fontAlgn="base" hangingPunct="0">
        <a:spcBef>
          <a:spcPct val="50000"/>
        </a:spcBef>
        <a:spcAft>
          <a:spcPct val="0"/>
        </a:spcAft>
        <a:buClr>
          <a:srgbClr val="F35B1B"/>
        </a:buClr>
        <a:buSzPct val="135000"/>
        <a:buChar char="–"/>
        <a:defRPr sz="2665">
          <a:solidFill>
            <a:schemeClr val="tx1"/>
          </a:solidFill>
          <a:latin typeface="+mn-lt"/>
          <a:ea typeface="+mn-ea"/>
        </a:defRPr>
      </a:lvl4pPr>
      <a:lvl5pPr marL="2368550" indent="-245745" algn="l" rtl="0" eaLnBrk="0" fontAlgn="base" hangingPunct="0">
        <a:spcBef>
          <a:spcPct val="20000"/>
        </a:spcBef>
        <a:spcAft>
          <a:spcPct val="0"/>
        </a:spcAft>
        <a:buChar char="»"/>
        <a:defRPr sz="2665">
          <a:solidFill>
            <a:schemeClr val="tx1"/>
          </a:solidFill>
          <a:latin typeface="Times New Roman" panose="02020603050405020304" pitchFamily="18" charset="0"/>
          <a:ea typeface="+mn-ea"/>
        </a:defRPr>
      </a:lvl5pPr>
      <a:lvl6pPr marL="2978150" indent="-245745" algn="l" rtl="0" fontAlgn="base">
        <a:spcBef>
          <a:spcPct val="20000"/>
        </a:spcBef>
        <a:spcAft>
          <a:spcPct val="0"/>
        </a:spcAft>
        <a:buChar char="»"/>
        <a:defRPr sz="2665">
          <a:solidFill>
            <a:schemeClr val="tx1"/>
          </a:solidFill>
          <a:latin typeface="Times New Roman" panose="02020603050405020304" pitchFamily="18" charset="0"/>
          <a:ea typeface="+mn-ea"/>
        </a:defRPr>
      </a:lvl6pPr>
      <a:lvl7pPr marL="3587750" indent="-245745" algn="l" rtl="0" fontAlgn="base">
        <a:spcBef>
          <a:spcPct val="20000"/>
        </a:spcBef>
        <a:spcAft>
          <a:spcPct val="0"/>
        </a:spcAft>
        <a:buChar char="»"/>
        <a:defRPr sz="2665">
          <a:solidFill>
            <a:schemeClr val="tx1"/>
          </a:solidFill>
          <a:latin typeface="Times New Roman" panose="02020603050405020304" pitchFamily="18" charset="0"/>
          <a:ea typeface="+mn-ea"/>
        </a:defRPr>
      </a:lvl7pPr>
      <a:lvl8pPr marL="4197350" indent="-245745" algn="l" rtl="0" fontAlgn="base">
        <a:spcBef>
          <a:spcPct val="20000"/>
        </a:spcBef>
        <a:spcAft>
          <a:spcPct val="0"/>
        </a:spcAft>
        <a:buChar char="»"/>
        <a:defRPr sz="2665">
          <a:solidFill>
            <a:schemeClr val="tx1"/>
          </a:solidFill>
          <a:latin typeface="Times New Roman" panose="02020603050405020304" pitchFamily="18" charset="0"/>
          <a:ea typeface="+mn-ea"/>
        </a:defRPr>
      </a:lvl8pPr>
      <a:lvl9pPr marL="4806950" indent="-245745" algn="l" rtl="0" fontAlgn="base">
        <a:spcBef>
          <a:spcPct val="20000"/>
        </a:spcBef>
        <a:spcAft>
          <a:spcPct val="0"/>
        </a:spcAft>
        <a:buChar char="»"/>
        <a:defRPr sz="2665">
          <a:solidFill>
            <a:schemeClr val="tx1"/>
          </a:solidFill>
          <a:latin typeface="Times New Roman" panose="02020603050405020304" pitchFamily="18" charset="0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28736"/>
            <a:ext cx="12192000" cy="33363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C3481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永恒之蓝漏洞利用中遇到的问题和解决</a:t>
            </a:r>
            <a:endParaRPr lang="zh-CN" altLang="en-US" dirty="0">
              <a:solidFill>
                <a:srgbClr val="C3481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7412" name="Rectangle 7"/>
          <p:cNvSpPr>
            <a:spLocks noChangeArrowheads="1"/>
          </p:cNvSpPr>
          <p:nvPr/>
        </p:nvSpPr>
        <p:spPr bwMode="auto">
          <a:xfrm>
            <a:off x="0" y="4004675"/>
            <a:ext cx="12192000" cy="1632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0651" tIns="59267" rIns="120651" bIns="59267" anchor="ctr" anchorCtr="1"/>
          <a:lstStyle/>
          <a:p>
            <a:pPr algn="ctr">
              <a:lnSpc>
                <a:spcPct val="130000"/>
              </a:lnSpc>
            </a:pPr>
            <a:r>
              <a:rPr lang="en-US" altLang="zh-CN" sz="2400" b="1" dirty="0">
                <a:latin typeface="+mn-ea"/>
                <a:ea typeface="+mn-ea"/>
              </a:rPr>
              <a:t> </a:t>
            </a:r>
            <a:endParaRPr lang="en-US" altLang="zh-CN" sz="2400" b="1" dirty="0">
              <a:latin typeface="+mn-ea"/>
              <a:ea typeface="+mn-ea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400" b="1" dirty="0">
                <a:latin typeface="+mn-ea"/>
                <a:ea typeface="+mn-ea"/>
              </a:rPr>
              <a:t>网络空间安全学院 学号：</a:t>
            </a:r>
            <a:r>
              <a:rPr lang="en-US" altLang="zh-CN" sz="2400" b="1" dirty="0">
                <a:latin typeface="+mn-ea"/>
                <a:ea typeface="+mn-ea"/>
              </a:rPr>
              <a:t>2023211475</a:t>
            </a:r>
            <a:r>
              <a:rPr lang="zh-CN" altLang="en-US" sz="2400" b="1" dirty="0">
                <a:latin typeface="+mn-ea"/>
                <a:ea typeface="+mn-ea"/>
              </a:rPr>
              <a:t> </a:t>
            </a:r>
            <a:endParaRPr lang="zh-CN" altLang="en-US" sz="2400" b="1" dirty="0">
              <a:latin typeface="+mn-ea"/>
              <a:ea typeface="+mn-ea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400" b="1" dirty="0">
                <a:latin typeface="+mn-ea"/>
                <a:ea typeface="+mn-ea"/>
              </a:rPr>
              <a:t>姓名：王鸣一 班级：</a:t>
            </a:r>
            <a:r>
              <a:rPr lang="en-US" altLang="zh-CN" sz="2400" b="1" dirty="0">
                <a:latin typeface="+mn-ea"/>
                <a:ea typeface="+mn-ea"/>
              </a:rPr>
              <a:t>2023211804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99856" y="260648"/>
            <a:ext cx="739214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网络空间安全认知实习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课堂报告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8279"/>
    </mc:Choice>
    <mc:Fallback>
      <p:transition advTm="182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问题引入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3200"/>
              <a:t>我的</a:t>
            </a:r>
            <a:r>
              <a:rPr lang="en-US" altLang="zh-CN" sz="3200"/>
              <a:t>Kali Linux </a:t>
            </a:r>
            <a:r>
              <a:rPr lang="zh-CN" altLang="en-US" sz="3200"/>
              <a:t>是英文的</a:t>
            </a:r>
            <a:endParaRPr lang="zh-CN" altLang="en-US" sz="3200"/>
          </a:p>
          <a:p>
            <a:r>
              <a:rPr lang="zh-CN" altLang="en-US" sz="3200">
                <a:sym typeface="+mn-ea"/>
              </a:rPr>
              <a:t>用</a:t>
            </a:r>
            <a:r>
              <a:rPr lang="en-US" altLang="zh-CN" sz="3200">
                <a:sym typeface="+mn-ea"/>
              </a:rPr>
              <a:t>nmap+ip</a:t>
            </a:r>
            <a:r>
              <a:rPr lang="zh-CN" altLang="en-US" sz="3200">
                <a:sym typeface="+mn-ea"/>
              </a:rPr>
              <a:t>扫描靶机</a:t>
            </a:r>
            <a:r>
              <a:rPr lang="en-US" altLang="zh-CN" sz="3200">
                <a:sym typeface="+mn-ea"/>
              </a:rPr>
              <a:t>IP</a:t>
            </a:r>
            <a:r>
              <a:rPr lang="zh-CN" altLang="en-US" sz="3200">
                <a:sym typeface="+mn-ea"/>
              </a:rPr>
              <a:t>为什么扫描不到</a:t>
            </a:r>
            <a:endParaRPr lang="zh-CN" altLang="en-US" sz="3200"/>
          </a:p>
          <a:p>
            <a:r>
              <a:rPr lang="zh-CN" altLang="en-US" sz="3200"/>
              <a:t>搜索到</a:t>
            </a:r>
            <a:r>
              <a:rPr lang="en-US" altLang="zh-CN" sz="3200"/>
              <a:t>ms17_010</a:t>
            </a:r>
            <a:r>
              <a:rPr lang="zh-CN" altLang="en-US" sz="3200"/>
              <a:t>后攻击靶机攻击不成功</a:t>
            </a:r>
            <a:endParaRPr lang="zh-CN" altLang="en-US" sz="3200"/>
          </a:p>
          <a:p>
            <a:endParaRPr lang="zh-CN" altLang="en-US" sz="3200"/>
          </a:p>
        </p:txBody>
      </p:sp>
    </p:spTree>
  </p:cSld>
  <p:clrMapOvr>
    <a:masterClrMapping/>
  </p:clrMapOvr>
  <p:transition>
    <p:strips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Kali Linux </a:t>
            </a:r>
            <a:r>
              <a:rPr lang="zh-CN" altLang="en-US">
                <a:sym typeface="+mn-ea"/>
              </a:rPr>
              <a:t>是英文</a:t>
            </a:r>
            <a:r>
              <a:rPr lang="zh-CN" altLang="en-US">
                <a:sym typeface="+mn-ea"/>
              </a:rPr>
              <a:t>版的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80" y="1772285"/>
            <a:ext cx="11697335" cy="5066030"/>
          </a:xfrm>
        </p:spPr>
        <p:txBody>
          <a:bodyPr/>
          <a:p>
            <a:r>
              <a:rPr lang="zh-CN" altLang="en-US"/>
              <a:t>首先，进入终端输入</a:t>
            </a:r>
            <a:r>
              <a:rPr lang="en-US" altLang="zh-CN"/>
              <a:t>“sudo -i”,</a:t>
            </a:r>
            <a:r>
              <a:rPr lang="zh-CN" altLang="en-US"/>
              <a:t>输入密码以</a:t>
            </a:r>
            <a:r>
              <a:rPr lang="en-US" altLang="zh-CN"/>
              <a:t>root</a:t>
            </a:r>
            <a:r>
              <a:rPr lang="zh-CN" altLang="en-US"/>
              <a:t>用户身份</a:t>
            </a:r>
            <a:r>
              <a:rPr lang="zh-CN" altLang="en-US"/>
              <a:t>登录</a:t>
            </a:r>
            <a:endParaRPr lang="zh-CN" altLang="en-US"/>
          </a:p>
          <a:p>
            <a:r>
              <a:rPr lang="zh-CN" altLang="en-US"/>
              <a:t>然后，输入</a:t>
            </a:r>
            <a:r>
              <a:rPr lang="en-US" altLang="zh-CN"/>
              <a:t>“</a:t>
            </a:r>
            <a:r>
              <a:rPr lang="zh-CN" altLang="en-US"/>
              <a:t>apt install ttf-wqy-zenhei</a:t>
            </a:r>
            <a:r>
              <a:rPr lang="en-US" altLang="zh-CN"/>
              <a:t>”</a:t>
            </a:r>
            <a:r>
              <a:rPr lang="zh-CN" altLang="en-US"/>
              <a:t>安装</a:t>
            </a:r>
            <a:r>
              <a:rPr lang="zh-CN" altLang="en-US"/>
              <a:t>中文字体</a:t>
            </a:r>
            <a:endParaRPr lang="zh-CN" altLang="en-US"/>
          </a:p>
          <a:p>
            <a:r>
              <a:rPr lang="zh-CN" altLang="en-US"/>
              <a:t>再输入</a:t>
            </a:r>
            <a:r>
              <a:rPr lang="en-US" altLang="zh-CN"/>
              <a:t>“dpkg-reconfigure locales”</a:t>
            </a:r>
            <a:r>
              <a:rPr lang="zh-CN" altLang="en-US"/>
              <a:t>会进入区域设置界面，选中</a:t>
            </a:r>
            <a:r>
              <a:rPr lang="en-US" altLang="zh-CN"/>
              <a:t>“zh_CN.UTF-8 UTF-8”</a:t>
            </a:r>
            <a:r>
              <a:rPr lang="zh-CN" altLang="en-US"/>
              <a:t>确认，</a:t>
            </a:r>
            <a:endParaRPr lang="zh-CN" altLang="en-US"/>
          </a:p>
          <a:p>
            <a:r>
              <a:rPr lang="zh-CN" altLang="en-US"/>
              <a:t>最后重启，就变成</a:t>
            </a:r>
            <a:r>
              <a:rPr lang="zh-CN" altLang="en-US"/>
              <a:t>简体中文的了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35280" y="908685"/>
            <a:ext cx="10100945" cy="7848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55295" indent="-45529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n"/>
              <a:defRPr sz="3735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8695" indent="-3810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35B1B"/>
              </a:buClr>
              <a:buSzPct val="83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</a:defRPr>
            </a:lvl2pPr>
            <a:lvl3pPr marL="1522095" indent="-3810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88000"/>
              <a:buFont typeface="Wingdings" panose="05000000000000000000" pitchFamily="2" charset="2"/>
              <a:buChar char="Ø"/>
              <a:defRPr sz="2665">
                <a:solidFill>
                  <a:schemeClr val="tx1"/>
                </a:solidFill>
                <a:latin typeface="+mn-lt"/>
                <a:ea typeface="+mn-ea"/>
              </a:defRPr>
            </a:lvl3pPr>
            <a:lvl4pPr marL="1970405" indent="-29654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35B1B"/>
              </a:buClr>
              <a:buSzPct val="135000"/>
              <a:buChar char="–"/>
              <a:defRPr sz="2665">
                <a:solidFill>
                  <a:schemeClr val="tx1"/>
                </a:solidFill>
                <a:latin typeface="+mn-lt"/>
                <a:ea typeface="+mn-ea"/>
              </a:defRPr>
            </a:lvl4pPr>
            <a:lvl5pPr marL="2368550" indent="-24574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5pPr>
            <a:lvl6pPr marL="29781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6pPr>
            <a:lvl7pPr marL="35877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7pPr>
            <a:lvl8pPr marL="41973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8pPr>
            <a:lvl9pPr marL="48069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9pPr>
          </a:lstStyle>
          <a:p>
            <a:r>
              <a:rPr lang="zh-CN" altLang="en-US"/>
              <a:t>英文是Kali Linux 虚拟机的</a:t>
            </a:r>
            <a:r>
              <a:rPr lang="zh-CN" altLang="en-US"/>
              <a:t>初始语言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nmap</a:t>
            </a:r>
            <a:r>
              <a:rPr lang="zh-CN" altLang="en-US"/>
              <a:t>扫描靶机</a:t>
            </a:r>
            <a:r>
              <a:rPr lang="en-US" altLang="zh-CN"/>
              <a:t>IP</a:t>
            </a:r>
            <a:r>
              <a:rPr lang="zh-CN" altLang="en-US"/>
              <a:t>扫描不到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91135" y="980440"/>
            <a:ext cx="11610975" cy="2717800"/>
          </a:xfrm>
        </p:spPr>
        <p:txBody>
          <a:bodyPr/>
          <a:p>
            <a:r>
              <a:rPr>
                <a:sym typeface="+mn-ea"/>
              </a:rPr>
              <a:t>nmap是Network Mapper（网络映射器）的简称，它是一款免费、开源的网络扫描和安全审计工具。通过nmap，用户可以扫描网络中的主机，发现其开放的端口、运行的服务、操作系统类型以及可能存在的安全漏洞等信息。</a:t>
            </a:r>
            <a:endParaRPr>
              <a:sym typeface="+mn-ea"/>
            </a:endParaRPr>
          </a:p>
          <a:p>
            <a:endParaRPr lang="zh-CN" altLang="en-US"/>
          </a:p>
        </p:txBody>
      </p:sp>
      <p:sp>
        <p:nvSpPr>
          <p:cNvPr id="8" name="内容占位符 6"/>
          <p:cNvSpPr>
            <a:spLocks noGrp="1"/>
          </p:cNvSpPr>
          <p:nvPr/>
        </p:nvSpPr>
        <p:spPr>
          <a:xfrm>
            <a:off x="318135" y="4004945"/>
            <a:ext cx="11610975" cy="29502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55295" indent="-45529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n"/>
              <a:defRPr sz="3735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8695" indent="-3810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35B1B"/>
              </a:buClr>
              <a:buSzPct val="83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</a:defRPr>
            </a:lvl2pPr>
            <a:lvl3pPr marL="1522095" indent="-3810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88000"/>
              <a:buFont typeface="Wingdings" panose="05000000000000000000" pitchFamily="2" charset="2"/>
              <a:buChar char="Ø"/>
              <a:defRPr sz="2665">
                <a:solidFill>
                  <a:schemeClr val="tx1"/>
                </a:solidFill>
                <a:latin typeface="+mn-lt"/>
                <a:ea typeface="+mn-ea"/>
              </a:defRPr>
            </a:lvl3pPr>
            <a:lvl4pPr marL="1970405" indent="-29654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35B1B"/>
              </a:buClr>
              <a:buSzPct val="135000"/>
              <a:buChar char="–"/>
              <a:defRPr sz="2665">
                <a:solidFill>
                  <a:schemeClr val="tx1"/>
                </a:solidFill>
                <a:latin typeface="+mn-lt"/>
                <a:ea typeface="+mn-ea"/>
              </a:defRPr>
            </a:lvl4pPr>
            <a:lvl5pPr marL="2368550" indent="-24574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5pPr>
            <a:lvl6pPr marL="29781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6pPr>
            <a:lvl7pPr marL="35877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7pPr>
            <a:lvl8pPr marL="41973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8pPr>
            <a:lvl9pPr marL="48069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9pPr>
          </a:lstStyle>
          <a:p>
            <a:r>
              <a:rPr lang="zh-CN" altLang="en-US"/>
              <a:t>防火墙可能会配置规则来过滤掉某些类型的网络请求，包括Nmap发送的扫描请求。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nmap</a:t>
            </a:r>
            <a:r>
              <a:rPr lang="zh-CN" altLang="en-US">
                <a:sym typeface="+mn-ea"/>
              </a:rPr>
              <a:t>扫描靶机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扫描不到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2890" y="908685"/>
            <a:ext cx="4646295" cy="1544955"/>
          </a:xfrm>
        </p:spPr>
        <p:txBody>
          <a:bodyPr/>
          <a:p>
            <a:r>
              <a:rPr lang="zh-CN" altLang="en-US"/>
              <a:t>最开始</a:t>
            </a:r>
            <a:r>
              <a:rPr lang="zh-CN" altLang="en-US"/>
              <a:t>扫描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zh-CN" altLang="en-US"/>
              <a:t>靶机未关闭防火墙）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6383655" y="836295"/>
            <a:ext cx="5525135" cy="173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55295" indent="-45529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66FF"/>
              </a:buClr>
              <a:buFont typeface="Wingdings" panose="05000000000000000000" pitchFamily="2" charset="2"/>
              <a:buChar char="n"/>
              <a:defRPr sz="3735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8695" indent="-3810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35B1B"/>
              </a:buClr>
              <a:buSzPct val="83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</a:defRPr>
            </a:lvl2pPr>
            <a:lvl3pPr marL="1522095" indent="-3810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88000"/>
              <a:buFont typeface="Wingdings" panose="05000000000000000000" pitchFamily="2" charset="2"/>
              <a:buChar char="Ø"/>
              <a:defRPr sz="2665">
                <a:solidFill>
                  <a:schemeClr val="tx1"/>
                </a:solidFill>
                <a:latin typeface="+mn-lt"/>
                <a:ea typeface="+mn-ea"/>
              </a:defRPr>
            </a:lvl3pPr>
            <a:lvl4pPr marL="1970405" indent="-296545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35B1B"/>
              </a:buClr>
              <a:buSzPct val="135000"/>
              <a:buChar char="–"/>
              <a:defRPr sz="2665">
                <a:solidFill>
                  <a:schemeClr val="tx1"/>
                </a:solidFill>
                <a:latin typeface="+mn-lt"/>
                <a:ea typeface="+mn-ea"/>
              </a:defRPr>
            </a:lvl4pPr>
            <a:lvl5pPr marL="2368550" indent="-24574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5pPr>
            <a:lvl6pPr marL="29781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6pPr>
            <a:lvl7pPr marL="35877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7pPr>
            <a:lvl8pPr marL="41973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8pPr>
            <a:lvl9pPr marL="4806950" indent="-245745" algn="l" rtl="0" fontAlgn="base">
              <a:spcBef>
                <a:spcPct val="20000"/>
              </a:spcBef>
              <a:spcAft>
                <a:spcPct val="0"/>
              </a:spcAft>
              <a:buChar char="»"/>
              <a:defRPr sz="2665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9pPr>
          </a:lstStyle>
          <a:p>
            <a:r>
              <a:rPr lang="zh-CN" altLang="en-US"/>
              <a:t>靶机关闭防火墙后</a:t>
            </a:r>
            <a:r>
              <a:rPr lang="zh-CN" altLang="en-US"/>
              <a:t>扫描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" y="2348865"/>
            <a:ext cx="6267450" cy="4410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035" y="2348865"/>
            <a:ext cx="3762375" cy="2362200"/>
          </a:xfrm>
          <a:prstGeom prst="rect">
            <a:avLst/>
          </a:prstGeom>
        </p:spPr>
      </p:pic>
    </p:spTree>
  </p:cSld>
  <p:clrMapOvr>
    <a:masterClrMapping/>
  </p:clrMapOvr>
  <p:transition>
    <p:strips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搜索到</a:t>
            </a:r>
            <a:r>
              <a:rPr lang="en-US" altLang="zh-CN">
                <a:sym typeface="+mn-ea"/>
              </a:rPr>
              <a:t>ms17_010</a:t>
            </a:r>
            <a:r>
              <a:rPr lang="zh-CN" altLang="en-US">
                <a:sym typeface="+mn-ea"/>
              </a:rPr>
              <a:t>后攻击靶机攻击不成功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95" y="1268730"/>
            <a:ext cx="12098655" cy="4526280"/>
          </a:xfrm>
        </p:spPr>
        <p:txBody>
          <a:bodyPr/>
          <a:p>
            <a:r>
              <a:rPr lang="zh-CN" altLang="en-US"/>
              <a:t>1、MS17-010漏洞是一种针对Windows系统中SMB（Server Message Block）协议的缓冲区溢出漏洞。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、端口445主要用于微软的SMB协议。</a:t>
            </a:r>
            <a:endParaRPr lang="zh-CN" altLang="en-US"/>
          </a:p>
          <a:p>
            <a:r>
              <a:rPr lang="zh-CN" altLang="en-US"/>
              <a:t>因此，攻击者可以通过扫描开放445端口的Windows机器，利用MS17-010漏洞进行远程代码执行攻击。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搜索到</a:t>
            </a:r>
            <a:r>
              <a:rPr lang="en-US" altLang="zh-CN">
                <a:sym typeface="+mn-ea"/>
              </a:rPr>
              <a:t>ms17_010</a:t>
            </a:r>
            <a:r>
              <a:rPr lang="zh-CN" altLang="en-US">
                <a:sym typeface="+mn-ea"/>
              </a:rPr>
              <a:t>后攻击靶机攻击不成功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0980" y="1014095"/>
            <a:ext cx="10925810" cy="1555115"/>
          </a:xfrm>
        </p:spPr>
        <p:txBody>
          <a:bodyPr/>
          <a:p>
            <a:r>
              <a:rPr lang="zh-CN" altLang="en-US"/>
              <a:t>在靶机</a:t>
            </a:r>
            <a:r>
              <a:rPr lang="en-US" altLang="zh-CN"/>
              <a:t>cmd</a:t>
            </a:r>
            <a:r>
              <a:rPr lang="zh-CN" altLang="en-US"/>
              <a:t>里输入</a:t>
            </a:r>
            <a:r>
              <a:rPr lang="en-US" altLang="zh-CN"/>
              <a:t>netstat -nao</a:t>
            </a:r>
            <a:r>
              <a:rPr lang="zh-CN" altLang="en-US"/>
              <a:t>可查看靶机端口状态，状态栏显示LISTENING就表示</a:t>
            </a:r>
            <a:r>
              <a:rPr lang="zh-CN" altLang="en-US"/>
              <a:t>是开着的。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2348865"/>
            <a:ext cx="6591300" cy="4277360"/>
          </a:xfrm>
          <a:prstGeom prst="rect">
            <a:avLst/>
          </a:prstGeom>
        </p:spPr>
      </p:pic>
    </p:spTree>
  </p:cSld>
  <p:clrMapOvr>
    <a:masterClrMapping/>
  </p:clrMapOvr>
  <p:transition>
    <p:strips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搜索到</a:t>
            </a:r>
            <a:r>
              <a:rPr lang="en-US" altLang="zh-CN">
                <a:sym typeface="+mn-ea"/>
              </a:rPr>
              <a:t>ms17_010</a:t>
            </a:r>
            <a:r>
              <a:rPr lang="zh-CN" altLang="en-US">
                <a:sym typeface="+mn-ea"/>
              </a:rPr>
              <a:t>后攻击靶机攻击不成功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990" y="764540"/>
            <a:ext cx="11920220" cy="4519295"/>
          </a:xfrm>
        </p:spPr>
        <p:txBody>
          <a:bodyPr/>
          <a:p>
            <a:r>
              <a:rPr lang="en-US" altLang="zh-CN"/>
              <a:t>445</a:t>
            </a:r>
            <a:r>
              <a:rPr lang="zh-CN" altLang="en-US"/>
              <a:t>端口</a:t>
            </a:r>
            <a:r>
              <a:rPr lang="zh-CN" altLang="en-US"/>
              <a:t>打开的方法：</a:t>
            </a:r>
            <a:endParaRPr lang="zh-CN" altLang="en-US"/>
          </a:p>
          <a:p>
            <a:r>
              <a:rPr lang="zh-CN" altLang="en-US"/>
              <a:t>进入靶机的</a:t>
            </a:r>
            <a:r>
              <a:rPr lang="en-US" altLang="zh-CN"/>
              <a:t>cmd</a:t>
            </a:r>
            <a:r>
              <a:rPr lang="zh-CN" altLang="en-US"/>
              <a:t>中，输入regedit进入注册表编辑器，找到HKEY_LOCAL_MACHINE\SYSTEM\CurrentControlSet\Services\NetBT\Parameters路径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下的</a:t>
            </a:r>
            <a:r>
              <a:rPr lang="en-US" altLang="zh-CN"/>
              <a:t>‘</a:t>
            </a:r>
            <a:r>
              <a:rPr lang="zh-CN" altLang="en-US"/>
              <a:t>SMBDeviceEnabled</a:t>
            </a:r>
            <a:r>
              <a:rPr lang="en-US" altLang="zh-CN"/>
              <a:t>’</a:t>
            </a:r>
            <a:r>
              <a:rPr lang="zh-CN" altLang="en-US"/>
              <a:t>并把它的值改为</a:t>
            </a:r>
            <a:r>
              <a:rPr lang="en-US" altLang="zh-CN"/>
              <a:t>1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每次启用</a:t>
            </a:r>
            <a:r>
              <a:rPr lang="en-US" altLang="zh-CN"/>
              <a:t>msfconsole</a:t>
            </a:r>
            <a:r>
              <a:rPr lang="zh-CN" altLang="en-US"/>
              <a:t>出现的画面都不同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908685"/>
            <a:ext cx="3125470" cy="29222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240" y="908685"/>
            <a:ext cx="3296920" cy="29229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835" y="3606800"/>
            <a:ext cx="3808730" cy="29229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" y="4076700"/>
            <a:ext cx="6555740" cy="2453005"/>
          </a:xfrm>
          <a:prstGeom prst="rect">
            <a:avLst/>
          </a:prstGeom>
        </p:spPr>
      </p:pic>
      <p:pic>
        <p:nvPicPr>
          <p:cNvPr id="8" name="图片 7" descr="思考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836295"/>
            <a:ext cx="2313940" cy="2500630"/>
          </a:xfrm>
          <a:prstGeom prst="rect">
            <a:avLst/>
          </a:prstGeom>
        </p:spPr>
      </p:pic>
    </p:spTree>
  </p:cSld>
  <p:clrMapOvr>
    <a:masterClrMapping/>
  </p:clrMapOvr>
  <p:transition>
    <p:strips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每次启用</a:t>
            </a:r>
            <a:r>
              <a:rPr lang="en-US" altLang="zh-CN"/>
              <a:t>msfconsole</a:t>
            </a:r>
            <a:r>
              <a:rPr lang="zh-CN" altLang="en-US"/>
              <a:t>出现的画面都不同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180" y="1124585"/>
            <a:ext cx="11104245" cy="4954270"/>
          </a:xfrm>
        </p:spPr>
        <p:txBody>
          <a:bodyPr/>
          <a:p>
            <a:r>
              <a:rPr lang="zh-CN" altLang="en-US"/>
              <a:t>MSF是一个功能强大的渗透测试和安全审计工具，它集成了大量的漏洞利用模块和木马生成工具</a:t>
            </a:r>
            <a:endParaRPr lang="zh-CN" altLang="en-US"/>
          </a:p>
          <a:p>
            <a:r>
              <a:rPr lang="zh-CN" altLang="en-US"/>
              <a:t>每次启动msfconsole时，MSF可能会展示一个不同的启动画面或动画，这主要是为了增加用户界面的趣味性和新鲜感，同时也可能是为了向用户展示MSF的某些特性或版本信息。这些图画或动画通常不会影响MSF的正常使用，只是作为启动过程中的一个视觉元素存在。</a:t>
            </a:r>
            <a:endParaRPr lang="zh-CN" altLang="en-US"/>
          </a:p>
        </p:txBody>
      </p:sp>
    </p:spTree>
  </p:cSld>
  <p:clrMapOvr>
    <a:masterClrMapping/>
  </p:clrMapOvr>
  <p:transition>
    <p:strips dir="r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主要参考资料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6219" y="980728"/>
            <a:ext cx="11404848" cy="5544616"/>
          </a:xfrm>
          <a:solidFill>
            <a:schemeClr val="bg1"/>
          </a:solidFill>
        </p:spPr>
        <p:txBody>
          <a:bodyPr numCol="2" spcCol="216000"/>
          <a:lstStyle/>
          <a:p>
            <a:pPr marL="0" indent="0">
              <a:buNone/>
            </a:pPr>
            <a:r>
              <a:rPr lang="en-US" altLang="zh-CN" sz="2000" dirty="0">
                <a:latin typeface="+mn-ea"/>
              </a:rPr>
              <a:t>[1]</a:t>
            </a:r>
            <a:r>
              <a:rPr lang="zh-CN" altLang="en-US" sz="2000" dirty="0">
                <a:latin typeface="+mn-ea"/>
              </a:rPr>
              <a:t>GitCode 开源社区  MS17-010（永恒之蓝）漏洞分析与复现</a:t>
            </a:r>
            <a:r>
              <a:rPr lang="en-US" altLang="zh-CN" sz="2000" dirty="0">
                <a:latin typeface="+mn-ea"/>
              </a:rPr>
              <a:t> </a:t>
            </a:r>
            <a:r>
              <a:rPr lang="zh-CN" altLang="en-US" sz="2000" dirty="0">
                <a:latin typeface="+mn-ea"/>
              </a:rPr>
              <a:t>https://gitcode.csdn.net/65ec4adf1a836825ed796ec1.html?dp_token=eyJ0eXAiOiJKV1QiLCJhbGciOiJIUzI1NiJ9.eyJpZCI6NTg4NzUzMCwiZXhwIjoxNzI1MzMxMjkzLCJpYXQiOjE3MjQ3MjY0OTMsInVzZXJuYW1lIjoiMjMwMV83ODgyOTAyNCJ9.H3TBwq-LXRzyL4IeiuIwGj-E0RpI0ZmDwcnhUC9VbWk</a:t>
            </a:r>
            <a:endParaRPr lang="zh-CN" altLang="en-US" sz="2000" dirty="0">
              <a:latin typeface="+mn-ea"/>
            </a:endParaRPr>
          </a:p>
          <a:p>
            <a:pPr marL="0" indent="0">
              <a:buNone/>
            </a:pPr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r>
              <a:rPr lang="en-US" altLang="zh-CN" sz="2000" dirty="0">
                <a:latin typeface="+mn-ea"/>
              </a:rPr>
              <a:t>[2]</a:t>
            </a:r>
            <a:r>
              <a:rPr lang="zh-CN" altLang="en-US" sz="2000" dirty="0">
                <a:latin typeface="+mn-ea"/>
              </a:rPr>
              <a:t>使用MSF Console实现MS17-010漏洞利用</a:t>
            </a:r>
            <a:r>
              <a:rPr lang="en-US" altLang="zh-CN" sz="2000" dirty="0">
                <a:latin typeface="+mn-ea"/>
              </a:rPr>
              <a:t>https://blog.csdn.net/WZZ_2363173126/article/details/115314817</a:t>
            </a:r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r>
              <a:rPr lang="en-US" altLang="zh-CN" sz="2000" dirty="0">
                <a:latin typeface="+mn-ea"/>
              </a:rPr>
              <a:t>[3]</a:t>
            </a:r>
            <a:r>
              <a:rPr lang="zh-CN" altLang="en-US" sz="2000" dirty="0">
                <a:latin typeface="+mn-ea"/>
              </a:rPr>
              <a:t>【Windows系统】查看和关闭139、445端口的方法https://blog.csdn.net/jin_study/article/details/124198383</a:t>
            </a:r>
            <a:endParaRPr lang="zh-CN" altLang="en-US" sz="2000" dirty="0">
              <a:latin typeface="+mn-ea"/>
            </a:endParaRPr>
          </a:p>
        </p:txBody>
      </p:sp>
    </p:spTree>
  </p:cSld>
  <p:clrMapOvr>
    <a:masterClrMapping/>
  </p:clrMapOvr>
  <p:transition>
    <p:strips dir="ru"/>
  </p:transition>
</p:sld>
</file>

<file path=ppt/tags/tag1.xml><?xml version="1.0" encoding="utf-8"?>
<p:tagLst xmlns:p="http://schemas.openxmlformats.org/presentationml/2006/main">
  <p:tag name="KSO_WPP_MARK_KEY" val="cf37a052-c384-4ce4-8025-986e8454d255"/>
  <p:tag name="COMMONDATA" val="eyJoZGlkIjoiZTJkODRiZTJkNTM2YWY1Y2JmOTNkNTM4YjQ5ZDU2ZTEifQ=="/>
</p:tagLst>
</file>

<file path=ppt/theme/theme1.xml><?xml version="1.0" encoding="utf-8"?>
<a:theme xmlns:a="http://schemas.openxmlformats.org/drawingml/2006/main" name="模版1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C0FEF9"/>
      </a:accent1>
      <a:accent2>
        <a:srgbClr val="F35B1B"/>
      </a:accent2>
      <a:accent3>
        <a:srgbClr val="FFFFFF"/>
      </a:accent3>
      <a:accent4>
        <a:srgbClr val="000000"/>
      </a:accent4>
      <a:accent5>
        <a:srgbClr val="DCFEFB"/>
      </a:accent5>
      <a:accent6>
        <a:srgbClr val="DC5217"/>
      </a:accent6>
      <a:hlink>
        <a:srgbClr val="FCFEBA"/>
      </a:hlink>
      <a:folHlink>
        <a:srgbClr val="88FF89"/>
      </a:folHlink>
    </a:clrScheme>
    <a:fontScheme name="模版1">
      <a:majorFont>
        <a:latin typeface="华文中宋"/>
        <a:ea typeface="华文中宋"/>
        <a:cs typeface=""/>
      </a:majorFont>
      <a:minorFont>
        <a:latin typeface="FuturaA Md BT"/>
        <a:ea typeface="宋体"/>
        <a:cs typeface=""/>
      </a:minorFont>
    </a:fontScheme>
    <a:fmtScheme name="透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25400" cap="flat" cmpd="sng" algn="ctr">
          <a:solidFill>
            <a:schemeClr val="tx2"/>
          </a:solidFill>
          <a:prstDash val="solid"/>
          <a:miter lim="800000"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A Md BT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25400" cap="flat" cmpd="sng" algn="ctr">
          <a:solidFill>
            <a:schemeClr val="tx2"/>
          </a:solidFill>
          <a:prstDash val="solid"/>
          <a:miter lim="800000"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A Md BT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模版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版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版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1601</Words>
  <Application>WPS 演示</Application>
  <PresentationFormat>宽屏</PresentationFormat>
  <Paragraphs>70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FuturaA Md BT</vt:lpstr>
      <vt:lpstr>Segoe Print</vt:lpstr>
      <vt:lpstr>FuturaA Md BT</vt:lpstr>
      <vt:lpstr>隶书</vt:lpstr>
      <vt:lpstr>华文中宋</vt:lpstr>
      <vt:lpstr>Times New Roman</vt:lpstr>
      <vt:lpstr>Tahoma</vt:lpstr>
      <vt:lpstr>Verdana</vt:lpstr>
      <vt:lpstr>微软雅黑</vt:lpstr>
      <vt:lpstr>PingFangSC-Semibold</vt:lpstr>
      <vt:lpstr>Arial Unicode MS</vt:lpstr>
      <vt:lpstr>汉仪楷体简</vt:lpstr>
      <vt:lpstr>-apple-system</vt:lpstr>
      <vt:lpstr>模版1</vt:lpstr>
      <vt:lpstr>永恒之蓝漏洞利用中遇到的问题和解决</vt:lpstr>
      <vt:lpstr>企业简介</vt:lpstr>
      <vt:lpstr>高德地图互联网创新之道</vt:lpstr>
      <vt:lpstr>高德地图互联网创新之法-用户</vt:lpstr>
      <vt:lpstr>高德地图互联网创新之法-服务</vt:lpstr>
      <vt:lpstr>高德地图互联网创新之法-技术</vt:lpstr>
      <vt:lpstr>高德地图互联网创新之术</vt:lpstr>
      <vt:lpstr>高德地图创新的法与术-广告模式</vt:lpstr>
      <vt:lpstr>每次启用msfconsole出现的画面都不同</vt:lpstr>
      <vt:lpstr>高德地图互联网创新-数据的服务</vt:lpstr>
      <vt:lpstr>主要参考资料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欧蜜（2和11）</cp:lastModifiedBy>
  <cp:revision>3211</cp:revision>
  <cp:lastPrinted>2019-11-07T11:25:00Z</cp:lastPrinted>
  <dcterms:created xsi:type="dcterms:W3CDTF">2113-01-01T00:00:00Z</dcterms:created>
  <dcterms:modified xsi:type="dcterms:W3CDTF">2024-08-28T02:53:32Z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BCFAF87844774FFCB8756A0760BDEE30</vt:lpwstr>
  </property>
  <property fmtid="{D5CDD505-2E9C-101B-9397-08002B2CF9AE}" pid="3" name="KSOProductBuildVer">
    <vt:lpwstr>2052-12.1.0.17857</vt:lpwstr>
  </property>
</Properties>
</file>