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4"/>
  </p:notesMasterIdLst>
  <p:sldIdLst>
    <p:sldId id="35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7" r:id="rId12"/>
    <p:sldId id="337" r:id="rId1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3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15987-F3BE-453E-8F65-C8720E79320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B6A5E-29BB-4EB0-A15D-08328576C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88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E85AF069-F148-40ED-92F1-3DDEE80E62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F6BDDC69-E693-4E3F-9119-B6045E7C4B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7F138C26-F791-4612-BA72-E83BB1D821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B13B8211-ECB8-4505-9918-224DB4830F7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E2264583-1B64-4F1D-A2EF-B93A3CFB1AC0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endParaRPr kumimoji="0" lang="zh-CN" altLang="en-US">
                <a:latin typeface="Times New Roman" panose="02020603050405020304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43862F3C-C568-4F6A-8CF7-61BF6A79443A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>
                <a:latin typeface="Times New Roman" panose="02020603050405020304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45DEC627-4EAA-4618-B65E-662070FE4F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E8465E84-F1A6-4D34-A795-E48BA11E8F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36596A7D-8C22-4E75-AF09-A6560246EE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CF803D87-6825-4386-ABD2-8C5D8A5584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5D497F54-58C6-4F20-9314-28BA3156F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BC4BA60B-34CA-45A2-9F2C-E28090FC6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9639F766-34A9-48AB-8078-AF8F6C3D1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E1204934-A230-4D99-9829-B43C51ACD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AB734644-0550-495F-B255-A11552BEAA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D6BCA250-C374-4C0C-BCD7-2657258579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E53E7A43-3385-471E-95F1-1B02437284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5pPr>
                <a:lvl6pPr marL="25146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6pPr>
                <a:lvl7pPr marL="29718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7pPr>
                <a:lvl8pPr marL="34290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8pPr>
                <a:lvl9pPr marL="3886200" indent="-228600" algn="r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90204" pitchFamily="34" charset="0"/>
                    <a:ea typeface="宋体" charset="0"/>
                  </a:defRPr>
                </a:lvl9pPr>
              </a:lstStyle>
              <a:p>
                <a:pPr eaLnBrk="1" hangingPunct="1">
                  <a:defRPr/>
                </a:pPr>
                <a:endParaRPr kumimoji="0" lang="zh-CN" altLang="en-US">
                  <a:latin typeface="Times New Roman" panose="02020603050405020304" charset="0"/>
                </a:endParaRPr>
              </a:p>
            </p:txBody>
          </p:sp>
        </p:grpSp>
      </p:grpSp>
      <p:sp>
        <p:nvSpPr>
          <p:cNvPr id="18" name="Text Box 23">
            <a:extLst>
              <a:ext uri="{FF2B5EF4-FFF2-40B4-BE49-F238E27FC236}">
                <a16:creationId xmlns:a16="http://schemas.microsoft.com/office/drawing/2014/main" id="{EB145171-9D5D-4B65-8516-0277A7364DD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9388" y="115888"/>
            <a:ext cx="3024187" cy="369887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zh-CN" altLang="en-US" sz="1800" dirty="0">
                <a:solidFill>
                  <a:schemeClr val="bg1"/>
                </a:solidFill>
                <a:sym typeface="+mn-ea"/>
              </a:rPr>
              <a:t>数据结构</a:t>
            </a:r>
            <a:endParaRPr kumimoji="0" lang="en-US" altLang="zh-CN" sz="1800" dirty="0">
              <a:solidFill>
                <a:schemeClr val="bg1"/>
              </a:solidFill>
              <a:sym typeface="+mn-ea"/>
            </a:endParaRPr>
          </a:p>
        </p:txBody>
      </p:sp>
      <p:pic>
        <p:nvPicPr>
          <p:cNvPr id="19" name="图片 35" descr="20118211430_small.jpg">
            <a:extLst>
              <a:ext uri="{FF2B5EF4-FFF2-40B4-BE49-F238E27FC236}">
                <a16:creationId xmlns:a16="http://schemas.microsoft.com/office/drawing/2014/main" id="{7079D207-1F63-4507-A36B-F0C5A2A213C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0"/>
            <a:ext cx="14287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1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821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600"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0B7D0D95-C5C6-48B0-93E0-4AA78F39A1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CD8B364F-B7E8-41E9-9F21-9BF80B1013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52059207-6038-4915-9D76-CFEEB549C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3A57D-619F-43EE-96F6-135F7DF9B32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11256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297C9F8-14CE-4486-866D-DA70AC25B78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203575" y="602138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41CDB5D-EE5F-4598-8469-676AE2197B4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0555-D157-4F9C-B71C-A8DC68C8D402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88563E3-1DBC-4C53-8F64-CF313F97D4C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xfrm>
            <a:off x="468313" y="60213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83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EA29875-7C8F-476D-8D9A-66AED9FC777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33D8844-AC4E-4CB2-898E-B8BE939366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86C78-E908-40E2-9D94-ED594C17C7F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AE018C0-CD78-4326-BB07-DB7E43C4694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170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A440A1A-A8ED-4382-8BD1-61B49C74E8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BEB477-9C24-470C-8A97-A7022CC42C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AA239-DEC2-46D8-A2C6-5CAD5C9A408A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72AA504-F9DB-41BC-943B-E660E14FD1F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9291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275181C-EE47-4220-9CA5-6ECA694344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E5A3B11-4A8A-44F0-8267-F6F7DEA3C6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03611-0C48-4646-AF55-E83D46A8D59E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087906DD-77E7-4588-9B81-9DC2197A0D0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486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CB822-5AA6-41E5-835A-E574F057C9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51F369-8F8B-4D4D-9621-AFC2B2DB232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D6B4A-9F36-4124-92E8-76D4B40BE746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D934657-C6CC-402A-AC11-6D0E5BAA2B2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368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6BD3810-90EF-4B12-A43F-E5EAF5F1A75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4F1DF76-5C8E-424D-B427-7DBE9AFF1B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86DCD-C457-4059-85D1-1668EE215A77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20CAEE92-AF22-4850-8E7C-3541D0F1C74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076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C0F9770-9922-4142-8D93-9D83E9BE824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7AD2DE6-0BC3-43E8-B14D-6C0310DA519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172D9-BFE2-4462-B5D5-EB5BCE3A14AA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1EC571C-ADBB-4F11-A9DF-097FABC9D56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06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201E1D5-A61B-4A4F-BF2F-4ECF466A6E7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1262BD2-6601-4754-AA71-E3477033FA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1105E7-4917-4F07-BE2B-3758CBAD40A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42AB184-6B57-4842-B50E-F43D43C196C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6920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EEB4A4D-D379-4FC0-A98F-A0BC92B5699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5DA7046-C305-4D33-9A15-BBD6BEE9D3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602D9F-3DA7-47A6-9F58-C85E713302E7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0D9DBF9-5D5E-40A1-BB8D-5F00DD3400F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34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08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08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C7DFC58-C337-4DB9-AEB9-1E3E07A681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7FDBA24-461F-4BE2-B16E-07A4E693D04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597807-0B30-4B35-BA6D-8BD911F97FC9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23208A31-705B-4834-8638-1067D8E9A96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08075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696B5B94-2A2E-4074-B741-50CE8EA1C9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90600" y="3505200"/>
            <a:ext cx="7772400" cy="24384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defRPr/>
            </a:pPr>
            <a:endParaRPr kumimoji="0" lang="zh-CN" altLang="en-US">
              <a:latin typeface="Times New Roman" panose="0202060305040502030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9696A0D-6FF2-4008-97E0-7F3622EEC5B5}"/>
              </a:ext>
            </a:extLst>
          </p:cNvPr>
          <p:cNvSpPr>
            <a:spLocks noChangeArrowheads="1"/>
          </p:cNvSpPr>
          <p:nvPr/>
        </p:nvSpPr>
        <p:spPr bwMode="white">
          <a:xfrm>
            <a:off x="1038225" y="3733800"/>
            <a:ext cx="7648575" cy="2138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ctr" eaLnBrk="1" hangingPunct="1">
              <a:defRPr/>
            </a:pPr>
            <a:endParaRPr kumimoji="0" lang="zh-CN" altLang="en-US">
              <a:latin typeface="Times New Roman" panose="02020603050405020304" charset="0"/>
            </a:endParaRPr>
          </a:p>
        </p:txBody>
      </p:sp>
      <p:sp>
        <p:nvSpPr>
          <p:cNvPr id="5" name="Line 6">
            <a:extLst>
              <a:ext uri="{FF2B5EF4-FFF2-40B4-BE49-F238E27FC236}">
                <a16:creationId xmlns:a16="http://schemas.microsoft.com/office/drawing/2014/main" id="{9789DAD6-E3DC-4DD6-B047-797FE1EE7C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4213" y="685800"/>
            <a:ext cx="5592762" cy="6350"/>
          </a:xfrm>
          <a:prstGeom prst="line">
            <a:avLst/>
          </a:prstGeom>
          <a:noFill/>
          <a:ln w="4445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Box 11">
            <a:extLst>
              <a:ext uri="{FF2B5EF4-FFF2-40B4-BE49-F238E27FC236}">
                <a16:creationId xmlns:a16="http://schemas.microsoft.com/office/drawing/2014/main" id="{5D6E4AAC-D802-4292-ABEE-37EB6E134B7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804193" y="2553494"/>
            <a:ext cx="4148137" cy="396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r" eaLnBrk="1" hangingPunct="1">
              <a:defRPr/>
            </a:pPr>
            <a:r>
              <a:rPr kumimoji="0" lang="en-US" altLang="zh-CN" sz="2000">
                <a:solidFill>
                  <a:srgbClr val="FFFFFF"/>
                </a:solidFill>
                <a:sym typeface="+mn-ea"/>
              </a:rPr>
              <a:t>School of Microelectronics,SJTU</a:t>
            </a:r>
          </a:p>
        </p:txBody>
      </p:sp>
      <p:sp>
        <p:nvSpPr>
          <p:cNvPr id="7" name="Text Box 12">
            <a:extLst>
              <a:ext uri="{FF2B5EF4-FFF2-40B4-BE49-F238E27FC236}">
                <a16:creationId xmlns:a16="http://schemas.microsoft.com/office/drawing/2014/main" id="{92A6E5B5-9A69-48FF-B0C3-550FF26AB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712788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algn="r" eaLnBrk="1" hangingPunct="1">
              <a:defRPr/>
            </a:pPr>
            <a:endParaRPr kumimoji="0" lang="zh-CN" altLang="en-US" sz="1800"/>
          </a:p>
        </p:txBody>
      </p:sp>
      <p:sp>
        <p:nvSpPr>
          <p:cNvPr id="21095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3933825"/>
            <a:ext cx="6858000" cy="16002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endParaRPr lang="zh-CN" altLang="en-US" noProof="1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04AFF898-A930-4B00-9D04-3B51ADA31F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9D1D1-FBDC-48EC-B305-4E8394F28A89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9" name="页脚占位符 1">
            <a:extLst>
              <a:ext uri="{FF2B5EF4-FFF2-40B4-BE49-F238E27FC236}">
                <a16:creationId xmlns:a16="http://schemas.microsoft.com/office/drawing/2014/main" id="{C092B0D2-AA37-489A-BAA6-36177EF5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BB8099EE-AF1E-4961-8DFA-AF917E18C4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101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27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C2372FC-25DC-4838-A920-BB6303A9A0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buFontTx/>
              <a:buNone/>
              <a:defRPr sz="1200"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5FE4E68-DB6E-4FD4-8FC8-EE0DB11C466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ED09589A-378E-4985-98A8-CED2F208A27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B9908FA3-68D0-4B28-AE95-21836725102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177F3990-BA69-41D9-B723-A4452C6A1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endParaRPr kumimoji="0" lang="zh-CN" altLang="en-US">
                <a:latin typeface="Times New Roman" panose="02020603050405020304" charset="0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AF8F8ECF-3512-4F69-BF90-F97357C97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>
                <a:latin typeface="Times New Roman" panose="02020603050405020304" charset="0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6AD27A91-AAFA-40DC-A295-FFF7EF51F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F4FCB216-A5A6-42CE-AFCA-7E5FF8641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2" name="Rectangle 9">
              <a:extLst>
                <a:ext uri="{FF2B5EF4-FFF2-40B4-BE49-F238E27FC236}">
                  <a16:creationId xmlns:a16="http://schemas.microsoft.com/office/drawing/2014/main" id="{EC80F77C-DE00-4DAF-A0C5-50B582C59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3" name="Rectangle 10">
              <a:extLst>
                <a:ext uri="{FF2B5EF4-FFF2-40B4-BE49-F238E27FC236}">
                  <a16:creationId xmlns:a16="http://schemas.microsoft.com/office/drawing/2014/main" id="{E7779382-4053-4AA3-8D9D-87DBCF738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40" name="Rectangle 11">
              <a:extLst>
                <a:ext uri="{FF2B5EF4-FFF2-40B4-BE49-F238E27FC236}">
                  <a16:creationId xmlns:a16="http://schemas.microsoft.com/office/drawing/2014/main" id="{9EEBE13D-D790-471F-B22D-C6C9F0150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>
                <a:latin typeface="Times New Roman" panose="02020603050405020304" charset="0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64188A58-4C35-4E6D-BED4-6E069B566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4" name="Rectangle 13">
              <a:extLst>
                <a:ext uri="{FF2B5EF4-FFF2-40B4-BE49-F238E27FC236}">
                  <a16:creationId xmlns:a16="http://schemas.microsoft.com/office/drawing/2014/main" id="{E5409ABD-C637-4D86-B28D-E2733AF98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5pPr>
              <a:lvl6pPr marL="25146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6pPr>
              <a:lvl7pPr marL="29718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7pPr>
              <a:lvl8pPr marL="34290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8pPr>
              <a:lvl9pPr marL="3886200" indent="-228600" algn="r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90204" pitchFamily="34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kumimoji="0"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7AD222F0-9908-48D0-9C79-6EF8BB3CB35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57200"/>
            <a:ext cx="8229600" cy="81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B3849398-73FC-4BBE-841E-C372B2455B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2875"/>
            <a:ext cx="8229600" cy="475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8015AB52-44D6-41AC-AFA9-FDAE1D2EB9A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buFontTx/>
              <a:buNone/>
              <a:defRPr sz="1200">
                <a:latin typeface="Arial" panose="020B060402020209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2" name="Text Box 18">
            <a:extLst>
              <a:ext uri="{FF2B5EF4-FFF2-40B4-BE49-F238E27FC236}">
                <a16:creationId xmlns:a16="http://schemas.microsoft.com/office/drawing/2014/main" id="{7BDEDBDB-5E76-46D4-950D-BF81BD8BE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3200"/>
            <a:ext cx="3887788" cy="304800"/>
          </a:xfrm>
          <a:prstGeom prst="rect">
            <a:avLst/>
          </a:prstGeom>
          <a:solidFill>
            <a:srgbClr val="800080"/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  <a:cs typeface="宋体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5pPr>
            <a:lvl6pPr marL="25146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6pPr>
            <a:lvl7pPr marL="29718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7pPr>
            <a:lvl8pPr marL="34290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8pPr>
            <a:lvl9pPr marL="3886200" indent="-228600" algn="r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90204" pitchFamily="34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0" lang="en-US" altLang="zh-CN" sz="1400" dirty="0">
                <a:solidFill>
                  <a:schemeClr val="bg1"/>
                </a:solidFill>
                <a:sym typeface="+mn-ea"/>
              </a:rPr>
              <a:t>Data Structures, Fall 2024</a:t>
            </a:r>
          </a:p>
        </p:txBody>
      </p:sp>
      <p:pic>
        <p:nvPicPr>
          <p:cNvPr id="1033" name="图片 19" descr="20118211430_small.jpg">
            <a:extLst>
              <a:ext uri="{FF2B5EF4-FFF2-40B4-BE49-F238E27FC236}">
                <a16:creationId xmlns:a16="http://schemas.microsoft.com/office/drawing/2014/main" id="{915AD2DE-1EA3-4711-B4DA-8DA8574152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0" y="0"/>
            <a:ext cx="1206500" cy="121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343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华文新魏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  <a:cs typeface="华文新魏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  <a:cs typeface="华文新魏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  <a:cs typeface="华文新魏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  <a:cs typeface="华文新魏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90204" pitchFamily="34" charset="0"/>
          <a:ea typeface="华文新魏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 b="1">
          <a:solidFill>
            <a:srgbClr val="210B73"/>
          </a:solidFill>
          <a:latin typeface="+mn-lt"/>
          <a:ea typeface="+mn-ea"/>
          <a:cs typeface="黑体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 b="1">
          <a:solidFill>
            <a:schemeClr val="tx2"/>
          </a:solidFill>
          <a:latin typeface="+mn-lt"/>
          <a:ea typeface="+mj-ea"/>
          <a:cs typeface="华文新魏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楷体_GB2312" pitchFamily="49" charset="-122"/>
          <a:cs typeface="楷体_GB2312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2"/>
          </a:solidFill>
          <a:latin typeface="+mn-lt"/>
          <a:ea typeface="宋体" pitchFamily="2" charset="-122"/>
          <a:cs typeface="宋体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2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2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2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2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2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ile:///E:\%255C%25E8%25AE%25A1%25E7%25AE%2597%25E6%259C%25BA%25E7%25B3%25BB%25E7%25BB%259F%25E7%25BB%2593%25E6%259E%2584%255CMIT%255CMIT%20Photo%255CNYC%255CDSCN4828.JP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go.net/en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3B94C1D-8E7D-44E6-9E3A-72B97126EA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43100" y="2565400"/>
            <a:ext cx="7200900" cy="2209800"/>
          </a:xfrm>
        </p:spPr>
        <p:txBody>
          <a:bodyPr/>
          <a:lstStyle/>
          <a:p>
            <a:pPr algn="r" eaLnBrk="1" hangingPunct="1"/>
            <a:r>
              <a:rPr lang="en-US" altLang="zh-CN" sz="1400">
                <a:latin typeface="华文新魏" panose="02010800040101010101" pitchFamily="2" charset="-122"/>
              </a:rPr>
              <a:t>	</a:t>
            </a:r>
            <a:br>
              <a:rPr lang="en-US" altLang="zh-CN" sz="1400">
                <a:latin typeface="华文新魏" panose="02010800040101010101" pitchFamily="2" charset="-122"/>
              </a:rPr>
            </a:br>
            <a:br>
              <a:rPr lang="en-US" altLang="zh-CN" sz="1200"/>
            </a:br>
            <a:endParaRPr lang="en-US" altLang="zh-CN" sz="1200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62323DE-B4C2-469E-A48A-242A385BEF0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lnSpc>
                <a:spcPct val="90000"/>
              </a:lnSpc>
            </a:pPr>
            <a:endParaRPr lang="en-US" altLang="zh-CN" sz="2400" b="0" dirty="0">
              <a:solidFill>
                <a:schemeClr val="bg2"/>
              </a:solidFill>
              <a:latin typeface="黑体" panose="02010609060101010101" pitchFamily="49" charset="-122"/>
            </a:endParaRPr>
          </a:p>
          <a:p>
            <a:pPr algn="r" eaLnBrk="1" hangingPunct="1">
              <a:lnSpc>
                <a:spcPct val="90000"/>
              </a:lnSpc>
            </a:pPr>
            <a:r>
              <a:rPr lang="zh-CN" altLang="en-US" sz="2400" b="0" dirty="0">
                <a:solidFill>
                  <a:schemeClr val="bg2"/>
                </a:solidFill>
              </a:rPr>
              <a:t>北京邮电大学 网络空间安全学院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algn="r" eaLnBrk="1" hangingPunct="1">
              <a:lnSpc>
                <a:spcPct val="90000"/>
              </a:lnSpc>
            </a:pPr>
            <a:r>
              <a:rPr lang="zh-CN" altLang="en-US" sz="2400" b="0" dirty="0">
                <a:solidFill>
                  <a:schemeClr val="bg2"/>
                </a:solidFill>
              </a:rPr>
              <a:t>郭三川</a:t>
            </a:r>
            <a:endParaRPr lang="en-US" altLang="zh-CN" sz="2400" b="0" dirty="0">
              <a:solidFill>
                <a:schemeClr val="bg2"/>
              </a:solidFill>
            </a:endParaRPr>
          </a:p>
        </p:txBody>
      </p:sp>
      <p:sp>
        <p:nvSpPr>
          <p:cNvPr id="8196" name="Rectangle 7">
            <a:extLst>
              <a:ext uri="{FF2B5EF4-FFF2-40B4-BE49-F238E27FC236}">
                <a16:creationId xmlns:a16="http://schemas.microsoft.com/office/drawing/2014/main" id="{CB62D3FE-C079-4413-AE37-E16ED863A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2133600"/>
            <a:ext cx="6229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rgbClr val="210B73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华文新魏" panose="02010800040101010101" pitchFamily="2" charset="-122"/>
                <a:cs typeface="+mn-cs"/>
              </a:rPr>
              <a:t>课程简介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华文新魏" panose="02010800040101010101" pitchFamily="2" charset="-122"/>
              <a:cs typeface="+mn-cs"/>
            </a:endParaRPr>
          </a:p>
        </p:txBody>
      </p:sp>
      <p:pic>
        <p:nvPicPr>
          <p:cNvPr id="8197" name="Picture 8">
            <a:hlinkClick r:id="rId3" action="ppaction://hlinkfile"/>
            <a:extLst>
              <a:ext uri="{FF2B5EF4-FFF2-40B4-BE49-F238E27FC236}">
                <a16:creationId xmlns:a16="http://schemas.microsoft.com/office/drawing/2014/main" id="{25AB6C12-4261-48BE-8F12-B2C52CFF0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72138"/>
            <a:ext cx="4716463" cy="118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/>
          <p:nvPr/>
        </p:nvSpPr>
        <p:spPr>
          <a:xfrm>
            <a:off x="1087729" y="863283"/>
            <a:ext cx="3915409" cy="9131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3484"/>
              </a:lnSpc>
              <a:tabLst/>
            </a:pPr>
            <a:r>
              <a:rPr sz="28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8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如何在书架上摆放图</a:t>
            </a:r>
            <a:r>
              <a:rPr sz="28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书</a:t>
            </a:r>
            <a:endParaRPr lang="SimSun" altLang="SimSun" sz="2800" dirty="0"/>
          </a:p>
          <a:p>
            <a:pPr algn="l" rtl="0" eaLnBrk="0">
              <a:lnSpc>
                <a:spcPct val="106000"/>
              </a:lnSpc>
              <a:tabLst/>
            </a:pPr>
            <a:endParaRPr lang="Arial" altLang="Arial" sz="600" dirty="0"/>
          </a:p>
          <a:p>
            <a:pPr marL="427532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2400" spc="2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与问题的规模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有关</a:t>
            </a:r>
            <a:endParaRPr lang="SimSun" altLang="SimSun" sz="2400" dirty="0"/>
          </a:p>
        </p:txBody>
      </p:sp>
      <p:sp>
        <p:nvSpPr>
          <p:cNvPr id="5" name="textbox 5"/>
          <p:cNvSpPr/>
          <p:nvPr/>
        </p:nvSpPr>
        <p:spPr>
          <a:xfrm>
            <a:off x="8243976" y="6343293"/>
            <a:ext cx="134620" cy="234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437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76000"/>
              </a:lnSpc>
              <a:tabLst/>
            </a:pPr>
            <a:r>
              <a:rPr sz="1800" b="1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Times New Roman" altLang="Times New Roman" sz="1800" dirty="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0810" y="1946225"/>
            <a:ext cx="7697786" cy="4700585"/>
          </a:xfrm>
          <a:prstGeom prst="rect">
            <a:avLst/>
          </a:prstGeom>
        </p:spPr>
      </p:pic>
      <p:sp>
        <p:nvSpPr>
          <p:cNvPr id="7" name="textbox 7"/>
          <p:cNvSpPr/>
          <p:nvPr/>
        </p:nvSpPr>
        <p:spPr>
          <a:xfrm>
            <a:off x="4198594" y="384285"/>
            <a:ext cx="1609089" cy="4292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41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5000"/>
              </a:lnSpc>
              <a:tabLst/>
            </a:pPr>
            <a:r>
              <a:rPr sz="2700" spc="6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2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Times New Roman" altLang="Times New Roma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/>
          <p:nvPr/>
        </p:nvSpPr>
        <p:spPr>
          <a:xfrm>
            <a:off x="1163409" y="1365300"/>
            <a:ext cx="7630794" cy="49949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5532"/>
              </a:lnSpc>
              <a:tabLst/>
            </a:pPr>
            <a:endParaRPr lang="Arial" altLang="Arial" sz="100" dirty="0"/>
          </a:p>
          <a:p>
            <a:pPr marL="462038" algn="l" rtl="0" eaLnBrk="0">
              <a:lnSpc>
                <a:spcPct val="84000"/>
              </a:lnSpc>
              <a:tabLst/>
            </a:pP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图书摆放是使</a:t>
            </a:r>
            <a:r>
              <a:rPr sz="2300" spc="5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新书插入、找到某本指定书</a:t>
            </a: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个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相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关操</a:t>
            </a:r>
            <a:endParaRPr lang="SimSun" altLang="SimSun" sz="2400" dirty="0"/>
          </a:p>
          <a:p>
            <a:pPr marL="12700" algn="l" rtl="0" eaLnBrk="0">
              <a:lnSpc>
                <a:spcPts val="4103"/>
              </a:lnSpc>
              <a:tabLst/>
            </a:pPr>
            <a:r>
              <a:rPr sz="230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作方便执行</a:t>
            </a:r>
            <a:r>
              <a:rPr sz="230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300" dirty="0"/>
          </a:p>
          <a:p>
            <a:pPr algn="l" rtl="0" eaLnBrk="0">
              <a:lnSpc>
                <a:spcPct val="113000"/>
              </a:lnSpc>
              <a:tabLst/>
            </a:pPr>
            <a:endParaRPr lang="Arial" altLang="Arial" sz="1000" dirty="0"/>
          </a:p>
          <a:p>
            <a:pPr marL="25196" algn="l" rtl="0" eaLnBrk="0">
              <a:lnSpc>
                <a:spcPts val="2996"/>
              </a:lnSpc>
              <a:spcBef>
                <a:spcPts val="723"/>
              </a:spcBef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方法一：随便放</a:t>
            </a:r>
            <a:endParaRPr lang="SimSun" altLang="SimSun" sz="2400" dirty="0"/>
          </a:p>
          <a:p>
            <a:pPr marL="403808" algn="l" rtl="0" eaLnBrk="0">
              <a:lnSpc>
                <a:spcPct val="95000"/>
              </a:lnSpc>
              <a:spcBef>
                <a:spcPts val="1715"/>
              </a:spcBef>
              <a:tabLst/>
            </a:pPr>
            <a:r>
              <a:rPr sz="1700" spc="-17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r>
              <a:rPr sz="2400" spc="-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400" spc="-1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新书插入：哪里有空放哪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！</a:t>
            </a:r>
            <a:endParaRPr lang="SimSun" altLang="SimSun" sz="2400" dirty="0"/>
          </a:p>
          <a:p>
            <a:pPr marL="403808" algn="l" rtl="0" eaLnBrk="0">
              <a:lnSpc>
                <a:spcPct val="96000"/>
              </a:lnSpc>
              <a:spcBef>
                <a:spcPts val="1853"/>
              </a:spcBef>
              <a:tabLst/>
            </a:pPr>
            <a:r>
              <a:rPr sz="1700" spc="-22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r>
              <a:rPr sz="2400" spc="-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400" spc="-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查找：累死。。</a:t>
            </a:r>
            <a:r>
              <a:rPr sz="240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400" dirty="0"/>
          </a:p>
          <a:p>
            <a:pPr marL="25196" algn="l" rtl="0" eaLnBrk="0">
              <a:lnSpc>
                <a:spcPts val="2986"/>
              </a:lnSpc>
              <a:spcBef>
                <a:spcPts val="1736"/>
              </a:spcBef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方法二：按书名拼音字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母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顺序放</a:t>
            </a:r>
            <a:endParaRPr lang="SimSun" altLang="SimSun" sz="2400" dirty="0"/>
          </a:p>
          <a:p>
            <a:pPr marL="403808" algn="l" rtl="0" eaLnBrk="0">
              <a:lnSpc>
                <a:spcPct val="95000"/>
              </a:lnSpc>
              <a:spcBef>
                <a:spcPts val="1725"/>
              </a:spcBef>
              <a:tabLst/>
            </a:pPr>
            <a:r>
              <a:rPr sz="1700" spc="-9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新书插入：挪动，腾出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位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置</a:t>
            </a:r>
            <a:endParaRPr lang="SimSun" altLang="SimSun" sz="24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000" dirty="0"/>
          </a:p>
          <a:p>
            <a:pPr marL="403808" algn="l" rtl="0" eaLnBrk="0">
              <a:lnSpc>
                <a:spcPct val="84000"/>
              </a:lnSpc>
              <a:spcBef>
                <a:spcPts val="634"/>
              </a:spcBef>
              <a:tabLst/>
            </a:pPr>
            <a:r>
              <a:rPr sz="1400" spc="18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10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r>
              <a:rPr sz="2100" spc="1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210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查找：二分查</a:t>
            </a:r>
            <a:r>
              <a:rPr sz="210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找</a:t>
            </a:r>
            <a:endParaRPr lang="SimSun" altLang="SimSun" sz="2100" dirty="0"/>
          </a:p>
          <a:p>
            <a:pPr algn="r" rtl="0" eaLnBrk="0">
              <a:lnSpc>
                <a:spcPct val="99000"/>
              </a:lnSpc>
              <a:spcBef>
                <a:spcPts val="11"/>
              </a:spcBef>
              <a:tabLst/>
            </a:pPr>
            <a:r>
              <a:rPr sz="1700" spc="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170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数据的组织方式</a:t>
            </a:r>
            <a:r>
              <a:rPr sz="170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取</a:t>
            </a:r>
            <a:endParaRPr lang="Microsoft YaHei" altLang="Microsoft YaHei" sz="1700" dirty="0"/>
          </a:p>
          <a:p>
            <a:pPr marL="25196" algn="l" rtl="0" eaLnBrk="0">
              <a:lnSpc>
                <a:spcPts val="3273"/>
              </a:lnSpc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方法三：分类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拼音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字母顺序排放      </a:t>
            </a:r>
            <a:r>
              <a:rPr sz="3000" spc="0" baseline="21765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决于</a:t>
            </a:r>
            <a:r>
              <a:rPr sz="3000" spc="0" baseline="21765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问题规模</a:t>
            </a:r>
            <a:endParaRPr lang="Microsoft YaHei" altLang="Microsoft YaHei" sz="1950" dirty="0"/>
          </a:p>
        </p:txBody>
      </p:sp>
      <p:sp>
        <p:nvSpPr>
          <p:cNvPr id="10" name="textbox 10"/>
          <p:cNvSpPr/>
          <p:nvPr/>
        </p:nvSpPr>
        <p:spPr>
          <a:xfrm>
            <a:off x="4198594" y="384285"/>
            <a:ext cx="1609089" cy="4292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41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5000"/>
              </a:lnSpc>
              <a:tabLst/>
            </a:pPr>
            <a:r>
              <a:rPr sz="2700" spc="6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2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 lang="Times New Roman" altLang="Times New Roma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/>
          <p:nvPr/>
        </p:nvSpPr>
        <p:spPr>
          <a:xfrm>
            <a:off x="1023010" y="1682343"/>
            <a:ext cx="7677784" cy="42430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3495"/>
              </a:lnSpc>
              <a:tabLst/>
            </a:pPr>
            <a:r>
              <a:rPr sz="28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8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电话号码存储问题</a:t>
            </a:r>
            <a:endParaRPr lang="SimSun" altLang="SimSun" sz="2800" dirty="0"/>
          </a:p>
          <a:p>
            <a:pPr marL="387045" algn="l" rtl="0" eaLnBrk="0">
              <a:lnSpc>
                <a:spcPct val="96000"/>
              </a:lnSpc>
              <a:spcBef>
                <a:spcPts val="1748"/>
              </a:spcBef>
              <a:tabLst/>
            </a:pPr>
            <a:r>
              <a:rPr sz="1700" spc="-18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存储电话号码，并能进行查询</a:t>
            </a:r>
            <a:r>
              <a:rPr sz="2400" spc="-1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400" dirty="0"/>
          </a:p>
          <a:p>
            <a:pPr marL="666547" indent="-279501" algn="l" rtl="0" eaLnBrk="0">
              <a:lnSpc>
                <a:spcPct val="117000"/>
              </a:lnSpc>
              <a:spcBef>
                <a:spcPts val="1843"/>
              </a:spcBef>
              <a:tabLst/>
            </a:pPr>
            <a:r>
              <a:rPr sz="1700" spc="-6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要求对任意给出的一个姓名，若该人有电话号码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则 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迅速找到其电话号码；否则存储该人的电话号码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400" dirty="0"/>
          </a:p>
          <a:p>
            <a:pPr algn="l" rtl="0" eaLnBrk="0">
              <a:lnSpc>
                <a:spcPct val="131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32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ts val="3506"/>
              </a:lnSpc>
              <a:spcBef>
                <a:spcPts val="847"/>
              </a:spcBef>
              <a:tabLst/>
            </a:pPr>
            <a:r>
              <a:rPr sz="2800" spc="-8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80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</a:t>
            </a:r>
            <a:endParaRPr lang="SimSun" altLang="SimSun" sz="2800" dirty="0"/>
          </a:p>
          <a:p>
            <a:pPr marL="387045" algn="l" rtl="0" eaLnBrk="0">
              <a:lnSpc>
                <a:spcPts val="3273"/>
              </a:lnSpc>
              <a:spcBef>
                <a:spcPts val="1221"/>
              </a:spcBef>
              <a:tabLst/>
            </a:pPr>
            <a:r>
              <a:rPr sz="1700" spc="-9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存储多少数量的电话号码？个人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or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单位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运营商级？</a:t>
            </a:r>
            <a:endParaRPr lang="SimSun" altLang="SimSun" sz="2400" dirty="0"/>
          </a:p>
          <a:p>
            <a:pPr algn="l" rtl="0" eaLnBrk="0">
              <a:lnSpc>
                <a:spcPct val="102000"/>
              </a:lnSpc>
              <a:tabLst/>
            </a:pPr>
            <a:endParaRPr lang="Arial" altLang="Arial" sz="1500" dirty="0"/>
          </a:p>
          <a:p>
            <a:pPr algn="l" rtl="0" eaLnBrk="0">
              <a:lnSpc>
                <a:spcPct val="12111"/>
              </a:lnSpc>
              <a:tabLst/>
            </a:pPr>
            <a:endParaRPr lang="Arial" altLang="Arial" sz="100" dirty="0"/>
          </a:p>
          <a:p>
            <a:pPr marL="387045" algn="l" rtl="0" eaLnBrk="0">
              <a:lnSpc>
                <a:spcPct val="96000"/>
              </a:lnSpc>
              <a:tabLst/>
            </a:pPr>
            <a:r>
              <a:rPr sz="1700" spc="-9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兼顾存储和查询的方便性、效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率</a:t>
            </a:r>
            <a:endParaRPr lang="SimSun" altLang="SimSun" sz="2400" dirty="0"/>
          </a:p>
        </p:txBody>
      </p:sp>
      <p:sp>
        <p:nvSpPr>
          <p:cNvPr id="14" name="textbox 14"/>
          <p:cNvSpPr/>
          <p:nvPr/>
        </p:nvSpPr>
        <p:spPr>
          <a:xfrm>
            <a:off x="4198594" y="384285"/>
            <a:ext cx="1609089" cy="4292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041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5000"/>
              </a:lnSpc>
              <a:tabLst/>
            </a:pPr>
            <a:r>
              <a:rPr sz="2700" spc="7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5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 lang="Times New Roman" altLang="Times New Roma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928687" y="4277269"/>
            <a:ext cx="580480" cy="160835"/>
            <a:chOff x="0" y="0"/>
            <a:chExt cx="580480" cy="160835"/>
          </a:xfrm>
        </p:grpSpPr>
        <p:sp>
          <p:nvSpPr>
            <p:cNvPr id="17" name="path"/>
            <p:cNvSpPr/>
            <p:nvPr/>
          </p:nvSpPr>
          <p:spPr>
            <a:xfrm>
              <a:off x="0" y="8980"/>
              <a:ext cx="571499" cy="142875"/>
            </a:xfrm>
            <a:custGeom>
              <a:avLst/>
              <a:gdLst/>
              <a:ahLst/>
              <a:cxnLst/>
              <a:rect l="0" t="0" r="0" b="0"/>
              <a:pathLst>
                <a:path w="899" h="225">
                  <a:moveTo>
                    <a:pt x="0" y="56"/>
                  </a:moveTo>
                  <a:lnTo>
                    <a:pt x="787" y="56"/>
                  </a:lnTo>
                  <a:lnTo>
                    <a:pt x="787" y="0"/>
                  </a:lnTo>
                  <a:lnTo>
                    <a:pt x="899" y="112"/>
                  </a:lnTo>
                  <a:lnTo>
                    <a:pt x="787" y="225"/>
                  </a:lnTo>
                  <a:lnTo>
                    <a:pt x="787" y="168"/>
                  </a:lnTo>
                  <a:lnTo>
                    <a:pt x="0" y="168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00CC99">
                <a:alpha val="100000"/>
              </a:srgbClr>
            </a:solidFill>
            <a:ln cap="flat"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path"/>
            <p:cNvSpPr/>
            <p:nvPr/>
          </p:nvSpPr>
          <p:spPr>
            <a:xfrm>
              <a:off x="491082" y="0"/>
              <a:ext cx="89398" cy="160835"/>
            </a:xfrm>
            <a:custGeom>
              <a:avLst/>
              <a:gdLst/>
              <a:ahLst/>
              <a:cxnLst/>
              <a:rect l="0" t="0" r="0" b="0"/>
              <a:pathLst>
                <a:path w="140" h="253">
                  <a:moveTo>
                    <a:pt x="14" y="14"/>
                  </a:moveTo>
                  <a:lnTo>
                    <a:pt x="126" y="126"/>
                  </a:lnTo>
                  <a:lnTo>
                    <a:pt x="14" y="239"/>
                  </a:lnTo>
                </a:path>
              </a:pathLst>
            </a:custGeom>
            <a:noFill/>
            <a:ln w="25400" cap="flat">
              <a:miter lim="8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9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0574"/>
              </p:ext>
            </p:extLst>
          </p:nvPr>
        </p:nvGraphicFramePr>
        <p:xfrm>
          <a:off x="915987" y="3779837"/>
          <a:ext cx="6805293" cy="2270121"/>
        </p:xfrm>
        <a:graphic>
          <a:graphicData uri="http://schemas.openxmlformats.org/drawingml/2006/table">
            <a:tbl>
              <a:tblPr/>
              <a:tblGrid>
                <a:gridCol w="619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2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27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92347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序</a:t>
                      </a:r>
                      <a:r>
                        <a:rPr sz="170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号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28821" algn="l" rtl="0" eaLnBrk="0">
                        <a:lnSpc>
                          <a:spcPct val="9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姓</a:t>
                      </a:r>
                      <a:r>
                        <a:rPr sz="170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名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B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218664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电话号</a:t>
                      </a:r>
                      <a:r>
                        <a:rPr sz="17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码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38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683215" algn="l" rtl="0" eaLnBrk="0">
                        <a:lnSpc>
                          <a:spcPct val="7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600" dirty="0"/>
                    </a:p>
                    <a:p>
                      <a:pPr marL="535894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张三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lang="Arial" altLang="Arial" sz="800" dirty="0"/>
                    </a:p>
                    <a:p>
                      <a:pPr algn="l" rtl="0" eaLnBrk="0">
                        <a:lnSpc>
                          <a:spcPct val="7481"/>
                        </a:lnSpc>
                        <a:tabLst/>
                      </a:pPr>
                      <a:endParaRPr lang="Arial" altLang="Arial" sz="100" dirty="0"/>
                    </a:p>
                    <a:p>
                      <a:pPr marL="1040561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138123456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534"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25400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5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25400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669042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32237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四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1040561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139876543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92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25400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670871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32237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五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1040561" algn="l" rtl="0" eaLnBrk="0">
                        <a:lnSpc>
                          <a:spcPct val="7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159000000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5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25400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623550" algn="l" rtl="0" eaLnBrk="0">
                        <a:lnSpc>
                          <a:spcPts val="224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659110" algn="l" rtl="0" eaLnBrk="0">
                        <a:lnSpc>
                          <a:spcPts val="224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552396" algn="l" rtl="0" eaLnBrk="0">
                        <a:lnSpc>
                          <a:spcPts val="224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4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>
                      <a:noFill/>
                    </a:lnL>
                    <a:lnR w="25400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956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lang="Arial" altLang="Arial" sz="800" dirty="0"/>
                    </a:p>
                    <a:p>
                      <a:pPr algn="l" rtl="0" eaLnBrk="0">
                        <a:lnSpc>
                          <a:spcPct val="6481"/>
                        </a:lnSpc>
                        <a:tabLst/>
                      </a:pPr>
                      <a:endParaRPr lang="Arial" altLang="Arial" sz="100" dirty="0"/>
                    </a:p>
                    <a:p>
                      <a:pPr marL="554742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0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lang="Arial" altLang="Arial" sz="600" dirty="0"/>
                    </a:p>
                    <a:p>
                      <a:pPr marL="529494" algn="l" rtl="0" eaLnBrk="0">
                        <a:lnSpc>
                          <a:spcPct val="9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赵六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lang="Arial" altLang="Arial" sz="800" dirty="0"/>
                    </a:p>
                    <a:p>
                      <a:pPr marL="1040561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186888888</a:t>
                      </a: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box 20"/>
          <p:cNvSpPr/>
          <p:nvPr/>
        </p:nvSpPr>
        <p:spPr>
          <a:xfrm>
            <a:off x="1318780" y="1353108"/>
            <a:ext cx="6680834" cy="216027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3005"/>
              </a:lnSpc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构造一张电话号码登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记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</a:t>
            </a:r>
            <a:endParaRPr lang="SimSun" altLang="SimSun" sz="2400" dirty="0"/>
          </a:p>
          <a:p>
            <a:pPr marL="193344" algn="l" rtl="0" eaLnBrk="0">
              <a:lnSpc>
                <a:spcPct val="95000"/>
              </a:lnSpc>
              <a:spcBef>
                <a:spcPts val="1704"/>
              </a:spcBef>
              <a:tabLst/>
            </a:pP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表中每个结点存放两个数据项：  姓名和电话号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码</a:t>
            </a:r>
            <a:endParaRPr lang="SimSun" altLang="SimSun" sz="2400" dirty="0"/>
          </a:p>
          <a:p>
            <a:pPr marL="12700" algn="l" rtl="0" eaLnBrk="0">
              <a:lnSpc>
                <a:spcPts val="3005"/>
              </a:lnSpc>
              <a:spcBef>
                <a:spcPts val="1770"/>
              </a:spcBef>
              <a:tabLst/>
            </a:pPr>
            <a:r>
              <a:rPr sz="2400" spc="-3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进行顺序查询</a:t>
            </a:r>
            <a:endParaRPr lang="SimSun" altLang="SimSun" sz="2400" dirty="0"/>
          </a:p>
          <a:p>
            <a:pPr algn="l" rtl="0" eaLnBrk="0">
              <a:lnSpc>
                <a:spcPct val="101000"/>
              </a:lnSpc>
              <a:tabLst/>
            </a:pPr>
            <a:endParaRPr lang="Arial" altLang="Arial" sz="1300" dirty="0"/>
          </a:p>
          <a:p>
            <a:pPr marL="12700" algn="l" rtl="0" eaLnBrk="0">
              <a:lnSpc>
                <a:spcPts val="3006"/>
              </a:lnSpc>
              <a:spcBef>
                <a:spcPts val="3"/>
              </a:spcBef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spc="7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查找效率</a:t>
            </a:r>
            <a:r>
              <a:rPr sz="2300" spc="60" dirty="0">
                <a:solidFill>
                  <a:srgbClr val="FF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低</a:t>
            </a:r>
            <a:endParaRPr lang="SimSun" altLang="SimSun" sz="2300" dirty="0"/>
          </a:p>
        </p:txBody>
      </p:sp>
      <p:sp>
        <p:nvSpPr>
          <p:cNvPr id="21" name="textbox 21"/>
          <p:cNvSpPr/>
          <p:nvPr/>
        </p:nvSpPr>
        <p:spPr>
          <a:xfrm>
            <a:off x="3485013" y="384285"/>
            <a:ext cx="3034664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62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spc="22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22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1" strike="sngStrike" spc="22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2700" spc="220" dirty="0" err="1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</a:t>
            </a:r>
            <a:endParaRPr lang="SimHei" altLang="SimHei" sz="2700" dirty="0"/>
          </a:p>
        </p:txBody>
      </p:sp>
      <p:sp>
        <p:nvSpPr>
          <p:cNvPr id="23" name="rect"/>
          <p:cNvSpPr/>
          <p:nvPr/>
        </p:nvSpPr>
        <p:spPr>
          <a:xfrm>
            <a:off x="928687" y="4380706"/>
            <a:ext cx="500062" cy="25400"/>
          </a:xfrm>
          <a:prstGeom prst="rect">
            <a:avLst/>
          </a:prstGeom>
          <a:solidFill>
            <a:srgbClr val="00956F">
              <a:alpha val="100000"/>
            </a:srgbClr>
          </a:solidFill>
          <a:ln cap="flat"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5"/>
          <p:cNvSpPr/>
          <p:nvPr/>
        </p:nvSpPr>
        <p:spPr>
          <a:xfrm>
            <a:off x="1175906" y="1353108"/>
            <a:ext cx="7072630" cy="38284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2996"/>
              </a:lnSpc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高效的查找算法：取决于表的结构及存储方式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400" dirty="0"/>
          </a:p>
          <a:p>
            <a:pPr marL="391312" algn="l" rtl="0" eaLnBrk="0">
              <a:lnSpc>
                <a:spcPct val="96000"/>
              </a:lnSpc>
              <a:spcBef>
                <a:spcPts val="1696"/>
              </a:spcBef>
              <a:tabLst/>
            </a:pPr>
            <a:r>
              <a:rPr sz="1700" spc="-18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表按姓氏排</a:t>
            </a:r>
            <a:r>
              <a:rPr sz="2400" spc="-1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</a:t>
            </a:r>
            <a:endParaRPr lang="SimSun" altLang="SimSun" sz="2400" dirty="0"/>
          </a:p>
          <a:p>
            <a:pPr marL="391312" algn="l" rtl="0" eaLnBrk="0">
              <a:lnSpc>
                <a:spcPct val="96000"/>
              </a:lnSpc>
              <a:spcBef>
                <a:spcPts val="1819"/>
              </a:spcBef>
              <a:tabLst/>
            </a:pPr>
            <a:r>
              <a:rPr sz="1700" spc="-11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1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另外构造一张姓氏索引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</a:t>
            </a:r>
            <a:endParaRPr lang="SimSun" altLang="SimSun" sz="2400" dirty="0"/>
          </a:p>
          <a:p>
            <a:pPr marL="391312" algn="l" rtl="0" eaLnBrk="0">
              <a:lnSpc>
                <a:spcPct val="100000"/>
              </a:lnSpc>
              <a:spcBef>
                <a:spcPts val="1843"/>
              </a:spcBef>
              <a:tabLst/>
            </a:pPr>
            <a:r>
              <a:rPr sz="1600" spc="-30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300" spc="-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查找过程</a:t>
            </a:r>
            <a:r>
              <a:rPr sz="2300" spc="-2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：</a:t>
            </a:r>
            <a:endParaRPr lang="SimSun" altLang="SimSun" sz="2300" dirty="0"/>
          </a:p>
          <a:p>
            <a:pPr marL="672032" indent="4876" algn="l" rtl="0" eaLnBrk="0">
              <a:lnSpc>
                <a:spcPct val="141000"/>
              </a:lnSpc>
              <a:spcBef>
                <a:spcPts val="561"/>
              </a:spcBef>
              <a:tabLst/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先在索引表中查对姓氏，然后根据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索引表中的地 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址到电话号码登记表中核查姓名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lang="SimSun" altLang="SimSun" sz="24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500" dirty="0"/>
          </a:p>
          <a:p>
            <a:pPr marL="391312" algn="l" rtl="0" eaLnBrk="0">
              <a:lnSpc>
                <a:spcPct val="96000"/>
              </a:lnSpc>
              <a:tabLst/>
            </a:pPr>
            <a:r>
              <a:rPr sz="1700" spc="-7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 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计算查找概率，将高概率的姓氏排在索引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前面</a:t>
            </a:r>
            <a:endParaRPr lang="SimSun" altLang="SimSun" sz="2400" dirty="0"/>
          </a:p>
        </p:txBody>
      </p:sp>
      <p:sp>
        <p:nvSpPr>
          <p:cNvPr id="26" name="textbox 26"/>
          <p:cNvSpPr/>
          <p:nvPr/>
        </p:nvSpPr>
        <p:spPr>
          <a:xfrm>
            <a:off x="3485013" y="384285"/>
            <a:ext cx="3034664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62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spc="7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7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1" strike="sngStrike" spc="7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2700" spc="7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</a:t>
            </a:r>
            <a:r>
              <a:rPr sz="2700" spc="3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endParaRPr lang="SimHei" altLang="SimHei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257842"/>
              </p:ext>
            </p:extLst>
          </p:nvPr>
        </p:nvGraphicFramePr>
        <p:xfrm>
          <a:off x="4072867" y="1425479"/>
          <a:ext cx="3869689" cy="4401808"/>
        </p:xfrm>
        <a:graphic>
          <a:graphicData uri="http://schemas.openxmlformats.org/drawingml/2006/table">
            <a:tbl>
              <a:tblPr/>
              <a:tblGrid>
                <a:gridCol w="157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70890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姓</a:t>
                      </a:r>
                      <a:r>
                        <a:rPr sz="170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名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718286"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电话号</a:t>
                      </a:r>
                      <a:r>
                        <a:rPr sz="170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码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77964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张三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3664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张三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丰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706437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057275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706437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057275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3664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张无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忌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74306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四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706437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057275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0006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李寻欢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574306" algn="l" rtl="0" eaLnBrk="0">
                        <a:lnSpc>
                          <a:spcPct val="10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</a:t>
                      </a: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五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706437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1057275" algn="l" rtl="0" eaLnBrk="0">
                        <a:lnSpc>
                          <a:spcPts val="221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2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0006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王重阳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lang="Arial" altLang="Arial" sz="700" dirty="0"/>
                    </a:p>
                    <a:p>
                      <a:pPr marL="932967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1xxx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9" name="table 29"/>
          <p:cNvGraphicFramePr>
            <a:graphicFrameLocks noGrp="1"/>
          </p:cNvGraphicFramePr>
          <p:nvPr/>
        </p:nvGraphicFramePr>
        <p:xfrm>
          <a:off x="708025" y="2708275"/>
          <a:ext cx="2226944" cy="2068190"/>
        </p:xfrm>
        <a:graphic>
          <a:graphicData uri="http://schemas.openxmlformats.org/drawingml/2006/table">
            <a:tbl>
              <a:tblPr/>
              <a:tblGrid>
                <a:gridCol w="111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1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339115" algn="l" rtl="0" eaLnBrk="0">
                        <a:lnSpc>
                          <a:spcPct val="9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姓</a:t>
                      </a:r>
                      <a:r>
                        <a:rPr sz="170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氏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331971" algn="l" rtl="0" eaLnBrk="0">
                        <a:lnSpc>
                          <a:spcPts val="209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地</a:t>
                      </a:r>
                      <a:r>
                        <a:rPr sz="170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址</a:t>
                      </a:r>
                      <a:endParaRPr lang="SimSun" altLang="SimSun" sz="17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0488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张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lang="Arial" altLang="Arial" sz="200" dirty="0"/>
                    </a:p>
                    <a:p>
                      <a:pPr marL="383394" algn="l" rtl="0" eaLnBrk="0">
                        <a:lnSpc>
                          <a:spcPts val="245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56831" algn="l" rtl="0" eaLnBrk="0">
                        <a:lnSpc>
                          <a:spcPct val="9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李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lang="Arial" altLang="Arial" sz="200" dirty="0"/>
                    </a:p>
                    <a:p>
                      <a:pPr marL="383394" algn="l" rtl="0" eaLnBrk="0">
                        <a:lnSpc>
                          <a:spcPts val="2455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8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69404" algn="l" rtl="0" eaLnBrk="0">
                        <a:lnSpc>
                          <a:spcPts val="253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lang="Arial" altLang="Arial" sz="10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8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lang="Arial" altLang="Arial" sz="500" dirty="0"/>
                    </a:p>
                    <a:p>
                      <a:pPr marL="456831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王</a:t>
                      </a:r>
                      <a:endParaRPr lang="SimSun" altLang="SimSun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lang="Arial" altLang="Arial" sz="200" dirty="0"/>
                    </a:p>
                    <a:p>
                      <a:pPr marL="383394" algn="l" rtl="0" eaLnBrk="0">
                        <a:lnSpc>
                          <a:spcPts val="245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  <a:r>
                        <a:rPr sz="180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xx</a:t>
                      </a:r>
                      <a:endParaRPr lang="Arial" altLang="Arial" sz="18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65120" y="4514088"/>
            <a:ext cx="1956815" cy="612648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65120" y="1844040"/>
            <a:ext cx="1743455" cy="1682496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91967" y="3700271"/>
            <a:ext cx="1886711" cy="35661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3485013" y="384285"/>
            <a:ext cx="3034664" cy="4279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962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4000"/>
              </a:lnSpc>
              <a:tabLst/>
            </a:pPr>
            <a:r>
              <a:rPr sz="2700" spc="7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实际问题</a:t>
            </a:r>
            <a:r>
              <a:rPr sz="2800" b="1" spc="7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800" b="1" strike="sngStrike" spc="70" dirty="0">
                <a:solidFill>
                  <a:srgbClr val="333399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—</a:t>
            </a:r>
            <a:r>
              <a:rPr sz="2700" spc="7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</a:t>
            </a:r>
            <a:r>
              <a:rPr sz="2700" spc="3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endParaRPr lang="SimHei" altLang="SimHei" sz="2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94231" y="1392936"/>
            <a:ext cx="7555992" cy="4279391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2277573" y="1545132"/>
            <a:ext cx="5201284" cy="386969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575"/>
              </a:lnSpc>
              <a:tabLst/>
            </a:pPr>
            <a:endParaRPr lang="Arial" altLang="Arial" sz="100" dirty="0"/>
          </a:p>
          <a:p>
            <a:pPr marL="475970" algn="l" rtl="0" eaLnBrk="0">
              <a:lnSpc>
                <a:spcPct val="95000"/>
              </a:lnSpc>
              <a:tabLst/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数据对象在计算机中的组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织方式</a:t>
            </a:r>
            <a:endParaRPr lang="SimSun" altLang="SimSun" sz="2400" dirty="0"/>
          </a:p>
          <a:p>
            <a:pPr algn="l" rtl="0" eaLnBrk="0">
              <a:lnSpc>
                <a:spcPct val="170000"/>
              </a:lnSpc>
              <a:tabLst/>
            </a:pPr>
            <a:endParaRPr lang="Arial" altLang="Arial" sz="1000" dirty="0"/>
          </a:p>
          <a:p>
            <a:pPr marL="1235557" algn="l" rtl="0" eaLnBrk="0">
              <a:lnSpc>
                <a:spcPct val="95000"/>
              </a:lnSpc>
              <a:spcBef>
                <a:spcPts val="730"/>
              </a:spcBef>
              <a:tabLst/>
            </a:pPr>
            <a:r>
              <a:rPr sz="24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数据的各种</a:t>
            </a:r>
            <a:r>
              <a:rPr sz="2300" spc="4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</a:t>
            </a:r>
            <a:r>
              <a:rPr sz="2300" spc="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结</a:t>
            </a:r>
            <a:r>
              <a:rPr sz="230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构</a:t>
            </a:r>
            <a:endParaRPr lang="SimSun" altLang="SimSun" sz="2300" dirty="0"/>
          </a:p>
          <a:p>
            <a:pPr algn="l" rtl="0" eaLnBrk="0">
              <a:lnSpc>
                <a:spcPct val="170000"/>
              </a:lnSpc>
              <a:tabLst/>
            </a:pPr>
            <a:endParaRPr lang="Arial" altLang="Arial" sz="1000" dirty="0"/>
          </a:p>
          <a:p>
            <a:pPr marL="12700" algn="l" rtl="0" eaLnBrk="0">
              <a:lnSpc>
                <a:spcPct val="96000"/>
              </a:lnSpc>
              <a:spcBef>
                <a:spcPts val="725"/>
              </a:spcBef>
              <a:tabLst/>
            </a:pPr>
            <a:r>
              <a:rPr sz="240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逻辑结构与</a:t>
            </a:r>
            <a:r>
              <a:rPr sz="2300" spc="3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物理结构</a:t>
            </a:r>
            <a:r>
              <a:rPr sz="240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及之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间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的相应关系</a:t>
            </a:r>
            <a:endParaRPr lang="SimSun" altLang="SimSun" sz="2400" dirty="0"/>
          </a:p>
          <a:p>
            <a:pPr algn="l" rtl="0" eaLnBrk="0">
              <a:lnSpc>
                <a:spcPct val="169000"/>
              </a:lnSpc>
              <a:tabLst/>
            </a:pPr>
            <a:endParaRPr lang="Arial" altLang="Arial" sz="1000" dirty="0"/>
          </a:p>
          <a:p>
            <a:pPr marL="779565" algn="l" rtl="0" eaLnBrk="0">
              <a:lnSpc>
                <a:spcPct val="95000"/>
              </a:lnSpc>
              <a:spcBef>
                <a:spcPts val="723"/>
              </a:spcBef>
              <a:tabLst/>
            </a:pP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数据对象相关联的各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种</a:t>
            </a:r>
            <a:r>
              <a:rPr sz="230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操作</a:t>
            </a:r>
            <a:endParaRPr lang="SimSun" altLang="SimSun" sz="2300" dirty="0"/>
          </a:p>
          <a:p>
            <a:pPr algn="l" rtl="0" eaLnBrk="0">
              <a:lnSpc>
                <a:spcPct val="170000"/>
              </a:lnSpc>
              <a:tabLst/>
            </a:pPr>
            <a:endParaRPr lang="Arial" altLang="Arial" sz="1000" dirty="0"/>
          </a:p>
          <a:p>
            <a:pPr marL="1544004" algn="l" rtl="0" eaLnBrk="0">
              <a:lnSpc>
                <a:spcPct val="96000"/>
              </a:lnSpc>
              <a:spcBef>
                <a:spcPts val="726"/>
              </a:spcBef>
              <a:tabLst/>
            </a:pP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设计相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230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算法</a:t>
            </a:r>
            <a:endParaRPr lang="SimSun" altLang="SimSun" sz="2300" dirty="0"/>
          </a:p>
          <a:p>
            <a:pPr algn="l" rtl="0" eaLnBrk="0">
              <a:lnSpc>
                <a:spcPct val="169000"/>
              </a:lnSpc>
              <a:tabLst/>
            </a:pPr>
            <a:endParaRPr lang="Arial" altLang="Arial" sz="10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600" dirty="0"/>
          </a:p>
          <a:p>
            <a:pPr marL="1542784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分析算法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的</a:t>
            </a:r>
            <a:r>
              <a:rPr sz="2300" spc="0" dirty="0">
                <a:solidFill>
                  <a:srgbClr val="C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效率</a:t>
            </a:r>
            <a:endParaRPr lang="SimSun" altLang="SimSun" sz="2300" dirty="0"/>
          </a:p>
        </p:txBody>
      </p:sp>
      <p:sp>
        <p:nvSpPr>
          <p:cNvPr id="39" name="textbox 39"/>
          <p:cNvSpPr/>
          <p:nvPr/>
        </p:nvSpPr>
        <p:spPr>
          <a:xfrm>
            <a:off x="3386346" y="384285"/>
            <a:ext cx="3223895" cy="4273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3207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8000"/>
              </a:lnSpc>
              <a:tabLst/>
            </a:pPr>
            <a:r>
              <a:rPr sz="2700" spc="10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数据结构的主要内</a:t>
            </a:r>
            <a:r>
              <a:rPr sz="2700" spc="8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</a:t>
            </a:r>
            <a:endParaRPr lang="SimHei" altLang="SimHei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2"/>
          <p:cNvSpPr/>
          <p:nvPr/>
        </p:nvSpPr>
        <p:spPr>
          <a:xfrm>
            <a:off x="1285443" y="1353108"/>
            <a:ext cx="3327400" cy="47904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3006"/>
              </a:lnSpc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课程内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容</a:t>
            </a:r>
            <a:endParaRPr lang="SimSun" altLang="SimSun" sz="2300" dirty="0"/>
          </a:p>
          <a:p>
            <a:pPr marL="388112" algn="l" rtl="0" eaLnBrk="0">
              <a:lnSpc>
                <a:spcPct val="95000"/>
              </a:lnSpc>
              <a:spcBef>
                <a:spcPts val="1438"/>
              </a:spcBef>
              <a:tabLst/>
            </a:pPr>
            <a:r>
              <a:rPr sz="1300" spc="6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第一章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绪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论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632"/>
              </a:spcBef>
              <a:tabLst/>
            </a:pPr>
            <a:r>
              <a:rPr sz="1300" spc="5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第二章 线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性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表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512"/>
              </a:spcBef>
              <a:tabLst/>
            </a:pPr>
            <a:r>
              <a:rPr sz="1300" spc="4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第三章 栈和队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列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608"/>
              </a:spcBef>
              <a:tabLst/>
            </a:pPr>
            <a:r>
              <a:rPr sz="1300" spc="9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第四章 </a:t>
            </a:r>
            <a:r>
              <a:rPr sz="200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串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536"/>
              </a:spcBef>
              <a:tabLst/>
            </a:pPr>
            <a:r>
              <a:rPr sz="1300" spc="4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第五章 数组和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广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义表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512"/>
              </a:spcBef>
              <a:tabLst/>
            </a:pPr>
            <a:r>
              <a:rPr sz="1300" spc="4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第六章 树和二</a:t>
            </a:r>
            <a:r>
              <a:rPr sz="200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叉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树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632"/>
              </a:spcBef>
              <a:tabLst/>
            </a:pPr>
            <a:r>
              <a:rPr sz="1300" spc="9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第七章 </a:t>
            </a: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图</a:t>
            </a:r>
            <a:endParaRPr lang="SimSun" altLang="SimSun" sz="2000" dirty="0"/>
          </a:p>
          <a:p>
            <a:pPr marL="388112" algn="l" rtl="0" eaLnBrk="0">
              <a:lnSpc>
                <a:spcPct val="95000"/>
              </a:lnSpc>
              <a:spcBef>
                <a:spcPts val="1512"/>
              </a:spcBef>
              <a:tabLst/>
            </a:pPr>
            <a:r>
              <a:rPr sz="1300" spc="6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第九章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查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找</a:t>
            </a:r>
            <a:endParaRPr lang="SimSun" altLang="SimSun" sz="2000" dirty="0"/>
          </a:p>
          <a:p>
            <a:pPr algn="l" rtl="0" eaLnBrk="0">
              <a:lnSpc>
                <a:spcPct val="103000"/>
              </a:lnSpc>
              <a:tabLst/>
            </a:pPr>
            <a:endParaRPr lang="Arial" altLang="Arial" sz="1300" dirty="0"/>
          </a:p>
          <a:p>
            <a:pPr marL="388112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300" spc="5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Ø  </a:t>
            </a:r>
            <a:r>
              <a:rPr sz="20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第十章 内部</a:t>
            </a:r>
            <a:r>
              <a:rPr sz="200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排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序</a:t>
            </a:r>
            <a:endParaRPr lang="SimSun" altLang="SimSun" sz="2000" dirty="0"/>
          </a:p>
        </p:txBody>
      </p:sp>
      <p:sp>
        <p:nvSpPr>
          <p:cNvPr id="43" name="textbox 43"/>
          <p:cNvSpPr/>
          <p:nvPr/>
        </p:nvSpPr>
        <p:spPr>
          <a:xfrm>
            <a:off x="4275048" y="384285"/>
            <a:ext cx="1442085" cy="424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62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7000"/>
              </a:lnSpc>
              <a:tabLst/>
            </a:pPr>
            <a:r>
              <a:rPr sz="2700" spc="9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课程安</a:t>
            </a:r>
            <a:r>
              <a:rPr sz="2700" spc="8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</a:t>
            </a:r>
            <a:endParaRPr lang="SimHei" altLang="SimHei"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6"/>
          <p:cNvSpPr/>
          <p:nvPr/>
        </p:nvSpPr>
        <p:spPr>
          <a:xfrm>
            <a:off x="1626463" y="1084515"/>
            <a:ext cx="5297170" cy="491703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ts val="3024"/>
              </a:lnSpc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课时安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排</a:t>
            </a:r>
            <a:endParaRPr lang="SimSun" altLang="SimSun" sz="2300" dirty="0"/>
          </a:p>
          <a:p>
            <a:pPr algn="l" rtl="0" eaLnBrk="0">
              <a:lnSpc>
                <a:spcPct val="118000"/>
              </a:lnSpc>
              <a:tabLst/>
            </a:pPr>
            <a:endParaRPr lang="Arial" altLang="Arial" sz="1000" dirty="0"/>
          </a:p>
          <a:p>
            <a:pPr marL="193598" algn="l" rtl="0" eaLnBrk="0">
              <a:lnSpc>
                <a:spcPct val="95000"/>
              </a:lnSpc>
              <a:spcBef>
                <a:spcPts val="605"/>
              </a:spcBef>
              <a:tabLst/>
            </a:pP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本课程共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48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学时。每周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次课，每次课</a:t>
            </a:r>
            <a:r>
              <a:rPr sz="200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200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学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时。</a:t>
            </a:r>
            <a:endParaRPr lang="SimSun" altLang="SimSun" sz="2000" dirty="0"/>
          </a:p>
          <a:p>
            <a:pPr marL="12700" algn="l" rtl="0" eaLnBrk="0">
              <a:lnSpc>
                <a:spcPts val="3024"/>
              </a:lnSpc>
              <a:spcBef>
                <a:spcPts val="1867"/>
              </a:spcBef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授课方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</a:t>
            </a:r>
            <a:endParaRPr lang="SimSun" altLang="SimSun" sz="2300" dirty="0"/>
          </a:p>
          <a:p>
            <a:pPr algn="l" rtl="0" eaLnBrk="0">
              <a:lnSpc>
                <a:spcPct val="119000"/>
              </a:lnSpc>
              <a:tabLst/>
            </a:pPr>
            <a:endParaRPr lang="Arial" altLang="Arial" sz="1000" dirty="0"/>
          </a:p>
          <a:p>
            <a:pPr marL="534466" indent="-342900" algn="l" rtl="0" eaLnBrk="0">
              <a:lnSpc>
                <a:spcPct val="95000"/>
              </a:lnSpc>
              <a:spcBef>
                <a:spcPts val="600"/>
              </a:spcBef>
              <a:buFont typeface="Wingdings" panose="05000000000000000000" pitchFamily="2" charset="2"/>
              <a:buChar char="ü"/>
              <a:tabLst/>
            </a:pPr>
            <a:r>
              <a:rPr sz="2000" spc="-1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课堂</a:t>
            </a:r>
            <a:r>
              <a:rPr lang="zh-CN" altLang="en-US" sz="200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授课</a:t>
            </a:r>
            <a:endParaRPr lang="SimSun" altLang="SimSun" sz="20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1000" dirty="0"/>
          </a:p>
          <a:p>
            <a:pPr marL="534466" indent="-342900" algn="l" rtl="0" eaLnBrk="0">
              <a:lnSpc>
                <a:spcPct val="96000"/>
              </a:lnSpc>
              <a:spcBef>
                <a:spcPts val="608"/>
              </a:spcBef>
              <a:buFont typeface="Wingdings" panose="05000000000000000000" pitchFamily="2" charset="2"/>
              <a:buChar char="ü"/>
              <a:tabLst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书面作业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在线编程作业（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PTA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平台）</a:t>
            </a:r>
            <a:endParaRPr lang="SimSun" altLang="SimSu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2700" algn="l" rtl="0" eaLnBrk="0">
              <a:lnSpc>
                <a:spcPts val="3006"/>
              </a:lnSpc>
              <a:spcBef>
                <a:spcPts val="1660"/>
              </a:spcBef>
              <a:tabLst/>
            </a:pPr>
            <a:r>
              <a:rPr sz="2400" spc="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考核方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</a:t>
            </a:r>
            <a:endParaRPr lang="SimSun" altLang="SimSun" sz="2300" dirty="0"/>
          </a:p>
          <a:p>
            <a:pPr algn="l" rtl="0" eaLnBrk="0">
              <a:lnSpc>
                <a:spcPct val="108000"/>
              </a:lnSpc>
              <a:tabLst/>
            </a:pPr>
            <a:endParaRPr lang="Arial" altLang="Arial" sz="1100" dirty="0"/>
          </a:p>
          <a:p>
            <a:pPr marL="191566" algn="l" rtl="0" eaLnBrk="0">
              <a:lnSpc>
                <a:spcPct val="96000"/>
              </a:lnSpc>
              <a:spcBef>
                <a:spcPts val="5"/>
              </a:spcBef>
              <a:tabLst/>
            </a:pPr>
            <a:r>
              <a:rPr sz="2000" spc="-1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平时成绩、</a:t>
            </a:r>
            <a:r>
              <a:rPr sz="2000" spc="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期末考试成绩</a:t>
            </a:r>
            <a:endParaRPr lang="en-US" altLang="zh-CN" sz="2000" spc="0" dirty="0">
              <a:solidFill>
                <a:srgbClr val="000000">
                  <a:alpha val="100000"/>
                </a:srgbClr>
              </a:solidFill>
              <a:latin typeface="SimSun"/>
              <a:ea typeface="SimSun"/>
              <a:cs typeface="SimSun"/>
            </a:endParaRPr>
          </a:p>
          <a:p>
            <a:pPr marL="12700" lvl="0" eaLnBrk="0">
              <a:lnSpc>
                <a:spcPts val="3006"/>
              </a:lnSpc>
              <a:spcBef>
                <a:spcPts val="1660"/>
              </a:spcBef>
            </a:pPr>
            <a:r>
              <a:rPr lang="en-US" altLang="zh-CN" sz="240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Wingdings"/>
              </a:rPr>
              <a:t>联系</a:t>
            </a:r>
            <a:r>
              <a:rPr lang="zh-CN" altLang="en-US" sz="230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方</a:t>
            </a:r>
            <a:r>
              <a:rPr lang="zh-CN" altLang="en-US"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</a:t>
            </a:r>
            <a:endParaRPr lang="en-US" altLang="zh-CN" sz="2300" spc="50" dirty="0">
              <a:solidFill>
                <a:srgbClr val="000000">
                  <a:alpha val="100000"/>
                </a:srgbClr>
              </a:solidFill>
              <a:latin typeface="SimSun"/>
              <a:ea typeface="SimSun"/>
              <a:cs typeface="SimSun"/>
            </a:endParaRPr>
          </a:p>
          <a:p>
            <a:pPr marL="12700" lvl="0" indent="163513" eaLnBrk="0">
              <a:lnSpc>
                <a:spcPts val="3006"/>
              </a:lnSpc>
              <a:spcBef>
                <a:spcPts val="1660"/>
              </a:spcBef>
            </a:pPr>
            <a:r>
              <a:rPr lang="en-US" altLang="zh-CN" sz="2000" dirty="0">
                <a:solidFill>
                  <a:srgbClr val="000000"/>
                </a:solidFill>
              </a:rPr>
              <a:t>guosanchuan@foxmail.com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191566" algn="l" rtl="0" eaLnBrk="0">
              <a:lnSpc>
                <a:spcPct val="96000"/>
              </a:lnSpc>
              <a:spcBef>
                <a:spcPts val="5"/>
              </a:spcBef>
              <a:tabLst/>
            </a:pPr>
            <a:endParaRPr lang="en-US" altLang="zh-CN" sz="2000" spc="0" dirty="0">
              <a:solidFill>
                <a:srgbClr val="000000">
                  <a:alpha val="100000"/>
                </a:srgbClr>
              </a:solidFill>
              <a:latin typeface="SimSun"/>
              <a:ea typeface="SimSun"/>
              <a:cs typeface="SimSun"/>
            </a:endParaRPr>
          </a:p>
          <a:p>
            <a:pPr marL="191566" algn="l" rtl="0" eaLnBrk="0">
              <a:lnSpc>
                <a:spcPct val="96000"/>
              </a:lnSpc>
              <a:spcBef>
                <a:spcPts val="5"/>
              </a:spcBef>
              <a:tabLst/>
            </a:pPr>
            <a:endParaRPr lang="SimSun" altLang="SimSun" sz="2000" dirty="0"/>
          </a:p>
        </p:txBody>
      </p:sp>
      <p:sp>
        <p:nvSpPr>
          <p:cNvPr id="47" name="textbox 47"/>
          <p:cNvSpPr/>
          <p:nvPr/>
        </p:nvSpPr>
        <p:spPr>
          <a:xfrm>
            <a:off x="4275048" y="384285"/>
            <a:ext cx="1442085" cy="424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62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7000"/>
              </a:lnSpc>
              <a:tabLst/>
            </a:pPr>
            <a:r>
              <a:rPr sz="2700" spc="9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课程安</a:t>
            </a:r>
            <a:r>
              <a:rPr sz="2700" spc="8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</a:t>
            </a:r>
            <a:endParaRPr lang="SimHei" altLang="SimHei" sz="2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37"/>
          <p:cNvSpPr/>
          <p:nvPr/>
        </p:nvSpPr>
        <p:spPr>
          <a:xfrm>
            <a:off x="1323086" y="932873"/>
            <a:ext cx="6763384" cy="541042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551"/>
              </a:lnSpc>
              <a:tabLst/>
            </a:pPr>
            <a:endParaRPr lang="Arial" altLang="Arial" sz="100" dirty="0"/>
          </a:p>
          <a:p>
            <a:pPr marL="18237" eaLnBrk="0">
              <a:lnSpc>
                <a:spcPct val="93000"/>
              </a:lnSpc>
            </a:pPr>
            <a:r>
              <a:rPr lang="zh-CN" altLang="en-US" sz="2400" spc="100" dirty="0">
                <a:latin typeface="宋体" panose="02010600030101010101" pitchFamily="2" charset="-122"/>
                <a:ea typeface="宋体" panose="02010600030101010101" pitchFamily="2" charset="-122"/>
                <a:cs typeface="Wingdings"/>
              </a:rPr>
              <a:t>教材：</a:t>
            </a:r>
            <a:r>
              <a:rPr lang="zh-CN" altLang="en-US" sz="2400" dirty="0">
                <a:ea typeface="宋体" panose="02010600030101010101" pitchFamily="2" charset="-122"/>
              </a:rPr>
              <a:t>严蔚敏，</a:t>
            </a:r>
            <a:r>
              <a:rPr lang="en-US" altLang="zh-CN" sz="2400" dirty="0">
                <a:ea typeface="宋体" panose="02010600030101010101" pitchFamily="2" charset="-122"/>
              </a:rPr>
              <a:t>《</a:t>
            </a:r>
            <a:r>
              <a:rPr lang="zh-CN" altLang="en-US" sz="2400" dirty="0">
                <a:ea typeface="宋体" panose="02010600030101010101" pitchFamily="2" charset="-122"/>
              </a:rPr>
              <a:t>数据结构</a:t>
            </a:r>
            <a:r>
              <a:rPr lang="en-US" altLang="zh-CN" sz="2400" dirty="0">
                <a:ea typeface="宋体" panose="02010600030101010101" pitchFamily="2" charset="-122"/>
              </a:rPr>
              <a:t>》(C</a:t>
            </a:r>
            <a:r>
              <a:rPr lang="zh-CN" altLang="en-US" sz="2400" dirty="0">
                <a:ea typeface="宋体" panose="02010600030101010101" pitchFamily="2" charset="-122"/>
              </a:rPr>
              <a:t>语言版</a:t>
            </a:r>
            <a:r>
              <a:rPr lang="en-US" altLang="zh-CN" sz="2400" dirty="0">
                <a:ea typeface="宋体" panose="02010600030101010101" pitchFamily="2" charset="-122"/>
              </a:rPr>
              <a:t>)</a:t>
            </a:r>
            <a:r>
              <a:rPr lang="zh-CN" altLang="en-US" sz="2400" dirty="0">
                <a:ea typeface="宋体" panose="02010600030101010101" pitchFamily="2" charset="-122"/>
              </a:rPr>
              <a:t>，清华大学出版社</a:t>
            </a:r>
            <a:endParaRPr lang="en-US" altLang="zh-CN" sz="2400" spc="1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18237" eaLnBrk="0">
              <a:lnSpc>
                <a:spcPct val="93000"/>
              </a:lnSpc>
            </a:pPr>
            <a:endParaRPr lang="en-US" altLang="zh-CN" sz="2400" spc="100" dirty="0">
              <a:solidFill>
                <a:srgbClr val="3333CC">
                  <a:alpha val="100000"/>
                </a:srgbClr>
              </a:solidFill>
              <a:latin typeface="Wingdings"/>
              <a:ea typeface="Wingdings"/>
              <a:cs typeface="Wingdings"/>
            </a:endParaRPr>
          </a:p>
          <a:p>
            <a:pPr marL="18237" algn="l" rtl="0" eaLnBrk="0">
              <a:lnSpc>
                <a:spcPct val="93000"/>
              </a:lnSpc>
              <a:tabLst/>
            </a:pPr>
            <a:r>
              <a:rPr lang="zh-CN" altLang="en-US" sz="2400" spc="100" dirty="0">
                <a:latin typeface="宋体" panose="02010600030101010101" pitchFamily="2" charset="-122"/>
                <a:ea typeface="宋体" panose="02010600030101010101" pitchFamily="2" charset="-122"/>
                <a:cs typeface="Wingdings"/>
              </a:rPr>
              <a:t>参考资料：</a:t>
            </a:r>
            <a:endParaRPr lang="en-US" altLang="zh-CN" sz="2400" spc="100" dirty="0">
              <a:latin typeface="宋体" panose="02010600030101010101" pitchFamily="2" charset="-122"/>
              <a:ea typeface="宋体" panose="02010600030101010101" pitchFamily="2" charset="-122"/>
              <a:cs typeface="Wingdings"/>
            </a:endParaRPr>
          </a:p>
          <a:p>
            <a:pPr marL="18237" algn="l" rtl="0" eaLnBrk="0">
              <a:lnSpc>
                <a:spcPct val="93000"/>
              </a:lnSpc>
              <a:tabLst/>
            </a:pPr>
            <a:r>
              <a:rPr sz="2400" spc="100" dirty="0" err="1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</a:t>
            </a:r>
            <a:r>
              <a:rPr sz="2400" spc="10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《算法</a:t>
            </a:r>
            <a:r>
              <a:rPr sz="240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(第</a:t>
            </a:r>
            <a:r>
              <a:rPr sz="240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240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版)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》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princeton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edu</a:t>
            </a:r>
            <a:endParaRPr lang="en-US" altLang="zh-CN" sz="2400" spc="0" dirty="0">
              <a:solidFill>
                <a:srgbClr val="000000">
                  <a:alpha val="100000"/>
                </a:srgbClr>
              </a:solidFill>
              <a:latin typeface="Arial"/>
              <a:ea typeface="Arial"/>
              <a:cs typeface="Arial"/>
            </a:endParaRPr>
          </a:p>
          <a:p>
            <a:pPr marL="18237" algn="l" rtl="0" eaLnBrk="0">
              <a:lnSpc>
                <a:spcPct val="93000"/>
              </a:lnSpc>
              <a:tabLst/>
            </a:pPr>
            <a:r>
              <a:rPr lang="en-US" altLang="zh-CN" sz="240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   </a:t>
            </a:r>
            <a:r>
              <a:rPr lang="zh-CN" altLang="en-US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用</a:t>
            </a:r>
            <a:r>
              <a:rPr lang="en-US" altLang="zh-CN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Java</a:t>
            </a:r>
            <a:r>
              <a:rPr lang="zh-CN" altLang="en-US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进行程序实现</a:t>
            </a:r>
            <a:endParaRPr lang="Arial" altLang="Arial" sz="2400" spc="100" dirty="0">
              <a:solidFill>
                <a:srgbClr val="000000">
                  <a:alpha val="100000"/>
                </a:srgbClr>
              </a:solidFill>
              <a:latin typeface="SimSun"/>
              <a:ea typeface="SimSun"/>
            </a:endParaRPr>
          </a:p>
          <a:p>
            <a:pPr marL="278383" indent="-260146" algn="l" rtl="0" eaLnBrk="0">
              <a:lnSpc>
                <a:spcPct val="158000"/>
              </a:lnSpc>
              <a:spcBef>
                <a:spcPts val="380"/>
              </a:spcBef>
              <a:tabLst/>
            </a:pPr>
            <a:r>
              <a:rPr sz="2400" spc="50" dirty="0" err="1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</a:t>
            </a:r>
            <a:r>
              <a:rPr sz="2300" spc="5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《数据结构与算法分析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7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Data</a:t>
            </a:r>
            <a:r>
              <a:rPr sz="180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Structures</a:t>
            </a:r>
            <a:r>
              <a:rPr sz="180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 Algorithm Analysis</a:t>
            </a:r>
            <a:r>
              <a:rPr sz="180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</a:t>
            </a:r>
            <a:r>
              <a:rPr sz="180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</a:t>
            </a:r>
            <a:r>
              <a:rPr sz="170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 </a:t>
            </a:r>
            <a:r>
              <a:rPr sz="230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》</a:t>
            </a:r>
            <a:endParaRPr lang="en-US" altLang="zh-CN" sz="2300" spc="50" dirty="0">
              <a:solidFill>
                <a:srgbClr val="000000">
                  <a:alpha val="100000"/>
                </a:srgbClr>
              </a:solidFill>
              <a:latin typeface="SimSun"/>
              <a:ea typeface="SimSun"/>
              <a:cs typeface="SimSun"/>
            </a:endParaRPr>
          </a:p>
          <a:p>
            <a:pPr marL="18237" lvl="0" eaLnBrk="0">
              <a:lnSpc>
                <a:spcPct val="93000"/>
              </a:lnSpc>
            </a:pPr>
            <a:r>
              <a:rPr lang="zh-CN" altLang="en-US" spc="10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    推荐</a:t>
            </a:r>
            <a:r>
              <a:rPr lang="zh-CN" altLang="en-US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</a:rPr>
              <a:t>阅读英文原版</a:t>
            </a:r>
            <a:endParaRPr lang="SimSun" altLang="SimSun" sz="2300" dirty="0"/>
          </a:p>
          <a:p>
            <a:pPr marL="18237" algn="l" rtl="0" eaLnBrk="0">
              <a:lnSpc>
                <a:spcPct val="93000"/>
              </a:lnSpc>
              <a:spcBef>
                <a:spcPts val="1870"/>
              </a:spcBef>
              <a:tabLst/>
            </a:pPr>
            <a:r>
              <a:rPr sz="2400" spc="-30" dirty="0" err="1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</a:t>
            </a:r>
            <a:r>
              <a:rPr sz="2400" spc="-30" dirty="0" err="1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《算法导论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》</a:t>
            </a:r>
            <a:endParaRPr lang="SimSun" altLang="SimSun" sz="2400" dirty="0"/>
          </a:p>
          <a:p>
            <a:pPr marL="18237" algn="l" rtl="0" eaLnBrk="0">
              <a:lnSpc>
                <a:spcPts val="5126"/>
              </a:lnSpc>
              <a:tabLst/>
            </a:pPr>
            <a:r>
              <a:rPr sz="2400" spc="-10" dirty="0">
                <a:solidFill>
                  <a:srgbClr val="3333CC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è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hlinkClick r:id="rId2">
                  <a:extLst>
                    <a:ext uri="{DAF060AB-1E55-43B9-8AAB-6FB025537F2F}">
                      <wpsdc:hlinkClr xmlns="" xmlns:wpsdc="http://www.wps.cn/officeDocument/2017/drawingmlCustomData" val="000000"/>
                      <wpsdc:folHlinkClr xmlns="" xmlns:wpsdc="http://www.wps.cn/officeDocument/2017/drawingmlCustomData" val="000000"/>
                      <wpsdc:hlinkUnderline xmlns="" xmlns:wpsdc="http://www.wps.cn/officeDocument/2017/drawingmlCustomData" val="0"/>
                    </a:ext>
                  </a:extLst>
                </a:hlinkClick>
              </a:rPr>
              <a:t>https://visualgo.net/en</a:t>
            </a:r>
            <a:endParaRPr lang="Times New Roman" altLang="Times New Roman" sz="2400" dirty="0"/>
          </a:p>
          <a:p>
            <a:pPr algn="l" rtl="0" eaLnBrk="0">
              <a:lnSpc>
                <a:spcPct val="100000"/>
              </a:lnSpc>
              <a:tabLst/>
            </a:pPr>
            <a:endParaRPr lang="Arial" altLang="Arial" sz="1300" dirty="0"/>
          </a:p>
          <a:p>
            <a:pPr marL="12700" algn="l" rtl="0" eaLnBrk="0">
              <a:lnSpc>
                <a:spcPts val="2644"/>
              </a:lnSpc>
              <a:spcBef>
                <a:spcPts val="5"/>
              </a:spcBef>
              <a:tabLst/>
            </a:pPr>
            <a:r>
              <a:rPr sz="2000" i="1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visualising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dat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structures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and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algorithms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through</a:t>
            </a:r>
            <a:r>
              <a:rPr sz="200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i="1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animation</a:t>
            </a:r>
            <a:endParaRPr lang="Arial" altLang="Arial" sz="2000" dirty="0"/>
          </a:p>
        </p:txBody>
      </p:sp>
      <p:sp>
        <p:nvSpPr>
          <p:cNvPr id="138" name="textbox 138"/>
          <p:cNvSpPr/>
          <p:nvPr/>
        </p:nvSpPr>
        <p:spPr>
          <a:xfrm>
            <a:off x="4280738" y="384285"/>
            <a:ext cx="1436369" cy="4260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1418"/>
              </a:lnSpc>
              <a:tabLst/>
            </a:pPr>
            <a:endParaRPr lang="Arial" altLang="Arial" sz="100" dirty="0"/>
          </a:p>
          <a:p>
            <a:pPr marL="12700" algn="l" rtl="0" eaLnBrk="0">
              <a:lnSpc>
                <a:spcPct val="97000"/>
              </a:lnSpc>
              <a:tabLst/>
            </a:pPr>
            <a:r>
              <a:rPr sz="2700" spc="8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相关资</a:t>
            </a:r>
            <a:r>
              <a:rPr sz="2700" spc="6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料</a:t>
            </a:r>
            <a:endParaRPr lang="SimHei" altLang="SimHei" sz="2700" dirty="0"/>
          </a:p>
        </p:txBody>
      </p:sp>
    </p:spTree>
    <p:extLst>
      <p:ext uri="{BB962C8B-B14F-4D97-AF65-F5344CB8AC3E}">
        <p14:creationId xmlns:p14="http://schemas.microsoft.com/office/powerpoint/2010/main" val="363441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7">
            <a:extLst>
              <a:ext uri="{FF2B5EF4-FFF2-40B4-BE49-F238E27FC236}">
                <a16:creationId xmlns:a16="http://schemas.microsoft.com/office/drawing/2014/main" id="{2F2B9BAF-8E28-49B9-9422-0BF0D9EF0230}"/>
              </a:ext>
            </a:extLst>
          </p:cNvPr>
          <p:cNvSpPr/>
          <p:nvPr/>
        </p:nvSpPr>
        <p:spPr>
          <a:xfrm>
            <a:off x="3425302" y="431637"/>
            <a:ext cx="3040152" cy="4248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628"/>
              </a:lnSpc>
              <a:tabLst/>
            </a:pPr>
            <a:endParaRPr lang="zh-CN" altLang="en-US" sz="100" dirty="0"/>
          </a:p>
          <a:p>
            <a:pPr marL="12700" algn="l" rtl="0" eaLnBrk="0">
              <a:lnSpc>
                <a:spcPct val="97000"/>
              </a:lnSpc>
              <a:tabLst/>
            </a:pPr>
            <a:r>
              <a:rPr lang="zh-CN" altLang="en-US" sz="2700" spc="90" dirty="0">
                <a:solidFill>
                  <a:srgbClr val="333399">
                    <a:alpha val="100000"/>
                  </a:srgbClr>
                </a:solidFill>
                <a:latin typeface="SimHei"/>
                <a:ea typeface="SimHei"/>
              </a:rPr>
              <a:t>课程通知群</a:t>
            </a:r>
            <a:endParaRPr lang="zh-CN" altLang="en-US" sz="2700" dirty="0"/>
          </a:p>
        </p:txBody>
      </p:sp>
      <p:sp>
        <p:nvSpPr>
          <p:cNvPr id="3" name="textbox 46">
            <a:extLst>
              <a:ext uri="{FF2B5EF4-FFF2-40B4-BE49-F238E27FC236}">
                <a16:creationId xmlns:a16="http://schemas.microsoft.com/office/drawing/2014/main" id="{F3146CE2-AB41-46A7-B57C-7C9650D096D5}"/>
              </a:ext>
            </a:extLst>
          </p:cNvPr>
          <p:cNvSpPr/>
          <p:nvPr/>
        </p:nvSpPr>
        <p:spPr>
          <a:xfrm>
            <a:off x="1626463" y="856453"/>
            <a:ext cx="5297170" cy="514509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91566" eaLnBrk="0">
              <a:lnSpc>
                <a:spcPct val="96000"/>
              </a:lnSpc>
              <a:spcBef>
                <a:spcPts val="5"/>
              </a:spcBef>
            </a:pPr>
            <a:endParaRPr lang="en-US" altLang="zh-CN" sz="2000" dirty="0"/>
          </a:p>
          <a:p>
            <a:pPr marL="191566" eaLnBrk="0">
              <a:lnSpc>
                <a:spcPct val="96000"/>
              </a:lnSpc>
              <a:spcBef>
                <a:spcPts val="5"/>
              </a:spcBef>
            </a:pPr>
            <a:endParaRPr lang="en-US" altLang="zh-CN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8F10DA-32EF-4250-97B6-F39592BC0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343" y="1148348"/>
            <a:ext cx="3894817" cy="561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48750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华文新魏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357</Words>
  <Application>Microsoft Office PowerPoint</Application>
  <PresentationFormat>全屏显示(4:3)</PresentationFormat>
  <Paragraphs>227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等线</vt:lpstr>
      <vt:lpstr>黑体</vt:lpstr>
      <vt:lpstr>黑体</vt:lpstr>
      <vt:lpstr>华文新魏</vt:lpstr>
      <vt:lpstr>楷体_GB2312</vt:lpstr>
      <vt:lpstr>SimSun</vt:lpstr>
      <vt:lpstr>SimSun</vt:lpstr>
      <vt:lpstr>Microsoft YaHei</vt:lpstr>
      <vt:lpstr>Arial</vt:lpstr>
      <vt:lpstr>Arial Black</vt:lpstr>
      <vt:lpstr>Times New Roman</vt:lpstr>
      <vt:lpstr>Wingdings</vt:lpstr>
      <vt:lpstr>Pixel</vt:lpstr>
      <vt:lpstr>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GSC</cp:lastModifiedBy>
  <cp:revision>41</cp:revision>
  <dcterms:modified xsi:type="dcterms:W3CDTF">2024-09-06T02:15:44Z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wqlLaW5nc29mdCBQREYgdG8gV1BTIDgw</vt:lpwstr>
  </property>
  <property fmtid="{D5CDD505-2E9C-101B-9397-08002B2CF9AE}" pid="3" name="Created">
    <vt:filetime>2023-07-27T21:01:25Z</vt:filetime>
  </property>
  <property fmtid="{D5CDD505-2E9C-101B-9397-08002B2CF9AE}" pid="4" name="UsrData">
    <vt:lpwstr>64c26a8739f1df001f4a0d99</vt:lpwstr>
  </property>
</Properties>
</file>