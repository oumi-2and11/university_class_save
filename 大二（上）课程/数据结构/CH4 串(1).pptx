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352" r:id="rId3"/>
    <p:sldId id="508" r:id="rId5"/>
    <p:sldId id="509" r:id="rId6"/>
    <p:sldId id="510" r:id="rId7"/>
    <p:sldId id="513" r:id="rId8"/>
    <p:sldId id="527" r:id="rId9"/>
    <p:sldId id="537" r:id="rId10"/>
    <p:sldId id="523" r:id="rId11"/>
    <p:sldId id="528" r:id="rId12"/>
    <p:sldId id="529" r:id="rId13"/>
    <p:sldId id="531" r:id="rId14"/>
    <p:sldId id="532" r:id="rId15"/>
    <p:sldId id="535" r:id="rId16"/>
    <p:sldId id="530" r:id="rId17"/>
    <p:sldId id="543" r:id="rId18"/>
    <p:sldId id="538" r:id="rId19"/>
    <p:sldId id="540" r:id="rId20"/>
    <p:sldId id="541" r:id="rId21"/>
    <p:sldId id="544" r:id="rId22"/>
    <p:sldId id="555" r:id="rId23"/>
    <p:sldId id="539" r:id="rId24"/>
    <p:sldId id="550" r:id="rId25"/>
    <p:sldId id="546" r:id="rId26"/>
    <p:sldId id="547" r:id="rId27"/>
    <p:sldId id="556" r:id="rId28"/>
    <p:sldId id="557" r:id="rId29"/>
    <p:sldId id="558" r:id="rId30"/>
    <p:sldId id="559" r:id="rId31"/>
    <p:sldId id="553" r:id="rId32"/>
    <p:sldId id="548" r:id="rId33"/>
    <p:sldId id="554" r:id="rId34"/>
    <p:sldId id="551" r:id="rId3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000"/>
    <p:restoredTop sz="89659"/>
  </p:normalViewPr>
  <p:slideViewPr>
    <p:cSldViewPr showGuides="1">
      <p:cViewPr varScale="1">
        <p:scale>
          <a:sx n="74" d="100"/>
          <a:sy n="74" d="100"/>
        </p:scale>
        <p:origin x="144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C7FCDA-2603-4949-A5E0-4C2803D08707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78E921-119D-4D19-9113-D0A19636118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1D6F25-F9AE-4CA0-99FB-AB2BAB73AC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tr-TR" sz="1200" dirty="0"/>
            </a:fld>
            <a:endParaRPr lang="zh-CN" altLang="tr-TR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tr-TR" sz="1200" dirty="0"/>
            </a:fld>
            <a:endParaRPr lang="zh-CN" altLang="tr-TR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tr-TR" sz="1200" dirty="0"/>
            </a:fld>
            <a:endParaRPr lang="zh-CN" altLang="tr-TR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tr-TR" sz="1200" dirty="0"/>
            </a:fld>
            <a:endParaRPr lang="zh-CN" altLang="tr-TR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i-j+2</a:t>
            </a:r>
            <a:endParaRPr lang="en-US" altLang="zh-CN" dirty="0"/>
          </a:p>
          <a:p>
            <a:pPr lvl="0"/>
            <a:r>
              <a:rPr lang="en-US" altLang="zh-CN" dirty="0"/>
              <a:t>i</a:t>
            </a:r>
            <a:r>
              <a:rPr lang="zh-CN" altLang="en-US" dirty="0"/>
              <a:t>返回到上次匹配首位的下一位。</a:t>
            </a:r>
            <a:endParaRPr lang="en-US" altLang="zh-CN" dirty="0"/>
          </a:p>
          <a:p>
            <a:pPr lvl="0"/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i-(j-1)+1</a:t>
            </a:r>
            <a:endParaRPr lang="en-US" altLang="zh-CN" dirty="0"/>
          </a:p>
          <a:p>
            <a:pPr lvl="0"/>
            <a:r>
              <a:rPr lang="zh-CN" altLang="en-US" dirty="0"/>
              <a:t>其中 </a:t>
            </a:r>
            <a:r>
              <a:rPr lang="en-US" altLang="zh-CN" dirty="0"/>
              <a:t>j-1</a:t>
            </a:r>
            <a:r>
              <a:rPr lang="zh-CN" altLang="en-US" dirty="0"/>
              <a:t>为两者匹配的个数</a:t>
            </a:r>
            <a:endParaRPr lang="en-US" altLang="zh-CN" dirty="0"/>
          </a:p>
          <a:p>
            <a:pPr lvl="0"/>
            <a:r>
              <a:rPr lang="zh-CN" altLang="zh-CN" dirty="0"/>
              <a:t>i</a:t>
            </a:r>
            <a:r>
              <a:rPr lang="en-US" altLang="zh-CN" dirty="0"/>
              <a:t>-(j-1)</a:t>
            </a:r>
            <a:r>
              <a:rPr lang="zh-CN" altLang="en-US" dirty="0"/>
              <a:t>为两者上次匹配首位</a:t>
            </a:r>
            <a:endParaRPr lang="en-US" altLang="zh-CN" dirty="0"/>
          </a:p>
          <a:p>
            <a:pPr lvl="0"/>
            <a:r>
              <a:rPr lang="zh-CN" altLang="zh-CN" dirty="0"/>
              <a:t>i</a:t>
            </a:r>
            <a:r>
              <a:rPr lang="en-US" altLang="zh-CN" dirty="0"/>
              <a:t>-(j-1)+1</a:t>
            </a:r>
            <a:r>
              <a:rPr lang="zh-CN" altLang="en-US" dirty="0"/>
              <a:t>是上次匹配首位的下一位。</a:t>
            </a: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tr-TR" sz="1200" dirty="0"/>
            </a:fld>
            <a:endParaRPr lang="zh-CN" altLang="tr-TR" sz="1200" dirty="0"/>
          </a:p>
        </p:txBody>
      </p:sp>
      <p:sp>
        <p:nvSpPr>
          <p:cNvPr id="40963" name="Rectangle 2"/>
          <p:cNvSpPr>
            <a:spLocks noRot="1" noTextEdit="1"/>
          </p:cNvSpPr>
          <p:nvPr>
            <p:ph type="sldImg"/>
          </p:nvPr>
        </p:nvSpPr>
        <p:spPr>
          <a:xfrm>
            <a:off x="765175" y="384175"/>
            <a:ext cx="5516563" cy="4137025"/>
          </a:xfrm>
          <a:ln>
            <a:noFill/>
          </a:ln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571500" y="5408613"/>
            <a:ext cx="5905500" cy="3295650"/>
          </a:xfrm>
          <a:ln/>
        </p:spPr>
        <p:txBody>
          <a:bodyPr wrap="square" lIns="91440" tIns="45720" rIns="91440" bIns="45720" anchor="t" anchorCtr="0"/>
          <a:p>
            <a:pPr marL="152400" lvl="0" indent="-152400"/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1</a:t>
            </a:r>
            <a:r>
              <a:rPr lang="zh-CN" altLang="en-US" dirty="0"/>
              <a:t>、首先是</a:t>
            </a:r>
            <a:r>
              <a:rPr lang="en-US" altLang="zh-CN" dirty="0"/>
              <a:t>T</a:t>
            </a:r>
            <a:r>
              <a:rPr lang="zh-CN" altLang="en-US" dirty="0"/>
              <a:t>串中前面字符都和</a:t>
            </a:r>
            <a:r>
              <a:rPr lang="en-US" altLang="zh-CN" dirty="0"/>
              <a:t>S</a:t>
            </a:r>
            <a:r>
              <a:rPr lang="zh-CN" altLang="en-US" dirty="0"/>
              <a:t>相等，后面不等。这样造成计算的冗余。而对于</a:t>
            </a:r>
            <a:r>
              <a:rPr lang="en-US" altLang="zh-CN" dirty="0"/>
              <a:t>T</a:t>
            </a:r>
            <a:r>
              <a:rPr lang="zh-CN" altLang="en-US" dirty="0"/>
              <a:t>串没有和</a:t>
            </a:r>
            <a:r>
              <a:rPr lang="en-US" altLang="zh-CN" dirty="0"/>
              <a:t>S</a:t>
            </a:r>
            <a:r>
              <a:rPr lang="zh-CN" altLang="en-US" dirty="0"/>
              <a:t>串相等的时候，或只有一个相等的时候，并不省。</a:t>
            </a:r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几个蓝色快之间是可以匹配的</a:t>
            </a:r>
            <a:endParaRPr lang="en-US" altLang="zh-CN" dirty="0"/>
          </a:p>
          <a:p>
            <a:pPr lvl="0"/>
            <a:r>
              <a:rPr lang="zh-CN" altLang="en-US" dirty="0"/>
              <a:t>目标：减少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en-US" altLang="en-US" dirty="0"/>
              <a:t>之间重复比较的部分</a:t>
            </a:r>
            <a:endParaRPr lang="en-US" altLang="en-US" dirty="0"/>
          </a:p>
          <a:p>
            <a:pPr lvl="0"/>
            <a:r>
              <a:rPr lang="en-US" altLang="en-US" dirty="0"/>
              <a:t>手段：从t自身找重复A，B。减少比较。</a:t>
            </a:r>
            <a:r>
              <a:rPr lang="zh-CN" altLang="en-US" dirty="0"/>
              <a:t>目的为了找到下一个可以直接比较的元素位置</a:t>
            </a:r>
            <a:endParaRPr lang="zh-CN" altLang="en-US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Case1:</a:t>
            </a:r>
            <a:r>
              <a:rPr lang="zh-CN" altLang="en-US" dirty="0"/>
              <a:t> </a:t>
            </a:r>
            <a:r>
              <a:rPr lang="en-US" altLang="zh-CN" dirty="0"/>
              <a:t>s[i]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的第一个字母就不相等，这时</a:t>
            </a:r>
            <a:r>
              <a:rPr lang="en-US" altLang="zh-CN" dirty="0"/>
              <a:t>kmp</a:t>
            </a:r>
            <a:r>
              <a:rPr lang="zh-CN" altLang="en-US" dirty="0"/>
              <a:t>发挥不了作用，仍然是按照传统的</a:t>
            </a:r>
            <a:r>
              <a:rPr lang="en-US" altLang="zh-CN" dirty="0"/>
              <a:t>i++</a:t>
            </a:r>
            <a:r>
              <a:rPr lang="zh-CN" altLang="en-US" dirty="0"/>
              <a:t>之后再和</a:t>
            </a:r>
            <a:r>
              <a:rPr lang="en-US" altLang="zh-CN" dirty="0"/>
              <a:t>t[1]</a:t>
            </a:r>
            <a:r>
              <a:rPr lang="zh-CN" altLang="en-US" dirty="0"/>
              <a:t>比较，因此</a:t>
            </a:r>
            <a:r>
              <a:rPr lang="en-US" altLang="zh-CN" dirty="0"/>
              <a:t>next[j]=0</a:t>
            </a:r>
            <a:r>
              <a:rPr lang="zh-CN" altLang="en-US" dirty="0"/>
              <a:t>，表示没有</a:t>
            </a:r>
            <a:r>
              <a:rPr lang="en-US" altLang="zh-CN" dirty="0"/>
              <a:t>next[j]</a:t>
            </a:r>
            <a:r>
              <a:rPr lang="zh-CN" altLang="en-US" dirty="0"/>
              <a:t>的事</a:t>
            </a:r>
            <a:endParaRPr lang="en-US" altLang="zh-CN" dirty="0"/>
          </a:p>
          <a:p>
            <a:pPr lvl="0"/>
            <a:r>
              <a:rPr lang="en-US" altLang="zh-CN" dirty="0"/>
              <a:t>Case2</a:t>
            </a:r>
            <a:r>
              <a:rPr lang="zh-CN" altLang="en-US" dirty="0"/>
              <a:t>和</a:t>
            </a:r>
            <a:r>
              <a:rPr lang="en-US" altLang="zh-CN" dirty="0"/>
              <a:t>case3</a:t>
            </a:r>
            <a:r>
              <a:rPr lang="zh-CN" altLang="en-US" dirty="0"/>
              <a:t>都是</a:t>
            </a:r>
            <a:r>
              <a:rPr lang="en-US" altLang="zh-CN" dirty="0"/>
              <a:t>S[i]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至少第一个字符相等，此时</a:t>
            </a:r>
            <a:r>
              <a:rPr lang="en-US" altLang="zh-CN" dirty="0"/>
              <a:t>KMP</a:t>
            </a:r>
            <a:r>
              <a:rPr lang="zh-CN" altLang="en-US" dirty="0"/>
              <a:t>才能发挥作用。此时</a:t>
            </a:r>
            <a:r>
              <a:rPr lang="en-US" altLang="zh-CN" dirty="0"/>
              <a:t>i</a:t>
            </a:r>
            <a:r>
              <a:rPr lang="zh-CN" altLang="en-US" dirty="0"/>
              <a:t>都保持不变，仅有</a:t>
            </a:r>
            <a:r>
              <a:rPr lang="en-US" altLang="zh-CN" dirty="0"/>
              <a:t>j</a:t>
            </a:r>
            <a:r>
              <a:rPr lang="zh-CN" altLang="en-US" dirty="0"/>
              <a:t>变化。</a:t>
            </a:r>
            <a:endParaRPr lang="en-US" altLang="zh-CN" dirty="0"/>
          </a:p>
          <a:p>
            <a:pPr lvl="0"/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是</a:t>
            </a:r>
            <a:r>
              <a:rPr lang="en-US" altLang="zh-CN" dirty="0"/>
              <a:t>T</a:t>
            </a:r>
            <a:r>
              <a:rPr lang="zh-CN" altLang="en-US" dirty="0"/>
              <a:t>自身中存在相同的子串，因此</a:t>
            </a:r>
            <a:r>
              <a:rPr lang="en-US" altLang="zh-CN" dirty="0"/>
              <a:t>k</a:t>
            </a:r>
            <a:r>
              <a:rPr lang="zh-CN" altLang="en-US" dirty="0"/>
              <a:t>能发挥作用，类似于上面的</a:t>
            </a:r>
            <a:r>
              <a:rPr lang="en-US" altLang="zh-CN" dirty="0"/>
              <a:t>example2</a:t>
            </a:r>
            <a:endParaRPr lang="en-US" altLang="zh-CN" dirty="0"/>
          </a:p>
          <a:p>
            <a:pPr lvl="0"/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是</a:t>
            </a:r>
            <a:r>
              <a:rPr lang="en-US" altLang="zh-CN" dirty="0"/>
              <a:t>T</a:t>
            </a:r>
            <a:r>
              <a:rPr lang="zh-CN" altLang="en-US" dirty="0"/>
              <a:t>中字符各不相等，不存在相同的子串，类似于上面的</a:t>
            </a:r>
            <a:r>
              <a:rPr lang="en-US" altLang="zh-CN" dirty="0"/>
              <a:t>example1.</a:t>
            </a:r>
            <a:endParaRPr lang="zh-CN" altLang="en-US" dirty="0"/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J</a:t>
            </a:r>
            <a:r>
              <a:rPr lang="zh-CN" altLang="en-US" dirty="0"/>
              <a:t> </a:t>
            </a:r>
            <a:r>
              <a:rPr lang="en-US" altLang="zh-CN" dirty="0"/>
              <a:t>=0</a:t>
            </a:r>
            <a:r>
              <a:rPr lang="zh-CN" altLang="en-US" dirty="0"/>
              <a:t> 表示第一个字母都没匹配上。</a:t>
            </a:r>
            <a:endParaRPr lang="zh-CN" altLang="en-US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tr-TR" sz="1200" dirty="0"/>
            </a:fld>
            <a:endParaRPr lang="zh-CN" altLang="tr-TR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Idea</a:t>
            </a:r>
            <a:r>
              <a:rPr lang="zh-CN" altLang="en-US" dirty="0"/>
              <a:t> </a:t>
            </a:r>
            <a:r>
              <a:rPr lang="en-US" altLang="zh-CN" dirty="0"/>
              <a:t>behind</a:t>
            </a:r>
            <a:endParaRPr lang="en-US" altLang="zh-CN" dirty="0"/>
          </a:p>
          <a:p>
            <a:pPr lvl="0"/>
            <a:r>
              <a:rPr lang="en-US" altLang="zh-CN" dirty="0"/>
              <a:t>K</a:t>
            </a:r>
            <a:r>
              <a:rPr lang="zh-CN" altLang="en-US" dirty="0"/>
              <a:t>是前缀字符指示符，</a:t>
            </a:r>
            <a:r>
              <a:rPr lang="en-US" altLang="zh-CN" dirty="0"/>
              <a:t>j</a:t>
            </a:r>
            <a:r>
              <a:rPr lang="zh-CN" altLang="en-US" dirty="0"/>
              <a:t>是后缀字符指示符</a:t>
            </a:r>
            <a:endParaRPr lang="en-US" altLang="zh-CN" dirty="0"/>
          </a:p>
          <a:p>
            <a:pPr lvl="0"/>
            <a:r>
              <a:rPr lang="en-US" altLang="zh-CN" dirty="0"/>
              <a:t>J</a:t>
            </a:r>
            <a:r>
              <a:rPr lang="zh-CN" altLang="en-US" dirty="0"/>
              <a:t>是不断增加的，代表后缀的新起点</a:t>
            </a:r>
            <a:endParaRPr lang="en-US" altLang="zh-CN" dirty="0"/>
          </a:p>
          <a:p>
            <a:pPr lvl="0"/>
            <a:r>
              <a:rPr lang="en-US" altLang="zh-CN" dirty="0"/>
              <a:t>K</a:t>
            </a:r>
            <a:r>
              <a:rPr lang="zh-CN" altLang="en-US" dirty="0"/>
              <a:t>是可能回溯的，</a:t>
            </a:r>
            <a:endParaRPr lang="en-US" altLang="zh-CN" dirty="0"/>
          </a:p>
          <a:p>
            <a:pPr lvl="0"/>
            <a:r>
              <a:rPr lang="en-US" altLang="zh-CN" dirty="0"/>
              <a:t>K</a:t>
            </a:r>
            <a:r>
              <a:rPr lang="zh-CN" altLang="en-US" dirty="0"/>
              <a:t>回溯时，并非一定从</a:t>
            </a:r>
            <a:r>
              <a:rPr lang="en-US" altLang="zh-CN" dirty="0"/>
              <a:t>1</a:t>
            </a:r>
            <a:r>
              <a:rPr lang="zh-CN" altLang="en-US" dirty="0"/>
              <a:t>再开始，而是先回溯到</a:t>
            </a:r>
            <a:r>
              <a:rPr lang="en-US" altLang="zh-CN" dirty="0"/>
              <a:t>k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next[k]</a:t>
            </a:r>
            <a:r>
              <a:rPr lang="zh-CN" altLang="en-US" dirty="0"/>
              <a:t>的位置。</a:t>
            </a:r>
            <a:endParaRPr lang="en-US" altLang="zh-CN" dirty="0"/>
          </a:p>
          <a:p>
            <a:pPr lvl="0"/>
            <a:r>
              <a:rPr lang="zh-CN" altLang="en-US" dirty="0"/>
              <a:t>这是因为</a:t>
            </a:r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tr-TR" sz="1200" dirty="0"/>
            </a:fld>
            <a:endParaRPr lang="zh-CN" altLang="tr-TR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r>
              <a:rPr lang="en-US" altLang="en-US" dirty="0"/>
              <a:t>若</a:t>
            </a:r>
            <a:endParaRPr lang="zh-CN" altLang="en-US" dirty="0"/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hyperlink" Target="file:///E:%5C%E8%AE%A1%E7%AE%97%E6%9C%BA%E7%B3%BB%E7%BB%9F%E7%BB%93%E6%9E%84%5CMIT%5CMIT%20Photo%5CNYC%5CDSCN4828.JPG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1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3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2051" name="Picture 22">
            <a:hlinkClick r:id="rId2" action="ppaction://hlinkfile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72138"/>
            <a:ext cx="4716463" cy="1185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179388" y="115888"/>
            <a:ext cx="3097213" cy="369888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Data Structures, Fall 2024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053" name="图片 35" descr="20118211430_small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15250" y="0"/>
            <a:ext cx="1428750" cy="1438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1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1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35375" y="44370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DCEF14-C3EB-4C5C-BCAD-A4B34F06977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5445125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590393-531F-422F-8EA9-C3DF481B32C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086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086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ChangeArrowheads="1"/>
          </p:cNvSpPr>
          <p:nvPr/>
        </p:nvSpPr>
        <p:spPr bwMode="ltGray">
          <a:xfrm>
            <a:off x="990600" y="3505200"/>
            <a:ext cx="7772400" cy="24384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white">
          <a:xfrm>
            <a:off x="1038225" y="3733800"/>
            <a:ext cx="7648575" cy="2138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Line 6"/>
          <p:cNvSpPr/>
          <p:nvPr/>
        </p:nvSpPr>
        <p:spPr>
          <a:xfrm flipV="1">
            <a:off x="684213" y="685800"/>
            <a:ext cx="5592762" cy="6350"/>
          </a:xfrm>
          <a:prstGeom prst="line">
            <a:avLst/>
          </a:prstGeom>
          <a:ln w="444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 rot="16200000">
            <a:off x="-1804194" y="2553494"/>
            <a:ext cx="414813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School of Microelectronics,SJTU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6208713" y="712788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095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933825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21238-F110-4D02-8D0B-A73962D7297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35375" y="443706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5E533A-1EE5-4660-B6CA-6CD7C0DB86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2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47529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8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18"/>
          <p:cNvSpPr txBox="1">
            <a:spLocks noChangeArrowheads="1"/>
          </p:cNvSpPr>
          <p:nvPr/>
        </p:nvSpPr>
        <p:spPr bwMode="auto">
          <a:xfrm>
            <a:off x="0" y="6553200"/>
            <a:ext cx="3887788" cy="3048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Data Structures, Fall 2024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33" name="图片 19" descr="20118211430_small.jp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937500" y="0"/>
            <a:ext cx="1206500" cy="12144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华文新魏" panose="02010800040101010101" pitchFamily="2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rgbClr val="210B73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2"/>
          </a:solidFill>
          <a:latin typeface="+mn-lt"/>
          <a:ea typeface="+mj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2"/>
          </a:solidFill>
          <a:latin typeface="+mn-lt"/>
          <a:ea typeface="楷体_GB2312" pitchFamily="49" charset="-122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kumimoji="1" sz="2000">
          <a:solidFill>
            <a:schemeClr val="tx2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file:///E:%5C%E8%AE%A1%E7%AE%97%E6%9C%BA%E7%B3%BB%E7%BB%9F%E7%BB%93%E6%9E%84%5CMIT%5CMIT%20Photo%5CNYC%5CDSCN4828.JP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4.wav"/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1943100" y="2565400"/>
            <a:ext cx="7200900" cy="2209800"/>
          </a:xfrm>
          <a:ln/>
        </p:spPr>
        <p:txBody>
          <a:bodyPr vert="horz" wrap="square" lIns="91440" tIns="45720" rIns="91440" bIns="45720" anchor="ctr" anchorCtr="0"/>
          <a:p>
            <a:pPr algn="r" eaLnBrk="1" hangingPunct="1">
              <a:buClrTx/>
              <a:buSzTx/>
              <a:buFontTx/>
            </a:pPr>
            <a:r>
              <a:rPr lang="en-US" altLang="zh-CN" sz="1400" dirty="0">
                <a:solidFill>
                  <a:srgbClr val="FFFFFF"/>
                </a:solidFill>
                <a:latin typeface="华文新魏" panose="02010800040101010101" pitchFamily="2" charset="-122"/>
                <a:ea typeface="+mj-ea"/>
                <a:cs typeface="华文新魏" panose="02010800040101010101" pitchFamily="2" charset="-122"/>
              </a:rPr>
              <a:t>	</a:t>
            </a:r>
            <a:br>
              <a:rPr lang="en-US" altLang="zh-CN" sz="1400" dirty="0">
                <a:solidFill>
                  <a:srgbClr val="FFFFFF"/>
                </a:solidFill>
                <a:latin typeface="华文新魏" panose="02010800040101010101" pitchFamily="2" charset="-122"/>
                <a:ea typeface="+mj-ea"/>
                <a:cs typeface="华文新魏" panose="02010800040101010101" pitchFamily="2" charset="-122"/>
              </a:rPr>
            </a:br>
            <a:br>
              <a:rPr lang="en-US" altLang="zh-CN" sz="1200" dirty="0">
                <a:solidFill>
                  <a:srgbClr val="FFFFFF"/>
                </a:solidFill>
                <a:latin typeface="+mj-lt"/>
                <a:ea typeface="+mj-ea"/>
                <a:cs typeface="华文新魏" panose="02010800040101010101" pitchFamily="2" charset="-122"/>
              </a:rPr>
            </a:br>
            <a:endParaRPr lang="en-US" altLang="zh-CN" sz="1200" dirty="0">
              <a:solidFill>
                <a:srgbClr val="FFFFFF"/>
              </a:solidFill>
              <a:latin typeface="+mj-lt"/>
              <a:ea typeface="+mj-ea"/>
              <a:cs typeface="华文新魏" panose="02010800040101010101" pitchFamily="2" charset="-122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type="subTitle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r" eaLnBrk="1" hangingPunct="1">
              <a:lnSpc>
                <a:spcPct val="90000"/>
              </a:lnSpc>
              <a:buSzPct val="75000"/>
            </a:pPr>
            <a:endParaRPr lang="en-US" altLang="zh-CN" sz="2400" b="0" dirty="0">
              <a:solidFill>
                <a:schemeClr val="bg2"/>
              </a:solidFill>
              <a:latin typeface="黑体" panose="02010609060101010101" pitchFamily="49" charset="-122"/>
              <a:ea typeface="+mn-ea"/>
              <a:cs typeface="黑体" panose="02010609060101010101" pitchFamily="49" charset="-122"/>
            </a:endParaRPr>
          </a:p>
          <a:p>
            <a:pPr algn="r" eaLnBrk="1" hangingPunct="1">
              <a:lnSpc>
                <a:spcPct val="90000"/>
              </a:lnSpc>
              <a:buSzPct val="75000"/>
            </a:pPr>
            <a:r>
              <a:rPr lang="zh-CN" altLang="en-US" sz="2400" b="0" dirty="0">
                <a:solidFill>
                  <a:schemeClr val="bg2"/>
                </a:solidFill>
                <a:latin typeface="+mn-lt"/>
                <a:ea typeface="+mn-ea"/>
                <a:cs typeface="黑体" panose="02010609060101010101" pitchFamily="49" charset="-122"/>
              </a:rPr>
              <a:t>北京邮电大学 网络空间安全学院</a:t>
            </a:r>
            <a:endParaRPr lang="en-US" altLang="zh-CN" sz="2400" b="0" dirty="0">
              <a:solidFill>
                <a:schemeClr val="bg2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algn="r" eaLnBrk="1" hangingPunct="1">
              <a:lnSpc>
                <a:spcPct val="90000"/>
              </a:lnSpc>
              <a:buSzPct val="75000"/>
            </a:pPr>
            <a:r>
              <a:rPr lang="zh-CN" altLang="en-US" sz="2400" b="0" dirty="0">
                <a:solidFill>
                  <a:schemeClr val="bg2"/>
                </a:solidFill>
                <a:latin typeface="+mn-lt"/>
                <a:ea typeface="+mn-ea"/>
                <a:cs typeface="黑体" panose="02010609060101010101" pitchFamily="49" charset="-122"/>
              </a:rPr>
              <a:t>郭三川</a:t>
            </a:r>
            <a:endParaRPr lang="en-US" altLang="zh-CN" sz="2400" b="0" dirty="0">
              <a:solidFill>
                <a:schemeClr val="bg2"/>
              </a:solidFill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7172" name="Rectangle 7"/>
          <p:cNvSpPr/>
          <p:nvPr/>
        </p:nvSpPr>
        <p:spPr>
          <a:xfrm>
            <a:off x="2700338" y="1844675"/>
            <a:ext cx="62293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chemeClr val="bg1"/>
                </a:solidFill>
                <a:ea typeface="华文新魏" panose="02010800040101010101" pitchFamily="2" charset="-122"/>
              </a:rPr>
              <a:t>第四章</a:t>
            </a:r>
            <a:r>
              <a:rPr lang="en-US" altLang="zh-CN" sz="3200" b="0" dirty="0">
                <a:solidFill>
                  <a:schemeClr val="bg1"/>
                </a:solidFill>
                <a:ea typeface="华文新魏" panose="02010800040101010101" pitchFamily="2" charset="-122"/>
              </a:rPr>
              <a:t> </a:t>
            </a:r>
            <a:r>
              <a:rPr lang="zh-CN" altLang="en-US" sz="3200" b="0" dirty="0">
                <a:solidFill>
                  <a:schemeClr val="bg1"/>
                </a:solidFill>
                <a:ea typeface="华文新魏" panose="02010800040101010101" pitchFamily="2" charset="-122"/>
              </a:rPr>
              <a:t>串</a:t>
            </a:r>
            <a:endParaRPr lang="en-US" altLang="zh-CN" sz="3200" b="0" dirty="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pic>
        <p:nvPicPr>
          <p:cNvPr id="7173" name="Picture 8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2138"/>
            <a:ext cx="4716463" cy="1185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FF0000"/>
                </a:solidFill>
              </a:rPr>
              <a:t>串的定义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串的表示和实现</a:t>
            </a:r>
            <a:endParaRPr lang="en-US" altLang="zh-CN" dirty="0"/>
          </a:p>
          <a:p>
            <a:r>
              <a:rPr lang="zh-CN" altLang="en-US" dirty="0"/>
              <a:t>模式匹配算法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串的定义</a:t>
            </a:r>
            <a:endParaRPr lang="zh-CN" altLang="en-US" dirty="0"/>
          </a:p>
        </p:txBody>
      </p:sp>
      <p:sp>
        <p:nvSpPr>
          <p:cNvPr id="11267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串（或字符串）是由零个或多个字符组成的有限序列。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     S =  "a</a:t>
            </a:r>
            <a:r>
              <a:rPr kumimoji="1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1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a</a:t>
            </a:r>
            <a:r>
              <a:rPr kumimoji="1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2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a</a:t>
            </a:r>
            <a:r>
              <a:rPr kumimoji="1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3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……a</a:t>
            </a:r>
            <a:r>
              <a:rPr kumimoji="1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n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” (n≥0)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黑体" panose="02010609060101010101" pitchFamily="49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     A = “BEIJING”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黑体" panose="02010609060101010101" pitchFamily="49" charset="-122"/>
              </a:rPr>
              <a:t>B= “JING”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黑体" panose="02010609060101010101" pitchFamily="49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串的相关术语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串的长度：串中字符的个数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空串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: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串的长度为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              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子串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: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串中任意个连续字符组成的子序列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串的比较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 =“a1,a2...an”, t = “b1b2…bm”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S &lt; t,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则：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情况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n &lt; m,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且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 ai = bi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=1,2,……,n)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[e.g.] s =“hap”, t=“happy”, and s&lt; t.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情况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：存在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 k &lt;= min(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m,n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), ai=bi(i=1.2,……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k-1),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ak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&lt;bk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[e.g.]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比较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 “silly”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“stupid”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j-ea"/>
                <a:cs typeface="华文新魏" panose="02010800040101010101" pitchFamily="2" charset="-122"/>
              </a:rPr>
              <a:t>         “s”==“s”, “i” &lt; “t” =&gt; “silly” &lt; “stupid”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串的操作</a:t>
            </a:r>
            <a:endParaRPr lang="zh-CN" altLang="en-US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57200" y="2500313"/>
            <a:ext cx="8229600" cy="3665537"/>
          </a:xfrm>
          <a:ln>
            <a:solidFill>
              <a:srgbClr val="002060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algn="just"/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StrAssign (&amp;T, chars)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串赋值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/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将串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赋值为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chars</a:t>
            </a: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/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StrCopy (&amp;T, S) 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串复制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/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将串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复制得到串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/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Concat(&amp;T,S1,S2)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串联接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1" algn="just"/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返回由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S1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S2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联接而成的新串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3"/>
          <p:cNvSpPr txBox="1"/>
          <p:nvPr/>
        </p:nvSpPr>
        <p:spPr>
          <a:xfrm>
            <a:off x="500063" y="142875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Assign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" name="Text Box 4"/>
          <p:cNvSpPr txBox="1"/>
          <p:nvPr/>
        </p:nvSpPr>
        <p:spPr>
          <a:xfrm>
            <a:off x="2100263" y="142875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Create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6977063" y="1885950"/>
            <a:ext cx="1524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Delete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" name="Text Box 6"/>
          <p:cNvSpPr txBox="1"/>
          <p:nvPr/>
        </p:nvSpPr>
        <p:spPr>
          <a:xfrm>
            <a:off x="5376863" y="1428750"/>
            <a:ext cx="1600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Length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" name="Text Box 7"/>
          <p:cNvSpPr txBox="1"/>
          <p:nvPr/>
        </p:nvSpPr>
        <p:spPr>
          <a:xfrm>
            <a:off x="6977063" y="1428750"/>
            <a:ext cx="1828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Concat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500063" y="188595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Substr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" name="Text Box 9"/>
          <p:cNvSpPr txBox="1"/>
          <p:nvPr/>
        </p:nvSpPr>
        <p:spPr>
          <a:xfrm>
            <a:off x="2100263" y="188595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Index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" name="Text Box 10"/>
          <p:cNvSpPr txBox="1"/>
          <p:nvPr/>
        </p:nvSpPr>
        <p:spPr>
          <a:xfrm>
            <a:off x="3548063" y="1885950"/>
            <a:ext cx="1676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Replace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" name="Text Box 11"/>
          <p:cNvSpPr txBox="1"/>
          <p:nvPr/>
        </p:nvSpPr>
        <p:spPr>
          <a:xfrm>
            <a:off x="5376863" y="18859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Insert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" name="Text Box 12"/>
          <p:cNvSpPr txBox="1"/>
          <p:nvPr/>
        </p:nvSpPr>
        <p:spPr>
          <a:xfrm>
            <a:off x="3548063" y="1428750"/>
            <a:ext cx="1371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Equal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" name="AutoShape 3"/>
          <p:cNvSpPr/>
          <p:nvPr/>
        </p:nvSpPr>
        <p:spPr>
          <a:xfrm>
            <a:off x="1227138" y="4929188"/>
            <a:ext cx="3997325" cy="442912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e.g. Concat(&amp;T,‘data’, ‘structure’)</a:t>
            </a:r>
            <a:endParaRPr lang="en-US" altLang="zh-CN" sz="20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AutoShape 4"/>
          <p:cNvSpPr/>
          <p:nvPr/>
        </p:nvSpPr>
        <p:spPr>
          <a:xfrm>
            <a:off x="5226050" y="4929188"/>
            <a:ext cx="2203450" cy="442912"/>
          </a:xfrm>
          <a:prstGeom prst="roundRect">
            <a:avLst>
              <a:gd name="adj" fmla="val 16667"/>
            </a:avLst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T=‘datastructure’</a:t>
            </a:r>
            <a:endParaRPr lang="en-US" altLang="zh-CN" sz="20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串的操作</a:t>
            </a:r>
            <a:endParaRPr lang="zh-CN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945063"/>
          </a:xfrm>
          <a:ln>
            <a:solidFill>
              <a:schemeClr val="tx2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342900" lvl="1" indent="-342900" algn="just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210B73"/>
                </a:solidFill>
                <a:latin typeface="Times New Roman" panose="02020603050405020304" pitchFamily="18" charset="0"/>
                <a:ea typeface="楷体_GB2312" pitchFamily="49" charset="-122"/>
              </a:rPr>
              <a:t>SubString (&amp;Sub, S, pos, len)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求子串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lvl="1" indent="-342900" algn="just">
              <a:lnSpc>
                <a:spcPct val="120000"/>
              </a:lnSpc>
              <a:buFont typeface="Wingdings" panose="05000000000000000000" pitchFamily="2" charset="2"/>
              <a:buChar char="¨"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Sub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返回串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的第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pos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个字符起长度为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len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的子串</a:t>
            </a: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lvl="1" indent="-342900" algn="just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210B73"/>
                </a:solidFill>
                <a:latin typeface="Times New Roman" panose="02020603050405020304" pitchFamily="18" charset="0"/>
                <a:ea typeface="楷体_GB2312" pitchFamily="49" charset="-122"/>
              </a:rPr>
              <a:t>Replace (&amp;S, T, V)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串的替换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lvl="1" indent="-342900" algn="just">
              <a:lnSpc>
                <a:spcPct val="120000"/>
              </a:lnSpc>
              <a:buFont typeface="Wingdings" panose="05000000000000000000" pitchFamily="2" charset="2"/>
              <a:buChar char="¨"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替换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中所有不重叠的子字符串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lvl="1" indent="-342900" algn="just"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StrInsert (&amp;S, pos, T)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串的插入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lvl="1" indent="-342900" algn="just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在串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pos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位置前插入串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Index (S, T, pos) //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串的匹配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lvl="1" indent="-342900" algn="just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如果在字符串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pos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位置及之后，存在一个子字符串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，那么返回该子字符串的位置；否则返回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lvl="1" indent="-342900" algn="just">
              <a:lnSpc>
                <a:spcPct val="120000"/>
              </a:lnSpc>
            </a:pP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endParaRPr lang="zh-CN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1212850" y="5429250"/>
            <a:ext cx="53625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e.g.  Assuming</a:t>
            </a: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 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= 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abcaabcaaabc,  T = bca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0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43000" y="5900738"/>
            <a:ext cx="225583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Index(S, T, 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2</a:t>
            </a:r>
            <a:r>
              <a:rPr lang="zh-CN" altLang="en-US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sz="2000" b="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192463" y="5907088"/>
            <a:ext cx="225583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Index(S, T, 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6</a:t>
            </a:r>
            <a:r>
              <a:rPr lang="zh-CN" altLang="en-US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sz="2000" b="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233988" y="5907088"/>
            <a:ext cx="225583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Index(S, T, 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0</a:t>
            </a:r>
            <a:r>
              <a:rPr lang="zh-CN" altLang="en-US" sz="2000" b="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sz="2000" b="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Text Box 2"/>
          <p:cNvSpPr txBox="1">
            <a:spLocks noChangeArrowheads="1"/>
          </p:cNvSpPr>
          <p:nvPr/>
        </p:nvSpPr>
        <p:spPr bwMode="auto">
          <a:xfrm>
            <a:off x="533400" y="1143000"/>
            <a:ext cx="7786688" cy="2566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最小操作子集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StrAssign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Strcopy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StrCompare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StrLength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Concat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SubString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690563" y="441325"/>
            <a:ext cx="7472363" cy="701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串的基本操作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00063" y="3505200"/>
            <a:ext cx="7786688" cy="1381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上面这些操作无法使用其他字符串操作实现，但其他字符串操作可以使用这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个基本的字符串操作来实现，因此将上述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个操作成为字符串的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最小操作子集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2"/>
          <p:cNvSpPr txBox="1"/>
          <p:nvPr/>
        </p:nvSpPr>
        <p:spPr>
          <a:xfrm>
            <a:off x="2193925" y="15446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533400" y="1295400"/>
            <a:ext cx="8377238" cy="10207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在不同的程序设计语言中有不同的字符串操作方法，具体可见程序设计语言的手册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85348" name="Text Box 4"/>
          <p:cNvSpPr txBox="1"/>
          <p:nvPr/>
        </p:nvSpPr>
        <p:spPr>
          <a:xfrm>
            <a:off x="533400" y="3429000"/>
            <a:ext cx="82296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gets</a:t>
            </a:r>
            <a:r>
              <a:rPr lang="en-US" altLang="zh-CN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(str)  //</a:t>
            </a:r>
            <a:r>
              <a:rPr lang="zh-CN" altLang="en-US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输入字符串</a:t>
            </a:r>
            <a:r>
              <a:rPr lang="en-US" altLang="zh-CN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;</a:t>
            </a:r>
            <a:endParaRPr lang="zh-CN" altLang="en-US" sz="2800" b="0" dirty="0">
              <a:solidFill>
                <a:srgbClr val="0066FF"/>
              </a:solidFill>
              <a:latin typeface="Goudy Old Style" panose="02020502050305020303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puts</a:t>
            </a:r>
            <a:r>
              <a:rPr lang="en-US" altLang="zh-CN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(str) //</a:t>
            </a:r>
            <a:r>
              <a:rPr lang="zh-CN" altLang="en-US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输出字符串；</a:t>
            </a:r>
            <a:endParaRPr lang="zh-CN" altLang="en-US" sz="2800" b="0" dirty="0">
              <a:solidFill>
                <a:srgbClr val="0066FF"/>
              </a:solidFill>
              <a:latin typeface="Goudy Old Style" panose="02020502050305020303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strcat</a:t>
            </a:r>
            <a:r>
              <a:rPr lang="en-US" altLang="zh-CN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(str1, str2)  // </a:t>
            </a:r>
            <a:r>
              <a:rPr lang="zh-CN" altLang="en-US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字符串连接；</a:t>
            </a:r>
            <a:endParaRPr lang="en-US" altLang="zh-CN" sz="2800" b="0" dirty="0">
              <a:solidFill>
                <a:srgbClr val="0066FF"/>
              </a:solidFill>
              <a:latin typeface="Goudy Old Style" panose="02020502050305020303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strcpy</a:t>
            </a:r>
            <a:r>
              <a:rPr lang="en-US" altLang="zh-CN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(str1, str2, k)  //</a:t>
            </a:r>
            <a:r>
              <a:rPr lang="zh-CN" altLang="en-US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字符串复制；</a:t>
            </a:r>
            <a:endParaRPr lang="zh-CN" altLang="en-US" sz="2800" b="0" dirty="0">
              <a:solidFill>
                <a:srgbClr val="0066FF"/>
              </a:solidFill>
              <a:latin typeface="Goudy Old Style" panose="02020502050305020303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strcmp</a:t>
            </a:r>
            <a:r>
              <a:rPr lang="en-US" altLang="zh-CN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(str1, str2) //</a:t>
            </a:r>
            <a:r>
              <a:rPr lang="zh-CN" altLang="en-US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字符串比较；</a:t>
            </a:r>
            <a:endParaRPr lang="zh-CN" altLang="en-US" sz="2800" b="0" dirty="0">
              <a:solidFill>
                <a:srgbClr val="0066FF"/>
              </a:solidFill>
              <a:latin typeface="Goudy Old Style" panose="02020502050305020303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strlen</a:t>
            </a:r>
            <a:r>
              <a:rPr lang="en-US" altLang="zh-CN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(str)  //</a:t>
            </a:r>
            <a:r>
              <a:rPr lang="zh-CN" altLang="en-US" sz="2800" b="0" dirty="0">
                <a:solidFill>
                  <a:srgbClr val="0066FF"/>
                </a:solidFill>
                <a:latin typeface="Goudy Old Style" panose="02020502050305020303" charset="0"/>
                <a:ea typeface="宋体" panose="02010600030101010101" pitchFamily="2" charset="-122"/>
              </a:rPr>
              <a:t>返回字符串长度 </a:t>
            </a:r>
            <a:endParaRPr lang="zh-CN" altLang="en-US" sz="2800" b="0" dirty="0">
              <a:solidFill>
                <a:srgbClr val="0066FF"/>
              </a:solidFill>
              <a:latin typeface="Goudy Old Style" panose="02020502050305020303" charset="0"/>
              <a:ea typeface="宋体" panose="02010600030101010101" pitchFamily="2" charset="-122"/>
            </a:endParaRPr>
          </a:p>
        </p:txBody>
      </p:sp>
      <p:sp>
        <p:nvSpPr>
          <p:cNvPr id="185349" name="Text Box 5"/>
          <p:cNvSpPr txBox="1"/>
          <p:nvPr/>
        </p:nvSpPr>
        <p:spPr>
          <a:xfrm>
            <a:off x="469900" y="2819400"/>
            <a:ext cx="86741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C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语言中字符处理函数</a:t>
            </a:r>
            <a:endParaRPr lang="zh-CN" altLang="en-US" sz="3200" dirty="0">
              <a:solidFill>
                <a:schemeClr val="tx1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428625" y="441325"/>
            <a:ext cx="7472363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程序设计语言中串的操作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/>
      <p:bldP spid="1853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串的定义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串的表示和实现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模式匹配算法</a:t>
            </a:r>
            <a:endParaRPr lang="tr-TR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 </a:t>
            </a:r>
            <a:r>
              <a:rPr lang="zh-CN" altLang="en-US" dirty="0"/>
              <a:t>串的存储结构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三种存储结构</a:t>
            </a:r>
            <a:endParaRPr lang="en-US" altLang="zh-CN" dirty="0"/>
          </a:p>
          <a:p>
            <a:pPr lvl="1"/>
            <a:r>
              <a:rPr lang="zh-CN" altLang="en-US" dirty="0"/>
              <a:t>定长顺序存储表示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静态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zh-CN" altLang="en-US" dirty="0"/>
              <a:t>块链存储表示  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动态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zh-CN" altLang="en-US" dirty="0"/>
              <a:t>堆分配存储表示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动态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4"/>
          <p:cNvSpPr txBox="1"/>
          <p:nvPr/>
        </p:nvSpPr>
        <p:spPr>
          <a:xfrm>
            <a:off x="428625" y="415925"/>
            <a:ext cx="7472363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bg2"/>
                </a:solidFill>
                <a:ea typeface="华文新魏" panose="02010800040101010101" pitchFamily="2" charset="-122"/>
              </a:rPr>
              <a:t>  </a:t>
            </a:r>
            <a:r>
              <a:rPr lang="zh-CN" altLang="en-US" sz="2800" dirty="0">
                <a:solidFill>
                  <a:schemeClr val="bg2"/>
                </a:solidFill>
                <a:ea typeface="华文新魏" panose="02010800040101010101" pitchFamily="2" charset="-122"/>
              </a:rPr>
              <a:t>串的存储结构</a:t>
            </a:r>
            <a:r>
              <a:rPr lang="en-US" altLang="zh-CN" sz="2800" b="0" dirty="0">
                <a:solidFill>
                  <a:schemeClr val="bg2"/>
                </a:solidFill>
                <a:ea typeface="华文新魏" panose="02010800040101010101" pitchFamily="2" charset="-122"/>
              </a:rPr>
              <a:t>                              </a:t>
            </a:r>
            <a:endParaRPr lang="en-US" altLang="zh-CN" sz="2800" b="0" dirty="0">
              <a:solidFill>
                <a:schemeClr val="bg2"/>
              </a:solidFill>
              <a:ea typeface="华文新魏" panose="0201080004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dirty="0">
                <a:solidFill>
                  <a:schemeClr val="bg2"/>
                </a:solidFill>
                <a:ea typeface="华文新魏" panose="02010800040101010101" pitchFamily="2" charset="-122"/>
              </a:rPr>
              <a:t>                                          </a:t>
            </a:r>
            <a:r>
              <a:rPr lang="en-US" altLang="zh-CN" sz="2800" b="0" dirty="0">
                <a:solidFill>
                  <a:srgbClr val="0070C0"/>
                </a:solidFill>
                <a:ea typeface="华文新魏" panose="02010800040101010101" pitchFamily="2" charset="-122"/>
              </a:rPr>
              <a:t>—</a:t>
            </a:r>
            <a:r>
              <a:rPr lang="zh-CN" altLang="en-US" sz="2800" b="0" dirty="0">
                <a:solidFill>
                  <a:srgbClr val="0070C0"/>
                </a:solidFill>
                <a:ea typeface="华文新魏" panose="02010800040101010101" pitchFamily="2" charset="-122"/>
              </a:rPr>
              <a:t>定长顺序存储</a:t>
            </a:r>
            <a:endParaRPr lang="en-US" altLang="zh-CN" sz="2800" b="0" dirty="0">
              <a:solidFill>
                <a:srgbClr val="0070C0"/>
              </a:solidFill>
              <a:ea typeface="华文新魏" panose="02010800040101010101" pitchFamily="2" charset="-122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1676400" y="1838325"/>
          <a:ext cx="63309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339840" imgH="1240790" progId="Word.Document.8">
                  <p:embed/>
                </p:oleObj>
              </mc:Choice>
              <mc:Fallback>
                <p:oleObj name="" r:id="rId1" imgW="6339840" imgH="124079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1838325"/>
                        <a:ext cx="6330950" cy="1233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22"/>
          <p:cNvSpPr/>
          <p:nvPr/>
        </p:nvSpPr>
        <p:spPr>
          <a:xfrm>
            <a:off x="914400" y="2928938"/>
            <a:ext cx="7391400" cy="1677987"/>
          </a:xfrm>
          <a:prstGeom prst="foldedCorner">
            <a:avLst>
              <a:gd name="adj" fmla="val 12500"/>
            </a:avLst>
          </a:prstGeom>
          <a:solidFill>
            <a:srgbClr val="CCFFFF"/>
          </a:solidFill>
          <a:ln w="952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#define  MAXLEN   user_supply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typedef      struct   {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char   str[ MAXLEN];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int   curlen;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} string;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AutoShape 23"/>
          <p:cNvSpPr/>
          <p:nvPr/>
        </p:nvSpPr>
        <p:spPr>
          <a:xfrm>
            <a:off x="4495800" y="3092450"/>
            <a:ext cx="3886200" cy="1363663"/>
          </a:xfrm>
          <a:prstGeom prst="foldedCorner">
            <a:avLst>
              <a:gd name="adj" fmla="val 12500"/>
            </a:avLst>
          </a:prstGeom>
          <a:solidFill>
            <a:srgbClr val="CCFFFF"/>
          </a:solidFill>
          <a:ln w="952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#define  MAXLEN   255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typedef   char  lstring[ MAXLEN+1];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66"/>
                </a:solidFill>
                <a:ea typeface="宋体" panose="02010600030101010101" pitchFamily="2" charset="-122"/>
              </a:rPr>
              <a:t>// string[0] </a:t>
            </a:r>
            <a:r>
              <a:rPr lang="zh-CN" altLang="en-US" sz="1800" b="0" dirty="0">
                <a:solidFill>
                  <a:srgbClr val="FF0066"/>
                </a:solidFill>
                <a:ea typeface="宋体" panose="02010600030101010101" pitchFamily="2" charset="-122"/>
              </a:rPr>
              <a:t>表示</a:t>
            </a:r>
            <a:r>
              <a:rPr lang="en-US" altLang="zh-CN" sz="1800" b="0" dirty="0">
                <a:solidFill>
                  <a:srgbClr val="FF0066"/>
                </a:solidFill>
                <a:ea typeface="宋体" panose="02010600030101010101" pitchFamily="2" charset="-122"/>
              </a:rPr>
              <a:t>string</a:t>
            </a:r>
            <a:r>
              <a:rPr lang="zh-CN" altLang="en-US" sz="1800" b="0" dirty="0">
                <a:solidFill>
                  <a:srgbClr val="FF0066"/>
                </a:solidFill>
                <a:ea typeface="宋体" panose="02010600030101010101" pitchFamily="2" charset="-122"/>
              </a:rPr>
              <a:t>的长度</a:t>
            </a:r>
            <a:endParaRPr lang="zh-CN" altLang="en-US" sz="1800" b="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 dirty="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17" name="Text Box 24"/>
          <p:cNvSpPr txBox="1"/>
          <p:nvPr/>
        </p:nvSpPr>
        <p:spPr>
          <a:xfrm>
            <a:off x="990600" y="1838325"/>
            <a:ext cx="762000" cy="4921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5" name="TextBox 17"/>
          <p:cNvSpPr txBox="1"/>
          <p:nvPr/>
        </p:nvSpPr>
        <p:spPr>
          <a:xfrm>
            <a:off x="928688" y="4929188"/>
            <a:ext cx="394493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FF0000"/>
                </a:solidFill>
                <a:ea typeface="宋体" panose="02010600030101010101" pitchFamily="2" charset="-122"/>
              </a:rPr>
              <a:t>* 存储的串长度不能超过最大长度</a:t>
            </a:r>
            <a:endParaRPr lang="zh-CN" altLang="en-US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84"/>
          <p:cNvGrpSpPr/>
          <p:nvPr/>
        </p:nvGrpSpPr>
        <p:grpSpPr>
          <a:xfrm>
            <a:off x="609600" y="1681163"/>
            <a:ext cx="8305800" cy="369887"/>
            <a:chOff x="192" y="1008"/>
            <a:chExt cx="5232" cy="233"/>
          </a:xfrm>
        </p:grpSpPr>
        <p:grpSp>
          <p:nvGrpSpPr>
            <p:cNvPr id="29723" name="Group 29"/>
            <p:cNvGrpSpPr/>
            <p:nvPr/>
          </p:nvGrpSpPr>
          <p:grpSpPr>
            <a:xfrm>
              <a:off x="912" y="1008"/>
              <a:ext cx="432" cy="233"/>
              <a:chOff x="912" y="1008"/>
              <a:chExt cx="432" cy="233"/>
            </a:xfrm>
          </p:grpSpPr>
          <p:sp>
            <p:nvSpPr>
              <p:cNvPr id="29755" name="Text Box 5"/>
              <p:cNvSpPr txBox="1"/>
              <p:nvPr/>
            </p:nvSpPr>
            <p:spPr>
              <a:xfrm>
                <a:off x="912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56" name="Rectangle 6"/>
              <p:cNvSpPr/>
              <p:nvPr/>
            </p:nvSpPr>
            <p:spPr>
              <a:xfrm>
                <a:off x="1152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24" name="Line 16"/>
            <p:cNvSpPr/>
            <p:nvPr/>
          </p:nvSpPr>
          <p:spPr>
            <a:xfrm>
              <a:off x="1248" y="1152"/>
              <a:ext cx="24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5" name="Line 27"/>
            <p:cNvSpPr/>
            <p:nvPr/>
          </p:nvSpPr>
          <p:spPr>
            <a:xfrm>
              <a:off x="720" y="1163"/>
              <a:ext cx="192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26" name="Text Box 28"/>
            <p:cNvSpPr txBox="1"/>
            <p:nvPr/>
          </p:nvSpPr>
          <p:spPr>
            <a:xfrm>
              <a:off x="192" y="1008"/>
              <a:ext cx="57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Head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9727" name="Group 30"/>
            <p:cNvGrpSpPr/>
            <p:nvPr/>
          </p:nvGrpSpPr>
          <p:grpSpPr>
            <a:xfrm>
              <a:off x="1488" y="1008"/>
              <a:ext cx="432" cy="233"/>
              <a:chOff x="912" y="1008"/>
              <a:chExt cx="432" cy="233"/>
            </a:xfrm>
          </p:grpSpPr>
          <p:sp>
            <p:nvSpPr>
              <p:cNvPr id="29753" name="Text Box 31"/>
              <p:cNvSpPr txBox="1"/>
              <p:nvPr/>
            </p:nvSpPr>
            <p:spPr>
              <a:xfrm>
                <a:off x="912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54" name="Rectangle 32"/>
              <p:cNvSpPr/>
              <p:nvPr/>
            </p:nvSpPr>
            <p:spPr>
              <a:xfrm>
                <a:off x="1152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28" name="Line 33"/>
            <p:cNvSpPr/>
            <p:nvPr/>
          </p:nvSpPr>
          <p:spPr>
            <a:xfrm>
              <a:off x="1824" y="1152"/>
              <a:ext cx="24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9729" name="Group 58"/>
            <p:cNvGrpSpPr/>
            <p:nvPr/>
          </p:nvGrpSpPr>
          <p:grpSpPr>
            <a:xfrm>
              <a:off x="2064" y="1008"/>
              <a:ext cx="432" cy="233"/>
              <a:chOff x="912" y="1008"/>
              <a:chExt cx="432" cy="233"/>
            </a:xfrm>
          </p:grpSpPr>
          <p:sp>
            <p:nvSpPr>
              <p:cNvPr id="29751" name="Text Box 59"/>
              <p:cNvSpPr txBox="1"/>
              <p:nvPr/>
            </p:nvSpPr>
            <p:spPr>
              <a:xfrm>
                <a:off x="912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S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52" name="Rectangle 60"/>
              <p:cNvSpPr/>
              <p:nvPr/>
            </p:nvSpPr>
            <p:spPr>
              <a:xfrm>
                <a:off x="1152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30" name="Line 61"/>
            <p:cNvSpPr/>
            <p:nvPr/>
          </p:nvSpPr>
          <p:spPr>
            <a:xfrm>
              <a:off x="2400" y="1152"/>
              <a:ext cx="24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9731" name="Group 62"/>
            <p:cNvGrpSpPr/>
            <p:nvPr/>
          </p:nvGrpSpPr>
          <p:grpSpPr>
            <a:xfrm>
              <a:off x="2640" y="1008"/>
              <a:ext cx="432" cy="233"/>
              <a:chOff x="912" y="1008"/>
              <a:chExt cx="432" cy="233"/>
            </a:xfrm>
          </p:grpSpPr>
          <p:sp>
            <p:nvSpPr>
              <p:cNvPr id="29749" name="Text Box 63"/>
              <p:cNvSpPr txBox="1"/>
              <p:nvPr/>
            </p:nvSpPr>
            <p:spPr>
              <a:xfrm>
                <a:off x="912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T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50" name="Rectangle 64"/>
              <p:cNvSpPr/>
              <p:nvPr/>
            </p:nvSpPr>
            <p:spPr>
              <a:xfrm>
                <a:off x="1152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32" name="Line 65"/>
            <p:cNvSpPr/>
            <p:nvPr/>
          </p:nvSpPr>
          <p:spPr>
            <a:xfrm>
              <a:off x="2976" y="1152"/>
              <a:ext cx="24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9733" name="Group 66"/>
            <p:cNvGrpSpPr/>
            <p:nvPr/>
          </p:nvGrpSpPr>
          <p:grpSpPr>
            <a:xfrm>
              <a:off x="3216" y="1008"/>
              <a:ext cx="432" cy="233"/>
              <a:chOff x="912" y="1008"/>
              <a:chExt cx="432" cy="233"/>
            </a:xfrm>
          </p:grpSpPr>
          <p:sp>
            <p:nvSpPr>
              <p:cNvPr id="29747" name="Text Box 67"/>
              <p:cNvSpPr txBox="1"/>
              <p:nvPr/>
            </p:nvSpPr>
            <p:spPr>
              <a:xfrm>
                <a:off x="912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R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48" name="Rectangle 68"/>
              <p:cNvSpPr/>
              <p:nvPr/>
            </p:nvSpPr>
            <p:spPr>
              <a:xfrm>
                <a:off x="1152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34" name="Line 69"/>
            <p:cNvSpPr/>
            <p:nvPr/>
          </p:nvSpPr>
          <p:spPr>
            <a:xfrm>
              <a:off x="3552" y="1152"/>
              <a:ext cx="24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9735" name="Group 70"/>
            <p:cNvGrpSpPr/>
            <p:nvPr/>
          </p:nvGrpSpPr>
          <p:grpSpPr>
            <a:xfrm>
              <a:off x="3792" y="1008"/>
              <a:ext cx="432" cy="233"/>
              <a:chOff x="912" y="1008"/>
              <a:chExt cx="432" cy="233"/>
            </a:xfrm>
          </p:grpSpPr>
          <p:sp>
            <p:nvSpPr>
              <p:cNvPr id="29745" name="Text Box 71"/>
              <p:cNvSpPr txBox="1"/>
              <p:nvPr/>
            </p:nvSpPr>
            <p:spPr>
              <a:xfrm>
                <a:off x="912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I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46" name="Rectangle 72"/>
              <p:cNvSpPr/>
              <p:nvPr/>
            </p:nvSpPr>
            <p:spPr>
              <a:xfrm>
                <a:off x="1152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36" name="Line 73"/>
            <p:cNvSpPr/>
            <p:nvPr/>
          </p:nvSpPr>
          <p:spPr>
            <a:xfrm>
              <a:off x="4128" y="1152"/>
              <a:ext cx="24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9737" name="Group 74"/>
            <p:cNvGrpSpPr/>
            <p:nvPr/>
          </p:nvGrpSpPr>
          <p:grpSpPr>
            <a:xfrm>
              <a:off x="4368" y="1008"/>
              <a:ext cx="432" cy="233"/>
              <a:chOff x="912" y="1008"/>
              <a:chExt cx="432" cy="233"/>
            </a:xfrm>
          </p:grpSpPr>
          <p:sp>
            <p:nvSpPr>
              <p:cNvPr id="29743" name="Text Box 75"/>
              <p:cNvSpPr txBox="1"/>
              <p:nvPr/>
            </p:nvSpPr>
            <p:spPr>
              <a:xfrm>
                <a:off x="912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N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44" name="Rectangle 76"/>
              <p:cNvSpPr/>
              <p:nvPr/>
            </p:nvSpPr>
            <p:spPr>
              <a:xfrm>
                <a:off x="1152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38" name="Line 77"/>
            <p:cNvSpPr/>
            <p:nvPr/>
          </p:nvSpPr>
          <p:spPr>
            <a:xfrm>
              <a:off x="4704" y="1152"/>
              <a:ext cx="24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9739" name="Group 82"/>
            <p:cNvGrpSpPr/>
            <p:nvPr/>
          </p:nvGrpSpPr>
          <p:grpSpPr>
            <a:xfrm>
              <a:off x="4944" y="1008"/>
              <a:ext cx="432" cy="233"/>
              <a:chOff x="4944" y="1008"/>
              <a:chExt cx="432" cy="233"/>
            </a:xfrm>
          </p:grpSpPr>
          <p:sp>
            <p:nvSpPr>
              <p:cNvPr id="29741" name="Text Box 79"/>
              <p:cNvSpPr txBox="1"/>
              <p:nvPr/>
            </p:nvSpPr>
            <p:spPr>
              <a:xfrm>
                <a:off x="4944" y="1008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G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42" name="Rectangle 80"/>
              <p:cNvSpPr/>
              <p:nvPr/>
            </p:nvSpPr>
            <p:spPr>
              <a:xfrm>
                <a:off x="5184" y="1008"/>
                <a:ext cx="192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40" name="Text Box 83"/>
            <p:cNvSpPr txBox="1"/>
            <p:nvPr/>
          </p:nvSpPr>
          <p:spPr>
            <a:xfrm>
              <a:off x="5136" y="1008"/>
              <a:ext cx="28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∧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131"/>
          <p:cNvGrpSpPr/>
          <p:nvPr/>
        </p:nvGrpSpPr>
        <p:grpSpPr>
          <a:xfrm>
            <a:off x="609600" y="2366963"/>
            <a:ext cx="5451475" cy="387350"/>
            <a:chOff x="288" y="1429"/>
            <a:chExt cx="3434" cy="244"/>
          </a:xfrm>
        </p:grpSpPr>
        <p:sp>
          <p:nvSpPr>
            <p:cNvPr id="29707" name="Line 89"/>
            <p:cNvSpPr/>
            <p:nvPr/>
          </p:nvSpPr>
          <p:spPr>
            <a:xfrm>
              <a:off x="2112" y="1584"/>
              <a:ext cx="384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8" name="Line 90"/>
            <p:cNvSpPr/>
            <p:nvPr/>
          </p:nvSpPr>
          <p:spPr>
            <a:xfrm>
              <a:off x="816" y="1595"/>
              <a:ext cx="192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9" name="Text Box 91"/>
            <p:cNvSpPr txBox="1"/>
            <p:nvPr/>
          </p:nvSpPr>
          <p:spPr>
            <a:xfrm>
              <a:off x="288" y="1440"/>
              <a:ext cx="57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Head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0" name="Text Box 119"/>
            <p:cNvSpPr txBox="1"/>
            <p:nvPr/>
          </p:nvSpPr>
          <p:spPr>
            <a:xfrm>
              <a:off x="3434" y="1429"/>
              <a:ext cx="28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∧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9711" name="Group 124"/>
            <p:cNvGrpSpPr/>
            <p:nvPr/>
          </p:nvGrpSpPr>
          <p:grpSpPr>
            <a:xfrm>
              <a:off x="1008" y="1440"/>
              <a:ext cx="1200" cy="233"/>
              <a:chOff x="1008" y="1440"/>
              <a:chExt cx="1200" cy="233"/>
            </a:xfrm>
          </p:grpSpPr>
          <p:sp>
            <p:nvSpPr>
              <p:cNvPr id="29718" name="Text Box 87"/>
              <p:cNvSpPr txBox="1"/>
              <p:nvPr/>
            </p:nvSpPr>
            <p:spPr>
              <a:xfrm>
                <a:off x="100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A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19" name="Rectangle 88"/>
              <p:cNvSpPr/>
              <p:nvPr/>
            </p:nvSpPr>
            <p:spPr>
              <a:xfrm>
                <a:off x="196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20" name="Text Box 120"/>
              <p:cNvSpPr txBox="1"/>
              <p:nvPr/>
            </p:nvSpPr>
            <p:spPr>
              <a:xfrm>
                <a:off x="124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21" name="Text Box 121"/>
              <p:cNvSpPr txBox="1"/>
              <p:nvPr/>
            </p:nvSpPr>
            <p:spPr>
              <a:xfrm>
                <a:off x="148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S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22" name="Text Box 122"/>
              <p:cNvSpPr txBox="1"/>
              <p:nvPr/>
            </p:nvSpPr>
            <p:spPr>
              <a:xfrm>
                <a:off x="172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T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9712" name="Group 125"/>
            <p:cNvGrpSpPr/>
            <p:nvPr/>
          </p:nvGrpSpPr>
          <p:grpSpPr>
            <a:xfrm>
              <a:off x="2496" y="1440"/>
              <a:ext cx="1200" cy="233"/>
              <a:chOff x="1008" y="1440"/>
              <a:chExt cx="1200" cy="233"/>
            </a:xfrm>
          </p:grpSpPr>
          <p:sp>
            <p:nvSpPr>
              <p:cNvPr id="29713" name="Text Box 126"/>
              <p:cNvSpPr txBox="1"/>
              <p:nvPr/>
            </p:nvSpPr>
            <p:spPr>
              <a:xfrm>
                <a:off x="100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R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14" name="Rectangle 127"/>
              <p:cNvSpPr/>
              <p:nvPr/>
            </p:nvSpPr>
            <p:spPr>
              <a:xfrm>
                <a:off x="196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15" name="Text Box 128"/>
              <p:cNvSpPr txBox="1"/>
              <p:nvPr/>
            </p:nvSpPr>
            <p:spPr>
              <a:xfrm>
                <a:off x="124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I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16" name="Text Box 129"/>
              <p:cNvSpPr txBox="1"/>
              <p:nvPr/>
            </p:nvSpPr>
            <p:spPr>
              <a:xfrm>
                <a:off x="148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N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717" name="Text Box 130"/>
              <p:cNvSpPr txBox="1"/>
              <p:nvPr/>
            </p:nvSpPr>
            <p:spPr>
              <a:xfrm>
                <a:off x="1728" y="1440"/>
                <a:ext cx="240" cy="233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G</a:t>
                </a:r>
                <a:endPara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6" name="AutoShape 132"/>
          <p:cNvSpPr/>
          <p:nvPr/>
        </p:nvSpPr>
        <p:spPr>
          <a:xfrm>
            <a:off x="1004888" y="3052763"/>
            <a:ext cx="5000625" cy="1906587"/>
          </a:xfrm>
          <a:prstGeom prst="foldedCorner">
            <a:avLst>
              <a:gd name="adj" fmla="val 8556"/>
            </a:avLst>
          </a:prstGeom>
          <a:solidFill>
            <a:srgbClr val="CCFFFF"/>
          </a:solidFill>
          <a:ln w="952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#define  NODELEN   user_supply  </a:t>
            </a: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1800" b="0" dirty="0">
                <a:solidFill>
                  <a:srgbClr val="00B050"/>
                </a:solidFill>
                <a:ea typeface="宋体" panose="02010600030101010101" pitchFamily="2" charset="-122"/>
              </a:rPr>
              <a:t>最大长度</a:t>
            </a:r>
            <a:endParaRPr lang="en-US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typedef    struct   node {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char  ch;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800" b="0" dirty="0">
                <a:solidFill>
                  <a:srgbClr val="FF0066"/>
                </a:solidFill>
                <a:ea typeface="宋体" panose="02010600030101010101" pitchFamily="2" charset="-122"/>
              </a:rPr>
              <a:t>//  char  ch [NODELEN]; </a:t>
            </a: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1800" b="0" dirty="0">
                <a:solidFill>
                  <a:srgbClr val="00B050"/>
                </a:solidFill>
                <a:ea typeface="宋体" panose="02010600030101010101" pitchFamily="2" charset="-122"/>
              </a:rPr>
              <a:t>块大小</a:t>
            </a:r>
            <a:endParaRPr lang="en-US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 struct  node  *next;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} node,  * pointer;                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7" name="Text Box 134"/>
          <p:cNvSpPr txBox="1"/>
          <p:nvPr/>
        </p:nvSpPr>
        <p:spPr>
          <a:xfrm>
            <a:off x="6010275" y="2366963"/>
            <a:ext cx="29194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>
                <a:solidFill>
                  <a:srgbClr val="FF0066"/>
                </a:solidFill>
                <a:ea typeface="宋体" panose="02010600030101010101" pitchFamily="2" charset="-122"/>
              </a:rPr>
              <a:t>（块链结构）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29702" name="直接连接符 71"/>
          <p:cNvCxnSpPr/>
          <p:nvPr/>
        </p:nvCxnSpPr>
        <p:spPr>
          <a:xfrm>
            <a:off x="142875" y="2857500"/>
            <a:ext cx="8858250" cy="1588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9703" name="TextBox 74"/>
          <p:cNvSpPr txBox="1"/>
          <p:nvPr/>
        </p:nvSpPr>
        <p:spPr>
          <a:xfrm>
            <a:off x="1952625" y="5410200"/>
            <a:ext cx="7651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FF0000"/>
                </a:solidFill>
                <a:ea typeface="宋体" panose="02010600030101010101" pitchFamily="2" charset="-122"/>
              </a:rPr>
              <a:t>(A)</a:t>
            </a:r>
            <a:endParaRPr lang="zh-CN" altLang="en-US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7" name="AutoShape 2"/>
          <p:cNvSpPr/>
          <p:nvPr/>
        </p:nvSpPr>
        <p:spPr>
          <a:xfrm>
            <a:off x="1004888" y="4981575"/>
            <a:ext cx="5000625" cy="1420813"/>
          </a:xfrm>
          <a:prstGeom prst="foldedCorner">
            <a:avLst>
              <a:gd name="adj" fmla="val 15681"/>
            </a:avLst>
          </a:prstGeom>
          <a:solidFill>
            <a:srgbClr val="CCFFFF"/>
          </a:solidFill>
          <a:ln w="952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typedef   struct    {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pointer   head, tail;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int   length;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} linkedstring;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9705" name="Text Box 4"/>
          <p:cNvSpPr txBox="1"/>
          <p:nvPr/>
        </p:nvSpPr>
        <p:spPr>
          <a:xfrm>
            <a:off x="428625" y="415925"/>
            <a:ext cx="7472363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bg2"/>
                </a:solidFill>
                <a:ea typeface="华文新魏" panose="02010800040101010101" pitchFamily="2" charset="-122"/>
              </a:rPr>
              <a:t>  </a:t>
            </a:r>
            <a:r>
              <a:rPr lang="zh-CN" altLang="en-US" sz="2800" dirty="0">
                <a:solidFill>
                  <a:schemeClr val="bg2"/>
                </a:solidFill>
                <a:ea typeface="华文新魏" panose="02010800040101010101" pitchFamily="2" charset="-122"/>
              </a:rPr>
              <a:t>串的存储结构</a:t>
            </a:r>
            <a:r>
              <a:rPr lang="en-US" altLang="zh-CN" sz="2800" b="0" dirty="0">
                <a:solidFill>
                  <a:schemeClr val="bg2"/>
                </a:solidFill>
                <a:ea typeface="华文新魏" panose="02010800040101010101" pitchFamily="2" charset="-122"/>
              </a:rPr>
              <a:t>                              </a:t>
            </a:r>
            <a:endParaRPr lang="en-US" altLang="zh-CN" sz="2800" b="0" dirty="0">
              <a:solidFill>
                <a:schemeClr val="bg2"/>
              </a:solidFill>
              <a:ea typeface="华文新魏" panose="0201080004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dirty="0">
                <a:solidFill>
                  <a:schemeClr val="bg2"/>
                </a:solidFill>
                <a:ea typeface="华文新魏" panose="02010800040101010101" pitchFamily="2" charset="-122"/>
              </a:rPr>
              <a:t>                                          </a:t>
            </a:r>
            <a:r>
              <a:rPr lang="en-US" altLang="zh-CN" sz="2800" b="0" dirty="0">
                <a:solidFill>
                  <a:srgbClr val="0070C0"/>
                </a:solidFill>
                <a:ea typeface="华文新魏" panose="02010800040101010101" pitchFamily="2" charset="-122"/>
              </a:rPr>
              <a:t>—</a:t>
            </a:r>
            <a:r>
              <a:rPr lang="zh-CN" altLang="en-US" sz="2800" b="0" dirty="0">
                <a:solidFill>
                  <a:srgbClr val="0070C0"/>
                </a:solidFill>
                <a:ea typeface="华文新魏" panose="02010800040101010101" pitchFamily="2" charset="-122"/>
              </a:rPr>
              <a:t>块链存储表示</a:t>
            </a:r>
            <a:endParaRPr lang="en-US" altLang="zh-CN" sz="2800" b="0" dirty="0">
              <a:solidFill>
                <a:srgbClr val="0070C0"/>
              </a:solidFill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3284538"/>
            <a:ext cx="29051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ea"/>
                <a:ea typeface="+mn-ea"/>
                <a:cs typeface="+mn-cs"/>
              </a:rPr>
              <a:t>存储密度：</a:t>
            </a:r>
            <a:endParaRPr kumimoji="0" lang="en-US" altLang="zh-CN" sz="24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串值所占存储位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实际分配存储位</a:t>
            </a:r>
            <a:endParaRPr kumimoji="0" lang="zh-CN" altLang="en-US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/>
      <p:bldP spid="7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串的定义</a:t>
            </a:r>
            <a:endParaRPr lang="en-US" altLang="zh-CN" dirty="0"/>
          </a:p>
          <a:p>
            <a:r>
              <a:rPr lang="zh-CN" altLang="en-US" dirty="0"/>
              <a:t>串的表示与实现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模式匹配算法</a:t>
            </a:r>
            <a:endParaRPr lang="tr-TR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串的模式匹配</a:t>
            </a:r>
            <a:endParaRPr lang="zh-CN" altLang="en-US" dirty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108743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Georgia" panose="02040502050405020303" pitchFamily="18" charset="0"/>
              </a:rPr>
              <a:t>模式匹配</a:t>
            </a:r>
            <a:r>
              <a:rPr lang="zh-CN" altLang="en-US" sz="20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：在主串（源串）中找到与模式串相同的子串，并返回所在位置</a:t>
            </a:r>
            <a:endParaRPr lang="en-US" altLang="zh-CN" sz="2000" dirty="0">
              <a:solidFill>
                <a:schemeClr val="hlink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      </a:t>
            </a:r>
            <a:endParaRPr lang="zh-CN" altLang="en-US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Georgia" panose="02040502050405020303" pitchFamily="18" charset="0"/>
              </a:rPr>
              <a:t>方法：</a:t>
            </a:r>
            <a:r>
              <a:rPr lang="zh-CN" altLang="en-US" sz="2000" dirty="0"/>
              <a:t>将模式字符串</a:t>
            </a:r>
            <a:r>
              <a:rPr lang="en-US" altLang="zh-CN" sz="2000" dirty="0">
                <a:solidFill>
                  <a:srgbClr val="00B050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T</a:t>
            </a:r>
            <a:r>
              <a:rPr lang="zh-CN" altLang="en-US" sz="2000" dirty="0"/>
              <a:t>与主字符串</a:t>
            </a:r>
            <a:r>
              <a:rPr lang="en-US" altLang="zh-CN" sz="2000" dirty="0">
                <a:solidFill>
                  <a:srgbClr val="00B050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S</a:t>
            </a:r>
            <a:r>
              <a:rPr lang="zh-CN" altLang="en-US" sz="2000" dirty="0"/>
              <a:t>从位置</a:t>
            </a:r>
            <a:r>
              <a:rPr lang="en-US" altLang="zh-CN" sz="2000" dirty="0">
                <a:solidFill>
                  <a:srgbClr val="00B050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pos</a:t>
            </a:r>
            <a:r>
              <a:rPr lang="zh-CN" altLang="en-US" sz="2000" dirty="0"/>
              <a:t>开始进行比较</a:t>
            </a:r>
            <a:r>
              <a:rPr lang="zh-CN" altLang="en-US" sz="20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000" dirty="0"/>
              <a:t>如果字符不匹配，则右移模式字符串。</a:t>
            </a:r>
            <a:endParaRPr lang="zh-CN" altLang="en-US" dirty="0"/>
          </a:p>
        </p:txBody>
      </p:sp>
      <p:sp>
        <p:nvSpPr>
          <p:cNvPr id="33796" name="TextBox 3"/>
          <p:cNvSpPr txBox="1"/>
          <p:nvPr/>
        </p:nvSpPr>
        <p:spPr>
          <a:xfrm rot="10800000" flipH="1" flipV="1">
            <a:off x="2212975" y="2532063"/>
            <a:ext cx="4071938" cy="369887"/>
          </a:xfrm>
          <a:prstGeom prst="rect">
            <a:avLst/>
          </a:prstGeom>
          <a:solidFill>
            <a:srgbClr val="99FF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Index   ( String S, String T, int pos) 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Text Box 26"/>
          <p:cNvSpPr txBox="1"/>
          <p:nvPr/>
        </p:nvSpPr>
        <p:spPr>
          <a:xfrm>
            <a:off x="2268538" y="3927475"/>
            <a:ext cx="3651250" cy="862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e.g: S=a  b c  a b c  a b c d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      T= a  b c  a b c  d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7"/>
          <p:cNvGrpSpPr/>
          <p:nvPr/>
        </p:nvGrpSpPr>
        <p:grpSpPr bwMode="auto">
          <a:xfrm>
            <a:off x="3255888" y="4223271"/>
            <a:ext cx="1656184" cy="288032"/>
            <a:chOff x="3984" y="3120"/>
            <a:chExt cx="960" cy="144"/>
          </a:xfrm>
          <a:noFill/>
        </p:grpSpPr>
        <p:grpSp>
          <p:nvGrpSpPr>
            <p:cNvPr id="3" name="Group 28"/>
            <p:cNvGrpSpPr/>
            <p:nvPr/>
          </p:nvGrpSpPr>
          <p:grpSpPr bwMode="auto">
            <a:xfrm>
              <a:off x="4800" y="3120"/>
              <a:ext cx="144" cy="144"/>
              <a:chOff x="4080" y="3744"/>
              <a:chExt cx="144" cy="144"/>
            </a:xfrm>
            <a:grpFill/>
          </p:grpSpPr>
          <p:sp>
            <p:nvSpPr>
              <p:cNvPr id="26" name="Line 29"/>
              <p:cNvSpPr>
                <a:spLocks noChangeShapeType="1"/>
              </p:cNvSpPr>
              <p:nvPr/>
            </p:nvSpPr>
            <p:spPr bwMode="auto">
              <a:xfrm>
                <a:off x="4128" y="3744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Line 30"/>
              <p:cNvSpPr>
                <a:spLocks noChangeShapeType="1"/>
              </p:cNvSpPr>
              <p:nvPr/>
            </p:nvSpPr>
            <p:spPr bwMode="auto">
              <a:xfrm>
                <a:off x="4176" y="3744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Line 31"/>
              <p:cNvSpPr>
                <a:spLocks noChangeShapeType="1"/>
              </p:cNvSpPr>
              <p:nvPr/>
            </p:nvSpPr>
            <p:spPr bwMode="auto">
              <a:xfrm>
                <a:off x="4080" y="3792"/>
                <a:ext cx="144" cy="48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" name="Group 32"/>
            <p:cNvGrpSpPr/>
            <p:nvPr/>
          </p:nvGrpSpPr>
          <p:grpSpPr bwMode="auto">
            <a:xfrm>
              <a:off x="3984" y="3120"/>
              <a:ext cx="48" cy="144"/>
              <a:chOff x="3552" y="3888"/>
              <a:chExt cx="48" cy="144"/>
            </a:xfrm>
            <a:grpFill/>
          </p:grpSpPr>
          <p:sp>
            <p:nvSpPr>
              <p:cNvPr id="24" name="Line 33"/>
              <p:cNvSpPr>
                <a:spLocks noChangeShapeType="1"/>
              </p:cNvSpPr>
              <p:nvPr/>
            </p:nvSpPr>
            <p:spPr bwMode="auto">
              <a:xfrm>
                <a:off x="3600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Line 34"/>
              <p:cNvSpPr>
                <a:spLocks noChangeShapeType="1"/>
              </p:cNvSpPr>
              <p:nvPr/>
            </p:nvSpPr>
            <p:spPr bwMode="auto">
              <a:xfrm>
                <a:off x="3552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Group 35"/>
            <p:cNvGrpSpPr/>
            <p:nvPr/>
          </p:nvGrpSpPr>
          <p:grpSpPr bwMode="auto">
            <a:xfrm>
              <a:off x="4128" y="3120"/>
              <a:ext cx="48" cy="144"/>
              <a:chOff x="3552" y="3888"/>
              <a:chExt cx="48" cy="144"/>
            </a:xfrm>
            <a:grpFill/>
          </p:grpSpPr>
          <p:sp>
            <p:nvSpPr>
              <p:cNvPr id="22" name="Line 36"/>
              <p:cNvSpPr>
                <a:spLocks noChangeShapeType="1"/>
              </p:cNvSpPr>
              <p:nvPr/>
            </p:nvSpPr>
            <p:spPr bwMode="auto">
              <a:xfrm>
                <a:off x="3600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Line 37"/>
              <p:cNvSpPr>
                <a:spLocks noChangeShapeType="1"/>
              </p:cNvSpPr>
              <p:nvPr/>
            </p:nvSpPr>
            <p:spPr bwMode="auto">
              <a:xfrm>
                <a:off x="3552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" name="Group 38"/>
            <p:cNvGrpSpPr/>
            <p:nvPr/>
          </p:nvGrpSpPr>
          <p:grpSpPr bwMode="auto">
            <a:xfrm>
              <a:off x="4272" y="3120"/>
              <a:ext cx="48" cy="144"/>
              <a:chOff x="3552" y="3888"/>
              <a:chExt cx="48" cy="144"/>
            </a:xfrm>
            <a:grpFill/>
          </p:grpSpPr>
          <p:sp>
            <p:nvSpPr>
              <p:cNvPr id="20" name="Line 39"/>
              <p:cNvSpPr>
                <a:spLocks noChangeShapeType="1"/>
              </p:cNvSpPr>
              <p:nvPr/>
            </p:nvSpPr>
            <p:spPr bwMode="auto">
              <a:xfrm>
                <a:off x="3600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Line 40"/>
              <p:cNvSpPr>
                <a:spLocks noChangeShapeType="1"/>
              </p:cNvSpPr>
              <p:nvPr/>
            </p:nvSpPr>
            <p:spPr bwMode="auto">
              <a:xfrm>
                <a:off x="3552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8" name="Group 41"/>
            <p:cNvGrpSpPr/>
            <p:nvPr/>
          </p:nvGrpSpPr>
          <p:grpSpPr bwMode="auto">
            <a:xfrm>
              <a:off x="4416" y="3120"/>
              <a:ext cx="48" cy="144"/>
              <a:chOff x="3552" y="3888"/>
              <a:chExt cx="48" cy="144"/>
            </a:xfrm>
            <a:grpFill/>
          </p:grpSpPr>
          <p:sp>
            <p:nvSpPr>
              <p:cNvPr id="18" name="Line 42"/>
              <p:cNvSpPr>
                <a:spLocks noChangeShapeType="1"/>
              </p:cNvSpPr>
              <p:nvPr/>
            </p:nvSpPr>
            <p:spPr bwMode="auto">
              <a:xfrm>
                <a:off x="3600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Line 43"/>
              <p:cNvSpPr>
                <a:spLocks noChangeShapeType="1"/>
              </p:cNvSpPr>
              <p:nvPr/>
            </p:nvSpPr>
            <p:spPr bwMode="auto">
              <a:xfrm>
                <a:off x="3552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" name="Group 44"/>
            <p:cNvGrpSpPr/>
            <p:nvPr/>
          </p:nvGrpSpPr>
          <p:grpSpPr bwMode="auto">
            <a:xfrm>
              <a:off x="4560" y="3120"/>
              <a:ext cx="48" cy="144"/>
              <a:chOff x="3552" y="3888"/>
              <a:chExt cx="48" cy="144"/>
            </a:xfrm>
            <a:grpFill/>
          </p:grpSpPr>
          <p:sp>
            <p:nvSpPr>
              <p:cNvPr id="16" name="Line 45"/>
              <p:cNvSpPr>
                <a:spLocks noChangeShapeType="1"/>
              </p:cNvSpPr>
              <p:nvPr/>
            </p:nvSpPr>
            <p:spPr bwMode="auto">
              <a:xfrm>
                <a:off x="3600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Line 46"/>
              <p:cNvSpPr>
                <a:spLocks noChangeShapeType="1"/>
              </p:cNvSpPr>
              <p:nvPr/>
            </p:nvSpPr>
            <p:spPr bwMode="auto">
              <a:xfrm>
                <a:off x="3552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" name="Group 47"/>
            <p:cNvGrpSpPr/>
            <p:nvPr/>
          </p:nvGrpSpPr>
          <p:grpSpPr bwMode="auto">
            <a:xfrm>
              <a:off x="4704" y="3120"/>
              <a:ext cx="48" cy="144"/>
              <a:chOff x="3552" y="3888"/>
              <a:chExt cx="48" cy="144"/>
            </a:xfrm>
            <a:grpFill/>
          </p:grpSpPr>
          <p:sp>
            <p:nvSpPr>
              <p:cNvPr id="14" name="Line 48"/>
              <p:cNvSpPr>
                <a:spLocks noChangeShapeType="1"/>
              </p:cNvSpPr>
              <p:nvPr/>
            </p:nvSpPr>
            <p:spPr bwMode="auto">
              <a:xfrm>
                <a:off x="3600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Line 49"/>
              <p:cNvSpPr>
                <a:spLocks noChangeShapeType="1"/>
              </p:cNvSpPr>
              <p:nvPr/>
            </p:nvSpPr>
            <p:spPr bwMode="auto">
              <a:xfrm>
                <a:off x="3552" y="3888"/>
                <a:ext cx="0" cy="144"/>
              </a:xfrm>
              <a:prstGeom prst="line">
                <a:avLst/>
              </a:prstGeom>
              <a:grpFill/>
              <a:ln w="38100">
                <a:solidFill>
                  <a:srgbClr val="FFC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9" name="AutoShape 50"/>
          <p:cNvSpPr/>
          <p:nvPr/>
        </p:nvSpPr>
        <p:spPr>
          <a:xfrm>
            <a:off x="3373438" y="5211763"/>
            <a:ext cx="457200" cy="381000"/>
          </a:xfrm>
          <a:prstGeom prst="upArrow">
            <a:avLst>
              <a:gd name="adj1" fmla="val 29166"/>
              <a:gd name="adj2" fmla="val 30000"/>
            </a:avLst>
          </a:prstGeom>
          <a:noFill/>
          <a:ln w="9525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" name="Text Box 51"/>
          <p:cNvSpPr txBox="1"/>
          <p:nvPr/>
        </p:nvSpPr>
        <p:spPr>
          <a:xfrm>
            <a:off x="2268538" y="5588000"/>
            <a:ext cx="3657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将模式右移一个位置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30588" y="4872038"/>
            <a:ext cx="16986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a  b c  a b  c d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 animBg="1"/>
      <p:bldP spid="3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500063" y="285750"/>
            <a:ext cx="8229600" cy="642938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模式匹配过程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8130" name="矩形 3"/>
          <p:cNvSpPr/>
          <p:nvPr/>
        </p:nvSpPr>
        <p:spPr>
          <a:xfrm>
            <a:off x="1357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1" name="矩形 6"/>
          <p:cNvSpPr/>
          <p:nvPr/>
        </p:nvSpPr>
        <p:spPr>
          <a:xfrm>
            <a:off x="1643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2" name="矩形 7"/>
          <p:cNvSpPr/>
          <p:nvPr/>
        </p:nvSpPr>
        <p:spPr>
          <a:xfrm>
            <a:off x="1928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3" name="矩形 8"/>
          <p:cNvSpPr/>
          <p:nvPr/>
        </p:nvSpPr>
        <p:spPr>
          <a:xfrm>
            <a:off x="2214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4" name="矩形 9"/>
          <p:cNvSpPr/>
          <p:nvPr/>
        </p:nvSpPr>
        <p:spPr>
          <a:xfrm>
            <a:off x="2500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5" name="矩形 10"/>
          <p:cNvSpPr/>
          <p:nvPr/>
        </p:nvSpPr>
        <p:spPr>
          <a:xfrm>
            <a:off x="2786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6" name="矩形 11"/>
          <p:cNvSpPr/>
          <p:nvPr/>
        </p:nvSpPr>
        <p:spPr>
          <a:xfrm>
            <a:off x="3071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7" name="矩形 12"/>
          <p:cNvSpPr/>
          <p:nvPr/>
        </p:nvSpPr>
        <p:spPr>
          <a:xfrm>
            <a:off x="3357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8" name="矩形 13"/>
          <p:cNvSpPr/>
          <p:nvPr/>
        </p:nvSpPr>
        <p:spPr>
          <a:xfrm>
            <a:off x="3643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9" name="矩形 14"/>
          <p:cNvSpPr/>
          <p:nvPr/>
        </p:nvSpPr>
        <p:spPr>
          <a:xfrm>
            <a:off x="1357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0" name="矩形 15"/>
          <p:cNvSpPr/>
          <p:nvPr/>
        </p:nvSpPr>
        <p:spPr>
          <a:xfrm>
            <a:off x="1643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1" name="矩形 16"/>
          <p:cNvSpPr/>
          <p:nvPr/>
        </p:nvSpPr>
        <p:spPr>
          <a:xfrm>
            <a:off x="1928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2" name="矩形 17"/>
          <p:cNvSpPr/>
          <p:nvPr/>
        </p:nvSpPr>
        <p:spPr>
          <a:xfrm>
            <a:off x="2214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3" name="矩形 18"/>
          <p:cNvSpPr/>
          <p:nvPr/>
        </p:nvSpPr>
        <p:spPr>
          <a:xfrm>
            <a:off x="2500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4" name="矩形 19"/>
          <p:cNvSpPr/>
          <p:nvPr/>
        </p:nvSpPr>
        <p:spPr>
          <a:xfrm>
            <a:off x="2786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5" name="任意多边形 48"/>
          <p:cNvSpPr/>
          <p:nvPr/>
        </p:nvSpPr>
        <p:spPr>
          <a:xfrm>
            <a:off x="2828925" y="1582738"/>
            <a:ext cx="200025" cy="287337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087"/>
              </a:cxn>
              <a:cxn ang="0">
                <a:pos x="56877" y="285087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146" name="TextBox 49"/>
          <p:cNvSpPr txBox="1"/>
          <p:nvPr/>
        </p:nvSpPr>
        <p:spPr>
          <a:xfrm>
            <a:off x="2749550" y="9286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7" name="TextBox 50"/>
          <p:cNvSpPr txBox="1"/>
          <p:nvPr/>
        </p:nvSpPr>
        <p:spPr>
          <a:xfrm>
            <a:off x="2714625" y="21621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8" name="矩形 51"/>
          <p:cNvSpPr/>
          <p:nvPr/>
        </p:nvSpPr>
        <p:spPr>
          <a:xfrm>
            <a:off x="5072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49" name="矩形 52"/>
          <p:cNvSpPr/>
          <p:nvPr/>
        </p:nvSpPr>
        <p:spPr>
          <a:xfrm>
            <a:off x="5357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0" name="矩形 53"/>
          <p:cNvSpPr/>
          <p:nvPr/>
        </p:nvSpPr>
        <p:spPr>
          <a:xfrm>
            <a:off x="5643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1" name="矩形 54"/>
          <p:cNvSpPr/>
          <p:nvPr/>
        </p:nvSpPr>
        <p:spPr>
          <a:xfrm>
            <a:off x="5929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2" name="矩形 55"/>
          <p:cNvSpPr/>
          <p:nvPr/>
        </p:nvSpPr>
        <p:spPr>
          <a:xfrm>
            <a:off x="6215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3" name="矩形 56"/>
          <p:cNvSpPr/>
          <p:nvPr/>
        </p:nvSpPr>
        <p:spPr>
          <a:xfrm>
            <a:off x="6500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4" name="矩形 57"/>
          <p:cNvSpPr/>
          <p:nvPr/>
        </p:nvSpPr>
        <p:spPr>
          <a:xfrm>
            <a:off x="6786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5" name="矩形 58"/>
          <p:cNvSpPr/>
          <p:nvPr/>
        </p:nvSpPr>
        <p:spPr>
          <a:xfrm>
            <a:off x="7072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6" name="矩形 59"/>
          <p:cNvSpPr/>
          <p:nvPr/>
        </p:nvSpPr>
        <p:spPr>
          <a:xfrm>
            <a:off x="7358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7" name="矩形 60"/>
          <p:cNvSpPr/>
          <p:nvPr/>
        </p:nvSpPr>
        <p:spPr>
          <a:xfrm>
            <a:off x="5357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8" name="矩形 61"/>
          <p:cNvSpPr/>
          <p:nvPr/>
        </p:nvSpPr>
        <p:spPr>
          <a:xfrm>
            <a:off x="5643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59" name="矩形 62"/>
          <p:cNvSpPr/>
          <p:nvPr/>
        </p:nvSpPr>
        <p:spPr>
          <a:xfrm>
            <a:off x="5929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0" name="矩形 63"/>
          <p:cNvSpPr/>
          <p:nvPr/>
        </p:nvSpPr>
        <p:spPr>
          <a:xfrm>
            <a:off x="6215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1" name="矩形 64"/>
          <p:cNvSpPr/>
          <p:nvPr/>
        </p:nvSpPr>
        <p:spPr>
          <a:xfrm>
            <a:off x="6500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2" name="矩形 65"/>
          <p:cNvSpPr/>
          <p:nvPr/>
        </p:nvSpPr>
        <p:spPr>
          <a:xfrm>
            <a:off x="6786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3" name="任意多边形 66"/>
          <p:cNvSpPr/>
          <p:nvPr/>
        </p:nvSpPr>
        <p:spPr>
          <a:xfrm>
            <a:off x="5429250" y="1582738"/>
            <a:ext cx="200025" cy="287337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087"/>
              </a:cxn>
              <a:cxn ang="0">
                <a:pos x="56877" y="285087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164" name="TextBox 67"/>
          <p:cNvSpPr txBox="1"/>
          <p:nvPr/>
        </p:nvSpPr>
        <p:spPr>
          <a:xfrm>
            <a:off x="5286375" y="9286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i=2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5" name="TextBox 68"/>
          <p:cNvSpPr txBox="1"/>
          <p:nvPr/>
        </p:nvSpPr>
        <p:spPr>
          <a:xfrm>
            <a:off x="5286375" y="21621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6" name="矩形 69"/>
          <p:cNvSpPr/>
          <p:nvPr/>
        </p:nvSpPr>
        <p:spPr>
          <a:xfrm>
            <a:off x="13573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7" name="矩形 70"/>
          <p:cNvSpPr/>
          <p:nvPr/>
        </p:nvSpPr>
        <p:spPr>
          <a:xfrm>
            <a:off x="16430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8" name="矩形 71"/>
          <p:cNvSpPr/>
          <p:nvPr/>
        </p:nvSpPr>
        <p:spPr>
          <a:xfrm>
            <a:off x="19288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69" name="矩形 72"/>
          <p:cNvSpPr/>
          <p:nvPr/>
        </p:nvSpPr>
        <p:spPr>
          <a:xfrm>
            <a:off x="22145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0" name="矩形 73"/>
          <p:cNvSpPr/>
          <p:nvPr/>
        </p:nvSpPr>
        <p:spPr>
          <a:xfrm>
            <a:off x="25003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1" name="矩形 74"/>
          <p:cNvSpPr/>
          <p:nvPr/>
        </p:nvSpPr>
        <p:spPr>
          <a:xfrm>
            <a:off x="27860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2" name="矩形 75"/>
          <p:cNvSpPr/>
          <p:nvPr/>
        </p:nvSpPr>
        <p:spPr>
          <a:xfrm>
            <a:off x="30718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3" name="矩形 76"/>
          <p:cNvSpPr/>
          <p:nvPr/>
        </p:nvSpPr>
        <p:spPr>
          <a:xfrm>
            <a:off x="33575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4" name="矩形 77"/>
          <p:cNvSpPr/>
          <p:nvPr/>
        </p:nvSpPr>
        <p:spPr>
          <a:xfrm>
            <a:off x="36433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5" name="矩形 78"/>
          <p:cNvSpPr/>
          <p:nvPr/>
        </p:nvSpPr>
        <p:spPr>
          <a:xfrm>
            <a:off x="1857375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6" name="矩形 79"/>
          <p:cNvSpPr/>
          <p:nvPr/>
        </p:nvSpPr>
        <p:spPr>
          <a:xfrm>
            <a:off x="2143125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7" name="矩形 80"/>
          <p:cNvSpPr/>
          <p:nvPr/>
        </p:nvSpPr>
        <p:spPr>
          <a:xfrm>
            <a:off x="2428875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8" name="矩形 81"/>
          <p:cNvSpPr/>
          <p:nvPr/>
        </p:nvSpPr>
        <p:spPr>
          <a:xfrm>
            <a:off x="2714625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79" name="矩形 82"/>
          <p:cNvSpPr/>
          <p:nvPr/>
        </p:nvSpPr>
        <p:spPr>
          <a:xfrm>
            <a:off x="3000375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0" name="矩形 83"/>
          <p:cNvSpPr/>
          <p:nvPr/>
        </p:nvSpPr>
        <p:spPr>
          <a:xfrm>
            <a:off x="3286125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1" name="任意多边形 84"/>
          <p:cNvSpPr/>
          <p:nvPr/>
        </p:nvSpPr>
        <p:spPr>
          <a:xfrm>
            <a:off x="1928813" y="3368675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182" name="TextBox 85"/>
          <p:cNvSpPr txBox="1"/>
          <p:nvPr/>
        </p:nvSpPr>
        <p:spPr>
          <a:xfrm>
            <a:off x="1857375" y="271462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i=3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3" name="TextBox 86"/>
          <p:cNvSpPr txBox="1"/>
          <p:nvPr/>
        </p:nvSpPr>
        <p:spPr>
          <a:xfrm>
            <a:off x="1785938" y="3948113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4" name="矩形 87"/>
          <p:cNvSpPr/>
          <p:nvPr/>
        </p:nvSpPr>
        <p:spPr>
          <a:xfrm>
            <a:off x="50720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5" name="矩形 88"/>
          <p:cNvSpPr/>
          <p:nvPr/>
        </p:nvSpPr>
        <p:spPr>
          <a:xfrm>
            <a:off x="53578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6" name="矩形 89"/>
          <p:cNvSpPr/>
          <p:nvPr/>
        </p:nvSpPr>
        <p:spPr>
          <a:xfrm>
            <a:off x="56435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7" name="矩形 90"/>
          <p:cNvSpPr/>
          <p:nvPr/>
        </p:nvSpPr>
        <p:spPr>
          <a:xfrm>
            <a:off x="59293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8" name="矩形 91"/>
          <p:cNvSpPr/>
          <p:nvPr/>
        </p:nvSpPr>
        <p:spPr>
          <a:xfrm>
            <a:off x="62150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89" name="矩形 92"/>
          <p:cNvSpPr/>
          <p:nvPr/>
        </p:nvSpPr>
        <p:spPr>
          <a:xfrm>
            <a:off x="65008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0" name="矩形 93"/>
          <p:cNvSpPr/>
          <p:nvPr/>
        </p:nvSpPr>
        <p:spPr>
          <a:xfrm>
            <a:off x="67865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1" name="矩形 94"/>
          <p:cNvSpPr/>
          <p:nvPr/>
        </p:nvSpPr>
        <p:spPr>
          <a:xfrm>
            <a:off x="707231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2" name="矩形 95"/>
          <p:cNvSpPr/>
          <p:nvPr/>
        </p:nvSpPr>
        <p:spPr>
          <a:xfrm>
            <a:off x="7358063" y="30718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3" name="矩形 96"/>
          <p:cNvSpPr/>
          <p:nvPr/>
        </p:nvSpPr>
        <p:spPr>
          <a:xfrm>
            <a:off x="5929313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4" name="矩形 97"/>
          <p:cNvSpPr/>
          <p:nvPr/>
        </p:nvSpPr>
        <p:spPr>
          <a:xfrm>
            <a:off x="6215063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5" name="矩形 98"/>
          <p:cNvSpPr/>
          <p:nvPr/>
        </p:nvSpPr>
        <p:spPr>
          <a:xfrm>
            <a:off x="6500813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6" name="矩形 99"/>
          <p:cNvSpPr/>
          <p:nvPr/>
        </p:nvSpPr>
        <p:spPr>
          <a:xfrm>
            <a:off x="6786563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7" name="矩形 100"/>
          <p:cNvSpPr/>
          <p:nvPr/>
        </p:nvSpPr>
        <p:spPr>
          <a:xfrm>
            <a:off x="7072313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8" name="矩形 101"/>
          <p:cNvSpPr/>
          <p:nvPr/>
        </p:nvSpPr>
        <p:spPr>
          <a:xfrm>
            <a:off x="7358063" y="36433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99" name="任意多边形 102"/>
          <p:cNvSpPr/>
          <p:nvPr/>
        </p:nvSpPr>
        <p:spPr>
          <a:xfrm>
            <a:off x="5943600" y="3368675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200" name="TextBox 103"/>
          <p:cNvSpPr txBox="1"/>
          <p:nvPr/>
        </p:nvSpPr>
        <p:spPr>
          <a:xfrm>
            <a:off x="5822950" y="271462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i=4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1" name="TextBox 104"/>
          <p:cNvSpPr txBox="1"/>
          <p:nvPr/>
        </p:nvSpPr>
        <p:spPr>
          <a:xfrm>
            <a:off x="5857875" y="3948113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2" name="矩形 105"/>
          <p:cNvSpPr/>
          <p:nvPr/>
        </p:nvSpPr>
        <p:spPr>
          <a:xfrm>
            <a:off x="135731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3" name="矩形 106"/>
          <p:cNvSpPr/>
          <p:nvPr/>
        </p:nvSpPr>
        <p:spPr>
          <a:xfrm>
            <a:off x="164306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4" name="矩形 107"/>
          <p:cNvSpPr/>
          <p:nvPr/>
        </p:nvSpPr>
        <p:spPr>
          <a:xfrm>
            <a:off x="192881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5" name="矩形 108"/>
          <p:cNvSpPr/>
          <p:nvPr/>
        </p:nvSpPr>
        <p:spPr>
          <a:xfrm>
            <a:off x="221456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6" name="矩形 109"/>
          <p:cNvSpPr/>
          <p:nvPr/>
        </p:nvSpPr>
        <p:spPr>
          <a:xfrm>
            <a:off x="250031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7" name="矩形 110"/>
          <p:cNvSpPr/>
          <p:nvPr/>
        </p:nvSpPr>
        <p:spPr>
          <a:xfrm>
            <a:off x="278606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8" name="矩形 111"/>
          <p:cNvSpPr/>
          <p:nvPr/>
        </p:nvSpPr>
        <p:spPr>
          <a:xfrm>
            <a:off x="307181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09" name="矩形 112"/>
          <p:cNvSpPr/>
          <p:nvPr/>
        </p:nvSpPr>
        <p:spPr>
          <a:xfrm>
            <a:off x="335756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0" name="矩形 113"/>
          <p:cNvSpPr/>
          <p:nvPr/>
        </p:nvSpPr>
        <p:spPr>
          <a:xfrm>
            <a:off x="3643313" y="46434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1" name="矩形 114"/>
          <p:cNvSpPr/>
          <p:nvPr/>
        </p:nvSpPr>
        <p:spPr>
          <a:xfrm>
            <a:off x="2428875" y="52149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2" name="矩形 115"/>
          <p:cNvSpPr/>
          <p:nvPr/>
        </p:nvSpPr>
        <p:spPr>
          <a:xfrm>
            <a:off x="2714625" y="52149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3" name="矩形 116"/>
          <p:cNvSpPr/>
          <p:nvPr/>
        </p:nvSpPr>
        <p:spPr>
          <a:xfrm>
            <a:off x="3000375" y="52149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4" name="矩形 117"/>
          <p:cNvSpPr/>
          <p:nvPr/>
        </p:nvSpPr>
        <p:spPr>
          <a:xfrm>
            <a:off x="3286125" y="52149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5" name="矩形 118"/>
          <p:cNvSpPr/>
          <p:nvPr/>
        </p:nvSpPr>
        <p:spPr>
          <a:xfrm>
            <a:off x="3571875" y="52149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6" name="矩形 119"/>
          <p:cNvSpPr/>
          <p:nvPr/>
        </p:nvSpPr>
        <p:spPr>
          <a:xfrm>
            <a:off x="3857625" y="521493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7" name="任意多边形 120"/>
          <p:cNvSpPr/>
          <p:nvPr/>
        </p:nvSpPr>
        <p:spPr>
          <a:xfrm>
            <a:off x="2500313" y="4940300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218" name="TextBox 121"/>
          <p:cNvSpPr txBox="1"/>
          <p:nvPr/>
        </p:nvSpPr>
        <p:spPr>
          <a:xfrm>
            <a:off x="2393950" y="551973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19" name="TextBox 122"/>
          <p:cNvSpPr txBox="1"/>
          <p:nvPr/>
        </p:nvSpPr>
        <p:spPr>
          <a:xfrm>
            <a:off x="2428875" y="4305300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i=5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0" name="矩形 123"/>
          <p:cNvSpPr/>
          <p:nvPr/>
        </p:nvSpPr>
        <p:spPr>
          <a:xfrm>
            <a:off x="507206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1" name="矩形 124"/>
          <p:cNvSpPr/>
          <p:nvPr/>
        </p:nvSpPr>
        <p:spPr>
          <a:xfrm>
            <a:off x="535781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2" name="矩形 125"/>
          <p:cNvSpPr/>
          <p:nvPr/>
        </p:nvSpPr>
        <p:spPr>
          <a:xfrm>
            <a:off x="564356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3" name="矩形 126"/>
          <p:cNvSpPr/>
          <p:nvPr/>
        </p:nvSpPr>
        <p:spPr>
          <a:xfrm>
            <a:off x="592931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4" name="矩形 127"/>
          <p:cNvSpPr/>
          <p:nvPr/>
        </p:nvSpPr>
        <p:spPr>
          <a:xfrm>
            <a:off x="621506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5" name="矩形 128"/>
          <p:cNvSpPr/>
          <p:nvPr/>
        </p:nvSpPr>
        <p:spPr>
          <a:xfrm>
            <a:off x="650081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6" name="矩形 129"/>
          <p:cNvSpPr/>
          <p:nvPr/>
        </p:nvSpPr>
        <p:spPr>
          <a:xfrm>
            <a:off x="678656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7" name="矩形 130"/>
          <p:cNvSpPr/>
          <p:nvPr/>
        </p:nvSpPr>
        <p:spPr>
          <a:xfrm>
            <a:off x="707231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8" name="矩形 131"/>
          <p:cNvSpPr/>
          <p:nvPr/>
        </p:nvSpPr>
        <p:spPr>
          <a:xfrm>
            <a:off x="7358063" y="46243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29" name="矩形 132"/>
          <p:cNvSpPr/>
          <p:nvPr/>
        </p:nvSpPr>
        <p:spPr>
          <a:xfrm>
            <a:off x="6429375" y="51958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0" name="矩形 133"/>
          <p:cNvSpPr/>
          <p:nvPr/>
        </p:nvSpPr>
        <p:spPr>
          <a:xfrm>
            <a:off x="6715125" y="51958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1" name="矩形 134"/>
          <p:cNvSpPr/>
          <p:nvPr/>
        </p:nvSpPr>
        <p:spPr>
          <a:xfrm>
            <a:off x="7000875" y="51958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2" name="矩形 135"/>
          <p:cNvSpPr/>
          <p:nvPr/>
        </p:nvSpPr>
        <p:spPr>
          <a:xfrm>
            <a:off x="7286625" y="51958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3" name="矩形 136"/>
          <p:cNvSpPr/>
          <p:nvPr/>
        </p:nvSpPr>
        <p:spPr>
          <a:xfrm>
            <a:off x="7572375" y="51958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4" name="矩形 137"/>
          <p:cNvSpPr/>
          <p:nvPr/>
        </p:nvSpPr>
        <p:spPr>
          <a:xfrm>
            <a:off x="7858125" y="51958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5" name="任意多边形 138"/>
          <p:cNvSpPr/>
          <p:nvPr/>
        </p:nvSpPr>
        <p:spPr>
          <a:xfrm>
            <a:off x="6500813" y="4921250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8236" name="TextBox 139"/>
          <p:cNvSpPr txBox="1"/>
          <p:nvPr/>
        </p:nvSpPr>
        <p:spPr>
          <a:xfrm>
            <a:off x="6394450" y="55006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7" name="TextBox 140"/>
          <p:cNvSpPr txBox="1"/>
          <p:nvPr/>
        </p:nvSpPr>
        <p:spPr>
          <a:xfrm>
            <a:off x="6429375" y="4286250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8" name="TextBox 141"/>
          <p:cNvSpPr txBox="1"/>
          <p:nvPr/>
        </p:nvSpPr>
        <p:spPr>
          <a:xfrm>
            <a:off x="642938" y="1247775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39" name="TextBox 142"/>
          <p:cNvSpPr txBox="1"/>
          <p:nvPr/>
        </p:nvSpPr>
        <p:spPr>
          <a:xfrm>
            <a:off x="4546600" y="1214438"/>
            <a:ext cx="4540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40" name="TextBox 143"/>
          <p:cNvSpPr txBox="1"/>
          <p:nvPr/>
        </p:nvSpPr>
        <p:spPr>
          <a:xfrm>
            <a:off x="642938" y="3000375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41" name="TextBox 144"/>
          <p:cNvSpPr txBox="1"/>
          <p:nvPr/>
        </p:nvSpPr>
        <p:spPr>
          <a:xfrm>
            <a:off x="4475163" y="2987675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42" name="TextBox 145"/>
          <p:cNvSpPr txBox="1"/>
          <p:nvPr/>
        </p:nvSpPr>
        <p:spPr>
          <a:xfrm>
            <a:off x="642938" y="4572000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43" name="TextBox 146"/>
          <p:cNvSpPr txBox="1"/>
          <p:nvPr/>
        </p:nvSpPr>
        <p:spPr>
          <a:xfrm>
            <a:off x="4429125" y="4559300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(6)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44" name="TextBox 147"/>
          <p:cNvSpPr txBox="1"/>
          <p:nvPr/>
        </p:nvSpPr>
        <p:spPr>
          <a:xfrm>
            <a:off x="1008063" y="1285875"/>
            <a:ext cx="3381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S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245" name="TextBox 148"/>
          <p:cNvSpPr txBox="1"/>
          <p:nvPr/>
        </p:nvSpPr>
        <p:spPr>
          <a:xfrm>
            <a:off x="1000125" y="1844675"/>
            <a:ext cx="3254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nimBg="1"/>
      <p:bldP spid="48131" grpId="0" animBg="1"/>
      <p:bldP spid="48132" grpId="0" animBg="1"/>
      <p:bldP spid="48133" grpId="0" animBg="1"/>
      <p:bldP spid="48134" grpId="0" animBg="1"/>
      <p:bldP spid="48135" grpId="0" animBg="1"/>
      <p:bldP spid="48136" grpId="0" animBg="1"/>
      <p:bldP spid="48137" grpId="0" animBg="1"/>
      <p:bldP spid="48138" grpId="0" animBg="1"/>
      <p:bldP spid="48139" grpId="0" animBg="1"/>
      <p:bldP spid="48140" grpId="0" animBg="1"/>
      <p:bldP spid="48141" grpId="0" animBg="1"/>
      <p:bldP spid="48142" grpId="0" animBg="1"/>
      <p:bldP spid="48143" grpId="0" animBg="1"/>
      <p:bldP spid="48144" grpId="0" animBg="1"/>
      <p:bldP spid="48146" grpId="0"/>
      <p:bldP spid="48147" grpId="0"/>
      <p:bldP spid="48148" grpId="0" animBg="1"/>
      <p:bldP spid="48149" grpId="0" animBg="1"/>
      <p:bldP spid="48150" grpId="0" animBg="1"/>
      <p:bldP spid="48151" grpId="0" animBg="1"/>
      <p:bldP spid="48152" grpId="0" animBg="1"/>
      <p:bldP spid="48153" grpId="0" animBg="1"/>
      <p:bldP spid="48154" grpId="0" animBg="1"/>
      <p:bldP spid="48155" grpId="0" animBg="1"/>
      <p:bldP spid="48156" grpId="0" animBg="1"/>
      <p:bldP spid="48157" grpId="0" animBg="1"/>
      <p:bldP spid="48158" grpId="0" animBg="1"/>
      <p:bldP spid="48159" grpId="0" animBg="1"/>
      <p:bldP spid="48160" grpId="0" animBg="1"/>
      <p:bldP spid="48161" grpId="0" animBg="1"/>
      <p:bldP spid="48162" grpId="0" animBg="1"/>
      <p:bldP spid="48164" grpId="0"/>
      <p:bldP spid="48165" grpId="0"/>
      <p:bldP spid="48166" grpId="0" animBg="1"/>
      <p:bldP spid="48167" grpId="0" animBg="1"/>
      <p:bldP spid="48168" grpId="0" animBg="1"/>
      <p:bldP spid="48169" grpId="0" animBg="1"/>
      <p:bldP spid="48170" grpId="0" animBg="1"/>
      <p:bldP spid="48171" grpId="0" animBg="1"/>
      <p:bldP spid="48172" grpId="0" animBg="1"/>
      <p:bldP spid="48173" grpId="0" animBg="1"/>
      <p:bldP spid="48174" grpId="0" animBg="1"/>
      <p:bldP spid="48175" grpId="0" animBg="1"/>
      <p:bldP spid="48176" grpId="0" animBg="1"/>
      <p:bldP spid="48177" grpId="0" animBg="1"/>
      <p:bldP spid="48178" grpId="0" animBg="1"/>
      <p:bldP spid="48179" grpId="0" animBg="1"/>
      <p:bldP spid="48180" grpId="0" animBg="1"/>
      <p:bldP spid="48182" grpId="0"/>
      <p:bldP spid="48183" grpId="0"/>
      <p:bldP spid="48184" grpId="0" animBg="1"/>
      <p:bldP spid="48185" grpId="0" animBg="1"/>
      <p:bldP spid="48186" grpId="0" animBg="1"/>
      <p:bldP spid="48187" grpId="0" animBg="1"/>
      <p:bldP spid="48188" grpId="0" animBg="1"/>
      <p:bldP spid="48189" grpId="0" animBg="1"/>
      <p:bldP spid="48190" grpId="0" animBg="1"/>
      <p:bldP spid="48191" grpId="0" animBg="1"/>
      <p:bldP spid="48192" grpId="0" animBg="1"/>
      <p:bldP spid="48193" grpId="0" animBg="1"/>
      <p:bldP spid="48194" grpId="0" animBg="1"/>
      <p:bldP spid="48195" grpId="0" animBg="1"/>
      <p:bldP spid="48196" grpId="0" animBg="1"/>
      <p:bldP spid="48197" grpId="0" animBg="1"/>
      <p:bldP spid="48198" grpId="0" animBg="1"/>
      <p:bldP spid="48200" grpId="0"/>
      <p:bldP spid="48201" grpId="0"/>
      <p:bldP spid="48202" grpId="0" animBg="1"/>
      <p:bldP spid="48203" grpId="0" animBg="1"/>
      <p:bldP spid="48204" grpId="0" animBg="1"/>
      <p:bldP spid="48205" grpId="0" animBg="1"/>
      <p:bldP spid="48206" grpId="0" animBg="1"/>
      <p:bldP spid="48207" grpId="0" animBg="1"/>
      <p:bldP spid="48208" grpId="0" animBg="1"/>
      <p:bldP spid="48209" grpId="0" animBg="1"/>
      <p:bldP spid="48210" grpId="0" animBg="1"/>
      <p:bldP spid="48211" grpId="0" animBg="1"/>
      <p:bldP spid="48212" grpId="0" animBg="1"/>
      <p:bldP spid="48213" grpId="0" animBg="1"/>
      <p:bldP spid="48214" grpId="0" animBg="1"/>
      <p:bldP spid="48215" grpId="0" animBg="1"/>
      <p:bldP spid="48216" grpId="0" animBg="1"/>
      <p:bldP spid="48218" grpId="0"/>
      <p:bldP spid="48219" grpId="0"/>
      <p:bldP spid="48220" grpId="0" animBg="1"/>
      <p:bldP spid="48221" grpId="0" animBg="1"/>
      <p:bldP spid="48222" grpId="0" animBg="1"/>
      <p:bldP spid="48223" grpId="0" animBg="1"/>
      <p:bldP spid="48224" grpId="0" animBg="1"/>
      <p:bldP spid="48225" grpId="0" animBg="1"/>
      <p:bldP spid="48226" grpId="0" animBg="1"/>
      <p:bldP spid="48227" grpId="0" animBg="1"/>
      <p:bldP spid="48228" grpId="0" animBg="1"/>
      <p:bldP spid="48229" grpId="0" animBg="1"/>
      <p:bldP spid="48230" grpId="0" animBg="1"/>
      <p:bldP spid="48231" grpId="0" animBg="1"/>
      <p:bldP spid="48232" grpId="0" animBg="1"/>
      <p:bldP spid="48233" grpId="0" animBg="1"/>
      <p:bldP spid="48234" grpId="0" animBg="1"/>
      <p:bldP spid="48236" grpId="0"/>
      <p:bldP spid="48237" grpId="0"/>
      <p:bldP spid="48238" grpId="0"/>
      <p:bldP spid="48239" grpId="0"/>
      <p:bldP spid="48240" grpId="0"/>
      <p:bldP spid="48241" grpId="0"/>
      <p:bldP spid="48242" grpId="0"/>
      <p:bldP spid="48243" grpId="0"/>
      <p:bldP spid="48244" grpId="0"/>
      <p:bldP spid="482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3200" dirty="0"/>
              <a:t>简单模式匹配算法</a:t>
            </a:r>
            <a:endParaRPr lang="zh-CN" altLang="en-US" sz="3200" dirty="0"/>
          </a:p>
        </p:txBody>
      </p:sp>
      <p:sp>
        <p:nvSpPr>
          <p:cNvPr id="5" name="AutoShape 4"/>
          <p:cNvSpPr/>
          <p:nvPr/>
        </p:nvSpPr>
        <p:spPr>
          <a:xfrm>
            <a:off x="323850" y="1125538"/>
            <a:ext cx="7929563" cy="6205537"/>
          </a:xfrm>
          <a:prstGeom prst="foldedCorner">
            <a:avLst>
              <a:gd name="adj" fmla="val 8014"/>
            </a:avLst>
          </a:prstGeom>
          <a:solidFill>
            <a:srgbClr val="FFFF99"/>
          </a:solidFill>
          <a:ln w="952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 //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从字符串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S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的位置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POS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开始，查找与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T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字符串匹配的位置。</a:t>
            </a:r>
            <a:endParaRPr lang="zh-CN" altLang="zh-CN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int  Index( SString  S, SString T, int pos )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{   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i = pos ;  j = 1;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while ( i &lt;= S[0]  &amp;&amp;  j &lt;= T[0] ) 	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// S[0], 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串的长度</a:t>
            </a:r>
            <a:endParaRPr lang="zh-CN" altLang="en-US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{  if ( S[i] == T[j] ) { ++i ;  ++j ; } 	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// 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继续</a:t>
            </a:r>
            <a:endParaRPr lang="zh-CN" altLang="en-US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else { 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       i = i - j + 2; 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// i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重新从上次匹配点的下一个位置开始</a:t>
            </a:r>
            <a:endParaRPr lang="en-US" altLang="zh-CN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       j = 1;  }</a:t>
            </a:r>
            <a:endParaRPr lang="en-US" altLang="zh-CN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if (  j &gt; T[0] )  return  i-T[0]; 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字符串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S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中包含字符串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T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的初始位置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else return 0;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/>
          <p:nvPr/>
        </p:nvSpPr>
        <p:spPr>
          <a:xfrm>
            <a:off x="7239000" y="4613275"/>
            <a:ext cx="457200" cy="533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39" name="Text Box 3"/>
          <p:cNvSpPr txBox="1"/>
          <p:nvPr/>
        </p:nvSpPr>
        <p:spPr>
          <a:xfrm>
            <a:off x="1981200" y="2514600"/>
            <a:ext cx="2209800" cy="614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  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3733800" y="2514600"/>
            <a:ext cx="2209800" cy="58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    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9941" name="Group 5"/>
          <p:cNvGrpSpPr/>
          <p:nvPr/>
        </p:nvGrpSpPr>
        <p:grpSpPr>
          <a:xfrm>
            <a:off x="4648200" y="3048000"/>
            <a:ext cx="1295400" cy="1119188"/>
            <a:chOff x="672" y="2256"/>
            <a:chExt cx="816" cy="705"/>
          </a:xfrm>
        </p:grpSpPr>
        <p:sp>
          <p:nvSpPr>
            <p:cNvPr id="39973" name="AutoShape 6"/>
            <p:cNvSpPr/>
            <p:nvPr/>
          </p:nvSpPr>
          <p:spPr>
            <a:xfrm>
              <a:off x="912" y="2256"/>
              <a:ext cx="192" cy="240"/>
            </a:xfrm>
            <a:prstGeom prst="upArrow">
              <a:avLst>
                <a:gd name="adj1" fmla="val 29166"/>
                <a:gd name="adj2" fmla="val 3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74" name="Text Box 7"/>
            <p:cNvSpPr txBox="1"/>
            <p:nvPr/>
          </p:nvSpPr>
          <p:spPr>
            <a:xfrm>
              <a:off x="672" y="2496"/>
              <a:ext cx="816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a is not equal b,</a:t>
              </a:r>
              <a:r>
                <a:rPr lang="zh-CN" altLang="en-US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right shift a bit</a:t>
              </a:r>
              <a:endPara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9942" name="Text Box 8"/>
          <p:cNvSpPr txBox="1"/>
          <p:nvPr/>
        </p:nvSpPr>
        <p:spPr>
          <a:xfrm>
            <a:off x="5410200" y="2514600"/>
            <a:ext cx="2209800" cy="58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      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3" name="Text Box 12"/>
          <p:cNvSpPr txBox="1"/>
          <p:nvPr/>
        </p:nvSpPr>
        <p:spPr>
          <a:xfrm>
            <a:off x="76200" y="4613275"/>
            <a:ext cx="2209800" cy="58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        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4" name="Text Box 13"/>
          <p:cNvSpPr txBox="1"/>
          <p:nvPr/>
        </p:nvSpPr>
        <p:spPr>
          <a:xfrm>
            <a:off x="1905000" y="4613275"/>
            <a:ext cx="2209800" cy="58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          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5" name="Text Box 14"/>
          <p:cNvSpPr txBox="1"/>
          <p:nvPr/>
        </p:nvSpPr>
        <p:spPr>
          <a:xfrm>
            <a:off x="3733800" y="4613275"/>
            <a:ext cx="2209800" cy="58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            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6" name="Text Box 15"/>
          <p:cNvSpPr txBox="1"/>
          <p:nvPr/>
        </p:nvSpPr>
        <p:spPr>
          <a:xfrm>
            <a:off x="5562600" y="4614863"/>
            <a:ext cx="2209800" cy="622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              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7" name="AutoShape 25"/>
          <p:cNvSpPr/>
          <p:nvPr/>
        </p:nvSpPr>
        <p:spPr>
          <a:xfrm>
            <a:off x="7402513" y="5146675"/>
            <a:ext cx="304800" cy="381000"/>
          </a:xfrm>
          <a:prstGeom prst="upArrow">
            <a:avLst>
              <a:gd name="adj1" fmla="val 29166"/>
              <a:gd name="adj2" fmla="val 37500"/>
            </a:avLst>
          </a:prstGeom>
          <a:solidFill>
            <a:schemeClr val="accent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8" name="Text Box 26"/>
          <p:cNvSpPr txBox="1"/>
          <p:nvPr/>
        </p:nvSpPr>
        <p:spPr>
          <a:xfrm>
            <a:off x="7021513" y="5410200"/>
            <a:ext cx="1143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400" i="1" dirty="0">
                <a:solidFill>
                  <a:schemeClr val="tx1"/>
                </a:solidFill>
                <a:ea typeface="宋体" panose="02010600030101010101" pitchFamily="2" charset="-122"/>
              </a:rPr>
              <a:t>completely matched</a:t>
            </a:r>
            <a:endParaRPr lang="zh-CN" altLang="en-US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9" name="AutoShape 27"/>
          <p:cNvSpPr/>
          <p:nvPr/>
        </p:nvSpPr>
        <p:spPr>
          <a:xfrm>
            <a:off x="7315200" y="4232275"/>
            <a:ext cx="76200" cy="457200"/>
          </a:xfrm>
          <a:prstGeom prst="downArrow">
            <a:avLst>
              <a:gd name="adj1" fmla="val 50000"/>
              <a:gd name="adj2" fmla="val 150000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50" name="Text Box 28"/>
          <p:cNvSpPr txBox="1"/>
          <p:nvPr/>
        </p:nvSpPr>
        <p:spPr>
          <a:xfrm rot="5400000">
            <a:off x="7269163" y="4233863"/>
            <a:ext cx="1828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1"/>
                </a:solidFill>
                <a:ea typeface="宋体" panose="02010600030101010101" pitchFamily="2" charset="-122"/>
              </a:rPr>
              <a:t>n-m+1 is matched initial position</a:t>
            </a:r>
            <a:endParaRPr lang="zh-CN" altLang="en-US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51" name="Text Box 29"/>
          <p:cNvSpPr txBox="1"/>
          <p:nvPr/>
        </p:nvSpPr>
        <p:spPr>
          <a:xfrm>
            <a:off x="357188" y="428625"/>
            <a:ext cx="807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简单模式匹配算法是低效的</a:t>
            </a:r>
            <a:endParaRPr lang="zh-CN" altLang="en-US" sz="2800" dirty="0">
              <a:solidFill>
                <a:srgbClr val="FF0000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39952" name="Text Box 30"/>
          <p:cNvSpPr txBox="1"/>
          <p:nvPr/>
        </p:nvSpPr>
        <p:spPr>
          <a:xfrm>
            <a:off x="533400" y="990600"/>
            <a:ext cx="8231188" cy="901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      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简单模式匹配算法在最坏情况下的时间复杂度是</a:t>
            </a:r>
            <a:r>
              <a:rPr lang="en-US" altLang="zh-CN" sz="2000" dirty="0">
                <a:solidFill>
                  <a:srgbClr val="0000CC"/>
                </a:solidFill>
                <a:ea typeface="宋体" panose="02010600030101010101" pitchFamily="2" charset="-122"/>
              </a:rPr>
              <a:t>O(n*m)</a:t>
            </a:r>
            <a:r>
              <a:rPr lang="en-US" altLang="zh-CN" sz="2000" dirty="0">
                <a:solidFill>
                  <a:schemeClr val="folHlink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S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的长度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的长度）.</a:t>
            </a:r>
            <a:r>
              <a:rPr lang="en-US" altLang="zh-CN" sz="2000" dirty="0">
                <a:solidFill>
                  <a:schemeClr val="folHlink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000" dirty="0">
                <a:solidFill>
                  <a:schemeClr val="folHlink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比较次数为</a:t>
            </a:r>
            <a:r>
              <a:rPr lang="en-US" altLang="zh-CN" sz="2000" dirty="0">
                <a:solidFill>
                  <a:srgbClr val="0000CC"/>
                </a:solidFill>
                <a:ea typeface="宋体" panose="02010600030101010101" pitchFamily="2" charset="-122"/>
              </a:rPr>
              <a:t>(n-m+1)*m</a:t>
            </a:r>
            <a:r>
              <a:rPr lang="zh-CN" altLang="en-US" sz="2000" dirty="0">
                <a:solidFill>
                  <a:srgbClr val="0000CC"/>
                </a:solidFill>
                <a:ea typeface="宋体" panose="02010600030101010101" pitchFamily="2" charset="-122"/>
              </a:rPr>
              <a:t>。</a:t>
            </a:r>
            <a:r>
              <a:rPr lang="en-US" altLang="zh-CN" sz="2000" dirty="0">
                <a:solidFill>
                  <a:srgbClr val="008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rgbClr val="008000"/>
                </a:solidFill>
                <a:ea typeface="宋体" panose="02010600030101010101" pitchFamily="2" charset="-122"/>
              </a:rPr>
              <a:t>例子如下</a:t>
            </a:r>
            <a:r>
              <a:rPr lang="en-US" altLang="zh-CN" sz="2000" dirty="0">
                <a:solidFill>
                  <a:srgbClr val="008000"/>
                </a:solidFill>
                <a:ea typeface="宋体" panose="02010600030101010101" pitchFamily="2" charset="-122"/>
              </a:rPr>
              <a:t>)</a:t>
            </a:r>
            <a:endParaRPr lang="zh-CN" altLang="en-US" sz="2000" dirty="0">
              <a:solidFill>
                <a:srgbClr val="008000"/>
              </a:solidFill>
              <a:ea typeface="宋体" panose="02010600030101010101" pitchFamily="2" charset="-122"/>
            </a:endParaRPr>
          </a:p>
        </p:txBody>
      </p:sp>
      <p:sp>
        <p:nvSpPr>
          <p:cNvPr id="39953" name="Text Box 31"/>
          <p:cNvSpPr txBox="1"/>
          <p:nvPr/>
        </p:nvSpPr>
        <p:spPr>
          <a:xfrm>
            <a:off x="8610600" y="644525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9954" name="Group 32"/>
          <p:cNvGrpSpPr/>
          <p:nvPr/>
        </p:nvGrpSpPr>
        <p:grpSpPr>
          <a:xfrm>
            <a:off x="1154113" y="5181600"/>
            <a:ext cx="1295400" cy="1119188"/>
            <a:chOff x="672" y="2256"/>
            <a:chExt cx="816" cy="705"/>
          </a:xfrm>
        </p:grpSpPr>
        <p:sp>
          <p:nvSpPr>
            <p:cNvPr id="39971" name="AutoShape 33"/>
            <p:cNvSpPr/>
            <p:nvPr/>
          </p:nvSpPr>
          <p:spPr>
            <a:xfrm>
              <a:off x="912" y="2256"/>
              <a:ext cx="192" cy="240"/>
            </a:xfrm>
            <a:prstGeom prst="upArrow">
              <a:avLst>
                <a:gd name="adj1" fmla="val 29166"/>
                <a:gd name="adj2" fmla="val 3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72" name="Text Box 34"/>
            <p:cNvSpPr txBox="1"/>
            <p:nvPr/>
          </p:nvSpPr>
          <p:spPr>
            <a:xfrm>
              <a:off x="672" y="2496"/>
              <a:ext cx="816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a is not equal b, right shift 1 bit</a:t>
              </a:r>
              <a:endParaRPr lang="zh-CN" altLang="en-US" sz="14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9955" name="Group 35"/>
          <p:cNvGrpSpPr/>
          <p:nvPr/>
        </p:nvGrpSpPr>
        <p:grpSpPr>
          <a:xfrm>
            <a:off x="2743200" y="3063875"/>
            <a:ext cx="1295400" cy="1119188"/>
            <a:chOff x="672" y="2256"/>
            <a:chExt cx="816" cy="705"/>
          </a:xfrm>
        </p:grpSpPr>
        <p:sp>
          <p:nvSpPr>
            <p:cNvPr id="39969" name="AutoShape 36"/>
            <p:cNvSpPr/>
            <p:nvPr/>
          </p:nvSpPr>
          <p:spPr>
            <a:xfrm>
              <a:off x="912" y="2256"/>
              <a:ext cx="192" cy="240"/>
            </a:xfrm>
            <a:prstGeom prst="upArrow">
              <a:avLst>
                <a:gd name="adj1" fmla="val 29166"/>
                <a:gd name="adj2" fmla="val 3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70" name="Text Box 37"/>
            <p:cNvSpPr txBox="1"/>
            <p:nvPr/>
          </p:nvSpPr>
          <p:spPr>
            <a:xfrm>
              <a:off x="672" y="2496"/>
              <a:ext cx="816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a is not equal b,</a:t>
              </a:r>
              <a:r>
                <a:rPr lang="zh-CN" altLang="en-US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right shift a bit</a:t>
              </a:r>
              <a:endPara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9956" name="Text Box 38"/>
          <p:cNvSpPr txBox="1"/>
          <p:nvPr/>
        </p:nvSpPr>
        <p:spPr>
          <a:xfrm>
            <a:off x="76200" y="2514600"/>
            <a:ext cx="2209800" cy="614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S=aaaaaaaaab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T=aab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9957" name="Group 39"/>
          <p:cNvGrpSpPr/>
          <p:nvPr/>
        </p:nvGrpSpPr>
        <p:grpSpPr>
          <a:xfrm>
            <a:off x="6411913" y="3235325"/>
            <a:ext cx="1295400" cy="1119188"/>
            <a:chOff x="672" y="2256"/>
            <a:chExt cx="816" cy="705"/>
          </a:xfrm>
        </p:grpSpPr>
        <p:sp>
          <p:nvSpPr>
            <p:cNvPr id="39967" name="AutoShape 40"/>
            <p:cNvSpPr/>
            <p:nvPr/>
          </p:nvSpPr>
          <p:spPr>
            <a:xfrm>
              <a:off x="912" y="2256"/>
              <a:ext cx="192" cy="240"/>
            </a:xfrm>
            <a:prstGeom prst="upArrow">
              <a:avLst>
                <a:gd name="adj1" fmla="val 29166"/>
                <a:gd name="adj2" fmla="val 3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68" name="Text Box 41"/>
            <p:cNvSpPr txBox="1"/>
            <p:nvPr/>
          </p:nvSpPr>
          <p:spPr>
            <a:xfrm>
              <a:off x="672" y="2496"/>
              <a:ext cx="816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a is not equal b,</a:t>
              </a:r>
              <a:r>
                <a:rPr lang="zh-CN" altLang="en-US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right shift a bit</a:t>
              </a:r>
              <a:endPara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9958" name="Group 42"/>
          <p:cNvGrpSpPr/>
          <p:nvPr/>
        </p:nvGrpSpPr>
        <p:grpSpPr>
          <a:xfrm>
            <a:off x="696913" y="3082925"/>
            <a:ext cx="1295400" cy="1119188"/>
            <a:chOff x="672" y="2256"/>
            <a:chExt cx="816" cy="705"/>
          </a:xfrm>
        </p:grpSpPr>
        <p:sp>
          <p:nvSpPr>
            <p:cNvPr id="39965" name="AutoShape 43"/>
            <p:cNvSpPr/>
            <p:nvPr/>
          </p:nvSpPr>
          <p:spPr>
            <a:xfrm>
              <a:off x="912" y="2256"/>
              <a:ext cx="192" cy="240"/>
            </a:xfrm>
            <a:prstGeom prst="upArrow">
              <a:avLst>
                <a:gd name="adj1" fmla="val 29166"/>
                <a:gd name="adj2" fmla="val 3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66" name="Text Box 44"/>
            <p:cNvSpPr txBox="1"/>
            <p:nvPr/>
          </p:nvSpPr>
          <p:spPr>
            <a:xfrm>
              <a:off x="672" y="2496"/>
              <a:ext cx="816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a is not equal b, right shift 1 bit</a:t>
              </a:r>
              <a:endParaRPr lang="zh-CN" altLang="en-US" sz="14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9959" name="Group 45"/>
          <p:cNvGrpSpPr/>
          <p:nvPr/>
        </p:nvGrpSpPr>
        <p:grpSpPr>
          <a:xfrm>
            <a:off x="3135313" y="5105400"/>
            <a:ext cx="1295400" cy="1119188"/>
            <a:chOff x="672" y="2256"/>
            <a:chExt cx="816" cy="705"/>
          </a:xfrm>
        </p:grpSpPr>
        <p:sp>
          <p:nvSpPr>
            <p:cNvPr id="39963" name="AutoShape 46"/>
            <p:cNvSpPr/>
            <p:nvPr/>
          </p:nvSpPr>
          <p:spPr>
            <a:xfrm>
              <a:off x="912" y="2256"/>
              <a:ext cx="192" cy="240"/>
            </a:xfrm>
            <a:prstGeom prst="upArrow">
              <a:avLst>
                <a:gd name="adj1" fmla="val 29166"/>
                <a:gd name="adj2" fmla="val 3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64" name="Text Box 47"/>
            <p:cNvSpPr txBox="1"/>
            <p:nvPr/>
          </p:nvSpPr>
          <p:spPr>
            <a:xfrm>
              <a:off x="672" y="2496"/>
              <a:ext cx="816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a is not equal b, right shift 1 bit</a:t>
              </a:r>
              <a:endParaRPr lang="zh-CN" altLang="en-US" sz="14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9960" name="Group 48"/>
          <p:cNvGrpSpPr/>
          <p:nvPr/>
        </p:nvGrpSpPr>
        <p:grpSpPr>
          <a:xfrm>
            <a:off x="5040313" y="5181600"/>
            <a:ext cx="1295400" cy="1119188"/>
            <a:chOff x="672" y="2256"/>
            <a:chExt cx="816" cy="705"/>
          </a:xfrm>
        </p:grpSpPr>
        <p:sp>
          <p:nvSpPr>
            <p:cNvPr id="39961" name="AutoShape 49"/>
            <p:cNvSpPr/>
            <p:nvPr/>
          </p:nvSpPr>
          <p:spPr>
            <a:xfrm>
              <a:off x="912" y="2256"/>
              <a:ext cx="192" cy="240"/>
            </a:xfrm>
            <a:prstGeom prst="upArrow">
              <a:avLst>
                <a:gd name="adj1" fmla="val 29166"/>
                <a:gd name="adj2" fmla="val 3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962" name="Text Box 50"/>
            <p:cNvSpPr txBox="1"/>
            <p:nvPr/>
          </p:nvSpPr>
          <p:spPr>
            <a:xfrm>
              <a:off x="672" y="2496"/>
              <a:ext cx="816" cy="4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a is not equal b, right shift 1 bit</a:t>
              </a:r>
              <a:endParaRPr lang="zh-CN" altLang="en-US" sz="14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标题 1"/>
          <p:cNvSpPr>
            <a:spLocks noGrp="1" noChangeArrowheads="1"/>
          </p:cNvSpPr>
          <p:nvPr>
            <p:ph type="title"/>
          </p:nvPr>
        </p:nvSpPr>
        <p:spPr>
          <a:xfrm>
            <a:off x="357188" y="409575"/>
            <a:ext cx="8229600" cy="6429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示例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1]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简单模式匹配算法的冗余比较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1987" name="矩形 3"/>
          <p:cNvSpPr/>
          <p:nvPr/>
        </p:nvSpPr>
        <p:spPr>
          <a:xfrm>
            <a:off x="1357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8" name="矩形 6"/>
          <p:cNvSpPr/>
          <p:nvPr/>
        </p:nvSpPr>
        <p:spPr>
          <a:xfrm>
            <a:off x="1643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9" name="矩形 7"/>
          <p:cNvSpPr/>
          <p:nvPr/>
        </p:nvSpPr>
        <p:spPr>
          <a:xfrm>
            <a:off x="1928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0" name="矩形 8"/>
          <p:cNvSpPr/>
          <p:nvPr/>
        </p:nvSpPr>
        <p:spPr>
          <a:xfrm>
            <a:off x="2214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1" name="矩形 9"/>
          <p:cNvSpPr/>
          <p:nvPr/>
        </p:nvSpPr>
        <p:spPr>
          <a:xfrm>
            <a:off x="2500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2" name="矩形 10"/>
          <p:cNvSpPr/>
          <p:nvPr/>
        </p:nvSpPr>
        <p:spPr>
          <a:xfrm>
            <a:off x="2786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3" name="矩形 11"/>
          <p:cNvSpPr/>
          <p:nvPr/>
        </p:nvSpPr>
        <p:spPr>
          <a:xfrm>
            <a:off x="3071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4" name="矩形 12"/>
          <p:cNvSpPr/>
          <p:nvPr/>
        </p:nvSpPr>
        <p:spPr>
          <a:xfrm>
            <a:off x="3357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5" name="矩形 13"/>
          <p:cNvSpPr/>
          <p:nvPr/>
        </p:nvSpPr>
        <p:spPr>
          <a:xfrm>
            <a:off x="3643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6" name="矩形 14"/>
          <p:cNvSpPr/>
          <p:nvPr/>
        </p:nvSpPr>
        <p:spPr>
          <a:xfrm>
            <a:off x="1357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7" name="矩形 15"/>
          <p:cNvSpPr/>
          <p:nvPr/>
        </p:nvSpPr>
        <p:spPr>
          <a:xfrm>
            <a:off x="1643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8" name="矩形 16"/>
          <p:cNvSpPr/>
          <p:nvPr/>
        </p:nvSpPr>
        <p:spPr>
          <a:xfrm>
            <a:off x="1928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99" name="矩形 17"/>
          <p:cNvSpPr/>
          <p:nvPr/>
        </p:nvSpPr>
        <p:spPr>
          <a:xfrm>
            <a:off x="2214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0" name="矩形 18"/>
          <p:cNvSpPr/>
          <p:nvPr/>
        </p:nvSpPr>
        <p:spPr>
          <a:xfrm>
            <a:off x="2500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1" name="矩形 19"/>
          <p:cNvSpPr/>
          <p:nvPr/>
        </p:nvSpPr>
        <p:spPr>
          <a:xfrm>
            <a:off x="2786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2" name="任意多边形 48"/>
          <p:cNvSpPr/>
          <p:nvPr/>
        </p:nvSpPr>
        <p:spPr>
          <a:xfrm>
            <a:off x="2828925" y="1582738"/>
            <a:ext cx="200025" cy="287337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087"/>
              </a:cxn>
              <a:cxn ang="0">
                <a:pos x="56877" y="285087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2003" name="TextBox 49"/>
          <p:cNvSpPr txBox="1"/>
          <p:nvPr/>
        </p:nvSpPr>
        <p:spPr>
          <a:xfrm>
            <a:off x="2749550" y="9286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4" name="TextBox 50"/>
          <p:cNvSpPr txBox="1"/>
          <p:nvPr/>
        </p:nvSpPr>
        <p:spPr>
          <a:xfrm>
            <a:off x="2714625" y="21621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5" name="矩形 51"/>
          <p:cNvSpPr/>
          <p:nvPr/>
        </p:nvSpPr>
        <p:spPr>
          <a:xfrm>
            <a:off x="5072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6" name="矩形 52"/>
          <p:cNvSpPr/>
          <p:nvPr/>
        </p:nvSpPr>
        <p:spPr>
          <a:xfrm>
            <a:off x="5357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7" name="矩形 53"/>
          <p:cNvSpPr/>
          <p:nvPr/>
        </p:nvSpPr>
        <p:spPr>
          <a:xfrm>
            <a:off x="5643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8" name="矩形 54"/>
          <p:cNvSpPr/>
          <p:nvPr/>
        </p:nvSpPr>
        <p:spPr>
          <a:xfrm>
            <a:off x="5929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09" name="矩形 55"/>
          <p:cNvSpPr/>
          <p:nvPr/>
        </p:nvSpPr>
        <p:spPr>
          <a:xfrm>
            <a:off x="6215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0" name="矩形 56"/>
          <p:cNvSpPr/>
          <p:nvPr/>
        </p:nvSpPr>
        <p:spPr>
          <a:xfrm>
            <a:off x="6500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1" name="矩形 57"/>
          <p:cNvSpPr/>
          <p:nvPr/>
        </p:nvSpPr>
        <p:spPr>
          <a:xfrm>
            <a:off x="6786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2" name="矩形 58"/>
          <p:cNvSpPr/>
          <p:nvPr/>
        </p:nvSpPr>
        <p:spPr>
          <a:xfrm>
            <a:off x="7072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3" name="矩形 59"/>
          <p:cNvSpPr/>
          <p:nvPr/>
        </p:nvSpPr>
        <p:spPr>
          <a:xfrm>
            <a:off x="7358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4" name="矩形 60"/>
          <p:cNvSpPr/>
          <p:nvPr/>
        </p:nvSpPr>
        <p:spPr>
          <a:xfrm>
            <a:off x="5357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5" name="矩形 61"/>
          <p:cNvSpPr/>
          <p:nvPr/>
        </p:nvSpPr>
        <p:spPr>
          <a:xfrm>
            <a:off x="5643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6" name="矩形 62"/>
          <p:cNvSpPr/>
          <p:nvPr/>
        </p:nvSpPr>
        <p:spPr>
          <a:xfrm>
            <a:off x="5929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7" name="矩形 63"/>
          <p:cNvSpPr/>
          <p:nvPr/>
        </p:nvSpPr>
        <p:spPr>
          <a:xfrm>
            <a:off x="6215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8" name="矩形 64"/>
          <p:cNvSpPr/>
          <p:nvPr/>
        </p:nvSpPr>
        <p:spPr>
          <a:xfrm>
            <a:off x="6500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19" name="矩形 65"/>
          <p:cNvSpPr/>
          <p:nvPr/>
        </p:nvSpPr>
        <p:spPr>
          <a:xfrm>
            <a:off x="6786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0" name="任意多边形 66"/>
          <p:cNvSpPr/>
          <p:nvPr/>
        </p:nvSpPr>
        <p:spPr>
          <a:xfrm>
            <a:off x="5429250" y="1582738"/>
            <a:ext cx="200025" cy="287337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087"/>
              </a:cxn>
              <a:cxn ang="0">
                <a:pos x="56877" y="285087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2021" name="TextBox 67"/>
          <p:cNvSpPr txBox="1"/>
          <p:nvPr/>
        </p:nvSpPr>
        <p:spPr>
          <a:xfrm>
            <a:off x="5286375" y="9286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i=2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2" name="TextBox 68"/>
          <p:cNvSpPr txBox="1"/>
          <p:nvPr/>
        </p:nvSpPr>
        <p:spPr>
          <a:xfrm>
            <a:off x="5286375" y="21621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3" name="矩形 69"/>
          <p:cNvSpPr/>
          <p:nvPr/>
        </p:nvSpPr>
        <p:spPr>
          <a:xfrm>
            <a:off x="1357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4" name="矩形 70"/>
          <p:cNvSpPr/>
          <p:nvPr/>
        </p:nvSpPr>
        <p:spPr>
          <a:xfrm>
            <a:off x="1643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5" name="矩形 71"/>
          <p:cNvSpPr/>
          <p:nvPr/>
        </p:nvSpPr>
        <p:spPr>
          <a:xfrm>
            <a:off x="1928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6" name="矩形 72"/>
          <p:cNvSpPr/>
          <p:nvPr/>
        </p:nvSpPr>
        <p:spPr>
          <a:xfrm>
            <a:off x="2214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7" name="矩形 73"/>
          <p:cNvSpPr/>
          <p:nvPr/>
        </p:nvSpPr>
        <p:spPr>
          <a:xfrm>
            <a:off x="2500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8" name="矩形 74"/>
          <p:cNvSpPr/>
          <p:nvPr/>
        </p:nvSpPr>
        <p:spPr>
          <a:xfrm>
            <a:off x="2786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29" name="矩形 75"/>
          <p:cNvSpPr/>
          <p:nvPr/>
        </p:nvSpPr>
        <p:spPr>
          <a:xfrm>
            <a:off x="3071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0" name="矩形 76"/>
          <p:cNvSpPr/>
          <p:nvPr/>
        </p:nvSpPr>
        <p:spPr>
          <a:xfrm>
            <a:off x="3357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1" name="矩形 77"/>
          <p:cNvSpPr/>
          <p:nvPr/>
        </p:nvSpPr>
        <p:spPr>
          <a:xfrm>
            <a:off x="3643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2" name="矩形 78"/>
          <p:cNvSpPr/>
          <p:nvPr/>
        </p:nvSpPr>
        <p:spPr>
          <a:xfrm>
            <a:off x="185737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3" name="矩形 79"/>
          <p:cNvSpPr/>
          <p:nvPr/>
        </p:nvSpPr>
        <p:spPr>
          <a:xfrm>
            <a:off x="214312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4" name="矩形 80"/>
          <p:cNvSpPr/>
          <p:nvPr/>
        </p:nvSpPr>
        <p:spPr>
          <a:xfrm>
            <a:off x="242887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5" name="矩形 81"/>
          <p:cNvSpPr/>
          <p:nvPr/>
        </p:nvSpPr>
        <p:spPr>
          <a:xfrm>
            <a:off x="271462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6" name="矩形 82"/>
          <p:cNvSpPr/>
          <p:nvPr/>
        </p:nvSpPr>
        <p:spPr>
          <a:xfrm>
            <a:off x="300037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7" name="矩形 83"/>
          <p:cNvSpPr/>
          <p:nvPr/>
        </p:nvSpPr>
        <p:spPr>
          <a:xfrm>
            <a:off x="328612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38" name="任意多边形 84"/>
          <p:cNvSpPr/>
          <p:nvPr/>
        </p:nvSpPr>
        <p:spPr>
          <a:xfrm>
            <a:off x="1928813" y="3511550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2039" name="TextBox 85"/>
          <p:cNvSpPr txBox="1"/>
          <p:nvPr/>
        </p:nvSpPr>
        <p:spPr>
          <a:xfrm>
            <a:off x="1857375" y="2857500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i=3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0" name="TextBox 86"/>
          <p:cNvSpPr txBox="1"/>
          <p:nvPr/>
        </p:nvSpPr>
        <p:spPr>
          <a:xfrm>
            <a:off x="1785938" y="40909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1" name="矩形 87"/>
          <p:cNvSpPr/>
          <p:nvPr/>
        </p:nvSpPr>
        <p:spPr>
          <a:xfrm>
            <a:off x="5072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2" name="矩形 88"/>
          <p:cNvSpPr/>
          <p:nvPr/>
        </p:nvSpPr>
        <p:spPr>
          <a:xfrm>
            <a:off x="5357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3" name="矩形 89"/>
          <p:cNvSpPr/>
          <p:nvPr/>
        </p:nvSpPr>
        <p:spPr>
          <a:xfrm>
            <a:off x="5643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4" name="矩形 90"/>
          <p:cNvSpPr/>
          <p:nvPr/>
        </p:nvSpPr>
        <p:spPr>
          <a:xfrm>
            <a:off x="5929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5" name="矩形 91"/>
          <p:cNvSpPr/>
          <p:nvPr/>
        </p:nvSpPr>
        <p:spPr>
          <a:xfrm>
            <a:off x="6215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6" name="矩形 92"/>
          <p:cNvSpPr/>
          <p:nvPr/>
        </p:nvSpPr>
        <p:spPr>
          <a:xfrm>
            <a:off x="6500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7" name="矩形 93"/>
          <p:cNvSpPr/>
          <p:nvPr/>
        </p:nvSpPr>
        <p:spPr>
          <a:xfrm>
            <a:off x="6786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8" name="矩形 94"/>
          <p:cNvSpPr/>
          <p:nvPr/>
        </p:nvSpPr>
        <p:spPr>
          <a:xfrm>
            <a:off x="7072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49" name="矩形 95"/>
          <p:cNvSpPr/>
          <p:nvPr/>
        </p:nvSpPr>
        <p:spPr>
          <a:xfrm>
            <a:off x="7358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0" name="矩形 96"/>
          <p:cNvSpPr/>
          <p:nvPr/>
        </p:nvSpPr>
        <p:spPr>
          <a:xfrm>
            <a:off x="592931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1" name="矩形 97"/>
          <p:cNvSpPr/>
          <p:nvPr/>
        </p:nvSpPr>
        <p:spPr>
          <a:xfrm>
            <a:off x="621506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2" name="矩形 98"/>
          <p:cNvSpPr/>
          <p:nvPr/>
        </p:nvSpPr>
        <p:spPr>
          <a:xfrm>
            <a:off x="650081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3" name="矩形 99"/>
          <p:cNvSpPr/>
          <p:nvPr/>
        </p:nvSpPr>
        <p:spPr>
          <a:xfrm>
            <a:off x="678656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4" name="矩形 100"/>
          <p:cNvSpPr/>
          <p:nvPr/>
        </p:nvSpPr>
        <p:spPr>
          <a:xfrm>
            <a:off x="707231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5" name="矩形 101"/>
          <p:cNvSpPr/>
          <p:nvPr/>
        </p:nvSpPr>
        <p:spPr>
          <a:xfrm>
            <a:off x="735806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6" name="任意多边形 102"/>
          <p:cNvSpPr/>
          <p:nvPr/>
        </p:nvSpPr>
        <p:spPr>
          <a:xfrm>
            <a:off x="5943600" y="3511550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2057" name="TextBox 103"/>
          <p:cNvSpPr txBox="1"/>
          <p:nvPr/>
        </p:nvSpPr>
        <p:spPr>
          <a:xfrm>
            <a:off x="5822950" y="2857500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i=4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8" name="TextBox 104"/>
          <p:cNvSpPr txBox="1"/>
          <p:nvPr/>
        </p:nvSpPr>
        <p:spPr>
          <a:xfrm>
            <a:off x="5857875" y="40909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59" name="矩形 105"/>
          <p:cNvSpPr/>
          <p:nvPr/>
        </p:nvSpPr>
        <p:spPr>
          <a:xfrm>
            <a:off x="13573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0" name="矩形 106"/>
          <p:cNvSpPr/>
          <p:nvPr/>
        </p:nvSpPr>
        <p:spPr>
          <a:xfrm>
            <a:off x="16430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1" name="矩形 107"/>
          <p:cNvSpPr/>
          <p:nvPr/>
        </p:nvSpPr>
        <p:spPr>
          <a:xfrm>
            <a:off x="19288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2" name="矩形 108"/>
          <p:cNvSpPr/>
          <p:nvPr/>
        </p:nvSpPr>
        <p:spPr>
          <a:xfrm>
            <a:off x="22145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3" name="矩形 109"/>
          <p:cNvSpPr/>
          <p:nvPr/>
        </p:nvSpPr>
        <p:spPr>
          <a:xfrm>
            <a:off x="25003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4" name="矩形 110"/>
          <p:cNvSpPr/>
          <p:nvPr/>
        </p:nvSpPr>
        <p:spPr>
          <a:xfrm>
            <a:off x="27860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5" name="矩形 111"/>
          <p:cNvSpPr/>
          <p:nvPr/>
        </p:nvSpPr>
        <p:spPr>
          <a:xfrm>
            <a:off x="30718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6" name="矩形 112"/>
          <p:cNvSpPr/>
          <p:nvPr/>
        </p:nvSpPr>
        <p:spPr>
          <a:xfrm>
            <a:off x="33575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7" name="矩形 113"/>
          <p:cNvSpPr/>
          <p:nvPr/>
        </p:nvSpPr>
        <p:spPr>
          <a:xfrm>
            <a:off x="36433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8" name="矩形 114"/>
          <p:cNvSpPr/>
          <p:nvPr/>
        </p:nvSpPr>
        <p:spPr>
          <a:xfrm>
            <a:off x="2428875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69" name="矩形 115"/>
          <p:cNvSpPr/>
          <p:nvPr/>
        </p:nvSpPr>
        <p:spPr>
          <a:xfrm>
            <a:off x="2714625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0" name="矩形 116"/>
          <p:cNvSpPr/>
          <p:nvPr/>
        </p:nvSpPr>
        <p:spPr>
          <a:xfrm>
            <a:off x="3000375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1" name="矩形 117"/>
          <p:cNvSpPr/>
          <p:nvPr/>
        </p:nvSpPr>
        <p:spPr>
          <a:xfrm>
            <a:off x="3286125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2" name="矩形 118"/>
          <p:cNvSpPr/>
          <p:nvPr/>
        </p:nvSpPr>
        <p:spPr>
          <a:xfrm>
            <a:off x="3571875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3" name="矩形 119"/>
          <p:cNvSpPr/>
          <p:nvPr/>
        </p:nvSpPr>
        <p:spPr>
          <a:xfrm>
            <a:off x="3857625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4" name="任意多边形 120"/>
          <p:cNvSpPr/>
          <p:nvPr/>
        </p:nvSpPr>
        <p:spPr>
          <a:xfrm>
            <a:off x="2500313" y="5368925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2075" name="TextBox 121"/>
          <p:cNvSpPr txBox="1"/>
          <p:nvPr/>
        </p:nvSpPr>
        <p:spPr>
          <a:xfrm>
            <a:off x="2393950" y="5948363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6" name="TextBox 122"/>
          <p:cNvSpPr txBox="1"/>
          <p:nvPr/>
        </p:nvSpPr>
        <p:spPr>
          <a:xfrm>
            <a:off x="2428875" y="473392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i=5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7" name="矩形 123"/>
          <p:cNvSpPr/>
          <p:nvPr/>
        </p:nvSpPr>
        <p:spPr>
          <a:xfrm>
            <a:off x="50720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8" name="矩形 124"/>
          <p:cNvSpPr/>
          <p:nvPr/>
        </p:nvSpPr>
        <p:spPr>
          <a:xfrm>
            <a:off x="53578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79" name="矩形 125"/>
          <p:cNvSpPr/>
          <p:nvPr/>
        </p:nvSpPr>
        <p:spPr>
          <a:xfrm>
            <a:off x="56435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0" name="矩形 126"/>
          <p:cNvSpPr/>
          <p:nvPr/>
        </p:nvSpPr>
        <p:spPr>
          <a:xfrm>
            <a:off x="59293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1" name="矩形 127"/>
          <p:cNvSpPr/>
          <p:nvPr/>
        </p:nvSpPr>
        <p:spPr>
          <a:xfrm>
            <a:off x="62150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2" name="矩形 128"/>
          <p:cNvSpPr/>
          <p:nvPr/>
        </p:nvSpPr>
        <p:spPr>
          <a:xfrm>
            <a:off x="65008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3" name="矩形 129"/>
          <p:cNvSpPr/>
          <p:nvPr/>
        </p:nvSpPr>
        <p:spPr>
          <a:xfrm>
            <a:off x="67865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4" name="矩形 130"/>
          <p:cNvSpPr/>
          <p:nvPr/>
        </p:nvSpPr>
        <p:spPr>
          <a:xfrm>
            <a:off x="70723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5" name="矩形 131"/>
          <p:cNvSpPr/>
          <p:nvPr/>
        </p:nvSpPr>
        <p:spPr>
          <a:xfrm>
            <a:off x="73580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6" name="矩形 132"/>
          <p:cNvSpPr/>
          <p:nvPr/>
        </p:nvSpPr>
        <p:spPr>
          <a:xfrm>
            <a:off x="6429375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7" name="矩形 133"/>
          <p:cNvSpPr/>
          <p:nvPr/>
        </p:nvSpPr>
        <p:spPr>
          <a:xfrm>
            <a:off x="6715125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8" name="矩形 134"/>
          <p:cNvSpPr/>
          <p:nvPr/>
        </p:nvSpPr>
        <p:spPr>
          <a:xfrm>
            <a:off x="7000875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89" name="矩形 135"/>
          <p:cNvSpPr/>
          <p:nvPr/>
        </p:nvSpPr>
        <p:spPr>
          <a:xfrm>
            <a:off x="7286625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0" name="矩形 136"/>
          <p:cNvSpPr/>
          <p:nvPr/>
        </p:nvSpPr>
        <p:spPr>
          <a:xfrm>
            <a:off x="7572375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1" name="矩形 137"/>
          <p:cNvSpPr/>
          <p:nvPr/>
        </p:nvSpPr>
        <p:spPr>
          <a:xfrm>
            <a:off x="7858125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2" name="任意多边形 138"/>
          <p:cNvSpPr/>
          <p:nvPr/>
        </p:nvSpPr>
        <p:spPr>
          <a:xfrm>
            <a:off x="6500813" y="5349875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2093" name="TextBox 139"/>
          <p:cNvSpPr txBox="1"/>
          <p:nvPr/>
        </p:nvSpPr>
        <p:spPr>
          <a:xfrm>
            <a:off x="6394450" y="5929313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4" name="TextBox 140"/>
          <p:cNvSpPr txBox="1"/>
          <p:nvPr/>
        </p:nvSpPr>
        <p:spPr>
          <a:xfrm>
            <a:off x="6429375" y="47148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5" name="TextBox 141"/>
          <p:cNvSpPr txBox="1"/>
          <p:nvPr/>
        </p:nvSpPr>
        <p:spPr>
          <a:xfrm>
            <a:off x="642938" y="1214438"/>
            <a:ext cx="4540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6" name="TextBox 142"/>
          <p:cNvSpPr txBox="1"/>
          <p:nvPr/>
        </p:nvSpPr>
        <p:spPr>
          <a:xfrm>
            <a:off x="4546600" y="1214438"/>
            <a:ext cx="4540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7" name="TextBox 143"/>
          <p:cNvSpPr txBox="1"/>
          <p:nvPr/>
        </p:nvSpPr>
        <p:spPr>
          <a:xfrm>
            <a:off x="642938" y="3143250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8" name="TextBox 144"/>
          <p:cNvSpPr txBox="1"/>
          <p:nvPr/>
        </p:nvSpPr>
        <p:spPr>
          <a:xfrm>
            <a:off x="4475163" y="3130550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9" name="TextBox 145"/>
          <p:cNvSpPr txBox="1"/>
          <p:nvPr/>
        </p:nvSpPr>
        <p:spPr>
          <a:xfrm>
            <a:off x="642938" y="5000625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100" name="TextBox 146"/>
          <p:cNvSpPr txBox="1"/>
          <p:nvPr/>
        </p:nvSpPr>
        <p:spPr>
          <a:xfrm>
            <a:off x="4429125" y="4987925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(6)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4786313" y="2447925"/>
            <a:ext cx="4143375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T(1)!=T(2), T(2) == S(2)  =&gt;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step(2) ignored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642938" y="4429125"/>
            <a:ext cx="4143375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T(1)!=T(3), T(3) == S(3)  =&gt;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step(3) ignored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643563" y="4429125"/>
            <a:ext cx="3000375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 before,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step(4) ignored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14375" y="6286500"/>
            <a:ext cx="3143250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 before,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step(5) ignored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4857750" y="6234113"/>
            <a:ext cx="3857625" cy="58420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Only step(1) and (6)  is required and 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Variable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not decremented.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50" grpId="0" animBg="1"/>
      <p:bldP spid="151" grpId="0" animBg="1"/>
      <p:bldP spid="152" grpId="0" animBg="1"/>
      <p:bldP spid="15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1"/>
          <p:cNvSpPr>
            <a:spLocks noGrp="1" noChangeArrowheads="1"/>
          </p:cNvSpPr>
          <p:nvPr>
            <p:ph type="title"/>
          </p:nvPr>
        </p:nvSpPr>
        <p:spPr>
          <a:xfrm>
            <a:off x="357188" y="285750"/>
            <a:ext cx="8229600" cy="6429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示例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2]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ea typeface="+mn-ea"/>
                <a:cs typeface="华文新魏" panose="02010800040101010101" pitchFamily="2" charset="-122"/>
              </a:rPr>
              <a:t>简单模式匹配算法的冗余比较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4035" name="矩形 3"/>
          <p:cNvSpPr/>
          <p:nvPr/>
        </p:nvSpPr>
        <p:spPr>
          <a:xfrm>
            <a:off x="1357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6" name="矩形 6"/>
          <p:cNvSpPr/>
          <p:nvPr/>
        </p:nvSpPr>
        <p:spPr>
          <a:xfrm>
            <a:off x="1643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7" name="矩形 7"/>
          <p:cNvSpPr/>
          <p:nvPr/>
        </p:nvSpPr>
        <p:spPr>
          <a:xfrm>
            <a:off x="1928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8" name="矩形 8"/>
          <p:cNvSpPr/>
          <p:nvPr/>
        </p:nvSpPr>
        <p:spPr>
          <a:xfrm>
            <a:off x="2214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9" name="矩形 9"/>
          <p:cNvSpPr/>
          <p:nvPr/>
        </p:nvSpPr>
        <p:spPr>
          <a:xfrm>
            <a:off x="2500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0" name="矩形 10"/>
          <p:cNvSpPr/>
          <p:nvPr/>
        </p:nvSpPr>
        <p:spPr>
          <a:xfrm>
            <a:off x="2786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1" name="矩形 11"/>
          <p:cNvSpPr/>
          <p:nvPr/>
        </p:nvSpPr>
        <p:spPr>
          <a:xfrm>
            <a:off x="3071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2" name="矩形 12"/>
          <p:cNvSpPr/>
          <p:nvPr/>
        </p:nvSpPr>
        <p:spPr>
          <a:xfrm>
            <a:off x="3357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3" name="矩形 13"/>
          <p:cNvSpPr/>
          <p:nvPr/>
        </p:nvSpPr>
        <p:spPr>
          <a:xfrm>
            <a:off x="3643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4" name="矩形 14"/>
          <p:cNvSpPr/>
          <p:nvPr/>
        </p:nvSpPr>
        <p:spPr>
          <a:xfrm>
            <a:off x="1357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4045" name="矩形 15"/>
          <p:cNvSpPr/>
          <p:nvPr/>
        </p:nvSpPr>
        <p:spPr>
          <a:xfrm>
            <a:off x="1643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4046" name="矩形 16"/>
          <p:cNvSpPr/>
          <p:nvPr/>
        </p:nvSpPr>
        <p:spPr>
          <a:xfrm>
            <a:off x="1928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7" name="矩形 17"/>
          <p:cNvSpPr/>
          <p:nvPr/>
        </p:nvSpPr>
        <p:spPr>
          <a:xfrm>
            <a:off x="2214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4048" name="矩形 18"/>
          <p:cNvSpPr/>
          <p:nvPr/>
        </p:nvSpPr>
        <p:spPr>
          <a:xfrm>
            <a:off x="2500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4049" name="矩形 19"/>
          <p:cNvSpPr/>
          <p:nvPr/>
        </p:nvSpPr>
        <p:spPr>
          <a:xfrm>
            <a:off x="2786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0" name="任意多边形 48"/>
          <p:cNvSpPr/>
          <p:nvPr/>
        </p:nvSpPr>
        <p:spPr>
          <a:xfrm>
            <a:off x="2828925" y="1582738"/>
            <a:ext cx="200025" cy="287337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087"/>
              </a:cxn>
              <a:cxn ang="0">
                <a:pos x="56877" y="285087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4051" name="TextBox 49"/>
          <p:cNvSpPr txBox="1"/>
          <p:nvPr/>
        </p:nvSpPr>
        <p:spPr>
          <a:xfrm>
            <a:off x="2749550" y="9286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2" name="TextBox 50"/>
          <p:cNvSpPr txBox="1"/>
          <p:nvPr/>
        </p:nvSpPr>
        <p:spPr>
          <a:xfrm>
            <a:off x="2714625" y="21621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3" name="矩形 51"/>
          <p:cNvSpPr/>
          <p:nvPr/>
        </p:nvSpPr>
        <p:spPr>
          <a:xfrm>
            <a:off x="5072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4" name="矩形 52"/>
          <p:cNvSpPr/>
          <p:nvPr/>
        </p:nvSpPr>
        <p:spPr>
          <a:xfrm>
            <a:off x="5357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5" name="矩形 53"/>
          <p:cNvSpPr/>
          <p:nvPr/>
        </p:nvSpPr>
        <p:spPr>
          <a:xfrm>
            <a:off x="5643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6" name="矩形 54"/>
          <p:cNvSpPr/>
          <p:nvPr/>
        </p:nvSpPr>
        <p:spPr>
          <a:xfrm>
            <a:off x="5929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7" name="矩形 55"/>
          <p:cNvSpPr/>
          <p:nvPr/>
        </p:nvSpPr>
        <p:spPr>
          <a:xfrm>
            <a:off x="6215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8" name="矩形 56"/>
          <p:cNvSpPr/>
          <p:nvPr/>
        </p:nvSpPr>
        <p:spPr>
          <a:xfrm>
            <a:off x="65008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9" name="矩形 57"/>
          <p:cNvSpPr/>
          <p:nvPr/>
        </p:nvSpPr>
        <p:spPr>
          <a:xfrm>
            <a:off x="67865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0" name="矩形 58"/>
          <p:cNvSpPr/>
          <p:nvPr/>
        </p:nvSpPr>
        <p:spPr>
          <a:xfrm>
            <a:off x="707231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1" name="矩形 59"/>
          <p:cNvSpPr/>
          <p:nvPr/>
        </p:nvSpPr>
        <p:spPr>
          <a:xfrm>
            <a:off x="7358063" y="12858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2" name="矩形 60"/>
          <p:cNvSpPr/>
          <p:nvPr/>
        </p:nvSpPr>
        <p:spPr>
          <a:xfrm>
            <a:off x="5357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3" name="矩形 61"/>
          <p:cNvSpPr/>
          <p:nvPr/>
        </p:nvSpPr>
        <p:spPr>
          <a:xfrm>
            <a:off x="5643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4" name="矩形 62"/>
          <p:cNvSpPr/>
          <p:nvPr/>
        </p:nvSpPr>
        <p:spPr>
          <a:xfrm>
            <a:off x="59293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5" name="矩形 63"/>
          <p:cNvSpPr/>
          <p:nvPr/>
        </p:nvSpPr>
        <p:spPr>
          <a:xfrm>
            <a:off x="62150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6" name="矩形 64"/>
          <p:cNvSpPr/>
          <p:nvPr/>
        </p:nvSpPr>
        <p:spPr>
          <a:xfrm>
            <a:off x="650081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7" name="矩形 65"/>
          <p:cNvSpPr/>
          <p:nvPr/>
        </p:nvSpPr>
        <p:spPr>
          <a:xfrm>
            <a:off x="6786563" y="1857375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68" name="任意多边形 66"/>
          <p:cNvSpPr/>
          <p:nvPr/>
        </p:nvSpPr>
        <p:spPr>
          <a:xfrm>
            <a:off x="5429250" y="1582738"/>
            <a:ext cx="200025" cy="287337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087"/>
              </a:cxn>
              <a:cxn ang="0">
                <a:pos x="56877" y="285087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4069" name="TextBox 67"/>
          <p:cNvSpPr txBox="1"/>
          <p:nvPr/>
        </p:nvSpPr>
        <p:spPr>
          <a:xfrm>
            <a:off x="5286375" y="9286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i=2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0" name="TextBox 68"/>
          <p:cNvSpPr txBox="1"/>
          <p:nvPr/>
        </p:nvSpPr>
        <p:spPr>
          <a:xfrm>
            <a:off x="5286375" y="21621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1" name="矩形 69"/>
          <p:cNvSpPr/>
          <p:nvPr/>
        </p:nvSpPr>
        <p:spPr>
          <a:xfrm>
            <a:off x="1357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2" name="矩形 70"/>
          <p:cNvSpPr/>
          <p:nvPr/>
        </p:nvSpPr>
        <p:spPr>
          <a:xfrm>
            <a:off x="1643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3" name="矩形 71"/>
          <p:cNvSpPr/>
          <p:nvPr/>
        </p:nvSpPr>
        <p:spPr>
          <a:xfrm>
            <a:off x="1928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4" name="矩形 72"/>
          <p:cNvSpPr/>
          <p:nvPr/>
        </p:nvSpPr>
        <p:spPr>
          <a:xfrm>
            <a:off x="2214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5" name="矩形 73"/>
          <p:cNvSpPr/>
          <p:nvPr/>
        </p:nvSpPr>
        <p:spPr>
          <a:xfrm>
            <a:off x="2500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6" name="矩形 74"/>
          <p:cNvSpPr/>
          <p:nvPr/>
        </p:nvSpPr>
        <p:spPr>
          <a:xfrm>
            <a:off x="2786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7" name="矩形 75"/>
          <p:cNvSpPr/>
          <p:nvPr/>
        </p:nvSpPr>
        <p:spPr>
          <a:xfrm>
            <a:off x="3071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8" name="矩形 76"/>
          <p:cNvSpPr/>
          <p:nvPr/>
        </p:nvSpPr>
        <p:spPr>
          <a:xfrm>
            <a:off x="3357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79" name="矩形 77"/>
          <p:cNvSpPr/>
          <p:nvPr/>
        </p:nvSpPr>
        <p:spPr>
          <a:xfrm>
            <a:off x="3643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0" name="矩形 78"/>
          <p:cNvSpPr/>
          <p:nvPr/>
        </p:nvSpPr>
        <p:spPr>
          <a:xfrm>
            <a:off x="185737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1" name="矩形 79"/>
          <p:cNvSpPr/>
          <p:nvPr/>
        </p:nvSpPr>
        <p:spPr>
          <a:xfrm>
            <a:off x="214312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2" name="矩形 80"/>
          <p:cNvSpPr/>
          <p:nvPr/>
        </p:nvSpPr>
        <p:spPr>
          <a:xfrm>
            <a:off x="242887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3" name="矩形 81"/>
          <p:cNvSpPr/>
          <p:nvPr/>
        </p:nvSpPr>
        <p:spPr>
          <a:xfrm>
            <a:off x="271462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4" name="矩形 82"/>
          <p:cNvSpPr/>
          <p:nvPr/>
        </p:nvSpPr>
        <p:spPr>
          <a:xfrm>
            <a:off x="300037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5" name="矩形 83"/>
          <p:cNvSpPr/>
          <p:nvPr/>
        </p:nvSpPr>
        <p:spPr>
          <a:xfrm>
            <a:off x="3286125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6" name="任意多边形 84"/>
          <p:cNvSpPr/>
          <p:nvPr/>
        </p:nvSpPr>
        <p:spPr>
          <a:xfrm>
            <a:off x="1928813" y="3511550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4087" name="TextBox 85"/>
          <p:cNvSpPr txBox="1"/>
          <p:nvPr/>
        </p:nvSpPr>
        <p:spPr>
          <a:xfrm>
            <a:off x="1857375" y="2857500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i=3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8" name="TextBox 86"/>
          <p:cNvSpPr txBox="1"/>
          <p:nvPr/>
        </p:nvSpPr>
        <p:spPr>
          <a:xfrm>
            <a:off x="1785938" y="40909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89" name="矩形 87"/>
          <p:cNvSpPr/>
          <p:nvPr/>
        </p:nvSpPr>
        <p:spPr>
          <a:xfrm>
            <a:off x="5072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0" name="矩形 88"/>
          <p:cNvSpPr/>
          <p:nvPr/>
        </p:nvSpPr>
        <p:spPr>
          <a:xfrm>
            <a:off x="5357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1" name="矩形 89"/>
          <p:cNvSpPr/>
          <p:nvPr/>
        </p:nvSpPr>
        <p:spPr>
          <a:xfrm>
            <a:off x="5643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2" name="矩形 90"/>
          <p:cNvSpPr/>
          <p:nvPr/>
        </p:nvSpPr>
        <p:spPr>
          <a:xfrm>
            <a:off x="5929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3" name="矩形 91"/>
          <p:cNvSpPr/>
          <p:nvPr/>
        </p:nvSpPr>
        <p:spPr>
          <a:xfrm>
            <a:off x="6215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4" name="矩形 92"/>
          <p:cNvSpPr/>
          <p:nvPr/>
        </p:nvSpPr>
        <p:spPr>
          <a:xfrm>
            <a:off x="65008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5" name="矩形 93"/>
          <p:cNvSpPr/>
          <p:nvPr/>
        </p:nvSpPr>
        <p:spPr>
          <a:xfrm>
            <a:off x="67865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6" name="矩形 94"/>
          <p:cNvSpPr/>
          <p:nvPr/>
        </p:nvSpPr>
        <p:spPr>
          <a:xfrm>
            <a:off x="707231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7" name="矩形 95"/>
          <p:cNvSpPr/>
          <p:nvPr/>
        </p:nvSpPr>
        <p:spPr>
          <a:xfrm>
            <a:off x="7358063" y="32146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8" name="矩形 96"/>
          <p:cNvSpPr/>
          <p:nvPr/>
        </p:nvSpPr>
        <p:spPr>
          <a:xfrm>
            <a:off x="592931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99" name="矩形 97"/>
          <p:cNvSpPr/>
          <p:nvPr/>
        </p:nvSpPr>
        <p:spPr>
          <a:xfrm>
            <a:off x="621506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0" name="矩形 98"/>
          <p:cNvSpPr/>
          <p:nvPr/>
        </p:nvSpPr>
        <p:spPr>
          <a:xfrm>
            <a:off x="650081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1" name="矩形 99"/>
          <p:cNvSpPr/>
          <p:nvPr/>
        </p:nvSpPr>
        <p:spPr>
          <a:xfrm>
            <a:off x="678656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2" name="矩形 100"/>
          <p:cNvSpPr/>
          <p:nvPr/>
        </p:nvSpPr>
        <p:spPr>
          <a:xfrm>
            <a:off x="707231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3" name="矩形 101"/>
          <p:cNvSpPr/>
          <p:nvPr/>
        </p:nvSpPr>
        <p:spPr>
          <a:xfrm>
            <a:off x="7358063" y="3786188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4" name="任意多边形 102"/>
          <p:cNvSpPr/>
          <p:nvPr/>
        </p:nvSpPr>
        <p:spPr>
          <a:xfrm>
            <a:off x="5943600" y="3511550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4105" name="TextBox 103"/>
          <p:cNvSpPr txBox="1"/>
          <p:nvPr/>
        </p:nvSpPr>
        <p:spPr>
          <a:xfrm>
            <a:off x="5822950" y="2857500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i=4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6" name="TextBox 104"/>
          <p:cNvSpPr txBox="1"/>
          <p:nvPr/>
        </p:nvSpPr>
        <p:spPr>
          <a:xfrm>
            <a:off x="5857875" y="4090988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j=1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7" name="矩形 105"/>
          <p:cNvSpPr/>
          <p:nvPr/>
        </p:nvSpPr>
        <p:spPr>
          <a:xfrm>
            <a:off x="13573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8" name="矩形 106"/>
          <p:cNvSpPr/>
          <p:nvPr/>
        </p:nvSpPr>
        <p:spPr>
          <a:xfrm>
            <a:off x="16430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09" name="矩形 107"/>
          <p:cNvSpPr/>
          <p:nvPr/>
        </p:nvSpPr>
        <p:spPr>
          <a:xfrm>
            <a:off x="19288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0" name="矩形 108"/>
          <p:cNvSpPr/>
          <p:nvPr/>
        </p:nvSpPr>
        <p:spPr>
          <a:xfrm>
            <a:off x="22145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1" name="矩形 109"/>
          <p:cNvSpPr/>
          <p:nvPr/>
        </p:nvSpPr>
        <p:spPr>
          <a:xfrm>
            <a:off x="25003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2" name="矩形 110"/>
          <p:cNvSpPr/>
          <p:nvPr/>
        </p:nvSpPr>
        <p:spPr>
          <a:xfrm>
            <a:off x="27860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3" name="矩形 111"/>
          <p:cNvSpPr/>
          <p:nvPr/>
        </p:nvSpPr>
        <p:spPr>
          <a:xfrm>
            <a:off x="30718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4" name="矩形 112"/>
          <p:cNvSpPr/>
          <p:nvPr/>
        </p:nvSpPr>
        <p:spPr>
          <a:xfrm>
            <a:off x="335756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5" name="矩形 113"/>
          <p:cNvSpPr/>
          <p:nvPr/>
        </p:nvSpPr>
        <p:spPr>
          <a:xfrm>
            <a:off x="3643313" y="50720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6" name="矩形 114"/>
          <p:cNvSpPr/>
          <p:nvPr/>
        </p:nvSpPr>
        <p:spPr>
          <a:xfrm>
            <a:off x="2214563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7" name="矩形 115"/>
          <p:cNvSpPr/>
          <p:nvPr/>
        </p:nvSpPr>
        <p:spPr>
          <a:xfrm>
            <a:off x="2500313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8" name="矩形 116"/>
          <p:cNvSpPr/>
          <p:nvPr/>
        </p:nvSpPr>
        <p:spPr>
          <a:xfrm>
            <a:off x="2786063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19" name="矩形 117"/>
          <p:cNvSpPr/>
          <p:nvPr/>
        </p:nvSpPr>
        <p:spPr>
          <a:xfrm>
            <a:off x="3071813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0" name="矩形 118"/>
          <p:cNvSpPr/>
          <p:nvPr/>
        </p:nvSpPr>
        <p:spPr>
          <a:xfrm>
            <a:off x="3357563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1" name="矩形 119"/>
          <p:cNvSpPr/>
          <p:nvPr/>
        </p:nvSpPr>
        <p:spPr>
          <a:xfrm>
            <a:off x="3643313" y="564356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2" name="任意多边形 120"/>
          <p:cNvSpPr/>
          <p:nvPr/>
        </p:nvSpPr>
        <p:spPr>
          <a:xfrm>
            <a:off x="2500313" y="5368925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4123" name="TextBox 121"/>
          <p:cNvSpPr txBox="1"/>
          <p:nvPr/>
        </p:nvSpPr>
        <p:spPr>
          <a:xfrm>
            <a:off x="2428875" y="5948363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j=2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4" name="TextBox 122"/>
          <p:cNvSpPr txBox="1"/>
          <p:nvPr/>
        </p:nvSpPr>
        <p:spPr>
          <a:xfrm>
            <a:off x="2428875" y="473392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i=5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5" name="矩形 123"/>
          <p:cNvSpPr/>
          <p:nvPr/>
        </p:nvSpPr>
        <p:spPr>
          <a:xfrm>
            <a:off x="50720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6" name="矩形 124"/>
          <p:cNvSpPr/>
          <p:nvPr/>
        </p:nvSpPr>
        <p:spPr>
          <a:xfrm>
            <a:off x="53578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7" name="矩形 125"/>
          <p:cNvSpPr/>
          <p:nvPr/>
        </p:nvSpPr>
        <p:spPr>
          <a:xfrm>
            <a:off x="56435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8" name="矩形 126"/>
          <p:cNvSpPr/>
          <p:nvPr/>
        </p:nvSpPr>
        <p:spPr>
          <a:xfrm>
            <a:off x="59293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29" name="矩形 127"/>
          <p:cNvSpPr/>
          <p:nvPr/>
        </p:nvSpPr>
        <p:spPr>
          <a:xfrm>
            <a:off x="62150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0" name="矩形 128"/>
          <p:cNvSpPr/>
          <p:nvPr/>
        </p:nvSpPr>
        <p:spPr>
          <a:xfrm>
            <a:off x="65008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1" name="矩形 129"/>
          <p:cNvSpPr/>
          <p:nvPr/>
        </p:nvSpPr>
        <p:spPr>
          <a:xfrm>
            <a:off x="67865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2" name="矩形 130"/>
          <p:cNvSpPr/>
          <p:nvPr/>
        </p:nvSpPr>
        <p:spPr>
          <a:xfrm>
            <a:off x="707231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3" name="矩形 131"/>
          <p:cNvSpPr/>
          <p:nvPr/>
        </p:nvSpPr>
        <p:spPr>
          <a:xfrm>
            <a:off x="7358063" y="50530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4" name="矩形 132"/>
          <p:cNvSpPr/>
          <p:nvPr/>
        </p:nvSpPr>
        <p:spPr>
          <a:xfrm>
            <a:off x="5964238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5" name="矩形 133"/>
          <p:cNvSpPr/>
          <p:nvPr/>
        </p:nvSpPr>
        <p:spPr>
          <a:xfrm>
            <a:off x="6249988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6" name="矩形 134"/>
          <p:cNvSpPr/>
          <p:nvPr/>
        </p:nvSpPr>
        <p:spPr>
          <a:xfrm>
            <a:off x="6535738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7" name="矩形 135"/>
          <p:cNvSpPr/>
          <p:nvPr/>
        </p:nvSpPr>
        <p:spPr>
          <a:xfrm>
            <a:off x="6821488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8" name="矩形 136"/>
          <p:cNvSpPr/>
          <p:nvPr/>
        </p:nvSpPr>
        <p:spPr>
          <a:xfrm>
            <a:off x="7107238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39" name="矩形 137"/>
          <p:cNvSpPr/>
          <p:nvPr/>
        </p:nvSpPr>
        <p:spPr>
          <a:xfrm>
            <a:off x="7392988" y="5624513"/>
            <a:ext cx="285750" cy="285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0" name="任意多边形 138"/>
          <p:cNvSpPr/>
          <p:nvPr/>
        </p:nvSpPr>
        <p:spPr>
          <a:xfrm>
            <a:off x="6500813" y="5349875"/>
            <a:ext cx="200025" cy="287338"/>
          </a:xfrm>
          <a:custGeom>
            <a:avLst/>
            <a:gdLst>
              <a:gd name="txL" fmla="*/ 0 w 200297"/>
              <a:gd name="txT" fmla="*/ 0 h 287382"/>
              <a:gd name="txR" fmla="*/ 200297 w 200297"/>
              <a:gd name="txB" fmla="*/ 287382 h 287382"/>
            </a:gdLst>
            <a:ahLst/>
            <a:cxnLst>
              <a:cxn ang="0">
                <a:pos x="130009" y="0"/>
              </a:cxn>
              <a:cxn ang="0">
                <a:pos x="8127" y="129608"/>
              </a:cxn>
              <a:cxn ang="0">
                <a:pos x="178762" y="129608"/>
              </a:cxn>
              <a:cxn ang="0">
                <a:pos x="56877" y="285138"/>
              </a:cxn>
              <a:cxn ang="0">
                <a:pos x="56877" y="285138"/>
              </a:cxn>
            </a:cxnLst>
            <a:rect l="txL" t="txT" r="txR" b="txB"/>
            <a:pathLst>
              <a:path w="200297" h="287382">
                <a:moveTo>
                  <a:pt x="139337" y="0"/>
                </a:moveTo>
                <a:cubicBezTo>
                  <a:pt x="69668" y="54428"/>
                  <a:pt x="0" y="108857"/>
                  <a:pt x="8708" y="130628"/>
                </a:cubicBezTo>
                <a:cubicBezTo>
                  <a:pt x="17417" y="152399"/>
                  <a:pt x="182880" y="104502"/>
                  <a:pt x="191588" y="130628"/>
                </a:cubicBezTo>
                <a:cubicBezTo>
                  <a:pt x="200297" y="156754"/>
                  <a:pt x="60959" y="287382"/>
                  <a:pt x="60959" y="287382"/>
                </a:cubicBezTo>
              </a:path>
            </a:pathLst>
          </a:custGeom>
          <a:solidFill>
            <a:schemeClr val="bg1">
              <a:alpha val="100000"/>
            </a:schemeClr>
          </a:solidFill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4141" name="TextBox 139"/>
          <p:cNvSpPr txBox="1"/>
          <p:nvPr/>
        </p:nvSpPr>
        <p:spPr>
          <a:xfrm>
            <a:off x="6465888" y="5929313"/>
            <a:ext cx="463550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j=3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2" name="TextBox 140"/>
          <p:cNvSpPr txBox="1"/>
          <p:nvPr/>
        </p:nvSpPr>
        <p:spPr>
          <a:xfrm>
            <a:off x="6429375" y="4714875"/>
            <a:ext cx="4635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ea typeface="宋体" panose="02010600030101010101" pitchFamily="2" charset="-122"/>
              </a:rPr>
              <a:t>i=6</a:t>
            </a:r>
            <a:endParaRPr lang="zh-CN" altLang="en-US" sz="16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3" name="TextBox 141"/>
          <p:cNvSpPr txBox="1"/>
          <p:nvPr/>
        </p:nvSpPr>
        <p:spPr>
          <a:xfrm>
            <a:off x="642938" y="1214438"/>
            <a:ext cx="4540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4" name="TextBox 142"/>
          <p:cNvSpPr txBox="1"/>
          <p:nvPr/>
        </p:nvSpPr>
        <p:spPr>
          <a:xfrm>
            <a:off x="4546600" y="1214438"/>
            <a:ext cx="45402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5" name="TextBox 143"/>
          <p:cNvSpPr txBox="1"/>
          <p:nvPr/>
        </p:nvSpPr>
        <p:spPr>
          <a:xfrm>
            <a:off x="642938" y="3143250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6" name="TextBox 144"/>
          <p:cNvSpPr txBox="1"/>
          <p:nvPr/>
        </p:nvSpPr>
        <p:spPr>
          <a:xfrm>
            <a:off x="4475163" y="3130550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7" name="TextBox 145"/>
          <p:cNvSpPr txBox="1"/>
          <p:nvPr/>
        </p:nvSpPr>
        <p:spPr>
          <a:xfrm>
            <a:off x="642938" y="5000625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148" name="TextBox 146"/>
          <p:cNvSpPr txBox="1"/>
          <p:nvPr/>
        </p:nvSpPr>
        <p:spPr>
          <a:xfrm>
            <a:off x="4429125" y="4987925"/>
            <a:ext cx="4540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(6)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4786313" y="2447925"/>
            <a:ext cx="4143375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T(1)!=T(2), T(2) == S(2)  =&gt;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step(2) ignored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642938" y="4429125"/>
            <a:ext cx="4143375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T(1)!=T(3), T(3) == S(3)  =&gt;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step(3) ignored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929188" y="4416425"/>
            <a:ext cx="4214813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T(1)==T(4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T(4)==S(4)  =&gt;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step(4) ignored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14375" y="6273800"/>
            <a:ext cx="4143375" cy="33813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T(2)==T(5), T(5)==S(5)  =&gt;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step(5) ignored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4929188" y="6234113"/>
            <a:ext cx="3857625" cy="58420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Only step(1) and (6)  is required and 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Variable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not decremented.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50" grpId="0" animBg="1"/>
      <p:bldP spid="151" grpId="0" animBg="1"/>
      <p:bldP spid="152" grpId="0" animBg="1"/>
      <p:bldP spid="15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pic>
        <p:nvPicPr>
          <p:cNvPr id="4608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438" y="2060575"/>
            <a:ext cx="3810000" cy="381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sz="28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Knuth-Morris-Pratt </a:t>
            </a:r>
            <a:br>
              <a:rPr lang="en-US" altLang="zh-CN" sz="28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(KMP </a:t>
            </a:r>
            <a:r>
              <a:rPr lang="zh-CN" altLang="en-US" sz="2800" dirty="0">
                <a:solidFill>
                  <a:schemeClr val="hlink"/>
                </a:solidFill>
                <a:latin typeface="Georgia" panose="02040502050405020303" pitchFamily="18" charset="0"/>
                <a:ea typeface="宋体" panose="02010600030101010101" pitchFamily="2" charset="-122"/>
              </a:rPr>
              <a:t>算法）</a:t>
            </a:r>
            <a:endParaRPr lang="zh-CN" altLang="en-US" dirty="0"/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en-US" altLang="zh-CN" dirty="0"/>
          </a:p>
          <a:p>
            <a:r>
              <a:rPr lang="zh-CN" altLang="en-US" sz="2800" dirty="0"/>
              <a:t>通过上面两个示例可以发现，简单模式匹配算法存在冗余比较的问题</a:t>
            </a:r>
            <a:endParaRPr lang="en-US" altLang="zh-CN" sz="2800" dirty="0"/>
          </a:p>
          <a:p>
            <a:r>
              <a:rPr lang="en-US" altLang="zh-CN" sz="2800" dirty="0"/>
              <a:t>KMP</a:t>
            </a:r>
            <a:r>
              <a:rPr lang="zh-CN" altLang="en-US" sz="2800" dirty="0"/>
              <a:t>算法减少了冗余比较，从而提升了字符串匹配的效率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KMP </a:t>
            </a:r>
            <a:r>
              <a:rPr lang="zh-CN" altLang="en-US" dirty="0"/>
              <a:t>算法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FF0000"/>
                </a:solidFill>
              </a:rPr>
              <a:t>核心思想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当匹配失败时，直接查找新的匹配位置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保持</a:t>
            </a:r>
            <a:r>
              <a:rPr lang="en-US" altLang="zh-CN" sz="2000" dirty="0"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ea typeface="宋体" panose="02010600030101010101" pitchFamily="2" charset="-122"/>
              </a:rPr>
              <a:t>指针不减小，调整</a:t>
            </a:r>
            <a:r>
              <a:rPr lang="en-US" altLang="zh-CN" sz="2000" dirty="0">
                <a:ea typeface="宋体" panose="02010600030101010101" pitchFamily="2" charset="-122"/>
              </a:rPr>
              <a:t>j</a:t>
            </a:r>
            <a:r>
              <a:rPr lang="zh-CN" altLang="en-US" sz="2000" dirty="0">
                <a:ea typeface="宋体" panose="02010600030101010101" pitchFamily="2" charset="-122"/>
              </a:rPr>
              <a:t>到新位置</a:t>
            </a:r>
            <a:r>
              <a:rPr lang="en-US" altLang="zh-CN" sz="2000" dirty="0">
                <a:ea typeface="宋体" panose="02010600030101010101" pitchFamily="2" charset="-122"/>
              </a:rPr>
              <a:t>k</a:t>
            </a:r>
            <a:endParaRPr lang="en-US" altLang="zh-CN" sz="2000" dirty="0">
              <a:ea typeface="宋体" panose="02010600030101010101" pitchFamily="2" charset="-122"/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9156" name="Text Box 48"/>
          <p:cNvSpPr txBox="1"/>
          <p:nvPr/>
        </p:nvSpPr>
        <p:spPr>
          <a:xfrm>
            <a:off x="474663" y="3379788"/>
            <a:ext cx="596423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分析：如果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S[i]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和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T[j]</a:t>
            </a:r>
            <a:r>
              <a:rPr lang="en-US" altLang="zh-CN" sz="2000" baseline="-15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CC"/>
                </a:solidFill>
                <a:ea typeface="宋体" panose="02010600030101010101" pitchFamily="2" charset="-122"/>
              </a:rPr>
              <a:t>不匹配</a:t>
            </a:r>
            <a:r>
              <a:rPr lang="en-US" altLang="zh-CN" sz="1800" b="0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 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S[i] 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T[k] 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比较</a:t>
            </a: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Rectangle 7"/>
          <p:cNvSpPr/>
          <p:nvPr/>
        </p:nvSpPr>
        <p:spPr>
          <a:xfrm>
            <a:off x="1371600" y="5014913"/>
            <a:ext cx="3962400" cy="609600"/>
          </a:xfrm>
          <a:prstGeom prst="rect">
            <a:avLst/>
          </a:prstGeom>
          <a:noFill/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838200" y="4024313"/>
            <a:ext cx="7467600" cy="609600"/>
            <a:chOff x="192" y="336"/>
            <a:chExt cx="4704" cy="384"/>
          </a:xfrm>
        </p:grpSpPr>
        <p:sp>
          <p:nvSpPr>
            <p:cNvPr id="49189" name="Rectangle 2"/>
            <p:cNvSpPr/>
            <p:nvPr/>
          </p:nvSpPr>
          <p:spPr>
            <a:xfrm>
              <a:off x="528" y="336"/>
              <a:ext cx="4368" cy="384"/>
            </a:xfrm>
            <a:prstGeom prst="rect">
              <a:avLst/>
            </a:prstGeom>
            <a:noFill/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190" name="Text Box 8"/>
            <p:cNvSpPr txBox="1"/>
            <p:nvPr/>
          </p:nvSpPr>
          <p:spPr>
            <a:xfrm>
              <a:off x="192" y="336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s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7" name="Text Box 9"/>
          <p:cNvSpPr txBox="1"/>
          <p:nvPr/>
        </p:nvSpPr>
        <p:spPr>
          <a:xfrm>
            <a:off x="838200" y="5014913"/>
            <a:ext cx="381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8" name="Rectangle 11"/>
          <p:cNvSpPr/>
          <p:nvPr/>
        </p:nvSpPr>
        <p:spPr>
          <a:xfrm>
            <a:off x="1981200" y="5014913"/>
            <a:ext cx="3962400" cy="609600"/>
          </a:xfrm>
          <a:prstGeom prst="rect">
            <a:avLst/>
          </a:prstGeom>
          <a:noFill/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" name="Rectangle 17"/>
          <p:cNvSpPr/>
          <p:nvPr/>
        </p:nvSpPr>
        <p:spPr>
          <a:xfrm>
            <a:off x="1981200" y="4024313"/>
            <a:ext cx="152400" cy="609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" name="Rectangle 18"/>
          <p:cNvSpPr/>
          <p:nvPr/>
        </p:nvSpPr>
        <p:spPr>
          <a:xfrm>
            <a:off x="1981200" y="5014913"/>
            <a:ext cx="152400" cy="609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" name="Rectangle 21"/>
          <p:cNvSpPr/>
          <p:nvPr/>
        </p:nvSpPr>
        <p:spPr>
          <a:xfrm>
            <a:off x="1981200" y="4024313"/>
            <a:ext cx="2209800" cy="609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" name="Rectangle 22"/>
          <p:cNvSpPr/>
          <p:nvPr/>
        </p:nvSpPr>
        <p:spPr>
          <a:xfrm>
            <a:off x="1981200" y="5014913"/>
            <a:ext cx="2209800" cy="609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" name="Rectangle 25"/>
          <p:cNvSpPr/>
          <p:nvPr/>
        </p:nvSpPr>
        <p:spPr>
          <a:xfrm>
            <a:off x="3352800" y="5014913"/>
            <a:ext cx="838200" cy="609600"/>
          </a:xfrm>
          <a:prstGeom prst="rect">
            <a:avLst/>
          </a:prstGeom>
          <a:solidFill>
            <a:srgbClr val="3333FF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" name="Rectangle 26"/>
          <p:cNvSpPr/>
          <p:nvPr/>
        </p:nvSpPr>
        <p:spPr>
          <a:xfrm>
            <a:off x="3352800" y="4024313"/>
            <a:ext cx="838200" cy="609600"/>
          </a:xfrm>
          <a:prstGeom prst="rect">
            <a:avLst/>
          </a:prstGeom>
          <a:solidFill>
            <a:srgbClr val="3333FF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" name="Rectangle 27"/>
          <p:cNvSpPr/>
          <p:nvPr/>
        </p:nvSpPr>
        <p:spPr>
          <a:xfrm>
            <a:off x="4191000" y="4024313"/>
            <a:ext cx="152400" cy="609600"/>
          </a:xfrm>
          <a:prstGeom prst="rect">
            <a:avLst/>
          </a:prstGeom>
          <a:solidFill>
            <a:srgbClr val="33CC33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" name="Rectangle 28"/>
          <p:cNvSpPr/>
          <p:nvPr/>
        </p:nvSpPr>
        <p:spPr>
          <a:xfrm>
            <a:off x="4191000" y="5014913"/>
            <a:ext cx="152400" cy="6096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" name="Text Box 38"/>
          <p:cNvSpPr txBox="1"/>
          <p:nvPr/>
        </p:nvSpPr>
        <p:spPr>
          <a:xfrm>
            <a:off x="4046538" y="4592638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" name="Text Box 41"/>
          <p:cNvSpPr txBox="1"/>
          <p:nvPr/>
        </p:nvSpPr>
        <p:spPr>
          <a:xfrm>
            <a:off x="4114800" y="3643313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i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49"/>
          <p:cNvGrpSpPr/>
          <p:nvPr/>
        </p:nvGrpSpPr>
        <p:grpSpPr>
          <a:xfrm>
            <a:off x="3276600" y="5589588"/>
            <a:ext cx="4038600" cy="990600"/>
            <a:chOff x="2016" y="1440"/>
            <a:chExt cx="2544" cy="624"/>
          </a:xfrm>
        </p:grpSpPr>
        <p:grpSp>
          <p:nvGrpSpPr>
            <p:cNvPr id="49183" name="Group 36"/>
            <p:cNvGrpSpPr/>
            <p:nvPr/>
          </p:nvGrpSpPr>
          <p:grpSpPr>
            <a:xfrm>
              <a:off x="2064" y="1680"/>
              <a:ext cx="2496" cy="384"/>
              <a:chOff x="1776" y="1296"/>
              <a:chExt cx="2496" cy="384"/>
            </a:xfrm>
          </p:grpSpPr>
          <p:sp>
            <p:nvSpPr>
              <p:cNvPr id="49186" name="Rectangle 29"/>
              <p:cNvSpPr/>
              <p:nvPr/>
            </p:nvSpPr>
            <p:spPr>
              <a:xfrm>
                <a:off x="1776" y="1296"/>
                <a:ext cx="2496" cy="384"/>
              </a:xfrm>
              <a:prstGeom prst="rect">
                <a:avLst/>
              </a:prstGeom>
              <a:noFill/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187" name="Rectangle 31"/>
              <p:cNvSpPr/>
              <p:nvPr/>
            </p:nvSpPr>
            <p:spPr>
              <a:xfrm>
                <a:off x="1776" y="1296"/>
                <a:ext cx="528" cy="384"/>
              </a:xfrm>
              <a:prstGeom prst="rect">
                <a:avLst/>
              </a:prstGeom>
              <a:solidFill>
                <a:srgbClr val="3333FF"/>
              </a:solidFill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188" name="Rectangle 32"/>
              <p:cNvSpPr/>
              <p:nvPr/>
            </p:nvSpPr>
            <p:spPr>
              <a:xfrm>
                <a:off x="2304" y="1296"/>
                <a:ext cx="96" cy="384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rgbClr val="210B73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2"/>
                    </a:solidFill>
                    <a:latin typeface="+mn-lt"/>
                    <a:ea typeface="+mj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2"/>
                    </a:solidFill>
                    <a:latin typeface="+mn-lt"/>
                    <a:ea typeface="楷体_GB2312" pitchFamily="49" charset="-122"/>
                    <a:cs typeface="楷体_GB2312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kumimoji="1" sz="2000">
                    <a:solidFill>
                      <a:schemeClr val="tx2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9184" name="Text Box 43"/>
            <p:cNvSpPr txBox="1"/>
            <p:nvPr/>
          </p:nvSpPr>
          <p:spPr>
            <a:xfrm>
              <a:off x="2016" y="1440"/>
              <a:ext cx="1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185" name="Text Box 44"/>
            <p:cNvSpPr txBox="1"/>
            <p:nvPr/>
          </p:nvSpPr>
          <p:spPr>
            <a:xfrm>
              <a:off x="2544" y="1440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k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1"/>
          <p:cNvGrpSpPr/>
          <p:nvPr/>
        </p:nvGrpSpPr>
        <p:grpSpPr>
          <a:xfrm>
            <a:off x="1870075" y="4633913"/>
            <a:ext cx="1177925" cy="487362"/>
            <a:chOff x="1130" y="816"/>
            <a:chExt cx="742" cy="307"/>
          </a:xfrm>
        </p:grpSpPr>
        <p:sp>
          <p:nvSpPr>
            <p:cNvPr id="49181" name="Text Box 39"/>
            <p:cNvSpPr txBox="1"/>
            <p:nvPr/>
          </p:nvSpPr>
          <p:spPr>
            <a:xfrm>
              <a:off x="1702" y="816"/>
              <a:ext cx="1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k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182" name="Text Box 40"/>
            <p:cNvSpPr txBox="1"/>
            <p:nvPr/>
          </p:nvSpPr>
          <p:spPr>
            <a:xfrm>
              <a:off x="1130" y="835"/>
              <a:ext cx="1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0439" name="Text Box 45"/>
          <p:cNvSpPr txBox="1"/>
          <p:nvPr/>
        </p:nvSpPr>
        <p:spPr>
          <a:xfrm>
            <a:off x="2916238" y="4651375"/>
            <a:ext cx="914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j-k+1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" name="Text Box 52"/>
          <p:cNvSpPr txBox="1"/>
          <p:nvPr/>
        </p:nvSpPr>
        <p:spPr>
          <a:xfrm>
            <a:off x="1371600" y="6081713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A50021"/>
                </a:solidFill>
                <a:ea typeface="宋体" panose="02010600030101010101" pitchFamily="2" charset="-122"/>
              </a:rPr>
              <a:t>next[j] = k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" name="Rectangle 55"/>
          <p:cNvSpPr/>
          <p:nvPr/>
        </p:nvSpPr>
        <p:spPr>
          <a:xfrm>
            <a:off x="1981200" y="5014913"/>
            <a:ext cx="838200" cy="609600"/>
          </a:xfrm>
          <a:prstGeom prst="rect">
            <a:avLst/>
          </a:prstGeom>
          <a:solidFill>
            <a:srgbClr val="3333FF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8538" y="5157788"/>
            <a:ext cx="35083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675063" y="5122863"/>
            <a:ext cx="31273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000" dirty="0">
                <a:solidFill>
                  <a:srgbClr val="FFFFFF"/>
                </a:solidFill>
                <a:ea typeface="宋体" panose="02010600030101010101" pitchFamily="2" charset="-122"/>
              </a:rPr>
              <a:t>B</a:t>
            </a:r>
            <a:endParaRPr lang="zh-CN" altLang="en-US" sz="20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687763" y="4149725"/>
            <a:ext cx="30003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0" dirty="0">
                <a:solidFill>
                  <a:schemeClr val="bg1"/>
                </a:solidFill>
                <a:ea typeface="宋体" panose="02010600030101010101" pitchFamily="2" charset="-122"/>
              </a:rPr>
              <a:t>C</a:t>
            </a:r>
            <a:endParaRPr lang="zh-CN" altLang="en-US" sz="1800" b="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03800" y="4076700"/>
            <a:ext cx="1198563" cy="646113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B=C,</a:t>
            </a:r>
            <a:r>
              <a: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A=B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=&gt;</a:t>
            </a:r>
            <a:r>
              <a: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A=C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180" name="文本框 50"/>
          <p:cNvSpPr txBox="1"/>
          <p:nvPr/>
        </p:nvSpPr>
        <p:spPr>
          <a:xfrm>
            <a:off x="3635375" y="6092825"/>
            <a:ext cx="3524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endParaRPr lang="zh-CN" altLang="en-US" sz="1800" b="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60439" grpId="0"/>
      <p:bldP spid="62" grpId="0"/>
      <p:bldP spid="63" grpId="0" animBg="1"/>
      <p:bldP spid="4" grpId="0"/>
      <p:bldP spid="49" grpId="0"/>
      <p:bldP spid="50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如何调整</a:t>
            </a:r>
            <a:r>
              <a:rPr lang="en-US" altLang="zh-CN" dirty="0"/>
              <a:t>j</a:t>
            </a:r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457200" y="2286000"/>
            <a:ext cx="8686800" cy="1360488"/>
            <a:chOff x="144" y="1536"/>
            <a:chExt cx="5472" cy="857"/>
          </a:xfrm>
        </p:grpSpPr>
        <p:sp>
          <p:nvSpPr>
            <p:cNvPr id="51229" name="Text Box 5"/>
            <p:cNvSpPr txBox="1"/>
            <p:nvPr/>
          </p:nvSpPr>
          <p:spPr>
            <a:xfrm>
              <a:off x="144" y="1872"/>
              <a:ext cx="91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next[j]   =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30" name="Text Box 6"/>
            <p:cNvSpPr txBox="1"/>
            <p:nvPr/>
          </p:nvSpPr>
          <p:spPr>
            <a:xfrm>
              <a:off x="864" y="1536"/>
              <a:ext cx="528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80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{</a:t>
              </a:r>
              <a:endParaRPr lang="en-US" altLang="zh-CN" sz="80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31" name="Text Box 7"/>
            <p:cNvSpPr txBox="1"/>
            <p:nvPr/>
          </p:nvSpPr>
          <p:spPr>
            <a:xfrm>
              <a:off x="1152" y="1584"/>
              <a:ext cx="139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0     when j=1 </a:t>
              </a: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32" name="Text Box 8"/>
            <p:cNvSpPr txBox="1"/>
            <p:nvPr/>
          </p:nvSpPr>
          <p:spPr>
            <a:xfrm>
              <a:off x="1152" y="1872"/>
              <a:ext cx="4464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Max { k | 1&lt;k&lt;j  and</a:t>
              </a:r>
              <a:r>
                <a:rPr lang="zh-CN" altLang="en-US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 ‘</a:t>
              </a: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p</a:t>
              </a:r>
              <a:r>
                <a:rPr lang="en-US" altLang="zh-CN" sz="1800" b="0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p</a:t>
              </a:r>
              <a:r>
                <a:rPr lang="en-US" altLang="zh-CN" sz="1800" b="0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…p</a:t>
              </a:r>
              <a:r>
                <a:rPr lang="en-US" altLang="zh-CN" sz="1800" b="0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k-1</a:t>
              </a: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’=‘p</a:t>
              </a:r>
              <a:r>
                <a:rPr lang="en-US" altLang="zh-CN" sz="1800" b="0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j-k+1</a:t>
              </a: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p</a:t>
              </a:r>
              <a:r>
                <a:rPr lang="en-US" altLang="zh-CN" sz="1800" b="0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j-k+2</a:t>
              </a: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 …p</a:t>
              </a:r>
              <a:r>
                <a:rPr lang="en-US" altLang="zh-CN" sz="1800" b="0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j-1</a:t>
              </a: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’ }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33" name="Text Box 9"/>
            <p:cNvSpPr txBox="1"/>
            <p:nvPr/>
          </p:nvSpPr>
          <p:spPr>
            <a:xfrm>
              <a:off x="1152" y="2160"/>
              <a:ext cx="139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1     otherwise</a:t>
              </a: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" name="Text Box 11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686800" cy="904875"/>
          </a:xfrm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对比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]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和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t[j]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如果相等则继续匹配，否则匹配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]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和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t [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next[j]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]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直到结束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31" name="Text Box 22"/>
          <p:cNvSpPr txBox="1"/>
          <p:nvPr/>
        </p:nvSpPr>
        <p:spPr>
          <a:xfrm>
            <a:off x="1066800" y="5757863"/>
            <a:ext cx="1143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楷体_GB2312" pitchFamily="49" charset="-122"/>
              </a:rPr>
              <a:t>next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785813" y="4691063"/>
            <a:ext cx="7748587" cy="1524000"/>
            <a:chOff x="351" y="2784"/>
            <a:chExt cx="4881" cy="960"/>
          </a:xfrm>
        </p:grpSpPr>
        <p:sp>
          <p:nvSpPr>
            <p:cNvPr id="51222" name="Line 17"/>
            <p:cNvSpPr/>
            <p:nvPr/>
          </p:nvSpPr>
          <p:spPr>
            <a:xfrm>
              <a:off x="384" y="3120"/>
              <a:ext cx="4704" cy="0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3" name="Line 18"/>
            <p:cNvSpPr/>
            <p:nvPr/>
          </p:nvSpPr>
          <p:spPr>
            <a:xfrm>
              <a:off x="1056" y="2832"/>
              <a:ext cx="0" cy="912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4" name="Line 19"/>
            <p:cNvSpPr/>
            <p:nvPr/>
          </p:nvSpPr>
          <p:spPr>
            <a:xfrm>
              <a:off x="384" y="3456"/>
              <a:ext cx="4704" cy="0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5" name="Text Box 20"/>
            <p:cNvSpPr txBox="1"/>
            <p:nvPr/>
          </p:nvSpPr>
          <p:spPr>
            <a:xfrm>
              <a:off x="672" y="2784"/>
              <a:ext cx="2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j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26" name="Text Box 21"/>
            <p:cNvSpPr txBox="1"/>
            <p:nvPr/>
          </p:nvSpPr>
          <p:spPr>
            <a:xfrm>
              <a:off x="351" y="3168"/>
              <a:ext cx="72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ea typeface="楷体_GB2312" pitchFamily="49" charset="-122"/>
                </a:rPr>
                <a:t>String T</a:t>
              </a: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27" name="Text Box 23"/>
            <p:cNvSpPr txBox="1"/>
            <p:nvPr/>
          </p:nvSpPr>
          <p:spPr>
            <a:xfrm>
              <a:off x="1200" y="3120"/>
              <a:ext cx="40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a       a      b       c      a       a      a      b      c       a      d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28" name="Text Box 24"/>
            <p:cNvSpPr txBox="1"/>
            <p:nvPr/>
          </p:nvSpPr>
          <p:spPr>
            <a:xfrm>
              <a:off x="1200" y="2784"/>
              <a:ext cx="40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1       2      3       4      5       6      7      8      9     10    11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0" name="Text Box 25"/>
          <p:cNvSpPr txBox="1"/>
          <p:nvPr/>
        </p:nvSpPr>
        <p:spPr>
          <a:xfrm>
            <a:off x="2133600" y="5757863"/>
            <a:ext cx="381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" name="Text Box 30"/>
          <p:cNvSpPr txBox="1"/>
          <p:nvPr/>
        </p:nvSpPr>
        <p:spPr>
          <a:xfrm>
            <a:off x="2667000" y="5757863"/>
            <a:ext cx="457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" name="Text Box 31"/>
          <p:cNvSpPr txBox="1"/>
          <p:nvPr/>
        </p:nvSpPr>
        <p:spPr>
          <a:xfrm>
            <a:off x="3200400" y="5757863"/>
            <a:ext cx="5334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" name="Text Box 32"/>
          <p:cNvSpPr txBox="1"/>
          <p:nvPr/>
        </p:nvSpPr>
        <p:spPr>
          <a:xfrm>
            <a:off x="3733800" y="5757863"/>
            <a:ext cx="457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" name="Text Box 33"/>
          <p:cNvSpPr txBox="1"/>
          <p:nvPr/>
        </p:nvSpPr>
        <p:spPr>
          <a:xfrm>
            <a:off x="4267200" y="5757863"/>
            <a:ext cx="381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" name="Text Box 34"/>
          <p:cNvSpPr txBox="1"/>
          <p:nvPr/>
        </p:nvSpPr>
        <p:spPr>
          <a:xfrm>
            <a:off x="4800600" y="5757863"/>
            <a:ext cx="457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" name="Text Box 35"/>
          <p:cNvSpPr txBox="1"/>
          <p:nvPr/>
        </p:nvSpPr>
        <p:spPr>
          <a:xfrm>
            <a:off x="5334000" y="5757863"/>
            <a:ext cx="381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" name="Text Box 36"/>
          <p:cNvSpPr txBox="1"/>
          <p:nvPr/>
        </p:nvSpPr>
        <p:spPr>
          <a:xfrm>
            <a:off x="5867400" y="5757863"/>
            <a:ext cx="457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" name="Text Box 37"/>
          <p:cNvSpPr txBox="1"/>
          <p:nvPr/>
        </p:nvSpPr>
        <p:spPr>
          <a:xfrm>
            <a:off x="6400800" y="5757863"/>
            <a:ext cx="457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" name="Text Box 38"/>
          <p:cNvSpPr txBox="1"/>
          <p:nvPr/>
        </p:nvSpPr>
        <p:spPr>
          <a:xfrm>
            <a:off x="6934200" y="5757863"/>
            <a:ext cx="381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" name="Text Box 39"/>
          <p:cNvSpPr txBox="1"/>
          <p:nvPr/>
        </p:nvSpPr>
        <p:spPr>
          <a:xfrm>
            <a:off x="7467600" y="5757863"/>
            <a:ext cx="457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6700" y="3763963"/>
            <a:ext cx="8686800" cy="9239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next[j]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含义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：从模式串的第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到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j-1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位置构成的子串中，寻找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最长的相同前后缀子串。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前后缀子串为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个字符时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, k = 2</a:t>
            </a:r>
            <a: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;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前后缀子串为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个字符时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, k = 3</a:t>
            </a:r>
            <a: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;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前后缀子串为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个字符时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, k = n+1.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4300" y="6300788"/>
            <a:ext cx="4772025" cy="369887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Next[j] </a:t>
            </a:r>
            <a:r>
              <a:rPr lang="zh-CN" altLang="en-US" sz="1800" dirty="0"/>
              <a:t>只与字符串 </a:t>
            </a:r>
            <a:r>
              <a:rPr lang="en-US" altLang="zh-CN" sz="1800" dirty="0"/>
              <a:t>T </a:t>
            </a:r>
            <a:r>
              <a:rPr lang="zh-CN" altLang="en-US" sz="1800" dirty="0"/>
              <a:t>相关，与字符串 </a:t>
            </a:r>
            <a:r>
              <a:rPr lang="en-US" altLang="zh-CN" sz="1800" dirty="0"/>
              <a:t>S </a:t>
            </a:r>
            <a:r>
              <a:rPr lang="zh-CN" altLang="en-US" sz="1800" dirty="0"/>
              <a:t>无关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20" name="文本框 4"/>
          <p:cNvSpPr txBox="1"/>
          <p:nvPr/>
        </p:nvSpPr>
        <p:spPr>
          <a:xfrm>
            <a:off x="7924800" y="3275013"/>
            <a:ext cx="838200" cy="369887"/>
          </a:xfrm>
          <a:prstGeom prst="rect">
            <a:avLst/>
          </a:prstGeom>
          <a:solidFill>
            <a:srgbClr val="FAFA6C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rPr>
              <a:t>示例 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21" name="文本框 32"/>
          <p:cNvSpPr txBox="1"/>
          <p:nvPr/>
        </p:nvSpPr>
        <p:spPr>
          <a:xfrm>
            <a:off x="7910513" y="2843213"/>
            <a:ext cx="838200" cy="369887"/>
          </a:xfrm>
          <a:prstGeom prst="rect">
            <a:avLst/>
          </a:prstGeom>
          <a:solidFill>
            <a:srgbClr val="FAFA6C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rPr>
              <a:t>示例 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charRg st="4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charRg st="4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>
                                            <p:txEl>
                                              <p:charRg st="4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1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30" grpId="0" animBg="1" build="p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标题 5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53251" name="Text Box 2"/>
          <p:cNvSpPr txBox="1"/>
          <p:nvPr/>
        </p:nvSpPr>
        <p:spPr>
          <a:xfrm>
            <a:off x="428625" y="1214438"/>
            <a:ext cx="8104188" cy="547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 //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在字符串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S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位置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pos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之后的字符中，查找与模式字符串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T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的匹配位置</a:t>
            </a:r>
            <a:endParaRPr lang="en-US" altLang="zh-CN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 //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假定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next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数组已知，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T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是非空的，</a:t>
            </a:r>
            <a:r>
              <a:rPr lang="zh-CN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1&lt;=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pos&lt;=Strlength(S)</a:t>
            </a:r>
            <a:endParaRPr lang="en-US" altLang="zh-CN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int  Index_KMP( SString  S, SString T, int pos )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{    i = pos ;  j = 1;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while ( i &lt;= S[0]  &amp;&amp;  j &lt;= T[0] )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{  if ( j == 0 || S[i] == T[j] )   { ++i ;  ++j ;  }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  else  j = next[ j ];  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}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if (  j &gt; T[0] )</a:t>
            </a: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// 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找到匹配的子串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return  i-T[0];</a:t>
            </a:r>
            <a:r>
              <a:rPr lang="zh-CN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2000" b="0" dirty="0">
                <a:solidFill>
                  <a:srgbClr val="00B050"/>
                </a:solidFill>
                <a:ea typeface="宋体" panose="02010600030101010101" pitchFamily="2" charset="-122"/>
              </a:rPr>
              <a:t> 返回位序</a:t>
            </a:r>
            <a:endParaRPr lang="zh-CN" altLang="en-US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else return 0;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}  </a:t>
            </a:r>
            <a:r>
              <a:rPr lang="en-US" altLang="zh-CN" sz="2000" b="0" dirty="0">
                <a:solidFill>
                  <a:srgbClr val="00B050"/>
                </a:solidFill>
                <a:ea typeface="宋体" panose="02010600030101010101" pitchFamily="2" charset="-122"/>
              </a:rPr>
              <a:t>// Index_KMP</a:t>
            </a:r>
            <a:endParaRPr lang="en-US" altLang="zh-CN" sz="20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53252" name="文本框 1"/>
          <p:cNvSpPr txBox="1"/>
          <p:nvPr/>
        </p:nvSpPr>
        <p:spPr>
          <a:xfrm>
            <a:off x="5580063" y="5661025"/>
            <a:ext cx="3024187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>
                <a:solidFill>
                  <a:srgbClr val="FF0000"/>
                </a:solidFill>
                <a:ea typeface="宋体" panose="02010600030101010101" pitchFamily="2" charset="-122"/>
              </a:rPr>
              <a:t>时间复杂度</a:t>
            </a: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O(m+n)</a:t>
            </a:r>
            <a:endParaRPr lang="zh-CN" altLang="en-US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矩形 10"/>
          <p:cNvSpPr/>
          <p:nvPr/>
        </p:nvSpPr>
        <p:spPr>
          <a:xfrm>
            <a:off x="7524750" y="4652963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299" name="矩形 28"/>
          <p:cNvSpPr/>
          <p:nvPr/>
        </p:nvSpPr>
        <p:spPr>
          <a:xfrm>
            <a:off x="7524750" y="5516563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00" name="矩形 20"/>
          <p:cNvSpPr/>
          <p:nvPr/>
        </p:nvSpPr>
        <p:spPr>
          <a:xfrm>
            <a:off x="5940425" y="5516563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55301" name="直接连接符 27"/>
          <p:cNvCxnSpPr/>
          <p:nvPr/>
        </p:nvCxnSpPr>
        <p:spPr>
          <a:xfrm>
            <a:off x="6732588" y="5445125"/>
            <a:ext cx="0" cy="1223963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</p:cxnSp>
      <p:sp>
        <p:nvSpPr>
          <p:cNvPr id="5530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next</a:t>
            </a:r>
            <a:r>
              <a:rPr lang="zh-CN" altLang="en-US" dirty="0"/>
              <a:t>数组的求解</a:t>
            </a:r>
            <a:endParaRPr lang="zh-CN" altLang="en-US" dirty="0"/>
          </a:p>
        </p:txBody>
      </p:sp>
      <p:sp>
        <p:nvSpPr>
          <p:cNvPr id="55303" name="内容占位符 2"/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4752975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对于一个模式串</a:t>
            </a:r>
            <a:r>
              <a:rPr lang="en-US" altLang="zh-CN" dirty="0"/>
              <a:t>T</a:t>
            </a:r>
            <a:r>
              <a:rPr lang="zh-CN" altLang="en-US" dirty="0"/>
              <a:t>，如何求解其</a:t>
            </a:r>
            <a:r>
              <a:rPr lang="en-US" altLang="zh-CN" dirty="0"/>
              <a:t>next</a:t>
            </a:r>
            <a:r>
              <a:rPr lang="zh-CN" altLang="en-US" dirty="0"/>
              <a:t>数组？</a:t>
            </a:r>
            <a:endParaRPr lang="en-US" altLang="zh-CN" dirty="0"/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暴力求解，效率太低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我们可以采用一种递推的高效求解方法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j=1,2,…,9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，分别计算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next[j]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j=7,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T[1:2]=T[5:6],next[7]=3,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我们假设指针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用于记录这个位置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55304" name="矩形 5"/>
          <p:cNvSpPr/>
          <p:nvPr/>
        </p:nvSpPr>
        <p:spPr>
          <a:xfrm>
            <a:off x="1187450" y="4654550"/>
            <a:ext cx="792163" cy="792163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05" name="矩形 6"/>
          <p:cNvSpPr/>
          <p:nvPr/>
        </p:nvSpPr>
        <p:spPr>
          <a:xfrm>
            <a:off x="1979613" y="4654550"/>
            <a:ext cx="792162" cy="792163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06" name="矩形 7"/>
          <p:cNvSpPr/>
          <p:nvPr/>
        </p:nvSpPr>
        <p:spPr>
          <a:xfrm>
            <a:off x="2771775" y="4654550"/>
            <a:ext cx="792163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	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07" name="矩形 8"/>
          <p:cNvSpPr/>
          <p:nvPr/>
        </p:nvSpPr>
        <p:spPr>
          <a:xfrm>
            <a:off x="3563938" y="4654550"/>
            <a:ext cx="792162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08" name="矩形 9"/>
          <p:cNvSpPr/>
          <p:nvPr/>
        </p:nvSpPr>
        <p:spPr>
          <a:xfrm>
            <a:off x="4356100" y="4654550"/>
            <a:ext cx="792163" cy="792163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09" name="矩形 10"/>
          <p:cNvSpPr/>
          <p:nvPr/>
        </p:nvSpPr>
        <p:spPr>
          <a:xfrm>
            <a:off x="5148263" y="4654550"/>
            <a:ext cx="792162" cy="792163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0" name="矩形 9"/>
          <p:cNvSpPr/>
          <p:nvPr/>
        </p:nvSpPr>
        <p:spPr>
          <a:xfrm>
            <a:off x="5940425" y="4652963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1" name="矩形 10"/>
          <p:cNvSpPr/>
          <p:nvPr/>
        </p:nvSpPr>
        <p:spPr>
          <a:xfrm>
            <a:off x="6732588" y="4652963"/>
            <a:ext cx="792162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55312" name="直接连接符 13"/>
          <p:cNvCxnSpPr/>
          <p:nvPr/>
        </p:nvCxnSpPr>
        <p:spPr>
          <a:xfrm>
            <a:off x="6732588" y="4221163"/>
            <a:ext cx="0" cy="1223962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</p:cxnSp>
      <p:sp>
        <p:nvSpPr>
          <p:cNvPr id="55313" name="矩形 5"/>
          <p:cNvSpPr/>
          <p:nvPr/>
        </p:nvSpPr>
        <p:spPr>
          <a:xfrm>
            <a:off x="1187450" y="5518150"/>
            <a:ext cx="792163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4" name="矩形 6"/>
          <p:cNvSpPr/>
          <p:nvPr/>
        </p:nvSpPr>
        <p:spPr>
          <a:xfrm>
            <a:off x="1979613" y="5518150"/>
            <a:ext cx="792162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5" name="矩形 7"/>
          <p:cNvSpPr/>
          <p:nvPr/>
        </p:nvSpPr>
        <p:spPr>
          <a:xfrm>
            <a:off x="2771775" y="5518150"/>
            <a:ext cx="792163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6" name="矩形 8"/>
          <p:cNvSpPr/>
          <p:nvPr/>
        </p:nvSpPr>
        <p:spPr>
          <a:xfrm>
            <a:off x="3563938" y="5518150"/>
            <a:ext cx="792162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7" name="矩形 9"/>
          <p:cNvSpPr/>
          <p:nvPr/>
        </p:nvSpPr>
        <p:spPr>
          <a:xfrm>
            <a:off x="4356100" y="5518150"/>
            <a:ext cx="792163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8" name="矩形 10"/>
          <p:cNvSpPr/>
          <p:nvPr/>
        </p:nvSpPr>
        <p:spPr>
          <a:xfrm>
            <a:off x="5148263" y="5518150"/>
            <a:ext cx="792162" cy="792163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19" name="矩形 21"/>
          <p:cNvSpPr/>
          <p:nvPr/>
        </p:nvSpPr>
        <p:spPr>
          <a:xfrm>
            <a:off x="6732588" y="5516563"/>
            <a:ext cx="792162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20" name="文本框 24"/>
          <p:cNvSpPr txBox="1"/>
          <p:nvPr/>
        </p:nvSpPr>
        <p:spPr>
          <a:xfrm>
            <a:off x="192088" y="5661025"/>
            <a:ext cx="7921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next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21" name="文本框 25"/>
          <p:cNvSpPr txBox="1"/>
          <p:nvPr/>
        </p:nvSpPr>
        <p:spPr>
          <a:xfrm>
            <a:off x="192088" y="4810125"/>
            <a:ext cx="7921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22" name="文本框 25"/>
          <p:cNvSpPr txBox="1"/>
          <p:nvPr/>
        </p:nvSpPr>
        <p:spPr>
          <a:xfrm>
            <a:off x="2987675" y="3860800"/>
            <a:ext cx="792163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23" name="文本框 25"/>
          <p:cNvSpPr txBox="1"/>
          <p:nvPr/>
        </p:nvSpPr>
        <p:spPr>
          <a:xfrm>
            <a:off x="6156325" y="3873500"/>
            <a:ext cx="7921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324" name="文本框 1"/>
          <p:cNvSpPr txBox="1"/>
          <p:nvPr/>
        </p:nvSpPr>
        <p:spPr>
          <a:xfrm>
            <a:off x="900113" y="4292600"/>
            <a:ext cx="7704137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 1           2          3          4            5           6          7          8           9 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矩形 34"/>
          <p:cNvSpPr/>
          <p:nvPr/>
        </p:nvSpPr>
        <p:spPr>
          <a:xfrm>
            <a:off x="7508875" y="4292600"/>
            <a:ext cx="792163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411163" y="758825"/>
            <a:ext cx="8229600" cy="3738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计算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next[8]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由于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T[k]==T[j]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，可以构成更长的前后缀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我们让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k++,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j++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,next[j]=k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，从而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next[8]=4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</p:txBody>
      </p:sp>
      <p:sp>
        <p:nvSpPr>
          <p:cNvPr id="57348" name="矩形 25"/>
          <p:cNvSpPr/>
          <p:nvPr/>
        </p:nvSpPr>
        <p:spPr>
          <a:xfrm>
            <a:off x="5940425" y="5157788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49" name="矩形 5"/>
          <p:cNvSpPr/>
          <p:nvPr/>
        </p:nvSpPr>
        <p:spPr>
          <a:xfrm>
            <a:off x="1187450" y="4294188"/>
            <a:ext cx="792163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0" name="矩形 6"/>
          <p:cNvSpPr/>
          <p:nvPr/>
        </p:nvSpPr>
        <p:spPr>
          <a:xfrm>
            <a:off x="1979613" y="4294188"/>
            <a:ext cx="792162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1" name="矩形 7"/>
          <p:cNvSpPr/>
          <p:nvPr/>
        </p:nvSpPr>
        <p:spPr>
          <a:xfrm>
            <a:off x="2771775" y="4294188"/>
            <a:ext cx="792163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	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2" name="矩形 8"/>
          <p:cNvSpPr/>
          <p:nvPr/>
        </p:nvSpPr>
        <p:spPr>
          <a:xfrm>
            <a:off x="3563938" y="42941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3" name="矩形 9"/>
          <p:cNvSpPr/>
          <p:nvPr/>
        </p:nvSpPr>
        <p:spPr>
          <a:xfrm>
            <a:off x="4356100" y="4294188"/>
            <a:ext cx="792163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4" name="矩形 10"/>
          <p:cNvSpPr/>
          <p:nvPr/>
        </p:nvSpPr>
        <p:spPr>
          <a:xfrm>
            <a:off x="5148263" y="4294188"/>
            <a:ext cx="792162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5" name="矩形 33"/>
          <p:cNvSpPr/>
          <p:nvPr/>
        </p:nvSpPr>
        <p:spPr>
          <a:xfrm>
            <a:off x="5940425" y="4292600"/>
            <a:ext cx="792163" cy="7921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6" name="矩形 34"/>
          <p:cNvSpPr/>
          <p:nvPr/>
        </p:nvSpPr>
        <p:spPr>
          <a:xfrm>
            <a:off x="6732588" y="4292600"/>
            <a:ext cx="792162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57357" name="直接连接符 36"/>
          <p:cNvCxnSpPr/>
          <p:nvPr/>
        </p:nvCxnSpPr>
        <p:spPr>
          <a:xfrm>
            <a:off x="6732588" y="3860800"/>
            <a:ext cx="0" cy="1223963"/>
          </a:xfrm>
          <a:prstGeom prst="line">
            <a:avLst/>
          </a:prstGeom>
          <a:ln w="25400" cap="flat" cmpd="sng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</p:cxnSp>
      <p:sp>
        <p:nvSpPr>
          <p:cNvPr id="57358" name="矩形 5"/>
          <p:cNvSpPr/>
          <p:nvPr/>
        </p:nvSpPr>
        <p:spPr>
          <a:xfrm>
            <a:off x="1187450" y="51577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59" name="矩形 6"/>
          <p:cNvSpPr/>
          <p:nvPr/>
        </p:nvSpPr>
        <p:spPr>
          <a:xfrm>
            <a:off x="1979613" y="51577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0" name="矩形 7"/>
          <p:cNvSpPr/>
          <p:nvPr/>
        </p:nvSpPr>
        <p:spPr>
          <a:xfrm>
            <a:off x="2771775" y="51577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1" name="矩形 8"/>
          <p:cNvSpPr/>
          <p:nvPr/>
        </p:nvSpPr>
        <p:spPr>
          <a:xfrm>
            <a:off x="3563938" y="51577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2" name="矩形 9"/>
          <p:cNvSpPr/>
          <p:nvPr/>
        </p:nvSpPr>
        <p:spPr>
          <a:xfrm>
            <a:off x="4356100" y="51577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3" name="矩形 10"/>
          <p:cNvSpPr/>
          <p:nvPr/>
        </p:nvSpPr>
        <p:spPr>
          <a:xfrm>
            <a:off x="5148263" y="51577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4" name="矩形 43"/>
          <p:cNvSpPr/>
          <p:nvPr/>
        </p:nvSpPr>
        <p:spPr>
          <a:xfrm>
            <a:off x="6732588" y="5157788"/>
            <a:ext cx="792162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5" name="文本框 45"/>
          <p:cNvSpPr txBox="1"/>
          <p:nvPr/>
        </p:nvSpPr>
        <p:spPr>
          <a:xfrm>
            <a:off x="192088" y="5300663"/>
            <a:ext cx="7921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next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6" name="文本框 46"/>
          <p:cNvSpPr txBox="1"/>
          <p:nvPr/>
        </p:nvSpPr>
        <p:spPr>
          <a:xfrm>
            <a:off x="192088" y="4449763"/>
            <a:ext cx="7921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7" name="矩形 69"/>
          <p:cNvSpPr/>
          <p:nvPr/>
        </p:nvSpPr>
        <p:spPr>
          <a:xfrm>
            <a:off x="7524750" y="5157788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8" name="文本框 25"/>
          <p:cNvSpPr txBox="1"/>
          <p:nvPr/>
        </p:nvSpPr>
        <p:spPr>
          <a:xfrm>
            <a:off x="3706813" y="3492500"/>
            <a:ext cx="792162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69" name="文本框 25"/>
          <p:cNvSpPr txBox="1"/>
          <p:nvPr/>
        </p:nvSpPr>
        <p:spPr>
          <a:xfrm>
            <a:off x="6875463" y="3505200"/>
            <a:ext cx="7921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70" name="文本框 28"/>
          <p:cNvSpPr txBox="1"/>
          <p:nvPr/>
        </p:nvSpPr>
        <p:spPr>
          <a:xfrm>
            <a:off x="900113" y="3924300"/>
            <a:ext cx="77041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 1           2          3          4            5           6          7          8           9 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71" name="文本框 25"/>
          <p:cNvSpPr txBox="1"/>
          <p:nvPr/>
        </p:nvSpPr>
        <p:spPr>
          <a:xfrm>
            <a:off x="2932113" y="3448050"/>
            <a:ext cx="792162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72" name="文本框 25"/>
          <p:cNvSpPr txBox="1"/>
          <p:nvPr/>
        </p:nvSpPr>
        <p:spPr>
          <a:xfrm>
            <a:off x="6135688" y="3481388"/>
            <a:ext cx="7921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57373" name="直接箭头连接符 2"/>
          <p:cNvCxnSpPr/>
          <p:nvPr/>
        </p:nvCxnSpPr>
        <p:spPr>
          <a:xfrm>
            <a:off x="3327400" y="3679825"/>
            <a:ext cx="379413" cy="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7374" name="直接箭头连接符 33"/>
          <p:cNvCxnSpPr/>
          <p:nvPr/>
        </p:nvCxnSpPr>
        <p:spPr>
          <a:xfrm>
            <a:off x="6443663" y="3716338"/>
            <a:ext cx="381000" cy="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内容占位符 2"/>
          <p:cNvSpPr txBox="1"/>
          <p:nvPr/>
        </p:nvSpPr>
        <p:spPr>
          <a:xfrm>
            <a:off x="366713" y="422275"/>
            <a:ext cx="8408988" cy="3738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计算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next[9]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此时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T[k]!=T[j],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aba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无法与下一字符构成更长的相同前后缀，我们只能寻找短一些的相同前后缀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我们去检查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next[4]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，意味着在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T[1:3]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里，前后缀相同的子串是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，也即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T[1]==T[3]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而我们已知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T[1:3]==T[5:7]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，因此，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T[1]==T[7]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，这是我们根据之前的信息就能推断出的，无需比较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因此，我们让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k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回溯到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next[k]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，即可回到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T[k]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T[j]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的匹配！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</p:txBody>
      </p:sp>
      <p:sp>
        <p:nvSpPr>
          <p:cNvPr id="58371" name="矩形 25"/>
          <p:cNvSpPr/>
          <p:nvPr/>
        </p:nvSpPr>
        <p:spPr>
          <a:xfrm>
            <a:off x="5940425" y="5589588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2" name="矩形 5"/>
          <p:cNvSpPr/>
          <p:nvPr/>
        </p:nvSpPr>
        <p:spPr>
          <a:xfrm>
            <a:off x="1187450" y="4725988"/>
            <a:ext cx="792163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3" name="矩形 6"/>
          <p:cNvSpPr/>
          <p:nvPr/>
        </p:nvSpPr>
        <p:spPr>
          <a:xfrm>
            <a:off x="1979613" y="4725988"/>
            <a:ext cx="792162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4" name="矩形 7"/>
          <p:cNvSpPr/>
          <p:nvPr/>
        </p:nvSpPr>
        <p:spPr>
          <a:xfrm>
            <a:off x="2771775" y="4725988"/>
            <a:ext cx="792163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	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5" name="矩形 8"/>
          <p:cNvSpPr/>
          <p:nvPr/>
        </p:nvSpPr>
        <p:spPr>
          <a:xfrm>
            <a:off x="3563938" y="4725988"/>
            <a:ext cx="792162" cy="792162"/>
          </a:xfrm>
          <a:prstGeom prst="rect">
            <a:avLst/>
          </a:prstGeom>
          <a:solidFill>
            <a:srgbClr val="FFC00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6" name="矩形 9"/>
          <p:cNvSpPr/>
          <p:nvPr/>
        </p:nvSpPr>
        <p:spPr>
          <a:xfrm>
            <a:off x="4356100" y="4725988"/>
            <a:ext cx="792163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7" name="矩形 10"/>
          <p:cNvSpPr/>
          <p:nvPr/>
        </p:nvSpPr>
        <p:spPr>
          <a:xfrm>
            <a:off x="5148263" y="4725988"/>
            <a:ext cx="792162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8" name="矩形 33"/>
          <p:cNvSpPr/>
          <p:nvPr/>
        </p:nvSpPr>
        <p:spPr>
          <a:xfrm>
            <a:off x="5940425" y="4724400"/>
            <a:ext cx="792163" cy="7921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9" name="矩形 34"/>
          <p:cNvSpPr/>
          <p:nvPr/>
        </p:nvSpPr>
        <p:spPr>
          <a:xfrm>
            <a:off x="6732588" y="4724400"/>
            <a:ext cx="792162" cy="792163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0" name="矩形 5"/>
          <p:cNvSpPr/>
          <p:nvPr/>
        </p:nvSpPr>
        <p:spPr>
          <a:xfrm>
            <a:off x="1187450" y="55895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1" name="矩形 6"/>
          <p:cNvSpPr/>
          <p:nvPr/>
        </p:nvSpPr>
        <p:spPr>
          <a:xfrm>
            <a:off x="1979613" y="55895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2" name="矩形 7"/>
          <p:cNvSpPr/>
          <p:nvPr/>
        </p:nvSpPr>
        <p:spPr>
          <a:xfrm>
            <a:off x="2771775" y="55895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3" name="矩形 8"/>
          <p:cNvSpPr/>
          <p:nvPr/>
        </p:nvSpPr>
        <p:spPr>
          <a:xfrm>
            <a:off x="3563938" y="55895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4" name="矩形 9"/>
          <p:cNvSpPr/>
          <p:nvPr/>
        </p:nvSpPr>
        <p:spPr>
          <a:xfrm>
            <a:off x="4356100" y="55895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5" name="矩形 10"/>
          <p:cNvSpPr/>
          <p:nvPr/>
        </p:nvSpPr>
        <p:spPr>
          <a:xfrm>
            <a:off x="5148263" y="55895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6" name="矩形 43"/>
          <p:cNvSpPr/>
          <p:nvPr/>
        </p:nvSpPr>
        <p:spPr>
          <a:xfrm>
            <a:off x="6732588" y="5589588"/>
            <a:ext cx="792162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7" name="文本框 45"/>
          <p:cNvSpPr txBox="1"/>
          <p:nvPr/>
        </p:nvSpPr>
        <p:spPr>
          <a:xfrm>
            <a:off x="192088" y="5732463"/>
            <a:ext cx="7921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next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88" name="文本框 46"/>
          <p:cNvSpPr txBox="1"/>
          <p:nvPr/>
        </p:nvSpPr>
        <p:spPr>
          <a:xfrm>
            <a:off x="192088" y="4883150"/>
            <a:ext cx="7921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58389" name="直接连接符 2"/>
          <p:cNvCxnSpPr/>
          <p:nvPr/>
        </p:nvCxnSpPr>
        <p:spPr>
          <a:xfrm>
            <a:off x="1474788" y="5343525"/>
            <a:ext cx="1008062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90" name="直接连接符 26"/>
          <p:cNvCxnSpPr/>
          <p:nvPr/>
        </p:nvCxnSpPr>
        <p:spPr>
          <a:xfrm>
            <a:off x="6227763" y="5338763"/>
            <a:ext cx="1008062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8391" name="矩形 44"/>
          <p:cNvSpPr/>
          <p:nvPr/>
        </p:nvSpPr>
        <p:spPr>
          <a:xfrm>
            <a:off x="7524750" y="5589588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92" name="文本框 25"/>
          <p:cNvSpPr txBox="1"/>
          <p:nvPr/>
        </p:nvSpPr>
        <p:spPr>
          <a:xfrm>
            <a:off x="2195513" y="4005263"/>
            <a:ext cx="792162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93" name="文本框 27"/>
          <p:cNvSpPr txBox="1"/>
          <p:nvPr/>
        </p:nvSpPr>
        <p:spPr>
          <a:xfrm>
            <a:off x="900113" y="4365625"/>
            <a:ext cx="77041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 1           2          3          4            5           6          7          8           9 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94" name="矩形 34"/>
          <p:cNvSpPr/>
          <p:nvPr/>
        </p:nvSpPr>
        <p:spPr>
          <a:xfrm>
            <a:off x="7508875" y="4724400"/>
            <a:ext cx="792163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95" name="文本框 29"/>
          <p:cNvSpPr txBox="1"/>
          <p:nvPr/>
        </p:nvSpPr>
        <p:spPr>
          <a:xfrm>
            <a:off x="3778250" y="3995738"/>
            <a:ext cx="792163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96" name="文本框 25"/>
          <p:cNvSpPr txBox="1"/>
          <p:nvPr/>
        </p:nvSpPr>
        <p:spPr>
          <a:xfrm>
            <a:off x="6908800" y="3929063"/>
            <a:ext cx="7921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58397" name="直接箭头连接符 32"/>
          <p:cNvCxnSpPr/>
          <p:nvPr/>
        </p:nvCxnSpPr>
        <p:spPr>
          <a:xfrm flipH="1">
            <a:off x="2916238" y="4292600"/>
            <a:ext cx="504825" cy="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内容占位符 2"/>
          <p:cNvSpPr txBox="1"/>
          <p:nvPr/>
        </p:nvSpPr>
        <p:spPr>
          <a:xfrm>
            <a:off x="411163" y="758825"/>
            <a:ext cx="8408988" cy="3738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计算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next[9]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由于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T[k]==T[j]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，因此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k++,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j++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,next[j]=k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使用以上两种情况下的操作，我们可以从左到右高效地求得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next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数组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j-ea"/>
              <a:cs typeface="华文新魏" panose="02010800040101010101" pitchFamily="2" charset="-122"/>
            </a:endParaRPr>
          </a:p>
        </p:txBody>
      </p:sp>
      <p:sp>
        <p:nvSpPr>
          <p:cNvPr id="59395" name="矩形 25"/>
          <p:cNvSpPr/>
          <p:nvPr/>
        </p:nvSpPr>
        <p:spPr>
          <a:xfrm>
            <a:off x="5940425" y="5157788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396" name="矩形 5"/>
          <p:cNvSpPr/>
          <p:nvPr/>
        </p:nvSpPr>
        <p:spPr>
          <a:xfrm>
            <a:off x="1187450" y="4294188"/>
            <a:ext cx="792163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397" name="矩形 6"/>
          <p:cNvSpPr/>
          <p:nvPr/>
        </p:nvSpPr>
        <p:spPr>
          <a:xfrm>
            <a:off x="1979613" y="4294188"/>
            <a:ext cx="792162" cy="792162"/>
          </a:xfrm>
          <a:prstGeom prst="rect">
            <a:avLst/>
          </a:prstGeom>
          <a:solidFill>
            <a:srgbClr val="92D05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398" name="矩形 7"/>
          <p:cNvSpPr/>
          <p:nvPr/>
        </p:nvSpPr>
        <p:spPr>
          <a:xfrm>
            <a:off x="2771775" y="4294188"/>
            <a:ext cx="792163" cy="792162"/>
          </a:xfrm>
          <a:prstGeom prst="rect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	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399" name="矩形 8"/>
          <p:cNvSpPr/>
          <p:nvPr/>
        </p:nvSpPr>
        <p:spPr>
          <a:xfrm>
            <a:off x="3563938" y="4294188"/>
            <a:ext cx="792162" cy="792162"/>
          </a:xfrm>
          <a:prstGeom prst="rect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0" name="矩形 9"/>
          <p:cNvSpPr/>
          <p:nvPr/>
        </p:nvSpPr>
        <p:spPr>
          <a:xfrm>
            <a:off x="4356100" y="4294188"/>
            <a:ext cx="792163" cy="792162"/>
          </a:xfrm>
          <a:prstGeom prst="rect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1" name="矩形 10"/>
          <p:cNvSpPr/>
          <p:nvPr/>
        </p:nvSpPr>
        <p:spPr>
          <a:xfrm>
            <a:off x="5148263" y="4294188"/>
            <a:ext cx="792162" cy="792162"/>
          </a:xfrm>
          <a:prstGeom prst="rect">
            <a:avLst/>
          </a:prstGeom>
          <a:noFill/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2" name="矩形 33"/>
          <p:cNvSpPr/>
          <p:nvPr/>
        </p:nvSpPr>
        <p:spPr>
          <a:xfrm>
            <a:off x="5940425" y="4292600"/>
            <a:ext cx="792163" cy="7921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3" name="矩形 34"/>
          <p:cNvSpPr/>
          <p:nvPr/>
        </p:nvSpPr>
        <p:spPr>
          <a:xfrm>
            <a:off x="6732588" y="4292600"/>
            <a:ext cx="792162" cy="792163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4" name="矩形 5"/>
          <p:cNvSpPr/>
          <p:nvPr/>
        </p:nvSpPr>
        <p:spPr>
          <a:xfrm>
            <a:off x="1187450" y="51577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5" name="矩形 6"/>
          <p:cNvSpPr/>
          <p:nvPr/>
        </p:nvSpPr>
        <p:spPr>
          <a:xfrm>
            <a:off x="1979613" y="51577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6" name="矩形 7"/>
          <p:cNvSpPr/>
          <p:nvPr/>
        </p:nvSpPr>
        <p:spPr>
          <a:xfrm>
            <a:off x="2771775" y="51577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7" name="矩形 8"/>
          <p:cNvSpPr/>
          <p:nvPr/>
        </p:nvSpPr>
        <p:spPr>
          <a:xfrm>
            <a:off x="3563938" y="51577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8" name="矩形 9"/>
          <p:cNvSpPr/>
          <p:nvPr/>
        </p:nvSpPr>
        <p:spPr>
          <a:xfrm>
            <a:off x="4356100" y="5157788"/>
            <a:ext cx="792163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09" name="矩形 10"/>
          <p:cNvSpPr/>
          <p:nvPr/>
        </p:nvSpPr>
        <p:spPr>
          <a:xfrm>
            <a:off x="5148263" y="5157788"/>
            <a:ext cx="792162" cy="792162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0" name="矩形 43"/>
          <p:cNvSpPr/>
          <p:nvPr/>
        </p:nvSpPr>
        <p:spPr>
          <a:xfrm>
            <a:off x="6732588" y="5157788"/>
            <a:ext cx="792162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1" name="文本框 45"/>
          <p:cNvSpPr txBox="1"/>
          <p:nvPr/>
        </p:nvSpPr>
        <p:spPr>
          <a:xfrm>
            <a:off x="192088" y="5300663"/>
            <a:ext cx="7921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next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2" name="文本框 46"/>
          <p:cNvSpPr txBox="1"/>
          <p:nvPr/>
        </p:nvSpPr>
        <p:spPr>
          <a:xfrm>
            <a:off x="192088" y="4449763"/>
            <a:ext cx="7921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3" name="矩形 44"/>
          <p:cNvSpPr/>
          <p:nvPr/>
        </p:nvSpPr>
        <p:spPr>
          <a:xfrm>
            <a:off x="7524750" y="5157788"/>
            <a:ext cx="792163" cy="7921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4" name="文本框 25"/>
          <p:cNvSpPr txBox="1"/>
          <p:nvPr/>
        </p:nvSpPr>
        <p:spPr>
          <a:xfrm>
            <a:off x="2987675" y="3429000"/>
            <a:ext cx="7921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5" name="文本框 22"/>
          <p:cNvSpPr txBox="1"/>
          <p:nvPr/>
        </p:nvSpPr>
        <p:spPr>
          <a:xfrm>
            <a:off x="7812088" y="3452813"/>
            <a:ext cx="7921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6" name="矩形 34"/>
          <p:cNvSpPr/>
          <p:nvPr/>
        </p:nvSpPr>
        <p:spPr>
          <a:xfrm>
            <a:off x="7508875" y="4292600"/>
            <a:ext cx="792163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7" name="文本框 25"/>
          <p:cNvSpPr txBox="1"/>
          <p:nvPr/>
        </p:nvSpPr>
        <p:spPr>
          <a:xfrm>
            <a:off x="2268538" y="3448050"/>
            <a:ext cx="792162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9418" name="文本框 22"/>
          <p:cNvSpPr txBox="1"/>
          <p:nvPr/>
        </p:nvSpPr>
        <p:spPr>
          <a:xfrm>
            <a:off x="7019925" y="3481388"/>
            <a:ext cx="7921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59419" name="直接箭头连接符 27"/>
          <p:cNvCxnSpPr/>
          <p:nvPr/>
        </p:nvCxnSpPr>
        <p:spPr>
          <a:xfrm>
            <a:off x="2608263" y="3729038"/>
            <a:ext cx="379412" cy="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9420" name="直接箭头连接符 28"/>
          <p:cNvCxnSpPr/>
          <p:nvPr/>
        </p:nvCxnSpPr>
        <p:spPr>
          <a:xfrm>
            <a:off x="7334250" y="3729038"/>
            <a:ext cx="381000" cy="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9421" name="文本框 29"/>
          <p:cNvSpPr txBox="1"/>
          <p:nvPr/>
        </p:nvSpPr>
        <p:spPr>
          <a:xfrm>
            <a:off x="971550" y="3924300"/>
            <a:ext cx="77041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 1           2          3          4            5           6          7          8           9 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next[j]</a:t>
            </a:r>
            <a:r>
              <a:rPr lang="zh-CN" altLang="en-US" dirty="0"/>
              <a:t>思想</a:t>
            </a:r>
            <a:endParaRPr lang="zh-CN" altLang="en-US" dirty="0"/>
          </a:p>
        </p:txBody>
      </p:sp>
      <p:sp>
        <p:nvSpPr>
          <p:cNvPr id="59395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1584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10B73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找最大子串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60420" name="Text Box 8"/>
          <p:cNvSpPr txBox="1"/>
          <p:nvPr/>
        </p:nvSpPr>
        <p:spPr>
          <a:xfrm>
            <a:off x="684213" y="1908175"/>
            <a:ext cx="7086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{ max</a:t>
            </a:r>
            <a:r>
              <a: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k | 1&lt;k&lt;j  and</a:t>
            </a:r>
            <a:r>
              <a: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rPr>
              <a:t> ‘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1800" b="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1800" b="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…p</a:t>
            </a:r>
            <a:r>
              <a:rPr lang="en-US" altLang="zh-CN" sz="1800" b="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k-1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’=‘p</a:t>
            </a:r>
            <a:r>
              <a:rPr lang="en-US" altLang="zh-CN" sz="1800" b="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j-k+1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1800" b="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j-k+2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…p</a:t>
            </a:r>
            <a:r>
              <a:rPr lang="en-US" altLang="zh-CN" sz="1800" b="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j-1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’ }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0421" name="矩形 66"/>
          <p:cNvSpPr/>
          <p:nvPr/>
        </p:nvSpPr>
        <p:spPr>
          <a:xfrm>
            <a:off x="900113" y="2982913"/>
            <a:ext cx="4572000" cy="2678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Core: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compare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T[j]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and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T[k]</a:t>
            </a: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If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(T[j] = =T[k])</a:t>
            </a: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++j, ++k; next[j]=k</a:t>
            </a: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Else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K=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next[k];</a:t>
            </a: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goto</a:t>
            </a:r>
            <a:r>
              <a:rPr lang="zh-CN" altLang="en-US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Core;</a:t>
            </a: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标题 5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>
                <a:solidFill>
                  <a:srgbClr val="000072"/>
                </a:solidFill>
                <a:ea typeface="宋体" panose="02010600030101010101" pitchFamily="2" charset="-122"/>
              </a:rPr>
              <a:t> next[j] </a:t>
            </a:r>
            <a:r>
              <a:rPr lang="zh-CN" altLang="en-US" dirty="0">
                <a:solidFill>
                  <a:srgbClr val="000072"/>
                </a:solidFill>
                <a:ea typeface="宋体" panose="02010600030101010101" pitchFamily="2" charset="-122"/>
              </a:rPr>
              <a:t>算法</a:t>
            </a:r>
            <a:endParaRPr lang="zh-CN" altLang="en-US" dirty="0">
              <a:solidFill>
                <a:srgbClr val="000072"/>
              </a:solidFill>
            </a:endParaRPr>
          </a:p>
        </p:txBody>
      </p:sp>
      <p:sp>
        <p:nvSpPr>
          <p:cNvPr id="61443" name="Text Box 3"/>
          <p:cNvSpPr txBox="1"/>
          <p:nvPr/>
        </p:nvSpPr>
        <p:spPr>
          <a:xfrm>
            <a:off x="785813" y="1196975"/>
            <a:ext cx="8135937" cy="544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void  Get_next( SString T, int  &amp;next[] )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{    j = 1 ; </a:t>
            </a: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后缀指针</a:t>
            </a:r>
            <a:endParaRPr lang="en-US" altLang="zh-CN" sz="2000" b="0" dirty="0">
              <a:solidFill>
                <a:srgbClr val="20CE1C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k = 0; </a:t>
            </a: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前缀指针</a:t>
            </a:r>
            <a:endParaRPr lang="en-US" altLang="zh-CN" sz="2000" b="0" dirty="0">
              <a:solidFill>
                <a:srgbClr val="20CE1C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next[1]=0;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while ( j &lt;= T[0] )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{  if ( k == 0 || T[j] == T[k] ) 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 </a:t>
            </a: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{ ++j ;  ++k ;  next[j]=k; }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   else  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        k = next[k];  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k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 回溯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 然后对比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T[j]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T[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next[k]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]</a:t>
            </a:r>
            <a:endParaRPr lang="en-US" altLang="zh-CN" sz="2000" b="0" dirty="0">
              <a:solidFill>
                <a:srgbClr val="20CE1C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     }</a:t>
            </a:r>
            <a:r>
              <a:rPr lang="en-US" altLang="zh-CN" sz="2000" b="0" dirty="0">
                <a:solidFill>
                  <a:srgbClr val="20CE1C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2000" b="0" dirty="0">
                <a:solidFill>
                  <a:srgbClr val="20CE1C"/>
                </a:solidFill>
                <a:ea typeface="宋体" panose="02010600030101010101" pitchFamily="2" charset="-122"/>
              </a:rPr>
              <a:t> 结束循环</a:t>
            </a:r>
            <a:endParaRPr lang="en-US" altLang="zh-CN" sz="2000" b="0" dirty="0">
              <a:solidFill>
                <a:srgbClr val="20CE1C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en-US" altLang="zh-CN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文本框 3"/>
          <p:cNvSpPr txBox="1"/>
          <p:nvPr/>
        </p:nvSpPr>
        <p:spPr>
          <a:xfrm>
            <a:off x="34925" y="1403350"/>
            <a:ext cx="390525" cy="441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1" name="文本框 4"/>
          <p:cNvSpPr txBox="1"/>
          <p:nvPr/>
        </p:nvSpPr>
        <p:spPr>
          <a:xfrm>
            <a:off x="611188" y="828675"/>
            <a:ext cx="3000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2" name="矩形 5"/>
          <p:cNvSpPr/>
          <p:nvPr/>
        </p:nvSpPr>
        <p:spPr>
          <a:xfrm>
            <a:off x="611188" y="333375"/>
            <a:ext cx="792162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en-US" altLang="zh-CN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3" name="矩形 6"/>
          <p:cNvSpPr/>
          <p:nvPr/>
        </p:nvSpPr>
        <p:spPr>
          <a:xfrm>
            <a:off x="1403350" y="333375"/>
            <a:ext cx="792163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4" name="矩形 7"/>
          <p:cNvSpPr/>
          <p:nvPr/>
        </p:nvSpPr>
        <p:spPr>
          <a:xfrm>
            <a:off x="2195513" y="333375"/>
            <a:ext cx="792162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5" name="矩形 8"/>
          <p:cNvSpPr/>
          <p:nvPr/>
        </p:nvSpPr>
        <p:spPr>
          <a:xfrm>
            <a:off x="2987675" y="333375"/>
            <a:ext cx="792163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6" name="矩形 9"/>
          <p:cNvSpPr/>
          <p:nvPr/>
        </p:nvSpPr>
        <p:spPr>
          <a:xfrm>
            <a:off x="3779838" y="333375"/>
            <a:ext cx="792162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7" name="矩形 10"/>
          <p:cNvSpPr/>
          <p:nvPr/>
        </p:nvSpPr>
        <p:spPr>
          <a:xfrm>
            <a:off x="4572000" y="333375"/>
            <a:ext cx="792163" cy="7921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498" name="文本框 11"/>
          <p:cNvSpPr txBox="1"/>
          <p:nvPr/>
        </p:nvSpPr>
        <p:spPr>
          <a:xfrm>
            <a:off x="755650" y="1412875"/>
            <a:ext cx="390525" cy="43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88013" y="1916113"/>
            <a:ext cx="457200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AutoNum type="arabicParenBoth"/>
            </a:pPr>
            <a:r>
              <a: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j =1, k=0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=&gt; j=2 ; k=1; </a:t>
            </a: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next[2]=1;</a:t>
            </a:r>
            <a:endParaRPr lang="en-US" altLang="zh-CN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8513" y="2035175"/>
            <a:ext cx="388937" cy="4492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17650" y="2043113"/>
            <a:ext cx="390525" cy="441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88013" y="2565400"/>
            <a:ext cx="3455987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(2)  j=2, k=1, T(2)!=T(1)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=&gt; k =next[1]=0;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24525" y="6202363"/>
            <a:ext cx="34194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(8)  j=6,k=3,T(6)!=T(3)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 =&gt; k=next[3]=1;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925" y="2636838"/>
            <a:ext cx="390525" cy="4492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76375" y="2636838"/>
            <a:ext cx="388938" cy="441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381250" y="3284538"/>
            <a:ext cx="390525" cy="441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5650" y="3267075"/>
            <a:ext cx="390525" cy="4492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7950" y="3852863"/>
            <a:ext cx="388938" cy="4492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65375" y="3924300"/>
            <a:ext cx="390525" cy="441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01975" y="4500563"/>
            <a:ext cx="390525" cy="441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55650" y="4500563"/>
            <a:ext cx="390525" cy="4492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94138" y="5076825"/>
            <a:ext cx="390525" cy="4397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446213" y="5067300"/>
            <a:ext cx="388937" cy="4492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830763" y="5653088"/>
            <a:ext cx="388937" cy="439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309813" y="5643563"/>
            <a:ext cx="390525" cy="4492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830763" y="6229350"/>
            <a:ext cx="388937" cy="4397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55650" y="6219825"/>
            <a:ext cx="390525" cy="4492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zh-CN" altLang="en-US" sz="3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688013" y="3213100"/>
            <a:ext cx="3455987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(3)  j=2, k=0, 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=&gt; j=3, k=1, </a:t>
            </a: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next[3]=1;</a:t>
            </a:r>
            <a:endParaRPr lang="en-US" altLang="zh-CN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cxnSp>
        <p:nvCxnSpPr>
          <p:cNvPr id="36" name="直线连接符 35"/>
          <p:cNvCxnSpPr/>
          <p:nvPr/>
        </p:nvCxnSpPr>
        <p:spPr>
          <a:xfrm>
            <a:off x="-252412" y="2565400"/>
            <a:ext cx="9577387" cy="0"/>
          </a:xfrm>
          <a:prstGeom prst="line">
            <a:avLst/>
          </a:prstGeom>
          <a:ln w="9525" cap="flat" cmpd="sng">
            <a:solidFill>
              <a:srgbClr val="9999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8" name="直线连接符 37"/>
          <p:cNvCxnSpPr/>
          <p:nvPr/>
        </p:nvCxnSpPr>
        <p:spPr>
          <a:xfrm>
            <a:off x="-100012" y="3213100"/>
            <a:ext cx="9577387" cy="0"/>
          </a:xfrm>
          <a:prstGeom prst="line">
            <a:avLst/>
          </a:prstGeom>
          <a:ln w="9525" cap="flat" cmpd="sng">
            <a:solidFill>
              <a:srgbClr val="9999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9" name="直线连接符 38"/>
          <p:cNvCxnSpPr/>
          <p:nvPr/>
        </p:nvCxnSpPr>
        <p:spPr>
          <a:xfrm>
            <a:off x="-107950" y="5013325"/>
            <a:ext cx="9575800" cy="0"/>
          </a:xfrm>
          <a:prstGeom prst="line">
            <a:avLst/>
          </a:prstGeom>
          <a:ln w="9525" cap="flat" cmpd="sng">
            <a:solidFill>
              <a:srgbClr val="9999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0" name="直线连接符 39"/>
          <p:cNvCxnSpPr/>
          <p:nvPr/>
        </p:nvCxnSpPr>
        <p:spPr>
          <a:xfrm>
            <a:off x="-180975" y="3789363"/>
            <a:ext cx="9577388" cy="0"/>
          </a:xfrm>
          <a:prstGeom prst="line">
            <a:avLst/>
          </a:prstGeom>
          <a:ln w="9525" cap="flat" cmpd="sng">
            <a:solidFill>
              <a:srgbClr val="9999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1" name="直线连接符 40"/>
          <p:cNvCxnSpPr/>
          <p:nvPr/>
        </p:nvCxnSpPr>
        <p:spPr>
          <a:xfrm>
            <a:off x="52388" y="4437063"/>
            <a:ext cx="9577387" cy="0"/>
          </a:xfrm>
          <a:prstGeom prst="line">
            <a:avLst/>
          </a:prstGeom>
          <a:ln w="9525" cap="flat" cmpd="sng">
            <a:solidFill>
              <a:srgbClr val="9999FF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42" name="矩形 41"/>
          <p:cNvSpPr/>
          <p:nvPr/>
        </p:nvSpPr>
        <p:spPr>
          <a:xfrm>
            <a:off x="5724525" y="3860800"/>
            <a:ext cx="34194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(4)  j=3,k=1, T(3)!=T(1)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=&gt; k=next[1]=0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724525" y="4438650"/>
            <a:ext cx="34194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(5)  j=3,k=0, 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=&gt; j=4,k=1, </a:t>
            </a: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next[4]=1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724525" y="5014913"/>
            <a:ext cx="34194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(6)  j=4,k=1, T(4)==T(1)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=&gt;j=5,k=2, </a:t>
            </a: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next[5]=2;</a:t>
            </a:r>
            <a:endParaRPr lang="en-US" altLang="zh-CN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cxnSp>
        <p:nvCxnSpPr>
          <p:cNvPr id="45" name="直线连接符 44"/>
          <p:cNvCxnSpPr/>
          <p:nvPr/>
        </p:nvCxnSpPr>
        <p:spPr>
          <a:xfrm>
            <a:off x="44450" y="5589588"/>
            <a:ext cx="9575800" cy="0"/>
          </a:xfrm>
          <a:prstGeom prst="line">
            <a:avLst/>
          </a:prstGeom>
          <a:ln w="9525" cap="flat" cmpd="sng">
            <a:solidFill>
              <a:srgbClr val="9999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6" name="直线连接符 45"/>
          <p:cNvCxnSpPr/>
          <p:nvPr/>
        </p:nvCxnSpPr>
        <p:spPr>
          <a:xfrm>
            <a:off x="44450" y="6165850"/>
            <a:ext cx="9575800" cy="0"/>
          </a:xfrm>
          <a:prstGeom prst="line">
            <a:avLst/>
          </a:prstGeom>
          <a:ln w="9525" cap="flat" cmpd="sng">
            <a:solidFill>
              <a:srgbClr val="9999FF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47" name="矩形 46"/>
          <p:cNvSpPr/>
          <p:nvPr/>
        </p:nvSpPr>
        <p:spPr>
          <a:xfrm>
            <a:off x="5724525" y="5591175"/>
            <a:ext cx="34194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(7)  j=5,k=2, T(5)==T(2)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    =&gt;j=6,k=3, </a:t>
            </a: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next[6]=3</a:t>
            </a: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530" name="文本框 1"/>
          <p:cNvSpPr txBox="1"/>
          <p:nvPr/>
        </p:nvSpPr>
        <p:spPr>
          <a:xfrm>
            <a:off x="874713" y="908050"/>
            <a:ext cx="3127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531" name="文本框 47"/>
          <p:cNvSpPr txBox="1"/>
          <p:nvPr/>
        </p:nvSpPr>
        <p:spPr>
          <a:xfrm>
            <a:off x="1679575" y="908050"/>
            <a:ext cx="3000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532" name="文本框 48"/>
          <p:cNvSpPr txBox="1"/>
          <p:nvPr/>
        </p:nvSpPr>
        <p:spPr>
          <a:xfrm>
            <a:off x="2471738" y="908050"/>
            <a:ext cx="3000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533" name="文本框 49"/>
          <p:cNvSpPr txBox="1"/>
          <p:nvPr/>
        </p:nvSpPr>
        <p:spPr>
          <a:xfrm>
            <a:off x="3289300" y="908050"/>
            <a:ext cx="3000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534" name="文本框 50"/>
          <p:cNvSpPr txBox="1"/>
          <p:nvPr/>
        </p:nvSpPr>
        <p:spPr>
          <a:xfrm>
            <a:off x="4056063" y="908050"/>
            <a:ext cx="3000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535" name="文本框 51"/>
          <p:cNvSpPr txBox="1"/>
          <p:nvPr/>
        </p:nvSpPr>
        <p:spPr>
          <a:xfrm>
            <a:off x="4800600" y="908050"/>
            <a:ext cx="3000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42" grpId="0"/>
      <p:bldP spid="43" grpId="0"/>
      <p:bldP spid="44" grpId="0"/>
      <p:bldP spid="4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3" name="Text Box 33"/>
          <p:cNvSpPr txBox="1">
            <a:spLocks noChangeArrowheads="1"/>
          </p:cNvSpPr>
          <p:nvPr/>
        </p:nvSpPr>
        <p:spPr bwMode="auto">
          <a:xfrm>
            <a:off x="1042988" y="2538413"/>
            <a:ext cx="6808788" cy="831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t[j] ==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t[next[j]])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nextval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[j] 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nextval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[next[j]];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得到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nextval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数组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0764" name="Text Box 44"/>
          <p:cNvSpPr txBox="1"/>
          <p:nvPr/>
        </p:nvSpPr>
        <p:spPr>
          <a:xfrm>
            <a:off x="2009775" y="5505450"/>
            <a:ext cx="38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65" name="Text Box 45"/>
          <p:cNvSpPr txBox="1"/>
          <p:nvPr/>
        </p:nvSpPr>
        <p:spPr>
          <a:xfrm>
            <a:off x="2543175" y="5505450"/>
            <a:ext cx="457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30766" name="Text Box 46"/>
          <p:cNvSpPr txBox="1"/>
          <p:nvPr/>
        </p:nvSpPr>
        <p:spPr>
          <a:xfrm>
            <a:off x="3076575" y="5505450"/>
            <a:ext cx="533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67" name="Text Box 47"/>
          <p:cNvSpPr txBox="1"/>
          <p:nvPr/>
        </p:nvSpPr>
        <p:spPr>
          <a:xfrm>
            <a:off x="3609975" y="5505450"/>
            <a:ext cx="457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68" name="Text Box 48"/>
          <p:cNvSpPr txBox="1"/>
          <p:nvPr/>
        </p:nvSpPr>
        <p:spPr>
          <a:xfrm>
            <a:off x="4143375" y="5505450"/>
            <a:ext cx="38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30769" name="Text Box 49"/>
          <p:cNvSpPr txBox="1"/>
          <p:nvPr/>
        </p:nvSpPr>
        <p:spPr>
          <a:xfrm>
            <a:off x="4614863" y="5505450"/>
            <a:ext cx="457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30770" name="Text Box 50"/>
          <p:cNvSpPr txBox="1"/>
          <p:nvPr/>
        </p:nvSpPr>
        <p:spPr>
          <a:xfrm>
            <a:off x="5143500" y="5505450"/>
            <a:ext cx="38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71" name="Text Box 51"/>
          <p:cNvSpPr txBox="1"/>
          <p:nvPr/>
        </p:nvSpPr>
        <p:spPr>
          <a:xfrm>
            <a:off x="5614988" y="5505450"/>
            <a:ext cx="457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2</a:t>
            </a:r>
            <a:endParaRPr lang="en-US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30772" name="Text Box 52"/>
          <p:cNvSpPr txBox="1"/>
          <p:nvPr/>
        </p:nvSpPr>
        <p:spPr>
          <a:xfrm>
            <a:off x="6186488" y="5505450"/>
            <a:ext cx="457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1</a:t>
            </a:r>
            <a:endParaRPr lang="en-US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30773" name="Text Box 53"/>
          <p:cNvSpPr txBox="1"/>
          <p:nvPr/>
        </p:nvSpPr>
        <p:spPr>
          <a:xfrm>
            <a:off x="6715125" y="5505450"/>
            <a:ext cx="381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endParaRPr lang="en-US" altLang="zh-CN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0774" name="Text Box 54"/>
          <p:cNvSpPr txBox="1"/>
          <p:nvPr/>
        </p:nvSpPr>
        <p:spPr>
          <a:xfrm>
            <a:off x="7215188" y="5505450"/>
            <a:ext cx="457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58"/>
          <p:cNvGrpSpPr/>
          <p:nvPr/>
        </p:nvGrpSpPr>
        <p:grpSpPr>
          <a:xfrm>
            <a:off x="714375" y="3790950"/>
            <a:ext cx="7696200" cy="2209800"/>
            <a:chOff x="528" y="2544"/>
            <a:chExt cx="4848" cy="1392"/>
          </a:xfrm>
        </p:grpSpPr>
        <p:sp>
          <p:nvSpPr>
            <p:cNvPr id="64530" name="Text Box 35"/>
            <p:cNvSpPr txBox="1"/>
            <p:nvPr/>
          </p:nvSpPr>
          <p:spPr>
            <a:xfrm>
              <a:off x="672" y="3216"/>
              <a:ext cx="72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楷体_GB2312" pitchFamily="49" charset="-122"/>
                </a:rPr>
                <a:t>next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31" name="Line 37"/>
            <p:cNvSpPr/>
            <p:nvPr/>
          </p:nvSpPr>
          <p:spPr>
            <a:xfrm>
              <a:off x="528" y="2880"/>
              <a:ext cx="4704" cy="0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2" name="Line 38"/>
            <p:cNvSpPr/>
            <p:nvPr/>
          </p:nvSpPr>
          <p:spPr>
            <a:xfrm>
              <a:off x="1248" y="2592"/>
              <a:ext cx="0" cy="1344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3" name="Line 39"/>
            <p:cNvSpPr/>
            <p:nvPr/>
          </p:nvSpPr>
          <p:spPr>
            <a:xfrm>
              <a:off x="528" y="3216"/>
              <a:ext cx="4704" cy="0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4" name="Text Box 40"/>
            <p:cNvSpPr txBox="1"/>
            <p:nvPr/>
          </p:nvSpPr>
          <p:spPr>
            <a:xfrm>
              <a:off x="816" y="2544"/>
              <a:ext cx="2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j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35" name="Text Box 41"/>
            <p:cNvSpPr txBox="1"/>
            <p:nvPr/>
          </p:nvSpPr>
          <p:spPr>
            <a:xfrm>
              <a:off x="528" y="2928"/>
              <a:ext cx="72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ea typeface="楷体_GB2312" pitchFamily="49" charset="-122"/>
                </a:rPr>
                <a:t>T String</a:t>
              </a: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36" name="Text Box 42"/>
            <p:cNvSpPr txBox="1"/>
            <p:nvPr/>
          </p:nvSpPr>
          <p:spPr>
            <a:xfrm>
              <a:off x="1344" y="2880"/>
              <a:ext cx="40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a       a      b      c       a     a       a     b       c      a      d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37" name="Text Box 43"/>
            <p:cNvSpPr txBox="1"/>
            <p:nvPr/>
          </p:nvSpPr>
          <p:spPr>
            <a:xfrm>
              <a:off x="1344" y="2544"/>
              <a:ext cx="40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1       2      3      4       5     6       7     8       9     10     11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38" name="Line 55"/>
            <p:cNvSpPr/>
            <p:nvPr/>
          </p:nvSpPr>
          <p:spPr>
            <a:xfrm>
              <a:off x="528" y="3600"/>
              <a:ext cx="4704" cy="0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9" name="Text Box 56"/>
            <p:cNvSpPr txBox="1"/>
            <p:nvPr/>
          </p:nvSpPr>
          <p:spPr>
            <a:xfrm>
              <a:off x="576" y="3600"/>
              <a:ext cx="72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楷体_GB2312" pitchFamily="49" charset="-122"/>
                </a:rPr>
                <a:t>nextval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40" name="Text Box 57"/>
            <p:cNvSpPr txBox="1"/>
            <p:nvPr/>
          </p:nvSpPr>
          <p:spPr>
            <a:xfrm>
              <a:off x="1344" y="3264"/>
              <a:ext cx="40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solidFill>
                    <a:schemeClr val="tx1"/>
                  </a:solidFill>
                  <a:ea typeface="宋体" panose="02010600030101010101" pitchFamily="2" charset="-122"/>
                </a:rPr>
                <a:t>0       1      2      1       1     2       3     3       4      5      6</a:t>
              </a:r>
              <a:endPara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4527" name="标题 5"/>
          <p:cNvSpPr txBox="1"/>
          <p:nvPr/>
        </p:nvSpPr>
        <p:spPr>
          <a:xfrm>
            <a:off x="457200" y="457200"/>
            <a:ext cx="8229600" cy="8112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bg2"/>
                </a:solidFill>
                <a:ea typeface="华文新魏" panose="02010800040101010101" pitchFamily="2" charset="-122"/>
              </a:rPr>
              <a:t>KMP</a:t>
            </a:r>
            <a:r>
              <a:rPr lang="zh-CN" altLang="en-US" sz="3600" dirty="0">
                <a:solidFill>
                  <a:schemeClr val="bg2"/>
                </a:solidFill>
                <a:ea typeface="华文新魏" panose="02010800040101010101" pitchFamily="2" charset="-122"/>
              </a:rPr>
              <a:t>算法的进一步改进</a:t>
            </a:r>
            <a:endParaRPr lang="zh-CN" altLang="en-US" sz="3600" dirty="0">
              <a:solidFill>
                <a:schemeClr val="bg2"/>
              </a:solidFill>
              <a:ea typeface="华文新魏" panose="02010800040101010101" pitchFamily="2" charset="-122"/>
            </a:endParaRPr>
          </a:p>
        </p:txBody>
      </p:sp>
      <p:sp>
        <p:nvSpPr>
          <p:cNvPr id="64528" name="TextBox 27"/>
          <p:cNvSpPr txBox="1"/>
          <p:nvPr/>
        </p:nvSpPr>
        <p:spPr>
          <a:xfrm>
            <a:off x="571500" y="1130300"/>
            <a:ext cx="80010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E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s[i]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t[j]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不匹配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并且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</a:t>
            </a:r>
            <a:r>
              <a:rPr lang="en-US" altLang="zh-CN" b="0" dirty="0">
                <a:solidFill>
                  <a:srgbClr val="6565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[j] 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== </a:t>
            </a:r>
            <a:r>
              <a:rPr lang="en-US" altLang="zh-CN" b="0" dirty="0">
                <a:solidFill>
                  <a:srgbClr val="6565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t[next[j]],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s[i]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t[next[j]]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必然不匹配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因此，我们可以不需要对比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s[i]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t[next[j]].</a:t>
            </a:r>
            <a:r>
              <a:rPr lang="zh-CN" altLang="en-US" b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Go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further!</a:t>
            </a:r>
            <a:endParaRPr lang="zh-CN" altLang="en-US" b="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圆角矩形标注 28"/>
          <p:cNvSpPr/>
          <p:nvPr/>
        </p:nvSpPr>
        <p:spPr bwMode="auto">
          <a:xfrm>
            <a:off x="5795963" y="6072188"/>
            <a:ext cx="2890838" cy="669925"/>
          </a:xfrm>
          <a:prstGeom prst="wedgeRoundRectCallout">
            <a:avLst>
              <a:gd name="adj1" fmla="val -15119"/>
              <a:gd name="adj2" fmla="val -95282"/>
              <a:gd name="adj3" fmla="val 16667"/>
            </a:avLst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next[next[next[j]]]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，可以再减少一步比较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30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07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07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307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307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07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307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307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3" grpId="0" animBg="1"/>
      <p:bldP spid="30764" grpId="0"/>
      <p:bldP spid="30765" grpId="0"/>
      <p:bldP spid="30766" grpId="0"/>
      <p:bldP spid="30767" grpId="0"/>
      <p:bldP spid="30768" grpId="0"/>
      <p:bldP spid="30769" grpId="0"/>
      <p:bldP spid="30770" grpId="0"/>
      <p:bldP spid="30771" grpId="0"/>
      <p:bldP spid="30772" grpId="0"/>
      <p:bldP spid="30773" grpId="0"/>
      <p:bldP spid="30774" grpId="0"/>
      <p:bldP spid="29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7720</Words>
  <Application>WPS 演示</Application>
  <PresentationFormat>全屏显示(4:3)</PresentationFormat>
  <Paragraphs>1475</Paragraphs>
  <Slides>32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0" baseType="lpstr">
      <vt:lpstr>Arial</vt:lpstr>
      <vt:lpstr>宋体</vt:lpstr>
      <vt:lpstr>Wingdings</vt:lpstr>
      <vt:lpstr>华文新魏</vt:lpstr>
      <vt:lpstr>黑体</vt:lpstr>
      <vt:lpstr>楷体_GB2312</vt:lpstr>
      <vt:lpstr>新宋体</vt:lpstr>
      <vt:lpstr>Arial Black</vt:lpstr>
      <vt:lpstr>Times New Roman</vt:lpstr>
      <vt:lpstr>Symbol</vt:lpstr>
      <vt:lpstr>Goudy Old Style</vt:lpstr>
      <vt:lpstr>Georgia</vt:lpstr>
      <vt:lpstr>华文中宋</vt:lpstr>
      <vt:lpstr>楷体_GB2312</vt:lpstr>
      <vt:lpstr>微软雅黑</vt:lpstr>
      <vt:lpstr>Arial Unicode MS</vt:lpstr>
      <vt:lpstr>Pixel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GuYu</dc:creator>
  <cp:lastModifiedBy>欧蜜（2和11）</cp:lastModifiedBy>
  <cp:revision>872</cp:revision>
  <dcterms:created xsi:type="dcterms:W3CDTF">2006-11-08T07:12:35Z</dcterms:created>
  <dcterms:modified xsi:type="dcterms:W3CDTF">2024-12-22T11:11:27Z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E857AF51A2744336AFBCC2640B655805_12</vt:lpwstr>
  </property>
  <property fmtid="{D5CDD505-2E9C-101B-9397-08002B2CF9AE}" pid="3" name="KSOProductBuildVer">
    <vt:lpwstr>2052-12.1.0.19302</vt:lpwstr>
  </property>
</Properties>
</file>