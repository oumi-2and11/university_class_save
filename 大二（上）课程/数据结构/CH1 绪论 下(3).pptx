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7"/>
  </p:handoutMasterIdLst>
  <p:sldIdLst>
    <p:sldId id="352" r:id="rId3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479" r:id="rId18"/>
    <p:sldId id="500" r:id="rId19"/>
    <p:sldId id="450" r:id="rId20"/>
    <p:sldId id="449" r:id="rId21"/>
    <p:sldId id="452" r:id="rId22"/>
    <p:sldId id="454" r:id="rId23"/>
    <p:sldId id="478" r:id="rId24"/>
    <p:sldId id="482" r:id="rId25"/>
    <p:sldId id="455" r:id="rId26"/>
    <p:sldId id="456" r:id="rId27"/>
    <p:sldId id="457" r:id="rId28"/>
    <p:sldId id="462" r:id="rId29"/>
    <p:sldId id="463" r:id="rId30"/>
    <p:sldId id="501" r:id="rId31"/>
    <p:sldId id="502" r:id="rId32"/>
    <p:sldId id="477" r:id="rId33"/>
    <p:sldId id="508" r:id="rId34"/>
    <p:sldId id="504" r:id="rId35"/>
    <p:sldId id="505" r:id="rId36"/>
    <p:sldId id="506" r:id="rId37"/>
    <p:sldId id="509" r:id="rId38"/>
    <p:sldId id="510" r:id="rId39"/>
    <p:sldId id="511" r:id="rId40"/>
    <p:sldId id="474" r:id="rId41"/>
    <p:sldId id="507" r:id="rId42"/>
    <p:sldId id="512" r:id="rId43"/>
    <p:sldId id="475" r:id="rId44"/>
    <p:sldId id="513" r:id="rId45"/>
    <p:sldId id="514" r:id="rId46"/>
    <p:sldId id="480" r:id="rId47"/>
    <p:sldId id="483" r:id="rId48"/>
    <p:sldId id="484" r:id="rId49"/>
    <p:sldId id="492" r:id="rId50"/>
    <p:sldId id="487" r:id="rId51"/>
    <p:sldId id="488" r:id="rId52"/>
    <p:sldId id="489" r:id="rId53"/>
    <p:sldId id="493" r:id="rId54"/>
    <p:sldId id="490" r:id="rId55"/>
    <p:sldId id="494" r:id="rId56"/>
    <p:sldId id="495" r:id="rId57"/>
    <p:sldId id="496" r:id="rId58"/>
    <p:sldId id="497" r:id="rId59"/>
    <p:sldId id="498" r:id="rId60"/>
    <p:sldId id="499" r:id="rId61"/>
    <p:sldId id="331" r:id="rId62"/>
    <p:sldId id="332" r:id="rId63"/>
    <p:sldId id="333" r:id="rId64"/>
    <p:sldId id="335" r:id="rId65"/>
    <p:sldId id="336" r:id="rId6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8369"/>
    <p:restoredTop sz="81824"/>
  </p:normalViewPr>
  <p:slideViewPr>
    <p:cSldViewPr showGuides="1">
      <p:cViewPr varScale="1">
        <p:scale>
          <a:sx n="67" d="100"/>
          <a:sy n="67" d="100"/>
        </p:scale>
        <p:origin x="124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1"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5D0199-6E6A-45C5-A1BA-2A106EF64D58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1" sz="1200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39094F-DB91-42EF-9317-8D22F5FA5FB3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0B2B81-85BF-4B4D-BDC8-CE56F16F317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r>
              <a:rPr lang="" altLang="zh-CN" dirty="0">
                <a:solidFill>
                  <a:srgbClr val="000000"/>
                </a:solidFill>
              </a:rPr>
              <a:t>*</a:t>
            </a:r>
            <a:endParaRPr lang="" altLang="zh-CN" dirty="0">
              <a:solidFill>
                <a:srgbClr val="000000"/>
              </a:solidFill>
            </a:endParaRPr>
          </a:p>
        </p:txBody>
      </p:sp>
      <p:sp>
        <p:nvSpPr>
          <p:cNvPr id="13315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8676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8677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28678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30724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30725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30726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10 to the power of minus 2 </a:t>
            </a:r>
            <a:endParaRPr lang="zh-CN" altLang="en-US" dirty="0"/>
          </a:p>
        </p:txBody>
      </p:sp>
      <p:sp>
        <p:nvSpPr>
          <p:cNvPr id="36868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36869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36870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8916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38917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38918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0964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40965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40966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3012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43013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43014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5060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45061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45062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小</a:t>
            </a:r>
            <a:r>
              <a:rPr lang="en-US" altLang="zh-CN" dirty="0"/>
              <a:t>o</a:t>
            </a:r>
            <a:r>
              <a:rPr lang="zh-CN" altLang="en-US" dirty="0"/>
              <a:t>表示法是严格小于，而不能等于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zh-CN" altLang="en-US" dirty="0"/>
              <a:t>大</a:t>
            </a:r>
            <a:r>
              <a:rPr lang="en-US" altLang="zh-CN" dirty="0"/>
              <a:t>O</a:t>
            </a:r>
            <a:r>
              <a:rPr lang="zh-CN" altLang="en-US" dirty="0"/>
              <a:t>记号也被叫为</a:t>
            </a:r>
            <a:r>
              <a:rPr lang="zh-CN" altLang="en-US" b="1" dirty="0"/>
              <a:t>渐近上界</a:t>
            </a:r>
            <a:endParaRPr lang="en-US" altLang="zh-CN" b="1" dirty="0"/>
          </a:p>
          <a:p>
            <a:pPr lvl="0"/>
            <a:r>
              <a:rPr lang="zh-CN" altLang="en-US" dirty="0"/>
              <a:t>大</a:t>
            </a:r>
            <a:r>
              <a:rPr lang="el-GR" altLang="zh-CN" dirty="0"/>
              <a:t>Ω</a:t>
            </a:r>
            <a:r>
              <a:rPr lang="zh-CN" altLang="en-US" dirty="0"/>
              <a:t>记号也表示为</a:t>
            </a:r>
            <a:r>
              <a:rPr lang="zh-CN" altLang="en-US" b="1" dirty="0"/>
              <a:t>渐近下界</a:t>
            </a:r>
            <a:endParaRPr lang="en-US" altLang="zh-CN" b="1" dirty="0"/>
          </a:p>
          <a:p>
            <a:pPr lvl="0"/>
            <a:r>
              <a:rPr lang="en-US" altLang="zh-CN" dirty="0"/>
              <a:t>n</a:t>
            </a:r>
            <a:r>
              <a:rPr lang="zh-CN" altLang="en-US" dirty="0"/>
              <a:t>趋向无穷大时，</a:t>
            </a:r>
            <a:r>
              <a:rPr lang="en-US" altLang="zh-CN" b="1" dirty="0"/>
              <a:t>f(n)</a:t>
            </a:r>
            <a:r>
              <a:rPr lang="zh-CN" altLang="en-US" b="1" dirty="0"/>
              <a:t>的增长趋势与</a:t>
            </a:r>
            <a:r>
              <a:rPr lang="en-US" altLang="zh-CN" b="1" dirty="0"/>
              <a:t>g(n)</a:t>
            </a:r>
            <a:r>
              <a:rPr lang="zh-CN" altLang="en-US" b="1" dirty="0"/>
              <a:t>的相同</a:t>
            </a:r>
            <a:r>
              <a:rPr lang="zh-CN" altLang="en-US" dirty="0"/>
              <a:t>，大</a:t>
            </a:r>
            <a:r>
              <a:rPr lang="el-GR" altLang="zh-CN" dirty="0"/>
              <a:t>θ</a:t>
            </a:r>
            <a:r>
              <a:rPr lang="zh-CN" altLang="en-US" dirty="0"/>
              <a:t>记号也表示为</a:t>
            </a:r>
            <a:r>
              <a:rPr lang="zh-CN" altLang="en-US" b="1" dirty="0"/>
              <a:t>渐进近致界</a:t>
            </a:r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1204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51205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51206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Exercises:</a:t>
            </a:r>
            <a:endParaRPr lang="zh-CN" altLang="en-US" dirty="0"/>
          </a:p>
        </p:txBody>
      </p:sp>
      <p:sp>
        <p:nvSpPr>
          <p:cNvPr id="53252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53253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53254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53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注意，</a:t>
            </a:r>
            <a:endParaRPr lang="zh-CN" altLang="en-US" dirty="0"/>
          </a:p>
        </p:txBody>
      </p:sp>
      <p:sp>
        <p:nvSpPr>
          <p:cNvPr id="57348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57349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57350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9396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59397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59398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55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75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96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16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37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5780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75781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75782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78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9876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79877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79878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81924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81925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81926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839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860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88068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88069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88070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90116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90117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90118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92164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92165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92166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94212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94213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94214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962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zh-CN" altLang="en-US" dirty="0"/>
              <a:t>从一个头（</a:t>
            </a:r>
            <a:r>
              <a:rPr lang="en-US" altLang="zh-CN" dirty="0"/>
              <a:t>i</a:t>
            </a:r>
            <a:r>
              <a:rPr lang="zh-CN" altLang="en-US" dirty="0"/>
              <a:t>）开始的不用再重复计算了</a:t>
            </a:r>
            <a:endParaRPr lang="zh-CN" altLang="en-US" dirty="0"/>
          </a:p>
        </p:txBody>
      </p:sp>
      <p:sp>
        <p:nvSpPr>
          <p:cNvPr id="983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003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024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On-line algorithm requires only constant space and run in linear time is just as good as possible</a:t>
            </a:r>
            <a:endParaRPr lang="zh-CN" altLang="en-US" dirty="0"/>
          </a:p>
        </p:txBody>
      </p:sp>
      <p:sp>
        <p:nvSpPr>
          <p:cNvPr id="1044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06500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06501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106502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08548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08549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108550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10596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10597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110598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12644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12645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112646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14692" name="日期占位符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14693" name="页脚占位符 4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114694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Rectangle 3"/>
          <p:cNvSpPr txBox="1">
            <a:spLocks noGrp="1"/>
          </p:cNvSpPr>
          <p:nvPr>
            <p:ph type="dt" sz="half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hangingPunct="1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16739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eaLnBrk="1" hangingPunct="1"/>
            <a:r>
              <a:rPr lang="tr-TR" altLang="zh-CN" sz="1200" dirty="0"/>
              <a:t>BUPTSSE</a:t>
            </a:r>
            <a:endParaRPr lang="tr-TR" altLang="zh-CN" sz="1200" dirty="0"/>
          </a:p>
        </p:txBody>
      </p:sp>
      <p:sp>
        <p:nvSpPr>
          <p:cNvPr id="11674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tr-TR" altLang="zh-CN" sz="1200" dirty="0"/>
            </a:fld>
            <a:endParaRPr lang="tr-TR" altLang="zh-CN" sz="1200" dirty="0"/>
          </a:p>
        </p:txBody>
      </p:sp>
      <p:sp>
        <p:nvSpPr>
          <p:cNvPr id="116741" name="Rectangle 2"/>
          <p:cNvSpPr>
            <a:spLocks noRot="1" noTextEdit="1"/>
          </p:cNvSpPr>
          <p:nvPr>
            <p:ph type="sldImg"/>
          </p:nvPr>
        </p:nvSpPr>
        <p:spPr>
          <a:xfrm>
            <a:off x="1141413" y="684213"/>
            <a:ext cx="4575175" cy="3430587"/>
          </a:xfrm>
          <a:ln/>
        </p:spPr>
      </p:sp>
      <p:sp>
        <p:nvSpPr>
          <p:cNvPr id="11674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6388"/>
          </a:xfrm>
          <a:ln/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If f(N) is a tight answer for the running time, the computed values converge to a positive constant. If f(N) is an overestimate, the values converge to zero. If f(N) is an underestimate and hence wrong, the values diverge.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The table shows that the last column is most likely, and thus the analysis that you should have gotten is probably correct.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3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3" name="Text Box 23"/>
          <p:cNvSpPr txBox="1">
            <a:spLocks noChangeArrowheads="1"/>
          </p:cNvSpPr>
          <p:nvPr/>
        </p:nvSpPr>
        <p:spPr bwMode="auto">
          <a:xfrm>
            <a:off x="179388" y="115888"/>
            <a:ext cx="2944813" cy="369888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Data Structures, Fall 2024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052" name="图片 35" descr="20118211430_small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5250" y="0"/>
            <a:ext cx="1428750" cy="1438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1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21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5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C4D6778-A2C9-4B4C-95B1-96BB437CCBC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558958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A79BCC-89C0-4D11-B08C-AA4D421AF91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AE54E-D4CC-4B17-BFCD-E5B24CBABD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AE54E-D4CC-4B17-BFCD-E5B24CBABD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AE54E-D4CC-4B17-BFCD-E5B24CBABD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AE54E-D4CC-4B17-BFCD-E5B24CBABD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AE54E-D4CC-4B17-BFCD-E5B24CBABD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AE54E-D4CC-4B17-BFCD-E5B24CBABD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AE54E-D4CC-4B17-BFCD-E5B24CBABD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AE54E-D4CC-4B17-BFCD-E5B24CBABD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7086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7086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AE54E-D4CC-4B17-BFCD-E5B24CBABD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>
            <a:spLocks noChangeArrowheads="1"/>
          </p:cNvSpPr>
          <p:nvPr/>
        </p:nvSpPr>
        <p:spPr bwMode="ltGray">
          <a:xfrm>
            <a:off x="990600" y="3505200"/>
            <a:ext cx="7772400" cy="24384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white">
          <a:xfrm>
            <a:off x="1038225" y="3733800"/>
            <a:ext cx="7648575" cy="2138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Line 6"/>
          <p:cNvSpPr/>
          <p:nvPr/>
        </p:nvSpPr>
        <p:spPr>
          <a:xfrm flipV="1">
            <a:off x="684213" y="685800"/>
            <a:ext cx="5592762" cy="6350"/>
          </a:xfrm>
          <a:prstGeom prst="line">
            <a:avLst/>
          </a:prstGeom>
          <a:ln w="4445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 rot="16200000">
            <a:off x="-1804194" y="2553494"/>
            <a:ext cx="4148138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School of Microelectronics,SJTU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6208713" y="712788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0951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3933825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endParaRPr lang="zh-CN" altLang="en-US"/>
          </a:p>
        </p:txBody>
      </p:sp>
      <p:sp>
        <p:nvSpPr>
          <p:cNvPr id="2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9A8485-60FF-405F-BE29-583D1978614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7724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71600"/>
            <a:ext cx="7772400" cy="23685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5800" y="3892550"/>
            <a:ext cx="7772400" cy="2370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9F9FBF-D8CC-4CB8-A6EF-A0419379ABD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BUPTSSE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9FFF51-C1F0-49DB-BF35-BD9093170DD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7724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71600"/>
            <a:ext cx="3810000" cy="48910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8910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583200-3F14-4659-A0B8-3950B8AAB250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BUPTSSE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ADF16D-90AA-4A24-ACC1-F4477515731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7724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371600"/>
            <a:ext cx="7772400" cy="4891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910723-EE06-4FD6-BF66-EA1CF87FB9F0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BUPTSSE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9072934-D1E2-4CBB-897A-B29407C1ACA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标题和图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7724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685800" y="1371600"/>
            <a:ext cx="7772400" cy="48910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210B73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696FC5-B913-4584-801B-40168F8937B5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2843213" y="4581525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BUPTSSE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7606B5-3435-45F3-84D3-20B4801823D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AE54E-D4CC-4B17-BFCD-E5B24CBABD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BAE54E-D4CC-4B17-BFCD-E5B24CBABDE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1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2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412875"/>
            <a:ext cx="8229600" cy="47529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18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18"/>
          <p:cNvSpPr txBox="1">
            <a:spLocks noChangeArrowheads="1"/>
          </p:cNvSpPr>
          <p:nvPr/>
        </p:nvSpPr>
        <p:spPr bwMode="auto">
          <a:xfrm>
            <a:off x="0" y="6553200"/>
            <a:ext cx="3887788" cy="3048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Data Structures,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Fall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2024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33" name="图片 19" descr="20118211430_small.jpg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7937500" y="0"/>
            <a:ext cx="1206500" cy="12144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华文新魏" panose="02010800040101010101" pitchFamily="2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  <a:cs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  <a:cs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  <a:cs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  <a:cs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rgbClr val="210B73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2"/>
          </a:solidFill>
          <a:latin typeface="+mn-lt"/>
          <a:ea typeface="+mj-ea"/>
          <a:cs typeface="华文新魏" panose="0201080004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2"/>
          </a:solidFill>
          <a:latin typeface="+mn-lt"/>
          <a:ea typeface="楷体_GB2312" pitchFamily="49" charset="-122"/>
          <a:cs typeface="楷体_GB2312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kumimoji="1" sz="2000">
          <a:solidFill>
            <a:schemeClr val="tx2"/>
          </a:solidFill>
          <a:latin typeface="+mn-lt"/>
          <a:ea typeface="宋体" panose="02010600030101010101" pitchFamily="2" charset="-122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kumimoji="1"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hyperlink" Target="file:///E:\%5C%E8%AE%A1%E7%AE%97%E6%9C%BA%E7%B3%BB%E7%BB%9F%E7%BB%93%E6%9E%84%5CMIT%5CMIT%20Photo%5CNYC%5CDSCN4828.JPG" TargetMode="Externa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3.wav"/><Relationship Id="rId1" Type="http://schemas.openxmlformats.org/officeDocument/2006/relationships/audio" Target="../media/audio2.wav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15.wmf"/><Relationship Id="rId1" Type="http://schemas.openxmlformats.org/officeDocument/2006/relationships/oleObject" Target="../embeddings/oleObject5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4.wav"/><Relationship Id="rId1" Type="http://schemas.openxmlformats.org/officeDocument/2006/relationships/image" Target="../media/image16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2.wav"/><Relationship Id="rId2" Type="http://schemas.openxmlformats.org/officeDocument/2006/relationships/image" Target="../media/image17.wmf"/><Relationship Id="rId1" Type="http://schemas.openxmlformats.org/officeDocument/2006/relationships/oleObject" Target="../embeddings/oleObject6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7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8.bin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9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ctrTitle"/>
          </p:nvPr>
        </p:nvSpPr>
        <p:spPr>
          <a:xfrm>
            <a:off x="1943100" y="2565400"/>
            <a:ext cx="7200900" cy="2209800"/>
          </a:xfrm>
          <a:ln/>
        </p:spPr>
        <p:txBody>
          <a:bodyPr vert="horz" wrap="square" lIns="91440" tIns="45720" rIns="91440" bIns="45720" anchor="ctr" anchorCtr="0"/>
          <a:p>
            <a:pPr algn="r" eaLnBrk="1" hangingPunct="1">
              <a:buClrTx/>
              <a:buSzTx/>
              <a:buFontTx/>
            </a:pPr>
            <a:r>
              <a:rPr lang="en-US" altLang="zh-CN" sz="1400" dirty="0">
                <a:solidFill>
                  <a:srgbClr val="FFFFFF"/>
                </a:solidFill>
                <a:latin typeface="华文新魏" panose="02010800040101010101" pitchFamily="2" charset="-122"/>
                <a:ea typeface="+mj-ea"/>
                <a:cs typeface="华文新魏" panose="02010800040101010101" pitchFamily="2" charset="-122"/>
              </a:rPr>
              <a:t>	</a:t>
            </a:r>
            <a:br>
              <a:rPr lang="en-US" altLang="zh-CN" sz="1400" dirty="0">
                <a:solidFill>
                  <a:srgbClr val="FFFFFF"/>
                </a:solidFill>
                <a:latin typeface="华文新魏" panose="02010800040101010101" pitchFamily="2" charset="-122"/>
                <a:ea typeface="+mj-ea"/>
                <a:cs typeface="华文新魏" panose="02010800040101010101" pitchFamily="2" charset="-122"/>
              </a:rPr>
            </a:br>
            <a:br>
              <a:rPr lang="en-US" altLang="zh-CN" sz="1200" dirty="0">
                <a:solidFill>
                  <a:srgbClr val="FFFFFF"/>
                </a:solidFill>
                <a:latin typeface="+mj-lt"/>
                <a:ea typeface="+mj-ea"/>
                <a:cs typeface="华文新魏" panose="02010800040101010101" pitchFamily="2" charset="-122"/>
              </a:rPr>
            </a:br>
            <a:endParaRPr lang="en-US" altLang="zh-CN" sz="1200" dirty="0">
              <a:solidFill>
                <a:srgbClr val="FFFFFF"/>
              </a:solidFill>
              <a:latin typeface="+mj-lt"/>
              <a:ea typeface="+mj-ea"/>
              <a:cs typeface="华文新魏" panose="02010800040101010101" pitchFamily="2" charset="-122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type="subTitle"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algn="r" eaLnBrk="1" hangingPunct="1">
              <a:lnSpc>
                <a:spcPct val="90000"/>
              </a:lnSpc>
              <a:buSzPct val="75000"/>
            </a:pPr>
            <a:endParaRPr lang="en-US" altLang="zh-CN" sz="2400" b="0" dirty="0">
              <a:solidFill>
                <a:schemeClr val="bg2"/>
              </a:solidFill>
              <a:latin typeface="黑体" panose="02010609060101010101" pitchFamily="49" charset="-122"/>
              <a:ea typeface="+mn-ea"/>
              <a:cs typeface="黑体" panose="02010609060101010101" pitchFamily="49" charset="-122"/>
            </a:endParaRPr>
          </a:p>
          <a:p>
            <a:pPr algn="r" eaLnBrk="1" hangingPunct="1">
              <a:lnSpc>
                <a:spcPct val="90000"/>
              </a:lnSpc>
              <a:buSzPct val="75000"/>
            </a:pPr>
            <a:r>
              <a:rPr lang="zh-CN" altLang="en-US" sz="2400" b="0" dirty="0">
                <a:solidFill>
                  <a:schemeClr val="bg2"/>
                </a:solidFill>
                <a:latin typeface="+mn-lt"/>
                <a:ea typeface="+mn-ea"/>
                <a:cs typeface="黑体" panose="02010609060101010101" pitchFamily="49" charset="-122"/>
              </a:rPr>
              <a:t>北京邮电大学 网络空间安全学院</a:t>
            </a:r>
            <a:endParaRPr lang="en-US" altLang="zh-CN" sz="2400" b="0" dirty="0">
              <a:solidFill>
                <a:schemeClr val="bg2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algn="r" eaLnBrk="1" hangingPunct="1">
              <a:lnSpc>
                <a:spcPct val="90000"/>
              </a:lnSpc>
              <a:buSzPct val="75000"/>
            </a:pPr>
            <a:r>
              <a:rPr lang="zh-CN" altLang="en-US" sz="2400" b="0" dirty="0">
                <a:solidFill>
                  <a:schemeClr val="bg2"/>
                </a:solidFill>
                <a:latin typeface="+mn-lt"/>
                <a:ea typeface="+mn-ea"/>
                <a:cs typeface="黑体" panose="02010609060101010101" pitchFamily="49" charset="-122"/>
              </a:rPr>
              <a:t>郭三川</a:t>
            </a:r>
            <a:endParaRPr lang="en-US" altLang="zh-CN" sz="2400" b="0" dirty="0">
              <a:solidFill>
                <a:schemeClr val="bg2"/>
              </a:solidFill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12292" name="Rectangle 7"/>
          <p:cNvSpPr/>
          <p:nvPr/>
        </p:nvSpPr>
        <p:spPr>
          <a:xfrm>
            <a:off x="2700338" y="2133600"/>
            <a:ext cx="622935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3200" b="0" dirty="0">
                <a:solidFill>
                  <a:srgbClr val="FFFFFF"/>
                </a:solidFill>
                <a:ea typeface="华文新魏" panose="02010800040101010101" pitchFamily="2" charset="-122"/>
              </a:rPr>
              <a:t>第一章 绪论（下）</a:t>
            </a:r>
            <a:endParaRPr lang="en-US" altLang="zh-CN" sz="3200" b="0" dirty="0">
              <a:solidFill>
                <a:srgbClr val="FFFFFF"/>
              </a:solidFill>
              <a:ea typeface="华文新魏" panose="02010800040101010101" pitchFamily="2" charset="-122"/>
            </a:endParaRPr>
          </a:p>
        </p:txBody>
      </p:sp>
      <p:pic>
        <p:nvPicPr>
          <p:cNvPr id="12293" name="Picture 8">
            <a:hlinkClick r:id="rId1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72138"/>
            <a:ext cx="4716463" cy="11858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49" name="table 449"/>
          <p:cNvGraphicFramePr>
            <a:graphicFrameLocks noGrp="1"/>
          </p:cNvGraphicFramePr>
          <p:nvPr/>
        </p:nvGraphicFramePr>
        <p:xfrm>
          <a:off x="3922713" y="2243138"/>
          <a:ext cx="4354513" cy="2682875"/>
        </p:xfrm>
        <a:graphic>
          <a:graphicData uri="http://schemas.openxmlformats.org/drawingml/2006/table">
            <a:tbl>
              <a:tblPr/>
              <a:tblGrid>
                <a:gridCol w="4354512"/>
              </a:tblGrid>
              <a:tr h="855756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298450" algn="l" rtl="0" eaLnBrk="0">
                        <a:lnSpc>
                          <a:spcPct val="97000"/>
                        </a:lnSpc>
                        <a:tabLst>
                          <a:tab pos="514350" algn="l"/>
                        </a:tabLst>
                      </a:pPr>
                      <a:r>
                        <a:rPr sz="2100" spc="0" dirty="0">
                          <a:solidFill>
                            <a:srgbClr val="333399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100" b="1" spc="70" dirty="0">
                          <a:solidFill>
                            <a:srgbClr val="333399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1.2</a:t>
                      </a:r>
                      <a:r>
                        <a:rPr sz="2100" spc="70" dirty="0">
                          <a:solidFill>
                            <a:srgbClr val="333399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</a:t>
                      </a:r>
                      <a:r>
                        <a:rPr sz="2100" spc="70" dirty="0">
                          <a:solidFill>
                            <a:srgbClr val="333399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基本概念和术</a:t>
                      </a:r>
                      <a:r>
                        <a:rPr sz="2100" spc="30" dirty="0">
                          <a:solidFill>
                            <a:srgbClr val="333399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语</a:t>
                      </a:r>
                      <a:endParaRPr lang="en-US" altLang="en-US" sz="2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66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298450" algn="l" rtl="0" eaLnBrk="0">
                        <a:lnSpc>
                          <a:spcPct val="97000"/>
                        </a:lnSpc>
                        <a:tabLst>
                          <a:tab pos="514350" algn="l"/>
                        </a:tabLst>
                      </a:pPr>
                      <a:r>
                        <a:rPr sz="2100" spc="0" dirty="0">
                          <a:solidFill>
                            <a:srgbClr val="333399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100" b="1" spc="90" dirty="0">
                          <a:solidFill>
                            <a:srgbClr val="333399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1.3</a:t>
                      </a:r>
                      <a:r>
                        <a:rPr sz="2100" spc="90" dirty="0">
                          <a:solidFill>
                            <a:srgbClr val="333399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</a:t>
                      </a:r>
                      <a:r>
                        <a:rPr sz="2100" spc="90" dirty="0">
                          <a:solidFill>
                            <a:srgbClr val="333399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抽象数据类型的表示与</a:t>
                      </a:r>
                      <a:r>
                        <a:rPr sz="2100" spc="10" dirty="0">
                          <a:solidFill>
                            <a:srgbClr val="333399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</a:t>
                      </a:r>
                      <a:r>
                        <a:rPr sz="2100" spc="0" dirty="0">
                          <a:solidFill>
                            <a:srgbClr val="333399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现</a:t>
                      </a:r>
                      <a:endParaRPr lang="en-US" altLang="en-US" sz="2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66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924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lang="en-US" altLang="en-US" sz="1000" dirty="0"/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lang="en-US" altLang="en-US" sz="100" dirty="0"/>
                    </a:p>
                    <a:p>
                      <a:pPr marL="313690" algn="l" rtl="0" eaLnBrk="0">
                        <a:lnSpc>
                          <a:spcPct val="97000"/>
                        </a:lnSpc>
                        <a:tabLst>
                          <a:tab pos="514350" algn="l"/>
                        </a:tabLst>
                      </a:pPr>
                      <a:r>
                        <a:rPr sz="2100" spc="0" dirty="0">
                          <a:solidFill>
                            <a:srgbClr val="FF9933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	</a:t>
                      </a:r>
                      <a:r>
                        <a:rPr sz="2100" b="1" spc="70" dirty="0">
                          <a:solidFill>
                            <a:srgbClr val="FF9933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1.4</a:t>
                      </a:r>
                      <a:r>
                        <a:rPr sz="2100" spc="70" dirty="0">
                          <a:solidFill>
                            <a:srgbClr val="FF9933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</a:t>
                      </a:r>
                      <a:r>
                        <a:rPr sz="2100" spc="70" dirty="0">
                          <a:solidFill>
                            <a:srgbClr val="FF9933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算法和算法分</a:t>
                      </a:r>
                      <a:r>
                        <a:rPr sz="2100" spc="30" dirty="0">
                          <a:solidFill>
                            <a:srgbClr val="FF9933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析</a:t>
                      </a:r>
                      <a:endParaRPr lang="en-US" altLang="en-US" sz="2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66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66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4346" name="picture 4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2713" y="4346575"/>
            <a:ext cx="314325" cy="30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7" name="picture 4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13" y="3498850"/>
            <a:ext cx="298450" cy="30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8" name="picture 4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713" y="2690813"/>
            <a:ext cx="298450" cy="30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9" name="picture 4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3582988"/>
            <a:ext cx="2895600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50" name="picture 4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562600"/>
            <a:ext cx="5181600" cy="228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5" name="textbox 455"/>
          <p:cNvSpPr/>
          <p:nvPr/>
        </p:nvSpPr>
        <p:spPr>
          <a:xfrm>
            <a:off x="3910013" y="1774825"/>
            <a:ext cx="2976563" cy="427038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1115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7050" algn="l"/>
              </a:tabLst>
              <a:defRPr/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	</a:t>
            </a:r>
            <a:r>
              <a:rPr kumimoji="0" sz="2100" b="1" i="0" u="none" strike="noStrike" kern="1200" cap="none" spc="7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1.1</a:t>
            </a:r>
            <a:r>
              <a:rPr kumimoji="0" sz="2100" b="0" i="0" u="none" strike="noStrike" kern="1200" cap="none" spc="7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kumimoji="0" sz="2100" b="0" i="0" u="none" strike="noStrike" kern="1200" cap="none" spc="7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什么是数据结</a:t>
            </a:r>
            <a:r>
              <a:rPr kumimoji="0" sz="2100" b="0" i="0" u="none" strike="noStrike" kern="1200" cap="none" spc="3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</a:t>
            </a:r>
            <a:endParaRPr kumimoji="0" lang="en-US" altLang="en-US" sz="2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4352" name="picture 4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713" y="1844675"/>
            <a:ext cx="298450" cy="30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53" name="textbox 457"/>
          <p:cNvSpPr/>
          <p:nvPr/>
        </p:nvSpPr>
        <p:spPr>
          <a:xfrm>
            <a:off x="3741738" y="384175"/>
            <a:ext cx="2511425" cy="4254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>
              <a:lnSpc>
                <a:spcPct val="91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0" dirty="0">
                <a:solidFill>
                  <a:schemeClr val="tx1"/>
                </a:solidFill>
                <a:latin typeface="黑体" panose="02010609060101010101" pitchFamily="49" charset="-122"/>
              </a:rPr>
              <a:t>目录</a:t>
            </a:r>
            <a:endParaRPr lang="zh-CN" altLang="zh-CN" sz="3200" b="0" dirty="0">
              <a:solidFill>
                <a:schemeClr val="tx1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" name="textbox 460"/>
          <p:cNvSpPr/>
          <p:nvPr/>
        </p:nvSpPr>
        <p:spPr>
          <a:xfrm>
            <a:off x="855663" y="1279525"/>
            <a:ext cx="7440613" cy="5122863"/>
          </a:xfrm>
          <a:prstGeom prst="rect">
            <a:avLst/>
          </a:prstGeom>
        </p:spPr>
        <p:txBody>
          <a:bodyPr lIns="0" tIns="0" rIns="0" bIns="0"/>
          <a:p>
            <a:pPr>
              <a:lnSpc>
                <a:spcPct val="70000"/>
              </a:lnSpc>
              <a:buNone/>
            </a:pPr>
            <a:endParaRPr lang="zh-CN" altLang="x-none" sz="100" dirty="0">
              <a:latin typeface="Arial" panose="020B0604020202020204" pitchFamily="34" charset="0"/>
            </a:endParaRPr>
          </a:p>
          <a:p>
            <a:pPr>
              <a:lnSpc>
                <a:spcPct val="127000"/>
              </a:lnSpc>
              <a:buNone/>
            </a:pPr>
            <a:r>
              <a:rPr lang="en-US" altLang="zh-CN" sz="2000">
                <a:solidFill>
                  <a:srgbClr val="3333CC"/>
                </a:solidFill>
                <a:latin typeface="Wingdings" panose="05000000000000000000" pitchFamily="2" charset="2"/>
                <a:ea typeface="Wingdings" panose="05000000000000000000" pitchFamily="2" charset="2"/>
              </a:rPr>
              <a:t>l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r>
              <a:rPr lang="en-US" altLang="zh-CN" sz="2000" b="1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(algorithm)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是对特定问题求解步骤的一种描述，算法是指 令的有限序列，其中每一条指令表示一个或多个操作。</a:t>
            </a:r>
            <a:endParaRPr lang="zh-CN" altLang="x-none" sz="2000" dirty="0">
              <a:latin typeface="Arial" panose="020B0604020202020204" pitchFamily="34" charset="0"/>
            </a:endParaRPr>
          </a:p>
          <a:p>
            <a:pPr>
              <a:lnSpc>
                <a:spcPct val="99000"/>
              </a:lnSpc>
              <a:spcBef>
                <a:spcPts val="1525"/>
              </a:spcBef>
              <a:buNone/>
            </a:pPr>
            <a:r>
              <a:rPr lang="en-US" altLang="zh-CN" sz="1300">
                <a:solidFill>
                  <a:srgbClr val="3333CC"/>
                </a:solidFill>
                <a:latin typeface="Wingdings" panose="05000000000000000000" pitchFamily="2" charset="2"/>
                <a:ea typeface="Wingdings" panose="05000000000000000000" pitchFamily="2" charset="2"/>
              </a:rPr>
              <a:t>è 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一个有限指令集</a:t>
            </a:r>
            <a:endParaRPr lang="zh-CN" altLang="x-none" sz="1900" dirty="0">
              <a:latin typeface="Arial" panose="020B0604020202020204" pitchFamily="34" charset="0"/>
            </a:endParaRPr>
          </a:p>
          <a:p>
            <a:pPr>
              <a:lnSpc>
                <a:spcPct val="99000"/>
              </a:lnSpc>
              <a:spcBef>
                <a:spcPts val="1640"/>
              </a:spcBef>
              <a:buNone/>
            </a:pPr>
            <a:r>
              <a:rPr lang="en-US" altLang="zh-CN" sz="1300">
                <a:solidFill>
                  <a:srgbClr val="3333CC"/>
                </a:solidFill>
                <a:latin typeface="Wingdings" panose="05000000000000000000" pitchFamily="2" charset="2"/>
                <a:ea typeface="Wingdings" panose="05000000000000000000" pitchFamily="2" charset="2"/>
              </a:rPr>
              <a:t>è 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接受一些输入 </a:t>
            </a:r>
            <a:r>
              <a:rPr lang="en-US" altLang="zh-CN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有些情况不需要输入</a:t>
            </a:r>
            <a:r>
              <a:rPr lang="en-US" altLang="zh-CN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x-none" sz="1900" dirty="0">
              <a:latin typeface="Arial" panose="020B0604020202020204" pitchFamily="34" charset="0"/>
            </a:endParaRPr>
          </a:p>
          <a:p>
            <a:pPr>
              <a:lnSpc>
                <a:spcPct val="99000"/>
              </a:lnSpc>
              <a:spcBef>
                <a:spcPts val="1565"/>
              </a:spcBef>
              <a:buNone/>
            </a:pPr>
            <a:r>
              <a:rPr lang="en-US" altLang="zh-CN" sz="1300">
                <a:solidFill>
                  <a:srgbClr val="3333CC"/>
                </a:solidFill>
                <a:latin typeface="Wingdings" panose="05000000000000000000" pitchFamily="2" charset="2"/>
                <a:ea typeface="Wingdings" panose="05000000000000000000" pitchFamily="2" charset="2"/>
              </a:rPr>
              <a:t>è 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产生输出</a:t>
            </a:r>
            <a:endParaRPr lang="zh-CN" altLang="x-none" sz="1900" dirty="0">
              <a:latin typeface="Arial" panose="020B0604020202020204" pitchFamily="34" charset="0"/>
            </a:endParaRPr>
          </a:p>
          <a:p>
            <a:pPr>
              <a:lnSpc>
                <a:spcPct val="99000"/>
              </a:lnSpc>
              <a:spcBef>
                <a:spcPts val="1540"/>
              </a:spcBef>
              <a:buNone/>
            </a:pPr>
            <a:r>
              <a:rPr lang="en-US" altLang="zh-CN" sz="1300">
                <a:solidFill>
                  <a:srgbClr val="3333CC"/>
                </a:solidFill>
                <a:latin typeface="Wingdings" panose="05000000000000000000" pitchFamily="2" charset="2"/>
                <a:ea typeface="Wingdings" panose="05000000000000000000" pitchFamily="2" charset="2"/>
              </a:rPr>
              <a:t>è 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一定在有限步骤后终止</a:t>
            </a:r>
            <a:endParaRPr lang="zh-CN" altLang="x-none" sz="1900" dirty="0">
              <a:latin typeface="Arial" panose="020B0604020202020204" pitchFamily="34" charset="0"/>
            </a:endParaRPr>
          </a:p>
          <a:p>
            <a:pPr>
              <a:lnSpc>
                <a:spcPct val="99000"/>
              </a:lnSpc>
              <a:spcBef>
                <a:spcPts val="1650"/>
              </a:spcBef>
              <a:buNone/>
            </a:pPr>
            <a:r>
              <a:rPr lang="en-US" altLang="zh-CN" sz="1300">
                <a:solidFill>
                  <a:srgbClr val="3333CC"/>
                </a:solidFill>
                <a:latin typeface="Wingdings" panose="05000000000000000000" pitchFamily="2" charset="2"/>
                <a:ea typeface="Wingdings" panose="05000000000000000000" pitchFamily="2" charset="2"/>
              </a:rPr>
              <a:t>è 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每一条指令必须</a:t>
            </a:r>
            <a:endParaRPr lang="zh-CN" altLang="x-none" sz="1900" dirty="0">
              <a:latin typeface="Arial" panose="020B0604020202020204" pitchFamily="34" charset="0"/>
            </a:endParaRPr>
          </a:p>
          <a:p>
            <a:pPr>
              <a:lnSpc>
                <a:spcPct val="94000"/>
              </a:lnSpc>
              <a:spcBef>
                <a:spcPts val="1525"/>
              </a:spcBef>
              <a:buNone/>
            </a:pPr>
            <a:r>
              <a:rPr lang="en-US" altLang="zh-CN" sz="2000">
                <a:solidFill>
                  <a:srgbClr val="3333CC"/>
                </a:solidFill>
                <a:latin typeface="Wingdings" panose="05000000000000000000" pitchFamily="2" charset="2"/>
                <a:ea typeface="Wingdings" panose="05000000000000000000" pitchFamily="2" charset="2"/>
              </a:rPr>
              <a:t>Ø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有充分明确的目标，不可以有歧义</a:t>
            </a:r>
            <a:endParaRPr lang="zh-CN" altLang="x-none" sz="1900" dirty="0">
              <a:latin typeface="Arial" panose="020B0604020202020204" pitchFamily="34" charset="0"/>
            </a:endParaRPr>
          </a:p>
          <a:p>
            <a:pPr>
              <a:lnSpc>
                <a:spcPct val="94000"/>
              </a:lnSpc>
              <a:spcBef>
                <a:spcPts val="1625"/>
              </a:spcBef>
              <a:buNone/>
            </a:pPr>
            <a:r>
              <a:rPr lang="en-US" altLang="zh-CN" sz="2000">
                <a:solidFill>
                  <a:srgbClr val="3333CC"/>
                </a:solidFill>
                <a:latin typeface="Wingdings" panose="05000000000000000000" pitchFamily="2" charset="2"/>
                <a:ea typeface="Wingdings" panose="05000000000000000000" pitchFamily="2" charset="2"/>
              </a:rPr>
              <a:t>Ø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计算机能处理的范围之内</a:t>
            </a:r>
            <a:endParaRPr lang="zh-CN" altLang="x-none" sz="1900" dirty="0">
              <a:latin typeface="Arial" panose="020B0604020202020204" pitchFamily="34" charset="0"/>
            </a:endParaRPr>
          </a:p>
          <a:p>
            <a:pPr>
              <a:lnSpc>
                <a:spcPct val="101000"/>
              </a:lnSpc>
              <a:buNone/>
            </a:pPr>
            <a:endParaRPr lang="zh-CN" altLang="x-none" sz="1300" dirty="0">
              <a:latin typeface="Arial" panose="020B0604020202020204" pitchFamily="34" charset="0"/>
            </a:endParaRPr>
          </a:p>
          <a:p>
            <a:pPr>
              <a:lnSpc>
                <a:spcPct val="6000"/>
              </a:lnSpc>
              <a:buNone/>
            </a:pPr>
            <a:endParaRPr lang="zh-CN" altLang="x-none" sz="1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000">
                <a:solidFill>
                  <a:srgbClr val="3333CC"/>
                </a:solidFill>
                <a:latin typeface="Wingdings" panose="05000000000000000000" pitchFamily="2" charset="2"/>
                <a:ea typeface="Wingdings" panose="05000000000000000000" pitchFamily="2" charset="2"/>
              </a:rPr>
              <a:t>Ø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描述应不依赖于任何一种计算机语言以及具体的实现手 段</a:t>
            </a:r>
            <a:endParaRPr lang="zh-CN" altLang="x-none" sz="1900" dirty="0">
              <a:latin typeface="Arial" panose="020B0604020202020204" pitchFamily="34" charset="0"/>
            </a:endParaRPr>
          </a:p>
        </p:txBody>
      </p:sp>
      <p:sp>
        <p:nvSpPr>
          <p:cNvPr id="461" name="textbox 461"/>
          <p:cNvSpPr/>
          <p:nvPr/>
        </p:nvSpPr>
        <p:spPr>
          <a:xfrm>
            <a:off x="3741738" y="384175"/>
            <a:ext cx="2511425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10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算法和算法分</a:t>
            </a:r>
            <a:r>
              <a:rPr kumimoji="0" sz="2700" b="0" i="0" u="none" strike="noStrike" kern="1200" cap="none" spc="6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析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4" name="textbox 464"/>
          <p:cNvSpPr/>
          <p:nvPr/>
        </p:nvSpPr>
        <p:spPr>
          <a:xfrm>
            <a:off x="996950" y="1643063"/>
            <a:ext cx="4189413" cy="340360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ts val="34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800" b="0" i="0" u="none" strike="noStrike" kern="1200" cap="none" spc="-1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算法具有以下五个特性：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87350" marR="0" lvl="0" indent="0" algn="l" defTabSz="914400" rtl="0" eaLnBrk="0" fontAlgn="base" latinLnBrk="0" hangingPunct="0">
              <a:lnSpc>
                <a:spcPts val="3435"/>
              </a:lnSpc>
              <a:spcBef>
                <a:spcPts val="12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700" b="0" i="0" u="none" strike="noStrike" kern="1200" cap="none" spc="-13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400" b="1" i="0" u="none" strike="noStrike" kern="1200" cap="none" spc="-1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(1)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300" b="0" i="0" u="none" strike="noStrike" kern="1200" cap="none" spc="-1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有穷</a:t>
            </a:r>
            <a:r>
              <a:rPr kumimoji="0" sz="2300" b="0" i="0" u="none" strike="noStrike" kern="1200" cap="none" spc="-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</a:t>
            </a:r>
            <a:endParaRPr kumimoji="0" lang="en-US" alt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87350" marR="0" lvl="0" indent="0" algn="l" defTabSz="914400" rtl="0" eaLnBrk="0" fontAlgn="base" latinLnBrk="0" hangingPunct="0">
              <a:lnSpc>
                <a:spcPts val="3435"/>
              </a:lnSpc>
              <a:spcBef>
                <a:spcPts val="114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700" b="0" i="0" u="none" strike="noStrike" kern="1200" cap="none" spc="-13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400" b="1" i="0" u="none" strike="noStrike" kern="1200" cap="none" spc="-1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(2)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300" b="0" i="0" u="none" strike="noStrike" kern="1200" cap="none" spc="-1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确定</a:t>
            </a:r>
            <a:r>
              <a:rPr kumimoji="0" sz="2300" b="0" i="0" u="none" strike="noStrike" kern="1200" cap="none" spc="-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</a:t>
            </a:r>
            <a:endParaRPr kumimoji="0" lang="en-US" alt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87350" marR="0" lvl="0" indent="0" algn="l" defTabSz="914400" rtl="0" eaLnBrk="0" fontAlgn="base" latinLnBrk="0" hangingPunct="0">
              <a:lnSpc>
                <a:spcPts val="3435"/>
              </a:lnSpc>
              <a:spcBef>
                <a:spcPts val="117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700" b="0" i="0" u="none" strike="noStrike" kern="1200" cap="none" spc="-13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400" b="1" i="0" u="none" strike="noStrike" kern="1200" cap="none" spc="-1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(3)</a:t>
            </a:r>
            <a:r>
              <a:rPr kumimoji="0" sz="2400" b="0" i="0" u="none" strike="noStrike" kern="1200" cap="none" spc="-1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300" b="0" i="0" u="none" strike="noStrike" kern="1200" cap="none" spc="-1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可行</a:t>
            </a:r>
            <a:r>
              <a:rPr kumimoji="0" sz="2300" b="0" i="0" u="none" strike="noStrike" kern="1200" cap="none" spc="-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</a:t>
            </a:r>
            <a:endParaRPr kumimoji="0" lang="en-US" alt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87350" marR="0" lvl="0" indent="0" algn="l" defTabSz="914400" rtl="0" eaLnBrk="0" fontAlgn="base" latinLnBrk="0" hangingPunct="0">
              <a:lnSpc>
                <a:spcPts val="3435"/>
              </a:lnSpc>
              <a:spcBef>
                <a:spcPts val="117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700" b="0" i="0" u="none" strike="noStrike" kern="1200" cap="none" spc="-15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400" b="1" i="0" u="none" strike="noStrike" kern="1200" cap="none" spc="-1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(4)</a:t>
            </a:r>
            <a:r>
              <a:rPr kumimoji="0" sz="2400" b="0" i="0" u="none" strike="noStrike" kern="1200" cap="none" spc="-1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300" b="0" i="0" u="none" strike="noStrike" kern="1200" cap="none" spc="-1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</a:t>
            </a:r>
            <a:endParaRPr kumimoji="0" lang="en-US" alt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87350" marR="0" lvl="0" indent="0" algn="l" defTabSz="914400" rtl="0" eaLnBrk="0" fontAlgn="base" latinLnBrk="0" hangingPunct="0">
              <a:lnSpc>
                <a:spcPts val="3435"/>
              </a:lnSpc>
              <a:spcBef>
                <a:spcPts val="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700" b="0" i="0" u="none" strike="noStrike" kern="1200" cap="none" spc="-15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400" b="1" i="0" u="none" strike="noStrike" kern="1200" cap="none" spc="-1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(5)</a:t>
            </a:r>
            <a:r>
              <a:rPr kumimoji="0" sz="2400" b="0" i="0" u="none" strike="noStrike" kern="1200" cap="none" spc="-1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300" b="0" i="0" u="none" strike="noStrike" kern="1200" cap="none" spc="-1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</a:t>
            </a:r>
            <a:endParaRPr kumimoji="0" lang="en-US" alt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5" name="textbox 465"/>
          <p:cNvSpPr/>
          <p:nvPr/>
        </p:nvSpPr>
        <p:spPr>
          <a:xfrm>
            <a:off x="3741738" y="384175"/>
            <a:ext cx="2511425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10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算法和算法分</a:t>
            </a:r>
            <a:r>
              <a:rPr kumimoji="0" sz="2700" b="0" i="0" u="none" strike="noStrike" kern="1200" cap="none" spc="6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析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8" name="textbox 468"/>
          <p:cNvSpPr/>
          <p:nvPr/>
        </p:nvSpPr>
        <p:spPr>
          <a:xfrm>
            <a:off x="1014413" y="1646238"/>
            <a:ext cx="7212013" cy="1673225"/>
          </a:xfrm>
          <a:prstGeom prst="rect">
            <a:avLst/>
          </a:prstGeom>
        </p:spPr>
        <p:txBody>
          <a:bodyPr lIns="0" tIns="0" rIns="0" bIns="0"/>
          <a:p>
            <a:pPr>
              <a:lnSpc>
                <a:spcPct val="94000"/>
              </a:lnSpc>
              <a:buNone/>
            </a:pPr>
            <a:endParaRPr lang="zh-CN" altLang="x-none" sz="1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000">
                <a:solidFill>
                  <a:srgbClr val="3333CC"/>
                </a:solidFill>
                <a:latin typeface="Wingdings" panose="05000000000000000000" pitchFamily="2" charset="2"/>
                <a:ea typeface="Wingdings" panose="05000000000000000000" pitchFamily="2" charset="2"/>
              </a:rPr>
              <a:t>l</a:t>
            </a:r>
            <a:r>
              <a:rPr lang="zh-CN" altLang="en-US" sz="19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有穷性</a:t>
            </a:r>
            <a:r>
              <a:rPr lang="en-US" altLang="zh-CN" sz="2000" b="1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一个算法必须总是在执行</a:t>
            </a:r>
            <a:r>
              <a:rPr lang="zh-CN" altLang="en-US" sz="2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有穷步骤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之后结束，且每一步 都在</a:t>
            </a:r>
            <a:r>
              <a:rPr lang="zh-CN" altLang="en-US" sz="2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有穷时间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内完成。</a:t>
            </a:r>
            <a:endParaRPr lang="zh-CN" altLang="x-none" sz="2000" dirty="0">
              <a:latin typeface="Arial" panose="020B0604020202020204" pitchFamily="34" charset="0"/>
            </a:endParaRPr>
          </a:p>
          <a:p>
            <a:pPr>
              <a:buNone/>
            </a:pPr>
            <a:endParaRPr lang="zh-CN" altLang="x-none" sz="1200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000">
                <a:solidFill>
                  <a:srgbClr val="3333CC"/>
                </a:solidFill>
                <a:latin typeface="Wingdings" panose="05000000000000000000" pitchFamily="2" charset="2"/>
                <a:ea typeface="Wingdings" panose="05000000000000000000" pitchFamily="2" charset="2"/>
              </a:rPr>
              <a:t>l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这里有两重意思，即算法中的操作步骤为有限个，且每个步骤 都能在有限时间 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合理的时间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内完成。</a:t>
            </a:r>
            <a:endParaRPr lang="zh-CN" altLang="x-none" sz="2000" dirty="0">
              <a:latin typeface="Arial" panose="020B0604020202020204" pitchFamily="34" charset="0"/>
            </a:endParaRPr>
          </a:p>
        </p:txBody>
      </p:sp>
      <p:sp>
        <p:nvSpPr>
          <p:cNvPr id="469" name="textbox 469"/>
          <p:cNvSpPr/>
          <p:nvPr/>
        </p:nvSpPr>
        <p:spPr>
          <a:xfrm>
            <a:off x="4457700" y="384175"/>
            <a:ext cx="1081088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7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有穷</a:t>
            </a:r>
            <a:r>
              <a:rPr kumimoji="0" sz="2700" b="0" i="0" u="none" strike="noStrike" kern="1200" cap="none" spc="6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性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2" name="textbox 472"/>
          <p:cNvSpPr/>
          <p:nvPr/>
        </p:nvSpPr>
        <p:spPr>
          <a:xfrm>
            <a:off x="1014413" y="1646238"/>
            <a:ext cx="7275513" cy="2525713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900" b="0" i="0" u="none" strike="noStrike" kern="1200" cap="none" spc="-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确定性：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对于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每种情况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下所应执行的操作，在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算法中都有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确切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17805" marR="0" lvl="0" indent="0" algn="l" defTabSz="914400" rtl="0" eaLnBrk="0" fontAlgn="base" latinLnBrk="0" hangingPunct="0">
              <a:lnSpc>
                <a:spcPts val="327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的规定，使算法的执行者或阅读者都能明确其含义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及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如何执行。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3200" marR="0" lvl="0" indent="0" algn="l" defTabSz="914400" rtl="0" eaLnBrk="0" fontAlgn="base" latinLnBrk="0" hangingPunct="0">
              <a:lnSpc>
                <a:spcPct val="95000"/>
              </a:lnSpc>
              <a:spcBef>
                <a:spcPts val="12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并且在任何条件下，算法都只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有一条执行路径。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6850" marR="0" lvl="0" indent="-184150" algn="l" defTabSz="914400" rtl="0" eaLnBrk="0" fontAlgn="base" latinLnBrk="0" hangingPunct="0">
              <a:lnSpc>
                <a:spcPct val="142000"/>
              </a:lnSpc>
              <a:spcBef>
                <a:spcPts val="41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确定性表现在对算法中每一步的描述都没有二义性， 只要输入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相同，初始状态相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同，则无论执行多少遍，所得结果都应该相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3" name="textbox 473"/>
          <p:cNvSpPr/>
          <p:nvPr/>
        </p:nvSpPr>
        <p:spPr>
          <a:xfrm>
            <a:off x="4452938" y="384175"/>
            <a:ext cx="1085850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8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确定</a:t>
            </a:r>
            <a:r>
              <a:rPr kumimoji="0" sz="2700" b="0" i="0" u="none" strike="noStrike" kern="1200" cap="none" spc="7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性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6" name="textbox 476"/>
          <p:cNvSpPr/>
          <p:nvPr/>
        </p:nvSpPr>
        <p:spPr>
          <a:xfrm>
            <a:off x="1014413" y="1646238"/>
            <a:ext cx="7429500" cy="1690688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24790" marR="0" lvl="0" indent="-21209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900" b="0" i="0" u="none" strike="noStrike" kern="1200" cap="none" spc="-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可行性： 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一个算法是可行的。即算法描述的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操作都是可以通过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已经实现的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基本运算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执行有限次来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实现的。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3835" marR="0" lvl="0" indent="-191135" algn="l" defTabSz="914400" rtl="0" eaLnBrk="0" fontAlgn="base" latinLnBrk="0" hangingPunct="0">
              <a:lnSpc>
                <a:spcPct val="123000"/>
              </a:lnSpc>
              <a:spcBef>
                <a:spcPts val="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可行性指的是，序列中的每个操作都是可以简单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成的，其本 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身不存在算法问题，例如，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“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x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y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的最大公因子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"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就不够基本。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7" name="textbox 477"/>
          <p:cNvSpPr/>
          <p:nvPr/>
        </p:nvSpPr>
        <p:spPr>
          <a:xfrm>
            <a:off x="4462463" y="384175"/>
            <a:ext cx="1076325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6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可行</a:t>
            </a:r>
            <a:r>
              <a:rPr kumimoji="0" sz="2700" b="0" i="0" u="none" strike="noStrike" kern="1200" cap="none" spc="5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性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0" name="textbox 480"/>
          <p:cNvSpPr/>
          <p:nvPr/>
        </p:nvSpPr>
        <p:spPr>
          <a:xfrm>
            <a:off x="1014413" y="1646238"/>
            <a:ext cx="7429500" cy="3005138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17805" marR="0" lvl="0" indent="-205105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900" b="0" i="0" u="none" strike="noStrike" kern="1200" cap="none" spc="6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</a:t>
            </a:r>
            <a:r>
              <a:rPr kumimoji="0" sz="2000" b="0" i="0" u="none" strike="noStrike" kern="1200" cap="none" spc="6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一个算法有零个或多个输入，这些输入取自于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某个特定 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的对象集合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4945" marR="0" lvl="0" indent="-182245" algn="l" defTabSz="914400" rtl="0" eaLnBrk="0" fontAlgn="base" latinLnBrk="0" hangingPunct="0">
              <a:lnSpc>
                <a:spcPct val="120000"/>
              </a:lnSpc>
              <a:spcBef>
                <a:spcPts val="144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900" b="0" i="0" u="none" strike="noStrike" kern="1200" cap="none" spc="4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作为算法加工对象的量值，通常体现为算法中的一组变量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但有些算法的字面上可以没有输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入，实际上已被嵌入算法之中。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6850" marR="0" lvl="0" indent="-184150" algn="l" defTabSz="914400" rtl="0" eaLnBrk="0" fontAlgn="base" latinLnBrk="0" hangingPunct="0">
              <a:lnSpc>
                <a:spcPct val="126000"/>
              </a:lnSpc>
              <a:spcBef>
                <a:spcPts val="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输入值即为算法的操作对象，但操作的对象也可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由算法自身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生成，如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"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求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100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以内的素数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"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，操作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对象是自然数列，可以由变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量逐个增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生成。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" name="textbox 481"/>
          <p:cNvSpPr/>
          <p:nvPr/>
        </p:nvSpPr>
        <p:spPr>
          <a:xfrm>
            <a:off x="4633913" y="384175"/>
            <a:ext cx="725488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6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输</a:t>
            </a:r>
            <a:r>
              <a:rPr kumimoji="0" sz="2700" b="0" i="0" u="none" strike="noStrike" kern="1200" cap="none" spc="5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入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4" name="textbox 484"/>
          <p:cNvSpPr/>
          <p:nvPr/>
        </p:nvSpPr>
        <p:spPr>
          <a:xfrm>
            <a:off x="1014413" y="1646238"/>
            <a:ext cx="7212013" cy="72390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9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 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一个算法有一个或多个输出，这些输出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同输入有着某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0660" marR="0" lvl="0" indent="0" algn="l" defTabSz="914400" rtl="0" eaLnBrk="0" fontAlgn="base" latinLnBrk="0" hangingPunct="0">
              <a:lnSpc>
                <a:spcPts val="327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些特定关系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5" name="textbox 485"/>
          <p:cNvSpPr/>
          <p:nvPr/>
        </p:nvSpPr>
        <p:spPr>
          <a:xfrm>
            <a:off x="4633913" y="384175"/>
            <a:ext cx="725488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6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输</a:t>
            </a:r>
            <a:r>
              <a:rPr kumimoji="0" sz="2700" b="0" i="0" u="none" strike="noStrike" kern="1200" cap="none" spc="5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出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8" name="textbox 488"/>
          <p:cNvSpPr/>
          <p:nvPr/>
        </p:nvSpPr>
        <p:spPr>
          <a:xfrm>
            <a:off x="885825" y="1612900"/>
            <a:ext cx="4079875" cy="2441575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ts val="27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评价一个好的算法有以下几个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92430" marR="0" lvl="0" indent="0" algn="l" defTabSz="914400" rtl="0" eaLnBrk="0" fontAlgn="base" latinLnBrk="0" hangingPunct="0">
              <a:lnSpc>
                <a:spcPts val="2865"/>
              </a:lnSpc>
              <a:spcBef>
                <a:spcPts val="134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300" b="0" i="0" u="none" strike="noStrike" kern="1200" cap="none" spc="-1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(1) </a:t>
            </a:r>
            <a:r>
              <a:rPr kumimoji="0" sz="1900" b="0" i="0" u="none" strike="noStrike" kern="1200" cap="none" spc="-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正确性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(Correc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tness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92430" marR="0" lvl="0" indent="0" algn="l" defTabSz="914400" rtl="0" eaLnBrk="0" fontAlgn="base" latinLnBrk="0" hangingPunct="0">
              <a:lnSpc>
                <a:spcPts val="2865"/>
              </a:lnSpc>
              <a:spcBef>
                <a:spcPts val="121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300" b="0" i="0" u="none" strike="noStrike" kern="1200" cap="none" spc="-2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(2) </a:t>
            </a:r>
            <a:r>
              <a:rPr kumimoji="0" sz="1900" b="0" i="0" u="none" strike="noStrike" kern="1200" cap="none" spc="-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可读性</a:t>
            </a:r>
            <a:r>
              <a:rPr kumimoji="0" sz="2000" b="1" i="0" u="none" strike="noStrike" kern="1200" cap="none" spc="-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(R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eadability</a:t>
            </a:r>
            <a:r>
              <a:rPr kumimoji="0" sz="2000" b="1" i="0" u="none" strike="noStrike" kern="1200" cap="none" spc="-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92430" marR="0" lvl="0" indent="0" algn="l" defTabSz="914400" rtl="0" eaLnBrk="0" fontAlgn="base" latinLnBrk="0" hangingPunct="0">
              <a:lnSpc>
                <a:spcPts val="2865"/>
              </a:lnSpc>
              <a:spcBef>
                <a:spcPts val="114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300" b="0" i="0" u="none" strike="noStrike" kern="1200" cap="none" spc="-2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(3) </a:t>
            </a:r>
            <a:r>
              <a:rPr kumimoji="0" sz="1900" b="0" i="0" u="none" strike="noStrike" kern="1200" cap="none" spc="-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健壮性</a:t>
            </a:r>
            <a:r>
              <a:rPr kumimoji="0" sz="2000" b="1" i="0" u="none" strike="noStrike" kern="1200" cap="none" spc="-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Robustness</a:t>
            </a:r>
            <a:r>
              <a:rPr kumimoji="0" sz="2000" b="1" i="0" u="none" strike="noStrike" kern="1200" cap="none" spc="-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92430" marR="0" lvl="0" indent="0" algn="l" defTabSz="914400" rtl="0" eaLnBrk="0" fontAlgn="base" latinLnBrk="0" hangingPunct="0">
              <a:lnSpc>
                <a:spcPts val="2725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300" b="0" i="0" u="none" strike="noStrike" kern="1200" cap="none" spc="3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(4) </a:t>
            </a:r>
            <a:r>
              <a:rPr kumimoji="0" sz="1900" b="0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效率与存</a:t>
            </a:r>
            <a:r>
              <a:rPr kumimoji="0" sz="19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储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量需求</a:t>
            </a: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9" name="textbox 489"/>
          <p:cNvSpPr/>
          <p:nvPr/>
        </p:nvSpPr>
        <p:spPr>
          <a:xfrm>
            <a:off x="3741738" y="384175"/>
            <a:ext cx="2511425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10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算法设计的要</a:t>
            </a:r>
            <a:r>
              <a:rPr kumimoji="0" sz="2700" b="0" i="0" u="none" strike="noStrike" kern="1200" cap="none" spc="6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求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2" name="textbox 492"/>
          <p:cNvSpPr/>
          <p:nvPr/>
        </p:nvSpPr>
        <p:spPr>
          <a:xfrm>
            <a:off x="1216025" y="1349375"/>
            <a:ext cx="7410450" cy="4841875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3200" marR="0" lvl="0" indent="-190500" algn="l" defTabSz="914400" rtl="0" eaLnBrk="0" fontAlgn="base" latinLnBrk="0" hangingPunct="0">
              <a:lnSpc>
                <a:spcPct val="12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900" b="0" i="0" u="none" strike="noStrike" kern="1200" cap="none" spc="4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正确性</a:t>
            </a:r>
            <a:r>
              <a:rPr kumimoji="0" sz="2000" b="1" i="0" u="none" strike="noStrike" kern="1200" cap="none" spc="4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Correctness</a:t>
            </a:r>
            <a:r>
              <a:rPr kumimoji="0" sz="2000" b="1" i="0" u="none" strike="noStrike" kern="1200" cap="none" spc="4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算法应满足具体问题的需求，要以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定的规格说明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式给出。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6850" marR="0" lvl="0" indent="-184150" algn="l" defTabSz="914400" rtl="0" eaLnBrk="0" fontAlgn="base" latinLnBrk="0" hangingPunct="0">
              <a:lnSpc>
                <a:spcPct val="120000"/>
              </a:lnSpc>
              <a:spcBef>
                <a:spcPts val="144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算法是正确的，除了应该满足算法说明中写明的“功能”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之外，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应对各组典型的带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有苛刻条件的输入数据得出正确的结果。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ts val="2495"/>
              </a:lnSpc>
              <a:spcBef>
                <a:spcPts val="142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900" b="0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“正确”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理解的四个层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次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91160" marR="0" lvl="0" indent="0" algn="l" defTabSz="914400" rtl="0" eaLnBrk="0" fontAlgn="base" latinLnBrk="0" hangingPunct="0">
              <a:lnSpc>
                <a:spcPct val="96000"/>
              </a:lnSpc>
              <a:spcBef>
                <a:spcPts val="13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-4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程序不含语法</a:t>
            </a:r>
            <a:r>
              <a:rPr kumimoji="0" sz="1800" b="0" i="0" u="none" strike="noStrike" kern="1200" cap="none" spc="-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错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误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91160" marR="0" lvl="0" indent="0" algn="l" defTabSz="914400" rtl="0" eaLnBrk="0" fontAlgn="base" latinLnBrk="0" hangingPunct="0">
              <a:lnSpc>
                <a:spcPct val="96000"/>
              </a:lnSpc>
              <a:spcBef>
                <a:spcPts val="133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-2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程序对于几组输入数据能够得出满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足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规格说明要求的结果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71195" marR="0" lvl="0" indent="-280035" algn="l" defTabSz="914400" rtl="0" eaLnBrk="0" fontAlgn="base" latinLnBrk="0" hangingPunct="0">
              <a:lnSpc>
                <a:spcPct val="117000"/>
              </a:lnSpc>
              <a:spcBef>
                <a:spcPts val="144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3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18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程序对于精心选择的典型、苛刻而带有刁难性的几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组输入数据能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够得出满足规格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说明要求的结果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91160" marR="0" lvl="0" indent="0" algn="l" defTabSz="914400" rtl="0" eaLnBrk="0" fontAlgn="base" latinLnBrk="0" hangingPunct="0">
              <a:lnSpc>
                <a:spcPct val="96000"/>
              </a:lnSpc>
              <a:spcBef>
                <a:spcPts val="144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200" b="0" i="0" u="none" strike="noStrike" kern="1200" cap="none" spc="-2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程序对于一切合法的输入数据都能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生满足规格说明要求的结果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ts val="2495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通常以第三层意义的正确性作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为衡量一个程序是否合格的标准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555" name="group 102"/>
          <p:cNvGrpSpPr/>
          <p:nvPr/>
        </p:nvGrpSpPr>
        <p:grpSpPr>
          <a:xfrm>
            <a:off x="1744663" y="4489450"/>
            <a:ext cx="6878637" cy="1008063"/>
            <a:chOff x="0" y="0"/>
            <a:chExt cx="6878637" cy="1008043"/>
          </a:xfrm>
        </p:grpSpPr>
        <p:sp>
          <p:nvSpPr>
            <p:cNvPr id="23558" name="path"/>
            <p:cNvSpPr/>
            <p:nvPr/>
          </p:nvSpPr>
          <p:spPr>
            <a:xfrm>
              <a:off x="0" y="0"/>
              <a:ext cx="6878637" cy="830262"/>
            </a:xfrm>
            <a:custGeom>
              <a:avLst/>
              <a:gdLst>
                <a:gd name="txL" fmla="*/ 0 w 10832"/>
                <a:gd name="txT" fmla="*/ 0 h 1307"/>
                <a:gd name="txR" fmla="*/ 10832 w 10832"/>
                <a:gd name="txB" fmla="*/ 1307 h 1307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10832" h="1307">
                  <a:moveTo>
                    <a:pt x="30" y="237"/>
                  </a:moveTo>
                  <a:cubicBezTo>
                    <a:pt x="30" y="123"/>
                    <a:pt x="123" y="30"/>
                    <a:pt x="237" y="30"/>
                  </a:cubicBezTo>
                  <a:lnTo>
                    <a:pt x="10594" y="30"/>
                  </a:lnTo>
                  <a:cubicBezTo>
                    <a:pt x="10709" y="30"/>
                    <a:pt x="10802" y="123"/>
                    <a:pt x="10802" y="237"/>
                  </a:cubicBezTo>
                  <a:lnTo>
                    <a:pt x="10802" y="1069"/>
                  </a:lnTo>
                  <a:cubicBezTo>
                    <a:pt x="10802" y="1184"/>
                    <a:pt x="10709" y="1277"/>
                    <a:pt x="10594" y="1277"/>
                  </a:cubicBezTo>
                  <a:lnTo>
                    <a:pt x="237" y="1277"/>
                  </a:lnTo>
                  <a:cubicBezTo>
                    <a:pt x="123" y="1277"/>
                    <a:pt x="30" y="1184"/>
                    <a:pt x="30" y="1069"/>
                  </a:cubicBezTo>
                  <a:lnTo>
                    <a:pt x="30" y="237"/>
                  </a:lnTo>
                  <a:close/>
                </a:path>
              </a:pathLst>
            </a:custGeom>
            <a:noFill/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59" name="path"/>
            <p:cNvSpPr/>
            <p:nvPr/>
          </p:nvSpPr>
          <p:spPr>
            <a:xfrm>
              <a:off x="3105412" y="794565"/>
              <a:ext cx="666223" cy="213477"/>
            </a:xfrm>
            <a:custGeom>
              <a:avLst/>
              <a:gdLst>
                <a:gd name="txL" fmla="*/ 0 w 1049"/>
                <a:gd name="txT" fmla="*/ 0 h 336"/>
                <a:gd name="txR" fmla="*/ 1049 w 1049"/>
                <a:gd name="txB" fmla="*/ 336 h 336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1049" h="336">
                  <a:moveTo>
                    <a:pt x="14" y="309"/>
                  </a:moveTo>
                  <a:lnTo>
                    <a:pt x="524" y="26"/>
                  </a:lnTo>
                  <a:lnTo>
                    <a:pt x="1034" y="309"/>
                  </a:lnTo>
                </a:path>
              </a:pathLst>
            </a:custGeom>
            <a:noFill/>
            <a:ln w="38100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95" name="textbox 495"/>
          <p:cNvSpPr/>
          <p:nvPr/>
        </p:nvSpPr>
        <p:spPr>
          <a:xfrm>
            <a:off x="4464050" y="384175"/>
            <a:ext cx="1074738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6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正确</a:t>
            </a:r>
            <a:r>
              <a:rPr kumimoji="0" sz="2700" b="0" i="0" u="none" strike="noStrike" kern="1200" cap="none" spc="4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性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7" name="path"/>
          <p:cNvSpPr/>
          <p:nvPr/>
        </p:nvSpPr>
        <p:spPr>
          <a:xfrm>
            <a:off x="5002213" y="5481638"/>
            <a:ext cx="361950" cy="539750"/>
          </a:xfrm>
          <a:custGeom>
            <a:avLst/>
            <a:gdLst>
              <a:gd name="txL" fmla="*/ 0 w 569"/>
              <a:gd name="txT" fmla="*/ 0 h 851"/>
              <a:gd name="txR" fmla="*/ 569 w 569"/>
              <a:gd name="txB" fmla="*/ 851 h 851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569" h="851">
                <a:moveTo>
                  <a:pt x="539" y="0"/>
                </a:moveTo>
                <a:lnTo>
                  <a:pt x="539" y="851"/>
                </a:lnTo>
                <a:moveTo>
                  <a:pt x="30" y="851"/>
                </a:moveTo>
                <a:lnTo>
                  <a:pt x="30" y="0"/>
                </a:lnTo>
              </a:path>
            </a:pathLst>
          </a:custGeom>
          <a:noFill/>
          <a:ln w="38100">
            <a:noFill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9" name="textbox 499"/>
          <p:cNvSpPr/>
          <p:nvPr/>
        </p:nvSpPr>
        <p:spPr>
          <a:xfrm>
            <a:off x="1014413" y="1646238"/>
            <a:ext cx="7212013" cy="2155825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3835" marR="0" lvl="0" indent="-191135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9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可读性： 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算法应该好读。算法首先应考虑人的阅读和交流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次是计算机的执行，因此，应有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利于阅读者对程序的理解。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674370" marR="0" lvl="0" indent="-281940" algn="l" defTabSz="914400" rtl="0" eaLnBrk="0" fontAlgn="base" latinLnBrk="0" hangingPunct="0">
              <a:lnSpc>
                <a:spcPct val="119000"/>
              </a:lnSpc>
              <a:spcBef>
                <a:spcPts val="153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300" b="0" i="0" u="none" strike="noStrike" kern="1200" cap="none" spc="4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可读性在当今大型软件需要多人合作完成的环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境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下是非常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重要的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92430" marR="0" lvl="0" indent="0" algn="l" defTabSz="914400" rtl="0" eaLnBrk="0" fontAlgn="base" latinLnBrk="0" hangingPunct="0">
              <a:lnSpc>
                <a:spcPct val="95000"/>
              </a:lnSpc>
              <a:spcBef>
                <a:spcPts val="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300" b="0" i="0" u="none" strike="noStrike" kern="1200" cap="none" spc="-3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晦涩难读的程序代码容易隐藏错误而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且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难以调试。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0" name="textbox 500"/>
          <p:cNvSpPr/>
          <p:nvPr/>
        </p:nvSpPr>
        <p:spPr>
          <a:xfrm>
            <a:off x="4462463" y="384175"/>
            <a:ext cx="1076325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6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可读</a:t>
            </a:r>
            <a:r>
              <a:rPr kumimoji="0" sz="2700" b="0" i="0" u="none" strike="noStrike" kern="1200" cap="none" spc="5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性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3" name="textbox 503"/>
          <p:cNvSpPr/>
          <p:nvPr/>
        </p:nvSpPr>
        <p:spPr>
          <a:xfrm>
            <a:off x="1014413" y="1646238"/>
            <a:ext cx="7212013" cy="2090738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10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8120" marR="0" lvl="0" indent="-18542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9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健壮性： 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算法应具有容错处理。当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输入非法数据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时，算法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作出反应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，而不是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产生莫名其妙的输出结果。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8120" marR="0" lvl="0" indent="-185420" algn="l" defTabSz="914400" rtl="0" eaLnBrk="0" fontAlgn="base" latinLnBrk="0" hangingPunct="0">
              <a:lnSpc>
                <a:spcPct val="12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算法的健壮性指的是，算法应对非法输入的数据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做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出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恰当反映 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或进行相应处理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，一般情况下，应向调用它的函数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返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回一个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示错误或错误性质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值。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4" name="textbox 504"/>
          <p:cNvSpPr/>
          <p:nvPr/>
        </p:nvSpPr>
        <p:spPr>
          <a:xfrm>
            <a:off x="4454525" y="384175"/>
            <a:ext cx="1084263" cy="428625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8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健壮</a:t>
            </a:r>
            <a:r>
              <a:rPr kumimoji="0" sz="2700" b="0" i="0" u="none" strike="noStrike" kern="1200" cap="none" spc="6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性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7" name="textbox 507"/>
          <p:cNvSpPr/>
          <p:nvPr/>
        </p:nvSpPr>
        <p:spPr>
          <a:xfrm>
            <a:off x="1006475" y="1646238"/>
            <a:ext cx="7219950" cy="4613275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955" marR="0" lvl="0" indent="0" algn="l" defTabSz="9144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900" b="0" i="0" u="none" strike="noStrike" kern="1200" cap="none" spc="4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效率与存储量需求： 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效率指的是算法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执行的时间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；存储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5105" marR="0" lvl="0" indent="3175" algn="l" defTabSz="914400" rtl="0" eaLnBrk="0" fontAlgn="base" latinLnBrk="0" hangingPunct="0">
              <a:lnSpc>
                <a:spcPct val="142000"/>
              </a:lnSpc>
              <a:spcBef>
                <a:spcPts val="2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指算法执行过程中所需要的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最大存储空间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。一般，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这两者与问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题的规模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有关。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8255" algn="l" defTabSz="914400" rtl="0" eaLnBrk="0" fontAlgn="base" latinLnBrk="0" hangingPunct="0">
              <a:lnSpc>
                <a:spcPct val="157000"/>
              </a:lnSpc>
              <a:spcBef>
                <a:spcPts val="41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Al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gorithms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Data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Structures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=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Programs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//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kumimoji="0" sz="2000" b="1" i="1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Wirth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1976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(Algorit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hms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Data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Structures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*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Efficiency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=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Computation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955" marR="0" lvl="0" indent="0" algn="l" defTabSz="914400" rtl="0" eaLnBrk="0" fontAlgn="base" latinLnBrk="0" hangingPunct="0">
              <a:lnSpc>
                <a:spcPts val="2865"/>
              </a:lnSpc>
              <a:spcBef>
                <a:spcPts val="60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To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measure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is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to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know.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26060" marR="0" lvl="0" indent="0" algn="l" defTabSz="914400" rtl="0" eaLnBrk="0" fontAlgn="base" latinLnBrk="0" hangingPunct="0">
              <a:lnSpc>
                <a:spcPts val="2865"/>
              </a:lnSpc>
              <a:spcBef>
                <a:spcPts val="93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If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you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can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not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measure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it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you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can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not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improve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it.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0" fontAlgn="base" latinLnBrk="0" hangingPunct="0">
              <a:lnSpc>
                <a:spcPts val="2865"/>
              </a:lnSpc>
              <a:spcBef>
                <a:spcPts val="10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//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Lord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Kelvin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955" marR="0" lvl="0" indent="0" algn="l" defTabSz="914400" rtl="0" eaLnBrk="0" fontAlgn="base" latinLnBrk="0" hangingPunct="0">
              <a:lnSpc>
                <a:spcPts val="2520"/>
              </a:lnSpc>
              <a:spcBef>
                <a:spcPts val="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900" b="0" i="0" u="none" strike="noStrike" kern="1200" cap="none" spc="1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引入、运用理想、统一的尺度，度量数据结构的性</a:t>
            </a:r>
            <a:r>
              <a:rPr kumimoji="0" sz="19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</a:t>
            </a: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8" name="textbox 508"/>
          <p:cNvSpPr/>
          <p:nvPr/>
        </p:nvSpPr>
        <p:spPr>
          <a:xfrm>
            <a:off x="3562350" y="384175"/>
            <a:ext cx="2868613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10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效率与存储量需</a:t>
            </a:r>
            <a:r>
              <a:rPr kumimoji="0" sz="2700" b="0" i="0" u="none" strike="noStrike" kern="1200" cap="none" spc="9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求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7651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27652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br>
              <a:rPr lang="tr-TR" altLang="zh-CN" dirty="0"/>
            </a:br>
            <a:r>
              <a:rPr lang="en-US" altLang="zh-CN" dirty="0"/>
              <a:t>OUTLINE</a:t>
            </a:r>
            <a:endParaRPr lang="tr-TR" altLang="zh-CN" dirty="0"/>
          </a:p>
        </p:txBody>
      </p:sp>
      <p:sp>
        <p:nvSpPr>
          <p:cNvPr id="27653" name="Rectangle 5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Tx/>
              <a:buNone/>
            </a:pPr>
            <a:endParaRPr lang="en-US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FF0000"/>
                </a:solidFill>
              </a:rPr>
              <a:t>What to Analyze ?</a:t>
            </a:r>
            <a:endParaRPr lang="tr-TR" altLang="zh-CN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Running Time Analysis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General Rules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Recursive Calls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Maximum Subsequence Sum Problem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Experimentally checking analysis</a:t>
            </a:r>
            <a:endParaRPr lang="tr-TR" altLang="zh-CN" dirty="0">
              <a:solidFill>
                <a:srgbClr val="B2B2B2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9699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tr-TR" altLang="zh-CN" dirty="0"/>
              <a:t>What to Analyze ?</a:t>
            </a:r>
            <a:endParaRPr lang="tr-TR" altLang="zh-CN" dirty="0"/>
          </a:p>
        </p:txBody>
      </p:sp>
      <p:sp>
        <p:nvSpPr>
          <p:cNvPr id="29701" name="Rectangle 3"/>
          <p:cNvSpPr>
            <a:spLocks noGrp="1"/>
          </p:cNvSpPr>
          <p:nvPr>
            <p:ph idx="1"/>
          </p:nvPr>
        </p:nvSpPr>
        <p:spPr>
          <a:xfrm>
            <a:off x="762000" y="1447800"/>
            <a:ext cx="7772400" cy="445928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tr-TR" altLang="zh-CN" dirty="0"/>
              <a:t>Running Time (most important !)</a:t>
            </a:r>
            <a:endParaRPr lang="tr-TR" altLang="zh-CN" dirty="0"/>
          </a:p>
          <a:p>
            <a:pPr eaLnBrk="1" hangingPunct="1">
              <a:lnSpc>
                <a:spcPct val="90000"/>
              </a:lnSpc>
            </a:pPr>
            <a:r>
              <a:rPr lang="tr-TR" altLang="zh-CN" dirty="0"/>
              <a:t>Required memory space</a:t>
            </a:r>
            <a:endParaRPr lang="tr-TR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tr-TR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tr-TR" altLang="zh-CN" dirty="0"/>
              <a:t>	Run-time complexity is </a:t>
            </a:r>
            <a:r>
              <a:rPr lang="en-US" altLang="zh-CN" dirty="0"/>
              <a:t>a</a:t>
            </a:r>
            <a:r>
              <a:rPr lang="tr-TR" altLang="zh-CN" dirty="0"/>
              <a:t>ffected by</a:t>
            </a:r>
            <a:endParaRPr lang="tr-TR" altLang="zh-CN" dirty="0"/>
          </a:p>
          <a:p>
            <a:pPr lvl="2" eaLnBrk="1" hangingPunct="1">
              <a:lnSpc>
                <a:spcPct val="90000"/>
              </a:lnSpc>
            </a:pPr>
            <a:r>
              <a:rPr lang="tr-TR" altLang="zh-CN" sz="2400" dirty="0"/>
              <a:t>compiler         </a:t>
            </a:r>
            <a:endParaRPr lang="tr-TR" altLang="zh-CN" sz="2400" dirty="0"/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tr-TR" altLang="zh-CN" dirty="0"/>
              <a:t>			     usually</a:t>
            </a:r>
            <a:r>
              <a:rPr lang="tr-TR" altLang="zh-CN" sz="2400" dirty="0"/>
              <a:t> </a:t>
            </a:r>
            <a:r>
              <a:rPr lang="en-US" altLang="zh-CN" dirty="0"/>
              <a:t>a</a:t>
            </a:r>
            <a:r>
              <a:rPr lang="tr-TR" altLang="zh-CN" dirty="0"/>
              <a:t>ffects the constants &amp; </a:t>
            </a:r>
            <a:endParaRPr lang="tr-TR" altLang="zh-CN" dirty="0"/>
          </a:p>
          <a:p>
            <a:pPr lvl="2" eaLnBrk="1" hangingPunct="1">
              <a:lnSpc>
                <a:spcPct val="90000"/>
              </a:lnSpc>
            </a:pPr>
            <a:r>
              <a:rPr lang="tr-TR" altLang="zh-CN" sz="2400" dirty="0"/>
              <a:t>computer</a:t>
            </a:r>
            <a:r>
              <a:rPr lang="tr-TR" altLang="zh-CN" dirty="0"/>
              <a:t>	     lower order terms</a:t>
            </a:r>
            <a:endParaRPr lang="tr-TR" altLang="zh-CN" sz="2400" dirty="0"/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tr-TR" altLang="zh-CN" sz="2400" dirty="0"/>
          </a:p>
          <a:p>
            <a:pPr lvl="2" eaLnBrk="1" hangingPunct="1">
              <a:lnSpc>
                <a:spcPct val="90000"/>
              </a:lnSpc>
            </a:pPr>
            <a:r>
              <a:rPr lang="tr-TR" altLang="zh-CN" sz="2400" dirty="0"/>
              <a:t>algorithm 	    </a:t>
            </a:r>
            <a:r>
              <a:rPr lang="tr-TR" altLang="zh-CN" dirty="0"/>
              <a:t>use asymptotic </a:t>
            </a:r>
            <a:r>
              <a:rPr lang="en-US" altLang="zh-CN" dirty="0"/>
              <a:t>(</a:t>
            </a:r>
            <a:r>
              <a:rPr lang="zh-CN" altLang="en-US" dirty="0"/>
              <a:t>渐进的</a:t>
            </a:r>
            <a:r>
              <a:rPr lang="en-US" altLang="zh-CN" dirty="0"/>
              <a:t>) </a:t>
            </a:r>
            <a:r>
              <a:rPr lang="tr-TR" altLang="zh-CN" dirty="0"/>
              <a:t>notation</a:t>
            </a:r>
            <a:endParaRPr lang="tr-TR" altLang="zh-CN" dirty="0"/>
          </a:p>
        </p:txBody>
      </p:sp>
      <p:sp>
        <p:nvSpPr>
          <p:cNvPr id="29702" name="AutoShape 4"/>
          <p:cNvSpPr/>
          <p:nvPr/>
        </p:nvSpPr>
        <p:spPr>
          <a:xfrm>
            <a:off x="3505200" y="304800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9703" name="AutoShape 5"/>
          <p:cNvSpPr/>
          <p:nvPr/>
        </p:nvSpPr>
        <p:spPr>
          <a:xfrm>
            <a:off x="3429000" y="45720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1" name="Text Box 3"/>
          <p:cNvSpPr txBox="1"/>
          <p:nvPr/>
        </p:nvSpPr>
        <p:spPr>
          <a:xfrm>
            <a:off x="685800" y="1143000"/>
            <a:ext cx="8278813" cy="862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4102100" lvl="0" indent="-41021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 Machine &amp; compiler-dependent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run times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. 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4102100" lvl="0" indent="-41021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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Time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&amp; </a:t>
            </a: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space complexities</a:t>
            </a:r>
            <a:r>
              <a:rPr lang="en-US" altLang="zh-CN" sz="2000" dirty="0">
                <a:solidFill>
                  <a:schemeClr val="accent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: machine &amp; compiler-</a:t>
            </a: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in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dependent.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43013" name="Text Box 5"/>
          <p:cNvSpPr txBox="1"/>
          <p:nvPr/>
        </p:nvSpPr>
        <p:spPr>
          <a:xfrm>
            <a:off x="762000" y="2514600"/>
            <a:ext cx="7810500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Assumptions: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 instructions are executed sequentially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 each instruction is </a:t>
            </a: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simple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, and takes exactly </a:t>
            </a: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one time unit</a:t>
            </a:r>
            <a:endParaRPr lang="en-US" altLang="zh-CN" sz="2000" dirty="0">
              <a:solidFill>
                <a:srgbClr val="FF3300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 integer size is fixed and we have infinite memory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3014" name="Text Box 6"/>
          <p:cNvSpPr txBox="1"/>
          <p:nvPr/>
        </p:nvSpPr>
        <p:spPr>
          <a:xfrm>
            <a:off x="762000" y="4343400"/>
            <a:ext cx="7543800" cy="1797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190500" lvl="0" indent="-190500" eaLnBrk="1" hangingPunct="1">
              <a:spcBef>
                <a:spcPct val="30000"/>
              </a:spcBef>
              <a:buClrTx/>
              <a:buSzTx/>
              <a:buFontTx/>
              <a:buChar char="•"/>
            </a:pP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so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T(N)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is the execution time of our algorithm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190500" lvl="0" indent="-190500" eaLnBrk="1" hangingPunct="1">
              <a:spcBef>
                <a:spcPct val="30000"/>
              </a:spcBef>
              <a:buClrTx/>
              <a:buSzTx/>
              <a:buFontTx/>
              <a:buChar char="•"/>
            </a:pP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190500" lvl="0" indent="-190500" eaLnBrk="1" hangingPunct="1">
              <a:spcBef>
                <a:spcPct val="30000"/>
              </a:spcBef>
              <a:buClrTx/>
              <a:buSzTx/>
              <a:buFontTx/>
              <a:buChar char="•"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Typically the following two functions are analyzed: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190500" lvl="0" indent="-19050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en-US" altLang="zh-CN" sz="2000" i="1" dirty="0">
                <a:solidFill>
                  <a:srgbClr val="FF33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rgbClr val="FF3300"/>
                </a:solidFill>
                <a:ea typeface="宋体" panose="02010600030101010101" pitchFamily="2" charset="-122"/>
              </a:rPr>
              <a:t>avg</a:t>
            </a: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FF33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&amp; 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worst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) 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--  the average and worst case time complexities, respectively, as functions of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input size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749" name="Text Box 9"/>
          <p:cNvSpPr txBox="1"/>
          <p:nvPr/>
        </p:nvSpPr>
        <p:spPr>
          <a:xfrm>
            <a:off x="0" y="6553200"/>
            <a:ext cx="6096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1"/>
                </a:solidFill>
                <a:ea typeface="宋体" panose="02010600030101010101" pitchFamily="2" charset="-122"/>
              </a:rPr>
              <a:t>3/26</a:t>
            </a:r>
            <a:endParaRPr lang="en-US" altLang="zh-CN" sz="1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750" name="Rectangle 2"/>
          <p:cNvSpPr txBox="1"/>
          <p:nvPr/>
        </p:nvSpPr>
        <p:spPr>
          <a:xfrm>
            <a:off x="457200" y="457200"/>
            <a:ext cx="8229600" cy="8112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r-TR" altLang="zh-CN" sz="3600" dirty="0">
                <a:solidFill>
                  <a:schemeClr val="bg2"/>
                </a:solidFill>
                <a:ea typeface="华文新魏" panose="02010800040101010101" pitchFamily="2" charset="-122"/>
              </a:rPr>
              <a:t>What to Analyze </a:t>
            </a:r>
            <a:endParaRPr lang="tr-TR" altLang="zh-CN" sz="3600" dirty="0">
              <a:solidFill>
                <a:schemeClr val="bg2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/>
      <p:bldP spid="43013" grpId="0"/>
      <p:bldP spid="430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Algorithms Comparison</a:t>
            </a:r>
            <a:endParaRPr lang="zh-CN" altLang="en-US" dirty="0"/>
          </a:p>
        </p:txBody>
      </p:sp>
      <p:grpSp>
        <p:nvGrpSpPr>
          <p:cNvPr id="2" name="Group 10"/>
          <p:cNvGrpSpPr/>
          <p:nvPr/>
        </p:nvGrpSpPr>
        <p:grpSpPr>
          <a:xfrm>
            <a:off x="3429000" y="2000250"/>
            <a:ext cx="5357813" cy="2071688"/>
            <a:chOff x="384" y="576"/>
            <a:chExt cx="3264" cy="2236"/>
          </a:xfrm>
        </p:grpSpPr>
        <p:sp>
          <p:nvSpPr>
            <p:cNvPr id="33805" name="AutoShape 6"/>
            <p:cNvSpPr/>
            <p:nvPr/>
          </p:nvSpPr>
          <p:spPr>
            <a:xfrm>
              <a:off x="384" y="576"/>
              <a:ext cx="2829" cy="2236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06" name="Text Box 5"/>
            <p:cNvSpPr txBox="1"/>
            <p:nvPr/>
          </p:nvSpPr>
          <p:spPr>
            <a:xfrm>
              <a:off x="480" y="662"/>
              <a:ext cx="3168" cy="20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int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i, sum = 0, n = 100;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// 1 step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for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(i = 1; i &lt;= n; i++)   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//  n+1 steps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{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  sum =  sum + i;    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//  n steps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}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printf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(“%d”, sum);     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//  1 step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3429000" y="4432300"/>
            <a:ext cx="4643438" cy="1571625"/>
            <a:chOff x="384" y="576"/>
            <a:chExt cx="4228" cy="2236"/>
          </a:xfrm>
        </p:grpSpPr>
        <p:sp>
          <p:nvSpPr>
            <p:cNvPr id="33803" name="AutoShape 6"/>
            <p:cNvSpPr/>
            <p:nvPr/>
          </p:nvSpPr>
          <p:spPr>
            <a:xfrm>
              <a:off x="384" y="576"/>
              <a:ext cx="4228" cy="2236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804" name="Text Box 5"/>
            <p:cNvSpPr txBox="1"/>
            <p:nvPr/>
          </p:nvSpPr>
          <p:spPr>
            <a:xfrm>
              <a:off x="480" y="662"/>
              <a:ext cx="4132" cy="18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int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sum = 0, n = 100;   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// 1 step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sum =  (1 + n ) </a:t>
              </a:r>
              <a:r>
                <a:rPr lang="zh-CN" altLang="en-US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*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n/2;   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// 1 step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printf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(“%d”, sum) ;    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// 1 step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3797" name="TextBox 12"/>
          <p:cNvSpPr txBox="1"/>
          <p:nvPr/>
        </p:nvSpPr>
        <p:spPr>
          <a:xfrm>
            <a:off x="33338" y="1214438"/>
            <a:ext cx="4967287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0099"/>
                </a:solidFill>
                <a:ea typeface="宋体" panose="02010600030101010101" pitchFamily="2" charset="-122"/>
              </a:rPr>
              <a:t>【Example】 </a:t>
            </a:r>
            <a:r>
              <a:rPr lang="en-US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Sum {1+2+3+… 100}</a:t>
            </a: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798" name="TextBox 13"/>
          <p:cNvSpPr txBox="1"/>
          <p:nvPr/>
        </p:nvSpPr>
        <p:spPr>
          <a:xfrm>
            <a:off x="214313" y="2071688"/>
            <a:ext cx="2247900" cy="984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99"/>
                </a:solidFill>
                <a:ea typeface="宋体" panose="02010600030101010101" pitchFamily="2" charset="-122"/>
              </a:rPr>
              <a:t>Algorithm 1:</a:t>
            </a:r>
            <a:endParaRPr lang="en-US" altLang="zh-CN" sz="2000" dirty="0">
              <a:solidFill>
                <a:srgbClr val="000099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Iterative function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" name="Text Box 11"/>
          <p:cNvSpPr txBox="1"/>
          <p:nvPr/>
        </p:nvSpPr>
        <p:spPr>
          <a:xfrm>
            <a:off x="142875" y="3001963"/>
            <a:ext cx="2895600" cy="78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sum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(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 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) = 1+(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+1)+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+1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= 2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+ 3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800" name="矩形 16"/>
          <p:cNvSpPr/>
          <p:nvPr/>
        </p:nvSpPr>
        <p:spPr>
          <a:xfrm>
            <a:off x="142875" y="4286250"/>
            <a:ext cx="328612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99"/>
                </a:solidFill>
                <a:ea typeface="宋体" panose="02010600030101010101" pitchFamily="2" charset="-122"/>
              </a:rPr>
              <a:t>Algorithm 2:</a:t>
            </a:r>
            <a:endParaRPr lang="en-US" altLang="zh-CN" sz="2000" dirty="0">
              <a:solidFill>
                <a:srgbClr val="000099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Gauss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" name="Text Box 11"/>
          <p:cNvSpPr txBox="1"/>
          <p:nvPr/>
        </p:nvSpPr>
        <p:spPr>
          <a:xfrm>
            <a:off x="214313" y="4929188"/>
            <a:ext cx="2895600" cy="785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sum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(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 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) = 1+1+1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              = 3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3802" name="云形标注 19"/>
          <p:cNvSpPr/>
          <p:nvPr/>
        </p:nvSpPr>
        <p:spPr>
          <a:xfrm>
            <a:off x="142875" y="5929313"/>
            <a:ext cx="2786063" cy="612775"/>
          </a:xfrm>
          <a:prstGeom prst="cloudCallout">
            <a:avLst>
              <a:gd name="adj1" fmla="val 11051"/>
              <a:gd name="adj2" fmla="val -12513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Much faster</a:t>
            </a:r>
            <a:endParaRPr lang="zh-CN" altLang="en-US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Algorithms Comparison</a:t>
            </a:r>
            <a:endParaRPr lang="tr-TR" altLang="zh-CN" dirty="0"/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304800" y="1524000"/>
            <a:ext cx="8610600" cy="42672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</a:pPr>
            <a:r>
              <a:rPr lang="tr-TR" altLang="zh-CN" dirty="0"/>
              <a:t>For input size N</a:t>
            </a:r>
            <a:endParaRPr lang="tr-TR" altLang="zh-CN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dirty="0"/>
              <a:t>	      Running time of Algorithm A = T</a:t>
            </a:r>
            <a:r>
              <a:rPr lang="tr-TR" altLang="zh-CN" baseline="-25000" dirty="0"/>
              <a:t>A</a:t>
            </a:r>
            <a:r>
              <a:rPr lang="tr-TR" altLang="zh-CN" dirty="0"/>
              <a:t>(N) = 1000 N</a:t>
            </a:r>
            <a:endParaRPr lang="tr-TR" altLang="zh-CN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dirty="0"/>
              <a:t>	</a:t>
            </a:r>
            <a:r>
              <a:rPr lang="en-US" altLang="zh-CN" dirty="0"/>
              <a:t>      </a:t>
            </a:r>
            <a:r>
              <a:rPr lang="tr-TR" altLang="zh-CN" dirty="0"/>
              <a:t>Running time of Algorithm B = T</a:t>
            </a:r>
            <a:r>
              <a:rPr lang="tr-TR" altLang="zh-CN" baseline="-25000" dirty="0"/>
              <a:t>B</a:t>
            </a:r>
            <a:r>
              <a:rPr lang="tr-TR" altLang="zh-CN" dirty="0"/>
              <a:t>(N) = N</a:t>
            </a:r>
            <a:r>
              <a:rPr lang="tr-TR" altLang="zh-CN" baseline="30000" dirty="0"/>
              <a:t>2</a:t>
            </a:r>
            <a:endParaRPr lang="tr-TR" altLang="zh-CN" baseline="30000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dirty="0">
                <a:solidFill>
                  <a:srgbClr val="CC0000"/>
                </a:solidFill>
              </a:rPr>
              <a:t>	Which one is faster ?</a:t>
            </a:r>
            <a:r>
              <a:rPr lang="en-US" altLang="zh-CN" dirty="0">
                <a:solidFill>
                  <a:srgbClr val="CC0000"/>
                </a:solidFill>
              </a:rPr>
              <a:t> </a:t>
            </a:r>
            <a:r>
              <a:rPr lang="en-US" altLang="zh-CN" dirty="0"/>
              <a:t>(</a:t>
            </a:r>
            <a:r>
              <a:rPr lang="en-US" altLang="zh-CN" sz="1600" dirty="0"/>
              <a:t>assume unit time of running time is</a:t>
            </a:r>
            <a:r>
              <a:rPr lang="en-US" altLang="zh-CN" sz="1600" i="1" dirty="0"/>
              <a:t> µ</a:t>
            </a:r>
            <a:r>
              <a:rPr lang="tr-TR" altLang="zh-CN" sz="1600" dirty="0"/>
              <a:t>sec</a:t>
            </a:r>
            <a:r>
              <a:rPr lang="en-US" altLang="zh-CN" sz="1600" dirty="0"/>
              <a:t>ond)</a:t>
            </a:r>
            <a:endParaRPr lang="en-US" altLang="zh-CN" dirty="0">
              <a:solidFill>
                <a:srgbClr val="CC0000"/>
              </a:solidFill>
            </a:endParaRPr>
          </a:p>
        </p:txBody>
      </p:sp>
      <p:graphicFrame>
        <p:nvGraphicFramePr>
          <p:cNvPr id="8" name="Group 36"/>
          <p:cNvGraphicFramePr>
            <a:graphicFrameLocks noGrp="1"/>
          </p:cNvGraphicFramePr>
          <p:nvPr/>
        </p:nvGraphicFramePr>
        <p:xfrm>
          <a:off x="785813" y="3071813"/>
          <a:ext cx="5829300" cy="276860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</a:tblGrid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N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T</a:t>
                      </a:r>
                      <a:r>
                        <a:rPr kumimoji="0" lang="tr-TR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A</a:t>
                      </a:r>
                      <a:endParaRPr kumimoji="0" lang="tr-TR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T</a:t>
                      </a:r>
                      <a:r>
                        <a:rPr kumimoji="0" lang="tr-TR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B</a:t>
                      </a:r>
                      <a:endParaRPr kumimoji="0" lang="tr-TR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</a:t>
                      </a:r>
                      <a:r>
                        <a:rPr kumimoji="0" lang="tr-TR" altLang="zh-CN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-2 </a:t>
                      </a:r>
                      <a:r>
                        <a:rPr kumimoji="0" lang="tr-T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</a:t>
                      </a:r>
                      <a:r>
                        <a:rPr kumimoji="0" lang="tr-TR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sec</a:t>
                      </a:r>
                      <a:endParaRPr kumimoji="0" lang="tr-T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</a:t>
                      </a:r>
                      <a:r>
                        <a:rPr kumimoji="0" lang="tr-TR" altLang="zh-CN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-4 </a:t>
                      </a:r>
                      <a:r>
                        <a:rPr kumimoji="0" lang="tr-TR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</a:t>
                      </a:r>
                      <a:r>
                        <a:rPr kumimoji="0" lang="tr-TR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sec</a:t>
                      </a:r>
                      <a:endParaRPr kumimoji="0" lang="tr-T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100 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</a:t>
                      </a:r>
                      <a:r>
                        <a:rPr kumimoji="0" lang="tr-TR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-1 </a:t>
                      </a: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sec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</a:t>
                      </a:r>
                      <a:r>
                        <a:rPr kumimoji="0" lang="tr-TR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-2 </a:t>
                      </a: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sec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1000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 sec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 sec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10000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 sec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lain" startAt="100"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Sec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100000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100</a:t>
                      </a:r>
                      <a:r>
                        <a:rPr kumimoji="0" lang="tr-TR" altLang="zh-CN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</a:t>
                      </a:r>
                      <a:r>
                        <a:rPr kumimoji="0" lang="tr-TR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sec</a:t>
                      </a:r>
                      <a:endParaRPr kumimoji="0" lang="tr-T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lain" startAt="10000"/>
                      </a:pPr>
                      <a:r>
                        <a:rPr kumimoji="0" lang="tr-TR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Sec</a:t>
                      </a:r>
                      <a:endParaRPr kumimoji="0" lang="tr-TR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日期占位符 4"/>
          <p:cNvSpPr txBox="1">
            <a:spLocks noGrp="1"/>
          </p:cNvSpPr>
          <p:nvPr>
            <p:ph type="dt" sz="half" idx="12"/>
          </p:nvPr>
        </p:nvSpPr>
        <p:spPr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zh-CN" altLang="en-US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714375" y="506413"/>
            <a:ext cx="7772400" cy="422275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Which is faster</a:t>
            </a:r>
            <a:endParaRPr lang="tr-TR" altLang="zh-CN" dirty="0"/>
          </a:p>
        </p:txBody>
      </p:sp>
      <p:sp>
        <p:nvSpPr>
          <p:cNvPr id="37892" name="Rectangle 3"/>
          <p:cNvSpPr>
            <a:spLocks noGrp="1"/>
          </p:cNvSpPr>
          <p:nvPr>
            <p:ph type="body" sz="half" idx="1"/>
          </p:nvPr>
        </p:nvSpPr>
        <p:spPr>
          <a:xfrm>
            <a:off x="5029200" y="2971800"/>
            <a:ext cx="3886200" cy="1066800"/>
          </a:xfrm>
          <a:ln/>
        </p:spPr>
        <p:txBody>
          <a:bodyPr vert="horz" wrap="square" lIns="91440" tIns="45720" rIns="91440" bIns="45720" anchor="t" anchorCtr="0"/>
          <a:p>
            <a:pPr>
              <a:buClr>
                <a:schemeClr val="bg2"/>
              </a:buClr>
              <a:buSzPct val="75000"/>
              <a:buFontTx/>
              <a:buNone/>
            </a:pPr>
            <a:r>
              <a:rPr lang="tr-TR" altLang="zh-CN" sz="2000" dirty="0"/>
              <a:t>If N&lt;1000	T</a:t>
            </a:r>
            <a:r>
              <a:rPr lang="tr-TR" altLang="zh-CN" sz="2000" baseline="-25000" dirty="0"/>
              <a:t>A</a:t>
            </a:r>
            <a:r>
              <a:rPr lang="tr-TR" altLang="zh-CN" sz="2000" dirty="0"/>
              <a:t>(N) &gt; T</a:t>
            </a:r>
            <a:r>
              <a:rPr lang="tr-TR" altLang="zh-CN" sz="2000" baseline="-25000" dirty="0"/>
              <a:t>B</a:t>
            </a:r>
            <a:r>
              <a:rPr lang="tr-TR" altLang="zh-CN" sz="2000" dirty="0"/>
              <a:t>(N)</a:t>
            </a:r>
            <a:endParaRPr lang="tr-TR" altLang="zh-CN" sz="2000" dirty="0"/>
          </a:p>
          <a:p>
            <a:pPr>
              <a:buClr>
                <a:schemeClr val="bg2"/>
              </a:buClr>
              <a:buSzPct val="75000"/>
              <a:buFontTx/>
              <a:buNone/>
            </a:pPr>
            <a:r>
              <a:rPr lang="en-US" altLang="zh-CN" sz="2000" dirty="0"/>
              <a:t>If N&gt;1000</a:t>
            </a:r>
            <a:r>
              <a:rPr lang="tr-TR" altLang="zh-CN" sz="2000" dirty="0"/>
              <a:t>	T</a:t>
            </a:r>
            <a:r>
              <a:rPr lang="tr-TR" altLang="zh-CN" sz="2000" baseline="-25000" dirty="0"/>
              <a:t>B</a:t>
            </a:r>
            <a:r>
              <a:rPr lang="tr-TR" altLang="zh-CN" sz="2000" dirty="0"/>
              <a:t>(N) &gt; T</a:t>
            </a:r>
            <a:r>
              <a:rPr lang="tr-TR" altLang="zh-CN" sz="2000" baseline="-25000" dirty="0"/>
              <a:t>A</a:t>
            </a:r>
            <a:r>
              <a:rPr lang="tr-TR" altLang="zh-CN" sz="2000" dirty="0"/>
              <a:t>(N)</a:t>
            </a:r>
            <a:endParaRPr lang="tr-TR" altLang="zh-CN" sz="2000" dirty="0"/>
          </a:p>
        </p:txBody>
      </p:sp>
      <p:sp>
        <p:nvSpPr>
          <p:cNvPr id="37893" name="Rectangle 4"/>
          <p:cNvSpPr/>
          <p:nvPr/>
        </p:nvSpPr>
        <p:spPr>
          <a:xfrm>
            <a:off x="304800" y="1143000"/>
            <a:ext cx="3429000" cy="1676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lvl="0" indent="-342900" algn="r" eaLnBrk="1" hangingPunct="1">
              <a:lnSpc>
                <a:spcPct val="80000"/>
              </a:lnSpc>
              <a:buClrTx/>
              <a:buSzTx/>
              <a:buFontTx/>
              <a:buBlip>
                <a:blip r:embed="rId1"/>
              </a:buBlip>
            </a:pPr>
            <a:endParaRPr lang="en-US" altLang="zh-CN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7894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685800" y="1371600"/>
          <a:ext cx="5029200" cy="449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6468745" imgH="5057140" progId="Visio.Drawing.6">
                  <p:embed/>
                </p:oleObj>
              </mc:Choice>
              <mc:Fallback>
                <p:oleObj name="" r:id="rId2" imgW="6468745" imgH="5057140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685800" y="1371600"/>
                        <a:ext cx="5029200" cy="44973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Rectangle 6"/>
          <p:cNvSpPr/>
          <p:nvPr/>
        </p:nvSpPr>
        <p:spPr>
          <a:xfrm>
            <a:off x="381000" y="5867400"/>
            <a:ext cx="85344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lvl="0" indent="-342900" algn="r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tr-TR" altLang="zh-CN" b="0" dirty="0">
                <a:solidFill>
                  <a:srgbClr val="CC0000"/>
                </a:solidFill>
                <a:ea typeface="宋体" panose="02010600030101010101" pitchFamily="2" charset="-122"/>
              </a:rPr>
              <a:t> Compare their relative growth ? </a:t>
            </a:r>
            <a:endParaRPr lang="tr-TR" altLang="zh-CN" b="0" dirty="0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39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39940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br>
              <a:rPr lang="tr-TR" altLang="zh-CN" dirty="0"/>
            </a:br>
            <a:r>
              <a:rPr lang="en-US" altLang="zh-CN" dirty="0"/>
              <a:t>OUTLINE</a:t>
            </a:r>
            <a:endParaRPr lang="tr-TR" altLang="zh-CN" dirty="0"/>
          </a:p>
        </p:txBody>
      </p:sp>
      <p:sp>
        <p:nvSpPr>
          <p:cNvPr id="39941" name="Rectangle 5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Tx/>
              <a:buNone/>
            </a:pPr>
            <a:endParaRPr lang="en-US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What to Analyze ?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FF0000"/>
                </a:solidFill>
              </a:rPr>
              <a:t>Running Time Analysis</a:t>
            </a:r>
            <a:endParaRPr lang="tr-TR" altLang="zh-CN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General Rules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Recursive Calls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Maximum Subsequence Sum Problem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Experimentally checking analysis</a:t>
            </a:r>
            <a:endParaRPr lang="tr-TR" altLang="zh-CN" dirty="0">
              <a:solidFill>
                <a:srgbClr val="B2B2B2"/>
              </a:solidFill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1987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4198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tr-TR" altLang="zh-CN" dirty="0"/>
              <a:t>Running Time Analysis</a:t>
            </a:r>
            <a:endParaRPr lang="tr-TR" altLang="zh-CN" dirty="0"/>
          </a:p>
        </p:txBody>
      </p:sp>
      <p:sp>
        <p:nvSpPr>
          <p:cNvPr id="4198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lvl="1">
              <a:lnSpc>
                <a:spcPct val="90000"/>
              </a:lnSpc>
            </a:pPr>
            <a:r>
              <a:rPr lang="tr-TR" altLang="zh-CN" dirty="0"/>
              <a:t>Emp</a:t>
            </a:r>
            <a:r>
              <a:rPr lang="en-US" altLang="zh-CN" dirty="0"/>
              <a:t>i</a:t>
            </a:r>
            <a:r>
              <a:rPr lang="tr-TR" altLang="zh-CN" dirty="0"/>
              <a:t>rical   </a:t>
            </a:r>
            <a:r>
              <a:rPr lang="tr-TR" altLang="zh-CN" dirty="0">
                <a:sym typeface="Wingdings" panose="05000000000000000000" pitchFamily="2" charset="2"/>
              </a:rPr>
              <a:t>  after implementation</a:t>
            </a:r>
            <a:endParaRPr lang="tr-TR" altLang="zh-CN" dirty="0">
              <a:sym typeface="Wingdings" panose="05000000000000000000" pitchFamily="2" charset="2"/>
            </a:endParaRPr>
          </a:p>
          <a:p>
            <a:pPr lvl="1">
              <a:lnSpc>
                <a:spcPct val="90000"/>
              </a:lnSpc>
            </a:pPr>
            <a:r>
              <a:rPr lang="tr-TR" altLang="zh-CN" dirty="0">
                <a:sym typeface="Wingdings" panose="05000000000000000000" pitchFamily="2" charset="2"/>
              </a:rPr>
              <a:t>Theor</a:t>
            </a:r>
            <a:r>
              <a:rPr lang="en-US" altLang="zh-CN" dirty="0">
                <a:sym typeface="Wingdings" panose="05000000000000000000" pitchFamily="2" charset="2"/>
              </a:rPr>
              <a:t>e</a:t>
            </a:r>
            <a:r>
              <a:rPr lang="tr-TR" altLang="zh-CN" dirty="0">
                <a:sym typeface="Wingdings" panose="05000000000000000000" pitchFamily="2" charset="2"/>
              </a:rPr>
              <a:t>tical  before implementation</a:t>
            </a:r>
            <a:endParaRPr lang="tr-TR" altLang="zh-CN" dirty="0">
              <a:sym typeface="Wingdings" panose="05000000000000000000" pitchFamily="2" charset="2"/>
            </a:endParaRPr>
          </a:p>
          <a:p>
            <a:pPr lvl="1">
              <a:lnSpc>
                <a:spcPct val="90000"/>
              </a:lnSpc>
            </a:pPr>
            <a:endParaRPr lang="tr-TR" altLang="zh-CN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r>
              <a:rPr lang="tr-TR" altLang="zh-CN" dirty="0">
                <a:sym typeface="Wingdings" panose="05000000000000000000" pitchFamily="2" charset="2"/>
              </a:rPr>
              <a:t>If there are many algorithms ideas, we need to evaluate them without implementation</a:t>
            </a:r>
            <a:endParaRPr lang="en-US" altLang="zh-CN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endParaRPr lang="en-US" altLang="zh-CN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How to compare time complexity</a:t>
            </a:r>
            <a:endParaRPr lang="tr-TR" altLang="zh-CN" dirty="0"/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228600" y="1524000"/>
            <a:ext cx="8610600" cy="4648200"/>
          </a:xfrm>
          <a:ln/>
        </p:spPr>
        <p:txBody>
          <a:bodyPr vert="horz" wrap="square" lIns="91440" tIns="45720" rIns="91440" bIns="45720" anchor="t" anchorCtr="0"/>
          <a:p>
            <a:pPr>
              <a:buFontTx/>
              <a:buNone/>
            </a:pPr>
            <a:endParaRPr lang="tr-TR" altLang="zh-CN" dirty="0"/>
          </a:p>
          <a:p>
            <a:pPr>
              <a:buFontTx/>
              <a:buNone/>
            </a:pPr>
            <a:r>
              <a:rPr lang="tr-TR" altLang="zh-CN" dirty="0"/>
              <a:t>	We use asymptotic notations (O, </a:t>
            </a:r>
            <a:r>
              <a:rPr lang="el-GR" altLang="zh-CN" dirty="0"/>
              <a:t>Ω</a:t>
            </a:r>
            <a:r>
              <a:rPr lang="tr-TR" altLang="zh-CN" dirty="0"/>
              <a:t>, </a:t>
            </a:r>
            <a:r>
              <a:rPr lang="el-GR" altLang="zh-CN" dirty="0"/>
              <a:t>θ</a:t>
            </a:r>
            <a:r>
              <a:rPr lang="tr-TR" altLang="zh-CN" dirty="0"/>
              <a:t>, o)</a:t>
            </a:r>
            <a:endParaRPr lang="tr-TR" altLang="zh-CN" dirty="0"/>
          </a:p>
          <a:p>
            <a:pPr lvl="2"/>
            <a:r>
              <a:rPr lang="tr-TR" altLang="zh-CN" sz="2400" dirty="0"/>
              <a:t>compare relative growth</a:t>
            </a:r>
            <a:endParaRPr lang="en-US" altLang="zh-CN" sz="2400" dirty="0"/>
          </a:p>
          <a:p>
            <a:pPr lvl="2"/>
            <a:r>
              <a:rPr lang="en-US" altLang="zh-CN" sz="2400" dirty="0"/>
              <a:t>independent of platform</a:t>
            </a:r>
            <a:endParaRPr lang="tr-TR" altLang="zh-CN" sz="2400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381000" y="466725"/>
            <a:ext cx="66294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Asymptotic Notation  (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, , , o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Text Box 6"/>
          <p:cNvSpPr txBox="1"/>
          <p:nvPr/>
        </p:nvSpPr>
        <p:spPr>
          <a:xfrm>
            <a:off x="357188" y="1085850"/>
            <a:ext cx="67818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The point of counting the steps is to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predict the growth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in run time as the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change, and thereby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compare the time complexities of two programs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.  So what we really want to know is the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asymptotic behavior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of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5" name="Text Box 7"/>
          <p:cNvSpPr txBox="1"/>
          <p:nvPr/>
        </p:nvSpPr>
        <p:spPr>
          <a:xfrm>
            <a:off x="300038" y="3057525"/>
            <a:ext cx="8558212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56388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Suppose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p1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) =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and 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p2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) =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.  Which one is faster?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6" name="Text Box 8"/>
          <p:cNvSpPr txBox="1"/>
          <p:nvPr/>
        </p:nvSpPr>
        <p:spPr>
          <a:xfrm>
            <a:off x="300038" y="3971925"/>
            <a:ext cx="78486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56388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No matter what 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, and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are, there will be an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such that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p1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(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) &gt;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p2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(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) for all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&gt; </a:t>
            </a:r>
            <a:r>
              <a:rPr lang="en-US" altLang="zh-CN" sz="18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6086" name="AutoShape 9"/>
          <p:cNvSpPr/>
          <p:nvPr/>
        </p:nvSpPr>
        <p:spPr>
          <a:xfrm rot="10800000">
            <a:off x="2357438" y="4733925"/>
            <a:ext cx="5791200" cy="1600200"/>
          </a:xfrm>
          <a:prstGeom prst="cloudCallout">
            <a:avLst>
              <a:gd name="adj1" fmla="val 67324"/>
              <a:gd name="adj2" fmla="val 21824"/>
            </a:avLst>
          </a:prstGeom>
          <a:gradFill rotWithShape="0">
            <a:gsLst>
              <a:gs pos="0">
                <a:srgbClr val="CCFFCC"/>
              </a:gs>
              <a:gs pos="100000">
                <a:srgbClr val="96BB96"/>
              </a:gs>
            </a:gsLst>
            <a:lin ang="2700000" scaled="1"/>
            <a:tileRect/>
          </a:gradFill>
          <a:ln w="9525" cap="flat" cmpd="sng">
            <a:solidFill>
              <a:srgbClr val="CCFFFF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So as long as I know that 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p1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is </a:t>
            </a: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</a:rPr>
              <a:t>about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i="1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p2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is </a:t>
            </a: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</a:rPr>
              <a:t>about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, then for 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3300"/>
                </a:solidFill>
                <a:ea typeface="宋体" panose="02010600030101010101" pitchFamily="2" charset="-122"/>
              </a:rPr>
              <a:t>sufficiently large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,  P2 will be faster! 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AD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  <p:bldP spid="48135" grpId="0"/>
      <p:bldP spid="48136" grpId="0"/>
      <p:bldP spid="4608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Text Box 2"/>
          <p:cNvSpPr txBox="1">
            <a:spLocks noChangeArrowheads="1"/>
          </p:cNvSpPr>
          <p:nvPr/>
        </p:nvSpPr>
        <p:spPr bwMode="auto">
          <a:xfrm>
            <a:off x="428625" y="428625"/>
            <a:ext cx="3786188" cy="523875"/>
          </a:xfrm>
          <a:prstGeom prst="rect">
            <a:avLst/>
          </a:prstGeom>
          <a:noFill/>
          <a:ln>
            <a:noFill/>
          </a:ln>
        </p:spPr>
        <p:txBody>
          <a:bodyPr lIns="108000" rIns="1440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Asymptotic Notation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5" name="Text Box 3"/>
          <p:cNvSpPr txBox="1"/>
          <p:nvPr/>
        </p:nvSpPr>
        <p:spPr>
          <a:xfrm>
            <a:off x="381000" y="1004888"/>
            <a:ext cx="83820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【Definition】 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= O(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)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if there are positive constants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such that 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c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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for all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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156" name="Text Box 4"/>
          <p:cNvSpPr txBox="1"/>
          <p:nvPr/>
        </p:nvSpPr>
        <p:spPr>
          <a:xfrm>
            <a:off x="381000" y="1882775"/>
            <a:ext cx="83820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【Definition】 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=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)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if there are positive constants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such that 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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c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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for all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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157" name="Text Box 5"/>
          <p:cNvSpPr txBox="1"/>
          <p:nvPr/>
        </p:nvSpPr>
        <p:spPr>
          <a:xfrm>
            <a:off x="381000" y="2760663"/>
            <a:ext cx="83820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【Definition】 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=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)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if and only if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= O(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) and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=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) 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457200" y="4492625"/>
            <a:ext cx="8153400" cy="160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>
            <a:spAutoFit/>
          </a:bodyPr>
          <a:lstStyle>
            <a:lvl1pPr marL="389255" indent="-38925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89255" marR="0" lvl="0" indent="-3892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Note: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89255" marR="0" lvl="0" indent="-3892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2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N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+ 3 = O(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N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) = O(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N</a:t>
            </a:r>
            <a:r>
              <a:rPr kumimoji="0" lang="en-US" altLang="zh-CN" sz="20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k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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1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) = O( 2</a:t>
            </a:r>
            <a:r>
              <a:rPr kumimoji="0" lang="en-US" altLang="zh-CN" sz="20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N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) =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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multiple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f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)s?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  <a:sym typeface="Symbol" panose="05050102010706020507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    We shall always take the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smallest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f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).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  <a:sym typeface="Wingdings" panose="05000000000000000000" charset="0"/>
            </a:endParaRPr>
          </a:p>
          <a:p>
            <a:pPr marL="389255" marR="0" lvl="0" indent="-3892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2</a:t>
            </a:r>
            <a:r>
              <a:rPr kumimoji="0" lang="en-US" altLang="zh-CN" sz="20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N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+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N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2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=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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( 2</a:t>
            </a:r>
            <a:r>
              <a:rPr kumimoji="0" lang="en-US" altLang="zh-CN" sz="20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N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) =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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N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2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) =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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N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) =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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( 1 ) =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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multiple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g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charset="0"/>
              </a:rPr>
              <a:t>)s?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  <a:sym typeface="Wingdings" panose="05000000000000000000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     We shall always take the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largest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g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  <a:sym typeface="Wingdings" panose="05000000000000000000" charset="0"/>
              </a:rPr>
              <a:t>).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  <a:sym typeface="Wingdings" panose="05000000000000000000" charset="0"/>
            </a:endParaRPr>
          </a:p>
        </p:txBody>
      </p:sp>
      <p:sp>
        <p:nvSpPr>
          <p:cNvPr id="49159" name="Text Box 7"/>
          <p:cNvSpPr txBox="1"/>
          <p:nvPr/>
        </p:nvSpPr>
        <p:spPr>
          <a:xfrm>
            <a:off x="381000" y="3671888"/>
            <a:ext cx="8382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292100" lvl="0" indent="-2921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【Definition】 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=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o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)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if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= O(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) and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) 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263" y="4071938"/>
            <a:ext cx="8499475" cy="2670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/>
      <p:bldP spid="49156" grpId="0"/>
      <p:bldP spid="49157" grpId="0"/>
      <p:bldP spid="49158" grpId="0" animBg="1"/>
      <p:bldP spid="4915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xfrm>
            <a:off x="500063" y="357188"/>
            <a:ext cx="7772400" cy="990600"/>
          </a:xfrm>
          <a:ln/>
        </p:spPr>
        <p:txBody>
          <a:bodyPr vert="horz" wrap="square" lIns="91440" tIns="45720" rIns="91440" bIns="45720" anchor="ctr" anchorCtr="0"/>
          <a:p>
            <a:r>
              <a:rPr lang="tr-TR" altLang="zh-CN" sz="3200" dirty="0"/>
              <a:t>Big</a:t>
            </a:r>
            <a:r>
              <a:rPr lang="en-US" altLang="zh-CN" sz="3200" dirty="0"/>
              <a:t>-</a:t>
            </a:r>
            <a:r>
              <a:rPr lang="tr-TR" altLang="zh-CN" sz="3200" dirty="0"/>
              <a:t>Oh Notation (O)</a:t>
            </a:r>
            <a:endParaRPr lang="tr-TR" altLang="zh-CN" sz="3200" dirty="0"/>
          </a:p>
        </p:txBody>
      </p:sp>
      <p:sp>
        <p:nvSpPr>
          <p:cNvPr id="50179" name="Rectangle 3"/>
          <p:cNvSpPr>
            <a:spLocks noGrp="1"/>
          </p:cNvSpPr>
          <p:nvPr>
            <p:ph type="body" sz="half" idx="1"/>
          </p:nvPr>
        </p:nvSpPr>
        <p:spPr>
          <a:xfrm>
            <a:off x="428625" y="1143000"/>
            <a:ext cx="8243888" cy="1482725"/>
          </a:xfrm>
          <a:ln/>
        </p:spPr>
        <p:txBody>
          <a:bodyPr vert="horz" wrap="square" lIns="91440" tIns="45720" rIns="91440" bIns="45720" anchor="t" anchorCtr="0"/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altLang="zh-CN" dirty="0"/>
              <a:t>【Definition】  </a:t>
            </a:r>
            <a:r>
              <a:rPr lang="en-US" altLang="zh-CN" i="1" dirty="0">
                <a:solidFill>
                  <a:schemeClr val="hlink"/>
                </a:solidFill>
              </a:rPr>
              <a:t>T 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) = O( </a:t>
            </a:r>
            <a:r>
              <a:rPr lang="en-US" altLang="zh-CN" i="1" dirty="0">
                <a:solidFill>
                  <a:schemeClr val="hlink"/>
                </a:solidFill>
              </a:rPr>
              <a:t>f 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) )</a:t>
            </a:r>
            <a:r>
              <a:rPr lang="en-US" altLang="zh-CN" dirty="0"/>
              <a:t> if there are positive constants </a:t>
            </a:r>
            <a:r>
              <a:rPr lang="en-US" altLang="zh-CN" i="1" dirty="0"/>
              <a:t>c</a:t>
            </a:r>
            <a:r>
              <a:rPr lang="en-US" altLang="zh-CN" dirty="0"/>
              <a:t> and </a:t>
            </a:r>
            <a:r>
              <a:rPr lang="en-US" altLang="zh-CN" i="1" dirty="0"/>
              <a:t>n</a:t>
            </a:r>
            <a:r>
              <a:rPr lang="en-US" altLang="zh-CN" baseline="-25000" dirty="0"/>
              <a:t>0</a:t>
            </a:r>
            <a:r>
              <a:rPr lang="en-US" altLang="zh-CN" dirty="0"/>
              <a:t> such that  </a:t>
            </a:r>
            <a:r>
              <a:rPr lang="en-US" altLang="zh-CN" i="1" dirty="0"/>
              <a:t>T 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 </a:t>
            </a:r>
            <a:r>
              <a:rPr lang="en-US" altLang="zh-CN" i="1" dirty="0"/>
              <a:t>c </a:t>
            </a:r>
            <a:r>
              <a:rPr lang="en-US" altLang="zh-CN" dirty="0">
                <a:sym typeface="Symbol" panose="05050102010706020507" pitchFamily="18" charset="2"/>
              </a:rPr>
              <a:t> </a:t>
            </a:r>
            <a:r>
              <a:rPr lang="en-US" altLang="zh-CN" i="1" dirty="0"/>
              <a:t>f 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for all </a:t>
            </a:r>
            <a:r>
              <a:rPr lang="en-US" altLang="zh-CN" i="1" dirty="0"/>
              <a:t>N </a:t>
            </a:r>
            <a:r>
              <a:rPr lang="en-US" altLang="zh-CN" dirty="0">
                <a:sym typeface="Symbol" panose="05050102010706020507" pitchFamily="18" charset="2"/>
              </a:rPr>
              <a:t> </a:t>
            </a:r>
            <a:r>
              <a:rPr lang="en-US" altLang="zh-CN" i="1" dirty="0"/>
              <a:t>n</a:t>
            </a:r>
            <a:r>
              <a:rPr lang="en-US" altLang="zh-CN" baseline="-25000" dirty="0"/>
              <a:t>0</a:t>
            </a:r>
            <a:r>
              <a:rPr lang="en-US" altLang="zh-CN" dirty="0"/>
              <a:t>.</a:t>
            </a:r>
            <a:endParaRPr lang="en-US" altLang="zh-CN" dirty="0"/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tr-TR" altLang="zh-CN" dirty="0"/>
              <a:t>Analysis of Algorithm A</a:t>
            </a:r>
            <a:endParaRPr lang="en-US" altLang="zh-CN" dirty="0"/>
          </a:p>
          <a:p>
            <a:pPr lvl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en-US" altLang="zh-CN" dirty="0"/>
          </a:p>
          <a:p>
            <a:pPr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lang="tr-TR" altLang="zh-CN" dirty="0"/>
          </a:p>
        </p:txBody>
      </p:sp>
      <p:sp>
        <p:nvSpPr>
          <p:cNvPr id="50180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181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182" name="Rectangle 7"/>
          <p:cNvSpPr/>
          <p:nvPr/>
        </p:nvSpPr>
        <p:spPr>
          <a:xfrm>
            <a:off x="1333500" y="4995863"/>
            <a:ext cx="4038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lvl="0" indent="-342900" algn="r" eaLnBrk="1" hangingPunct="1">
              <a:lnSpc>
                <a:spcPct val="90000"/>
              </a:lnSpc>
              <a:buClrTx/>
              <a:buSzTx/>
              <a:buFontTx/>
              <a:buNone/>
            </a:pPr>
            <a:endParaRPr lang="en-US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4632" name="Rectangle 8"/>
          <p:cNvSpPr>
            <a:spLocks noChangeArrowheads="1"/>
          </p:cNvSpPr>
          <p:nvPr/>
        </p:nvSpPr>
        <p:spPr bwMode="auto">
          <a:xfrm>
            <a:off x="928688" y="3786188"/>
            <a:ext cx="5429250" cy="19288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  1000 N ≤ cN	</a:t>
            </a:r>
            <a:endParaRPr kumimoji="0" lang="tr-TR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	if c= 2000 and n</a:t>
            </a:r>
            <a:r>
              <a:rPr kumimoji="0" lang="tr-TR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0</a:t>
            </a:r>
            <a:r>
              <a:rPr kumimoji="0" lang="tr-TR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= 1  for all </a:t>
            </a:r>
            <a:r>
              <a:rPr kumimoji="0" lang="tr-TR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N</a:t>
            </a:r>
            <a:endParaRPr kumimoji="0" lang="en-US" altLang="zh-CN" sz="24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</a:t>
            </a:r>
            <a:endParaRPr kumimoji="0" lang="tr-TR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184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0185" name="Object 3"/>
          <p:cNvGraphicFramePr>
            <a:graphicFrameLocks noChangeAspect="1"/>
          </p:cNvGraphicFramePr>
          <p:nvPr/>
        </p:nvGraphicFramePr>
        <p:xfrm>
          <a:off x="1871663" y="4572000"/>
          <a:ext cx="12573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9439275" imgH="3952875" progId="Equation.3">
                  <p:embed/>
                </p:oleObj>
              </mc:Choice>
              <mc:Fallback>
                <p:oleObj name="" r:id="rId1" imgW="9439275" imgH="395287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71663" y="4572000"/>
                        <a:ext cx="1257300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1357313" y="5143500"/>
          <a:ext cx="30702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25231725" imgH="3733800" progId="Equation.3">
                  <p:embed/>
                </p:oleObj>
              </mc:Choice>
              <mc:Fallback>
                <p:oleObj name="" r:id="rId3" imgW="25231725" imgH="3733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1357313" y="5143500"/>
                        <a:ext cx="3070225" cy="4540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5"/>
          <p:cNvGraphicFramePr>
            <a:graphicFrameLocks noChangeAspect="1"/>
          </p:cNvGraphicFramePr>
          <p:nvPr/>
        </p:nvGraphicFramePr>
        <p:xfrm>
          <a:off x="1928813" y="2928938"/>
          <a:ext cx="32908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24574500" imgH="3733800" progId="Equation.3">
                  <p:embed/>
                </p:oleObj>
              </mc:Choice>
              <mc:Fallback>
                <p:oleObj name="" r:id="rId5" imgW="24574500" imgH="37338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28813" y="2928938"/>
                        <a:ext cx="3290887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2227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5222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sz="3200" dirty="0"/>
              <a:t>How to get big-</a:t>
            </a:r>
            <a:r>
              <a:rPr lang="tr-TR" altLang="zh-CN" sz="3200" dirty="0"/>
              <a:t>O</a:t>
            </a:r>
            <a:r>
              <a:rPr lang="en-US" altLang="zh-CN" sz="3200" dirty="0"/>
              <a:t>h</a:t>
            </a:r>
            <a:r>
              <a:rPr lang="tr-TR" altLang="zh-CN" sz="3200" dirty="0"/>
              <a:t> Notation</a:t>
            </a:r>
            <a:endParaRPr lang="tr-TR" altLang="zh-CN" sz="3200" dirty="0"/>
          </a:p>
        </p:txBody>
      </p:sp>
      <p:sp>
        <p:nvSpPr>
          <p:cNvPr id="29702" name="Rectangle 3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36195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zh-CN" dirty="0"/>
              <a:t>Constant addition terms can be replaced with 1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</a:t>
            </a:r>
            <a:r>
              <a:rPr lang="en-US" altLang="zh-CN" sz="2000" dirty="0"/>
              <a:t> </a:t>
            </a:r>
            <a:r>
              <a:rPr lang="tr-TR" altLang="zh-CN" dirty="0"/>
              <a:t>O(</a:t>
            </a:r>
            <a:r>
              <a:rPr lang="en-US" altLang="zh-CN" dirty="0"/>
              <a:t>3</a:t>
            </a:r>
            <a:r>
              <a:rPr lang="tr-TR" altLang="zh-CN" dirty="0"/>
              <a:t>) = O(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tr-TR" altLang="zh-CN" dirty="0"/>
              <a:t>)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r>
              <a:rPr lang="tr-TR" altLang="zh-CN" dirty="0"/>
              <a:t>O(</a:t>
            </a:r>
            <a:r>
              <a:rPr lang="en-US" altLang="zh-CN" dirty="0"/>
              <a:t>3</a:t>
            </a:r>
            <a:r>
              <a:rPr lang="tr-TR" altLang="zh-CN" dirty="0"/>
              <a:t>n</a:t>
            </a:r>
            <a:r>
              <a:rPr lang="en-US" altLang="zh-CN" baseline="30000" dirty="0"/>
              <a:t>3</a:t>
            </a:r>
            <a:r>
              <a:rPr lang="en-US" altLang="zh-CN" dirty="0"/>
              <a:t>+4n</a:t>
            </a:r>
            <a:r>
              <a:rPr lang="en-US" altLang="zh-CN" baseline="30000" dirty="0"/>
              <a:t>2 </a:t>
            </a:r>
            <a:r>
              <a:rPr lang="en-US" altLang="zh-CN" dirty="0"/>
              <a:t>+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tr-TR" altLang="zh-CN" dirty="0"/>
              <a:t>) = O(</a:t>
            </a:r>
            <a:r>
              <a:rPr lang="en-US" altLang="zh-CN" dirty="0"/>
              <a:t>3</a:t>
            </a:r>
            <a:r>
              <a:rPr lang="tr-TR" altLang="zh-CN" dirty="0"/>
              <a:t>n</a:t>
            </a:r>
            <a:r>
              <a:rPr lang="en-US" altLang="zh-CN" baseline="30000" dirty="0"/>
              <a:t>3</a:t>
            </a:r>
            <a:r>
              <a:rPr lang="en-US" altLang="zh-CN" dirty="0"/>
              <a:t>+4n</a:t>
            </a:r>
            <a:r>
              <a:rPr lang="en-US" altLang="zh-CN" baseline="30000" dirty="0"/>
              <a:t>2 </a:t>
            </a:r>
            <a:r>
              <a:rPr lang="en-US" altLang="zh-CN" dirty="0"/>
              <a:t>+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tr-TR" altLang="zh-CN" dirty="0"/>
              <a:t>)</a:t>
            </a:r>
            <a:endParaRPr lang="en-US" altLang="zh-CN" sz="2000" dirty="0"/>
          </a:p>
          <a:p>
            <a:r>
              <a:rPr lang="tr-TR" altLang="zh-CN" dirty="0"/>
              <a:t>Lower</a:t>
            </a:r>
            <a:r>
              <a:rPr lang="en-US" altLang="zh-CN" dirty="0"/>
              <a:t>-</a:t>
            </a:r>
            <a:r>
              <a:rPr lang="tr-TR" altLang="zh-CN" dirty="0"/>
              <a:t>order terms are ignored</a:t>
            </a:r>
            <a:endParaRPr lang="en-US" altLang="zh-CN" dirty="0"/>
          </a:p>
          <a:p>
            <a:pPr lvl="1">
              <a:buFontTx/>
              <a:buNone/>
            </a:pPr>
            <a:r>
              <a:rPr lang="en-US" altLang="zh-CN" sz="2800" dirty="0"/>
              <a:t>		</a:t>
            </a:r>
            <a:r>
              <a:rPr lang="tr-TR" altLang="zh-CN" dirty="0"/>
              <a:t>O(</a:t>
            </a:r>
            <a:r>
              <a:rPr lang="en-US" altLang="zh-CN" dirty="0"/>
              <a:t>3</a:t>
            </a:r>
            <a:r>
              <a:rPr lang="tr-TR" altLang="zh-CN" dirty="0"/>
              <a:t>n</a:t>
            </a:r>
            <a:r>
              <a:rPr lang="en-US" altLang="zh-CN" baseline="30000" dirty="0"/>
              <a:t>3</a:t>
            </a:r>
            <a:r>
              <a:rPr lang="en-US" altLang="zh-CN" dirty="0"/>
              <a:t>+4n</a:t>
            </a:r>
            <a:r>
              <a:rPr lang="en-US" altLang="zh-CN" baseline="30000" dirty="0"/>
              <a:t>2 </a:t>
            </a:r>
            <a:r>
              <a:rPr lang="en-US" altLang="zh-CN" dirty="0"/>
              <a:t>+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tr-TR" altLang="zh-CN" dirty="0"/>
              <a:t>) = O(</a:t>
            </a:r>
            <a:r>
              <a:rPr lang="en-US" altLang="zh-CN" dirty="0"/>
              <a:t>3</a:t>
            </a:r>
            <a:r>
              <a:rPr lang="tr-TR" altLang="zh-CN" dirty="0"/>
              <a:t>n</a:t>
            </a:r>
            <a:r>
              <a:rPr lang="tr-TR" altLang="zh-CN" baseline="30000" dirty="0"/>
              <a:t>3</a:t>
            </a:r>
            <a:r>
              <a:rPr lang="tr-TR" altLang="zh-CN" dirty="0"/>
              <a:t>)</a:t>
            </a:r>
            <a:endParaRPr lang="en-US" altLang="zh-CN" dirty="0"/>
          </a:p>
          <a:p>
            <a:r>
              <a:rPr lang="en-US" altLang="zh-CN" dirty="0"/>
              <a:t>Drop the constants</a:t>
            </a:r>
            <a:endParaRPr lang="tr-TR" altLang="zh-CN" dirty="0"/>
          </a:p>
          <a:p>
            <a:pPr lvl="1">
              <a:buFontTx/>
              <a:buNone/>
            </a:pPr>
            <a:r>
              <a:rPr lang="tr-TR" altLang="zh-CN" sz="2800" dirty="0"/>
              <a:t>	</a:t>
            </a:r>
            <a:r>
              <a:rPr lang="en-US" altLang="zh-CN" sz="2800" dirty="0"/>
              <a:t>	</a:t>
            </a:r>
            <a:r>
              <a:rPr lang="tr-TR" altLang="zh-CN" dirty="0"/>
              <a:t>O(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tr-TR" altLang="zh-CN" dirty="0"/>
              <a:t>n</a:t>
            </a:r>
            <a:r>
              <a:rPr lang="tr-TR" altLang="zh-CN" baseline="30000" dirty="0"/>
              <a:t>3</a:t>
            </a:r>
            <a:r>
              <a:rPr lang="tr-TR" altLang="zh-CN" dirty="0"/>
              <a:t>) = O(n</a:t>
            </a:r>
            <a:r>
              <a:rPr lang="tr-TR" altLang="zh-CN" baseline="30000" dirty="0"/>
              <a:t>3</a:t>
            </a:r>
            <a:r>
              <a:rPr lang="tr-TR" altLang="zh-CN" dirty="0"/>
              <a:t>)</a:t>
            </a:r>
            <a:endParaRPr lang="en-US" altLang="zh-CN" dirty="0"/>
          </a:p>
          <a:p>
            <a:pPr lvl="1">
              <a:buFontTx/>
              <a:buNone/>
            </a:pPr>
            <a:endParaRPr lang="en-US" altLang="zh-CN" sz="2800" dirty="0"/>
          </a:p>
          <a:p>
            <a:pPr lvl="1">
              <a:buFontTx/>
              <a:buNone/>
            </a:pPr>
            <a:endParaRPr lang="en-US" altLang="zh-CN" sz="2800" dirty="0"/>
          </a:p>
          <a:p>
            <a:pPr lvl="1">
              <a:buFontTx/>
              <a:buNone/>
            </a:pPr>
            <a:endParaRPr lang="en-US" altLang="zh-CN" sz="2800" dirty="0"/>
          </a:p>
          <a:p>
            <a:pPr lvl="1">
              <a:buFontTx/>
              <a:buNone/>
            </a:pPr>
            <a:endParaRPr lang="tr-TR" altLang="zh-CN" sz="2800" dirty="0"/>
          </a:p>
        </p:txBody>
      </p:sp>
      <p:sp>
        <p:nvSpPr>
          <p:cNvPr id="7" name="矩形 6"/>
          <p:cNvSpPr/>
          <p:nvPr/>
        </p:nvSpPr>
        <p:spPr>
          <a:xfrm>
            <a:off x="874713" y="5357813"/>
            <a:ext cx="50879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Finally, </a:t>
            </a:r>
            <a:r>
              <a:rPr lang="tr-TR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O</a:t>
            </a:r>
            <a:r>
              <a:rPr lang="tr-TR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tr-TR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+4n</a:t>
            </a:r>
            <a:r>
              <a:rPr lang="en-US" altLang="zh-CN" sz="28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+5</a:t>
            </a:r>
            <a:r>
              <a:rPr lang="tr-TR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) = </a:t>
            </a:r>
            <a:r>
              <a:rPr lang="tr-TR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O</a:t>
            </a:r>
            <a:r>
              <a:rPr lang="tr-TR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(n</a:t>
            </a:r>
            <a:r>
              <a:rPr lang="en-US" altLang="zh-CN" sz="28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tr-TR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zh-CN" altLang="en-US" sz="28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2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2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702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02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65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702">
                                            <p:txEl>
                                              <p:charRg st="65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702">
                                            <p:txEl>
                                              <p:charRg st="65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10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702">
                                            <p:txEl>
                                              <p:charRg st="10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702">
                                            <p:txEl>
                                              <p:charRg st="10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131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2">
                                            <p:txEl>
                                              <p:charRg st="131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2">
                                            <p:txEl>
                                              <p:charRg st="131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156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702">
                                            <p:txEl>
                                              <p:charRg st="156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702">
                                            <p:txEl>
                                              <p:charRg st="156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charRg st="175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702">
                                            <p:txEl>
                                              <p:charRg st="175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702">
                                            <p:txEl>
                                              <p:charRg st="175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7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build="p"/>
      <p:bldP spid="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sz="3200" dirty="0"/>
              <a:t>Procedure to do time analysis (O(n))</a:t>
            </a:r>
            <a:endParaRPr lang="zh-CN" altLang="en-US" sz="3200" dirty="0"/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457200" indent="-457200">
              <a:buNone/>
            </a:pPr>
            <a:r>
              <a:rPr lang="en-US" altLang="zh-CN" sz="2000" dirty="0"/>
              <a:t>1.  </a:t>
            </a:r>
            <a:r>
              <a:rPr lang="en-US" altLang="zh-CN" dirty="0"/>
              <a:t>Count the steps  to </a:t>
            </a:r>
            <a:r>
              <a:rPr lang="en-US" altLang="zh-CN" dirty="0">
                <a:solidFill>
                  <a:srgbClr val="00B050"/>
                </a:solidFill>
              </a:rPr>
              <a:t>get T(n) 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indent="-457200">
              <a:buNone/>
            </a:pPr>
            <a:r>
              <a:rPr lang="en-US" altLang="zh-CN" sz="2000" dirty="0"/>
              <a:t>2. </a:t>
            </a:r>
            <a:r>
              <a:rPr lang="en-US" altLang="zh-CN" dirty="0"/>
              <a:t> Simplyfy </a:t>
            </a:r>
            <a:r>
              <a:rPr lang="en-US" altLang="zh-CN" dirty="0">
                <a:solidFill>
                  <a:srgbClr val="00B050"/>
                </a:solidFill>
              </a:rPr>
              <a:t>T(n)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indent="-457200">
              <a:buNone/>
            </a:pPr>
            <a:r>
              <a:rPr lang="en-US" altLang="zh-CN" dirty="0"/>
              <a:t>      </a:t>
            </a:r>
            <a:r>
              <a:rPr lang="tr-TR" altLang="zh-CN" sz="2000" dirty="0">
                <a:solidFill>
                  <a:srgbClr val="00B050"/>
                </a:solidFill>
              </a:rPr>
              <a:t>Lower</a:t>
            </a:r>
            <a:r>
              <a:rPr lang="en-US" altLang="zh-CN" sz="2000" dirty="0">
                <a:solidFill>
                  <a:srgbClr val="00B050"/>
                </a:solidFill>
              </a:rPr>
              <a:t>-</a:t>
            </a:r>
            <a:r>
              <a:rPr lang="tr-TR" altLang="zh-CN" sz="2000" dirty="0">
                <a:solidFill>
                  <a:srgbClr val="00B050"/>
                </a:solidFill>
              </a:rPr>
              <a:t>order terms are ignored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marL="457200" indent="-457200">
              <a:buNone/>
            </a:pPr>
            <a:r>
              <a:rPr lang="en-US" altLang="zh-CN" sz="2000" dirty="0">
                <a:solidFill>
                  <a:srgbClr val="00B050"/>
                </a:solidFill>
              </a:rPr>
              <a:t>       Drop the constants</a:t>
            </a:r>
            <a:endParaRPr lang="tr-TR" altLang="zh-CN" sz="2000" dirty="0">
              <a:solidFill>
                <a:srgbClr val="00B050"/>
              </a:solidFill>
            </a:endParaRPr>
          </a:p>
          <a:p>
            <a:pPr marL="457200" indent="-457200">
              <a:buNone/>
            </a:pPr>
            <a:r>
              <a:rPr lang="en-US" altLang="zh-CN" sz="2000" dirty="0"/>
              <a:t>3.  </a:t>
            </a:r>
            <a:r>
              <a:rPr lang="en-US" altLang="zh-CN" dirty="0"/>
              <a:t>Get </a:t>
            </a:r>
            <a:r>
              <a:rPr lang="en-US" altLang="zh-CN" dirty="0">
                <a:solidFill>
                  <a:srgbClr val="00B050"/>
                </a:solidFill>
              </a:rPr>
              <a:t>f(n)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indent="-457200">
              <a:buNone/>
            </a:pPr>
            <a:r>
              <a:rPr lang="en-US" altLang="zh-CN" dirty="0"/>
              <a:t>      </a:t>
            </a:r>
            <a:r>
              <a:rPr lang="en-US" altLang="zh-CN" sz="2000" dirty="0">
                <a:solidFill>
                  <a:srgbClr val="00B050"/>
                </a:solidFill>
              </a:rPr>
              <a:t>T(n) = O ( f(n) )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indent="-457200">
              <a:buNone/>
            </a:pPr>
            <a:r>
              <a:rPr lang="en-US" altLang="zh-CN" sz="2000" dirty="0"/>
              <a:t>4.  </a:t>
            </a:r>
            <a:r>
              <a:rPr lang="en-US" altLang="zh-CN" dirty="0"/>
              <a:t>Compare between algorithms</a:t>
            </a:r>
            <a:endParaRPr lang="en-US" altLang="zh-CN" dirty="0"/>
          </a:p>
          <a:p>
            <a:pPr marL="457200" indent="-457200">
              <a:buNone/>
            </a:pPr>
            <a:r>
              <a:rPr lang="en-US" altLang="zh-CN" dirty="0"/>
              <a:t>      </a:t>
            </a:r>
            <a:endParaRPr lang="en-US" altLang="zh-CN" dirty="0"/>
          </a:p>
          <a:p>
            <a:pPr marL="457200" indent="-457200">
              <a:buFont typeface="Wingdings" panose="05000000000000000000" pitchFamily="2" charset="2"/>
              <a:buAutoNum type="arabicPeriod" startAt="4"/>
            </a:pPr>
            <a:endParaRPr lang="en-US" altLang="zh-CN" dirty="0"/>
          </a:p>
          <a:p>
            <a:pPr marL="457200" indent="-457200">
              <a:buNone/>
            </a:pPr>
            <a:endParaRPr lang="en-US" altLang="zh-CN" dirty="0"/>
          </a:p>
          <a:p>
            <a:pPr marL="457200" indent="-457200">
              <a:buFont typeface="Wingdings" panose="05000000000000000000" pitchFamily="2" charset="2"/>
              <a:buAutoNum type="arabicPeriod" startAt="2"/>
            </a:pPr>
            <a:endParaRPr lang="en-US" altLang="zh-CN" dirty="0">
              <a:solidFill>
                <a:srgbClr val="00B050"/>
              </a:solidFill>
            </a:endParaRPr>
          </a:p>
          <a:p>
            <a:pPr marL="457200" indent="-457200"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 marL="457200" indent="-457200"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 marL="457200" indent="-457200">
              <a:buNone/>
            </a:pPr>
            <a:r>
              <a:rPr lang="en-US" altLang="zh-CN" dirty="0"/>
              <a:t>       </a:t>
            </a:r>
            <a:endParaRPr lang="zh-CN" altLang="en-US" dirty="0"/>
          </a:p>
        </p:txBody>
      </p:sp>
      <p:sp>
        <p:nvSpPr>
          <p:cNvPr id="54276" name="矩形 4"/>
          <p:cNvSpPr/>
          <p:nvPr/>
        </p:nvSpPr>
        <p:spPr>
          <a:xfrm>
            <a:off x="285750" y="4857750"/>
            <a:ext cx="85725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O(1) &lt; O(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</a:rPr>
              <a:t>log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n) &lt; O(n) &lt; O(n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</a:rPr>
              <a:t>log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n) &lt; O(n</a:t>
            </a:r>
            <a:r>
              <a:rPr lang="en-US" altLang="zh-CN" sz="2000" baseline="30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) &lt; O(n</a:t>
            </a:r>
            <a:r>
              <a:rPr lang="en-US" altLang="zh-CN" sz="2000" baseline="30000" dirty="0">
                <a:solidFill>
                  <a:srgbClr val="FF0000"/>
                </a:solidFill>
                <a:ea typeface="楷体_GB2312" pitchFamily="49" charset="-122"/>
              </a:rPr>
              <a:t>3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) &lt; O(2</a:t>
            </a:r>
            <a:r>
              <a:rPr lang="en-US" altLang="zh-CN" sz="2000" baseline="30000" dirty="0">
                <a:solidFill>
                  <a:srgbClr val="FF0000"/>
                </a:solidFill>
                <a:ea typeface="楷体_GB2312" pitchFamily="49" charset="-122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) &lt; O(n!) &lt; O(n</a:t>
            </a:r>
            <a:r>
              <a:rPr lang="en-US" altLang="zh-CN" sz="2000" baseline="30000" dirty="0">
                <a:solidFill>
                  <a:srgbClr val="FF0000"/>
                </a:solidFill>
                <a:ea typeface="楷体_GB2312" pitchFamily="49" charset="-122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tr-TR" altLang="zh-CN" dirty="0"/>
              <a:t>Running Time Analysis</a:t>
            </a:r>
            <a:endParaRPr lang="tr-TR" altLang="zh-CN" dirty="0"/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685800" y="1524000"/>
            <a:ext cx="4822825" cy="461168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tr-TR" altLang="zh-CN" sz="2500" dirty="0"/>
              <a:t>Example:</a:t>
            </a:r>
            <a:endParaRPr lang="tr-TR" altLang="zh-CN" sz="25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zh-CN" sz="2100" dirty="0"/>
              <a:t>	</a:t>
            </a:r>
            <a:endParaRPr lang="tr-TR" altLang="zh-CN" sz="21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zh-CN" sz="2100" dirty="0"/>
              <a:t>	</a:t>
            </a:r>
            <a:r>
              <a:rPr lang="tr-TR" altLang="zh-CN" sz="2100" dirty="0">
                <a:latin typeface="Courier New" panose="02070309020205020404" pitchFamily="49" charset="0"/>
              </a:rPr>
              <a:t>int sum (int N)</a:t>
            </a:r>
            <a:endParaRPr lang="tr-TR" altLang="zh-CN" sz="21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zh-CN" sz="2100" dirty="0"/>
              <a:t>	</a:t>
            </a:r>
            <a:r>
              <a:rPr lang="tr-TR" altLang="zh-CN" sz="2100" dirty="0">
                <a:latin typeface="Courier New" panose="02070309020205020404" pitchFamily="49" charset="0"/>
              </a:rPr>
              <a:t>{</a:t>
            </a:r>
            <a:endParaRPr lang="tr-TR" altLang="zh-CN" sz="21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zh-CN" sz="2100" dirty="0">
                <a:latin typeface="Courier New" panose="02070309020205020404" pitchFamily="49" charset="0"/>
              </a:rPr>
              <a:t>		int i, partialsum;</a:t>
            </a:r>
            <a:r>
              <a:rPr lang="tr-TR" altLang="zh-CN" sz="2100" dirty="0"/>
              <a:t>	</a:t>
            </a:r>
            <a:r>
              <a:rPr lang="tr-TR" altLang="zh-CN" sz="2100" dirty="0">
                <a:solidFill>
                  <a:srgbClr val="00B050"/>
                </a:solidFill>
              </a:rPr>
              <a:t>       </a:t>
            </a:r>
            <a:endParaRPr lang="tr-TR" altLang="zh-CN" sz="2100" dirty="0">
              <a:solidFill>
                <a:srgbClr val="00B050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zh-CN" sz="2100" dirty="0"/>
              <a:t>		</a:t>
            </a:r>
            <a:r>
              <a:rPr lang="tr-TR" altLang="zh-CN" sz="2100" dirty="0">
                <a:latin typeface="Courier New" panose="02070309020205020404" pitchFamily="49" charset="0"/>
              </a:rPr>
              <a:t>partialsum = 0;</a:t>
            </a:r>
            <a:r>
              <a:rPr lang="tr-TR" altLang="zh-CN" sz="2100" dirty="0"/>
              <a:t>		</a:t>
            </a:r>
            <a:r>
              <a:rPr lang="tr-TR" altLang="zh-CN" sz="2100" dirty="0">
                <a:solidFill>
                  <a:srgbClr val="00B050"/>
                </a:solidFill>
              </a:rPr>
              <a:t>      </a:t>
            </a:r>
            <a:r>
              <a:rPr lang="tr-TR" altLang="zh-CN" sz="2100" dirty="0"/>
              <a:t>		</a:t>
            </a:r>
            <a:r>
              <a:rPr lang="tr-TR" altLang="zh-CN" sz="2100" dirty="0">
                <a:latin typeface="Courier New" panose="02070309020205020404" pitchFamily="49" charset="0"/>
              </a:rPr>
              <a:t>for (i=1; i&lt;=N; i++)</a:t>
            </a:r>
            <a:r>
              <a:rPr lang="tr-TR" altLang="zh-CN" sz="2100" dirty="0"/>
              <a:t>	      			</a:t>
            </a:r>
            <a:r>
              <a:rPr lang="tr-TR" altLang="zh-CN" sz="2100" dirty="0">
                <a:latin typeface="Courier New" panose="02070309020205020404" pitchFamily="49" charset="0"/>
              </a:rPr>
              <a:t>partialsum+=i*i*i;</a:t>
            </a:r>
            <a:endParaRPr lang="tr-TR" altLang="zh-CN" sz="2100" dirty="0">
              <a:solidFill>
                <a:srgbClr val="00B050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zh-CN" sz="2100" dirty="0"/>
              <a:t>		</a:t>
            </a:r>
            <a:r>
              <a:rPr lang="tr-TR" altLang="zh-CN" sz="2100" dirty="0">
                <a:latin typeface="Courier New" panose="02070309020205020404" pitchFamily="49" charset="0"/>
              </a:rPr>
              <a:t>return partialsum;</a:t>
            </a:r>
            <a:r>
              <a:rPr lang="tr-TR" altLang="zh-CN" sz="2100" dirty="0"/>
              <a:t>	      </a:t>
            </a:r>
            <a:endParaRPr lang="tr-TR" altLang="zh-CN" sz="2100" dirty="0">
              <a:solidFill>
                <a:srgbClr val="00B050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zh-CN" sz="2100" dirty="0"/>
              <a:t>	</a:t>
            </a:r>
            <a:r>
              <a:rPr lang="tr-TR" altLang="zh-CN" sz="2100" dirty="0">
                <a:latin typeface="Courier New" panose="02070309020205020404" pitchFamily="49" charset="0"/>
              </a:rPr>
              <a:t>}</a:t>
            </a:r>
            <a:endParaRPr lang="tr-TR" altLang="zh-CN" sz="21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zh-CN" sz="2100" dirty="0"/>
              <a:t>						</a:t>
            </a:r>
            <a:endParaRPr lang="tr-TR" altLang="zh-CN" sz="2100" dirty="0">
              <a:solidFill>
                <a:srgbClr val="00B050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r-TR" altLang="zh-CN" sz="2100" dirty="0"/>
              <a:t>						      </a:t>
            </a:r>
            <a:endParaRPr lang="tr-TR" altLang="zh-CN" sz="2000" dirty="0">
              <a:solidFill>
                <a:srgbClr val="00B05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56325" y="2781300"/>
            <a:ext cx="60325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r-TR" altLang="zh-CN" sz="1800" b="0" dirty="0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1800" b="0" dirty="0">
                <a:solidFill>
                  <a:srgbClr val="00B050"/>
                </a:solidFill>
                <a:sym typeface="Wingdings" panose="05000000000000000000" pitchFamily="2" charset="2"/>
              </a:rPr>
              <a:t>1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56325" y="3141663"/>
            <a:ext cx="60325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r-TR" altLang="zh-CN" sz="1800" b="0" dirty="0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1800" b="0" dirty="0">
                <a:solidFill>
                  <a:srgbClr val="00B050"/>
                </a:solidFill>
                <a:sym typeface="Wingdings" panose="05000000000000000000" pitchFamily="2" charset="2"/>
              </a:rPr>
              <a:t>1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48388" y="3500438"/>
            <a:ext cx="1624012" cy="3238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tr-TR" altLang="zh-CN" sz="1800" b="0" dirty="0">
                <a:solidFill>
                  <a:srgbClr val="00B050"/>
                </a:solidFill>
                <a:sym typeface="Wingdings" panose="05000000000000000000" pitchFamily="2" charset="2"/>
              </a:rPr>
              <a:t> 1+(N+1)+N</a:t>
            </a:r>
            <a:endParaRPr lang="tr-TR" altLang="zh-CN" sz="1800" b="0" dirty="0">
              <a:solidFill>
                <a:srgbClr val="00B05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40450" y="3970338"/>
            <a:ext cx="835025" cy="322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tr-TR" altLang="zh-CN" sz="1800" b="0" dirty="0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1800" b="0" dirty="0">
                <a:solidFill>
                  <a:srgbClr val="00B05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4</a:t>
            </a:r>
            <a:r>
              <a:rPr lang="tr-TR" altLang="zh-CN" sz="1800" b="0" dirty="0">
                <a:solidFill>
                  <a:srgbClr val="00B05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endParaRPr lang="tr-TR" altLang="zh-CN" sz="1800" b="0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61088" y="4292600"/>
            <a:ext cx="6032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r-TR" altLang="zh-CN" sz="1800" b="0" dirty="0">
                <a:solidFill>
                  <a:srgbClr val="00B050"/>
                </a:solidFill>
                <a:sym typeface="Wingdings" panose="05000000000000000000" pitchFamily="2" charset="2"/>
              </a:rPr>
              <a:t> 1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0288" y="4905375"/>
            <a:ext cx="1198562" cy="3238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tr-TR" altLang="zh-CN" sz="1800" b="0" dirty="0">
                <a:solidFill>
                  <a:schemeClr val="tx1"/>
                </a:solidFill>
              </a:rPr>
              <a:t> </a:t>
            </a:r>
            <a:r>
              <a:rPr lang="tr-TR" altLang="zh-CN" sz="1800" b="0" dirty="0">
                <a:solidFill>
                  <a:srgbClr val="00B050"/>
                </a:solidFill>
              </a:rPr>
              <a:t>=  </a:t>
            </a:r>
            <a:r>
              <a:rPr lang="en-US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6</a:t>
            </a:r>
            <a:r>
              <a:rPr lang="tr-TR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N + </a:t>
            </a:r>
            <a:r>
              <a:rPr lang="en-US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5</a:t>
            </a:r>
            <a:endParaRPr lang="tr-TR" altLang="zh-CN" sz="1800" b="0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89663" y="5338763"/>
            <a:ext cx="947737" cy="322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tr-TR" altLang="zh-CN" sz="1800" b="0" dirty="0">
                <a:solidFill>
                  <a:srgbClr val="00B050"/>
                </a:solidFill>
              </a:rPr>
              <a:t>=  </a:t>
            </a:r>
            <a:r>
              <a:rPr lang="en-US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O</a:t>
            </a:r>
            <a:r>
              <a:rPr lang="tr-TR" altLang="zh-CN" sz="1800" b="0" dirty="0">
                <a:solidFill>
                  <a:srgbClr val="00B050"/>
                </a:solidFill>
                <a:ea typeface="宋体" panose="02010600030101010101" pitchFamily="2" charset="-122"/>
              </a:rPr>
              <a:t>(N)</a:t>
            </a:r>
            <a:endParaRPr lang="tr-TR" altLang="zh-CN" sz="1600" b="0" dirty="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1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58372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br>
              <a:rPr lang="tr-TR" altLang="zh-CN" dirty="0"/>
            </a:br>
            <a:r>
              <a:rPr lang="tr-TR" altLang="zh-CN" dirty="0"/>
              <a:t>ROAD MAP</a:t>
            </a:r>
            <a:endParaRPr lang="tr-TR" altLang="zh-CN" dirty="0"/>
          </a:p>
        </p:txBody>
      </p:sp>
      <p:sp>
        <p:nvSpPr>
          <p:cNvPr id="58373" name="Rectangle 5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Tx/>
              <a:buNone/>
            </a:pPr>
            <a:endParaRPr lang="en-US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What to Analyze ?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Running Time Analysis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FF0000"/>
                </a:solidFill>
              </a:rPr>
              <a:t>General Rules</a:t>
            </a:r>
            <a:endParaRPr lang="tr-TR" altLang="zh-CN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Recursive Calls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Maximum Subsequence Sum Problem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Experimentally checking analysis</a:t>
            </a:r>
            <a:endParaRPr lang="tr-TR" altLang="zh-CN" dirty="0">
              <a:solidFill>
                <a:srgbClr val="B2B2B2"/>
              </a:solidFill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General Big-Oh notations</a:t>
            </a:r>
            <a:endParaRPr lang="zh-CN" altLang="en-US" dirty="0"/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zh-CN" dirty="0"/>
              <a:t>Constant order</a:t>
            </a:r>
            <a:endParaRPr lang="en-US" altLang="zh-CN" dirty="0"/>
          </a:p>
          <a:p>
            <a:r>
              <a:rPr lang="en-US" altLang="zh-CN" dirty="0"/>
              <a:t>Linear order</a:t>
            </a:r>
            <a:endParaRPr lang="en-US" altLang="zh-CN" dirty="0"/>
          </a:p>
          <a:p>
            <a:r>
              <a:rPr lang="en-US" altLang="zh-CN" dirty="0"/>
              <a:t>Log order</a:t>
            </a:r>
            <a:endParaRPr lang="en-US" altLang="zh-CN" dirty="0"/>
          </a:p>
          <a:p>
            <a:r>
              <a:rPr lang="en-US" altLang="zh-CN" dirty="0"/>
              <a:t>Square order</a:t>
            </a:r>
            <a:endParaRPr lang="en-US" altLang="zh-CN" dirty="0"/>
          </a:p>
          <a:p>
            <a:r>
              <a:rPr lang="en-US" altLang="zh-CN" i="1" dirty="0">
                <a:solidFill>
                  <a:schemeClr val="hlink"/>
                </a:solidFill>
              </a:rPr>
              <a:t>T</a:t>
            </a:r>
            <a:r>
              <a:rPr lang="en-US" altLang="zh-CN" baseline="-25000" dirty="0">
                <a:solidFill>
                  <a:schemeClr val="hlink"/>
                </a:solidFill>
              </a:rPr>
              <a:t>1</a:t>
            </a:r>
            <a:r>
              <a:rPr lang="en-US" altLang="zh-CN" i="1" dirty="0">
                <a:solidFill>
                  <a:schemeClr val="hlink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) + </a:t>
            </a:r>
            <a:r>
              <a:rPr lang="en-US" altLang="zh-CN" i="1" dirty="0">
                <a:solidFill>
                  <a:schemeClr val="hlink"/>
                </a:solidFill>
              </a:rPr>
              <a:t>T</a:t>
            </a:r>
            <a:r>
              <a:rPr lang="en-US" altLang="zh-CN" baseline="-25000" dirty="0">
                <a:solidFill>
                  <a:schemeClr val="hlink"/>
                </a:solidFill>
              </a:rPr>
              <a:t>2</a:t>
            </a:r>
            <a:r>
              <a:rPr lang="en-US" altLang="zh-CN" i="1" dirty="0">
                <a:solidFill>
                  <a:schemeClr val="hlink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) </a:t>
            </a:r>
            <a:endParaRPr lang="en-US" altLang="zh-CN" dirty="0">
              <a:solidFill>
                <a:schemeClr val="hlink"/>
              </a:solidFill>
            </a:endParaRPr>
          </a:p>
          <a:p>
            <a:r>
              <a:rPr lang="en-US" altLang="zh-CN" dirty="0"/>
              <a:t>If / Else</a:t>
            </a:r>
            <a:endParaRPr lang="en-US" altLang="zh-CN" dirty="0"/>
          </a:p>
          <a:p>
            <a:r>
              <a:rPr lang="en-US" altLang="zh-CN" dirty="0"/>
              <a:t>…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Constant order </a:t>
            </a:r>
            <a:endParaRPr lang="zh-CN" altLang="en-US" dirty="0"/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500063" y="1428750"/>
            <a:ext cx="8229600" cy="4752975"/>
          </a:xfrm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grpSp>
        <p:nvGrpSpPr>
          <p:cNvPr id="2" name="Group 10"/>
          <p:cNvGrpSpPr/>
          <p:nvPr/>
        </p:nvGrpSpPr>
        <p:grpSpPr>
          <a:xfrm>
            <a:off x="571500" y="1571625"/>
            <a:ext cx="6592888" cy="1674813"/>
            <a:chOff x="384" y="576"/>
            <a:chExt cx="4860" cy="3319"/>
          </a:xfrm>
        </p:grpSpPr>
        <p:sp>
          <p:nvSpPr>
            <p:cNvPr id="62469" name="AutoShape 6"/>
            <p:cNvSpPr/>
            <p:nvPr/>
          </p:nvSpPr>
          <p:spPr>
            <a:xfrm>
              <a:off x="384" y="576"/>
              <a:ext cx="4228" cy="2236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470" name="Text Box 5"/>
            <p:cNvSpPr txBox="1"/>
            <p:nvPr/>
          </p:nvSpPr>
          <p:spPr>
            <a:xfrm>
              <a:off x="480" y="662"/>
              <a:ext cx="4764" cy="32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int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sum = 0, n = 100;   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// 1 step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sum =  (1 + n ) </a:t>
              </a:r>
              <a:r>
                <a:rPr lang="zh-CN" altLang="en-US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*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n/2;   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// 1 step</a:t>
              </a:r>
              <a:r>
                <a:rPr lang="zh-CN" altLang="en-US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sz="2000" dirty="0">
                  <a:solidFill>
                    <a:srgbClr val="000099"/>
                  </a:solidFill>
                  <a:ea typeface="宋体" panose="02010600030101010101" pitchFamily="2" charset="-122"/>
                </a:rPr>
                <a:t>or</a:t>
              </a:r>
              <a:r>
                <a:rPr lang="zh-CN" altLang="en-US" sz="2000" dirty="0">
                  <a:solidFill>
                    <a:srgbClr val="000099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0099"/>
                  </a:solidFill>
                  <a:ea typeface="宋体" panose="02010600030101010101" pitchFamily="2" charset="-122"/>
                </a:rPr>
                <a:t>4</a:t>
              </a:r>
              <a:r>
                <a:rPr lang="zh-CN" altLang="en-US" sz="2000" dirty="0">
                  <a:solidFill>
                    <a:srgbClr val="000099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0099"/>
                  </a:solidFill>
                  <a:ea typeface="宋体" panose="02010600030101010101" pitchFamily="2" charset="-122"/>
                </a:rPr>
                <a:t>step</a:t>
              </a:r>
              <a:r>
                <a:rPr lang="zh-CN" altLang="en-US" sz="2000" dirty="0">
                  <a:solidFill>
                    <a:srgbClr val="000099"/>
                  </a:solidFill>
                  <a:ea typeface="宋体" panose="02010600030101010101" pitchFamily="2" charset="-122"/>
                </a:rPr>
                <a:t> </a:t>
              </a:r>
              <a:r>
                <a:rPr lang="zh-CN" altLang="en-US" sz="2000" dirty="0">
                  <a:solidFill>
                    <a:srgbClr val="00B050"/>
                  </a:solidFill>
                  <a:latin typeface="Zapf Dingbats" charset="2"/>
                  <a:ea typeface="宋体" panose="02010600030101010101" pitchFamily="2" charset="-122"/>
                  <a:sym typeface="Zapf Dingbats" charset="2"/>
                </a:rPr>
                <a:t>✓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)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printf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(“%d”, sum) ;    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// 1 step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rgbClr val="00B050"/>
                  </a:solidFill>
                  <a:ea typeface="宋体" panose="02010600030101010101" pitchFamily="2" charset="-122"/>
                </a:rPr>
                <a:t>N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 = O(3) = O(1)</a:t>
              </a:r>
              <a:endParaRPr lang="en-US" altLang="zh-CN" sz="2000" baseline="-25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Linear order </a:t>
            </a:r>
            <a:endParaRPr lang="zh-CN" altLang="en-US" dirty="0"/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500063" y="1428750"/>
            <a:ext cx="8229600" cy="4752975"/>
          </a:xfrm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grpSp>
        <p:nvGrpSpPr>
          <p:cNvPr id="2" name="Group 10"/>
          <p:cNvGrpSpPr/>
          <p:nvPr/>
        </p:nvGrpSpPr>
        <p:grpSpPr>
          <a:xfrm>
            <a:off x="571500" y="1566863"/>
            <a:ext cx="4643438" cy="2290762"/>
            <a:chOff x="384" y="576"/>
            <a:chExt cx="4228" cy="4539"/>
          </a:xfrm>
        </p:grpSpPr>
        <p:sp>
          <p:nvSpPr>
            <p:cNvPr id="64517" name="AutoShape 6"/>
            <p:cNvSpPr/>
            <p:nvPr/>
          </p:nvSpPr>
          <p:spPr>
            <a:xfrm>
              <a:off x="384" y="576"/>
              <a:ext cx="4228" cy="3398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518" name="Text Box 5"/>
            <p:cNvSpPr txBox="1"/>
            <p:nvPr/>
          </p:nvSpPr>
          <p:spPr>
            <a:xfrm>
              <a:off x="480" y="662"/>
              <a:ext cx="4132" cy="44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int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;</a:t>
              </a:r>
              <a:endPara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for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(i = 0; i &lt; n; i++)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{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    /</a:t>
              </a:r>
              <a:r>
                <a:rPr lang="zh-CN" altLang="en-US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*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execution steps of O(1)</a:t>
              </a:r>
              <a:r>
                <a:rPr lang="zh-CN" altLang="en-US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*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}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rgbClr val="00B050"/>
                  </a:solidFill>
                  <a:ea typeface="宋体" panose="02010600030101010101" pitchFamily="2" charset="-122"/>
                </a:rPr>
                <a:t>N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 = O(N) </a:t>
              </a:r>
              <a:endParaRPr lang="en-US" altLang="zh-CN" sz="2000" baseline="-25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Log order </a:t>
            </a:r>
            <a:endParaRPr lang="zh-CN" altLang="en-US" dirty="0"/>
          </a:p>
        </p:txBody>
      </p:sp>
      <p:grpSp>
        <p:nvGrpSpPr>
          <p:cNvPr id="2" name="Group 10"/>
          <p:cNvGrpSpPr>
            <a:grpSpLocks noGrp="1"/>
          </p:cNvGrpSpPr>
          <p:nvPr/>
        </p:nvGrpSpPr>
        <p:grpSpPr>
          <a:xfrm>
            <a:off x="457200" y="1412875"/>
            <a:ext cx="8229600" cy="3233738"/>
            <a:chOff x="384" y="576"/>
            <a:chExt cx="4228" cy="4334"/>
          </a:xfrm>
        </p:grpSpPr>
        <p:sp>
          <p:nvSpPr>
            <p:cNvPr id="66564" name="AutoShape 6"/>
            <p:cNvSpPr/>
            <p:nvPr/>
          </p:nvSpPr>
          <p:spPr>
            <a:xfrm>
              <a:off x="384" y="576"/>
              <a:ext cx="2518" cy="2989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565" name="Text Box 5"/>
            <p:cNvSpPr txBox="1"/>
            <p:nvPr/>
          </p:nvSpPr>
          <p:spPr>
            <a:xfrm>
              <a:off x="480" y="662"/>
              <a:ext cx="4132" cy="42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int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count = 1;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while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(count &lt; n)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{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count = count </a:t>
              </a:r>
              <a:r>
                <a:rPr lang="zh-CN" altLang="en-US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*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2;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</a:t>
              </a:r>
              <a:r>
                <a:rPr lang="zh-CN" altLang="en-US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*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execution steps of O(1)</a:t>
              </a:r>
              <a:r>
                <a:rPr lang="zh-CN" altLang="en-US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*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}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sz="2000" baseline="30000" dirty="0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=n =&gt; x=log</a:t>
              </a:r>
              <a:r>
                <a:rPr lang="en-US" altLang="zh-CN" sz="2000" baseline="-25000" dirty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n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rgbClr val="00B050"/>
                  </a:solidFill>
                  <a:ea typeface="宋体" panose="02010600030101010101" pitchFamily="2" charset="-122"/>
                </a:rPr>
                <a:t>N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 = O(log</a:t>
              </a:r>
              <a:r>
                <a:rPr lang="en-US" altLang="zh-CN" sz="2000" i="1" dirty="0">
                  <a:solidFill>
                    <a:srgbClr val="00B050"/>
                  </a:solidFill>
                  <a:ea typeface="宋体" panose="02010600030101010101" pitchFamily="2" charset="-122"/>
                </a:rPr>
                <a:t>n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) </a:t>
              </a:r>
              <a:endParaRPr lang="en-US" altLang="zh-CN" sz="2000" baseline="-25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Square order</a:t>
            </a:r>
            <a:r>
              <a:rPr lang="zh-CN" altLang="en-US" dirty="0"/>
              <a:t> </a:t>
            </a:r>
            <a:r>
              <a:rPr lang="en-US" altLang="zh-CN" dirty="0"/>
              <a:t>(a) </a:t>
            </a:r>
            <a:endParaRPr lang="zh-CN" altLang="en-US" dirty="0"/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grpSp>
        <p:nvGrpSpPr>
          <p:cNvPr id="2" name="Group 10"/>
          <p:cNvGrpSpPr/>
          <p:nvPr/>
        </p:nvGrpSpPr>
        <p:grpSpPr>
          <a:xfrm>
            <a:off x="571500" y="1566863"/>
            <a:ext cx="4500563" cy="3214687"/>
            <a:chOff x="384" y="576"/>
            <a:chExt cx="4228" cy="6369"/>
          </a:xfrm>
        </p:grpSpPr>
        <p:sp>
          <p:nvSpPr>
            <p:cNvPr id="68613" name="AutoShape 6"/>
            <p:cNvSpPr/>
            <p:nvPr/>
          </p:nvSpPr>
          <p:spPr>
            <a:xfrm>
              <a:off x="384" y="576"/>
              <a:ext cx="4228" cy="5247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8614" name="Text Box 5"/>
            <p:cNvSpPr txBox="1"/>
            <p:nvPr/>
          </p:nvSpPr>
          <p:spPr>
            <a:xfrm>
              <a:off x="480" y="662"/>
              <a:ext cx="4132" cy="62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int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i j;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for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(i = 0; i &lt; n; i++)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{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</a:t>
              </a: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for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(j = 0; j &lt; n; j++)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{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          /</a:t>
              </a:r>
              <a:r>
                <a:rPr lang="zh-CN" altLang="en-US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*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execution steps of O(1)</a:t>
              </a:r>
              <a:r>
                <a:rPr lang="zh-CN" altLang="en-US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*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 }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}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rgbClr val="00B050"/>
                  </a:solidFill>
                  <a:ea typeface="宋体" panose="02010600030101010101" pitchFamily="2" charset="-122"/>
                </a:rPr>
                <a:t>N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 = O(N</a:t>
              </a:r>
              <a:r>
                <a:rPr lang="en-US" altLang="zh-CN" sz="2000" baseline="30000" dirty="0">
                  <a:solidFill>
                    <a:srgbClr val="00B05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) </a:t>
              </a:r>
              <a:endParaRPr lang="en-US" altLang="zh-CN" sz="2000" baseline="-25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Square order</a:t>
            </a:r>
            <a:r>
              <a:rPr lang="zh-CN" altLang="en-US" dirty="0"/>
              <a:t> </a:t>
            </a:r>
            <a:r>
              <a:rPr lang="en-US" altLang="zh-CN" dirty="0"/>
              <a:t>(b) </a:t>
            </a:r>
            <a:endParaRPr lang="zh-CN" altLang="en-US" dirty="0"/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grpSp>
        <p:nvGrpSpPr>
          <p:cNvPr id="2" name="Group 10"/>
          <p:cNvGrpSpPr/>
          <p:nvPr/>
        </p:nvGrpSpPr>
        <p:grpSpPr>
          <a:xfrm>
            <a:off x="571500" y="1566863"/>
            <a:ext cx="4500563" cy="3214687"/>
            <a:chOff x="384" y="576"/>
            <a:chExt cx="4228" cy="6369"/>
          </a:xfrm>
        </p:grpSpPr>
        <p:sp>
          <p:nvSpPr>
            <p:cNvPr id="70661" name="AutoShape 6"/>
            <p:cNvSpPr/>
            <p:nvPr/>
          </p:nvSpPr>
          <p:spPr>
            <a:xfrm>
              <a:off x="384" y="576"/>
              <a:ext cx="4228" cy="5247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0662" name="Text Box 5"/>
            <p:cNvSpPr txBox="1"/>
            <p:nvPr/>
          </p:nvSpPr>
          <p:spPr>
            <a:xfrm>
              <a:off x="480" y="662"/>
              <a:ext cx="4132" cy="62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int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i j;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for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(i = 0; i &lt; </a:t>
              </a:r>
              <a:r>
                <a:rPr lang="en-US" altLang="zh-CN" sz="2000" dirty="0">
                  <a:solidFill>
                    <a:srgbClr val="FF0000"/>
                  </a:solidFill>
                  <a:ea typeface="宋体" panose="02010600030101010101" pitchFamily="2" charset="-122"/>
                </a:rPr>
                <a:t>m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; i++)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{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</a:t>
              </a: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for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(j = 0; j &lt; n; j++)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{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          /</a:t>
              </a:r>
              <a:r>
                <a:rPr lang="zh-CN" altLang="en-US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*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execution steps of O(1)</a:t>
              </a:r>
              <a:r>
                <a:rPr lang="zh-CN" altLang="en-US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*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 }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}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rgbClr val="00B050"/>
                  </a:solidFill>
                  <a:ea typeface="宋体" panose="02010600030101010101" pitchFamily="2" charset="-122"/>
                </a:rPr>
                <a:t>N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 = O(mxn) </a:t>
              </a:r>
              <a:endParaRPr lang="en-US" altLang="zh-CN" sz="2000" baseline="-25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Square order (c) </a:t>
            </a:r>
            <a:endParaRPr lang="zh-CN" altLang="en-US" dirty="0"/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grpSp>
        <p:nvGrpSpPr>
          <p:cNvPr id="2" name="Group 10"/>
          <p:cNvGrpSpPr/>
          <p:nvPr/>
        </p:nvGrpSpPr>
        <p:grpSpPr>
          <a:xfrm>
            <a:off x="571500" y="1566863"/>
            <a:ext cx="5786438" cy="3829050"/>
            <a:chOff x="384" y="576"/>
            <a:chExt cx="4228" cy="7589"/>
          </a:xfrm>
        </p:grpSpPr>
        <p:sp>
          <p:nvSpPr>
            <p:cNvPr id="72709" name="AutoShape 6"/>
            <p:cNvSpPr/>
            <p:nvPr/>
          </p:nvSpPr>
          <p:spPr>
            <a:xfrm>
              <a:off x="384" y="576"/>
              <a:ext cx="4228" cy="5247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710" name="Text Box 5"/>
            <p:cNvSpPr txBox="1"/>
            <p:nvPr/>
          </p:nvSpPr>
          <p:spPr>
            <a:xfrm>
              <a:off x="480" y="662"/>
              <a:ext cx="4132" cy="75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int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i j;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for 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(i = 0; i &lt; n; i++)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{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</a:t>
              </a:r>
              <a:r>
                <a:rPr lang="en-US" altLang="zh-CN" sz="2000" dirty="0">
                  <a:solidFill>
                    <a:schemeClr val="hlink"/>
                  </a:solidFill>
                  <a:ea typeface="宋体" panose="02010600030101010101" pitchFamily="2" charset="-122"/>
                </a:rPr>
                <a:t>for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(j = </a:t>
              </a:r>
              <a:r>
                <a:rPr lang="en-US" altLang="zh-CN" sz="2000" dirty="0">
                  <a:solidFill>
                    <a:srgbClr val="FF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; j &lt; n; j++)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{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          /</a:t>
              </a:r>
              <a:r>
                <a:rPr lang="zh-CN" altLang="en-US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*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execution steps of O(1)</a:t>
              </a:r>
              <a:r>
                <a:rPr lang="zh-CN" altLang="en-US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*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/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     }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}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rgbClr val="00B05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(N) = n + (n-1) + (n-2) +…+1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         = (n</a:t>
              </a:r>
              <a:r>
                <a:rPr lang="en-US" altLang="zh-CN" sz="2000" baseline="30000" dirty="0">
                  <a:solidFill>
                    <a:srgbClr val="00B05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+n)/2</a:t>
              </a:r>
              <a:endParaRPr lang="en-US" altLang="zh-CN" sz="2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          = O(n</a:t>
              </a:r>
              <a:r>
                <a:rPr lang="en-US" altLang="zh-CN" sz="2000" baseline="30000" dirty="0">
                  <a:solidFill>
                    <a:srgbClr val="00B05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sz="2000" dirty="0">
                  <a:solidFill>
                    <a:srgbClr val="00B050"/>
                  </a:solidFill>
                  <a:ea typeface="宋体" panose="02010600030101010101" pitchFamily="2" charset="-122"/>
                </a:rPr>
                <a:t>) </a:t>
              </a:r>
              <a:endParaRPr lang="en-US" altLang="zh-CN" sz="2000" baseline="-25000" dirty="0">
                <a:solidFill>
                  <a:srgbClr val="00B05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4755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7475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i="1" dirty="0">
                <a:solidFill>
                  <a:schemeClr val="hlink"/>
                </a:solidFill>
              </a:rPr>
              <a:t>T</a:t>
            </a:r>
            <a:r>
              <a:rPr lang="en-US" altLang="zh-CN" baseline="-25000" dirty="0">
                <a:solidFill>
                  <a:schemeClr val="hlink"/>
                </a:solidFill>
              </a:rPr>
              <a:t>1</a:t>
            </a:r>
            <a:r>
              <a:rPr lang="en-US" altLang="zh-CN" i="1" dirty="0">
                <a:solidFill>
                  <a:schemeClr val="hlink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) + </a:t>
            </a:r>
            <a:r>
              <a:rPr lang="en-US" altLang="zh-CN" i="1" dirty="0">
                <a:solidFill>
                  <a:schemeClr val="hlink"/>
                </a:solidFill>
              </a:rPr>
              <a:t>T</a:t>
            </a:r>
            <a:r>
              <a:rPr lang="en-US" altLang="zh-CN" baseline="-25000" dirty="0">
                <a:solidFill>
                  <a:schemeClr val="hlink"/>
                </a:solidFill>
              </a:rPr>
              <a:t>2</a:t>
            </a:r>
            <a:r>
              <a:rPr lang="en-US" altLang="zh-CN" i="1" dirty="0">
                <a:solidFill>
                  <a:schemeClr val="hlink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) </a:t>
            </a:r>
            <a:endParaRPr lang="en-US" altLang="zh-CN" dirty="0">
              <a:solidFill>
                <a:schemeClr val="hlink"/>
              </a:solidFill>
            </a:endParaRPr>
          </a:p>
        </p:txBody>
      </p:sp>
      <p:sp>
        <p:nvSpPr>
          <p:cNvPr id="7475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tr-TR" altLang="zh-CN" dirty="0"/>
              <a:t>Consequtive Statements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	Add the running times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		for …			 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			…;		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		for …					 			for …		 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				…;</a:t>
            </a:r>
            <a:endParaRPr lang="tr-TR" altLang="zh-CN" dirty="0"/>
          </a:p>
        </p:txBody>
      </p:sp>
      <p:sp>
        <p:nvSpPr>
          <p:cNvPr id="46087" name="AutoShape 9"/>
          <p:cNvSpPr/>
          <p:nvPr/>
        </p:nvSpPr>
        <p:spPr>
          <a:xfrm>
            <a:off x="3962400" y="3505200"/>
            <a:ext cx="304800" cy="1600200"/>
          </a:xfrm>
          <a:prstGeom prst="rightBrace">
            <a:avLst>
              <a:gd name="adj1" fmla="val 43750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6088" name="AutoShape 10"/>
          <p:cNvSpPr/>
          <p:nvPr/>
        </p:nvSpPr>
        <p:spPr>
          <a:xfrm>
            <a:off x="3962400" y="2438400"/>
            <a:ext cx="304800" cy="838200"/>
          </a:xfrm>
          <a:prstGeom prst="rightBrace">
            <a:avLst>
              <a:gd name="adj1" fmla="val 22916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16438" y="2708275"/>
            <a:ext cx="739775" cy="3746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O</a:t>
            </a:r>
            <a:r>
              <a:rPr lang="tr-TR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(N)</a:t>
            </a:r>
            <a:endParaRPr lang="tr-TR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06913" y="4076700"/>
            <a:ext cx="835025" cy="3746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O</a:t>
            </a:r>
            <a:r>
              <a:rPr lang="tr-TR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(N</a:t>
            </a:r>
            <a:r>
              <a:rPr lang="tr-TR" altLang="zh-CN" sz="20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tr-TR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tr-TR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7" grpId="0" animBg="1"/>
      <p:bldP spid="46088" grpId="0" animBg="1"/>
      <p:bldP spid="2" grpId="0"/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Rectangle 4"/>
          <p:cNvSpPr>
            <a:spLocks noChangeArrowheads="1"/>
          </p:cNvSpPr>
          <p:nvPr/>
        </p:nvSpPr>
        <p:spPr bwMode="auto">
          <a:xfrm>
            <a:off x="714375" y="642938"/>
            <a:ext cx="57292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Rules of Asymptotic Notation 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3" name="Rectangle 7"/>
          <p:cNvSpPr/>
          <p:nvPr/>
        </p:nvSpPr>
        <p:spPr>
          <a:xfrm>
            <a:off x="762000" y="1295400"/>
            <a:ext cx="7391400" cy="1631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482600" lvl="0" indent="-482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If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= O(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)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and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= O(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)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, then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82600" lvl="0" indent="-482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82600" lvl="0" indent="-482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(a)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+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= max( O(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))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O(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)) )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82600" lvl="0" indent="-482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482600" lvl="0" indent="-482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(b)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*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= O(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* 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chemeClr val="hlink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) )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6804" name="文本框 4"/>
          <p:cNvSpPr txBox="1"/>
          <p:nvPr/>
        </p:nvSpPr>
        <p:spPr>
          <a:xfrm>
            <a:off x="714375" y="3632200"/>
            <a:ext cx="3154363" cy="1939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int f1(int n) {</a:t>
            </a:r>
            <a:endParaRPr lang="nn-NO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    for(i=0; i &lt; n; ++i) {</a:t>
            </a:r>
            <a:endParaRPr lang="nn-NO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         // O(1) code</a:t>
            </a:r>
            <a:endParaRPr lang="nn-NO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    }</a:t>
            </a:r>
            <a:endParaRPr lang="nn-NO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}</a:t>
            </a:r>
            <a:endParaRPr lang="nn-NO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6805" name="文本框 5"/>
          <p:cNvSpPr txBox="1"/>
          <p:nvPr/>
        </p:nvSpPr>
        <p:spPr>
          <a:xfrm>
            <a:off x="5003800" y="3673475"/>
            <a:ext cx="4038600" cy="1939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int f2(int n) {</a:t>
            </a:r>
            <a:endParaRPr lang="nn-NO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    for(i=0; i&lt; n; ++i) {</a:t>
            </a:r>
            <a:endParaRPr lang="nn-NO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          f1(i);</a:t>
            </a:r>
            <a:endParaRPr lang="nn-NO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    }</a:t>
            </a:r>
            <a:endParaRPr lang="nn-NO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nn-NO" altLang="zh-CN" b="0" dirty="0">
                <a:solidFill>
                  <a:schemeClr val="tx1"/>
                </a:solidFill>
                <a:ea typeface="宋体" panose="02010600030101010101" pitchFamily="2" charset="-122"/>
              </a:rPr>
              <a:t>}</a:t>
            </a:r>
            <a:endParaRPr lang="nn-NO" altLang="zh-CN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000" fill="hold"/>
                                        <p:tgtEl>
                                          <p:spTgt spid="50183">
                                            <p:txEl>
                                              <p:charRg st="55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8851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7885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i="1" dirty="0">
                <a:solidFill>
                  <a:schemeClr val="hlink"/>
                </a:solidFill>
              </a:rPr>
              <a:t>T</a:t>
            </a:r>
            <a:r>
              <a:rPr lang="en-US" altLang="zh-CN" baseline="-25000" dirty="0">
                <a:solidFill>
                  <a:schemeClr val="hlink"/>
                </a:solidFill>
              </a:rPr>
              <a:t>1</a:t>
            </a:r>
            <a:r>
              <a:rPr lang="en-US" altLang="zh-CN" i="1" dirty="0">
                <a:solidFill>
                  <a:schemeClr val="hlink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) + </a:t>
            </a:r>
            <a:r>
              <a:rPr lang="en-US" altLang="zh-CN" i="1" dirty="0">
                <a:solidFill>
                  <a:schemeClr val="hlink"/>
                </a:solidFill>
              </a:rPr>
              <a:t>T</a:t>
            </a:r>
            <a:r>
              <a:rPr lang="en-US" altLang="zh-CN" baseline="-25000" dirty="0">
                <a:solidFill>
                  <a:schemeClr val="hlink"/>
                </a:solidFill>
              </a:rPr>
              <a:t>2</a:t>
            </a:r>
            <a:r>
              <a:rPr lang="en-US" altLang="zh-CN" i="1" dirty="0">
                <a:solidFill>
                  <a:schemeClr val="hlink"/>
                </a:solidFill>
              </a:rPr>
              <a:t> 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en-US" altLang="zh-CN" dirty="0">
                <a:solidFill>
                  <a:schemeClr val="hlink"/>
                </a:solidFill>
              </a:rPr>
              <a:t>) </a:t>
            </a:r>
            <a:endParaRPr lang="en-US" altLang="zh-CN" dirty="0">
              <a:solidFill>
                <a:schemeClr val="hlink"/>
              </a:solidFill>
            </a:endParaRPr>
          </a:p>
        </p:txBody>
      </p:sp>
      <p:sp>
        <p:nvSpPr>
          <p:cNvPr id="78853" name="Rectangle 3"/>
          <p:cNvSpPr>
            <a:spLocks noGrp="1"/>
          </p:cNvSpPr>
          <p:nvPr>
            <p:ph idx="1"/>
          </p:nvPr>
        </p:nvSpPr>
        <p:spPr>
          <a:xfrm>
            <a:off x="468313" y="1341438"/>
            <a:ext cx="8229600" cy="475297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tr-TR" altLang="zh-CN" dirty="0"/>
              <a:t>Consequtive Statements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	Add the running times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		for …			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tr-TR" altLang="zh-CN" dirty="0">
                <a:solidFill>
                  <a:srgbClr val="FF0000"/>
                </a:solidFill>
              </a:rPr>
              <a:t>(N)</a:t>
            </a:r>
            <a:endParaRPr lang="tr-TR" altLang="zh-CN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			…;		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		for …					 			for …		</a:t>
            </a:r>
            <a:r>
              <a:rPr lang="tr-TR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           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                                       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tr-TR" altLang="zh-CN" dirty="0">
                <a:solidFill>
                  <a:srgbClr val="FF0000"/>
                </a:solidFill>
              </a:rPr>
              <a:t>(N</a:t>
            </a:r>
            <a:r>
              <a:rPr lang="tr-TR" altLang="zh-CN" baseline="30000" dirty="0">
                <a:solidFill>
                  <a:srgbClr val="FF0000"/>
                </a:solidFill>
              </a:rPr>
              <a:t>2</a:t>
            </a:r>
            <a:r>
              <a:rPr lang="tr-TR" altLang="zh-CN" dirty="0">
                <a:solidFill>
                  <a:srgbClr val="FF0000"/>
                </a:solidFill>
              </a:rPr>
              <a:t>)</a:t>
            </a:r>
            <a:endParaRPr lang="tr-TR" altLang="zh-CN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				…;</a:t>
            </a:r>
            <a:endParaRPr lang="tr-TR" altLang="zh-CN" dirty="0"/>
          </a:p>
        </p:txBody>
      </p:sp>
      <p:sp>
        <p:nvSpPr>
          <p:cNvPr id="46086" name="AutoShape 8"/>
          <p:cNvSpPr/>
          <p:nvPr/>
        </p:nvSpPr>
        <p:spPr>
          <a:xfrm>
            <a:off x="5791200" y="2286000"/>
            <a:ext cx="381000" cy="2895600"/>
          </a:xfrm>
          <a:prstGeom prst="rightBrace">
            <a:avLst>
              <a:gd name="adj1" fmla="val 63333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8855" name="AutoShape 9"/>
          <p:cNvSpPr/>
          <p:nvPr/>
        </p:nvSpPr>
        <p:spPr>
          <a:xfrm>
            <a:off x="3962400" y="3505200"/>
            <a:ext cx="304800" cy="1600200"/>
          </a:xfrm>
          <a:prstGeom prst="rightBrace">
            <a:avLst>
              <a:gd name="adj1" fmla="val 43750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8856" name="AutoShape 10"/>
          <p:cNvSpPr/>
          <p:nvPr/>
        </p:nvSpPr>
        <p:spPr>
          <a:xfrm>
            <a:off x="3962400" y="2438400"/>
            <a:ext cx="304800" cy="838200"/>
          </a:xfrm>
          <a:prstGeom prst="rightBrace">
            <a:avLst>
              <a:gd name="adj1" fmla="val 22916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07138" y="3573463"/>
            <a:ext cx="835025" cy="3746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O</a:t>
            </a:r>
            <a:r>
              <a:rPr lang="tr-TR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(N</a:t>
            </a:r>
            <a:r>
              <a:rPr lang="tr-TR" altLang="zh-CN" sz="20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tr-TR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tr-TR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 animBg="1"/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0899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8090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tr-TR" altLang="zh-CN" dirty="0">
                <a:ea typeface="黑体" panose="02010609060101010101" pitchFamily="49" charset="-122"/>
              </a:rPr>
              <a:t> If / Else</a:t>
            </a:r>
            <a:endParaRPr lang="tr-TR" altLang="zh-CN" dirty="0"/>
          </a:p>
        </p:txBody>
      </p:sp>
      <p:sp>
        <p:nvSpPr>
          <p:cNvPr id="80901" name="Rectangle 3"/>
          <p:cNvSpPr>
            <a:spLocks noGrp="1"/>
          </p:cNvSpPr>
          <p:nvPr>
            <p:ph idx="1"/>
          </p:nvPr>
        </p:nvSpPr>
        <p:spPr>
          <a:xfrm>
            <a:off x="609600" y="1600200"/>
            <a:ext cx="7772400" cy="4687888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FontTx/>
              <a:buNone/>
            </a:pPr>
            <a:endParaRPr lang="tr-TR" altLang="zh-CN" sz="2000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sz="2000" dirty="0"/>
              <a:t>	if (condition)	</a:t>
            </a:r>
            <a:r>
              <a:rPr lang="tr-TR" altLang="zh-CN" sz="2000" dirty="0">
                <a:solidFill>
                  <a:srgbClr val="FF0000"/>
                </a:solidFill>
              </a:rPr>
              <a:t>T</a:t>
            </a:r>
            <a:r>
              <a:rPr lang="tr-TR" altLang="zh-CN" sz="2000" baseline="-25000" dirty="0">
                <a:solidFill>
                  <a:srgbClr val="FF0000"/>
                </a:solidFill>
              </a:rPr>
              <a:t>3</a:t>
            </a:r>
            <a:r>
              <a:rPr lang="tr-TR" altLang="zh-CN" sz="2000" dirty="0">
                <a:solidFill>
                  <a:srgbClr val="FF0000"/>
                </a:solidFill>
              </a:rPr>
              <a:t>(n) </a:t>
            </a:r>
            <a:r>
              <a:rPr lang="tr-TR" altLang="zh-CN" sz="2000" dirty="0"/>
              <a:t>	</a:t>
            </a:r>
            <a:endParaRPr lang="tr-TR" altLang="zh-CN" sz="2000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sz="2000" dirty="0"/>
              <a:t>		S1;		</a:t>
            </a:r>
            <a:r>
              <a:rPr lang="tr-TR" altLang="zh-CN" sz="2000" dirty="0">
                <a:solidFill>
                  <a:srgbClr val="FF0000"/>
                </a:solidFill>
              </a:rPr>
              <a:t>T</a:t>
            </a:r>
            <a:r>
              <a:rPr lang="tr-TR" altLang="zh-CN" sz="2000" baseline="-25000" dirty="0">
                <a:solidFill>
                  <a:srgbClr val="FF0000"/>
                </a:solidFill>
              </a:rPr>
              <a:t>1</a:t>
            </a:r>
            <a:r>
              <a:rPr lang="tr-TR" altLang="zh-CN" sz="2000" dirty="0">
                <a:solidFill>
                  <a:srgbClr val="FF0000"/>
                </a:solidFill>
              </a:rPr>
              <a:t>(n)</a:t>
            </a:r>
            <a:r>
              <a:rPr lang="tr-TR" altLang="zh-CN" sz="2000" dirty="0"/>
              <a:t>		   </a:t>
            </a:r>
            <a:r>
              <a:rPr lang="tr-TR" altLang="zh-CN" sz="2000" dirty="0">
                <a:solidFill>
                  <a:srgbClr val="FF0000"/>
                </a:solidFill>
              </a:rPr>
              <a:t>T(n)</a:t>
            </a:r>
            <a:endParaRPr lang="tr-TR" altLang="zh-CN" sz="20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sz="2000" dirty="0"/>
              <a:t>	else</a:t>
            </a:r>
            <a:endParaRPr lang="tr-TR" altLang="zh-CN" sz="2000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sz="2000" dirty="0"/>
              <a:t>		S2;		</a:t>
            </a:r>
            <a:r>
              <a:rPr lang="tr-TR" altLang="zh-CN" sz="2000" dirty="0">
                <a:solidFill>
                  <a:srgbClr val="FF0000"/>
                </a:solidFill>
              </a:rPr>
              <a:t>T</a:t>
            </a:r>
            <a:r>
              <a:rPr lang="tr-TR" altLang="zh-CN" sz="2000" baseline="-25000" dirty="0">
                <a:solidFill>
                  <a:srgbClr val="FF0000"/>
                </a:solidFill>
              </a:rPr>
              <a:t>2</a:t>
            </a:r>
            <a:r>
              <a:rPr lang="tr-TR" altLang="zh-CN" sz="2000" dirty="0">
                <a:solidFill>
                  <a:srgbClr val="FF0000"/>
                </a:solidFill>
              </a:rPr>
              <a:t>(n)</a:t>
            </a:r>
            <a:endParaRPr lang="tr-TR" altLang="zh-CN" sz="20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sz="2000" dirty="0"/>
              <a:t>	</a:t>
            </a:r>
            <a:endParaRPr lang="tr-TR" altLang="zh-CN" sz="2000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sz="2000" dirty="0"/>
              <a:t>	Running time is never more than the running time of the </a:t>
            </a:r>
            <a:r>
              <a:rPr lang="tr-TR" altLang="zh-CN" sz="2000" dirty="0">
                <a:solidFill>
                  <a:srgbClr val="3366FF"/>
                </a:solidFill>
              </a:rPr>
              <a:t>test</a:t>
            </a:r>
            <a:r>
              <a:rPr lang="tr-TR" altLang="zh-CN" sz="2000" dirty="0"/>
              <a:t> plus </a:t>
            </a:r>
            <a:r>
              <a:rPr lang="tr-TR" altLang="zh-CN" sz="2000" dirty="0">
                <a:solidFill>
                  <a:srgbClr val="3366FF"/>
                </a:solidFill>
              </a:rPr>
              <a:t>larger of the running times of S1 and S2</a:t>
            </a:r>
            <a:endParaRPr lang="tr-TR" altLang="zh-CN" sz="2000" dirty="0">
              <a:solidFill>
                <a:srgbClr val="3366FF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tr-TR" altLang="zh-CN" sz="2000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sz="2000" dirty="0"/>
              <a:t>	(may overestimate but never underestimates)</a:t>
            </a:r>
            <a:endParaRPr lang="tr-TR" altLang="zh-CN" sz="2000" dirty="0"/>
          </a:p>
          <a:p>
            <a:pPr>
              <a:lnSpc>
                <a:spcPct val="80000"/>
              </a:lnSpc>
              <a:buFontTx/>
              <a:buNone/>
            </a:pPr>
            <a:endParaRPr lang="tr-TR" altLang="zh-CN" sz="2000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sz="2000" dirty="0"/>
              <a:t>	</a:t>
            </a:r>
            <a:r>
              <a:rPr lang="tr-TR" altLang="zh-CN" sz="2000" dirty="0">
                <a:solidFill>
                  <a:srgbClr val="CC0000"/>
                </a:solidFill>
              </a:rPr>
              <a:t>T(n) ≤ T</a:t>
            </a:r>
            <a:r>
              <a:rPr lang="tr-TR" altLang="zh-CN" sz="2000" baseline="-25000" dirty="0">
                <a:solidFill>
                  <a:srgbClr val="CC0000"/>
                </a:solidFill>
              </a:rPr>
              <a:t>3</a:t>
            </a:r>
            <a:r>
              <a:rPr lang="tr-TR" altLang="zh-CN" sz="2000" dirty="0">
                <a:solidFill>
                  <a:srgbClr val="CC0000"/>
                </a:solidFill>
              </a:rPr>
              <a:t>(n) + max (T</a:t>
            </a:r>
            <a:r>
              <a:rPr lang="tr-TR" altLang="zh-CN" sz="2000" baseline="-25000" dirty="0">
                <a:solidFill>
                  <a:srgbClr val="CC0000"/>
                </a:solidFill>
              </a:rPr>
              <a:t>1</a:t>
            </a:r>
            <a:r>
              <a:rPr lang="tr-TR" altLang="zh-CN" sz="2000" dirty="0">
                <a:solidFill>
                  <a:srgbClr val="CC0000"/>
                </a:solidFill>
              </a:rPr>
              <a:t>(n), T</a:t>
            </a:r>
            <a:r>
              <a:rPr lang="tr-TR" altLang="zh-CN" sz="2000" baseline="-25000" dirty="0">
                <a:solidFill>
                  <a:srgbClr val="CC0000"/>
                </a:solidFill>
              </a:rPr>
              <a:t>2</a:t>
            </a:r>
            <a:r>
              <a:rPr lang="tr-TR" altLang="zh-CN" sz="2000" dirty="0">
                <a:solidFill>
                  <a:srgbClr val="CC0000"/>
                </a:solidFill>
              </a:rPr>
              <a:t>(n))</a:t>
            </a:r>
            <a:endParaRPr lang="tr-TR" altLang="zh-CN" sz="2000" dirty="0"/>
          </a:p>
        </p:txBody>
      </p:sp>
      <p:sp>
        <p:nvSpPr>
          <p:cNvPr id="80902" name="AutoShape 4"/>
          <p:cNvSpPr/>
          <p:nvPr/>
        </p:nvSpPr>
        <p:spPr>
          <a:xfrm>
            <a:off x="3276600" y="1916113"/>
            <a:ext cx="152400" cy="304800"/>
          </a:xfrm>
          <a:prstGeom prst="rightBrace">
            <a:avLst>
              <a:gd name="adj1" fmla="val 16666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0903" name="AutoShape 5"/>
          <p:cNvSpPr/>
          <p:nvPr/>
        </p:nvSpPr>
        <p:spPr>
          <a:xfrm>
            <a:off x="3276600" y="2852738"/>
            <a:ext cx="152400" cy="304800"/>
          </a:xfrm>
          <a:prstGeom prst="rightBrace">
            <a:avLst>
              <a:gd name="adj1" fmla="val 16666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0904" name="AutoShape 6"/>
          <p:cNvSpPr/>
          <p:nvPr/>
        </p:nvSpPr>
        <p:spPr>
          <a:xfrm>
            <a:off x="3276600" y="2260600"/>
            <a:ext cx="152400" cy="304800"/>
          </a:xfrm>
          <a:prstGeom prst="rightBrace">
            <a:avLst>
              <a:gd name="adj1" fmla="val 16666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0905" name="AutoShape 7"/>
          <p:cNvSpPr/>
          <p:nvPr/>
        </p:nvSpPr>
        <p:spPr>
          <a:xfrm>
            <a:off x="5257800" y="1981200"/>
            <a:ext cx="152400" cy="1524000"/>
          </a:xfrm>
          <a:prstGeom prst="rightBrace">
            <a:avLst>
              <a:gd name="adj1" fmla="val 83333"/>
              <a:gd name="adj2" fmla="val 50000"/>
            </a:avLst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Text Box 2"/>
          <p:cNvSpPr txBox="1">
            <a:spLocks noChangeArrowheads="1"/>
          </p:cNvSpPr>
          <p:nvPr/>
        </p:nvSpPr>
        <p:spPr bwMode="auto">
          <a:xfrm>
            <a:off x="571500" y="500063"/>
            <a:ext cx="4429125" cy="523875"/>
          </a:xfrm>
          <a:prstGeom prst="rect">
            <a:avLst/>
          </a:prstGeom>
          <a:noFill/>
          <a:ln>
            <a:noFill/>
          </a:ln>
        </p:spPr>
        <p:txBody>
          <a:bodyPr lIns="108000" rIns="1440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Asymptotic Notation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03" name="Object 2"/>
          <p:cNvGraphicFramePr>
            <a:graphicFrameLocks noChangeAspect="1"/>
          </p:cNvGraphicFramePr>
          <p:nvPr/>
        </p:nvGraphicFramePr>
        <p:xfrm>
          <a:off x="528638" y="1441450"/>
          <a:ext cx="7964487" cy="326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6347400" imgH="14916150" progId="Word.Document.8">
                  <p:embed/>
                </p:oleObj>
              </mc:Choice>
              <mc:Fallback>
                <p:oleObj name="" r:id="rId1" imgW="36347400" imgH="14916150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8638" y="1441450"/>
                        <a:ext cx="7964487" cy="3268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8" name="矩形 4"/>
          <p:cNvSpPr/>
          <p:nvPr/>
        </p:nvSpPr>
        <p:spPr>
          <a:xfrm>
            <a:off x="285750" y="4857750"/>
            <a:ext cx="85725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O(1) &lt; O(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</a:rPr>
              <a:t>log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n) &lt; O(n) &lt; O(n</a:t>
            </a:r>
            <a:r>
              <a:rPr lang="en-US" altLang="zh-CN" sz="2000" i="1" dirty="0">
                <a:solidFill>
                  <a:srgbClr val="FF0000"/>
                </a:solidFill>
                <a:ea typeface="楷体_GB2312" pitchFamily="49" charset="-122"/>
              </a:rPr>
              <a:t>log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n) &lt; O(n</a:t>
            </a:r>
            <a:r>
              <a:rPr lang="en-US" altLang="zh-CN" sz="2000" baseline="30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) &lt; O(n</a:t>
            </a:r>
            <a:r>
              <a:rPr lang="en-US" altLang="zh-CN" sz="2000" baseline="30000" dirty="0">
                <a:solidFill>
                  <a:srgbClr val="FF0000"/>
                </a:solidFill>
                <a:ea typeface="楷体_GB2312" pitchFamily="49" charset="-122"/>
              </a:rPr>
              <a:t>3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) &lt; O(2</a:t>
            </a:r>
            <a:r>
              <a:rPr lang="en-US" altLang="zh-CN" sz="2000" baseline="30000" dirty="0">
                <a:solidFill>
                  <a:srgbClr val="FF0000"/>
                </a:solidFill>
                <a:ea typeface="楷体_GB2312" pitchFamily="49" charset="-122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) &lt; O(n!) &lt; O(n</a:t>
            </a:r>
            <a:r>
              <a:rPr lang="en-US" altLang="zh-CN" sz="2000" baseline="30000" dirty="0">
                <a:solidFill>
                  <a:srgbClr val="FF0000"/>
                </a:solidFill>
                <a:ea typeface="楷体_GB2312" pitchFamily="49" charset="-122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0" y="0"/>
            <a:ext cx="9144000" cy="6873875"/>
            <a:chOff x="0" y="-10"/>
            <a:chExt cx="5760" cy="4330"/>
          </a:xfrm>
        </p:grpSpPr>
        <p:pic>
          <p:nvPicPr>
            <p:cNvPr id="84995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-10"/>
              <a:ext cx="5760" cy="433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6019" name="Text Box 4"/>
            <p:cNvSpPr txBox="1">
              <a:spLocks noChangeArrowheads="1"/>
            </p:cNvSpPr>
            <p:nvPr/>
          </p:nvSpPr>
          <p:spPr bwMode="auto">
            <a:xfrm>
              <a:off x="315" y="-10"/>
              <a:ext cx="1772" cy="252"/>
            </a:xfrm>
            <a:prstGeom prst="rect">
              <a:avLst/>
            </a:prstGeom>
            <a:noFill/>
            <a:ln>
              <a:noFill/>
            </a:ln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Arial" panose="020B0604020202020204" pitchFamily="34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Asymptotic Notation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997" name="Text Box 5"/>
            <p:cNvSpPr txBox="1"/>
            <p:nvPr/>
          </p:nvSpPr>
          <p:spPr>
            <a:xfrm>
              <a:off x="3072" y="384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sz="2000" i="1" baseline="30000" dirty="0">
                  <a:solidFill>
                    <a:schemeClr val="tx1"/>
                  </a:solidFill>
                  <a:ea typeface="宋体" panose="02010600030101010101" pitchFamily="2" charset="-122"/>
                </a:rPr>
                <a:t>n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4998" name="Text Box 6"/>
            <p:cNvSpPr txBox="1"/>
            <p:nvPr/>
          </p:nvSpPr>
          <p:spPr>
            <a:xfrm>
              <a:off x="3888" y="4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n</a:t>
              </a:r>
              <a:r>
                <a:rPr lang="en-US" altLang="zh-CN" sz="2000" baseline="30000" dirty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4999" name="Text Box 7"/>
            <p:cNvSpPr txBox="1"/>
            <p:nvPr/>
          </p:nvSpPr>
          <p:spPr>
            <a:xfrm>
              <a:off x="4368" y="1920"/>
              <a:ext cx="72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n</a:t>
              </a: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 log </a:t>
              </a:r>
              <a:r>
                <a:rPr lang="en-US" altLang="zh-CN" sz="2000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n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00" name="Text Box 8"/>
            <p:cNvSpPr txBox="1"/>
            <p:nvPr/>
          </p:nvSpPr>
          <p:spPr>
            <a:xfrm>
              <a:off x="4848" y="312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n</a:t>
              </a:r>
              <a:endPara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01" name="Text Box 9"/>
            <p:cNvSpPr txBox="1"/>
            <p:nvPr/>
          </p:nvSpPr>
          <p:spPr>
            <a:xfrm>
              <a:off x="4704" y="3456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ea typeface="宋体" panose="02010600030101010101" pitchFamily="2" charset="-122"/>
                </a:rPr>
                <a:t>Log </a:t>
              </a:r>
              <a:r>
                <a:rPr lang="en-US" altLang="zh-CN" sz="2000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n</a:t>
              </a:r>
              <a:endParaRPr lang="en-US" altLang="zh-CN" sz="20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02" name="Text Box 10"/>
            <p:cNvSpPr txBox="1"/>
            <p:nvPr/>
          </p:nvSpPr>
          <p:spPr>
            <a:xfrm>
              <a:off x="192" y="2352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f</a:t>
              </a:r>
              <a:endPara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03" name="Text Box 11"/>
            <p:cNvSpPr txBox="1"/>
            <p:nvPr/>
          </p:nvSpPr>
          <p:spPr>
            <a:xfrm>
              <a:off x="2496" y="398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n</a:t>
              </a:r>
              <a:endPara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04" name="Line 12"/>
            <p:cNvSpPr/>
            <p:nvPr/>
          </p:nvSpPr>
          <p:spPr>
            <a:xfrm>
              <a:off x="2880" y="4128"/>
              <a:ext cx="9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arrow" w="sm" len="lg"/>
            </a:ln>
          </p:spPr>
        </p:sp>
        <p:sp>
          <p:nvSpPr>
            <p:cNvPr id="85005" name="Line 13"/>
            <p:cNvSpPr/>
            <p:nvPr/>
          </p:nvSpPr>
          <p:spPr>
            <a:xfrm flipV="1">
              <a:off x="384" y="1200"/>
              <a:ext cx="0" cy="110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arrow" w="sm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7043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87044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br>
              <a:rPr lang="tr-TR" altLang="zh-CN" dirty="0"/>
            </a:br>
            <a:r>
              <a:rPr lang="en-US" altLang="zh-CN" dirty="0"/>
              <a:t>OUTLINE</a:t>
            </a:r>
            <a:endParaRPr lang="tr-TR" altLang="zh-CN" dirty="0"/>
          </a:p>
        </p:txBody>
      </p:sp>
      <p:sp>
        <p:nvSpPr>
          <p:cNvPr id="87045" name="Rectangle 5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Tx/>
              <a:buNone/>
            </a:pPr>
            <a:endParaRPr lang="en-US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Mathematical Background </a:t>
            </a:r>
            <a:endParaRPr lang="en-US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What to Analyze ?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Running Time Analysis</a:t>
            </a:r>
            <a:r>
              <a:rPr lang="zh-CN" altLang="tr-TR" dirty="0">
                <a:solidFill>
                  <a:srgbClr val="B2B2B2"/>
                </a:solidFill>
              </a:rPr>
              <a:t>运行时间分析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General Rules</a:t>
            </a:r>
            <a:r>
              <a:rPr lang="zh-CN" altLang="tr-TR" dirty="0">
                <a:solidFill>
                  <a:srgbClr val="B2B2B2"/>
                </a:solidFill>
              </a:rPr>
              <a:t>一般规则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FF0000"/>
                </a:solidFill>
              </a:rPr>
              <a:t>Recursive Calls</a:t>
            </a:r>
            <a:r>
              <a:rPr lang="zh-CN" altLang="tr-TR" dirty="0">
                <a:solidFill>
                  <a:srgbClr val="FF0000"/>
                </a:solidFill>
              </a:rPr>
              <a:t>递归调用</a:t>
            </a:r>
            <a:endParaRPr lang="tr-TR" altLang="zh-CN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Maximum Subsequence Sum Problem</a:t>
            </a:r>
            <a:r>
              <a:rPr lang="zh-CN" altLang="tr-TR" dirty="0">
                <a:solidFill>
                  <a:srgbClr val="B2B2B2"/>
                </a:solidFill>
              </a:rPr>
              <a:t>最大子序列和问题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Experimentally checking analysis</a:t>
            </a:r>
            <a:r>
              <a:rPr lang="zh-CN" altLang="tr-TR" dirty="0">
                <a:solidFill>
                  <a:srgbClr val="B2B2B2"/>
                </a:solidFill>
              </a:rPr>
              <a:t>实验检查分析</a:t>
            </a:r>
            <a:endParaRPr lang="zh-CN" altLang="tr-TR" dirty="0">
              <a:solidFill>
                <a:srgbClr val="B2B2B2"/>
              </a:solidFill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9091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8909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tr-TR" altLang="zh-CN" dirty="0"/>
              <a:t>RECURSIVE CALLS</a:t>
            </a:r>
            <a:endParaRPr lang="tr-TR" altLang="zh-CN" dirty="0"/>
          </a:p>
        </p:txBody>
      </p:sp>
      <p:sp>
        <p:nvSpPr>
          <p:cNvPr id="89093" name="Rectangle 3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7493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FontTx/>
              <a:buNone/>
            </a:pPr>
            <a:r>
              <a:rPr lang="tr-TR" altLang="zh-CN" dirty="0"/>
              <a:t>Example 1:</a:t>
            </a:r>
            <a:endParaRPr lang="tr-TR" altLang="zh-CN" dirty="0"/>
          </a:p>
          <a:p>
            <a:pPr>
              <a:lnSpc>
                <a:spcPct val="80000"/>
              </a:lnSpc>
              <a:buFontTx/>
              <a:buNone/>
            </a:pPr>
            <a:r>
              <a:rPr lang="tr-TR" altLang="zh-CN" dirty="0"/>
              <a:t>Algorithm for computing factorial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n!</a:t>
            </a:r>
            <a:r>
              <a:rPr lang="zh-CN" altLang="en-US" dirty="0"/>
              <a:t>）</a:t>
            </a:r>
            <a:endParaRPr lang="tr-TR" altLang="zh-CN" dirty="0"/>
          </a:p>
        </p:txBody>
      </p:sp>
      <p:sp>
        <p:nvSpPr>
          <p:cNvPr id="89094" name="Rectangle 4"/>
          <p:cNvSpPr/>
          <p:nvPr/>
        </p:nvSpPr>
        <p:spPr>
          <a:xfrm>
            <a:off x="498475" y="2424113"/>
            <a:ext cx="5486400" cy="2743200"/>
          </a:xfrm>
          <a:prstGeom prst="rect">
            <a:avLst/>
          </a:prstGeom>
          <a:solidFill>
            <a:srgbClr val="C0C0C0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tr-TR" altLang="zh-CN" sz="210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int factorial (int n)</a:t>
            </a:r>
            <a:endParaRPr lang="tr-TR" altLang="zh-CN" sz="21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tr-TR" altLang="zh-CN" sz="210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{</a:t>
            </a:r>
            <a:endParaRPr lang="tr-TR" altLang="zh-CN" sz="21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tr-TR" altLang="zh-CN" sz="210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if (n&lt;=1)</a:t>
            </a:r>
            <a:endParaRPr lang="tr-TR" altLang="zh-CN" sz="21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tr-TR" altLang="zh-CN" sz="210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	return 1;</a:t>
            </a:r>
            <a:br>
              <a:rPr lang="tr-TR" altLang="zh-CN" sz="210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tr-TR" altLang="zh-CN" sz="210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else</a:t>
            </a:r>
            <a:endParaRPr lang="tr-TR" altLang="zh-CN" sz="21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tr-TR" altLang="zh-CN" sz="210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	return n*factorial(n-1);</a:t>
            </a:r>
            <a:endParaRPr lang="tr-TR" altLang="zh-CN" sz="21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tr-TR" altLang="zh-CN" sz="210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  <a:endParaRPr lang="tr-TR" altLang="zh-CN" sz="210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89095" name="Rectangle 5"/>
          <p:cNvSpPr/>
          <p:nvPr/>
        </p:nvSpPr>
        <p:spPr>
          <a:xfrm>
            <a:off x="422275" y="5167313"/>
            <a:ext cx="8382000" cy="990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tr-TR" altLang="zh-CN" sz="2000" b="0" i="1" dirty="0">
                <a:solidFill>
                  <a:schemeClr val="tx1"/>
                </a:solidFill>
                <a:ea typeface="宋体" panose="02010600030101010101" pitchFamily="2" charset="-122"/>
              </a:rPr>
              <a:t>T(n)	= cost of evaluation of factorial of n</a:t>
            </a:r>
            <a:br>
              <a:rPr lang="tr-TR" altLang="zh-CN" sz="2000" b="0" i="1" dirty="0">
                <a:solidFill>
                  <a:schemeClr val="hlink"/>
                </a:solidFill>
                <a:ea typeface="宋体" panose="02010600030101010101" pitchFamily="2" charset="-122"/>
              </a:rPr>
            </a:br>
            <a:r>
              <a:rPr lang="tr-TR" altLang="zh-CN" sz="2000" b="0" i="1" dirty="0">
                <a:solidFill>
                  <a:schemeClr val="tx1"/>
                </a:solidFill>
                <a:ea typeface="宋体" panose="02010600030101010101" pitchFamily="2" charset="-122"/>
              </a:rPr>
              <a:t>T(n) 	= 4 + T(n-1)</a:t>
            </a:r>
            <a:br>
              <a:rPr lang="tr-TR" altLang="zh-CN" sz="2000" b="0" i="1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tr-TR" altLang="zh-CN" sz="2000" b="0" i="1" dirty="0">
                <a:solidFill>
                  <a:schemeClr val="tx1"/>
                </a:solidFill>
                <a:ea typeface="宋体" panose="02010600030101010101" pitchFamily="2" charset="-122"/>
              </a:rPr>
              <a:t>T(1)    </a:t>
            </a:r>
            <a:r>
              <a:rPr lang="en-US" altLang="zh-CN" sz="2000" b="0" i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tr-TR" altLang="zh-CN" sz="2000" b="0" i="1" dirty="0">
                <a:solidFill>
                  <a:schemeClr val="tx1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000" b="0" i="1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tr-TR" altLang="zh-CN" sz="2000" b="0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9096" name="AutoShape 6"/>
          <p:cNvSpPr/>
          <p:nvPr/>
        </p:nvSpPr>
        <p:spPr>
          <a:xfrm>
            <a:off x="6061075" y="3835400"/>
            <a:ext cx="152400" cy="4572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9097" name="Rectangle 7"/>
          <p:cNvSpPr/>
          <p:nvPr/>
        </p:nvSpPr>
        <p:spPr>
          <a:xfrm>
            <a:off x="6213475" y="2624138"/>
            <a:ext cx="2895600" cy="3733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br>
              <a:rPr lang="tr-TR" altLang="zh-CN" sz="2000" b="0" i="1" dirty="0">
                <a:solidFill>
                  <a:schemeClr val="hlink"/>
                </a:solidFill>
                <a:ea typeface="宋体" panose="02010600030101010101" pitchFamily="2" charset="-122"/>
              </a:rPr>
            </a:br>
            <a:br>
              <a:rPr lang="tr-TR" altLang="zh-CN" sz="2000" b="0" i="1" dirty="0">
                <a:solidFill>
                  <a:schemeClr val="hlink"/>
                </a:solidFill>
                <a:ea typeface="宋体" panose="02010600030101010101" pitchFamily="2" charset="-122"/>
              </a:rPr>
            </a:br>
            <a:br>
              <a:rPr lang="tr-TR" altLang="zh-CN" sz="2000" b="0" i="1" dirty="0">
                <a:solidFill>
                  <a:schemeClr val="hlink"/>
                </a:solidFill>
                <a:ea typeface="宋体" panose="02010600030101010101" pitchFamily="2" charset="-122"/>
              </a:rPr>
            </a:br>
            <a:r>
              <a:rPr lang="tr-TR" altLang="zh-CN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1 for multiplication</a:t>
            </a:r>
            <a:br>
              <a:rPr lang="tr-TR" altLang="zh-CN" sz="1800" b="0" i="1" dirty="0">
                <a:solidFill>
                  <a:schemeClr val="hlink"/>
                </a:solidFill>
                <a:ea typeface="宋体" panose="02010600030101010101" pitchFamily="2" charset="-122"/>
              </a:rPr>
            </a:br>
            <a:r>
              <a:rPr lang="tr-TR" altLang="zh-CN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+ 1 for substraction</a:t>
            </a:r>
            <a:br>
              <a:rPr lang="tr-TR" altLang="zh-CN" sz="1800" b="0" i="1" dirty="0">
                <a:solidFill>
                  <a:schemeClr val="hlink"/>
                </a:solidFill>
                <a:ea typeface="宋体" panose="02010600030101010101" pitchFamily="2" charset="-122"/>
              </a:rPr>
            </a:br>
            <a:r>
              <a:rPr lang="tr-TR" altLang="zh-CN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+ cost of evaluation of factorial(n-1)  </a:t>
            </a:r>
            <a:endParaRPr lang="tr-TR" altLang="zh-CN" sz="1800" b="0" i="1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89098" name="AutoShape 8"/>
          <p:cNvSpPr/>
          <p:nvPr/>
        </p:nvSpPr>
        <p:spPr>
          <a:xfrm>
            <a:off x="6061075" y="4329113"/>
            <a:ext cx="152400" cy="4572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9099" name="Rectangle 7"/>
          <p:cNvSpPr/>
          <p:nvPr/>
        </p:nvSpPr>
        <p:spPr>
          <a:xfrm>
            <a:off x="6208713" y="2924175"/>
            <a:ext cx="2895600" cy="6492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for</a:t>
            </a:r>
            <a:r>
              <a:rPr lang="zh-CN" altLang="en-US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if</a:t>
            </a:r>
            <a:r>
              <a:rPr lang="zh-CN" altLang="en-US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endParaRPr lang="tr-TR" altLang="zh-CN" sz="1800" b="0" i="1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89100" name="Rectangle 7"/>
          <p:cNvSpPr/>
          <p:nvPr/>
        </p:nvSpPr>
        <p:spPr>
          <a:xfrm>
            <a:off x="6208713" y="3716338"/>
            <a:ext cx="2895600" cy="6492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for</a:t>
            </a:r>
            <a:r>
              <a:rPr lang="zh-CN" altLang="en-US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i="1" dirty="0">
                <a:solidFill>
                  <a:schemeClr val="hlink"/>
                </a:solidFill>
                <a:ea typeface="宋体" panose="02010600030101010101" pitchFamily="2" charset="-122"/>
              </a:rPr>
              <a:t>else</a:t>
            </a:r>
            <a:endParaRPr lang="tr-TR" altLang="zh-CN" sz="1800" b="0" i="1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89101" name="AutoShape 6"/>
          <p:cNvSpPr/>
          <p:nvPr/>
        </p:nvSpPr>
        <p:spPr>
          <a:xfrm>
            <a:off x="6056313" y="3068638"/>
            <a:ext cx="152400" cy="4572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1139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9114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tr-TR" altLang="zh-CN" dirty="0"/>
              <a:t>RECURSIVE CALLS</a:t>
            </a:r>
            <a:endParaRPr lang="tr-TR" altLang="zh-CN" dirty="0"/>
          </a:p>
        </p:txBody>
      </p:sp>
      <p:sp>
        <p:nvSpPr>
          <p:cNvPr id="91141" name="Rectangle 3"/>
          <p:cNvSpPr>
            <a:spLocks noGrp="1"/>
          </p:cNvSpPr>
          <p:nvPr>
            <p:ph idx="1"/>
          </p:nvPr>
        </p:nvSpPr>
        <p:spPr>
          <a:xfrm>
            <a:off x="609600" y="1822450"/>
            <a:ext cx="7772400" cy="4535488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T(n) = 4 + T(n-1)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T(n) = 4 + 4+ T(n-2)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T(n) = 4 + 4 + 4 + T(n-3)</a:t>
            </a:r>
            <a:endParaRPr lang="tr-TR" altLang="zh-CN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tr-TR" altLang="zh-CN" sz="900" dirty="0"/>
              <a:t>.</a:t>
            </a:r>
            <a:endParaRPr lang="tr-TR" altLang="zh-CN" sz="9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tr-TR" altLang="zh-CN" sz="900" dirty="0"/>
              <a:t>.</a:t>
            </a:r>
            <a:endParaRPr lang="tr-TR" altLang="zh-CN" sz="9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tr-TR" altLang="zh-CN" sz="900" dirty="0"/>
              <a:t>.</a:t>
            </a:r>
            <a:endParaRPr lang="tr-TR" altLang="zh-CN" sz="900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T(n) = k*4 + T(n-k)			k= n-1 =&gt;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T(n) = (n-1)*4 + T(n-(n-1))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T(n) = (n-1)*4 + T(1)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T(n) = (n-1)*4 + </a:t>
            </a:r>
            <a:r>
              <a:rPr lang="en-US" altLang="zh-CN" dirty="0"/>
              <a:t>2</a:t>
            </a:r>
            <a:endParaRPr lang="tr-TR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zh-CN" dirty="0"/>
              <a:t>T(n) = </a:t>
            </a:r>
            <a:r>
              <a:rPr lang="en-US" altLang="zh-CN" dirty="0"/>
              <a:t>O</a:t>
            </a:r>
            <a:r>
              <a:rPr lang="tr-TR" altLang="zh-CN" dirty="0"/>
              <a:t>(n)</a:t>
            </a:r>
            <a:endParaRPr lang="tr-TR" altLang="zh-CN" dirty="0"/>
          </a:p>
        </p:txBody>
      </p:sp>
      <p:sp>
        <p:nvSpPr>
          <p:cNvPr id="91142" name="TextBox 6"/>
          <p:cNvSpPr txBox="1"/>
          <p:nvPr/>
        </p:nvSpPr>
        <p:spPr>
          <a:xfrm>
            <a:off x="1000125" y="1285875"/>
            <a:ext cx="458470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[Principle]   Mathematical induction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3187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br>
              <a:rPr lang="tr-TR" altLang="zh-CN" dirty="0"/>
            </a:br>
            <a:r>
              <a:rPr lang="en-US" altLang="zh-CN" dirty="0"/>
              <a:t>OUTLINE</a:t>
            </a:r>
            <a:endParaRPr lang="tr-TR" altLang="zh-CN" dirty="0"/>
          </a:p>
        </p:txBody>
      </p:sp>
      <p:sp>
        <p:nvSpPr>
          <p:cNvPr id="93188" name="Rectangle 5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FontTx/>
              <a:buNone/>
            </a:pPr>
            <a:endParaRPr lang="en-US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Mathematical Background </a:t>
            </a:r>
            <a:endParaRPr lang="en-US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What to Analyze ?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Running Time Analysis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General Rules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Recursive Calls</a:t>
            </a:r>
            <a:endParaRPr lang="tr-TR" altLang="zh-CN" dirty="0">
              <a:solidFill>
                <a:srgbClr val="B2B2B2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FF0000"/>
                </a:solidFill>
              </a:rPr>
              <a:t>Maximum Subsequence Sum Problem</a:t>
            </a:r>
            <a:endParaRPr lang="tr-TR" altLang="zh-CN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tr-TR" altLang="zh-CN" dirty="0">
                <a:solidFill>
                  <a:srgbClr val="B2B2B2"/>
                </a:solidFill>
              </a:rPr>
              <a:t>Experimentally checking analysis</a:t>
            </a:r>
            <a:endParaRPr lang="tr-TR" altLang="zh-CN" dirty="0">
              <a:solidFill>
                <a:srgbClr val="B2B2B2"/>
              </a:solidFill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609600" y="304800"/>
            <a:ext cx="51816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Compare the Algorithms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609600" y="838200"/>
            <a:ext cx="7772400" cy="719138"/>
            <a:chOff x="384" y="624"/>
            <a:chExt cx="4896" cy="453"/>
          </a:xfrm>
        </p:grpSpPr>
        <p:sp>
          <p:nvSpPr>
            <p:cNvPr id="95252" name="Text Box 4"/>
            <p:cNvSpPr txBox="1"/>
            <p:nvPr/>
          </p:nvSpPr>
          <p:spPr>
            <a:xfrm>
              <a:off x="384" y="624"/>
              <a:ext cx="4896" cy="4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292100" lvl="0" indent="-29210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ea typeface="MS Hei" pitchFamily="49" charset="-122"/>
                </a:rPr>
                <a:t>〖Example〗 Given (possibly negative) integers </a:t>
              </a:r>
              <a:r>
                <a:rPr lang="en-US" altLang="zh-CN" sz="1800" i="1" dirty="0">
                  <a:solidFill>
                    <a:schemeClr val="tx1"/>
                  </a:solidFill>
                  <a:ea typeface="MS Hei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ea typeface="MS Hei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ea typeface="MS Hei" pitchFamily="49" charset="-122"/>
                </a:rPr>
                <a:t>, </a:t>
              </a:r>
              <a:r>
                <a:rPr lang="en-US" altLang="zh-CN" sz="1800" i="1" dirty="0">
                  <a:solidFill>
                    <a:schemeClr val="tx1"/>
                  </a:solidFill>
                  <a:ea typeface="MS Hei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ea typeface="MS Hei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ea typeface="MS Hei" pitchFamily="49" charset="-122"/>
                </a:rPr>
                <a:t>, …, </a:t>
              </a:r>
              <a:r>
                <a:rPr lang="en-US" altLang="zh-CN" sz="1800" i="1" dirty="0">
                  <a:solidFill>
                    <a:schemeClr val="tx1"/>
                  </a:solidFill>
                  <a:ea typeface="MS Hei" pitchFamily="49" charset="-122"/>
                </a:rPr>
                <a:t>A</a:t>
              </a:r>
              <a:r>
                <a:rPr lang="en-US" altLang="zh-CN" sz="1800" i="1" baseline="-25000" dirty="0">
                  <a:solidFill>
                    <a:schemeClr val="tx1"/>
                  </a:solidFill>
                  <a:ea typeface="MS Hei" pitchFamily="49" charset="-122"/>
                </a:rPr>
                <a:t>N</a:t>
              </a:r>
              <a:r>
                <a:rPr lang="en-US" altLang="zh-CN" sz="1800" dirty="0">
                  <a:solidFill>
                    <a:schemeClr val="tx1"/>
                  </a:solidFill>
                  <a:ea typeface="MS Hei" pitchFamily="49" charset="-122"/>
                </a:rPr>
                <a:t>, find the maximum value of </a:t>
              </a:r>
              <a:endParaRPr lang="en-US" altLang="zh-CN" sz="2000" dirty="0">
                <a:solidFill>
                  <a:schemeClr val="hlink"/>
                </a:solidFill>
                <a:ea typeface="MS Hei" pitchFamily="49" charset="-122"/>
              </a:endParaRPr>
            </a:p>
          </p:txBody>
        </p:sp>
        <p:graphicFrame>
          <p:nvGraphicFramePr>
            <p:cNvPr id="95253" name="Object 2"/>
            <p:cNvGraphicFramePr>
              <a:graphicFrameLocks noChangeAspect="1"/>
            </p:cNvGraphicFramePr>
            <p:nvPr/>
          </p:nvGraphicFramePr>
          <p:xfrm>
            <a:off x="1935" y="771"/>
            <a:ext cx="62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8115300" imgH="3952875" progId="Equation.3">
                    <p:embed/>
                  </p:oleObj>
                </mc:Choice>
                <mc:Fallback>
                  <p:oleObj name="" r:id="rId1" imgW="8115300" imgH="3952875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35" y="771"/>
                          <a:ext cx="628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614" name="AutoShape 6"/>
          <p:cNvSpPr/>
          <p:nvPr/>
        </p:nvSpPr>
        <p:spPr>
          <a:xfrm>
            <a:off x="4286250" y="1214438"/>
            <a:ext cx="4214813" cy="785812"/>
          </a:xfrm>
          <a:prstGeom prst="wedgeEllipseCallout">
            <a:avLst>
              <a:gd name="adj1" fmla="val -53023"/>
              <a:gd name="adj2" fmla="val -48861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27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Max sum is 0 if all the integers are negative.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15" name="AutoShape 7" descr="棕色大理石"/>
          <p:cNvSpPr/>
          <p:nvPr/>
        </p:nvSpPr>
        <p:spPr>
          <a:xfrm>
            <a:off x="762000" y="1752600"/>
            <a:ext cx="1752600" cy="533400"/>
          </a:xfrm>
          <a:prstGeom prst="bevel">
            <a:avLst>
              <a:gd name="adj" fmla="val 12500"/>
            </a:avLst>
          </a:prstGeom>
          <a:solidFill>
            <a:srgbClr val="00B05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Algorithm 1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8616" name="AutoShape 8"/>
          <p:cNvSpPr/>
          <p:nvPr/>
        </p:nvSpPr>
        <p:spPr>
          <a:xfrm>
            <a:off x="762000" y="2362200"/>
            <a:ext cx="7620000" cy="4114800"/>
          </a:xfrm>
          <a:prstGeom prst="foldedCorner">
            <a:avLst>
              <a:gd name="adj" fmla="val 5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bIns="0"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MaxSubsequenceSum (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const 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A[ ], 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N )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{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	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ThisSum,  MaxSum,  i,  j,  k;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1*/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MaxSum = 0; 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initialize the maximum sum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2*/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for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i = 0; i &lt; N; i++ )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start from A[ i ]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3*/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     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for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j = i; j &lt; N; j++ ) { 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end at A[ j ]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4*/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	ThisSum = 0;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5*/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	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for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k = i; k &lt;= j; k++ )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6*/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	      ThisSum += A[ k ];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sum from A[ i ] to A[ j ]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7*/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	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if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ThisSum &gt; MaxSum )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8*/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	      MaxSum = ThisSum;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update max sum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	      }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end for-j and for-i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9*/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return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MaxSum;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}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17" name="Text Box 9"/>
          <p:cNvSpPr txBox="1"/>
          <p:nvPr/>
        </p:nvSpPr>
        <p:spPr>
          <a:xfrm>
            <a:off x="3886200" y="5943600"/>
            <a:ext cx="2667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) = O( 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3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en-US" altLang="zh-CN" sz="20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8619" name="Rectangle 11"/>
          <p:cNvSpPr/>
          <p:nvPr/>
        </p:nvSpPr>
        <p:spPr>
          <a:xfrm>
            <a:off x="2819400" y="1905000"/>
            <a:ext cx="2895600" cy="228600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20" name="Rectangle 12"/>
          <p:cNvSpPr/>
          <p:nvPr/>
        </p:nvSpPr>
        <p:spPr>
          <a:xfrm>
            <a:off x="2819400" y="1905000"/>
            <a:ext cx="228600" cy="2286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21" name="Rectangle 13"/>
          <p:cNvSpPr/>
          <p:nvPr/>
        </p:nvSpPr>
        <p:spPr>
          <a:xfrm>
            <a:off x="2819400" y="1905000"/>
            <a:ext cx="457200" cy="2286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22" name="Rectangle 14"/>
          <p:cNvSpPr/>
          <p:nvPr/>
        </p:nvSpPr>
        <p:spPr>
          <a:xfrm>
            <a:off x="2819400" y="1905000"/>
            <a:ext cx="685800" cy="2286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23" name="Rectangle 15"/>
          <p:cNvSpPr/>
          <p:nvPr/>
        </p:nvSpPr>
        <p:spPr>
          <a:xfrm>
            <a:off x="2819400" y="1905000"/>
            <a:ext cx="2895600" cy="2286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24" name="Rectangle 16"/>
          <p:cNvSpPr/>
          <p:nvPr/>
        </p:nvSpPr>
        <p:spPr>
          <a:xfrm>
            <a:off x="3048000" y="1905000"/>
            <a:ext cx="228600" cy="2286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25" name="Rectangle 17"/>
          <p:cNvSpPr/>
          <p:nvPr/>
        </p:nvSpPr>
        <p:spPr>
          <a:xfrm>
            <a:off x="3048000" y="1905000"/>
            <a:ext cx="457200" cy="2286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26" name="Rectangle 18"/>
          <p:cNvSpPr/>
          <p:nvPr/>
        </p:nvSpPr>
        <p:spPr>
          <a:xfrm>
            <a:off x="3048000" y="1905000"/>
            <a:ext cx="2667000" cy="2286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27" name="Rectangle 19"/>
          <p:cNvSpPr/>
          <p:nvPr/>
        </p:nvSpPr>
        <p:spPr>
          <a:xfrm>
            <a:off x="2057400" y="3810000"/>
            <a:ext cx="3124200" cy="1143000"/>
          </a:xfrm>
          <a:prstGeom prst="rect">
            <a:avLst/>
          </a:prstGeom>
          <a:solidFill>
            <a:srgbClr val="CCFFCC">
              <a:alpha val="50195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28" name="Rectangle 20"/>
          <p:cNvSpPr/>
          <p:nvPr/>
        </p:nvSpPr>
        <p:spPr>
          <a:xfrm>
            <a:off x="3276600" y="1905000"/>
            <a:ext cx="457200" cy="2286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8629" name="Rectangle 21"/>
          <p:cNvSpPr/>
          <p:nvPr/>
        </p:nvSpPr>
        <p:spPr>
          <a:xfrm>
            <a:off x="3733800" y="1905000"/>
            <a:ext cx="228600" cy="228600"/>
          </a:xfrm>
          <a:prstGeom prst="rect">
            <a:avLst/>
          </a:prstGeom>
          <a:solidFill>
            <a:srgbClr val="FF66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19713" y="4214813"/>
            <a:ext cx="2505075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Redundant computing!</a:t>
            </a:r>
            <a:endParaRPr lang="zh-CN" altLang="en-US" sz="18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86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/>
      <p:bldP spid="68614" grpId="0" animBg="1"/>
      <p:bldP spid="68615" grpId="0" animBg="1"/>
      <p:bldP spid="68616" grpId="0" animBg="1"/>
      <p:bldP spid="68617" grpId="0"/>
      <p:bldP spid="68619" grpId="0" animBg="1"/>
      <p:bldP spid="68620" grpId="0" animBg="1"/>
      <p:bldP spid="68621" grpId="0" animBg="1"/>
      <p:bldP spid="68622" grpId="0" animBg="1"/>
      <p:bldP spid="68623" grpId="0" animBg="1"/>
      <p:bldP spid="68624" grpId="0" animBg="1"/>
      <p:bldP spid="68625" grpId="0" animBg="1"/>
      <p:bldP spid="68626" grpId="0" animBg="1"/>
      <p:bldP spid="68627" grpId="0" animBg="1"/>
      <p:bldP spid="68628" grpId="0" animBg="1"/>
      <p:bldP spid="68629" grpId="0" animBg="1"/>
      <p:bldP spid="2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AutoShape 2" descr="棕色大理石"/>
          <p:cNvSpPr/>
          <p:nvPr/>
        </p:nvSpPr>
        <p:spPr>
          <a:xfrm>
            <a:off x="609600" y="609600"/>
            <a:ext cx="1752600" cy="533400"/>
          </a:xfrm>
          <a:prstGeom prst="bevel">
            <a:avLst>
              <a:gd name="adj" fmla="val 12500"/>
            </a:avLst>
          </a:prstGeom>
          <a:solidFill>
            <a:srgbClr val="00B05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Algorithm 2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9636" name="AutoShape 4"/>
          <p:cNvSpPr/>
          <p:nvPr/>
        </p:nvSpPr>
        <p:spPr>
          <a:xfrm>
            <a:off x="609600" y="1371600"/>
            <a:ext cx="7620000" cy="4343400"/>
          </a:xfrm>
          <a:prstGeom prst="foldedCorner">
            <a:avLst>
              <a:gd name="adj" fmla="val 5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MaxSubsequenceSum (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const 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A[ ], 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N )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{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	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ThisSum,  MaxSum,  i,  j;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1*/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MaxSum = 0; 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initialize the maximum sum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2*/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for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i = 0; i &lt; N; i++ )  { 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start from A[ i ]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3*/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      ThisSum = 0;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4*/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	      for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j = i; j &lt; N; j++ ) { 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end at A[ j ]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5*/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	ThisSum += A[ j ];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sum from A[ i ] to A[ j ]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6*/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	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if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ThisSum &gt; MaxSum )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7*/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	      MaxSum = ThisSum;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update max sum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	     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}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  /* end for-j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	}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end for-i */</a:t>
            </a:r>
            <a:endParaRPr lang="en-US" altLang="zh-CN" sz="18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8*/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return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MaxSum;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}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9637" name="Text Box 5"/>
          <p:cNvSpPr txBox="1"/>
          <p:nvPr/>
        </p:nvSpPr>
        <p:spPr>
          <a:xfrm>
            <a:off x="3429000" y="5791200"/>
            <a:ext cx="2667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 ) = O( </a:t>
            </a:r>
            <a:r>
              <a:rPr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endParaRPr lang="en-US" altLang="zh-CN" sz="20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 animBg="1"/>
      <p:bldP spid="69636" grpId="0" animBg="1"/>
      <p:bldP spid="6963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9" name="AutoShape 3" descr="棕色大理石"/>
          <p:cNvSpPr/>
          <p:nvPr/>
        </p:nvSpPr>
        <p:spPr>
          <a:xfrm>
            <a:off x="533400" y="457200"/>
            <a:ext cx="1752600" cy="533400"/>
          </a:xfrm>
          <a:prstGeom prst="bevel">
            <a:avLst>
              <a:gd name="adj" fmla="val 12500"/>
            </a:avLst>
          </a:prstGeom>
          <a:solidFill>
            <a:srgbClr val="00B05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Algorithm 3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0660" name="Text Box 4"/>
          <p:cNvSpPr txBox="1"/>
          <p:nvPr/>
        </p:nvSpPr>
        <p:spPr>
          <a:xfrm>
            <a:off x="2438400" y="533400"/>
            <a:ext cx="342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Divide and Conquer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61" name="Rectangle 5"/>
          <p:cNvSpPr/>
          <p:nvPr/>
        </p:nvSpPr>
        <p:spPr>
          <a:xfrm>
            <a:off x="5867400" y="685800"/>
            <a:ext cx="2133600" cy="152400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62" name="Rectangle 6"/>
          <p:cNvSpPr/>
          <p:nvPr/>
        </p:nvSpPr>
        <p:spPr>
          <a:xfrm>
            <a:off x="6019800" y="914400"/>
            <a:ext cx="609600" cy="762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63" name="Rectangle 7"/>
          <p:cNvSpPr/>
          <p:nvPr/>
        </p:nvSpPr>
        <p:spPr>
          <a:xfrm>
            <a:off x="7315200" y="914400"/>
            <a:ext cx="457200" cy="762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64" name="Rectangle 8"/>
          <p:cNvSpPr/>
          <p:nvPr/>
        </p:nvSpPr>
        <p:spPr>
          <a:xfrm>
            <a:off x="6172200" y="1066800"/>
            <a:ext cx="1295400" cy="762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65" name="Line 9"/>
          <p:cNvSpPr/>
          <p:nvPr/>
        </p:nvSpPr>
        <p:spPr>
          <a:xfrm>
            <a:off x="6934200" y="533400"/>
            <a:ext cx="0" cy="685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10"/>
          <p:cNvGrpSpPr/>
          <p:nvPr/>
        </p:nvGrpSpPr>
        <p:grpSpPr>
          <a:xfrm>
            <a:off x="1524000" y="1828800"/>
            <a:ext cx="5486400" cy="533400"/>
            <a:chOff x="960" y="1680"/>
            <a:chExt cx="3456" cy="336"/>
          </a:xfrm>
        </p:grpSpPr>
        <p:sp>
          <p:nvSpPr>
            <p:cNvPr id="99363" name="Rectangle 11"/>
            <p:cNvSpPr/>
            <p:nvPr/>
          </p:nvSpPr>
          <p:spPr>
            <a:xfrm>
              <a:off x="960" y="1680"/>
              <a:ext cx="432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</a:rPr>
                <a:t>4</a:t>
              </a:r>
              <a:endParaRPr lang="en-US" altLang="zh-CN" sz="2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4" name="Rectangle 12"/>
            <p:cNvSpPr/>
            <p:nvPr/>
          </p:nvSpPr>
          <p:spPr>
            <a:xfrm>
              <a:off x="1392" y="1680"/>
              <a:ext cx="432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</a:rPr>
                <a:t>3</a:t>
              </a:r>
              <a:endParaRPr lang="en-US" altLang="zh-CN" sz="2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5" name="Rectangle 13"/>
            <p:cNvSpPr/>
            <p:nvPr/>
          </p:nvSpPr>
          <p:spPr>
            <a:xfrm>
              <a:off x="1824" y="1680"/>
              <a:ext cx="432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</a:rPr>
                <a:t>5</a:t>
              </a:r>
              <a:endParaRPr lang="en-US" altLang="zh-CN" sz="2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6" name="Rectangle 14"/>
            <p:cNvSpPr/>
            <p:nvPr/>
          </p:nvSpPr>
          <p:spPr>
            <a:xfrm>
              <a:off x="2256" y="1680"/>
              <a:ext cx="432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endParaRPr lang="en-US" altLang="zh-CN" sz="2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7" name="Rectangle 15"/>
            <p:cNvSpPr/>
            <p:nvPr/>
          </p:nvSpPr>
          <p:spPr>
            <a:xfrm>
              <a:off x="2688" y="1680"/>
              <a:ext cx="432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  <a:endParaRPr lang="en-US" altLang="zh-CN" sz="2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8" name="Rectangle 16"/>
            <p:cNvSpPr/>
            <p:nvPr/>
          </p:nvSpPr>
          <p:spPr>
            <a:xfrm>
              <a:off x="3120" y="1680"/>
              <a:ext cx="432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endParaRPr lang="en-US" altLang="zh-CN" sz="2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69" name="Rectangle 17"/>
            <p:cNvSpPr/>
            <p:nvPr/>
          </p:nvSpPr>
          <p:spPr>
            <a:xfrm>
              <a:off x="3552" y="1680"/>
              <a:ext cx="432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</a:rPr>
                <a:t>6</a:t>
              </a:r>
              <a:endParaRPr lang="en-US" altLang="zh-CN" sz="2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70" name="Rectangle 18"/>
            <p:cNvSpPr/>
            <p:nvPr/>
          </p:nvSpPr>
          <p:spPr>
            <a:xfrm>
              <a:off x="3984" y="1680"/>
              <a:ext cx="432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sz="2800" dirty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endParaRPr lang="en-US" altLang="zh-CN" sz="2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371" name="Rectangle 19"/>
            <p:cNvSpPr/>
            <p:nvPr/>
          </p:nvSpPr>
          <p:spPr>
            <a:xfrm>
              <a:off x="960" y="1680"/>
              <a:ext cx="3456" cy="336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0676" name="AutoShape 20"/>
          <p:cNvSpPr/>
          <p:nvPr/>
        </p:nvSpPr>
        <p:spPr>
          <a:xfrm>
            <a:off x="3962400" y="1143000"/>
            <a:ext cx="1524000" cy="457200"/>
          </a:xfrm>
          <a:prstGeom prst="wedgeRectCallout">
            <a:avLst>
              <a:gd name="adj1" fmla="val 95417"/>
              <a:gd name="adj2" fmla="val -61806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conquer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77" name="AutoShape 21"/>
          <p:cNvSpPr/>
          <p:nvPr/>
        </p:nvSpPr>
        <p:spPr>
          <a:xfrm>
            <a:off x="7162800" y="1219200"/>
            <a:ext cx="1524000" cy="457200"/>
          </a:xfrm>
          <a:prstGeom prst="wedgeRectCallout">
            <a:avLst>
              <a:gd name="adj1" fmla="val -64583"/>
              <a:gd name="adj2" fmla="val -122917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divide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78" name="Line 22"/>
          <p:cNvSpPr/>
          <p:nvPr/>
        </p:nvSpPr>
        <p:spPr>
          <a:xfrm>
            <a:off x="4267200" y="1828800"/>
            <a:ext cx="0" cy="533400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79" name="Line 23"/>
          <p:cNvSpPr/>
          <p:nvPr/>
        </p:nvSpPr>
        <p:spPr>
          <a:xfrm>
            <a:off x="2895600" y="1828800"/>
            <a:ext cx="0" cy="533400"/>
          </a:xfrm>
          <a:prstGeom prst="line">
            <a:avLst/>
          </a:prstGeom>
          <a:ln w="508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80" name="Line 24"/>
          <p:cNvSpPr/>
          <p:nvPr/>
        </p:nvSpPr>
        <p:spPr>
          <a:xfrm>
            <a:off x="2209800" y="1828800"/>
            <a:ext cx="0" cy="533400"/>
          </a:xfrm>
          <a:prstGeom prst="line">
            <a:avLst/>
          </a:prstGeom>
          <a:ln w="25400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81" name="Rectangle 25"/>
          <p:cNvSpPr/>
          <p:nvPr/>
        </p:nvSpPr>
        <p:spPr>
          <a:xfrm>
            <a:off x="1524000" y="2514600"/>
            <a:ext cx="685800" cy="304800"/>
          </a:xfrm>
          <a:prstGeom prst="rect">
            <a:avLst/>
          </a:prstGeom>
          <a:noFill/>
          <a:ln w="254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82" name="Rectangle 26"/>
          <p:cNvSpPr/>
          <p:nvPr/>
        </p:nvSpPr>
        <p:spPr>
          <a:xfrm>
            <a:off x="2895600" y="2514600"/>
            <a:ext cx="685800" cy="304800"/>
          </a:xfrm>
          <a:prstGeom prst="rect">
            <a:avLst/>
          </a:prstGeom>
          <a:noFill/>
          <a:ln w="254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5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83" name="Line 27"/>
          <p:cNvSpPr/>
          <p:nvPr/>
        </p:nvSpPr>
        <p:spPr>
          <a:xfrm>
            <a:off x="3581400" y="1828800"/>
            <a:ext cx="0" cy="533400"/>
          </a:xfrm>
          <a:prstGeom prst="line">
            <a:avLst/>
          </a:prstGeom>
          <a:ln w="25400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84" name="Rectangle 28"/>
          <p:cNvSpPr/>
          <p:nvPr/>
        </p:nvSpPr>
        <p:spPr>
          <a:xfrm>
            <a:off x="1524000" y="2971800"/>
            <a:ext cx="1371600" cy="304800"/>
          </a:xfrm>
          <a:prstGeom prst="rect">
            <a:avLst/>
          </a:prstGeom>
          <a:noFill/>
          <a:ln w="508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85" name="Rectangle 29"/>
          <p:cNvSpPr/>
          <p:nvPr/>
        </p:nvSpPr>
        <p:spPr>
          <a:xfrm>
            <a:off x="2895600" y="2971800"/>
            <a:ext cx="685800" cy="304800"/>
          </a:xfrm>
          <a:prstGeom prst="rect">
            <a:avLst/>
          </a:prstGeom>
          <a:noFill/>
          <a:ln w="508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86" name="Rectangle 30"/>
          <p:cNvSpPr/>
          <p:nvPr/>
        </p:nvSpPr>
        <p:spPr>
          <a:xfrm>
            <a:off x="1524000" y="2971800"/>
            <a:ext cx="2057400" cy="304800"/>
          </a:xfrm>
          <a:prstGeom prst="rect">
            <a:avLst/>
          </a:prstGeom>
          <a:solidFill>
            <a:srgbClr val="FF6600">
              <a:alpha val="50195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6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87" name="Line 31"/>
          <p:cNvSpPr/>
          <p:nvPr/>
        </p:nvSpPr>
        <p:spPr>
          <a:xfrm>
            <a:off x="5638800" y="1828800"/>
            <a:ext cx="0" cy="533400"/>
          </a:xfrm>
          <a:prstGeom prst="line">
            <a:avLst/>
          </a:prstGeom>
          <a:ln w="508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88" name="Line 32"/>
          <p:cNvSpPr/>
          <p:nvPr/>
        </p:nvSpPr>
        <p:spPr>
          <a:xfrm>
            <a:off x="4953000" y="1828800"/>
            <a:ext cx="0" cy="533400"/>
          </a:xfrm>
          <a:prstGeom prst="line">
            <a:avLst/>
          </a:prstGeom>
          <a:ln w="25400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89" name="Rectangle 33"/>
          <p:cNvSpPr/>
          <p:nvPr/>
        </p:nvSpPr>
        <p:spPr>
          <a:xfrm>
            <a:off x="4953000" y="2514600"/>
            <a:ext cx="685800" cy="304800"/>
          </a:xfrm>
          <a:prstGeom prst="rect">
            <a:avLst/>
          </a:prstGeom>
          <a:noFill/>
          <a:ln w="254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90" name="Rectangle 34"/>
          <p:cNvSpPr/>
          <p:nvPr/>
        </p:nvSpPr>
        <p:spPr>
          <a:xfrm>
            <a:off x="5638800" y="2514600"/>
            <a:ext cx="685800" cy="304800"/>
          </a:xfrm>
          <a:prstGeom prst="rect">
            <a:avLst/>
          </a:prstGeom>
          <a:noFill/>
          <a:ln w="254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6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91" name="Rectangle 35"/>
          <p:cNvSpPr/>
          <p:nvPr/>
        </p:nvSpPr>
        <p:spPr>
          <a:xfrm>
            <a:off x="4953000" y="2971800"/>
            <a:ext cx="685800" cy="304800"/>
          </a:xfrm>
          <a:prstGeom prst="rect">
            <a:avLst/>
          </a:prstGeom>
          <a:noFill/>
          <a:ln w="508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92" name="Rectangle 36"/>
          <p:cNvSpPr/>
          <p:nvPr/>
        </p:nvSpPr>
        <p:spPr>
          <a:xfrm>
            <a:off x="5638800" y="2971800"/>
            <a:ext cx="685800" cy="304800"/>
          </a:xfrm>
          <a:prstGeom prst="rect">
            <a:avLst/>
          </a:prstGeom>
          <a:noFill/>
          <a:ln w="508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93" name="Rectangle 37"/>
          <p:cNvSpPr/>
          <p:nvPr/>
        </p:nvSpPr>
        <p:spPr>
          <a:xfrm>
            <a:off x="4953000" y="2971800"/>
            <a:ext cx="1371600" cy="304800"/>
          </a:xfrm>
          <a:prstGeom prst="rect">
            <a:avLst/>
          </a:prstGeom>
          <a:solidFill>
            <a:srgbClr val="FF6600">
              <a:alpha val="50195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8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94" name="Rectangle 38"/>
          <p:cNvSpPr/>
          <p:nvPr/>
        </p:nvSpPr>
        <p:spPr>
          <a:xfrm>
            <a:off x="1524000" y="3429000"/>
            <a:ext cx="2743200" cy="3048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95" name="Rectangle 39"/>
          <p:cNvSpPr/>
          <p:nvPr/>
        </p:nvSpPr>
        <p:spPr>
          <a:xfrm>
            <a:off x="4267200" y="3429000"/>
            <a:ext cx="2057400" cy="3048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96" name="Rectangle 40"/>
          <p:cNvSpPr/>
          <p:nvPr/>
        </p:nvSpPr>
        <p:spPr>
          <a:xfrm>
            <a:off x="1524000" y="3429000"/>
            <a:ext cx="4800600" cy="304800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11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0697" name="Line 41"/>
          <p:cNvSpPr/>
          <p:nvPr/>
        </p:nvSpPr>
        <p:spPr>
          <a:xfrm>
            <a:off x="6324600" y="1828800"/>
            <a:ext cx="0" cy="533400"/>
          </a:xfrm>
          <a:prstGeom prst="line">
            <a:avLst/>
          </a:prstGeom>
          <a:ln w="25400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98" name="AutoShape 42"/>
          <p:cNvSpPr/>
          <p:nvPr/>
        </p:nvSpPr>
        <p:spPr>
          <a:xfrm>
            <a:off x="1066800" y="3962400"/>
            <a:ext cx="1524000" cy="762000"/>
          </a:xfrm>
          <a:prstGeom prst="wedgeEllipseCallout">
            <a:avLst>
              <a:gd name="adj1" fmla="val 45417"/>
              <a:gd name="adj2" fmla="val -136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/2 )</a:t>
            </a:r>
            <a:endParaRPr lang="en-US" altLang="zh-CN" sz="2000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699" name="AutoShape 43"/>
          <p:cNvSpPr/>
          <p:nvPr/>
        </p:nvSpPr>
        <p:spPr>
          <a:xfrm>
            <a:off x="6019800" y="3962400"/>
            <a:ext cx="1524000" cy="762000"/>
          </a:xfrm>
          <a:prstGeom prst="wedgeEllipseCallout">
            <a:avLst>
              <a:gd name="adj1" fmla="val -73750"/>
              <a:gd name="adj2" fmla="val -136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/2 )</a:t>
            </a:r>
            <a:endParaRPr lang="en-US" altLang="zh-CN" sz="2000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0700" name="AutoShape 44"/>
          <p:cNvSpPr/>
          <p:nvPr/>
        </p:nvSpPr>
        <p:spPr>
          <a:xfrm>
            <a:off x="3657600" y="3962400"/>
            <a:ext cx="1524000" cy="762000"/>
          </a:xfrm>
          <a:prstGeom prst="wedgeEllipseCallout">
            <a:avLst>
              <a:gd name="adj1" fmla="val -23750"/>
              <a:gd name="adj2" fmla="val -71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O(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en-US" altLang="zh-CN" sz="2000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7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7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7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7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0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0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0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0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0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0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0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0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0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0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7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7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7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7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0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0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70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70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70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70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70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0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0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70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70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0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70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70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70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0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0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706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06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0" dur="500"/>
                                        <p:tgtEl>
                                          <p:spTgt spid="7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5" dur="500"/>
                                        <p:tgtEl>
                                          <p:spTgt spid="7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7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nimBg="1"/>
      <p:bldP spid="70660" grpId="0"/>
      <p:bldP spid="70661" grpId="0" animBg="1"/>
      <p:bldP spid="70662" grpId="0" animBg="1"/>
      <p:bldP spid="70663" grpId="0" animBg="1"/>
      <p:bldP spid="70664" grpId="0" animBg="1"/>
      <p:bldP spid="70676" grpId="0" animBg="1"/>
      <p:bldP spid="70677" grpId="0" animBg="1"/>
      <p:bldP spid="70681" grpId="0" animBg="1"/>
      <p:bldP spid="70682" grpId="0" animBg="1"/>
      <p:bldP spid="70684" grpId="0" animBg="1"/>
      <p:bldP spid="70685" grpId="0" animBg="1"/>
      <p:bldP spid="70686" grpId="0" animBg="1"/>
      <p:bldP spid="70689" grpId="0" animBg="1"/>
      <p:bldP spid="70690" grpId="0" animBg="1"/>
      <p:bldP spid="70691" grpId="0" animBg="1"/>
      <p:bldP spid="70692" grpId="0" animBg="1"/>
      <p:bldP spid="70693" grpId="0" animBg="1"/>
      <p:bldP spid="70694" grpId="0" animBg="1"/>
      <p:bldP spid="70695" grpId="0" animBg="1"/>
      <p:bldP spid="70696" grpId="0" animBg="1"/>
      <p:bldP spid="70698" grpId="0" animBg="1"/>
      <p:bldP spid="70699" grpId="0" animBg="1"/>
      <p:bldP spid="7070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2500313" y="1214438"/>
            <a:ext cx="5857875" cy="30003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Maximum subsequence can be</a:t>
            </a:r>
            <a:endParaRPr kumimoji="0" lang="tr-TR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r>
              <a:rPr kumimoji="0" lang="tr-TR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in L</a:t>
            </a:r>
            <a:endParaRPr kumimoji="0" lang="tr-TR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		      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   </a:t>
            </a:r>
            <a:r>
              <a:rPr kumimoji="0" lang="tr-TR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solved recursively</a:t>
            </a:r>
            <a:endParaRPr kumimoji="0" lang="tr-TR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r>
              <a:rPr kumimoji="0" lang="tr-TR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in R	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                                            </a:t>
            </a:r>
            <a:endParaRPr kumimoji="0" lang="tr-TR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endParaRPr kumimoji="0" lang="tr-TR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Blip>
                <a:blip r:embed="rId1"/>
              </a:buBlip>
              <a:defRPr/>
            </a:pPr>
            <a:r>
              <a:rPr kumimoji="0" lang="tr-TR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in the middle, in both sides</a:t>
            </a:r>
            <a:endParaRPr kumimoji="0" lang="tr-TR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	largest sum in L ending with middle element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             </a:t>
            </a:r>
            <a:endParaRPr kumimoji="0" lang="tr-TR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	</a:t>
            </a:r>
            <a:r>
              <a:rPr kumimoji="0" lang="tr-TR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+</a:t>
            </a:r>
            <a:endParaRPr kumimoji="0" lang="tr-TR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	largest sum in R begining with middle element</a:t>
            </a:r>
            <a:endParaRPr kumimoji="0" lang="tr-TR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3" name="Rectangle 45"/>
          <p:cNvSpPr/>
          <p:nvPr/>
        </p:nvSpPr>
        <p:spPr>
          <a:xfrm>
            <a:off x="571500" y="4337050"/>
            <a:ext cx="5257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 = 2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/2 ) + c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,     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(1) = O(1)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46"/>
          <p:cNvSpPr/>
          <p:nvPr/>
        </p:nvSpPr>
        <p:spPr>
          <a:xfrm>
            <a:off x="1123950" y="4746625"/>
            <a:ext cx="428625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    = 2 [2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/2</a:t>
            </a:r>
            <a:r>
              <a:rPr lang="en-US" altLang="zh-CN" sz="2000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) + c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/2)] + c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47"/>
          <p:cNvSpPr/>
          <p:nvPr/>
        </p:nvSpPr>
        <p:spPr>
          <a:xfrm>
            <a:off x="1352550" y="5103813"/>
            <a:ext cx="523557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         = 2</a:t>
            </a:r>
            <a:r>
              <a:rPr lang="en-US" altLang="zh-CN" sz="2000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O(1) +c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k N  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when 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/2</a:t>
            </a:r>
            <a:r>
              <a:rPr lang="en-US" altLang="zh-CN" sz="2000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= 1</a:t>
            </a:r>
            <a:endParaRPr lang="zh-CN" altLang="en-US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48"/>
          <p:cNvSpPr/>
          <p:nvPr/>
        </p:nvSpPr>
        <p:spPr>
          <a:xfrm>
            <a:off x="2000250" y="5500688"/>
            <a:ext cx="192405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= O(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log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 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)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" name="AutoShape 49"/>
          <p:cNvSpPr/>
          <p:nvPr/>
        </p:nvSpPr>
        <p:spPr>
          <a:xfrm>
            <a:off x="6429375" y="5286375"/>
            <a:ext cx="2286000" cy="1143000"/>
          </a:xfrm>
          <a:prstGeom prst="wedgeEllipseCallout">
            <a:avLst>
              <a:gd name="adj1" fmla="val -118676"/>
              <a:gd name="adj2" fmla="val -33204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Also true for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 N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1384" name="椭圆形标注 7"/>
          <p:cNvSpPr/>
          <p:nvPr/>
        </p:nvSpPr>
        <p:spPr>
          <a:xfrm>
            <a:off x="857250" y="1071563"/>
            <a:ext cx="1357313" cy="612775"/>
          </a:xfrm>
          <a:prstGeom prst="wedgeEllipseCallout">
            <a:avLst>
              <a:gd name="adj1" fmla="val 79167"/>
              <a:gd name="adj2" fmla="val 4117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T(n/2)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1385" name="椭圆形标注 8"/>
          <p:cNvSpPr/>
          <p:nvPr/>
        </p:nvSpPr>
        <p:spPr>
          <a:xfrm>
            <a:off x="785813" y="3000375"/>
            <a:ext cx="1357312" cy="612775"/>
          </a:xfrm>
          <a:prstGeom prst="wedgeEllipseCallout">
            <a:avLst>
              <a:gd name="adj1" fmla="val 85903"/>
              <a:gd name="adj2" fmla="val -6543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O(n)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1386" name="椭圆形标注 9"/>
          <p:cNvSpPr/>
          <p:nvPr/>
        </p:nvSpPr>
        <p:spPr>
          <a:xfrm>
            <a:off x="857250" y="2000250"/>
            <a:ext cx="1357313" cy="612775"/>
          </a:xfrm>
          <a:prstGeom prst="wedgeEllipseCallout">
            <a:avLst>
              <a:gd name="adj1" fmla="val 80130"/>
              <a:gd name="adj2" fmla="val -573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T(n/2)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" name="AutoShape 3" descr="棕色大理石"/>
          <p:cNvSpPr/>
          <p:nvPr/>
        </p:nvSpPr>
        <p:spPr>
          <a:xfrm>
            <a:off x="533400" y="457200"/>
            <a:ext cx="1752600" cy="533400"/>
          </a:xfrm>
          <a:prstGeom prst="bevel">
            <a:avLst>
              <a:gd name="adj" fmla="val 12500"/>
            </a:avLst>
          </a:prstGeom>
          <a:solidFill>
            <a:srgbClr val="00B05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Algorithm 3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3" name="AutoShape 3" descr="棕色大理石"/>
          <p:cNvSpPr/>
          <p:nvPr/>
        </p:nvSpPr>
        <p:spPr>
          <a:xfrm>
            <a:off x="533400" y="457200"/>
            <a:ext cx="1752600" cy="533400"/>
          </a:xfrm>
          <a:prstGeom prst="bevel">
            <a:avLst>
              <a:gd name="adj" fmla="val 12500"/>
            </a:avLst>
          </a:prstGeom>
          <a:solidFill>
            <a:srgbClr val="00B05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ea typeface="宋体" panose="02010600030101010101" pitchFamily="2" charset="-122"/>
              </a:rPr>
              <a:t>Algorithm 4</a:t>
            </a:r>
            <a:endParaRPr lang="en-US" altLang="zh-CN" sz="20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1684" name="Text Box 4"/>
          <p:cNvSpPr txBox="1"/>
          <p:nvPr/>
        </p:nvSpPr>
        <p:spPr>
          <a:xfrm>
            <a:off x="2438400" y="533400"/>
            <a:ext cx="342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On-line Algorithm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685" name="AutoShape 5"/>
          <p:cNvSpPr/>
          <p:nvPr/>
        </p:nvSpPr>
        <p:spPr>
          <a:xfrm>
            <a:off x="533400" y="1066800"/>
            <a:ext cx="8001000" cy="4038600"/>
          </a:xfrm>
          <a:prstGeom prst="foldedCorner">
            <a:avLst>
              <a:gd name="adj" fmla="val 7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MaxSubsequenceSum(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const 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A[ ], 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N )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{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	int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 ThisSum, MaxSum, j;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1*/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ThisSum = MaxSum = 0;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2*/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for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j = 0; j &lt; N; j++ ) {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3*/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      ThisSum += A[ j ];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4*/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     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if 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ThisSum &gt; MaxSum )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5*/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	MaxSum = ThisSum;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6*/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     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else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if 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( ThisSum &lt; 0 )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7*/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	ThisSum = 0;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	}  </a:t>
            </a: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end for-j */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8000"/>
                </a:solidFill>
                <a:ea typeface="宋体" panose="02010600030101010101" pitchFamily="2" charset="-122"/>
              </a:rPr>
              <a:t>/* 8*/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	</a:t>
            </a:r>
            <a:r>
              <a:rPr lang="en-US" altLang="zh-CN" sz="1800" dirty="0">
                <a:solidFill>
                  <a:schemeClr val="hlink"/>
                </a:solidFill>
                <a:ea typeface="宋体" panose="02010600030101010101" pitchFamily="2" charset="-122"/>
              </a:rPr>
              <a:t>return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 MaxSum;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} 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686" name="Text Box 6"/>
          <p:cNvSpPr txBox="1"/>
          <p:nvPr/>
        </p:nvSpPr>
        <p:spPr>
          <a:xfrm>
            <a:off x="609600" y="5318125"/>
            <a:ext cx="2057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) = O( </a:t>
            </a:r>
            <a:r>
              <a:rPr lang="en-US" altLang="zh-CN" sz="2000" i="1" dirty="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aseline="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en-US" altLang="zh-CN" sz="2000" i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687" name="Text Box 7"/>
          <p:cNvSpPr txBox="1"/>
          <p:nvPr/>
        </p:nvSpPr>
        <p:spPr>
          <a:xfrm>
            <a:off x="609600" y="5775325"/>
            <a:ext cx="36020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A[ ] is scanned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once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only.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4648200" y="2133600"/>
            <a:ext cx="3657600" cy="381000"/>
            <a:chOff x="2928" y="3600"/>
            <a:chExt cx="2304" cy="240"/>
          </a:xfrm>
        </p:grpSpPr>
        <p:sp>
          <p:nvSpPr>
            <p:cNvPr id="103447" name="Rectangle 9"/>
            <p:cNvSpPr/>
            <p:nvPr/>
          </p:nvSpPr>
          <p:spPr>
            <a:xfrm>
              <a:off x="2928" y="3600"/>
              <a:ext cx="28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448" name="Rectangle 10"/>
            <p:cNvSpPr/>
            <p:nvPr/>
          </p:nvSpPr>
          <p:spPr>
            <a:xfrm>
              <a:off x="3216" y="3600"/>
              <a:ext cx="28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449" name="Rectangle 11"/>
            <p:cNvSpPr/>
            <p:nvPr/>
          </p:nvSpPr>
          <p:spPr>
            <a:xfrm>
              <a:off x="3504" y="3600"/>
              <a:ext cx="28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450" name="Rectangle 12"/>
            <p:cNvSpPr/>
            <p:nvPr/>
          </p:nvSpPr>
          <p:spPr>
            <a:xfrm>
              <a:off x="3792" y="3600"/>
              <a:ext cx="28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451" name="Rectangle 13"/>
            <p:cNvSpPr/>
            <p:nvPr/>
          </p:nvSpPr>
          <p:spPr>
            <a:xfrm>
              <a:off x="4080" y="3600"/>
              <a:ext cx="28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452" name="Rectangle 14"/>
            <p:cNvSpPr/>
            <p:nvPr/>
          </p:nvSpPr>
          <p:spPr>
            <a:xfrm>
              <a:off x="4368" y="3600"/>
              <a:ext cx="28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453" name="Rectangle 15"/>
            <p:cNvSpPr/>
            <p:nvPr/>
          </p:nvSpPr>
          <p:spPr>
            <a:xfrm>
              <a:off x="4656" y="3600"/>
              <a:ext cx="28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454" name="Rectangle 16"/>
            <p:cNvSpPr/>
            <p:nvPr/>
          </p:nvSpPr>
          <p:spPr>
            <a:xfrm>
              <a:off x="4944" y="3600"/>
              <a:ext cx="288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tx1"/>
                  </a:solidFill>
                  <a:ea typeface="宋体" panose="0201060003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455" name="Rectangle 17"/>
            <p:cNvSpPr/>
            <p:nvPr/>
          </p:nvSpPr>
          <p:spPr>
            <a:xfrm>
              <a:off x="2928" y="3600"/>
              <a:ext cx="2304" cy="240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b="1">
                  <a:solidFill>
                    <a:srgbClr val="210B73"/>
                  </a:solidFill>
                  <a:latin typeface="+mn-lt"/>
                  <a:ea typeface="+mn-ea"/>
                  <a:cs typeface="黑体" panose="02010609060101010101" pitchFamily="49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400" b="1">
                  <a:solidFill>
                    <a:schemeClr val="tx2"/>
                  </a:solidFill>
                  <a:latin typeface="+mn-lt"/>
                  <a:ea typeface="+mj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2"/>
                  </a:solidFill>
                  <a:latin typeface="+mn-lt"/>
                  <a:ea typeface="楷体_GB2312" pitchFamily="49" charset="-122"/>
                  <a:cs typeface="楷体_GB2312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kumimoji="1" sz="2000">
                  <a:solidFill>
                    <a:schemeClr val="tx2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1698" name="Rectangle 18"/>
          <p:cNvSpPr/>
          <p:nvPr/>
        </p:nvSpPr>
        <p:spPr>
          <a:xfrm>
            <a:off x="46482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699" name="Rectangle 19"/>
          <p:cNvSpPr/>
          <p:nvPr/>
        </p:nvSpPr>
        <p:spPr>
          <a:xfrm>
            <a:off x="51054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00" name="Rectangle 20"/>
          <p:cNvSpPr/>
          <p:nvPr/>
        </p:nvSpPr>
        <p:spPr>
          <a:xfrm>
            <a:off x="5105400" y="2514600"/>
            <a:ext cx="457200" cy="152400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01" name="Rectangle 21"/>
          <p:cNvSpPr/>
          <p:nvPr/>
        </p:nvSpPr>
        <p:spPr>
          <a:xfrm>
            <a:off x="55626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02" name="Rectangle 22"/>
          <p:cNvSpPr/>
          <p:nvPr/>
        </p:nvSpPr>
        <p:spPr>
          <a:xfrm>
            <a:off x="60198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03" name="Rectangle 23"/>
          <p:cNvSpPr/>
          <p:nvPr/>
        </p:nvSpPr>
        <p:spPr>
          <a:xfrm>
            <a:off x="5562600" y="2514600"/>
            <a:ext cx="914400" cy="152400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04" name="Rectangle 24"/>
          <p:cNvSpPr/>
          <p:nvPr/>
        </p:nvSpPr>
        <p:spPr>
          <a:xfrm>
            <a:off x="4648200" y="2133600"/>
            <a:ext cx="457200" cy="3810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</a:rPr>
              <a:t>1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1705" name="Rectangle 25"/>
          <p:cNvSpPr/>
          <p:nvPr/>
        </p:nvSpPr>
        <p:spPr>
          <a:xfrm>
            <a:off x="64770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06" name="Rectangle 26"/>
          <p:cNvSpPr/>
          <p:nvPr/>
        </p:nvSpPr>
        <p:spPr>
          <a:xfrm>
            <a:off x="5105400" y="2133600"/>
            <a:ext cx="1828800" cy="3810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     </a:t>
            </a: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</a:rPr>
              <a:t>2     4     </a:t>
            </a: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1800" dirty="0">
                <a:solidFill>
                  <a:schemeClr val="bg1"/>
                </a:solidFill>
                <a:ea typeface="宋体" panose="02010600030101010101" pitchFamily="2" charset="-122"/>
              </a:rPr>
              <a:t>6</a:t>
            </a:r>
            <a:endParaRPr lang="en-US" altLang="zh-CN" sz="18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71707" name="Rectangle 27"/>
          <p:cNvSpPr/>
          <p:nvPr/>
        </p:nvSpPr>
        <p:spPr>
          <a:xfrm>
            <a:off x="69342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08" name="Rectangle 28"/>
          <p:cNvSpPr/>
          <p:nvPr/>
        </p:nvSpPr>
        <p:spPr>
          <a:xfrm>
            <a:off x="73914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09" name="Rectangle 29"/>
          <p:cNvSpPr/>
          <p:nvPr/>
        </p:nvSpPr>
        <p:spPr>
          <a:xfrm>
            <a:off x="5105400" y="2514600"/>
            <a:ext cx="1371600" cy="1524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10" name="Rectangle 30"/>
          <p:cNvSpPr/>
          <p:nvPr/>
        </p:nvSpPr>
        <p:spPr>
          <a:xfrm>
            <a:off x="6934200" y="2514600"/>
            <a:ext cx="914400" cy="152400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11" name="Rectangle 31"/>
          <p:cNvSpPr/>
          <p:nvPr/>
        </p:nvSpPr>
        <p:spPr>
          <a:xfrm>
            <a:off x="78486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12" name="AutoShape 32"/>
          <p:cNvSpPr/>
          <p:nvPr/>
        </p:nvSpPr>
        <p:spPr>
          <a:xfrm>
            <a:off x="3048000" y="4343400"/>
            <a:ext cx="5638800" cy="1981200"/>
          </a:xfrm>
          <a:prstGeom prst="wedgeEllipseCallout">
            <a:avLst>
              <a:gd name="adj1" fmla="val 12667"/>
              <a:gd name="adj2" fmla="val -143991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At any point in time, the algorithm can correctly give an answer to the </a:t>
            </a: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subsequence</a:t>
            </a:r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</a:rPr>
              <a:t> problem for the data it has already read.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7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animBg="1"/>
      <p:bldP spid="71684" grpId="0"/>
      <p:bldP spid="71685" grpId="0" animBg="1"/>
      <p:bldP spid="71686" grpId="0"/>
      <p:bldP spid="71687" grpId="0"/>
      <p:bldP spid="71698" grpId="0" animBg="1"/>
      <p:bldP spid="71699" grpId="0" animBg="1"/>
      <p:bldP spid="71700" grpId="0" animBg="1"/>
      <p:bldP spid="71701" grpId="0" animBg="1"/>
      <p:bldP spid="71702" grpId="0" animBg="1"/>
      <p:bldP spid="71703" grpId="0" animBg="1"/>
      <p:bldP spid="71704" grpId="0" animBg="1"/>
      <p:bldP spid="71705" grpId="0" animBg="1"/>
      <p:bldP spid="71706" grpId="0" animBg="1"/>
      <p:bldP spid="71707" grpId="0" animBg="1"/>
      <p:bldP spid="71708" grpId="0" animBg="1"/>
      <p:bldP spid="71709" grpId="0" animBg="1"/>
      <p:bldP spid="71710" grpId="0" animBg="1"/>
      <p:bldP spid="71711" grpId="0" animBg="1"/>
      <p:bldP spid="717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日期占位符 3"/>
          <p:cNvSpPr txBox="1">
            <a:spLocks noGrp="1"/>
          </p:cNvSpPr>
          <p:nvPr>
            <p:ph type="dt" sz="half" idx="2"/>
          </p:nvPr>
        </p:nvSpPr>
        <p:spPr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zh-CN" altLang="en-US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05475" name="Rectangle 2"/>
          <p:cNvSpPr>
            <a:spLocks noGrp="1"/>
          </p:cNvSpPr>
          <p:nvPr>
            <p:ph type="title"/>
          </p:nvPr>
        </p:nvSpPr>
        <p:spPr>
          <a:xfrm>
            <a:off x="457200" y="1447800"/>
            <a:ext cx="3798888" cy="990600"/>
          </a:xfrm>
          <a:solidFill>
            <a:srgbClr val="FFFF00">
              <a:alpha val="100000"/>
            </a:srgbClr>
          </a:solidFill>
          <a:ln>
            <a:solidFill>
              <a:schemeClr val="tx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ctr" anchorCtr="0"/>
          <a:p>
            <a:r>
              <a:rPr lang="en-US" altLang="zh-CN" sz="2400" dirty="0">
                <a:solidFill>
                  <a:srgbClr val="000099"/>
                </a:solidFill>
                <a:ea typeface="宋体" panose="02010600030101010101" pitchFamily="2" charset="-122"/>
              </a:rPr>
              <a:t>Running Times </a:t>
            </a:r>
            <a:br>
              <a:rPr lang="en-US" altLang="zh-CN" sz="2400" dirty="0">
                <a:solidFill>
                  <a:srgbClr val="000099"/>
                </a:solidFill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99"/>
                </a:solidFill>
                <a:ea typeface="宋体" panose="02010600030101010101" pitchFamily="2" charset="-122"/>
              </a:rPr>
              <a:t>(in second)</a:t>
            </a:r>
            <a:endParaRPr lang="en-US" altLang="zh-CN" sz="2400" dirty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05476" name="Object 2"/>
          <p:cNvGraphicFramePr>
            <a:graphicFrameLocks noChangeAspect="1"/>
          </p:cNvGraphicFramePr>
          <p:nvPr>
            <p:ph type="tbl" idx="1"/>
          </p:nvPr>
        </p:nvGraphicFramePr>
        <p:xfrm>
          <a:off x="682625" y="2638425"/>
          <a:ext cx="8070850" cy="399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36366450" imgH="17954625" progId="Word.Document.8">
                  <p:embed/>
                </p:oleObj>
              </mc:Choice>
              <mc:Fallback>
                <p:oleObj name="" r:id="rId1" imgW="36366450" imgH="17954625" progId="Word.Document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682625" y="2638425"/>
                        <a:ext cx="8070850" cy="39909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457200" y="595313"/>
            <a:ext cx="685800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Max Subsequence Sum Problem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日期占位符 3"/>
          <p:cNvSpPr txBox="1">
            <a:spLocks noGrp="1"/>
          </p:cNvSpPr>
          <p:nvPr>
            <p:ph type="dt" sz="half" idx="2"/>
          </p:nvPr>
        </p:nvSpPr>
        <p:spPr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zh-CN" altLang="en-US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07523" name="页脚占位符 4"/>
          <p:cNvSpPr txBox="1">
            <a:spLocks noGrp="1"/>
          </p:cNvSpPr>
          <p:nvPr>
            <p:ph type="ftr" sz="quarter" idx="3"/>
          </p:nvPr>
        </p:nvSpPr>
        <p:spPr>
          <a:ln/>
        </p:spPr>
        <p:txBody>
          <a:bodyPr anchor="b" anchorCtr="0"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  <a:t>BUPTSSE</a:t>
            </a:r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07524" name="Rectangle 2"/>
          <p:cNvSpPr>
            <a:spLocks noGrp="1"/>
          </p:cNvSpPr>
          <p:nvPr>
            <p:ph type="title"/>
          </p:nvPr>
        </p:nvSpPr>
        <p:spPr>
          <a:xfrm>
            <a:off x="533400" y="1371600"/>
            <a:ext cx="3025775" cy="990600"/>
          </a:xfrm>
          <a:solidFill>
            <a:srgbClr val="FFFF00">
              <a:alpha val="100000"/>
            </a:srgbClr>
          </a:solidFill>
          <a:ln>
            <a:solidFill>
              <a:schemeClr val="tx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ctr" anchorCtr="0"/>
          <a:p>
            <a:r>
              <a:rPr lang="en-US" altLang="zh-CN" sz="2400" dirty="0">
                <a:solidFill>
                  <a:srgbClr val="000099"/>
                </a:solidFill>
                <a:ea typeface="宋体" panose="02010600030101010101" pitchFamily="2" charset="-122"/>
              </a:rPr>
              <a:t>Running Times </a:t>
            </a:r>
            <a:br>
              <a:rPr lang="en-US" altLang="zh-CN" sz="2400" dirty="0">
                <a:solidFill>
                  <a:srgbClr val="000099"/>
                </a:solidFill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99"/>
                </a:solidFill>
                <a:ea typeface="宋体" panose="02010600030101010101" pitchFamily="2" charset="-122"/>
              </a:rPr>
              <a:t>(in millisecond)</a:t>
            </a:r>
            <a:endParaRPr lang="en-US" altLang="zh-CN" sz="2400" dirty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pic>
        <p:nvPicPr>
          <p:cNvPr id="107525" name="Picture 3" descr="figure2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975" y="2438400"/>
            <a:ext cx="7389813" cy="4262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457200" y="595313"/>
            <a:ext cx="6858000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Max Subsequence Sum Problem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tr-TR" altLang="zh-CN" dirty="0"/>
              <a:t>ROAD MAP</a:t>
            </a:r>
            <a:endParaRPr lang="tr-TR" altLang="zh-CN" dirty="0"/>
          </a:p>
        </p:txBody>
      </p:sp>
      <p:sp>
        <p:nvSpPr>
          <p:cNvPr id="10957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tr-TR" altLang="zh-CN" dirty="0">
                <a:solidFill>
                  <a:srgbClr val="B2B2B2"/>
                </a:solidFill>
              </a:rPr>
              <a:t>What to Analyze ?</a:t>
            </a:r>
            <a:endParaRPr lang="tr-TR" altLang="zh-CN" dirty="0">
              <a:solidFill>
                <a:srgbClr val="B2B2B2"/>
              </a:solidFill>
            </a:endParaRPr>
          </a:p>
          <a:p>
            <a:r>
              <a:rPr lang="tr-TR" altLang="zh-CN" dirty="0">
                <a:solidFill>
                  <a:srgbClr val="B2B2B2"/>
                </a:solidFill>
              </a:rPr>
              <a:t>Running Time Analysis</a:t>
            </a:r>
            <a:endParaRPr lang="tr-TR" altLang="zh-CN" dirty="0">
              <a:solidFill>
                <a:srgbClr val="B2B2B2"/>
              </a:solidFill>
            </a:endParaRPr>
          </a:p>
          <a:p>
            <a:r>
              <a:rPr lang="tr-TR" altLang="zh-CN" dirty="0">
                <a:solidFill>
                  <a:srgbClr val="B2B2B2"/>
                </a:solidFill>
              </a:rPr>
              <a:t>General Rules</a:t>
            </a:r>
            <a:endParaRPr lang="tr-TR" altLang="zh-CN" dirty="0">
              <a:solidFill>
                <a:srgbClr val="B2B2B2"/>
              </a:solidFill>
            </a:endParaRPr>
          </a:p>
          <a:p>
            <a:r>
              <a:rPr lang="tr-TR" altLang="zh-CN" dirty="0">
                <a:solidFill>
                  <a:srgbClr val="B2B2B2"/>
                </a:solidFill>
              </a:rPr>
              <a:t>Recursive Calls</a:t>
            </a:r>
            <a:endParaRPr lang="tr-TR" altLang="zh-CN" dirty="0">
              <a:solidFill>
                <a:srgbClr val="B2B2B2"/>
              </a:solidFill>
            </a:endParaRPr>
          </a:p>
          <a:p>
            <a:r>
              <a:rPr lang="tr-TR" altLang="zh-CN" dirty="0">
                <a:solidFill>
                  <a:srgbClr val="B2B2B2"/>
                </a:solidFill>
              </a:rPr>
              <a:t>Maximum Subsequence Sum Problem</a:t>
            </a:r>
            <a:endParaRPr lang="tr-TR" altLang="zh-CN" dirty="0">
              <a:solidFill>
                <a:srgbClr val="B2B2B2"/>
              </a:solidFill>
            </a:endParaRPr>
          </a:p>
          <a:p>
            <a:r>
              <a:rPr lang="tr-TR" altLang="zh-CN" dirty="0">
                <a:solidFill>
                  <a:srgbClr val="FF0000"/>
                </a:solidFill>
              </a:rPr>
              <a:t>Checking your analysis experimentally</a:t>
            </a:r>
            <a:endParaRPr lang="tr-TR" altLang="zh-CN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tr-TR" altLang="zh-CN" dirty="0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p>
            <a:pPr marL="0" indent="0" algn="ctr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1619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457200" y="6245225"/>
            <a:ext cx="2133600" cy="476250"/>
          </a:xfrm>
          <a:ln/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黑体" panose="02010609060101010101" pitchFamily="49" charset="-122"/>
              </a:rPr>
            </a:fld>
            <a:endParaRPr lang="en-US" altLang="zh-CN" sz="1200" b="0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11620" name="Rectangle 2"/>
          <p:cNvSpPr>
            <a:spLocks noGrp="1"/>
          </p:cNvSpPr>
          <p:nvPr>
            <p:ph type="title"/>
          </p:nvPr>
        </p:nvSpPr>
        <p:spPr>
          <a:xfrm>
            <a:off x="571500" y="214313"/>
            <a:ext cx="7953375" cy="1462087"/>
          </a:xfrm>
          <a:ln/>
        </p:spPr>
        <p:txBody>
          <a:bodyPr vert="horz" wrap="square" lIns="91440" tIns="45720" rIns="91440" bIns="45720" anchor="ctr" anchorCtr="0"/>
          <a:p>
            <a:r>
              <a:rPr lang="tr-TR" altLang="zh-CN" sz="3200" dirty="0"/>
              <a:t>Checking Your Analysis</a:t>
            </a:r>
            <a:endParaRPr lang="tr-TR" altLang="zh-CN" sz="3200" dirty="0"/>
          </a:p>
        </p:txBody>
      </p:sp>
      <p:sp>
        <p:nvSpPr>
          <p:cNvPr id="111621" name="Rectangle 3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535488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</a:pPr>
            <a:r>
              <a:rPr lang="tr-TR" altLang="zh-CN" dirty="0"/>
              <a:t>Implement your algorithm, measure the running time of your implementation</a:t>
            </a:r>
            <a:endParaRPr lang="tr-TR" altLang="zh-CN" dirty="0"/>
          </a:p>
          <a:p>
            <a:pPr lvl="1">
              <a:lnSpc>
                <a:spcPct val="80000"/>
              </a:lnSpc>
            </a:pPr>
            <a:r>
              <a:rPr lang="tr-TR" altLang="zh-CN" sz="2000" dirty="0"/>
              <a:t>check with theoretical results</a:t>
            </a:r>
            <a:endParaRPr lang="tr-TR" altLang="zh-CN" sz="2000" dirty="0"/>
          </a:p>
          <a:p>
            <a:pPr lvl="1">
              <a:lnSpc>
                <a:spcPct val="80000"/>
              </a:lnSpc>
              <a:buFontTx/>
              <a:buNone/>
            </a:pPr>
            <a:endParaRPr lang="tr-TR" altLang="zh-CN" sz="2000" dirty="0"/>
          </a:p>
          <a:p>
            <a:pPr>
              <a:lnSpc>
                <a:spcPct val="8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【method 1】</a:t>
            </a:r>
            <a:r>
              <a:rPr lang="tr-TR" altLang="zh-CN" dirty="0">
                <a:solidFill>
                  <a:srgbClr val="FF0000"/>
                </a:solidFill>
              </a:rPr>
              <a:t> 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     </a:t>
            </a:r>
            <a:r>
              <a:rPr lang="tr-TR" altLang="zh-CN" dirty="0"/>
              <a:t>When N doubles (2x)</a:t>
            </a:r>
            <a:r>
              <a:rPr lang="en-US" altLang="zh-CN" dirty="0"/>
              <a:t>, check </a:t>
            </a:r>
            <a:r>
              <a:rPr lang="en-US" altLang="zh-CN" i="1" dirty="0"/>
              <a:t>T</a:t>
            </a:r>
            <a:r>
              <a:rPr lang="en-US" altLang="zh-CN" dirty="0"/>
              <a:t>(2</a:t>
            </a:r>
            <a:r>
              <a:rPr lang="en-US" altLang="zh-CN" i="1" dirty="0"/>
              <a:t>N</a:t>
            </a:r>
            <a:r>
              <a:rPr lang="en-US" altLang="zh-CN" dirty="0"/>
              <a:t>)/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N)</a:t>
            </a:r>
            <a:endParaRPr lang="tr-TR" altLang="zh-CN" dirty="0"/>
          </a:p>
          <a:p>
            <a:pPr lvl="1">
              <a:lnSpc>
                <a:spcPct val="80000"/>
              </a:lnSpc>
            </a:pPr>
            <a:r>
              <a:rPr lang="tr-TR" altLang="zh-CN" sz="2000" dirty="0"/>
              <a:t>linear       =&gt; </a:t>
            </a:r>
            <a:r>
              <a:rPr lang="en-US" altLang="zh-CN" sz="2000" i="1" dirty="0"/>
              <a:t>T</a:t>
            </a:r>
            <a:r>
              <a:rPr lang="en-US" altLang="zh-CN" sz="2000" dirty="0"/>
              <a:t>(2</a:t>
            </a:r>
            <a:r>
              <a:rPr lang="en-US" altLang="zh-CN" sz="2000" i="1" dirty="0"/>
              <a:t>N</a:t>
            </a:r>
            <a:r>
              <a:rPr lang="en-US" altLang="zh-CN" sz="2000" dirty="0"/>
              <a:t>)/</a:t>
            </a:r>
            <a:r>
              <a:rPr lang="en-US" altLang="zh-CN" sz="2000" i="1" dirty="0"/>
              <a:t>T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 </a:t>
            </a:r>
            <a:r>
              <a:rPr lang="en-US" altLang="zh-CN" sz="2000" dirty="0">
                <a:sym typeface="Symbol" panose="05050102010706020507" pitchFamily="18" charset="2"/>
              </a:rPr>
              <a:t> </a:t>
            </a:r>
            <a:r>
              <a:rPr lang="tr-TR" altLang="zh-CN" sz="2000" dirty="0"/>
              <a:t>2</a:t>
            </a:r>
            <a:endParaRPr lang="tr-TR" altLang="zh-CN" sz="2000" dirty="0"/>
          </a:p>
          <a:p>
            <a:pPr lvl="1">
              <a:lnSpc>
                <a:spcPct val="80000"/>
              </a:lnSpc>
            </a:pPr>
            <a:r>
              <a:rPr lang="tr-TR" altLang="zh-CN" sz="2000" dirty="0"/>
              <a:t>quadratic =&gt; </a:t>
            </a:r>
            <a:r>
              <a:rPr lang="en-US" altLang="zh-CN" sz="2000" i="1" dirty="0"/>
              <a:t>T</a:t>
            </a:r>
            <a:r>
              <a:rPr lang="en-US" altLang="zh-CN" sz="2000" dirty="0"/>
              <a:t>(2</a:t>
            </a:r>
            <a:r>
              <a:rPr lang="en-US" altLang="zh-CN" sz="2000" i="1" dirty="0"/>
              <a:t>N</a:t>
            </a:r>
            <a:r>
              <a:rPr lang="en-US" altLang="zh-CN" sz="2000" dirty="0"/>
              <a:t>)/</a:t>
            </a:r>
            <a:r>
              <a:rPr lang="en-US" altLang="zh-CN" sz="2000" i="1" dirty="0"/>
              <a:t>T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 </a:t>
            </a:r>
            <a:r>
              <a:rPr lang="en-US" altLang="zh-CN" sz="2000" dirty="0">
                <a:sym typeface="Symbol" panose="05050102010706020507" pitchFamily="18" charset="2"/>
              </a:rPr>
              <a:t> </a:t>
            </a:r>
            <a:r>
              <a:rPr lang="tr-TR" altLang="zh-CN" sz="2000" dirty="0"/>
              <a:t>4</a:t>
            </a:r>
            <a:endParaRPr lang="tr-TR" altLang="zh-CN" sz="2000" dirty="0"/>
          </a:p>
          <a:p>
            <a:pPr lvl="1">
              <a:lnSpc>
                <a:spcPct val="80000"/>
              </a:lnSpc>
            </a:pPr>
            <a:r>
              <a:rPr lang="tr-TR" altLang="zh-CN" sz="2000" dirty="0"/>
              <a:t>cubic       =&gt; </a:t>
            </a:r>
            <a:r>
              <a:rPr lang="en-US" altLang="zh-CN" sz="2000" dirty="0"/>
              <a:t> </a:t>
            </a:r>
            <a:r>
              <a:rPr lang="en-US" altLang="zh-CN" sz="2000" i="1" dirty="0"/>
              <a:t>T</a:t>
            </a:r>
            <a:r>
              <a:rPr lang="en-US" altLang="zh-CN" sz="2000" dirty="0"/>
              <a:t>(2</a:t>
            </a:r>
            <a:r>
              <a:rPr lang="en-US" altLang="zh-CN" sz="2000" i="1" dirty="0"/>
              <a:t>N</a:t>
            </a:r>
            <a:r>
              <a:rPr lang="en-US" altLang="zh-CN" sz="2000" dirty="0"/>
              <a:t>)/</a:t>
            </a:r>
            <a:r>
              <a:rPr lang="en-US" altLang="zh-CN" sz="2000" i="1" dirty="0"/>
              <a:t>T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 </a:t>
            </a:r>
            <a:r>
              <a:rPr lang="en-US" altLang="zh-CN" sz="2000" dirty="0">
                <a:sym typeface="Symbol" panose="05050102010706020507" pitchFamily="18" charset="2"/>
              </a:rPr>
              <a:t> 8</a:t>
            </a:r>
            <a:endParaRPr lang="tr-TR" altLang="zh-CN" sz="2000" dirty="0"/>
          </a:p>
          <a:p>
            <a:pPr lvl="1">
              <a:lnSpc>
                <a:spcPct val="80000"/>
              </a:lnSpc>
              <a:buFontTx/>
              <a:buNone/>
            </a:pPr>
            <a:endParaRPr lang="tr-TR" altLang="zh-CN" sz="20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tr-TR" altLang="zh-CN" sz="2000" dirty="0"/>
              <a:t>what about logarithm ? </a:t>
            </a:r>
            <a:endParaRPr lang="tr-TR" altLang="zh-CN" sz="20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tr-TR" altLang="zh-CN" sz="2000" dirty="0"/>
              <a:t>		O(N) 	O(N logN)</a:t>
            </a:r>
            <a:endParaRPr lang="tr-TR" altLang="zh-CN" sz="20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tr-TR" altLang="zh-CN" sz="2000" dirty="0"/>
              <a:t>		not easy to see the difference !</a:t>
            </a:r>
            <a:endParaRPr lang="tr-TR" altLang="zh-CN" sz="2000" dirty="0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Rectangle 2"/>
          <p:cNvSpPr>
            <a:spLocks noGrp="1"/>
          </p:cNvSpPr>
          <p:nvPr>
            <p:ph type="title"/>
          </p:nvPr>
        </p:nvSpPr>
        <p:spPr>
          <a:xfrm>
            <a:off x="214313" y="142875"/>
            <a:ext cx="8001000" cy="1462088"/>
          </a:xfrm>
          <a:ln/>
        </p:spPr>
        <p:txBody>
          <a:bodyPr vert="horz" wrap="square" lIns="91440" tIns="45720" rIns="91440" bIns="45720" anchor="ctr" anchorCtr="0"/>
          <a:p>
            <a:r>
              <a:rPr lang="tr-TR" altLang="zh-CN" sz="3200" dirty="0"/>
              <a:t>Checking Your Analysis</a:t>
            </a:r>
            <a:endParaRPr lang="tr-TR" altLang="zh-CN" sz="3200" dirty="0"/>
          </a:p>
        </p:txBody>
      </p:sp>
      <p:sp>
        <p:nvSpPr>
          <p:cNvPr id="113667" name="Rectangle 3"/>
          <p:cNvSpPr>
            <a:spLocks noGrp="1"/>
          </p:cNvSpPr>
          <p:nvPr>
            <p:ph type="body" sz="half" idx="1"/>
          </p:nvPr>
        </p:nvSpPr>
        <p:spPr>
          <a:xfrm>
            <a:off x="609600" y="1357313"/>
            <a:ext cx="7580313" cy="4535487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Clr>
                <a:schemeClr val="bg2"/>
              </a:buClr>
              <a:buSzPct val="75000"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【method 2】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Clr>
                <a:schemeClr val="bg2"/>
              </a:buClr>
              <a:buSzPct val="75000"/>
              <a:buFontTx/>
              <a:buNone/>
            </a:pPr>
            <a:r>
              <a:rPr lang="tr-TR" altLang="zh-CN" sz="2000" dirty="0"/>
              <a:t>T</a:t>
            </a:r>
            <a:r>
              <a:rPr lang="tr-TR" altLang="zh-CN" sz="2000" baseline="-25000" dirty="0"/>
              <a:t>t</a:t>
            </a:r>
            <a:r>
              <a:rPr lang="tr-TR" altLang="zh-CN" sz="2000" dirty="0"/>
              <a:t> (N)  = theoretical running time</a:t>
            </a:r>
            <a:endParaRPr lang="tr-TR" altLang="zh-CN" sz="2000" dirty="0"/>
          </a:p>
          <a:p>
            <a:pPr>
              <a:lnSpc>
                <a:spcPct val="80000"/>
              </a:lnSpc>
              <a:buClr>
                <a:schemeClr val="bg2"/>
              </a:buClr>
              <a:buSzPct val="75000"/>
              <a:buFontTx/>
              <a:buNone/>
            </a:pPr>
            <a:r>
              <a:rPr lang="tr-TR" altLang="zh-CN" sz="2000" dirty="0"/>
              <a:t>T</a:t>
            </a:r>
            <a:r>
              <a:rPr lang="tr-TR" altLang="zh-CN" sz="2000" baseline="-25000" dirty="0"/>
              <a:t>e</a:t>
            </a:r>
            <a:r>
              <a:rPr lang="tr-TR" altLang="zh-CN" sz="2000" dirty="0"/>
              <a:t> (N) = experimental running time</a:t>
            </a:r>
            <a:endParaRPr lang="tr-TR" altLang="zh-CN" sz="2000" dirty="0"/>
          </a:p>
          <a:p>
            <a:pPr>
              <a:lnSpc>
                <a:spcPct val="80000"/>
              </a:lnSpc>
              <a:buClr>
                <a:schemeClr val="bg2"/>
              </a:buClr>
              <a:buSzPct val="75000"/>
              <a:buFontTx/>
              <a:buNone/>
            </a:pPr>
            <a:endParaRPr lang="tr-TR" altLang="zh-CN" sz="2000" dirty="0"/>
          </a:p>
          <a:p>
            <a:pPr>
              <a:lnSpc>
                <a:spcPct val="80000"/>
              </a:lnSpc>
              <a:buClr>
                <a:schemeClr val="bg2"/>
              </a:buClr>
              <a:buSzPct val="75000"/>
              <a:buFontTx/>
              <a:buNone/>
            </a:pPr>
            <a:r>
              <a:rPr lang="tr-TR" altLang="zh-CN" sz="2000" dirty="0"/>
              <a:t>Let T</a:t>
            </a:r>
            <a:r>
              <a:rPr lang="tr-TR" altLang="zh-CN" sz="2000" baseline="-25000" dirty="0"/>
              <a:t>t</a:t>
            </a:r>
            <a:r>
              <a:rPr lang="tr-TR" altLang="zh-CN" sz="2000" dirty="0"/>
              <a:t>(N) = O(f(N))	 </a:t>
            </a:r>
            <a:endParaRPr lang="tr-TR" altLang="zh-CN" sz="2000" dirty="0"/>
          </a:p>
          <a:p>
            <a:pPr>
              <a:lnSpc>
                <a:spcPct val="80000"/>
              </a:lnSpc>
              <a:buClr>
                <a:schemeClr val="bg2"/>
              </a:buClr>
              <a:buSzPct val="75000"/>
              <a:buFontTx/>
              <a:buNone/>
            </a:pPr>
            <a:endParaRPr lang="tr-TR" altLang="zh-CN" sz="2000" dirty="0"/>
          </a:p>
          <a:p>
            <a:pPr>
              <a:lnSpc>
                <a:spcPct val="80000"/>
              </a:lnSpc>
              <a:buClr>
                <a:schemeClr val="bg2"/>
              </a:buClr>
              <a:buSzPct val="75000"/>
              <a:buFontTx/>
              <a:buNone/>
            </a:pPr>
            <a:r>
              <a:rPr lang="tr-TR" altLang="zh-CN" sz="2000" dirty="0"/>
              <a:t>	 compute</a:t>
            </a:r>
            <a:endParaRPr lang="tr-TR" altLang="zh-CN" dirty="0"/>
          </a:p>
          <a:p>
            <a:pPr lvl="1">
              <a:lnSpc>
                <a:spcPct val="80000"/>
              </a:lnSpc>
              <a:buClr>
                <a:schemeClr val="accent2"/>
              </a:buClr>
              <a:buSzPct val="80000"/>
              <a:buFontTx/>
              <a:buNone/>
            </a:pPr>
            <a:r>
              <a:rPr lang="tr-TR" altLang="zh-CN" sz="2000" dirty="0"/>
              <a:t>  </a:t>
            </a:r>
            <a:endParaRPr lang="tr-TR" altLang="zh-CN" sz="2000" dirty="0"/>
          </a:p>
          <a:p>
            <a:pPr lvl="1">
              <a:lnSpc>
                <a:spcPct val="8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</a:pPr>
            <a:r>
              <a:rPr lang="tr-TR" altLang="zh-CN" sz="2000" dirty="0"/>
              <a:t>if converges to a constant</a:t>
            </a:r>
            <a:endParaRPr lang="tr-TR" altLang="zh-CN" sz="2000" dirty="0"/>
          </a:p>
          <a:p>
            <a:pPr lvl="1">
              <a:lnSpc>
                <a:spcPct val="80000"/>
              </a:lnSpc>
              <a:buClr>
                <a:schemeClr val="accent2"/>
              </a:buClr>
              <a:buSzPct val="80000"/>
              <a:buFontTx/>
              <a:buNone/>
            </a:pPr>
            <a:r>
              <a:rPr lang="tr-TR" altLang="zh-CN" sz="2000" dirty="0"/>
              <a:t>		    f(N) is a tight bound</a:t>
            </a:r>
            <a:endParaRPr lang="tr-TR" altLang="zh-CN" sz="2000" dirty="0"/>
          </a:p>
          <a:p>
            <a:pPr lvl="1">
              <a:lnSpc>
                <a:spcPct val="8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tr-TR" altLang="zh-CN" sz="2000" dirty="0"/>
              <a:t>if converges to zero</a:t>
            </a:r>
            <a:endParaRPr lang="tr-TR" altLang="zh-CN" sz="2000" dirty="0"/>
          </a:p>
          <a:p>
            <a:pPr>
              <a:lnSpc>
                <a:spcPct val="80000"/>
              </a:lnSpc>
              <a:buClr>
                <a:schemeClr val="bg2"/>
              </a:buClr>
              <a:buSzPct val="75000"/>
              <a:buFontTx/>
              <a:buNone/>
            </a:pPr>
            <a:r>
              <a:rPr lang="tr-TR" altLang="zh-CN" sz="2000" dirty="0"/>
              <a:t>		   not tight bound (overestimate)</a:t>
            </a:r>
            <a:endParaRPr lang="tr-TR" altLang="zh-CN" sz="2000" dirty="0"/>
          </a:p>
          <a:p>
            <a:pPr lvl="1">
              <a:lnSpc>
                <a:spcPct val="8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tr-TR" altLang="zh-CN" sz="2000" dirty="0"/>
              <a:t>if diverges</a:t>
            </a:r>
            <a:endParaRPr lang="tr-TR" altLang="zh-CN" sz="2000" dirty="0"/>
          </a:p>
          <a:p>
            <a:pPr>
              <a:lnSpc>
                <a:spcPct val="80000"/>
              </a:lnSpc>
              <a:buClr>
                <a:schemeClr val="bg2"/>
              </a:buClr>
              <a:buSzPct val="75000"/>
              <a:buFontTx/>
              <a:buNone/>
            </a:pPr>
            <a:r>
              <a:rPr lang="tr-TR" altLang="zh-CN" sz="2000" dirty="0"/>
              <a:t>		   underestimate</a:t>
            </a:r>
            <a:endParaRPr lang="tr-TR" altLang="zh-CN" sz="2000" dirty="0"/>
          </a:p>
        </p:txBody>
      </p:sp>
      <p:graphicFrame>
        <p:nvGraphicFramePr>
          <p:cNvPr id="113668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3160713" y="2344738"/>
          <a:ext cx="2209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7773650" imgH="7458075" progId="Equation.3">
                  <p:embed/>
                </p:oleObj>
              </mc:Choice>
              <mc:Fallback>
                <p:oleObj name="" r:id="rId1" imgW="17773650" imgH="7458075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160713" y="2344738"/>
                        <a:ext cx="2209800" cy="927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5714" name="Object 2"/>
          <p:cNvGraphicFramePr>
            <a:graphicFrameLocks noChangeAspect="1"/>
          </p:cNvGraphicFramePr>
          <p:nvPr>
            <p:ph type="tbl" idx="1"/>
          </p:nvPr>
        </p:nvGraphicFramePr>
        <p:xfrm>
          <a:off x="1214438" y="1787525"/>
          <a:ext cx="7015162" cy="437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7759700" imgH="4839335" progId="Word.Document.8">
                  <p:embed/>
                </p:oleObj>
              </mc:Choice>
              <mc:Fallback>
                <p:oleObj name="" r:id="rId1" imgW="7759700" imgH="4839335" progId="Word.Document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214438" y="1787525"/>
                        <a:ext cx="7015162" cy="43735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5" name="Rectangle 4"/>
          <p:cNvSpPr/>
          <p:nvPr/>
        </p:nvSpPr>
        <p:spPr>
          <a:xfrm>
            <a:off x="609600" y="1295400"/>
            <a:ext cx="3621088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buClrTx/>
              <a:buSzTx/>
              <a:buFontTx/>
              <a:buChar char="•"/>
            </a:pPr>
            <a:r>
              <a:rPr lang="en-US" altLang="zh-CN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Compute T(N)/f(N) for a range of N</a:t>
            </a:r>
            <a:endParaRPr lang="en-US" altLang="zh-CN" sz="1800" b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6" name="TextBox 7"/>
          <p:cNvSpPr txBox="1"/>
          <p:nvPr/>
        </p:nvSpPr>
        <p:spPr>
          <a:xfrm>
            <a:off x="1143000" y="5857875"/>
            <a:ext cx="57372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ea typeface="宋体" panose="02010600030101010101" pitchFamily="2" charset="-122"/>
              </a:rPr>
              <a:t>Last column is likely to converge to a positive constant</a:t>
            </a:r>
            <a:endParaRPr lang="zh-CN" altLang="en-US" sz="1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5717" name="Rectangle 2"/>
          <p:cNvSpPr txBox="1"/>
          <p:nvPr/>
        </p:nvSpPr>
        <p:spPr>
          <a:xfrm>
            <a:off x="227013" y="307975"/>
            <a:ext cx="8001000" cy="14620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+mn-lt"/>
                <a:ea typeface="+mn-ea"/>
                <a:cs typeface="黑体" panose="02010609060101010101" pitchFamily="49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+mn-lt"/>
                <a:ea typeface="+mj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2"/>
                </a:solidFill>
                <a:latin typeface="+mn-lt"/>
                <a:ea typeface="楷体_GB2312" pitchFamily="49" charset="-122"/>
                <a:cs typeface="楷体_GB2312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tr-TR" altLang="zh-CN" sz="3200" dirty="0">
                <a:solidFill>
                  <a:schemeClr val="bg2"/>
                </a:solidFill>
                <a:ea typeface="华文新魏" panose="02010800040101010101" pitchFamily="2" charset="-122"/>
              </a:rPr>
              <a:t>Checking Your Analysis</a:t>
            </a:r>
            <a:endParaRPr lang="tr-TR" altLang="zh-CN" sz="3200" dirty="0">
              <a:solidFill>
                <a:schemeClr val="bg2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" name="textbox 573"/>
          <p:cNvSpPr/>
          <p:nvPr/>
        </p:nvSpPr>
        <p:spPr>
          <a:xfrm>
            <a:off x="1014413" y="1646238"/>
            <a:ext cx="7294563" cy="266858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9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类似于算法的时间复杂度，通常以算法的</a:t>
            </a:r>
            <a:r>
              <a:rPr kumimoji="0" sz="1900" b="0" i="0" u="none" strike="noStrike" kern="1200" cap="none" spc="9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空间复杂度</a:t>
            </a:r>
            <a:r>
              <a:rPr kumimoji="0" sz="2000" b="0" i="0" u="none" strike="noStrike" kern="1200" cap="none" spc="9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</a:t>
            </a:r>
            <a:r>
              <a:rPr kumimoji="0" sz="2000" b="0" i="0" u="none" strike="noStrike" kern="1200" cap="none" spc="7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6850" marR="0" lvl="0" indent="0" algn="l" defTabSz="914400" rtl="0" eaLnBrk="0" fontAlgn="base" latinLnBrk="0" hangingPunct="0">
              <a:lnSpc>
                <a:spcPts val="327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所需存储空间的量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度。定义算法空间复杂度为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41525" marR="0" lvl="0" indent="0" algn="l" defTabSz="914400" rtl="0" eaLnBrk="0" fontAlgn="base" latinLnBrk="0" hangingPunct="0">
              <a:lnSpc>
                <a:spcPts val="4160"/>
              </a:lnSpc>
              <a:spcBef>
                <a:spcPts val="183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30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kumimoji="0" sz="3000" b="0" i="0" u="none" strike="noStrike" kern="1200" cap="none" spc="7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kumimoji="0" sz="30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kumimoji="0" sz="3000" b="0" i="0" u="none" strike="noStrike" kern="1200" cap="none" spc="7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 </a:t>
            </a:r>
            <a:r>
              <a:rPr kumimoji="0" sz="3000" b="0" i="0" u="none" strike="noStrike" kern="1200" cap="none" spc="7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Symbol" panose="05050102010706020507"/>
                <a:ea typeface="Symbol" panose="05050102010706020507"/>
                <a:cs typeface="Symbol" panose="05050102010706020507"/>
              </a:rPr>
              <a:t>= </a:t>
            </a:r>
            <a:r>
              <a:rPr kumimoji="0" sz="30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</a:t>
            </a:r>
            <a:r>
              <a:rPr kumimoji="0" sz="3000" b="0" i="0" u="none" strike="noStrike" kern="1200" cap="none" spc="7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kumimoji="0" sz="30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</a:t>
            </a:r>
            <a:r>
              <a:rPr kumimoji="0" sz="3000" b="0" i="0" u="none" strike="noStrike" kern="1200" cap="none" spc="7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(</a:t>
            </a:r>
            <a:r>
              <a:rPr kumimoji="0" sz="3000" b="0" i="1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kumimoji="0" sz="30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kumimoji="0" lang="en-US" alt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1930" marR="0" lvl="0" indent="-189230" algn="l" defTabSz="914400" rtl="0" eaLnBrk="0" fontAlgn="base" latinLnBrk="0" hangingPunct="0">
              <a:lnSpc>
                <a:spcPct val="142000"/>
              </a:lnSpc>
              <a:spcBef>
                <a:spcPts val="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表示随着问题规模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的增大，算法运行所需辅助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储量的增长率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的增长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率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相同。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4" name="textbox 574"/>
          <p:cNvSpPr/>
          <p:nvPr/>
        </p:nvSpPr>
        <p:spPr>
          <a:xfrm>
            <a:off x="4105275" y="384175"/>
            <a:ext cx="1790700" cy="4254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8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空间复杂</a:t>
            </a:r>
            <a:r>
              <a:rPr kumimoji="0" sz="2700" b="0" i="0" u="none" strike="noStrike" kern="1200" cap="none" spc="7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度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5" name="textbox 575"/>
          <p:cNvSpPr/>
          <p:nvPr/>
        </p:nvSpPr>
        <p:spPr>
          <a:xfrm>
            <a:off x="8131175" y="6343650"/>
            <a:ext cx="247650" cy="234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800" b="1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76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7" name="textbox 577"/>
          <p:cNvSpPr/>
          <p:nvPr/>
        </p:nvSpPr>
        <p:spPr>
          <a:xfrm>
            <a:off x="1014413" y="1670050"/>
            <a:ext cx="7212013" cy="23590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8120" marR="0" lvl="0" indent="-185420" algn="l" defTabSz="914400" rtl="0" eaLnBrk="0" fontAlgn="base" latinLnBrk="0" hangingPunct="0">
              <a:lnSpc>
                <a:spcPct val="12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7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算法的存储量指的是算法执行过程中所需的</a:t>
            </a:r>
            <a:r>
              <a:rPr kumimoji="0" sz="1900" b="0" i="0" u="none" strike="noStrike" kern="1200" cap="none" spc="7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最大存储空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间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。算 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法执行期间所需要的存储量应该包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括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以下三部分：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92430" marR="0" lvl="0" indent="0" algn="l" defTabSz="914400" rtl="0" eaLnBrk="0" fontAlgn="base" latinLnBrk="0" hangingPunct="0">
              <a:lnSpc>
                <a:spcPts val="2865"/>
              </a:lnSpc>
              <a:spcBef>
                <a:spcPts val="142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300" b="0" i="0" u="none" strike="noStrike" kern="1200" cap="none" spc="3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000" b="1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(1)</a:t>
            </a:r>
            <a:r>
              <a:rPr kumimoji="0" sz="1900" b="0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输入数据所</a:t>
            </a:r>
            <a:r>
              <a:rPr kumimoji="0" sz="19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占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空间；</a:t>
            </a: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92430" marR="0" lvl="0" indent="0" algn="l" defTabSz="914400" rtl="0" eaLnBrk="0" fontAlgn="base" latinLnBrk="0" hangingPunct="0">
              <a:lnSpc>
                <a:spcPts val="2865"/>
              </a:lnSpc>
              <a:spcBef>
                <a:spcPts val="124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300" b="0" i="0" u="none" strike="noStrike" kern="1200" cap="none" spc="3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000" b="1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(2)</a:t>
            </a:r>
            <a:r>
              <a:rPr kumimoji="0" sz="1900" b="0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程序本身所</a:t>
            </a:r>
            <a:r>
              <a:rPr kumimoji="0" sz="19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占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空间；</a:t>
            </a: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92430" marR="0" lvl="0" indent="0" algn="l" defTabSz="914400" rtl="0" eaLnBrk="0" fontAlgn="base" latinLnBrk="0" hangingPunct="0">
              <a:lnSpc>
                <a:spcPts val="286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300" b="0" i="0" u="none" strike="noStrike" kern="1200" cap="none" spc="3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è </a:t>
            </a:r>
            <a:r>
              <a:rPr kumimoji="0" sz="2000" b="1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</a:rPr>
              <a:t>(3)</a:t>
            </a:r>
            <a:r>
              <a:rPr kumimoji="0" sz="1900" b="0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辅助变量所</a:t>
            </a:r>
            <a:r>
              <a:rPr kumimoji="0" sz="19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占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空间。</a:t>
            </a: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8" name="textbox 578"/>
          <p:cNvSpPr/>
          <p:nvPr/>
        </p:nvSpPr>
        <p:spPr>
          <a:xfrm>
            <a:off x="3384550" y="384175"/>
            <a:ext cx="3225800" cy="4254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10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算法的存储空间需</a:t>
            </a:r>
            <a:r>
              <a:rPr kumimoji="0" sz="2700" b="0" i="0" u="none" strike="noStrike" kern="1200" cap="none" spc="9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求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9" name="textbox 579"/>
          <p:cNvSpPr/>
          <p:nvPr/>
        </p:nvSpPr>
        <p:spPr>
          <a:xfrm>
            <a:off x="8131175" y="6346825"/>
            <a:ext cx="247650" cy="2317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800" b="1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77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1" name="textbox 581"/>
          <p:cNvSpPr/>
          <p:nvPr/>
        </p:nvSpPr>
        <p:spPr>
          <a:xfrm>
            <a:off x="1243013" y="1550988"/>
            <a:ext cx="7410450" cy="391953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16535" marR="0" lvl="0" indent="-203835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程序代码本身所占空间对不同算法通常不会有数量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级之差别，  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因此在比较算法时可以不加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考虑。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4470" marR="0" lvl="0" indent="-191770" algn="l" defTabSz="914400" rtl="0" eaLnBrk="0" fontAlgn="base" latinLnBrk="0" hangingPunct="0">
              <a:lnSpc>
                <a:spcPct val="126000"/>
              </a:lnSpc>
              <a:spcBef>
                <a:spcPts val="143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算法的输入数据量和问题规模有关，若输入数据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占空间只取 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决于问题本身，和算法无关，则在比较算法时也可以不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考虑， </a:t>
            </a:r>
            <a:r>
              <a:rPr kumimoji="0" sz="2000" b="0" i="0" u="none" strike="noStrike" kern="1200" cap="none" spc="9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由此</a:t>
            </a:r>
            <a:r>
              <a:rPr kumimoji="0" sz="1900" b="0" i="0" u="none" strike="noStrike" kern="1200" cap="none" spc="9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只需要分析除输入和程序之外的额外空间</a:t>
            </a:r>
            <a:r>
              <a:rPr kumimoji="0" sz="2000" b="0" i="0" u="none" strike="noStrike" kern="1200" cap="none" spc="7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00025" marR="0" lvl="0" indent="-187325" algn="l" defTabSz="914400" rtl="0" eaLnBrk="0" fontAlgn="base" latinLnBrk="0" hangingPunct="0">
              <a:lnSpc>
                <a:spcPct val="117000"/>
              </a:lnSpc>
              <a:spcBef>
                <a:spcPts val="156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若额外空间相对于输入数据量来说是常数，则称此算法为</a:t>
            </a:r>
            <a:r>
              <a:rPr kumimoji="0" sz="19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 </a:t>
            </a:r>
            <a:r>
              <a:rPr kumimoji="0" sz="1900" b="0" i="0" u="none" strike="noStrike" kern="1200" cap="none" spc="4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工作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17805" marR="0" lvl="0" indent="-205105" algn="l" defTabSz="914400" rtl="0" eaLnBrk="0" fontAlgn="base" latinLnBrk="0" hangingPunct="0">
              <a:lnSpc>
                <a:spcPct val="118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与算法时间复杂度的考虑类似，若算法所需存储</a:t>
            </a:r>
            <a:r>
              <a:rPr kumimoji="0" sz="20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依赖于特定 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的输入，则通常按</a:t>
            </a:r>
            <a:r>
              <a:rPr kumimoji="0" sz="19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最坏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情况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考虑。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2" name="textbox 582"/>
          <p:cNvSpPr/>
          <p:nvPr/>
        </p:nvSpPr>
        <p:spPr>
          <a:xfrm>
            <a:off x="3384550" y="384175"/>
            <a:ext cx="3225800" cy="4254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10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算法的存储空间需</a:t>
            </a:r>
            <a:r>
              <a:rPr kumimoji="0" sz="2700" b="0" i="0" u="none" strike="noStrike" kern="1200" cap="none" spc="9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求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3" name="textbox 583"/>
          <p:cNvSpPr/>
          <p:nvPr/>
        </p:nvSpPr>
        <p:spPr>
          <a:xfrm>
            <a:off x="8131175" y="6343650"/>
            <a:ext cx="247650" cy="234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800" b="1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78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" name="textbox 593"/>
          <p:cNvSpPr/>
          <p:nvPr/>
        </p:nvSpPr>
        <p:spPr>
          <a:xfrm>
            <a:off x="596900" y="1320800"/>
            <a:ext cx="8289925" cy="478790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ts val="211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7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本章是为以后各章讨论的内容作基本知识的准备，介绍</a:t>
            </a:r>
            <a:r>
              <a:rPr kumimoji="0" sz="16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数据结构</a:t>
            </a:r>
            <a:r>
              <a:rPr kumimoji="0" sz="17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kumimoji="0" sz="16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</a:t>
            </a:r>
            <a:r>
              <a:rPr kumimoji="0" sz="17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基本概念。</a:t>
            </a:r>
            <a:endParaRPr kumimoji="0" lang="en-US" altLang="en-US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8755" marR="0" lvl="0" indent="-186055" algn="l" defTabSz="914400" rtl="0" eaLnBrk="0" fontAlgn="base" latinLnBrk="0" hangingPunct="0">
              <a:lnSpc>
                <a:spcPct val="126000"/>
              </a:lnSpc>
              <a:spcBef>
                <a:spcPts val="117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600" b="0" i="0" u="none" strike="noStrike" kern="1200" cap="none" spc="6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kumimoji="0" sz="1700" b="0" i="0" u="none" strike="noStrike" kern="1200" cap="none" spc="6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是计算机操作对象的总称，它是</a:t>
            </a:r>
            <a:r>
              <a:rPr kumimoji="0" sz="1600" b="0" i="0" u="none" strike="noStrike" kern="1200" cap="none" spc="6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计算机处理的符号</a:t>
            </a:r>
            <a:r>
              <a:rPr kumimoji="0" sz="1700" b="0" i="0" u="none" strike="noStrike" kern="1200" cap="none" spc="6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的集合，集合中的个体为</a:t>
            </a:r>
            <a:r>
              <a:rPr kumimoji="0" sz="17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sz="17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kumimoji="0" sz="1600" b="0" i="0" u="none" strike="noStrike" kern="1200" cap="none" spc="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数据元素</a:t>
            </a:r>
            <a:r>
              <a:rPr kumimoji="0" sz="17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。数据元素可以是不可分割的原子，也可以由若干</a:t>
            </a:r>
            <a:r>
              <a:rPr kumimoji="0" sz="1600" b="0" i="0" u="none" strike="noStrike" kern="1200" cap="none" spc="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数据项</a:t>
            </a:r>
            <a:r>
              <a:rPr kumimoji="0" sz="17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合成</a:t>
            </a:r>
            <a:r>
              <a:rPr kumimoji="0" sz="17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因此在 </a:t>
            </a:r>
            <a:r>
              <a:rPr kumimoji="0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数据结构中讨论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的基本单位是数据元素，而最小单位是数据项。</a:t>
            </a:r>
            <a:endParaRPr kumimoji="0" lang="en-US" altLang="en-US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9390" marR="0" lvl="0" indent="-186690" algn="l" defTabSz="914400" rtl="0" eaLnBrk="0" fontAlgn="base" latinLnBrk="0" hangingPunct="0">
              <a:lnSpc>
                <a:spcPct val="130000"/>
              </a:lnSpc>
              <a:spcBef>
                <a:spcPts val="130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600" b="0" i="0" u="none" strike="noStrike" kern="1200" cap="none" spc="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数据结构</a:t>
            </a:r>
            <a:r>
              <a:rPr kumimoji="0" sz="17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是由若干特性相同的数据元素构成的集合，且在集合上存在</a:t>
            </a:r>
            <a:r>
              <a:rPr kumimoji="0" sz="17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种或多种关 </a:t>
            </a:r>
            <a:r>
              <a:rPr kumimoji="0" sz="17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系。由关系不同可将数据结构分为四类： </a:t>
            </a:r>
            <a:r>
              <a:rPr kumimoji="0" sz="1600" b="0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线性结构、树形结构、 图状结构和</a:t>
            </a:r>
            <a:r>
              <a:rPr kumimoji="0" sz="16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集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合结  </a:t>
            </a:r>
            <a:r>
              <a:rPr kumimoji="0" sz="1600" b="0" i="0" u="none" strike="noStrike" kern="1200" cap="none" spc="4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</a:t>
            </a:r>
            <a:r>
              <a:rPr kumimoji="0" sz="17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。数据的</a:t>
            </a:r>
            <a:r>
              <a:rPr kumimoji="0" sz="1600" b="0" i="0" u="none" strike="noStrike" kern="1200" cap="none" spc="4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存储结构</a:t>
            </a:r>
            <a:r>
              <a:rPr kumimoji="0" sz="17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是数据逻辑结构在计算机中的映象，由关系的两种映象方法</a:t>
            </a:r>
            <a:r>
              <a:rPr kumimoji="0" sz="17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sz="17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得到两类存储结构：一类是</a:t>
            </a:r>
            <a:r>
              <a:rPr kumimoji="0" sz="1600" b="0" i="0" u="none" strike="noStrike" kern="1200" cap="none" spc="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顺序存储结构</a:t>
            </a:r>
            <a:r>
              <a:rPr kumimoji="0" sz="17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；另一类是</a:t>
            </a:r>
            <a:r>
              <a:rPr kumimoji="0" sz="1600" b="0" i="0" u="none" strike="noStrike" kern="1200" cap="none" spc="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链式</a:t>
            </a:r>
            <a:r>
              <a:rPr kumimoji="0" sz="1600" b="0" i="0" u="none" strike="noStrike" kern="1200" cap="none" spc="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存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储结构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lang="en-US" altLang="en-US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7485" marR="0" lvl="0" indent="-184785" algn="l" defTabSz="914400" rtl="0" eaLnBrk="0" fontAlgn="base" latinLnBrk="0" hangingPunct="0">
              <a:lnSpc>
                <a:spcPct val="13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7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数据结构的</a:t>
            </a:r>
            <a:r>
              <a:rPr kumimoji="0" sz="1600" b="0" i="0" u="none" strike="noStrike" kern="1200" cap="none" spc="4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kumimoji="0" sz="17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是和数据结构本身密不可分的，两者作为一个整体可用抽象</a:t>
            </a:r>
            <a:r>
              <a:rPr kumimoji="0" sz="1700" b="0" i="0" u="none" strike="noStrike" kern="120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据类 </a:t>
            </a:r>
            <a:r>
              <a:rPr kumimoji="0" sz="17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型进行描述。</a:t>
            </a:r>
            <a:r>
              <a:rPr kumimoji="0" sz="1600" b="0" i="0" u="none" strike="noStrike" kern="1200" cap="none" spc="5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抽象数据类型</a:t>
            </a:r>
            <a:r>
              <a:rPr kumimoji="0" sz="1700" b="0" i="0" u="none" strike="noStrike" kern="1200" cap="none" spc="5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是一个数学模型以及定义在该模型上的一组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操作，因此 </a:t>
            </a:r>
            <a:r>
              <a:rPr kumimoji="0" sz="1700" b="0" i="0" u="none" strike="noStrike" kern="1200" cap="none" spc="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它和高级程序设计语言中的数据类型具有相同含义，而抽象数据类</a:t>
            </a:r>
            <a:r>
              <a:rPr kumimoji="0" sz="17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型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的范畴更广。  </a:t>
            </a:r>
            <a:r>
              <a:rPr kumimoji="0" sz="1700" b="0" i="0" u="none" strike="noStrike" kern="1200" cap="none" spc="8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抽象数据类型的三大要素为</a:t>
            </a:r>
            <a:r>
              <a:rPr kumimoji="0" sz="1600" b="0" i="0" u="none" strike="noStrike" kern="1200" cap="none" spc="8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数据对象、数据关系</a:t>
            </a:r>
            <a:r>
              <a:rPr kumimoji="0" sz="1700" b="0" i="0" u="none" strike="noStrike" kern="1200" cap="none" spc="8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kumimoji="0" sz="1600" b="0" i="0" u="none" strike="noStrike" kern="1200" cap="none" spc="8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基本操作</a:t>
            </a:r>
            <a:r>
              <a:rPr kumimoji="0" sz="1700" b="0" i="0" u="none" strike="noStrike" kern="1200" cap="none" spc="8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，同时</a:t>
            </a:r>
            <a:r>
              <a:rPr kumimoji="0" sz="1600" b="0" i="0" u="none" strike="noStrike" kern="1200" cap="none" spc="8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数据抽象</a:t>
            </a:r>
            <a:r>
              <a:rPr kumimoji="0" sz="1700" b="0" i="0" u="none" strike="noStrike" kern="1200" cap="none" spc="8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kumimoji="0" sz="1600" b="0" i="0" u="none" strike="noStrike" kern="1200" cap="none" spc="8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kumimoji="0" sz="1600" b="0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sz="1600" b="0" i="0" u="none" strike="noStrike" kern="1200" cap="none" spc="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封装</a:t>
            </a:r>
            <a:r>
              <a:rPr kumimoji="0" sz="1700" b="0" i="0" u="none" strike="noStrike" kern="120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是抽象数据类型的两个重要特性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lang="en-US" altLang="en-US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" name="textbox 594"/>
          <p:cNvSpPr/>
          <p:nvPr/>
        </p:nvSpPr>
        <p:spPr>
          <a:xfrm>
            <a:off x="4279900" y="384175"/>
            <a:ext cx="1436688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8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本章小</a:t>
            </a:r>
            <a:r>
              <a:rPr kumimoji="0" sz="2700" b="0" i="0" u="none" strike="noStrike" kern="1200" cap="none" spc="7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结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5" name="textbox 595"/>
          <p:cNvSpPr/>
          <p:nvPr/>
        </p:nvSpPr>
        <p:spPr>
          <a:xfrm>
            <a:off x="8132763" y="6343650"/>
            <a:ext cx="246063" cy="2349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800" b="1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7" name="textbox 597"/>
          <p:cNvSpPr/>
          <p:nvPr/>
        </p:nvSpPr>
        <p:spPr>
          <a:xfrm>
            <a:off x="998538" y="1339850"/>
            <a:ext cx="7312025" cy="4625975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6850" marR="0" lvl="0" indent="-184150" algn="l" defTabSz="914400" rtl="0" eaLnBrk="0" fontAlgn="base" latinLnBrk="0" hangingPunct="0">
              <a:lnSpc>
                <a:spcPct val="13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700" b="0" i="0" u="none" strike="noStrike" kern="1200" cap="none" spc="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是进行程序设计的另一不可缺少的要素。算法是对问题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求解的一种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描述，是为解决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一个或一类问题给出的一种确定规则的描述。一个完整 </a:t>
            </a:r>
            <a:r>
              <a:rPr kumimoji="0" sz="1800" b="0" i="0" u="none" strike="noStrike" kern="1200" cap="none" spc="3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的算法应该具有下列五个要素：</a:t>
            </a:r>
            <a:r>
              <a:rPr kumimoji="0" sz="1700" b="0" i="0" u="none" strike="noStrike" kern="1200" cap="none" spc="3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有穷性、 确定性、可行性、有输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入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 </a:t>
            </a:r>
            <a:r>
              <a:rPr kumimoji="0" sz="1700" b="0" i="0" u="none" strike="noStrike" kern="1200" cap="none" spc="1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。一个正确的算法应对苛刻且带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有刁难性的输入数据也能得出正确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的结果，并且对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不正确的输入也能作出正确的反映。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8120" marR="0" lvl="0" indent="-185420" algn="l" defTabSz="914400" rtl="0" eaLnBrk="0" fontAlgn="base" latinLnBrk="0" hangingPunct="0">
              <a:lnSpc>
                <a:spcPct val="127000"/>
              </a:lnSpc>
              <a:spcBef>
                <a:spcPts val="126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算法的</a:t>
            </a:r>
            <a:r>
              <a:rPr kumimoji="0" sz="17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时间复杂度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是比较不同算法效率的一种准则，算法时间复杂度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估算基于算法中基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本操作的重复执行次数，或处于最深层循环内的语句 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的频度。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98755" marR="0" lvl="0" indent="-186055" algn="l" defTabSz="914400" rtl="0" eaLnBrk="0" fontAlgn="base" latinLnBrk="0" hangingPunct="0">
              <a:lnSpc>
                <a:spcPct val="130000"/>
              </a:lnSpc>
              <a:spcBef>
                <a:spcPts val="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alpha val="100000"/>
                  </a:srgbClr>
                </a:solidFill>
                <a:effectLst/>
                <a:uLnTx/>
                <a:uFillTx/>
                <a:latin typeface="Wingdings" panose="05000000000000000000"/>
                <a:ea typeface="Wingdings" panose="05000000000000000000"/>
                <a:cs typeface="Wingdings" panose="05000000000000000000"/>
              </a:rPr>
              <a:t>l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</a:t>
            </a:r>
            <a:r>
              <a:rPr kumimoji="0" sz="1700" b="0" i="0" u="none" strike="noStrike" kern="1200" cap="none" spc="2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空间复杂度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可作为算法所需存储量的一种量度，它主要取决于算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法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的输入量和辅助变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量所占空间，若算法的输入仅取决于问题本身而和算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法无关， 则算法空间复杂度的估算只需考察算法中所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辅助变量所占空 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间，若算法的空间复杂度为常量级，则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称该算法为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33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原地工作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的算法。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8" name="textbox 598"/>
          <p:cNvSpPr/>
          <p:nvPr/>
        </p:nvSpPr>
        <p:spPr>
          <a:xfrm>
            <a:off x="3743325" y="384175"/>
            <a:ext cx="2466975" cy="4254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2700" b="0" i="0" u="none" strike="noStrike" kern="1200" cap="none" spc="240" normalizeH="0" baseline="0" noProof="0" dirty="0" err="1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本章小结</a:t>
            </a:r>
            <a:r>
              <a:rPr kumimoji="0" lang="zh-CN" altLang="en-US" sz="2700" b="0" i="0" u="none" strike="noStrike" kern="1200" cap="none" spc="24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</a:t>
            </a:r>
            <a:r>
              <a:rPr kumimoji="0" sz="2700" b="0" i="0" u="none" strike="noStrike" kern="1200" cap="none" spc="240" normalizeH="0" baseline="0" noProof="0" dirty="0">
                <a:ln>
                  <a:noFill/>
                </a:ln>
                <a:solidFill>
                  <a:srgbClr val="333399">
                    <a:alpha val="100000"/>
                  </a:srgb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续</a:t>
            </a:r>
            <a:endParaRPr kumimoji="0" lang="en-US" alt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9" name="textbox 599"/>
          <p:cNvSpPr/>
          <p:nvPr/>
        </p:nvSpPr>
        <p:spPr>
          <a:xfrm>
            <a:off x="8132763" y="6343650"/>
            <a:ext cx="246063" cy="234950"/>
          </a:xfrm>
          <a:prstGeom prst="rect">
            <a:avLst/>
          </a:prstGeom>
        </p:spPr>
        <p:txBody>
          <a:bodyPr lIns="0" tIns="0" rIns="0" bIns="0"/>
          <a:lstStyle/>
          <a:p>
            <a:pPr marL="0" marR="0" lvl="0" indent="0" algn="l" defTabSz="914400" rtl="0" eaLnBrk="0" fontAlgn="base" latinLnBrk="0" hangingPunct="0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2700" marR="0" lvl="0" indent="0" algn="l" defTabSz="914400" rtl="0" eaLnBrk="0" fontAlgn="base" latinLnBrk="0" hangingPunct="0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1800" b="1" i="0" u="none" strike="noStrike" kern="1200" cap="none" spc="-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13700</Words>
  <Application>WPS 演示</Application>
  <PresentationFormat>全屏显示(4:3)</PresentationFormat>
  <Paragraphs>934</Paragraphs>
  <Slides>63</Slides>
  <Notes>45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63</vt:i4>
      </vt:variant>
    </vt:vector>
  </HeadingPairs>
  <TitlesOfParts>
    <vt:vector size="96" baseType="lpstr">
      <vt:lpstr>Arial</vt:lpstr>
      <vt:lpstr>宋体</vt:lpstr>
      <vt:lpstr>Wingdings</vt:lpstr>
      <vt:lpstr>华文新魏</vt:lpstr>
      <vt:lpstr>黑体</vt:lpstr>
      <vt:lpstr>楷体_GB2312</vt:lpstr>
      <vt:lpstr>新宋体</vt:lpstr>
      <vt:lpstr>Arial Black</vt:lpstr>
      <vt:lpstr>Times New Roman</vt:lpstr>
      <vt:lpstr>Georgia</vt:lpstr>
      <vt:lpstr>Symbol</vt:lpstr>
      <vt:lpstr>Courier New</vt:lpstr>
      <vt:lpstr>Zapf Dingbats</vt:lpstr>
      <vt:lpstr>MS Hei</vt:lpstr>
      <vt:lpstr>楷体_GB2312</vt:lpstr>
      <vt:lpstr>Times New Roman</vt:lpstr>
      <vt:lpstr>Wingdings</vt:lpstr>
      <vt:lpstr>Arial</vt:lpstr>
      <vt:lpstr>微软雅黑</vt:lpstr>
      <vt:lpstr>Arial Unicode MS</vt:lpstr>
      <vt:lpstr>Wingdings</vt:lpstr>
      <vt:lpstr>Symbol</vt:lpstr>
      <vt:lpstr>Symbol</vt:lpstr>
      <vt:lpstr>Pixel</vt:lpstr>
      <vt:lpstr>Visio.Drawing.6</vt:lpstr>
      <vt:lpstr>Equation.3</vt:lpstr>
      <vt:lpstr>Equation.3</vt:lpstr>
      <vt:lpstr>Equation.3</vt:lpstr>
      <vt:lpstr>Word.Document.8</vt:lpstr>
      <vt:lpstr>Equation.3</vt:lpstr>
      <vt:lpstr>Word.Document.8</vt:lpstr>
      <vt:lpstr>Equation.3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Microsoft Office User</dc:creator>
  <cp:lastModifiedBy>欧蜜（2和11）</cp:lastModifiedBy>
  <cp:revision>45</cp:revision>
  <dcterms:created xsi:type="dcterms:W3CDTF">2016-09-22T15:26:51Z</dcterms:created>
  <dcterms:modified xsi:type="dcterms:W3CDTF">2024-12-18T11:20:06Z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D028396D50DE4D419E197261647991F1_12</vt:lpwstr>
  </property>
  <property fmtid="{D5CDD505-2E9C-101B-9397-08002B2CF9AE}" pid="3" name="KSOProductBuildVer">
    <vt:lpwstr>2052-12.1.0.19302</vt:lpwstr>
  </property>
</Properties>
</file>