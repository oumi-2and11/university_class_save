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22" r:id="rId3"/>
    <p:sldId id="323" r:id="rId4"/>
    <p:sldId id="324" r:id="rId5"/>
    <p:sldId id="325" r:id="rId6"/>
    <p:sldId id="718" r:id="rId7"/>
    <p:sldId id="719" r:id="rId9"/>
    <p:sldId id="720" r:id="rId10"/>
    <p:sldId id="721" r:id="rId11"/>
    <p:sldId id="723" r:id="rId12"/>
    <p:sldId id="722" r:id="rId13"/>
    <p:sldId id="724" r:id="rId14"/>
    <p:sldId id="264" r:id="rId15"/>
    <p:sldId id="265" r:id="rId16"/>
    <p:sldId id="314" r:id="rId17"/>
    <p:sldId id="274" r:id="rId18"/>
    <p:sldId id="725" r:id="rId19"/>
    <p:sldId id="273" r:id="rId20"/>
    <p:sldId id="315" r:id="rId21"/>
    <p:sldId id="318" r:id="rId22"/>
    <p:sldId id="726" r:id="rId23"/>
    <p:sldId id="271" r:id="rId24"/>
    <p:sldId id="727" r:id="rId25"/>
    <p:sldId id="266" r:id="rId26"/>
    <p:sldId id="321" r:id="rId27"/>
    <p:sldId id="267" r:id="rId28"/>
    <p:sldId id="268" r:id="rId29"/>
    <p:sldId id="283" r:id="rId30"/>
    <p:sldId id="284" r:id="rId31"/>
    <p:sldId id="285" r:id="rId32"/>
    <p:sldId id="286" r:id="rId33"/>
    <p:sldId id="1042" r:id="rId34"/>
    <p:sldId id="1043" r:id="rId35"/>
    <p:sldId id="326" r:id="rId36"/>
    <p:sldId id="327" r:id="rId37"/>
    <p:sldId id="328" r:id="rId38"/>
    <p:sldId id="329" r:id="rId39"/>
    <p:sldId id="332" r:id="rId40"/>
    <p:sldId id="333" r:id="rId4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8536"/>
  </p:normalViewPr>
  <p:slideViewPr>
    <p:cSldViewPr showGuides="1">
      <p:cViewPr varScale="1">
        <p:scale>
          <a:sx n="96" d="100"/>
          <a:sy n="96" d="100"/>
        </p:scale>
        <p:origin x="96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幻灯片图像占位符 2049"/>
          <p:cNvSpPr/>
          <p:nvPr>
            <p:ph type="sldImg"/>
          </p:nvPr>
        </p:nvSpPr>
        <p:spPr>
          <a:xfrm>
            <a:off x="1050925" y="754063"/>
            <a:ext cx="4572000" cy="3294062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1" name="文本占位符 2050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538163" y="4387850"/>
            <a:ext cx="5780088" cy="39528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页眉占位符 205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日期占位符 205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4613" y="868680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p>
            <a:pPr lvl="0" algn="r" eaLnBrk="1" hangingPunct="1">
              <a:buNone/>
            </a:pPr>
            <a:fld id="{9A0DB2DC-4C9A-4742-B13C-FB6460FD3503}" type="slidenum">
              <a:rPr lang="" altLang="en-US" sz="1200" dirty="0"/>
            </a:fld>
            <a:endParaRPr lang="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684213"/>
            <a:ext cx="4572000" cy="3429000"/>
          </a:xfrm>
          <a:ln/>
        </p:spPr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912813" y="4341813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找出平均余额最高的分支机构 </a:t>
            </a:r>
            <a:r>
              <a:rPr lang="en-US" altLang="zh-CN" dirty="0"/>
              <a:t>P87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Having</a:t>
            </a:r>
            <a:r>
              <a:rPr lang="zh-CN" altLang="en-US" dirty="0"/>
              <a:t>和</a:t>
            </a:r>
            <a:r>
              <a:rPr lang="en-US" altLang="zh-CN" dirty="0"/>
              <a:t>where</a:t>
            </a:r>
            <a:r>
              <a:rPr lang="zh-CN" altLang="en-US" dirty="0"/>
              <a:t>结合 </a:t>
            </a:r>
            <a:r>
              <a:rPr lang="en-US" altLang="zh-CN" dirty="0"/>
              <a:t>P84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找出在</a:t>
            </a:r>
            <a:r>
              <a:rPr lang="en-US" altLang="zh-CN" dirty="0"/>
              <a:t>Brooklyn</a:t>
            </a:r>
            <a:r>
              <a:rPr lang="zh-CN" altLang="en-US" dirty="0"/>
              <a:t>所有分行都有账户的客户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  <a:buFontTx/>
              <a:buChar char="•"/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  <a:ln/>
        </p:spPr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xfrm>
            <a:off x="538163" y="4387850"/>
            <a:ext cx="5780087" cy="3952875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In</a:t>
            </a:r>
            <a:r>
              <a:rPr lang="zh-CN" altLang="en-US" dirty="0"/>
              <a:t>和</a:t>
            </a:r>
            <a:r>
              <a:rPr lang="en-US" altLang="zh-CN" dirty="0"/>
              <a:t>exists</a:t>
            </a:r>
            <a:r>
              <a:rPr lang="zh-CN" altLang="en-US" dirty="0"/>
              <a:t>，哪个相关，哪个不相关？</a:t>
            </a:r>
            <a:endParaRPr lang="en-US" altLang="zh-CN" dirty="0"/>
          </a:p>
          <a:p>
            <a:pPr lvl="0" eaLnBrk="1" hangingPunct="1"/>
            <a:endParaRPr lang="zh-CN" altLang="en-US" dirty="0"/>
          </a:p>
          <a:p>
            <a:pPr lvl="0" eaLnBrk="1" hangingPunct="1"/>
            <a:r>
              <a:rPr lang="zh-CN" altLang="en-US" dirty="0"/>
              <a:t>相关查询的例子，大家看子查询中的</a:t>
            </a:r>
            <a:r>
              <a:rPr lang="en-US" altLang="zh-CN" dirty="0"/>
              <a:t>where</a:t>
            </a:r>
            <a:r>
              <a:rPr lang="zh-CN" altLang="en-US" dirty="0"/>
              <a:t>从句的条件是</a:t>
            </a:r>
            <a:r>
              <a:rPr lang="en-US" altLang="zh-CN" dirty="0"/>
              <a:t>depositor. customer-name= borrower. customer-name</a:t>
            </a:r>
            <a:r>
              <a:rPr lang="zh-CN" altLang="en-US" dirty="0"/>
              <a:t>，不仅涉及到子查询中的</a:t>
            </a:r>
            <a:r>
              <a:rPr lang="en-US" altLang="zh-CN" dirty="0"/>
              <a:t>depositor</a:t>
            </a:r>
            <a:r>
              <a:rPr lang="zh-CN" altLang="en-US" dirty="0"/>
              <a:t>表，还涉及到父查询中的</a:t>
            </a:r>
            <a:r>
              <a:rPr lang="en-US" altLang="zh-CN" dirty="0"/>
              <a:t>borrower</a:t>
            </a:r>
            <a:r>
              <a:rPr lang="zh-CN" altLang="en-US" dirty="0"/>
              <a:t>这张表，因为需要根据相关子查询的方法逐行进行比较首先取一个外层的</a:t>
            </a:r>
            <a:r>
              <a:rPr lang="en-US" altLang="zh-CN" dirty="0"/>
              <a:t>customer-name</a:t>
            </a:r>
            <a:r>
              <a:rPr lang="zh-CN" altLang="en-US" dirty="0"/>
              <a:t>，与内层的每一行进行比较，如果有结果，则返回真，然后取下一个客户名值，再逐个比较。 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xfrm>
            <a:off x="538163" y="4387850"/>
            <a:ext cx="5780087" cy="3952875"/>
          </a:xfrm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top 1 branch-name for sql server, or branch-name limit 1 for mysql</a:t>
            </a: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6800"/>
            <a:ext cx="2973387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9A0DB2DC-4C9A-4742-B13C-FB6460FD3503}" type="slidenum">
              <a:rPr lang="" altLang="zh-CN" sz="1200" dirty="0"/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xfrm>
            <a:off x="538163" y="4387850"/>
            <a:ext cx="5780087" cy="3952875"/>
          </a:xfrm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不相关子查询</a:t>
            </a:r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6800"/>
            <a:ext cx="2973387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9A0DB2DC-4C9A-4742-B13C-FB6460FD3503}" type="slidenum">
              <a:rPr lang="" altLang="zh-CN" sz="1200" dirty="0"/>
            </a:fld>
            <a:endParaRPr lang="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" altLang="zh-CN" dirty="0">
                <a:latin typeface="Arial" panose="020B0604020202020204" pitchFamily="34" charset="0"/>
              </a:rPr>
            </a:fld>
            <a:endParaRPr lang="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 typeface="Arial" panose="020B0604020202020204" pitchFamily="34" charset="0"/>
            </a:pPr>
            <a:r>
              <a:rPr lang="zh-CN" altLang="en-US" sz="4400" kern="1200" dirty="0">
                <a:latin typeface="+mj-lt"/>
                <a:ea typeface="+mj-ea"/>
                <a:cs typeface="+mj-cs"/>
              </a:rPr>
              <a:t>作业答案</a:t>
            </a:r>
            <a:endParaRPr lang="zh-CN" altLang="en-US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endParaRPr lang="zh-CN" altLang="en-US" sz="32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409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en-US" dirty="0"/>
          </a:p>
        </p:txBody>
      </p:sp>
      <p:sp>
        <p:nvSpPr>
          <p:cNvPr id="16387" name="文本占位符 4098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4800600" cy="506888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作业：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学校有若干系，每个系有若干班级，每个班级有若干本科生或研究生；每个系有若干教研室，每个教研室有若干教授、副教授和讲师，教授和副教授可以指导研究生。学生可以选修课程。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出现问题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很多同学列有“教授”、“副教授”“研究生”这几个实体。导致“教师”实体没有和“学生”实体联系。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把“教授”、“副教授”作为“教师”实体的属性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4100" name="对象 4099"/>
          <p:cNvGraphicFramePr>
            <a:graphicFrameLocks noChangeAspect="1"/>
          </p:cNvGraphicFramePr>
          <p:nvPr/>
        </p:nvGraphicFramePr>
        <p:xfrm>
          <a:off x="5311775" y="1143000"/>
          <a:ext cx="367982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006465" imgH="9144000" progId="Visio.Drawing.11">
                  <p:embed/>
                </p:oleObj>
              </mc:Choice>
              <mc:Fallback>
                <p:oleObj name="" r:id="rId1" imgW="6006465" imgH="91440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11775" y="1143000"/>
                        <a:ext cx="3679825" cy="525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7411" name="文本占位符 512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513" cy="452596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计算机产品数据库，写出关系代数表达式：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查询制造商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生产的所有类型产品的型号和价格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model, price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maker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(Product)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▷◁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model, price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maker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(Product)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▷◁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Laptop)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查询所有速度在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以上的产品（包括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和笔记本）的型号和价格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model, price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speed ≥ 2.0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(PC)) ∪π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model, price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zh-CN" altLang="en-US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speed ≥ 2.0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(Laptop))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查询所有只卖笔记本而不卖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的制造商。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type=laptop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(Product)) –π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(σ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 =PC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(Product))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381000" y="0"/>
            <a:ext cx="8029575" cy="10810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2" name="文本占位符 6146"/>
          <p:cNvSpPr>
            <a:spLocks noGrp="1" noChangeArrowheads="1"/>
          </p:cNvSpPr>
          <p:nvPr>
            <p:ph idx="1"/>
          </p:nvPr>
        </p:nvSpPr>
        <p:spPr>
          <a:xfrm>
            <a:off x="107950" y="1081088"/>
            <a:ext cx="9036050" cy="566102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计算机产品数据库，写出关系代数表达式（难点：重命名运算）：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查询所有具有相同CPU速度和内存容量的PC型号对，每对只列出一次，如：列出了(i, j)就不要列出(j, i)。（提示：型号可以比较大小）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π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PC1.model,PC2.model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(PC) ▷◁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PC1.speed=PC2.speed∧PC1.ram=PC2.ram∧PC1.model&gt;PC2.model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(PC))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查询最快速度的PC (提示：最快速度意味着不小于任何其它电脑的速度，可以从找出所有小于某一速度的角度解决此问题)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π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(PC)–π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PC1.model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b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(PC)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▷◁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PC1.speed&lt;PC2.speed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ρ</a:t>
            </a:r>
            <a:r>
              <a:rPr kumimoji="0" lang="zh-CN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PC2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(PC))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</a:rPr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body" idx="4294967295"/>
          </p:nvPr>
        </p:nvSpPr>
        <p:spPr>
          <a:xfrm>
            <a:off x="457200" y="3989388"/>
            <a:ext cx="8229600" cy="2895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找出在银行中同时有存款和贷款账户的客户</a:t>
            </a:r>
            <a:r>
              <a:rPr lang="zh-CN" altLang="en-US" sz="2800" b="1" dirty="0">
                <a:solidFill>
                  <a:srgbClr val="FF0000"/>
                </a:solidFill>
              </a:rPr>
              <a:t>（分别用带</a:t>
            </a:r>
            <a:r>
              <a:rPr lang="en-US" altLang="zh-CN" sz="2800" b="1" dirty="0">
                <a:solidFill>
                  <a:srgbClr val="FF0000"/>
                </a:solidFill>
              </a:rPr>
              <a:t>IN</a:t>
            </a:r>
            <a:r>
              <a:rPr lang="zh-CN" altLang="en-US" sz="2800" b="1" dirty="0">
                <a:solidFill>
                  <a:srgbClr val="FF0000"/>
                </a:solidFill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</a:rPr>
              <a:t>EXIST</a:t>
            </a:r>
            <a:r>
              <a:rPr lang="zh-CN" altLang="en-US" sz="2800" b="1" dirty="0">
                <a:solidFill>
                  <a:srgbClr val="FF0000"/>
                </a:solidFill>
              </a:rPr>
              <a:t>谓词的嵌套查询完成）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找出那些总资产</a:t>
            </a:r>
            <a:r>
              <a:rPr lang="en-US" altLang="zh-CN" sz="2800" b="1" dirty="0"/>
              <a:t>(assets)</a:t>
            </a:r>
            <a:r>
              <a:rPr lang="zh-CN" altLang="en-US" sz="2800" b="1" dirty="0"/>
              <a:t>至少比位于</a:t>
            </a:r>
            <a:r>
              <a:rPr lang="en-US" altLang="zh-CN" sz="2800" b="1" dirty="0"/>
              <a:t>Brooklyn </a:t>
            </a:r>
            <a:r>
              <a:rPr lang="zh-CN" altLang="en-US" sz="2800" b="1" dirty="0"/>
              <a:t>的某一家支行要多的支行名字</a:t>
            </a:r>
            <a:r>
              <a:rPr lang="zh-CN" altLang="en-US" sz="2800" b="1" dirty="0">
                <a:solidFill>
                  <a:srgbClr val="FF0000"/>
                </a:solidFill>
              </a:rPr>
              <a:t>（用</a:t>
            </a:r>
            <a:r>
              <a:rPr lang="en-US" altLang="zh-CN" sz="2800" b="1" dirty="0">
                <a:solidFill>
                  <a:srgbClr val="FF0000"/>
                </a:solidFill>
              </a:rPr>
              <a:t>ANY</a:t>
            </a:r>
            <a:r>
              <a:rPr lang="zh-CN" altLang="en-US" sz="2800" b="1" dirty="0">
                <a:solidFill>
                  <a:srgbClr val="FF0000"/>
                </a:solidFill>
              </a:rPr>
              <a:t>谓词完成）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找出平均存款余额</a:t>
            </a:r>
            <a:r>
              <a:rPr lang="en-US" altLang="zh-CN" sz="2800" b="1" dirty="0"/>
              <a:t>(balance)</a:t>
            </a:r>
            <a:r>
              <a:rPr lang="zh-CN" altLang="en-US" sz="2800" b="1" dirty="0"/>
              <a:t>最高的分行名字</a:t>
            </a:r>
            <a:endParaRPr lang="zh-CN" altLang="en-US" sz="2800" b="1" dirty="0"/>
          </a:p>
        </p:txBody>
      </p:sp>
      <p:sp>
        <p:nvSpPr>
          <p:cNvPr id="7172" name="Rectangle 3"/>
          <p:cNvSpPr/>
          <p:nvPr/>
        </p:nvSpPr>
        <p:spPr>
          <a:xfrm>
            <a:off x="457200" y="388938"/>
            <a:ext cx="8610600" cy="289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branch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branch-name</a:t>
            </a:r>
            <a:r>
              <a:rPr lang="en-US" altLang="zh-CN" sz="2800" i="1" dirty="0">
                <a:solidFill>
                  <a:srgbClr val="000000"/>
                </a:solidFill>
              </a:rPr>
              <a:t>, branch-city, assets)</a:t>
            </a:r>
            <a:endParaRPr lang="en-US" altLang="zh-CN" sz="28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customer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customer-name</a:t>
            </a:r>
            <a:r>
              <a:rPr lang="en-US" altLang="zh-CN" sz="2800" i="1" dirty="0">
                <a:solidFill>
                  <a:srgbClr val="000000"/>
                </a:solidFill>
              </a:rPr>
              <a:t>, customer-street, customer-city)</a:t>
            </a:r>
            <a:endParaRPr lang="en-US" altLang="zh-CN" sz="28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account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balance)</a:t>
            </a:r>
            <a:endParaRPr lang="en-US" altLang="zh-CN" sz="28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loan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loan-number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amount)</a:t>
            </a:r>
            <a:endParaRPr lang="en-US" altLang="zh-CN" sz="28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depositor</a:t>
            </a:r>
            <a:r>
              <a:rPr lang="en-US" altLang="zh-CN" sz="2800" i="1" dirty="0">
                <a:solidFill>
                  <a:srgbClr val="000000"/>
                </a:solidFill>
              </a:rPr>
              <a:t> (customer-name, 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)</a:t>
            </a:r>
            <a:endParaRPr lang="en-US" altLang="zh-CN" sz="28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FontTx/>
              <a:buChar char="•"/>
            </a:pPr>
            <a:r>
              <a:rPr lang="en-US" altLang="zh-CN" sz="2800" i="1" dirty="0">
                <a:solidFill>
                  <a:srgbClr val="0000FF"/>
                </a:solidFill>
              </a:rPr>
              <a:t>borrower</a:t>
            </a:r>
            <a:r>
              <a:rPr lang="en-US" altLang="zh-CN" sz="2800" i="1" dirty="0">
                <a:solidFill>
                  <a:srgbClr val="000000"/>
                </a:solidFill>
              </a:rPr>
              <a:t> (customer-name, </a:t>
            </a:r>
            <a:r>
              <a:rPr lang="en-US" altLang="zh-CN" sz="2800" i="1" u="sng" dirty="0">
                <a:solidFill>
                  <a:srgbClr val="000000"/>
                </a:solidFill>
              </a:rPr>
              <a:t>loan-number</a:t>
            </a:r>
            <a:r>
              <a:rPr lang="en-US" altLang="zh-CN" sz="2800" i="1" dirty="0">
                <a:solidFill>
                  <a:srgbClr val="000000"/>
                </a:solidFill>
              </a:rPr>
              <a:t>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body" idx="4294967295"/>
          </p:nvPr>
        </p:nvSpPr>
        <p:spPr>
          <a:xfrm>
            <a:off x="457200" y="1219200"/>
            <a:ext cx="82296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找出在银行中同时有存款和贷款账户的客户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FF6600"/>
                </a:solidFill>
                <a:latin typeface="Times New Roman" panose="02020603050405020304" pitchFamily="18" charset="0"/>
                <a:ea typeface="仿宋_GB2312"/>
              </a:rPr>
              <a:t>	</a:t>
            </a: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select   distinct customer-name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from     borrower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where  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customer-name</a:t>
            </a: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in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		(select 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仿宋_GB2312"/>
              </a:rPr>
              <a:t>customer-name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		from   depositor)</a:t>
            </a:r>
            <a:endParaRPr lang="en-US" altLang="zh-CN" sz="2600" dirty="0"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	select  distinct customer-name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from     borrower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where    exists 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       (select    *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        from     depositor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        where   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仿宋_GB2312"/>
              </a:rPr>
              <a:t>depositor. customer-name</a:t>
            </a: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                      =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borrower. customer-name</a:t>
            </a:r>
            <a:r>
              <a:rPr lang="en-US" altLang="zh-CN" sz="2600" dirty="0">
                <a:latin typeface="Times New Roman" panose="02020603050405020304" pitchFamily="18" charset="0"/>
                <a:ea typeface="仿宋_GB2312"/>
              </a:rPr>
              <a:t>)</a:t>
            </a:r>
            <a:endParaRPr lang="en-US" altLang="zh-CN" sz="2600" dirty="0"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9221" name="Rectangle 3"/>
          <p:cNvSpPr/>
          <p:nvPr/>
        </p:nvSpPr>
        <p:spPr>
          <a:xfrm>
            <a:off x="457200" y="341313"/>
            <a:ext cx="8610600" cy="114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0000FF"/>
                </a:solidFill>
              </a:rPr>
              <a:t>depositor</a:t>
            </a:r>
            <a:r>
              <a:rPr lang="en-US" altLang="zh-CN" sz="2400" i="1" dirty="0">
                <a:solidFill>
                  <a:srgbClr val="000000"/>
                </a:solidFill>
              </a:rPr>
              <a:t> (customer-name, </a:t>
            </a:r>
            <a:r>
              <a:rPr lang="en-US" altLang="zh-CN" sz="24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400" i="1" dirty="0">
                <a:solidFill>
                  <a:srgbClr val="000000"/>
                </a:solidFill>
              </a:rPr>
              <a:t>)</a:t>
            </a:r>
            <a:endParaRPr lang="en-US" altLang="zh-CN" sz="2400" i="1" dirty="0">
              <a:solidFill>
                <a:srgbClr val="000000"/>
              </a:solidFill>
            </a:endParaRPr>
          </a:p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0000FF"/>
                </a:solidFill>
              </a:rPr>
              <a:t>borrower</a:t>
            </a:r>
            <a:r>
              <a:rPr lang="en-US" altLang="zh-CN" sz="2400" i="1" dirty="0">
                <a:solidFill>
                  <a:srgbClr val="000000"/>
                </a:solidFill>
              </a:rPr>
              <a:t> (customer-name, </a:t>
            </a:r>
            <a:r>
              <a:rPr lang="en-US" altLang="zh-CN" sz="2400" i="1" u="sng" dirty="0">
                <a:solidFill>
                  <a:srgbClr val="000000"/>
                </a:solidFill>
              </a:rPr>
              <a:t>loan-number</a:t>
            </a:r>
            <a:r>
              <a:rPr lang="en-US" altLang="zh-CN" sz="2400" i="1" dirty="0">
                <a:solidFill>
                  <a:srgbClr val="000000"/>
                </a:solidFill>
              </a:rPr>
              <a:t>)</a:t>
            </a:r>
            <a:endParaRPr lang="en-US" altLang="zh-CN" sz="24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76804" name="Rectangle 2"/>
          <p:cNvSpPr>
            <a:spLocks noGrp="1"/>
          </p:cNvSpPr>
          <p:nvPr>
            <p:ph type="body" idx="4294967295"/>
          </p:nvPr>
        </p:nvSpPr>
        <p:spPr>
          <a:xfrm>
            <a:off x="304800" y="1628775"/>
            <a:ext cx="8650288" cy="4241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找出那些总资产至少比位于</a:t>
            </a:r>
            <a:r>
              <a:rPr lang="en-US" altLang="zh-CN" dirty="0"/>
              <a:t>Brooklyn </a:t>
            </a:r>
            <a:r>
              <a:rPr lang="zh-CN" altLang="en-US" dirty="0"/>
              <a:t>的某一家支行要多的支行名字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仿宋_GB2312"/>
              </a:rPr>
              <a:t>select   branch-name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仿宋_GB2312"/>
              </a:rPr>
              <a:t>from     branch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仿宋_GB2312"/>
              </a:rPr>
              <a:t>where   assets &gt;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any (select assets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                                  from   branch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                                  where  branch-city=‘Brooklyn’)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269" name="Rectangle 3"/>
          <p:cNvSpPr/>
          <p:nvPr/>
        </p:nvSpPr>
        <p:spPr>
          <a:xfrm>
            <a:off x="457200" y="620713"/>
            <a:ext cx="861060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i="1" dirty="0">
                <a:solidFill>
                  <a:srgbClr val="0000FF"/>
                </a:solidFill>
              </a:rPr>
              <a:t>branch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branch-name</a:t>
            </a:r>
            <a:r>
              <a:rPr lang="en-US" altLang="zh-CN" sz="2800" i="1" dirty="0">
                <a:solidFill>
                  <a:srgbClr val="000000"/>
                </a:solidFill>
              </a:rPr>
              <a:t>, branch-city, assets)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charRg st="57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body" idx="4294967295"/>
          </p:nvPr>
        </p:nvSpPr>
        <p:spPr>
          <a:xfrm>
            <a:off x="457200" y="1844675"/>
            <a:ext cx="8229600" cy="45370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找出</a:t>
            </a:r>
            <a:r>
              <a:rPr lang="zh-CN" altLang="en-US" sz="2800" dirty="0">
                <a:solidFill>
                  <a:srgbClr val="D1D1F0"/>
                </a:solidFill>
              </a:rPr>
              <a:t>平均</a:t>
            </a:r>
            <a:r>
              <a:rPr lang="zh-CN" altLang="en-US" sz="2800" dirty="0"/>
              <a:t>存款余额最高的分行名字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select   branch-name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from    account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where  balance =          (select  max(balance)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                                          from    account)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2293" name="Rectangle 3"/>
          <p:cNvSpPr/>
          <p:nvPr/>
        </p:nvSpPr>
        <p:spPr>
          <a:xfrm>
            <a:off x="457200" y="620713"/>
            <a:ext cx="861060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i="1" dirty="0">
                <a:solidFill>
                  <a:srgbClr val="0000FF"/>
                </a:solidFill>
              </a:rPr>
              <a:t>account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balance)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body" idx="4294967295"/>
          </p:nvPr>
        </p:nvSpPr>
        <p:spPr>
          <a:xfrm>
            <a:off x="457200" y="1844675"/>
            <a:ext cx="8229600" cy="45370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找出每个分行的平均存款余额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select   branch-name, avg(balance)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from    account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group by branch-name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13317" name="Rectangle 3"/>
          <p:cNvSpPr/>
          <p:nvPr/>
        </p:nvSpPr>
        <p:spPr>
          <a:xfrm>
            <a:off x="457200" y="620713"/>
            <a:ext cx="861060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i="1" dirty="0">
                <a:solidFill>
                  <a:srgbClr val="0000FF"/>
                </a:solidFill>
              </a:rPr>
              <a:t>account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balance)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body" idx="4294967295"/>
          </p:nvPr>
        </p:nvSpPr>
        <p:spPr>
          <a:xfrm>
            <a:off x="457200" y="1844675"/>
            <a:ext cx="8229600" cy="45370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找出平均存款余额最高的分行名字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select   branch-name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from    account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group   by   branch-name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仿宋_GB2312"/>
              </a:rPr>
              <a:t>having  avg(balance) &gt;= all(select  avg(balance)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                                             from    account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仿宋_GB2312"/>
              </a:rPr>
              <a:t>                                             group   by branch-name)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仿宋_GB231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4341" name="Rectangle 3"/>
          <p:cNvSpPr/>
          <p:nvPr/>
        </p:nvSpPr>
        <p:spPr>
          <a:xfrm>
            <a:off x="457200" y="620713"/>
            <a:ext cx="861060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i="1" dirty="0">
                <a:solidFill>
                  <a:srgbClr val="0000FF"/>
                </a:solidFill>
              </a:rPr>
              <a:t>account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balance)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rgbClr val="333399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333399"/>
                </a:solidFill>
              </a:rPr>
              <a:t>Database Technology and Its Application</a:t>
            </a:r>
            <a:endParaRPr lang="en-US" altLang="zh-CN" sz="1400" dirty="0">
              <a:solidFill>
                <a:srgbClr val="333399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44675"/>
            <a:ext cx="8229600" cy="4537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找出平均存款余额最高的分行名字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/>
              <a:cs typeface="仿宋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</a:rPr>
              <a:t>select  top 1 branch-name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</a:rPr>
              <a:t>from    account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/>
              <a:cs typeface="仿宋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</a:rPr>
              <a:t>group   by   branch-name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/>
              <a:cs typeface="仿宋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</a:rPr>
              <a:t>order by avg(balance) desc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仿宋_GB2312"/>
              <a:cs typeface="仿宋_GB231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5" name="Rectangle 3"/>
          <p:cNvSpPr/>
          <p:nvPr/>
        </p:nvSpPr>
        <p:spPr>
          <a:xfrm>
            <a:off x="457200" y="620713"/>
            <a:ext cx="861060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i="1" dirty="0">
                <a:solidFill>
                  <a:srgbClr val="0000FF"/>
                </a:solidFill>
              </a:rPr>
              <a:t>account</a:t>
            </a:r>
            <a:r>
              <a:rPr lang="en-US" altLang="zh-CN" sz="2800" i="1" dirty="0">
                <a:solidFill>
                  <a:srgbClr val="000000"/>
                </a:solidFill>
              </a:rPr>
              <a:t> (</a:t>
            </a:r>
            <a:r>
              <a:rPr lang="en-US" altLang="zh-CN" sz="2800" i="1" u="sng" dirty="0">
                <a:solidFill>
                  <a:srgbClr val="000000"/>
                </a:solidFill>
              </a:rPr>
              <a:t>account-number</a:t>
            </a:r>
            <a:r>
              <a:rPr lang="en-US" altLang="zh-CN" sz="2800" i="1" dirty="0">
                <a:solidFill>
                  <a:srgbClr val="000000"/>
                </a:solidFill>
              </a:rPr>
              <a:t>, branch-name, balance)</a:t>
            </a:r>
            <a:endParaRPr lang="en-US" altLang="zh-CN" sz="2800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/>
        </p:nvSpPr>
        <p:spPr>
          <a:xfrm>
            <a:off x="6553200" y="6481763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页脚占位符 4"/>
          <p:cNvSpPr txBox="1">
            <a:spLocks noGrp="1"/>
          </p:cNvSpPr>
          <p:nvPr/>
        </p:nvSpPr>
        <p:spPr>
          <a:xfrm>
            <a:off x="2916238" y="6524625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400" dirty="0">
                <a:solidFill>
                  <a:schemeClr val="tx2"/>
                </a:solidFill>
              </a:rPr>
              <a:t>Database Technology and Its Application</a:t>
            </a:r>
            <a:endParaRPr lang="en-US" altLang="zh-CN" sz="1400" dirty="0">
              <a:solidFill>
                <a:schemeClr val="tx2"/>
              </a:solidFill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029575" cy="1081088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7413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155700"/>
            <a:ext cx="8650288" cy="18415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计算机产品数据库</a:t>
            </a:r>
            <a:endParaRPr lang="zh-CN" altLang="en-US" sz="2800" dirty="0"/>
          </a:p>
          <a:p>
            <a:pPr lvl="1" eaLnBrk="1" hangingPunct="1"/>
            <a:r>
              <a:rPr lang="en-US" altLang="zh-CN" sz="2400" dirty="0"/>
              <a:t>Product(maker,</a:t>
            </a:r>
            <a:r>
              <a:rPr lang="en-US" altLang="zh-CN" sz="2400" u="sng" dirty="0"/>
              <a:t>model</a:t>
            </a:r>
            <a:r>
              <a:rPr lang="en-US" altLang="zh-CN" sz="2400" dirty="0"/>
              <a:t>, type)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PC(</a:t>
            </a:r>
            <a:r>
              <a:rPr lang="en-US" altLang="zh-CN" sz="2400" u="sng" dirty="0"/>
              <a:t>model</a:t>
            </a:r>
            <a:r>
              <a:rPr lang="en-US" altLang="zh-CN" sz="2400" dirty="0"/>
              <a:t>, speed, ram, hd, price)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Laptop(</a:t>
            </a:r>
            <a:r>
              <a:rPr lang="en-US" altLang="zh-CN" sz="2400" u="sng" dirty="0"/>
              <a:t>model</a:t>
            </a:r>
            <a:r>
              <a:rPr lang="en-US" altLang="zh-CN" sz="2400" dirty="0"/>
              <a:t>, speed, ram, hd, screen, price)</a:t>
            </a:r>
            <a:endParaRPr lang="en-US" altLang="zh-CN" sz="2400" dirty="0"/>
          </a:p>
        </p:txBody>
      </p:sp>
      <p:graphicFrame>
        <p:nvGraphicFramePr>
          <p:cNvPr id="15366" name="表格 15365"/>
          <p:cNvGraphicFramePr/>
          <p:nvPr/>
        </p:nvGraphicFramePr>
        <p:xfrm>
          <a:off x="584200" y="3676650"/>
          <a:ext cx="2667000" cy="2584450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36580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maker</a:t>
                      </a:r>
                      <a:endParaRPr lang="en-US" altLang="x-none" sz="2800" b="1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  <a:ea typeface="宋体" panose="02010600030101010101" pitchFamily="2" charset="-122"/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type</a:t>
                      </a:r>
                      <a:endParaRPr lang="en-US" altLang="x-none" sz="2800" b="1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1001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4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1002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2004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laptop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B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1003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B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2005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laptop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5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C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1004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400" name="表格 15399"/>
          <p:cNvGraphicFramePr/>
          <p:nvPr/>
        </p:nvGraphicFramePr>
        <p:xfrm>
          <a:off x="3708400" y="3448050"/>
          <a:ext cx="4343400" cy="1836738"/>
        </p:xfrm>
        <a:graphic>
          <a:graphicData uri="http://schemas.openxmlformats.org/drawingml/2006/table">
            <a:tbl>
              <a:tblPr/>
              <a:tblGrid>
                <a:gridCol w="866775"/>
                <a:gridCol w="871538"/>
                <a:gridCol w="866775"/>
                <a:gridCol w="871537"/>
                <a:gridCol w="866775"/>
              </a:tblGrid>
              <a:tr h="36582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  <a:ea typeface="宋体" panose="02010600030101010101" pitchFamily="2" charset="-122"/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speed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ram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hd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price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1001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2.66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1024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2114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1002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2.10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512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995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1003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1.42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512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80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478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1004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2.80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1024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649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438" name="表格 15437"/>
          <p:cNvGraphicFramePr/>
          <p:nvPr/>
        </p:nvGraphicFramePr>
        <p:xfrm>
          <a:off x="3708400" y="5762625"/>
          <a:ext cx="5029200" cy="1101725"/>
        </p:xfrm>
        <a:graphic>
          <a:graphicData uri="http://schemas.openxmlformats.org/drawingml/2006/table">
            <a:tbl>
              <a:tblPr/>
              <a:tblGrid>
                <a:gridCol w="939800"/>
                <a:gridCol w="939800"/>
                <a:gridCol w="711200"/>
                <a:gridCol w="685800"/>
                <a:gridCol w="990600"/>
                <a:gridCol w="762000"/>
              </a:tblGrid>
              <a:tr h="36569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  <a:ea typeface="宋体" panose="02010600030101010101" pitchFamily="2" charset="-122"/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speed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ram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hd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screen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b="1" dirty="0">
                          <a:ea typeface="宋体" panose="02010600030101010101" pitchFamily="2" charset="-122"/>
                        </a:rPr>
                        <a:t>price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2004</a:t>
                      </a:r>
                      <a:endParaRPr lang="en-US" altLang="x-none" sz="2800" dirty="0"/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2.00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512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60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13.3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1150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2005</a:t>
                      </a:r>
                      <a:endParaRPr lang="en-US" altLang="x-none" sz="2800" dirty="0"/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2.16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1024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120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17.0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ea typeface="宋体" panose="02010600030101010101" pitchFamily="2" charset="-122"/>
                        </a:rPr>
                        <a:t>2500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516" name="Text Box 106"/>
          <p:cNvSpPr txBox="1"/>
          <p:nvPr/>
        </p:nvSpPr>
        <p:spPr>
          <a:xfrm>
            <a:off x="1270000" y="3262313"/>
            <a:ext cx="1047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Product</a:t>
            </a:r>
            <a:endParaRPr lang="en-US" altLang="zh-CN" sz="1800" b="1" dirty="0"/>
          </a:p>
        </p:txBody>
      </p:sp>
      <p:sp>
        <p:nvSpPr>
          <p:cNvPr id="17517" name="Text Box 107"/>
          <p:cNvSpPr txBox="1"/>
          <p:nvPr/>
        </p:nvSpPr>
        <p:spPr>
          <a:xfrm>
            <a:off x="5461000" y="3019425"/>
            <a:ext cx="5016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PC</a:t>
            </a:r>
            <a:endParaRPr lang="en-US" altLang="zh-CN" sz="1800" b="1" dirty="0"/>
          </a:p>
        </p:txBody>
      </p:sp>
      <p:sp>
        <p:nvSpPr>
          <p:cNvPr id="17518" name="Text Box 108"/>
          <p:cNvSpPr txBox="1"/>
          <p:nvPr/>
        </p:nvSpPr>
        <p:spPr>
          <a:xfrm>
            <a:off x="5461000" y="5381625"/>
            <a:ext cx="946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Laptop</a:t>
            </a:r>
            <a:endParaRPr lang="en-US" altLang="zh-CN" sz="1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8436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计算机产品数据库，写出SQL查询语句：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查询每个制造商及其生产的最低价格的笔记本型号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查询生产的笔记本的硬盘容量不小于100GB的制造商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查询生产最快速度的计算机的制造商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内容占位符 70657"/>
          <p:cNvSpPr>
            <a:spLocks noGrp="1"/>
          </p:cNvSpPr>
          <p:nvPr>
            <p:ph idx="1"/>
          </p:nvPr>
        </p:nvSpPr>
        <p:spPr>
          <a:xfrm>
            <a:off x="468313" y="4076700"/>
            <a:ext cx="8229600" cy="27813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2400" dirty="0"/>
              <a:t>查询每个制造商及其生产的最低价格的笔记本型号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查询制造商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maker</a:t>
            </a:r>
            <a:r>
              <a:rPr lang="zh-CN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生产的笔记本的最低价格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400" dirty="0"/>
              <a:t>select min(L</a:t>
            </a:r>
            <a:r>
              <a:rPr lang="en-US" altLang="zh-CN" sz="2400" dirty="0"/>
              <a:t>aptop</a:t>
            </a:r>
            <a:r>
              <a:rPr lang="zh-CN" altLang="en-US" sz="2400" dirty="0"/>
              <a:t>.price)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　from Product, Laptop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　	where P</a:t>
            </a:r>
            <a:r>
              <a:rPr lang="en-US" altLang="zh-CN" sz="2400" dirty="0"/>
              <a:t>roduct</a:t>
            </a:r>
            <a:r>
              <a:rPr lang="zh-CN" altLang="en-US" sz="2400" dirty="0"/>
              <a:t>.model = L</a:t>
            </a:r>
            <a:r>
              <a:rPr lang="en-US" altLang="zh-CN" sz="2400" dirty="0"/>
              <a:t>aptop</a:t>
            </a:r>
            <a:r>
              <a:rPr lang="zh-CN" altLang="en-US" sz="2400" dirty="0"/>
              <a:t>.model and 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              P</a:t>
            </a:r>
            <a:r>
              <a:rPr lang="en-US" altLang="zh-CN" sz="2400" dirty="0"/>
              <a:t>roduct</a:t>
            </a:r>
            <a:r>
              <a:rPr lang="zh-CN" altLang="en-US" sz="2400" dirty="0"/>
              <a:t>.maker = maker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0659" name="表格 70658"/>
          <p:cNvGraphicFramePr/>
          <p:nvPr/>
        </p:nvGraphicFramePr>
        <p:xfrm>
          <a:off x="685800" y="733425"/>
          <a:ext cx="2667000" cy="2579688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maker</a:t>
                      </a:r>
                      <a:endParaRPr lang="en-US" altLang="x-none" sz="1800" b="1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type</a:t>
                      </a:r>
                      <a:endParaRPr lang="en-US" altLang="x-none" sz="1800" b="1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23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3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C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693" name="表格 70692"/>
          <p:cNvGraphicFramePr/>
          <p:nvPr/>
        </p:nvGraphicFramePr>
        <p:xfrm>
          <a:off x="3810000" y="504825"/>
          <a:ext cx="4343400" cy="1831975"/>
        </p:xfrm>
        <a:graphic>
          <a:graphicData uri="http://schemas.openxmlformats.org/drawingml/2006/table">
            <a:tbl>
              <a:tblPr/>
              <a:tblGrid>
                <a:gridCol w="866775"/>
                <a:gridCol w="871538"/>
                <a:gridCol w="866775"/>
                <a:gridCol w="871537"/>
                <a:gridCol w="866775"/>
              </a:tblGrid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1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2.66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2114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2.10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995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1.42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80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478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2.80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649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731" name="表格 70730"/>
          <p:cNvGraphicFramePr/>
          <p:nvPr/>
        </p:nvGraphicFramePr>
        <p:xfrm>
          <a:off x="3810000" y="2819400"/>
          <a:ext cx="5029200" cy="1100138"/>
        </p:xfrm>
        <a:graphic>
          <a:graphicData uri="http://schemas.openxmlformats.org/drawingml/2006/table">
            <a:tbl>
              <a:tblPr/>
              <a:tblGrid>
                <a:gridCol w="939800"/>
                <a:gridCol w="939800"/>
                <a:gridCol w="711200"/>
                <a:gridCol w="685800"/>
                <a:gridCol w="990600"/>
                <a:gridCol w="762000"/>
              </a:tblGrid>
              <a:tr h="36586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screen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40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1800" dirty="0"/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2.00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60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13.3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1150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1800" dirty="0"/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2.16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120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17.0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2500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561" name="文本框 70760"/>
          <p:cNvSpPr txBox="1"/>
          <p:nvPr/>
        </p:nvSpPr>
        <p:spPr>
          <a:xfrm>
            <a:off x="1371600" y="319088"/>
            <a:ext cx="1047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Product</a:t>
            </a:r>
            <a:endParaRPr lang="en-US" altLang="zh-CN" sz="1800" b="1" dirty="0"/>
          </a:p>
        </p:txBody>
      </p:sp>
      <p:sp>
        <p:nvSpPr>
          <p:cNvPr id="19562" name="文本框 70761"/>
          <p:cNvSpPr txBox="1"/>
          <p:nvPr/>
        </p:nvSpPr>
        <p:spPr>
          <a:xfrm>
            <a:off x="5562600" y="76200"/>
            <a:ext cx="5016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PC</a:t>
            </a:r>
            <a:endParaRPr lang="en-US" altLang="zh-CN" sz="1800" b="1" dirty="0"/>
          </a:p>
        </p:txBody>
      </p:sp>
      <p:sp>
        <p:nvSpPr>
          <p:cNvPr id="19563" name="文本框 70762"/>
          <p:cNvSpPr txBox="1"/>
          <p:nvPr/>
        </p:nvSpPr>
        <p:spPr>
          <a:xfrm>
            <a:off x="5562600" y="2438400"/>
            <a:ext cx="946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Laptop</a:t>
            </a:r>
            <a:endParaRPr lang="en-US" altLang="zh-CN" sz="1800" b="1" dirty="0"/>
          </a:p>
        </p:txBody>
      </p:sp>
      <p:sp>
        <p:nvSpPr>
          <p:cNvPr id="19564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en-US" sz="1400" dirty="0"/>
            </a:fld>
            <a:endParaRPr lang="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45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71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93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135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740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查询每个制造商及其生产的最低价格的笔记本型号（难点：相关嵌套子查询）</a:t>
            </a:r>
            <a:endParaRPr lang="zh-CN" altLang="en-US" sz="4000" dirty="0"/>
          </a:p>
        </p:txBody>
      </p:sp>
      <p:sp>
        <p:nvSpPr>
          <p:cNvPr id="20483" name="文本占位符 17410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select P1.maker, P1.model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from Product P1, Laptop L1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where P1.model = L1.model 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	and L1.price = </a:t>
            </a:r>
            <a:r>
              <a:rPr lang="en-US" altLang="zh-CN" dirty="0"/>
              <a:t>(</a:t>
            </a:r>
            <a:r>
              <a:rPr lang="zh-CN" altLang="en-US" dirty="0"/>
              <a:t>select min(L2.price)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　　			from Product P2, Laptop L2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　　			where P2.model = L2.model 			and P2.maker = P1.maker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740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查询每个制造商及其生产的最低价格的笔记本型号（用</a:t>
            </a:r>
            <a:r>
              <a:rPr lang="en-US" altLang="zh-CN" sz="4000" dirty="0"/>
              <a:t>WITH AS</a:t>
            </a:r>
            <a:r>
              <a:rPr lang="zh-CN" altLang="en-US" sz="4000" dirty="0"/>
              <a:t>派生表查询代替相关嵌套子查询）</a:t>
            </a:r>
            <a:endParaRPr lang="zh-CN" altLang="en-US" sz="4000" dirty="0"/>
          </a:p>
        </p:txBody>
      </p:sp>
      <p:sp>
        <p:nvSpPr>
          <p:cNvPr id="18435" name="文本占位符 17410"/>
          <p:cNvSpPr>
            <a:spLocks noGrp="1" noChangeArrowheads="1"/>
          </p:cNvSpPr>
          <p:nvPr>
            <p:ph idx="1"/>
          </p:nvPr>
        </p:nvSpPr>
        <p:spPr>
          <a:xfrm>
            <a:off x="457200" y="1855788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WITH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Maker_min_price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AS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SELECT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price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AS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min_price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FROM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Product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model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model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GROUP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BY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SELECT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model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FROM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Product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,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Maker_min_price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WHERE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model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model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Product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Maker_min_price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AND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Laptop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price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Maker_min_price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min_price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cs"/>
              </a:rPr>
              <a:t>;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843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查询生产的笔记本的硬盘容量不小于100GB的制造商</a:t>
            </a:r>
            <a:endParaRPr lang="zh-CN" altLang="en-US" dirty="0"/>
          </a:p>
        </p:txBody>
      </p:sp>
      <p:sp>
        <p:nvSpPr>
          <p:cNvPr id="22531" name="文本占位符 18434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select distinct Product.maker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from Product, Laptop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where Product.model = Laptop.model and Laptop.hd &gt;= 100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内容占位符 70657"/>
          <p:cNvSpPr>
            <a:spLocks noGrp="1"/>
          </p:cNvSpPr>
          <p:nvPr>
            <p:ph idx="1"/>
          </p:nvPr>
        </p:nvSpPr>
        <p:spPr>
          <a:xfrm>
            <a:off x="468313" y="4076700"/>
            <a:ext cx="8229600" cy="27813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2400" dirty="0"/>
              <a:t>查询生产最快速度的计算机的制造商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查询所有计算机（包括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PC</a:t>
            </a:r>
            <a:r>
              <a:rPr lang="zh-CN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和笔记本）的型号和速度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400" dirty="0"/>
              <a:t>select model, speed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PC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UNION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model, speed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Laptop</a:t>
            </a:r>
            <a:endParaRPr lang="en-US" altLang="zh-CN" sz="2400" dirty="0"/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0659" name="表格 70658"/>
          <p:cNvGraphicFramePr/>
          <p:nvPr/>
        </p:nvGraphicFramePr>
        <p:xfrm>
          <a:off x="685800" y="733425"/>
          <a:ext cx="2667000" cy="2579688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maker</a:t>
                      </a:r>
                      <a:endParaRPr lang="en-US" altLang="x-none" sz="1800" b="1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type</a:t>
                      </a:r>
                      <a:endParaRPr lang="en-US" altLang="x-none" sz="1800" b="1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23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3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4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4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C</a:t>
                      </a:r>
                      <a:endParaRPr lang="en-US" altLang="x-none" sz="1800" dirty="0"/>
                    </a:p>
                  </a:txBody>
                  <a:tcPr marT="45711" marB="4571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1800" dirty="0"/>
                    </a:p>
                  </a:txBody>
                  <a:tcPr marT="45711" marB="4571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693" name="表格 70692"/>
          <p:cNvGraphicFramePr/>
          <p:nvPr/>
        </p:nvGraphicFramePr>
        <p:xfrm>
          <a:off x="3810000" y="504825"/>
          <a:ext cx="4343400" cy="1831975"/>
        </p:xfrm>
        <a:graphic>
          <a:graphicData uri="http://schemas.openxmlformats.org/drawingml/2006/table">
            <a:tbl>
              <a:tblPr/>
              <a:tblGrid>
                <a:gridCol w="866775"/>
                <a:gridCol w="871538"/>
                <a:gridCol w="866775"/>
                <a:gridCol w="871537"/>
                <a:gridCol w="866775"/>
              </a:tblGrid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1800" b="1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1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2.66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2114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2.10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995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1.42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80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478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1800" dirty="0"/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2.80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649</a:t>
                      </a:r>
                      <a:endParaRPr lang="en-US" altLang="x-none" sz="1800" dirty="0"/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731" name="表格 70730"/>
          <p:cNvGraphicFramePr/>
          <p:nvPr/>
        </p:nvGraphicFramePr>
        <p:xfrm>
          <a:off x="3810000" y="2819400"/>
          <a:ext cx="5029200" cy="1100138"/>
        </p:xfrm>
        <a:graphic>
          <a:graphicData uri="http://schemas.openxmlformats.org/drawingml/2006/table">
            <a:tbl>
              <a:tblPr/>
              <a:tblGrid>
                <a:gridCol w="939800"/>
                <a:gridCol w="939800"/>
                <a:gridCol w="711200"/>
                <a:gridCol w="685800"/>
                <a:gridCol w="990600"/>
                <a:gridCol w="762000"/>
              </a:tblGrid>
              <a:tr h="36586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screen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1800" b="1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40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1800" dirty="0"/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2.00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60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13.3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1150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1800" dirty="0"/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2.16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120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17.0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 dirty="0"/>
                        <a:t>2500</a:t>
                      </a:r>
                      <a:endParaRPr lang="en-US" altLang="x-none" sz="1800" dirty="0"/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657" name="文本框 70760"/>
          <p:cNvSpPr txBox="1"/>
          <p:nvPr/>
        </p:nvSpPr>
        <p:spPr>
          <a:xfrm>
            <a:off x="1371600" y="319088"/>
            <a:ext cx="1047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Product</a:t>
            </a:r>
            <a:endParaRPr lang="en-US" altLang="zh-CN" sz="1800" b="1" dirty="0"/>
          </a:p>
        </p:txBody>
      </p:sp>
      <p:sp>
        <p:nvSpPr>
          <p:cNvPr id="23658" name="文本框 70761"/>
          <p:cNvSpPr txBox="1"/>
          <p:nvPr/>
        </p:nvSpPr>
        <p:spPr>
          <a:xfrm>
            <a:off x="5562600" y="76200"/>
            <a:ext cx="5016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PC</a:t>
            </a:r>
            <a:endParaRPr lang="en-US" altLang="zh-CN" sz="1800" b="1" dirty="0"/>
          </a:p>
        </p:txBody>
      </p:sp>
      <p:sp>
        <p:nvSpPr>
          <p:cNvPr id="23659" name="文本框 70762"/>
          <p:cNvSpPr txBox="1"/>
          <p:nvPr/>
        </p:nvSpPr>
        <p:spPr>
          <a:xfrm>
            <a:off x="5562600" y="2438400"/>
            <a:ext cx="946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Laptop</a:t>
            </a:r>
            <a:endParaRPr lang="en-US" altLang="zh-CN" sz="1800" b="1" dirty="0"/>
          </a:p>
        </p:txBody>
      </p:sp>
      <p:sp>
        <p:nvSpPr>
          <p:cNvPr id="23660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en-US" sz="1400" dirty="0"/>
            </a:fld>
            <a:endParaRPr lang="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4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6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7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78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charRg st="99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945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查询生产最快速度的</a:t>
            </a:r>
            <a:r>
              <a:rPr lang="en-US" altLang="zh-CN" dirty="0">
                <a:solidFill>
                  <a:srgbClr val="FF0000"/>
                </a:solidFill>
              </a:rPr>
              <a:t>PC</a:t>
            </a:r>
            <a:r>
              <a:rPr lang="zh-CN" altLang="en-US" dirty="0"/>
              <a:t>的制造商</a:t>
            </a:r>
            <a:endParaRPr lang="zh-CN" altLang="en-US" dirty="0"/>
          </a:p>
        </p:txBody>
      </p:sp>
      <p:sp>
        <p:nvSpPr>
          <p:cNvPr id="24579" name="文本占位符 19458"/>
          <p:cNvSpPr>
            <a:spLocks noGrp="1"/>
          </p:cNvSpPr>
          <p:nvPr>
            <p:ph idx="1"/>
          </p:nvPr>
        </p:nvSpPr>
        <p:spPr>
          <a:xfrm>
            <a:off x="250825" y="1600200"/>
            <a:ext cx="4259263" cy="50704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P.model in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</a:t>
            </a:r>
            <a:r>
              <a:rPr lang="en-US" altLang="zh-CN" sz="2400" dirty="0"/>
              <a:t>PC</a:t>
            </a:r>
            <a:r>
              <a:rPr lang="zh-CN" altLang="en-US" sz="2400" dirty="0"/>
              <a:t>.model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 </a:t>
            </a:r>
            <a:r>
              <a:rPr lang="en-US" altLang="zh-CN" sz="2400" dirty="0">
                <a:solidFill>
                  <a:srgbClr val="FF0000"/>
                </a:solidFill>
              </a:rPr>
              <a:t>PC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where </a:t>
            </a:r>
            <a:r>
              <a:rPr lang="en-US" altLang="zh-CN" sz="2400" dirty="0"/>
              <a:t>PC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	select MAX(</a:t>
            </a:r>
            <a:r>
              <a:rPr lang="en-US" altLang="zh-CN" sz="2400" dirty="0"/>
              <a:t>PC1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	from </a:t>
            </a:r>
            <a:r>
              <a:rPr lang="en-US" altLang="zh-CN" sz="2400" dirty="0">
                <a:solidFill>
                  <a:srgbClr val="FF0000"/>
                </a:solidFill>
              </a:rPr>
              <a:t>PC PC1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)</a:t>
            </a:r>
            <a:endParaRPr lang="zh-CN" altLang="en-US" sz="2400" dirty="0"/>
          </a:p>
        </p:txBody>
      </p:sp>
      <p:sp>
        <p:nvSpPr>
          <p:cNvPr id="24580" name="文本占位符 19458"/>
          <p:cNvSpPr txBox="1"/>
          <p:nvPr/>
        </p:nvSpPr>
        <p:spPr>
          <a:xfrm>
            <a:off x="4778375" y="1593850"/>
            <a:ext cx="4257675" cy="5070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PC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</a:t>
            </a:r>
            <a:r>
              <a:rPr lang="en-US" altLang="zh-CN" sz="2400" dirty="0"/>
              <a:t>P.model = PC.model and PC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	select MAX(</a:t>
            </a:r>
            <a:r>
              <a:rPr lang="en-US" altLang="zh-CN" sz="2400" dirty="0"/>
              <a:t>PC1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	from </a:t>
            </a:r>
            <a:r>
              <a:rPr lang="en-US" altLang="zh-CN" sz="2400" dirty="0">
                <a:solidFill>
                  <a:srgbClr val="FF0000"/>
                </a:solidFill>
              </a:rPr>
              <a:t>PC PC1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9457"/>
          <p:cNvSpPr>
            <a:spLocks noGrp="1"/>
          </p:cNvSpPr>
          <p:nvPr>
            <p:ph type="title"/>
          </p:nvPr>
        </p:nvSpPr>
        <p:spPr>
          <a:xfrm>
            <a:off x="312738" y="274638"/>
            <a:ext cx="8580437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查询生产最快速度</a:t>
            </a:r>
            <a:r>
              <a:rPr lang="zh-CN" altLang="en-US" dirty="0">
                <a:solidFill>
                  <a:srgbClr val="0070C0"/>
                </a:solidFill>
              </a:rPr>
              <a:t>计算机</a:t>
            </a:r>
            <a:r>
              <a:rPr lang="zh-CN" altLang="en-US" dirty="0"/>
              <a:t>的制造商</a:t>
            </a:r>
            <a:endParaRPr lang="zh-CN" altLang="en-US" dirty="0"/>
          </a:p>
        </p:txBody>
      </p:sp>
      <p:sp>
        <p:nvSpPr>
          <p:cNvPr id="26627" name="文本占位符 19458"/>
          <p:cNvSpPr>
            <a:spLocks noGrp="1"/>
          </p:cNvSpPr>
          <p:nvPr>
            <p:ph idx="1"/>
          </p:nvPr>
        </p:nvSpPr>
        <p:spPr>
          <a:xfrm>
            <a:off x="250825" y="1600200"/>
            <a:ext cx="4259263" cy="50704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P.model in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</a:t>
            </a:r>
            <a:r>
              <a:rPr lang="en-US" altLang="zh-CN" sz="2400" dirty="0"/>
              <a:t>C</a:t>
            </a:r>
            <a:r>
              <a:rPr lang="zh-CN" altLang="en-US" sz="2400" dirty="0"/>
              <a:t>.model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 </a:t>
            </a:r>
            <a:r>
              <a:rPr lang="en-US" altLang="zh-CN" sz="2400" dirty="0">
                <a:solidFill>
                  <a:srgbClr val="0070C0"/>
                </a:solidFill>
              </a:rPr>
              <a:t>Computer C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where </a:t>
            </a:r>
            <a:r>
              <a:rPr lang="en-US" altLang="zh-CN" sz="2400" dirty="0"/>
              <a:t>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 select MAX(</a:t>
            </a:r>
            <a:r>
              <a:rPr lang="en-US" altLang="zh-CN" sz="2400" dirty="0"/>
              <a:t>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</a:t>
            </a:r>
            <a:r>
              <a:rPr lang="en-US" altLang="zh-CN" sz="2400" dirty="0">
                <a:solidFill>
                  <a:srgbClr val="0070C0"/>
                </a:solidFill>
              </a:rPr>
              <a:t>Computer C1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)</a:t>
            </a:r>
            <a:endParaRPr lang="zh-CN" altLang="en-US" sz="2400" dirty="0"/>
          </a:p>
        </p:txBody>
      </p:sp>
      <p:sp>
        <p:nvSpPr>
          <p:cNvPr id="26628" name="文本占位符 19458"/>
          <p:cNvSpPr txBox="1"/>
          <p:nvPr/>
        </p:nvSpPr>
        <p:spPr>
          <a:xfrm>
            <a:off x="4778375" y="1593850"/>
            <a:ext cx="4114800" cy="5070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0070C0"/>
                </a:solidFill>
              </a:rPr>
              <a:t>Computer C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</a:t>
            </a:r>
            <a:r>
              <a:rPr lang="en-US" altLang="zh-CN" sz="2400" dirty="0"/>
              <a:t>P.model = C.model and PC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MAX(</a:t>
            </a:r>
            <a:r>
              <a:rPr lang="en-US" altLang="zh-CN" sz="2400" dirty="0"/>
              <a:t>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</a:t>
            </a:r>
            <a:r>
              <a:rPr lang="en-US" altLang="zh-CN" sz="2400" dirty="0">
                <a:solidFill>
                  <a:srgbClr val="0070C0"/>
                </a:solidFill>
              </a:rPr>
              <a:t>Computer C1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9457"/>
          <p:cNvSpPr>
            <a:spLocks noGrp="1"/>
          </p:cNvSpPr>
          <p:nvPr>
            <p:ph type="title"/>
          </p:nvPr>
        </p:nvSpPr>
        <p:spPr>
          <a:xfrm>
            <a:off x="179388" y="274638"/>
            <a:ext cx="856932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查询生产最快速度计算机的制造商</a:t>
            </a:r>
            <a:endParaRPr lang="zh-CN" altLang="en-US" dirty="0"/>
          </a:p>
        </p:txBody>
      </p:sp>
      <p:sp>
        <p:nvSpPr>
          <p:cNvPr id="27651" name="文本占位符 1945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04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select DISTINCT P.maker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from Product P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where P.model in (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	select Computer.model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	from </a:t>
            </a:r>
            <a:r>
              <a:rPr lang="zh-CN" altLang="en-US" sz="1800" dirty="0">
                <a:solidFill>
                  <a:srgbClr val="FF0000"/>
                </a:solidFill>
              </a:rPr>
              <a:t>(select model, speed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from PC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UNION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select model, speed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from Laptop) </a:t>
            </a:r>
            <a:r>
              <a:rPr lang="zh-CN" altLang="en-US" sz="1800" dirty="0"/>
              <a:t>AS Computer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	where Computer.speed = (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		select MAX(Computer1.speed)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		from </a:t>
            </a:r>
            <a:r>
              <a:rPr lang="zh-CN" altLang="en-US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>
                <a:solidFill>
                  <a:srgbClr val="FF0000"/>
                </a:solidFill>
              </a:rPr>
              <a:t>select </a:t>
            </a:r>
            <a:r>
              <a:rPr lang="zh-CN" altLang="en-US" sz="1800" dirty="0">
                <a:solidFill>
                  <a:srgbClr val="FF0000"/>
                </a:solidFill>
              </a:rPr>
              <a:t>model, speed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         </a:t>
            </a:r>
            <a:r>
              <a:rPr lang="en-US" altLang="zh-CN" sz="1800" dirty="0">
                <a:solidFill>
                  <a:srgbClr val="FF0000"/>
                </a:solidFill>
              </a:rPr>
              <a:t>from </a:t>
            </a:r>
            <a:r>
              <a:rPr lang="zh-CN" altLang="en-US" sz="1800" dirty="0">
                <a:solidFill>
                  <a:srgbClr val="FF0000"/>
                </a:solidFill>
              </a:rPr>
              <a:t>PC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         UNION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         </a:t>
            </a:r>
            <a:r>
              <a:rPr lang="en-US" altLang="zh-CN" sz="1800" dirty="0">
                <a:solidFill>
                  <a:srgbClr val="FF0000"/>
                </a:solidFill>
              </a:rPr>
              <a:t>select </a:t>
            </a:r>
            <a:r>
              <a:rPr lang="zh-CN" altLang="en-US" sz="1800" dirty="0">
                <a:solidFill>
                  <a:srgbClr val="FF0000"/>
                </a:solidFill>
              </a:rPr>
              <a:t>model, speed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		         </a:t>
            </a:r>
            <a:r>
              <a:rPr lang="en-US" altLang="zh-CN" sz="1800" dirty="0">
                <a:solidFill>
                  <a:srgbClr val="FF0000"/>
                </a:solidFill>
              </a:rPr>
              <a:t>from </a:t>
            </a:r>
            <a:r>
              <a:rPr lang="zh-CN" altLang="en-US" sz="1800" dirty="0">
                <a:solidFill>
                  <a:srgbClr val="FF0000"/>
                </a:solidFill>
              </a:rPr>
              <a:t>Laptop)</a:t>
            </a:r>
            <a:r>
              <a:rPr lang="zh-CN" altLang="en-US" sz="1800" dirty="0"/>
              <a:t> AS Computer1)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)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9457"/>
          <p:cNvSpPr>
            <a:spLocks noGrp="1"/>
          </p:cNvSpPr>
          <p:nvPr>
            <p:ph type="title"/>
          </p:nvPr>
        </p:nvSpPr>
        <p:spPr>
          <a:xfrm>
            <a:off x="312738" y="274638"/>
            <a:ext cx="8580437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查询生产最快速度</a:t>
            </a:r>
            <a:r>
              <a:rPr lang="zh-CN" altLang="en-US" dirty="0">
                <a:solidFill>
                  <a:srgbClr val="0070C0"/>
                </a:solidFill>
              </a:rPr>
              <a:t>计算机</a:t>
            </a:r>
            <a:r>
              <a:rPr lang="zh-CN" altLang="en-US" dirty="0"/>
              <a:t>的制造商</a:t>
            </a:r>
            <a:endParaRPr lang="zh-CN" altLang="en-US" dirty="0"/>
          </a:p>
        </p:txBody>
      </p:sp>
      <p:sp>
        <p:nvSpPr>
          <p:cNvPr id="28675" name="文本占位符 19458"/>
          <p:cNvSpPr>
            <a:spLocks noGrp="1"/>
          </p:cNvSpPr>
          <p:nvPr>
            <p:ph idx="1"/>
          </p:nvPr>
        </p:nvSpPr>
        <p:spPr>
          <a:xfrm>
            <a:off x="250825" y="2787650"/>
            <a:ext cx="4259263" cy="37004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P.model in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</a:t>
            </a:r>
            <a:r>
              <a:rPr lang="en-US" altLang="zh-CN" sz="2400" dirty="0"/>
              <a:t>C</a:t>
            </a:r>
            <a:r>
              <a:rPr lang="zh-CN" altLang="en-US" sz="2400" dirty="0"/>
              <a:t>.model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 </a:t>
            </a:r>
            <a:r>
              <a:rPr lang="en-US" altLang="zh-CN" sz="2400" dirty="0">
                <a:solidFill>
                  <a:srgbClr val="0070C0"/>
                </a:solidFill>
              </a:rPr>
              <a:t>Computer C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where </a:t>
            </a:r>
            <a:r>
              <a:rPr lang="en-US" altLang="zh-CN" sz="2400" dirty="0"/>
              <a:t>PC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 select MAX(</a:t>
            </a:r>
            <a:r>
              <a:rPr lang="en-US" altLang="zh-CN" sz="2400" dirty="0"/>
              <a:t>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</a:t>
            </a:r>
            <a:r>
              <a:rPr lang="en-US" altLang="zh-CN" sz="2400" dirty="0">
                <a:solidFill>
                  <a:srgbClr val="0070C0"/>
                </a:solidFill>
              </a:rPr>
              <a:t>Computer C1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)</a:t>
            </a:r>
            <a:endParaRPr lang="zh-CN" altLang="en-US" sz="2400" dirty="0"/>
          </a:p>
        </p:txBody>
      </p:sp>
      <p:sp>
        <p:nvSpPr>
          <p:cNvPr id="28676" name="文本占位符 19458"/>
          <p:cNvSpPr txBox="1"/>
          <p:nvPr/>
        </p:nvSpPr>
        <p:spPr>
          <a:xfrm>
            <a:off x="4778375" y="2781300"/>
            <a:ext cx="4114800" cy="2916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select DISTINCT P.maker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from Product P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0070C0"/>
                </a:solidFill>
              </a:rPr>
              <a:t>Computer C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where </a:t>
            </a:r>
            <a:r>
              <a:rPr lang="en-US" altLang="zh-CN" sz="2400" dirty="0"/>
              <a:t>P.model = C.model and PC</a:t>
            </a:r>
            <a:r>
              <a:rPr lang="zh-CN" altLang="en-US" sz="2400" dirty="0"/>
              <a:t>.speed = (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select MAX(</a:t>
            </a:r>
            <a:r>
              <a:rPr lang="en-US" altLang="zh-CN" sz="2400" dirty="0"/>
              <a:t>C1</a:t>
            </a:r>
            <a:r>
              <a:rPr lang="zh-CN" altLang="en-US" sz="2400" dirty="0"/>
              <a:t>.speed)</a:t>
            </a:r>
            <a:endParaRPr lang="zh-CN" altLang="en-US" sz="2400" dirty="0"/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/>
              <a:t>	from </a:t>
            </a:r>
            <a:r>
              <a:rPr lang="en-US" altLang="zh-CN" sz="2400" dirty="0">
                <a:solidFill>
                  <a:srgbClr val="0070C0"/>
                </a:solidFill>
              </a:rPr>
              <a:t>Computer C1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)</a:t>
            </a:r>
            <a:endParaRPr lang="en-US" altLang="zh-CN" sz="2400" dirty="0"/>
          </a:p>
        </p:txBody>
      </p:sp>
      <p:sp>
        <p:nvSpPr>
          <p:cNvPr id="28677" name="文本占位符 19458"/>
          <p:cNvSpPr txBox="1"/>
          <p:nvPr/>
        </p:nvSpPr>
        <p:spPr>
          <a:xfrm>
            <a:off x="684213" y="1417638"/>
            <a:ext cx="8147050" cy="9318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en-US" altLang="zh-CN" sz="2400" dirty="0"/>
              <a:t>with </a:t>
            </a:r>
            <a:r>
              <a:rPr lang="en-US" altLang="zh-CN" sz="2400" dirty="0">
                <a:solidFill>
                  <a:srgbClr val="0070C0"/>
                </a:solidFill>
              </a:rPr>
              <a:t>Computer</a:t>
            </a:r>
            <a:r>
              <a:rPr lang="en-US" altLang="zh-CN" sz="2400" dirty="0"/>
              <a:t> as </a:t>
            </a:r>
            <a:r>
              <a:rPr lang="zh-CN" altLang="en-US" sz="2400" dirty="0">
                <a:solidFill>
                  <a:srgbClr val="FF0000"/>
                </a:solidFill>
              </a:rPr>
              <a:t>(select model, speed from PC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lvl="0" indent="-342900"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	UNION select model, speed from Laptop)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9" name="Rectangle 2"/>
          <p:cNvSpPr>
            <a:spLocks noGrp="1"/>
          </p:cNvSpPr>
          <p:nvPr>
            <p:ph type="body" idx="4294967295"/>
          </p:nvPr>
        </p:nvSpPr>
        <p:spPr>
          <a:xfrm>
            <a:off x="0" y="4714875"/>
            <a:ext cx="9144000" cy="214312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用</a:t>
            </a:r>
            <a:r>
              <a:rPr lang="en-US" altLang="zh-CN" sz="2400" dirty="0">
                <a:latin typeface="Times New Roman" panose="02020603050405020304" pitchFamily="18" charset="0"/>
              </a:rPr>
              <a:t>SQL</a:t>
            </a:r>
            <a:r>
              <a:rPr lang="zh-CN" altLang="en-US" sz="2400" dirty="0">
                <a:latin typeface="Times New Roman" panose="02020603050405020304" pitchFamily="18" charset="0"/>
              </a:rPr>
              <a:t>完成以下操作：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、用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差集法</a:t>
            </a:r>
            <a:r>
              <a:rPr lang="zh-CN" altLang="en-US" sz="2400" dirty="0">
                <a:latin typeface="Times New Roman" panose="02020603050405020304" pitchFamily="18" charset="0"/>
              </a:rPr>
              <a:t>查询选修了全部课程的学生姓名。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、将所有内存容量为</a:t>
            </a:r>
            <a:r>
              <a:rPr lang="en-US" altLang="zh-CN" sz="2400" dirty="0"/>
              <a:t>1024</a:t>
            </a:r>
            <a:r>
              <a:rPr lang="zh-CN" altLang="en-US" sz="2400" dirty="0"/>
              <a:t>的笔记本价格下调</a:t>
            </a:r>
            <a:r>
              <a:rPr lang="en-US" altLang="zh-CN" sz="2400" dirty="0"/>
              <a:t>200</a:t>
            </a:r>
            <a:r>
              <a:rPr lang="zh-CN" altLang="en-US" sz="2400" dirty="0"/>
              <a:t>元。 </a:t>
            </a:r>
            <a:endParaRPr lang="zh-CN" altLang="en-US" sz="2400" dirty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、创建制造商</a:t>
            </a:r>
            <a:r>
              <a:rPr lang="en-US" altLang="zh-CN" sz="2400" dirty="0"/>
              <a:t>B</a:t>
            </a:r>
            <a:r>
              <a:rPr lang="zh-CN" altLang="en-US" sz="2400" dirty="0"/>
              <a:t>生产的所有产品的型号和价格信息的视图。 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100" dirty="0">
              <a:solidFill>
                <a:srgbClr val="FF0000"/>
              </a:solidFill>
            </a:endParaRPr>
          </a:p>
        </p:txBody>
      </p:sp>
      <p:graphicFrame>
        <p:nvGraphicFramePr>
          <p:cNvPr id="20484" name="表格 20483"/>
          <p:cNvGraphicFramePr/>
          <p:nvPr/>
        </p:nvGraphicFramePr>
        <p:xfrm>
          <a:off x="642938" y="1714500"/>
          <a:ext cx="2667000" cy="2584450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36580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maker</a:t>
                      </a:r>
                      <a:endParaRPr lang="en-US" altLang="x-none" sz="2800" b="1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type</a:t>
                      </a:r>
                      <a:endParaRPr lang="en-US" altLang="x-none" sz="2800" b="1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4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A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B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laptop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5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C</a:t>
                      </a:r>
                      <a:endParaRPr lang="en-US" altLang="x-none" sz="2800" dirty="0"/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pc</a:t>
                      </a:r>
                      <a:endParaRPr lang="en-US" altLang="x-none" sz="2800" dirty="0"/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18" name="表格 20517"/>
          <p:cNvGraphicFramePr/>
          <p:nvPr/>
        </p:nvGraphicFramePr>
        <p:xfrm>
          <a:off x="3767138" y="1485900"/>
          <a:ext cx="4343400" cy="1836738"/>
        </p:xfrm>
        <a:graphic>
          <a:graphicData uri="http://schemas.openxmlformats.org/drawingml/2006/table">
            <a:tbl>
              <a:tblPr/>
              <a:tblGrid>
                <a:gridCol w="866775"/>
                <a:gridCol w="871538"/>
                <a:gridCol w="866775"/>
                <a:gridCol w="871537"/>
                <a:gridCol w="866775"/>
              </a:tblGrid>
              <a:tr h="36582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2800" b="1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1001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2.66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2114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1002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2.10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995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6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1003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1.42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80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478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1004</a:t>
                      </a:r>
                      <a:endParaRPr lang="en-US" altLang="x-none" sz="2800" dirty="0"/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2.80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250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dirty="0"/>
                        <a:t>649</a:t>
                      </a:r>
                      <a:endParaRPr lang="en-US" altLang="x-none" sz="2800" dirty="0"/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56" name="表格 20555"/>
          <p:cNvGraphicFramePr/>
          <p:nvPr/>
        </p:nvGraphicFramePr>
        <p:xfrm>
          <a:off x="3767138" y="3800475"/>
          <a:ext cx="5029200" cy="1101725"/>
        </p:xfrm>
        <a:graphic>
          <a:graphicData uri="http://schemas.openxmlformats.org/drawingml/2006/table">
            <a:tbl>
              <a:tblPr/>
              <a:tblGrid>
                <a:gridCol w="939800"/>
                <a:gridCol w="939800"/>
                <a:gridCol w="711200"/>
                <a:gridCol w="685800"/>
                <a:gridCol w="990600"/>
                <a:gridCol w="762000"/>
              </a:tblGrid>
              <a:tr h="36569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0000FF"/>
                          </a:solidFill>
                        </a:rPr>
                        <a:t>model</a:t>
                      </a:r>
                      <a:endParaRPr lang="en-US" altLang="x-none" sz="2800" b="1" dirty="0">
                        <a:solidFill>
                          <a:srgbClr val="0000FF"/>
                        </a:solidFill>
                      </a:endParaRPr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speed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ram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hd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/>
                        <a:t>screen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b="1" dirty="0"/>
                        <a:t>price</a:t>
                      </a:r>
                      <a:endParaRPr lang="en-US" altLang="x-none" sz="2800" b="1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2004</a:t>
                      </a:r>
                      <a:endParaRPr lang="en-US" altLang="x-none" sz="2800" dirty="0"/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2.00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512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60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13.3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1150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2005</a:t>
                      </a:r>
                      <a:endParaRPr lang="en-US" altLang="x-none" sz="2800" dirty="0"/>
                    </a:p>
                  </a:txBody>
                  <a:tcPr marT="45685" marB="4568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2.16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1024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120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17.0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x-none" sz="1800" dirty="0"/>
                        <a:t>2500</a:t>
                      </a:r>
                      <a:endParaRPr lang="en-US" altLang="x-none" sz="2800" dirty="0"/>
                    </a:p>
                  </a:txBody>
                  <a:tcPr marT="45685" marB="4568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802" name="Text Box 105"/>
          <p:cNvSpPr txBox="1"/>
          <p:nvPr/>
        </p:nvSpPr>
        <p:spPr>
          <a:xfrm>
            <a:off x="1328738" y="1300163"/>
            <a:ext cx="1047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Product</a:t>
            </a:r>
            <a:endParaRPr lang="en-US" altLang="zh-CN" sz="1800" b="1" dirty="0"/>
          </a:p>
        </p:txBody>
      </p:sp>
      <p:sp>
        <p:nvSpPr>
          <p:cNvPr id="29803" name="Text Box 106"/>
          <p:cNvSpPr txBox="1"/>
          <p:nvPr/>
        </p:nvSpPr>
        <p:spPr>
          <a:xfrm>
            <a:off x="5519738" y="1058863"/>
            <a:ext cx="501650" cy="365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PC</a:t>
            </a:r>
            <a:endParaRPr lang="en-US" altLang="zh-CN" sz="1800" b="1" dirty="0"/>
          </a:p>
        </p:txBody>
      </p:sp>
      <p:sp>
        <p:nvSpPr>
          <p:cNvPr id="29804" name="Text Box 107"/>
          <p:cNvSpPr txBox="1"/>
          <p:nvPr/>
        </p:nvSpPr>
        <p:spPr>
          <a:xfrm>
            <a:off x="5519738" y="3419475"/>
            <a:ext cx="946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Laptop</a:t>
            </a:r>
            <a:endParaRPr lang="en-US" altLang="zh-CN" sz="1800" b="1" dirty="0"/>
          </a:p>
        </p:txBody>
      </p:sp>
      <p:sp>
        <p:nvSpPr>
          <p:cNvPr id="29805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029575" cy="10810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作业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21505"/>
          <p:cNvSpPr>
            <a:spLocks noGrp="1"/>
          </p:cNvSpPr>
          <p:nvPr>
            <p:ph type="title"/>
          </p:nvPr>
        </p:nvSpPr>
        <p:spPr>
          <a:xfrm>
            <a:off x="323850" y="274638"/>
            <a:ext cx="8497888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</a:rPr>
              <a:t>1</a:t>
            </a:r>
            <a:r>
              <a:rPr lang="zh-CN" altLang="en-US" sz="4000" dirty="0">
                <a:latin typeface="Times New Roman" panose="02020603050405020304" pitchFamily="18" charset="0"/>
              </a:rPr>
              <a:t>、用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差集法</a:t>
            </a:r>
            <a:r>
              <a:rPr lang="zh-CN" altLang="en-US" sz="4000" dirty="0">
                <a:latin typeface="Times New Roman" panose="02020603050405020304" pitchFamily="18" charset="0"/>
              </a:rPr>
              <a:t>查询选修了全部课程的学生姓名（难点：exists和嵌套子查询）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30723" name="文本占位符 21506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select Sname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from Student S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where not exists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((select Cno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from Course)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except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(select SC.Cno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from SC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where SC.Sno </a:t>
            </a:r>
            <a:r>
              <a:rPr lang="en-US" altLang="zh-CN" sz="2800" dirty="0"/>
              <a:t>= S.Sno</a:t>
            </a:r>
            <a:r>
              <a:rPr lang="zh-CN" altLang="en-US" sz="2800" dirty="0"/>
              <a:t>))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2252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、将所有内存容量为</a:t>
            </a:r>
            <a:r>
              <a:rPr lang="en-US" altLang="zh-CN" dirty="0"/>
              <a:t>1024</a:t>
            </a:r>
            <a:r>
              <a:rPr lang="zh-CN" altLang="en-US" dirty="0"/>
              <a:t>的笔记本价格下调</a:t>
            </a:r>
            <a:r>
              <a:rPr lang="en-US" altLang="zh-CN" dirty="0"/>
              <a:t>200</a:t>
            </a:r>
            <a:r>
              <a:rPr lang="zh-CN" altLang="en-US" dirty="0"/>
              <a:t>元</a:t>
            </a:r>
            <a:endParaRPr lang="zh-CN" altLang="en-US" dirty="0"/>
          </a:p>
        </p:txBody>
      </p:sp>
      <p:sp>
        <p:nvSpPr>
          <p:cNvPr id="31747" name="文本占位符 22530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update Laptop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set price=price-200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where ram=1024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23553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、创建制造商</a:t>
            </a:r>
            <a:r>
              <a:rPr lang="en-US" altLang="zh-CN" dirty="0"/>
              <a:t>B</a:t>
            </a:r>
            <a:r>
              <a:rPr lang="zh-CN" altLang="en-US" dirty="0"/>
              <a:t>生产的所有产品的型号和价格信息的视图（难点：集合查询和连接查询的组合）</a:t>
            </a:r>
            <a:endParaRPr lang="zh-CN" altLang="en-US" dirty="0"/>
          </a:p>
        </p:txBody>
      </p:sp>
      <p:sp>
        <p:nvSpPr>
          <p:cNvPr id="32771" name="文本占位符 23554"/>
          <p:cNvSpPr>
            <a:spLocks noGrp="1"/>
          </p:cNvSpPr>
          <p:nvPr>
            <p:ph idx="1"/>
          </p:nvPr>
        </p:nvSpPr>
        <p:spPr>
          <a:xfrm>
            <a:off x="457200" y="2060575"/>
            <a:ext cx="3106738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create view B-Computers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as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select model, price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from PC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where model in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(select model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from Product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where maker = B)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union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select model, price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from Laptop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where model in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(select model 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from Product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where maker = B)</a:t>
            </a:r>
            <a:endParaRPr lang="zh-CN" altLang="en-US" sz="2000" dirty="0"/>
          </a:p>
        </p:txBody>
      </p:sp>
      <p:sp>
        <p:nvSpPr>
          <p:cNvPr id="4" name="文本占位符 24578"/>
          <p:cNvSpPr txBox="1"/>
          <p:nvPr/>
        </p:nvSpPr>
        <p:spPr>
          <a:xfrm>
            <a:off x="3779838" y="2060575"/>
            <a:ext cx="51943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000" dirty="0"/>
              <a:t>create view B-Computers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as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select PC.model, PC.price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from Product P, PC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where P.maker='B' and P.model = PC.model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union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select L.model, L.price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from Product P, Laptop L</a:t>
            </a:r>
            <a:endParaRPr lang="zh-CN" altLang="en-US" sz="2000" dirty="0"/>
          </a:p>
          <a:p>
            <a:pPr marL="342900" lvl="0" indent="-342900" eaLnBrk="1" hangingPunct="1">
              <a:buNone/>
            </a:pPr>
            <a:r>
              <a:rPr lang="zh-CN" altLang="en-US" sz="2000" dirty="0"/>
              <a:t>where P.maker='B' and P.model = L.model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2560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3795" name="文本占位符 2560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作业：</a:t>
            </a:r>
            <a:r>
              <a:rPr lang="zh-CN" altLang="en-US" sz="2800" dirty="0">
                <a:latin typeface="宋体" panose="02010600030101010101" pitchFamily="2" charset="-122"/>
              </a:rPr>
              <a:t>习题6.2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609600" indent="-609600" eaLnBrk="1" hangingPunct="1">
              <a:buNone/>
            </a:pPr>
            <a:r>
              <a:rPr lang="zh-CN" altLang="en-US" sz="2800" b="1" dirty="0"/>
              <a:t>出现问题：</a:t>
            </a:r>
            <a:endParaRPr lang="zh-CN" altLang="en-US" sz="2800" b="1" dirty="0"/>
          </a:p>
          <a:p>
            <a:pPr marL="609600" indent="-609600" eaLnBrk="1" hangingPunct="1"/>
            <a:r>
              <a:rPr lang="zh-CN" altLang="en-US" sz="2800" dirty="0">
                <a:latin typeface="宋体" panose="02010600030101010101" pitchFamily="2" charset="-122"/>
              </a:rPr>
              <a:t>没有注意语义中“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学生参加某学会有一个入会年份</a:t>
            </a:r>
            <a:r>
              <a:rPr lang="zh-CN" altLang="en-US" sz="2800" dirty="0">
                <a:latin typeface="宋体" panose="02010600030101010101" pitchFamily="2" charset="-122"/>
              </a:rPr>
              <a:t>”，导致没有写出关系模式“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学生—学会SP</a:t>
            </a:r>
            <a:r>
              <a:rPr lang="zh-CN" altLang="en-US" sz="2800" dirty="0">
                <a:latin typeface="宋体" panose="02010600030101010101" pitchFamily="2" charset="-122"/>
              </a:rPr>
              <a:t>”。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609600" indent="-609600" eaLnBrk="1" hangingPunct="1"/>
            <a:r>
              <a:rPr lang="zh-CN" altLang="en-US" sz="2800" dirty="0">
                <a:latin typeface="宋体" panose="02010600030101010101" pitchFamily="2" charset="-122"/>
              </a:rPr>
              <a:t>没有注意到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(专业名,入学年份)→班号</a:t>
            </a:r>
            <a:r>
              <a:rPr lang="zh-CN" altLang="en-US" sz="2800" dirty="0">
                <a:latin typeface="宋体" panose="02010600030101010101" pitchFamily="2" charset="-122"/>
              </a:rPr>
              <a:t>是班级C的候选码。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文本占位符 26625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553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关系模式：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学生</a:t>
            </a:r>
            <a:r>
              <a:rPr lang="en-US" altLang="zh-CN" sz="2400" dirty="0">
                <a:latin typeface="宋体" panose="02010600030101010101" pitchFamily="2" charset="-122"/>
              </a:rPr>
              <a:t>S(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姓名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出生年月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宿舍区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班级</a:t>
            </a:r>
            <a:r>
              <a:rPr lang="en-US" altLang="zh-CN" sz="2400" dirty="0">
                <a:latin typeface="宋体" panose="02010600030101010101" pitchFamily="2" charset="-122"/>
              </a:rPr>
              <a:t>C(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班级人数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入学年份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系</a:t>
            </a:r>
            <a:r>
              <a:rPr lang="en-US" altLang="zh-CN" sz="2400" dirty="0">
                <a:latin typeface="宋体" panose="02010600030101010101" pitchFamily="2" charset="-122"/>
              </a:rPr>
              <a:t>D(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系办公地点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系人数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学会</a:t>
            </a:r>
            <a:r>
              <a:rPr lang="en-US" altLang="zh-CN" sz="2400" dirty="0">
                <a:latin typeface="宋体" panose="02010600030101010101" pitchFamily="2" charset="-122"/>
              </a:rPr>
              <a:t>P(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成立年份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地点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会员人数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学生</a:t>
            </a:r>
            <a:r>
              <a:rPr lang="en-US" altLang="zh-CN" sz="2400" dirty="0">
                <a:latin typeface="宋体" panose="02010600030101010101" pitchFamily="2" charset="-122"/>
              </a:rPr>
              <a:t>—</a:t>
            </a:r>
            <a:r>
              <a:rPr lang="zh-CN" altLang="en-US" sz="2400" dirty="0">
                <a:latin typeface="宋体" panose="02010600030101010101" pitchFamily="2" charset="-122"/>
              </a:rPr>
              <a:t>学会</a:t>
            </a:r>
            <a:r>
              <a:rPr lang="en-US" altLang="zh-CN" sz="2400" dirty="0">
                <a:latin typeface="宋体" panose="02010600030101010101" pitchFamily="2" charset="-122"/>
              </a:rPr>
              <a:t>SP(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入会年份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极小函数依赖集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S:  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姓名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出生年月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宿舍区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C: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班级人数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入学年份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(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入学年份</a:t>
            </a:r>
            <a:r>
              <a:rPr lang="en-US" altLang="zh-CN" sz="2400" dirty="0">
                <a:latin typeface="宋体" panose="02010600030101010101" pitchFamily="2" charset="-122"/>
              </a:rPr>
              <a:t>)→</a:t>
            </a:r>
            <a:r>
              <a:rPr lang="zh-CN" altLang="en-US" sz="2400" dirty="0">
                <a:latin typeface="宋体" panose="02010600030101010101" pitchFamily="2" charset="-122"/>
              </a:rPr>
              <a:t>班号  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/*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每个专业每年只招收一个班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*/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D: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系办公地点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系人数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P: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成立年份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地点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会员人数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SP:(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)→</a:t>
            </a:r>
            <a:r>
              <a:rPr lang="zh-CN" altLang="en-US" sz="2400" dirty="0">
                <a:latin typeface="宋体" panose="02010600030101010101" pitchFamily="2" charset="-122"/>
              </a:rPr>
              <a:t>入会年份   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/*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学生参加某学会要有入会年份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*/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文本占位符 27649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553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关系模式：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学生</a:t>
            </a:r>
            <a:r>
              <a:rPr lang="en-US" altLang="zh-CN" sz="2400" dirty="0">
                <a:latin typeface="宋体" panose="02010600030101010101" pitchFamily="2" charset="-122"/>
              </a:rPr>
              <a:t>S(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姓名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出生年月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</a:rPr>
              <a:t>宿舍区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班级</a:t>
            </a:r>
            <a:r>
              <a:rPr lang="en-US" altLang="zh-CN" sz="2400" dirty="0">
                <a:latin typeface="宋体" panose="02010600030101010101" pitchFamily="2" charset="-122"/>
              </a:rPr>
              <a:t>C(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班级人数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入学年份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系</a:t>
            </a:r>
            <a:r>
              <a:rPr lang="en-US" altLang="zh-CN" sz="2400" dirty="0">
                <a:latin typeface="宋体" panose="02010600030101010101" pitchFamily="2" charset="-122"/>
              </a:rPr>
              <a:t>D(</a:t>
            </a:r>
            <a:r>
              <a:rPr lang="zh-CN" altLang="en-US" sz="2400" dirty="0">
                <a:latin typeface="宋体" panose="02010600030101010101" pitchFamily="2" charset="-122"/>
              </a:rPr>
              <a:t>系号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系名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系办公地点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系人数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学会</a:t>
            </a:r>
            <a:r>
              <a:rPr lang="en-US" altLang="zh-CN" sz="2400" dirty="0">
                <a:latin typeface="宋体" panose="02010600030101010101" pitchFamily="2" charset="-122"/>
              </a:rPr>
              <a:t>P(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成立年份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地点</a:t>
            </a:r>
            <a:r>
              <a:rPr lang="en-US" altLang="zh-CN" sz="2400" dirty="0">
                <a:latin typeface="宋体" panose="02010600030101010101" pitchFamily="2" charset="-122"/>
              </a:rPr>
              <a:t>,  </a:t>
            </a:r>
            <a:r>
              <a:rPr lang="zh-CN" altLang="en-US" sz="2400" dirty="0">
                <a:latin typeface="宋体" panose="02010600030101010101" pitchFamily="2" charset="-122"/>
              </a:rPr>
              <a:t>会员人数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学生</a:t>
            </a:r>
            <a:r>
              <a:rPr lang="en-US" altLang="zh-CN" sz="2400" dirty="0">
                <a:latin typeface="宋体" panose="02010600030101010101" pitchFamily="2" charset="-122"/>
              </a:rPr>
              <a:t>—</a:t>
            </a:r>
            <a:r>
              <a:rPr lang="zh-CN" altLang="en-US" sz="2400" dirty="0">
                <a:latin typeface="宋体" panose="02010600030101010101" pitchFamily="2" charset="-122"/>
              </a:rPr>
              <a:t>学会</a:t>
            </a:r>
            <a:r>
              <a:rPr lang="en-US" altLang="zh-CN" sz="2400" dirty="0">
                <a:latin typeface="宋体" panose="02010600030101010101" pitchFamily="2" charset="-122"/>
              </a:rPr>
              <a:t>SP(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入会年份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S</a:t>
            </a:r>
            <a:r>
              <a:rPr lang="zh-CN" altLang="en-US" sz="2400" b="1" dirty="0">
                <a:latin typeface="宋体" panose="02010600030101010101" pitchFamily="2" charset="-122"/>
              </a:rPr>
              <a:t>中存在的数据依赖：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班号，班号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系名，系名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宿舍区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	传递函数依赖：学号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系名；班号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宿舍区；学号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宿舍区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中存在的数据依赖：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专业名，专业名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系名，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	传递函数依赖：班号</a:t>
            </a:r>
            <a:r>
              <a:rPr lang="en-US" altLang="zh-CN" sz="2400" dirty="0">
                <a:latin typeface="宋体" panose="02010600030101010101" pitchFamily="2" charset="-122"/>
              </a:rPr>
              <a:t>→</a:t>
            </a:r>
            <a:r>
              <a:rPr lang="zh-CN" altLang="en-US" sz="2400" dirty="0">
                <a:latin typeface="宋体" panose="02010600030101010101" pitchFamily="2" charset="-122"/>
              </a:rPr>
              <a:t>系名。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函数依赖左部是多属性的情况：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</a:rPr>
              <a:t>学号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学会名</a:t>
            </a:r>
            <a:r>
              <a:rPr lang="en-US" altLang="zh-CN" sz="2400" dirty="0">
                <a:latin typeface="宋体" panose="02010600030101010101" pitchFamily="2" charset="-122"/>
              </a:rPr>
              <a:t>)→</a:t>
            </a:r>
            <a:r>
              <a:rPr lang="zh-CN" altLang="en-US" sz="2400" dirty="0">
                <a:latin typeface="宋体" panose="02010600030101010101" pitchFamily="2" charset="-122"/>
              </a:rPr>
              <a:t>入会年份</a:t>
            </a:r>
            <a:r>
              <a:rPr lang="en-US" altLang="zh-CN" sz="2400" dirty="0">
                <a:latin typeface="宋体" panose="02010600030101010101" pitchFamily="2" charset="-122"/>
              </a:rPr>
              <a:t>,(</a:t>
            </a:r>
            <a:r>
              <a:rPr lang="zh-CN" altLang="en-US" sz="2400" dirty="0">
                <a:latin typeface="宋体" panose="02010600030101010101" pitchFamily="2" charset="-122"/>
              </a:rPr>
              <a:t>专业名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入学年份</a:t>
            </a:r>
            <a:r>
              <a:rPr lang="en-US" altLang="zh-CN" sz="2400" dirty="0">
                <a:latin typeface="宋体" panose="02010600030101010101" pitchFamily="2" charset="-122"/>
              </a:rPr>
              <a:t>)→</a:t>
            </a:r>
            <a:r>
              <a:rPr lang="zh-CN" altLang="en-US" sz="2400" dirty="0">
                <a:latin typeface="宋体" panose="02010600030101010101" pitchFamily="2" charset="-122"/>
              </a:rPr>
              <a:t>班号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文本占位符 28673"/>
          <p:cNvSpPr>
            <a:spLocks noGrp="1"/>
          </p:cNvSpPr>
          <p:nvPr>
            <p:ph type="body" sz="half" idx="1"/>
          </p:nvPr>
        </p:nvSpPr>
        <p:spPr>
          <a:xfrm>
            <a:off x="609600" y="381000"/>
            <a:ext cx="77724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/>
              <a:t>指出个关系的候选码，外部码，有没有全码。</a:t>
            </a:r>
            <a:endParaRPr lang="zh-CN" altLang="en-US" sz="2800" dirty="0"/>
          </a:p>
        </p:txBody>
      </p:sp>
      <p:graphicFrame>
        <p:nvGraphicFramePr>
          <p:cNvPr id="28675" name="内容占位符 28674"/>
          <p:cNvGraphicFramePr>
            <a:graphicFrameLocks noGrp="1"/>
          </p:cNvGraphicFramePr>
          <p:nvPr>
            <p:ph sz="half" idx="4294967295"/>
          </p:nvPr>
        </p:nvGraphicFramePr>
        <p:xfrm>
          <a:off x="762000" y="1676400"/>
          <a:ext cx="7543800" cy="3648075"/>
        </p:xfrm>
        <a:graphic>
          <a:graphicData uri="http://schemas.openxmlformats.org/drawingml/2006/table">
            <a:tbl>
              <a:tblPr/>
              <a:tblGrid>
                <a:gridCol w="1885950"/>
                <a:gridCol w="2381250"/>
                <a:gridCol w="2133600"/>
                <a:gridCol w="1143000"/>
              </a:tblGrid>
              <a:tr h="601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关系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候选码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班号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班号和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专业名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入学年份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系号和系名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学会名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学会名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学会名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作业：规范化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Teaching(Course, Teacher, Time, Room, Student, Grade)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Course-&gt;Teacher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Time, Room -&gt; Course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Time, Teacher -&gt; Room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Time, Student -&gt; Room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Course, Student -&gt; Grade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1、是否是BCNF或3NF？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2、BCNF分解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3、分解后的模式集是否保持函数依赖？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作业：规范化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Teaching(Course, Teacher, 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Room, 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Grade)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主码：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(Time, Student)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，不是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BCNF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，不是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3NF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分解（答案不唯一）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(Course, Teacher)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(Course, Student, Grade)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(Time, Room, Course)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(Time, Room, Student)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不保持函数依赖（Time, Teacher -&gt; Room）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32769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作业：淘宝网数据库设计</a:t>
            </a:r>
            <a:endParaRPr lang="zh-CN" altLang="en-US" dirty="0"/>
          </a:p>
        </p:txBody>
      </p:sp>
      <p:sp>
        <p:nvSpPr>
          <p:cNvPr id="39939" name="文本占位符 32770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 typeface="Arial" panose="020B0604020202020204" pitchFamily="34" charset="0"/>
            </a:pPr>
            <a:r>
              <a:rPr lang="zh-CN" altLang="en-US" sz="3000" dirty="0"/>
              <a:t>实体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卖家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买家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店铺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宝贝</a:t>
            </a:r>
            <a:endParaRPr lang="zh-CN" altLang="en-US" sz="3000" dirty="0"/>
          </a:p>
        </p:txBody>
      </p:sp>
      <p:sp>
        <p:nvSpPr>
          <p:cNvPr id="39940" name="文本占位符 32771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 typeface="Arial" panose="020B0604020202020204" pitchFamily="34" charset="0"/>
            </a:pPr>
            <a:r>
              <a:rPr lang="zh-CN" altLang="en-US" sz="3000" dirty="0"/>
              <a:t>联系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经营（卖家</a:t>
            </a:r>
            <a:r>
              <a:rPr lang="en-US" altLang="zh-CN" sz="3000" dirty="0"/>
              <a:t>-</a:t>
            </a:r>
            <a:r>
              <a:rPr lang="zh-CN" altLang="en-US" sz="3000" dirty="0"/>
              <a:t>店铺）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上架（店铺</a:t>
            </a:r>
            <a:r>
              <a:rPr lang="en-US" altLang="zh-CN" sz="3000" dirty="0"/>
              <a:t>-</a:t>
            </a:r>
            <a:r>
              <a:rPr lang="zh-CN" altLang="en-US" sz="3000" dirty="0"/>
              <a:t>宝贝）</a:t>
            </a:r>
            <a:endParaRPr lang="zh-CN" altLang="en-US" sz="3000" dirty="0"/>
          </a:p>
          <a:p>
            <a:pPr lvl="1" eaLnBrk="1" hangingPunct="1">
              <a:buFont typeface="Arial" panose="020B0604020202020204" pitchFamily="34" charset="0"/>
            </a:pPr>
            <a:r>
              <a:rPr lang="zh-CN" altLang="en-US" sz="3000" dirty="0"/>
              <a:t>交易（卖家</a:t>
            </a:r>
            <a:r>
              <a:rPr lang="en-US" altLang="zh-CN" sz="3000" dirty="0"/>
              <a:t>-</a:t>
            </a:r>
            <a:r>
              <a:rPr lang="zh-CN" altLang="en-US" sz="3000" dirty="0"/>
              <a:t>买家）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3379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淘宝网</a:t>
            </a:r>
            <a:endParaRPr lang="zh-CN" altLang="en-US" sz="4000" dirty="0"/>
          </a:p>
        </p:txBody>
      </p:sp>
      <p:graphicFrame>
        <p:nvGraphicFramePr>
          <p:cNvPr id="40963" name="对象 33795"/>
          <p:cNvGraphicFramePr>
            <a:graphicFrameLocks noChangeAspect="1"/>
          </p:cNvGraphicFramePr>
          <p:nvPr/>
        </p:nvGraphicFramePr>
        <p:xfrm>
          <a:off x="200025" y="1844675"/>
          <a:ext cx="3779838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346700" imgH="5803900" progId="Visio.Drawing.11">
                  <p:embed/>
                </p:oleObj>
              </mc:Choice>
              <mc:Fallback>
                <p:oleObj name="" r:id="rId1" imgW="5346700" imgH="58039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025" y="1844675"/>
                        <a:ext cx="3779838" cy="410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275" y="2381250"/>
            <a:ext cx="5165725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3379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淘宝网</a:t>
            </a:r>
            <a:endParaRPr lang="zh-CN" altLang="en-US" sz="4000" dirty="0"/>
          </a:p>
        </p:txBody>
      </p:sp>
      <p:sp>
        <p:nvSpPr>
          <p:cNvPr id="41987" name="文本占位符 33794"/>
          <p:cNvSpPr>
            <a:spLocks noGrp="1"/>
          </p:cNvSpPr>
          <p:nvPr>
            <p:ph idx="1"/>
          </p:nvPr>
        </p:nvSpPr>
        <p:spPr>
          <a:xfrm>
            <a:off x="755650" y="1628775"/>
            <a:ext cx="7632700" cy="50133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卖家（</a:t>
            </a:r>
            <a:r>
              <a:rPr lang="zh-CN" altLang="en-US" sz="2400" u="sng" dirty="0"/>
              <a:t>卖家</a:t>
            </a:r>
            <a:r>
              <a:rPr lang="en-US" altLang="zh-CN" sz="2400" u="sng" dirty="0"/>
              <a:t>ID</a:t>
            </a:r>
            <a:r>
              <a:rPr lang="zh-CN" altLang="en-US" sz="2400" dirty="0"/>
              <a:t>，卖家昵称，评级，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店铺（</a:t>
            </a:r>
            <a:r>
              <a:rPr lang="zh-CN" altLang="en-US" sz="2400" u="sng" dirty="0"/>
              <a:t>店铺</a:t>
            </a:r>
            <a:r>
              <a:rPr lang="en-US" altLang="zh-CN" sz="2400" u="sng" dirty="0"/>
              <a:t>ID</a:t>
            </a:r>
            <a:r>
              <a:rPr lang="zh-CN" altLang="en-US" sz="2400" dirty="0"/>
              <a:t>，店铺名，</a:t>
            </a:r>
            <a:r>
              <a:rPr lang="zh-CN" altLang="en-US" sz="2400" dirty="0">
                <a:solidFill>
                  <a:srgbClr val="3333FF"/>
                </a:solidFill>
              </a:rPr>
              <a:t>卖家</a:t>
            </a:r>
            <a:r>
              <a:rPr lang="en-US" altLang="zh-CN" sz="2400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宝贝（</a:t>
            </a:r>
            <a:r>
              <a:rPr lang="zh-CN" altLang="en-US" sz="2400" u="sng" dirty="0"/>
              <a:t>宝贝</a:t>
            </a:r>
            <a:r>
              <a:rPr lang="en-US" altLang="zh-CN" sz="2400" u="sng" dirty="0"/>
              <a:t>ID</a:t>
            </a:r>
            <a:r>
              <a:rPr lang="zh-CN" altLang="en-US" sz="2400" dirty="0"/>
              <a:t>，宝贝名，</a:t>
            </a:r>
            <a:r>
              <a:rPr lang="zh-CN" altLang="en-US" sz="2400" dirty="0">
                <a:solidFill>
                  <a:srgbClr val="3333FF"/>
                </a:solidFill>
              </a:rPr>
              <a:t>店铺</a:t>
            </a:r>
            <a:r>
              <a:rPr lang="en-US" altLang="zh-CN" sz="2400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3333FF"/>
                </a:solidFill>
              </a:rPr>
              <a:t>库存量</a:t>
            </a:r>
            <a:r>
              <a:rPr lang="zh-CN" altLang="en-US" sz="2400" dirty="0"/>
              <a:t>，描述，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买家（</a:t>
            </a:r>
            <a:r>
              <a:rPr lang="zh-CN" altLang="en-US" sz="2400" u="sng" dirty="0"/>
              <a:t>买家</a:t>
            </a:r>
            <a:r>
              <a:rPr lang="en-US" altLang="zh-CN" sz="2400" u="sng" dirty="0"/>
              <a:t>ID</a:t>
            </a:r>
            <a:r>
              <a:rPr lang="zh-CN" altLang="en-US" sz="2400" dirty="0"/>
              <a:t>，买家昵称，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订单（</a:t>
            </a:r>
            <a:r>
              <a:rPr lang="zh-CN" altLang="en-US" sz="2400" u="sng" dirty="0"/>
              <a:t>订单</a:t>
            </a:r>
            <a:r>
              <a:rPr lang="en-US" altLang="zh-CN" sz="2400" u="sng" dirty="0"/>
              <a:t>ID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3333FF"/>
                </a:solidFill>
              </a:rPr>
              <a:t>卖家</a:t>
            </a:r>
            <a:r>
              <a:rPr lang="en-US" altLang="zh-CN" sz="2400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3333FF"/>
                </a:solidFill>
              </a:rPr>
              <a:t>买家</a:t>
            </a:r>
            <a:r>
              <a:rPr lang="en-US" altLang="zh-CN" sz="2400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，交易状态，</a:t>
            </a:r>
            <a:r>
              <a:rPr lang="en-US" altLang="zh-CN" sz="2400" dirty="0"/>
              <a:t>……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订单组成（</a:t>
            </a:r>
            <a:r>
              <a:rPr lang="zh-CN" altLang="en-US" sz="2400" u="sng" dirty="0">
                <a:solidFill>
                  <a:srgbClr val="3333FF"/>
                </a:solidFill>
              </a:rPr>
              <a:t>订单</a:t>
            </a:r>
            <a:r>
              <a:rPr lang="en-US" altLang="zh-CN" sz="2400" u="sng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</a:t>
            </a:r>
            <a:r>
              <a:rPr lang="zh-CN" altLang="en-US" sz="2400" u="sng" dirty="0">
                <a:solidFill>
                  <a:srgbClr val="3333FF"/>
                </a:solidFill>
              </a:rPr>
              <a:t>宝贝</a:t>
            </a:r>
            <a:r>
              <a:rPr lang="en-US" altLang="zh-CN" sz="2400" u="sng" dirty="0">
                <a:solidFill>
                  <a:srgbClr val="3333FF"/>
                </a:solidFill>
              </a:rPr>
              <a:t>ID</a:t>
            </a:r>
            <a:r>
              <a:rPr lang="zh-CN" altLang="en-US" sz="2400" dirty="0"/>
              <a:t>，成交价格，订货量）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标题 6963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微信</a:t>
            </a:r>
            <a:endParaRPr lang="en-US" altLang="zh-CN" sz="3200" dirty="0"/>
          </a:p>
        </p:txBody>
      </p:sp>
      <p:sp>
        <p:nvSpPr>
          <p:cNvPr id="43011" name="文本占位符 69634"/>
          <p:cNvSpPr>
            <a:spLocks noGrp="1"/>
          </p:cNvSpPr>
          <p:nvPr>
            <p:ph idx="1"/>
          </p:nvPr>
        </p:nvSpPr>
        <p:spPr>
          <a:xfrm>
            <a:off x="107950" y="1417638"/>
            <a:ext cx="4968875" cy="51514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用户（</a:t>
            </a:r>
            <a:r>
              <a:rPr lang="zh-CN" altLang="en-US" sz="2600" u="sng" dirty="0"/>
              <a:t>微信号</a:t>
            </a:r>
            <a:r>
              <a:rPr lang="zh-CN" altLang="en-US" sz="2600" dirty="0"/>
              <a:t>，昵称，朋友圈权限，……）</a:t>
            </a:r>
            <a:endParaRPr lang="zh-CN" altLang="en-US" sz="2600" dirty="0"/>
          </a:p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状态（</a:t>
            </a:r>
            <a:r>
              <a:rPr lang="zh-CN" altLang="en-US" sz="2600" u="sng" dirty="0"/>
              <a:t>状态</a:t>
            </a:r>
            <a:r>
              <a:rPr lang="en-US" altLang="zh-CN" sz="2600" u="sng" dirty="0"/>
              <a:t>ID</a:t>
            </a:r>
            <a:r>
              <a:rPr lang="zh-CN" altLang="en-US" sz="2600" dirty="0"/>
              <a:t>，发布时间，</a:t>
            </a:r>
            <a:r>
              <a:rPr lang="zh-CN" altLang="en-US" sz="2600" dirty="0">
                <a:solidFill>
                  <a:srgbClr val="0070C0"/>
                </a:solidFill>
              </a:rPr>
              <a:t>发布者微信号</a:t>
            </a:r>
            <a:r>
              <a:rPr lang="zh-CN" altLang="en-US" sz="2600" dirty="0"/>
              <a:t>， 点赞数，…… ）</a:t>
            </a:r>
            <a:endParaRPr lang="zh-CN" altLang="en-US" sz="2600" dirty="0"/>
          </a:p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关系（</a:t>
            </a:r>
            <a:r>
              <a:rPr lang="zh-CN" altLang="en-US" sz="2600" u="sng" dirty="0"/>
              <a:t>用户A微信号</a:t>
            </a:r>
            <a:r>
              <a:rPr lang="zh-CN" altLang="en-US" sz="2600" dirty="0"/>
              <a:t>，</a:t>
            </a:r>
            <a:r>
              <a:rPr lang="zh-CN" altLang="en-US" sz="2600" u="sng" dirty="0"/>
              <a:t>用户B 微信号</a:t>
            </a:r>
            <a:r>
              <a:rPr lang="zh-CN" altLang="en-US" sz="2600" dirty="0"/>
              <a:t>，关系类型，……）</a:t>
            </a:r>
            <a:endParaRPr lang="zh-CN" altLang="en-US" sz="2600" dirty="0"/>
          </a:p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消息（</a:t>
            </a:r>
            <a:r>
              <a:rPr lang="zh-CN" altLang="en-US" sz="2600" u="sng" dirty="0"/>
              <a:t>发送用户微信号</a:t>
            </a:r>
            <a:r>
              <a:rPr lang="zh-CN" altLang="en-US" sz="2600" dirty="0"/>
              <a:t>，</a:t>
            </a:r>
            <a:r>
              <a:rPr lang="zh-CN" altLang="en-US" sz="2600" u="sng" dirty="0"/>
              <a:t>接受用户微信号</a:t>
            </a:r>
            <a:r>
              <a:rPr lang="zh-CN" altLang="en-US" sz="2600" dirty="0"/>
              <a:t>，</a:t>
            </a:r>
            <a:r>
              <a:rPr lang="zh-CN" altLang="en-US" sz="2600" u="sng" dirty="0"/>
              <a:t>发送时间</a:t>
            </a:r>
            <a:r>
              <a:rPr lang="zh-CN" altLang="en-US" sz="2600" dirty="0"/>
              <a:t>，内容，……）</a:t>
            </a:r>
            <a:endParaRPr lang="zh-CN" altLang="en-US" sz="2600" dirty="0"/>
          </a:p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点赞（</a:t>
            </a:r>
            <a:r>
              <a:rPr lang="zh-CN" altLang="en-US" sz="2600" u="sng" dirty="0">
                <a:solidFill>
                  <a:srgbClr val="0070C0"/>
                </a:solidFill>
              </a:rPr>
              <a:t>点赞用户微信号</a:t>
            </a:r>
            <a:r>
              <a:rPr lang="zh-CN" altLang="en-US" sz="2600" dirty="0"/>
              <a:t>，</a:t>
            </a:r>
            <a:r>
              <a:rPr lang="zh-CN" altLang="en-US" sz="2600" u="sng" dirty="0">
                <a:solidFill>
                  <a:srgbClr val="0070C0"/>
                </a:solidFill>
              </a:rPr>
              <a:t>状态</a:t>
            </a:r>
            <a:r>
              <a:rPr lang="en-US" altLang="zh-CN" sz="2600" u="sng" dirty="0">
                <a:solidFill>
                  <a:srgbClr val="0070C0"/>
                </a:solidFill>
              </a:rPr>
              <a:t>ID</a:t>
            </a:r>
            <a:r>
              <a:rPr lang="zh-CN" altLang="en-US" sz="2600" dirty="0"/>
              <a:t>，……）</a:t>
            </a:r>
            <a:endParaRPr lang="en-US" altLang="zh-CN" sz="2600" dirty="0"/>
          </a:p>
          <a:p>
            <a:pPr eaLnBrk="1" hangingPunct="1">
              <a:spcBef>
                <a:spcPct val="0"/>
              </a:spcBef>
            </a:pPr>
            <a:r>
              <a:rPr lang="zh-CN" altLang="en-US" sz="2600" dirty="0"/>
              <a:t>评论（</a:t>
            </a:r>
            <a:r>
              <a:rPr lang="zh-CN" altLang="en-US" sz="2600" u="sng" dirty="0">
                <a:solidFill>
                  <a:srgbClr val="0070C0"/>
                </a:solidFill>
              </a:rPr>
              <a:t>评论用户微信号</a:t>
            </a:r>
            <a:r>
              <a:rPr lang="zh-CN" altLang="en-US" sz="2600" dirty="0"/>
              <a:t>，</a:t>
            </a:r>
            <a:r>
              <a:rPr lang="zh-CN" altLang="en-US" sz="2600" u="sng" dirty="0">
                <a:solidFill>
                  <a:srgbClr val="0070C0"/>
                </a:solidFill>
              </a:rPr>
              <a:t>状态</a:t>
            </a:r>
            <a:r>
              <a:rPr lang="en-US" altLang="zh-CN" sz="2600" u="sng" dirty="0">
                <a:solidFill>
                  <a:srgbClr val="0070C0"/>
                </a:solidFill>
              </a:rPr>
              <a:t>ID</a:t>
            </a:r>
            <a:r>
              <a:rPr lang="zh-CN" altLang="en-US" sz="2600" dirty="0"/>
              <a:t>，评论时间，内容…… ）</a:t>
            </a:r>
            <a:endParaRPr lang="zh-CN" altLang="en-US" sz="2600" dirty="0"/>
          </a:p>
        </p:txBody>
      </p:sp>
      <p:graphicFrame>
        <p:nvGraphicFramePr>
          <p:cNvPr id="43012" name="对象 69635"/>
          <p:cNvGraphicFramePr>
            <a:graphicFrameLocks noChangeAspect="1"/>
          </p:cNvGraphicFramePr>
          <p:nvPr/>
        </p:nvGraphicFramePr>
        <p:xfrm>
          <a:off x="5076825" y="2349500"/>
          <a:ext cx="4087813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473700" imgH="4635500" progId="Visio.Drawing.11">
                  <p:embed/>
                </p:oleObj>
              </mc:Choice>
              <mc:Fallback>
                <p:oleObj name="" r:id="rId1" imgW="5473700" imgH="46355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76825" y="2349500"/>
                        <a:ext cx="4087813" cy="345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简知乎</a:t>
            </a:r>
            <a:endParaRPr lang="zh-CN" altLang="en-US" dirty="0"/>
          </a:p>
        </p:txBody>
      </p:sp>
      <p:sp>
        <p:nvSpPr>
          <p:cNvPr id="44035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  <p:pic>
        <p:nvPicPr>
          <p:cNvPr id="4403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4313"/>
            <a:ext cx="9144000" cy="5135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简知乎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用户（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、用户名，密码）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提问者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，问题内容，提问时间，关注数，回答数）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回答（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回答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回答者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，回答内容，回答时间，赞同数）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关注（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邀请（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邀请用户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被邀请用户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赞同（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回答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8890</Words>
  <Application>WPS 演示</Application>
  <PresentationFormat>全屏显示(4:3)</PresentationFormat>
  <Paragraphs>1042</Paragraphs>
  <Slides>38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仿宋_GB2312</vt:lpstr>
      <vt:lpstr>仿宋</vt:lpstr>
      <vt:lpstr>新宋体</vt:lpstr>
      <vt:lpstr>微软雅黑</vt:lpstr>
      <vt:lpstr>Arial Unicode MS</vt:lpstr>
      <vt:lpstr>默认设计模板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作业答案</dc:title>
  <dc:creator>Administrator</dc:creator>
  <cp:lastModifiedBy>欧蜜（2和11）</cp:lastModifiedBy>
  <cp:revision>53</cp:revision>
  <dcterms:created xsi:type="dcterms:W3CDTF">2012-06-06T01:30:27Z</dcterms:created>
  <dcterms:modified xsi:type="dcterms:W3CDTF">2025-06-15T12:28:24Z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47BA3038B0FA458D88A83F5E58DE85AE_13</vt:lpwstr>
  </property>
</Properties>
</file>