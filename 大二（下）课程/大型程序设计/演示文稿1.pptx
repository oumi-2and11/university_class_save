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55295" y="3615690"/>
            <a:ext cx="11182350" cy="3575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0065" y="1090295"/>
            <a:ext cx="2341880" cy="8401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600" b="1">
                <a:solidFill>
                  <a:srgbClr val="FF0000"/>
                </a:solidFill>
                <a:latin typeface="+mn-ea"/>
              </a:rPr>
              <a:t>Web GUI</a:t>
            </a:r>
            <a:endParaRPr lang="en-US" altLang="zh-CN" sz="36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82490" y="1090295"/>
            <a:ext cx="2341880" cy="840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rgbClr val="FF0000"/>
                </a:solidFill>
                <a:latin typeface="+mn-ea"/>
              </a:rPr>
              <a:t>客户端</a:t>
            </a:r>
            <a:endParaRPr lang="zh-CN" altLang="en-US" sz="36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844915" y="1090295"/>
            <a:ext cx="2341880" cy="84010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rgbClr val="FF0000"/>
                </a:solidFill>
                <a:latin typeface="+mn-ea"/>
              </a:rPr>
              <a:t>服务器端</a:t>
            </a:r>
            <a:endParaRPr lang="zh-CN" altLang="en-US" sz="3600" b="1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9" name="直接箭头连接符 8"/>
          <p:cNvCxnSpPr>
            <a:stCxn id="4" idx="3"/>
            <a:endCxn id="5" idx="1"/>
          </p:cNvCxnSpPr>
          <p:nvPr/>
        </p:nvCxnSpPr>
        <p:spPr>
          <a:xfrm>
            <a:off x="2861945" y="1510665"/>
            <a:ext cx="1820545" cy="0"/>
          </a:xfrm>
          <a:prstGeom prst="straightConnector1">
            <a:avLst/>
          </a:prstGeom>
          <a:ln w="47625" cmpd="sng">
            <a:solidFill>
              <a:schemeClr val="accent1">
                <a:shade val="50000"/>
              </a:schemeClr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7024370" y="1510665"/>
            <a:ext cx="1820545" cy="0"/>
          </a:xfrm>
          <a:prstGeom prst="straightConnector1">
            <a:avLst/>
          </a:prstGeom>
          <a:ln w="47625" cmpd="sng">
            <a:solidFill>
              <a:schemeClr val="accent1">
                <a:shade val="50000"/>
              </a:schemeClr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135630" y="1142365"/>
            <a:ext cx="145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前后端接口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58050" y="1090295"/>
            <a:ext cx="145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B050"/>
                </a:solidFill>
              </a:rPr>
              <a:t>C/S</a:t>
            </a:r>
            <a:r>
              <a:rPr lang="zh-CN" altLang="en-US" b="1">
                <a:solidFill>
                  <a:srgbClr val="00B050"/>
                </a:solidFill>
              </a:rPr>
              <a:t>端接口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239645" y="2588895"/>
            <a:ext cx="2341880" cy="840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rgbClr val="FF0000"/>
                </a:solidFill>
                <a:latin typeface="+mn-ea"/>
              </a:rPr>
              <a:t>客户端</a:t>
            </a:r>
            <a:endParaRPr lang="zh-CN" altLang="en-US" sz="36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050405" y="2588895"/>
            <a:ext cx="2341880" cy="840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rgbClr val="FF0000"/>
                </a:solidFill>
                <a:latin typeface="+mn-ea"/>
              </a:rPr>
              <a:t>客户端</a:t>
            </a:r>
            <a:endParaRPr lang="zh-CN" altLang="en-US" sz="36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7" name="左右箭头 16"/>
          <p:cNvSpPr/>
          <p:nvPr/>
        </p:nvSpPr>
        <p:spPr>
          <a:xfrm>
            <a:off x="4584700" y="2896870"/>
            <a:ext cx="2458720" cy="208915"/>
          </a:xfrm>
          <a:prstGeom prst="left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97450" y="2588895"/>
            <a:ext cx="163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客户端间接口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5575" y="5334000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项目架构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5" name="矩形 504"/>
          <p:cNvSpPr/>
          <p:nvPr/>
        </p:nvSpPr>
        <p:spPr>
          <a:xfrm>
            <a:off x="785495" y="1000760"/>
            <a:ext cx="8386445" cy="5447665"/>
          </a:xfrm>
          <a:prstGeom prst="rect">
            <a:avLst/>
          </a:prstGeom>
          <a:solidFill>
            <a:srgbClr val="EAF3E9"/>
          </a:solidFill>
          <a:ln w="50800"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506" name="矩形 505"/>
          <p:cNvSpPr/>
          <p:nvPr/>
        </p:nvSpPr>
        <p:spPr>
          <a:xfrm>
            <a:off x="4771390" y="2813050"/>
            <a:ext cx="4138930" cy="3611245"/>
          </a:xfrm>
          <a:prstGeom prst="rect">
            <a:avLst/>
          </a:prstGeom>
          <a:solidFill>
            <a:srgbClr val="ECF3FD"/>
          </a:solidFill>
          <a:ln>
            <a:solidFill>
              <a:srgbClr val="93C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4310" y="0"/>
            <a:ext cx="40944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前后端分离框架</a:t>
            </a:r>
            <a:endParaRPr lang="zh-CN" altLang="en-US" sz="4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60830" y="1329055"/>
            <a:ext cx="118554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浏览器</a:t>
            </a:r>
            <a:endParaRPr lang="zh-CN" altLang="en-US" sz="2400" b="1"/>
          </a:p>
        </p:txBody>
      </p:sp>
      <p:sp>
        <p:nvSpPr>
          <p:cNvPr id="6" name="圆角矩形 5"/>
          <p:cNvSpPr/>
          <p:nvPr/>
        </p:nvSpPr>
        <p:spPr>
          <a:xfrm>
            <a:off x="1151890" y="1820545"/>
            <a:ext cx="2107565" cy="22371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76045" y="2153285"/>
            <a:ext cx="1659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获取静态页面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1376045" y="2839720"/>
            <a:ext cx="17665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运行</a:t>
            </a:r>
            <a:r>
              <a:rPr lang="en-US" altLang="zh-CN" b="1"/>
              <a:t>JS</a:t>
            </a:r>
            <a:r>
              <a:rPr lang="zh-CN" altLang="en-US" b="1"/>
              <a:t>请求后端数据填充到</a:t>
            </a:r>
            <a:r>
              <a:rPr lang="zh-CN" altLang="en-US" b="1"/>
              <a:t>页面中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4659630" y="1414780"/>
            <a:ext cx="1790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静态</a:t>
            </a:r>
            <a:r>
              <a:rPr lang="zh-CN" altLang="en-US" b="1"/>
              <a:t>文件服务器</a:t>
            </a:r>
            <a:endParaRPr lang="zh-CN" altLang="en-US" b="1"/>
          </a:p>
        </p:txBody>
      </p:sp>
      <p:grpSp>
        <p:nvGrpSpPr>
          <p:cNvPr id="12" name="组合 11"/>
          <p:cNvGrpSpPr/>
          <p:nvPr/>
        </p:nvGrpSpPr>
        <p:grpSpPr>
          <a:xfrm>
            <a:off x="4562475" y="1876425"/>
            <a:ext cx="2102485" cy="711200"/>
            <a:chOff x="6474" y="2955"/>
            <a:chExt cx="3311" cy="1120"/>
          </a:xfrm>
        </p:grpSpPr>
        <p:sp>
          <p:nvSpPr>
            <p:cNvPr id="9" name="圆角矩形 8"/>
            <p:cNvSpPr/>
            <p:nvPr/>
          </p:nvSpPr>
          <p:spPr>
            <a:xfrm>
              <a:off x="6475" y="2955"/>
              <a:ext cx="3311" cy="11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474" y="3225"/>
              <a:ext cx="33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HTML</a:t>
              </a:r>
              <a:r>
                <a:rPr lang="zh-CN" altLang="en-US" b="1"/>
                <a:t>、</a:t>
              </a:r>
              <a:r>
                <a:rPr lang="en-US" altLang="zh-CN" b="1"/>
                <a:t>CSS</a:t>
              </a:r>
              <a:r>
                <a:rPr lang="zh-CN" altLang="en-US" b="1"/>
                <a:t>、</a:t>
              </a:r>
              <a:r>
                <a:rPr lang="en-US" altLang="zh-CN" b="1"/>
                <a:t>JS</a:t>
              </a:r>
              <a:endParaRPr lang="en-US" altLang="zh-CN" b="1"/>
            </a:p>
          </p:txBody>
        </p:sp>
      </p:grpSp>
      <p:cxnSp>
        <p:nvCxnSpPr>
          <p:cNvPr id="14" name="直接箭头连接符 13"/>
          <p:cNvCxnSpPr/>
          <p:nvPr/>
        </p:nvCxnSpPr>
        <p:spPr>
          <a:xfrm>
            <a:off x="3261360" y="2140585"/>
            <a:ext cx="1299845" cy="9525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3209925" y="2228850"/>
            <a:ext cx="1294765" cy="7620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153410" y="1783080"/>
            <a:ext cx="1506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请求静态页面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3209925" y="2251075"/>
            <a:ext cx="1506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返回静态</a:t>
            </a:r>
            <a:r>
              <a:rPr lang="zh-CN" altLang="en-US" sz="1600"/>
              <a:t>文件</a:t>
            </a:r>
            <a:endParaRPr lang="zh-CN" altLang="en-US" sz="1600"/>
          </a:p>
        </p:txBody>
      </p:sp>
      <p:sp>
        <p:nvSpPr>
          <p:cNvPr id="19" name="圆角矩形 18"/>
          <p:cNvSpPr/>
          <p:nvPr/>
        </p:nvSpPr>
        <p:spPr>
          <a:xfrm>
            <a:off x="4950460" y="3030855"/>
            <a:ext cx="1828165" cy="2912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同侧圆角矩形 19"/>
          <p:cNvSpPr/>
          <p:nvPr/>
        </p:nvSpPr>
        <p:spPr>
          <a:xfrm>
            <a:off x="7195185" y="3030855"/>
            <a:ext cx="1455420" cy="2912745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122545" y="3030855"/>
            <a:ext cx="1483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应用服务器</a:t>
            </a:r>
            <a:endParaRPr lang="zh-CN" altLang="en-US" b="1"/>
          </a:p>
        </p:txBody>
      </p:sp>
      <p:sp>
        <p:nvSpPr>
          <p:cNvPr id="22" name="文本框 21"/>
          <p:cNvSpPr txBox="1"/>
          <p:nvPr/>
        </p:nvSpPr>
        <p:spPr>
          <a:xfrm>
            <a:off x="7433310" y="3030855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数据库</a:t>
            </a:r>
            <a:endParaRPr lang="zh-CN" altLang="en-US" b="1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259455" y="3288030"/>
            <a:ext cx="1647190" cy="15240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3253740" y="3471545"/>
            <a:ext cx="1689735" cy="7620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481705" y="2950845"/>
            <a:ext cx="1067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请求</a:t>
            </a:r>
            <a:r>
              <a:rPr lang="zh-CN" altLang="en-US" sz="1600"/>
              <a:t>数据</a:t>
            </a:r>
            <a:endParaRPr lang="zh-CN" altLang="en-US" sz="1600"/>
          </a:p>
        </p:txBody>
      </p:sp>
      <p:sp>
        <p:nvSpPr>
          <p:cNvPr id="26" name="文本框 25"/>
          <p:cNvSpPr txBox="1"/>
          <p:nvPr/>
        </p:nvSpPr>
        <p:spPr>
          <a:xfrm>
            <a:off x="3512820" y="3471545"/>
            <a:ext cx="1067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返回数据</a:t>
            </a:r>
            <a:endParaRPr lang="zh-CN" altLang="en-US" sz="1600"/>
          </a:p>
        </p:txBody>
      </p:sp>
      <p:sp>
        <p:nvSpPr>
          <p:cNvPr id="27" name="圆角矩形 26"/>
          <p:cNvSpPr/>
          <p:nvPr/>
        </p:nvSpPr>
        <p:spPr>
          <a:xfrm>
            <a:off x="1134745" y="4465955"/>
            <a:ext cx="2118995" cy="17678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44905" y="4094480"/>
            <a:ext cx="2114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安全即使</a:t>
            </a:r>
            <a:r>
              <a:rPr lang="zh-CN" altLang="en-US" b="1"/>
              <a:t>通讯系统</a:t>
            </a:r>
            <a:endParaRPr lang="zh-CN" altLang="en-US" b="1"/>
          </a:p>
        </p:txBody>
      </p:sp>
      <p:sp>
        <p:nvSpPr>
          <p:cNvPr id="29" name="文本框 28"/>
          <p:cNvSpPr txBox="1"/>
          <p:nvPr/>
        </p:nvSpPr>
        <p:spPr>
          <a:xfrm>
            <a:off x="3512820" y="5470525"/>
            <a:ext cx="1067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返回数据</a:t>
            </a:r>
            <a:endParaRPr lang="zh-CN" altLang="en-US" sz="1600"/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3290570" y="5417185"/>
            <a:ext cx="1651635" cy="3175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3253740" y="5241290"/>
            <a:ext cx="1755775" cy="12700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491230" y="4864100"/>
            <a:ext cx="1067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请求</a:t>
            </a:r>
            <a:r>
              <a:rPr lang="zh-CN" altLang="en-US" sz="1600"/>
              <a:t>数据</a:t>
            </a:r>
            <a:endParaRPr lang="zh-CN" altLang="en-US" sz="1600"/>
          </a:p>
        </p:txBody>
      </p:sp>
      <p:sp>
        <p:nvSpPr>
          <p:cNvPr id="34" name="文本框 33"/>
          <p:cNvSpPr txBox="1"/>
          <p:nvPr/>
        </p:nvSpPr>
        <p:spPr>
          <a:xfrm>
            <a:off x="1268730" y="4795520"/>
            <a:ext cx="1890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请求通讯录，好友在线状态等数据在</a:t>
            </a:r>
            <a:r>
              <a:rPr lang="zh-CN" altLang="en-US" b="1"/>
              <a:t>页面展示</a:t>
            </a:r>
            <a:endParaRPr lang="zh-CN" altLang="en-US" b="1"/>
          </a:p>
        </p:txBody>
      </p:sp>
      <p:sp>
        <p:nvSpPr>
          <p:cNvPr id="35" name="文本框 34"/>
          <p:cNvSpPr txBox="1"/>
          <p:nvPr/>
        </p:nvSpPr>
        <p:spPr>
          <a:xfrm>
            <a:off x="5004435" y="3720465"/>
            <a:ext cx="17665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对外提供统一接口，根据请求，返回所需要的</a:t>
            </a:r>
            <a:r>
              <a:rPr lang="zh-CN" altLang="en-US" b="1"/>
              <a:t>数据</a:t>
            </a:r>
            <a:endParaRPr lang="zh-CN" altLang="en-US" b="1"/>
          </a:p>
        </p:txBody>
      </p:sp>
      <p:sp>
        <p:nvSpPr>
          <p:cNvPr id="36" name="文本框 35"/>
          <p:cNvSpPr txBox="1"/>
          <p:nvPr/>
        </p:nvSpPr>
        <p:spPr>
          <a:xfrm>
            <a:off x="7195185" y="3635375"/>
            <a:ext cx="14452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存储用户登录</a:t>
            </a:r>
            <a:r>
              <a:rPr lang="zh-CN" altLang="en-US" b="1"/>
              <a:t>身份认证信息；</a:t>
            </a:r>
            <a:endParaRPr lang="zh-CN" altLang="en-US" b="1"/>
          </a:p>
          <a:p>
            <a:r>
              <a:rPr lang="en-US" altLang="zh-CN" b="1"/>
              <a:t>IP</a:t>
            </a:r>
            <a:r>
              <a:rPr lang="zh-CN" altLang="en-US" b="1"/>
              <a:t>，端口等端到端通讯</a:t>
            </a:r>
            <a:r>
              <a:rPr lang="zh-CN" altLang="en-US" b="1"/>
              <a:t>信息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930140" y="88900"/>
            <a:ext cx="1612265" cy="2927350"/>
          </a:xfrm>
          <a:prstGeom prst="rect">
            <a:avLst/>
          </a:prstGeom>
          <a:solidFill>
            <a:srgbClr val="FFF9E6"/>
          </a:solidFill>
          <a:ln>
            <a:solidFill>
              <a:srgbClr val="F8D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201920" y="166370"/>
            <a:ext cx="118554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根目录</a:t>
            </a:r>
            <a:endParaRPr lang="zh-CN" altLang="en-US" sz="2400" b="1"/>
          </a:p>
        </p:txBody>
      </p:sp>
      <p:sp>
        <p:nvSpPr>
          <p:cNvPr id="115" name="流程图: 可选过程 114"/>
          <p:cNvSpPr/>
          <p:nvPr/>
        </p:nvSpPr>
        <p:spPr>
          <a:xfrm>
            <a:off x="5043805" y="672465"/>
            <a:ext cx="1384935" cy="623570"/>
          </a:xfrm>
          <a:prstGeom prst="flowChartAlternateProcess">
            <a:avLst/>
          </a:prstGeom>
          <a:solidFill>
            <a:srgbClr val="FFF2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app.py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流程图: 可选过程 7"/>
          <p:cNvSpPr/>
          <p:nvPr/>
        </p:nvSpPr>
        <p:spPr>
          <a:xfrm>
            <a:off x="5043805" y="1479550"/>
            <a:ext cx="1384935" cy="623570"/>
          </a:xfrm>
          <a:prstGeom prst="flowChartAlternateProcess">
            <a:avLst/>
          </a:prstGeom>
          <a:solidFill>
            <a:srgbClr val="FFF2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config.py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5043805" y="2286635"/>
            <a:ext cx="1384935" cy="623570"/>
          </a:xfrm>
          <a:prstGeom prst="flowChartAlternateProcess">
            <a:avLst/>
          </a:prstGeom>
          <a:solidFill>
            <a:srgbClr val="FFF2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README.MD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05460" y="3268980"/>
            <a:ext cx="1635760" cy="3413760"/>
          </a:xfrm>
          <a:prstGeom prst="rect">
            <a:avLst/>
          </a:prstGeom>
          <a:solidFill>
            <a:srgbClr val="EAF3E9"/>
          </a:solidFill>
          <a:ln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51" name="流程图: 可选过程 50"/>
          <p:cNvSpPr/>
          <p:nvPr/>
        </p:nvSpPr>
        <p:spPr>
          <a:xfrm>
            <a:off x="601345" y="399161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contacts.py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534670" y="4665980"/>
            <a:ext cx="153987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database.py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流程图: 可选过程 10"/>
          <p:cNvSpPr/>
          <p:nvPr/>
        </p:nvSpPr>
        <p:spPr>
          <a:xfrm>
            <a:off x="601345" y="534035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online.py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流程图: 可选过程 11"/>
          <p:cNvSpPr/>
          <p:nvPr/>
        </p:nvSpPr>
        <p:spPr>
          <a:xfrm>
            <a:off x="754380" y="6014720"/>
            <a:ext cx="1136650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users.py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4380" y="3314700"/>
            <a:ext cx="118046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/>
              <a:t>models</a:t>
            </a:r>
            <a:r>
              <a:rPr lang="zh-CN" altLang="en-US" sz="2000" b="1"/>
              <a:t>文件夹</a:t>
            </a:r>
            <a:endParaRPr lang="zh-CN" altLang="en-US" sz="2000" b="1"/>
          </a:p>
        </p:txBody>
      </p:sp>
      <p:sp>
        <p:nvSpPr>
          <p:cNvPr id="14" name="矩形 13"/>
          <p:cNvSpPr/>
          <p:nvPr/>
        </p:nvSpPr>
        <p:spPr>
          <a:xfrm>
            <a:off x="2707005" y="3641725"/>
            <a:ext cx="1635760" cy="2806700"/>
          </a:xfrm>
          <a:prstGeom prst="rect">
            <a:avLst/>
          </a:prstGeom>
          <a:solidFill>
            <a:srgbClr val="EAF3E9"/>
          </a:solidFill>
          <a:ln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5" name="流程图: 可选过程 14"/>
          <p:cNvSpPr/>
          <p:nvPr/>
        </p:nvSpPr>
        <p:spPr>
          <a:xfrm>
            <a:off x="2802890" y="4364355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auth.py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6" name="流程图: 可选过程 15"/>
          <p:cNvSpPr/>
          <p:nvPr/>
        </p:nvSpPr>
        <p:spPr>
          <a:xfrm>
            <a:off x="2736215" y="5038725"/>
            <a:ext cx="153987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contacts.py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7" name="流程图: 可选过程 16"/>
          <p:cNvSpPr/>
          <p:nvPr/>
        </p:nvSpPr>
        <p:spPr>
          <a:xfrm>
            <a:off x="2802890" y="5713095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utils.py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55925" y="3687445"/>
            <a:ext cx="118046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/>
              <a:t>routes</a:t>
            </a:r>
            <a:r>
              <a:rPr lang="zh-CN" altLang="en-US" sz="2000" b="1"/>
              <a:t>文件夹</a:t>
            </a:r>
            <a:endParaRPr lang="zh-CN" altLang="en-US" sz="2000" b="1"/>
          </a:p>
        </p:txBody>
      </p:sp>
      <p:sp>
        <p:nvSpPr>
          <p:cNvPr id="20" name="矩形 19"/>
          <p:cNvSpPr/>
          <p:nvPr/>
        </p:nvSpPr>
        <p:spPr>
          <a:xfrm>
            <a:off x="4951730" y="3649345"/>
            <a:ext cx="1635760" cy="2806700"/>
          </a:xfrm>
          <a:prstGeom prst="rect">
            <a:avLst/>
          </a:prstGeom>
          <a:solidFill>
            <a:srgbClr val="EAF3E9"/>
          </a:solidFill>
          <a:ln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1" name="流程图: 可选过程 20"/>
          <p:cNvSpPr/>
          <p:nvPr/>
        </p:nvSpPr>
        <p:spPr>
          <a:xfrm>
            <a:off x="5047615" y="4371975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auth.py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" name="流程图: 可选过程 21"/>
          <p:cNvSpPr/>
          <p:nvPr/>
        </p:nvSpPr>
        <p:spPr>
          <a:xfrm>
            <a:off x="4980940" y="5046345"/>
            <a:ext cx="153987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contacts.py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" name="流程图: 可选过程 22"/>
          <p:cNvSpPr/>
          <p:nvPr/>
        </p:nvSpPr>
        <p:spPr>
          <a:xfrm>
            <a:off x="5047615" y="5720715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utils.py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35245" y="3695065"/>
            <a:ext cx="128968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/>
              <a:t>schemas</a:t>
            </a:r>
            <a:r>
              <a:rPr lang="zh-CN" altLang="en-US" sz="2000" b="1"/>
              <a:t>文件夹</a:t>
            </a:r>
            <a:endParaRPr lang="zh-CN" altLang="en-US" sz="2000" b="1"/>
          </a:p>
        </p:txBody>
      </p:sp>
      <p:sp>
        <p:nvSpPr>
          <p:cNvPr id="25" name="矩形 24"/>
          <p:cNvSpPr/>
          <p:nvPr/>
        </p:nvSpPr>
        <p:spPr>
          <a:xfrm>
            <a:off x="7244080" y="3268980"/>
            <a:ext cx="1635760" cy="3413760"/>
          </a:xfrm>
          <a:prstGeom prst="rect">
            <a:avLst/>
          </a:prstGeom>
          <a:solidFill>
            <a:srgbClr val="EAF3E9"/>
          </a:solidFill>
          <a:ln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6" name="流程图: 可选过程 25"/>
          <p:cNvSpPr/>
          <p:nvPr/>
        </p:nvSpPr>
        <p:spPr>
          <a:xfrm>
            <a:off x="7339965" y="399161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auth.py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流程图: 可选过程 26"/>
          <p:cNvSpPr/>
          <p:nvPr/>
        </p:nvSpPr>
        <p:spPr>
          <a:xfrm>
            <a:off x="7273290" y="4665980"/>
            <a:ext cx="153987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contacts.py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" name="流程图: 可选过程 27"/>
          <p:cNvSpPr/>
          <p:nvPr/>
        </p:nvSpPr>
        <p:spPr>
          <a:xfrm>
            <a:off x="7339965" y="534035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online.py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9" name="流程图: 可选过程 28"/>
          <p:cNvSpPr/>
          <p:nvPr/>
        </p:nvSpPr>
        <p:spPr>
          <a:xfrm>
            <a:off x="7493000" y="6014720"/>
            <a:ext cx="1136650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u</a:t>
            </a:r>
            <a:r>
              <a:rPr lang="en-US" altLang="zh-CN" dirty="0">
                <a:solidFill>
                  <a:schemeClr val="tx1"/>
                </a:solidFill>
              </a:rPr>
              <a:t>tils.py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93000" y="3314700"/>
            <a:ext cx="128968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/>
              <a:t>services</a:t>
            </a:r>
            <a:r>
              <a:rPr lang="zh-CN" altLang="en-US" sz="2000" b="1"/>
              <a:t>文件夹</a:t>
            </a:r>
            <a:endParaRPr lang="zh-CN" altLang="en-US" sz="2000" b="1"/>
          </a:p>
        </p:txBody>
      </p:sp>
      <p:sp>
        <p:nvSpPr>
          <p:cNvPr id="31" name="矩形 30"/>
          <p:cNvSpPr/>
          <p:nvPr/>
        </p:nvSpPr>
        <p:spPr>
          <a:xfrm>
            <a:off x="9693275" y="3268980"/>
            <a:ext cx="1635760" cy="3413760"/>
          </a:xfrm>
          <a:prstGeom prst="rect">
            <a:avLst/>
          </a:prstGeom>
          <a:solidFill>
            <a:srgbClr val="EAF3E9"/>
          </a:solidFill>
          <a:ln>
            <a:solidFill>
              <a:srgbClr val="99CC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32" name="流程图: 可选过程 31"/>
          <p:cNvSpPr/>
          <p:nvPr/>
        </p:nvSpPr>
        <p:spPr>
          <a:xfrm>
            <a:off x="9789160" y="399161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conftest.py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3" name="流程图: 可选过程 32"/>
          <p:cNvSpPr/>
          <p:nvPr/>
        </p:nvSpPr>
        <p:spPr>
          <a:xfrm>
            <a:off x="9722485" y="4665980"/>
            <a:ext cx="153987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test_auth.py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4" name="流程图: 可选过程 33"/>
          <p:cNvSpPr/>
          <p:nvPr/>
        </p:nvSpPr>
        <p:spPr>
          <a:xfrm>
            <a:off x="9789160" y="5340350"/>
            <a:ext cx="1443355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test_contacts.py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5" name="流程图: 可选过程 34"/>
          <p:cNvSpPr/>
          <p:nvPr/>
        </p:nvSpPr>
        <p:spPr>
          <a:xfrm>
            <a:off x="9942195" y="6014720"/>
            <a:ext cx="1136650" cy="547370"/>
          </a:xfrm>
          <a:prstGeom prst="flowChartAlternateProcess">
            <a:avLst/>
          </a:prstGeom>
          <a:solidFill>
            <a:srgbClr val="99CC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test_u</a:t>
            </a:r>
            <a:r>
              <a:rPr lang="en-US" altLang="zh-CN" dirty="0">
                <a:solidFill>
                  <a:schemeClr val="tx1"/>
                </a:solidFill>
              </a:rPr>
              <a:t>tils.py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876155" y="3314700"/>
            <a:ext cx="128968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/>
              <a:t>tests</a:t>
            </a:r>
            <a:endParaRPr lang="en-US" altLang="zh-CN" sz="2000" b="1"/>
          </a:p>
          <a:p>
            <a:pPr algn="ctr"/>
            <a:r>
              <a:rPr lang="zh-CN" altLang="en-US" sz="2000" b="1"/>
              <a:t>文件夹</a:t>
            </a:r>
            <a:endParaRPr lang="zh-CN" altLang="en-US" sz="2000" b="1"/>
          </a:p>
        </p:txBody>
      </p:sp>
      <p:cxnSp>
        <p:nvCxnSpPr>
          <p:cNvPr id="39" name="肘形连接符 38"/>
          <p:cNvCxnSpPr>
            <a:stCxn id="5" idx="1"/>
            <a:endCxn id="13" idx="0"/>
          </p:cNvCxnSpPr>
          <p:nvPr/>
        </p:nvCxnSpPr>
        <p:spPr>
          <a:xfrm rot="10800000" flipV="1">
            <a:off x="1344930" y="1551940"/>
            <a:ext cx="3585210" cy="1762125"/>
          </a:xfrm>
          <a:prstGeom prst="bentConnector2">
            <a:avLst/>
          </a:prstGeom>
          <a:ln w="317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肘形连接符 39"/>
          <p:cNvCxnSpPr>
            <a:stCxn id="5" idx="1"/>
          </p:cNvCxnSpPr>
          <p:nvPr/>
        </p:nvCxnSpPr>
        <p:spPr>
          <a:xfrm rot="10800000" flipV="1">
            <a:off x="3533140" y="1552575"/>
            <a:ext cx="1397000" cy="2207260"/>
          </a:xfrm>
          <a:prstGeom prst="bentConnector2">
            <a:avLst/>
          </a:prstGeom>
          <a:ln w="317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5" idx="3"/>
            <a:endCxn id="30" idx="0"/>
          </p:cNvCxnSpPr>
          <p:nvPr/>
        </p:nvCxnSpPr>
        <p:spPr>
          <a:xfrm>
            <a:off x="6542405" y="1552575"/>
            <a:ext cx="1595755" cy="1762125"/>
          </a:xfrm>
          <a:prstGeom prst="bentConnector2">
            <a:avLst/>
          </a:prstGeom>
          <a:ln w="317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5" idx="3"/>
            <a:endCxn id="36" idx="0"/>
          </p:cNvCxnSpPr>
          <p:nvPr/>
        </p:nvCxnSpPr>
        <p:spPr>
          <a:xfrm>
            <a:off x="6542405" y="1552575"/>
            <a:ext cx="3978910" cy="1762125"/>
          </a:xfrm>
          <a:prstGeom prst="bentConnector2">
            <a:avLst/>
          </a:prstGeom>
          <a:ln w="317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下箭头 43"/>
          <p:cNvSpPr/>
          <p:nvPr/>
        </p:nvSpPr>
        <p:spPr>
          <a:xfrm>
            <a:off x="5755005" y="2976245"/>
            <a:ext cx="76200" cy="718820"/>
          </a:xfrm>
          <a:prstGeom prst="down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67360" y="897890"/>
            <a:ext cx="7049770" cy="3692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803910" y="1138555"/>
            <a:ext cx="2406650" cy="7239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7030A0"/>
                </a:solidFill>
              </a:rPr>
              <a:t>message(</a:t>
            </a:r>
            <a:r>
              <a:rPr lang="zh-CN" altLang="en-US" sz="2400" b="1">
                <a:solidFill>
                  <a:srgbClr val="7030A0"/>
                </a:solidFill>
              </a:rPr>
              <a:t>消息</a:t>
            </a:r>
            <a:r>
              <a:rPr lang="en-US" altLang="zh-CN" sz="2400" b="1">
                <a:solidFill>
                  <a:srgbClr val="7030A0"/>
                </a:solidFill>
              </a:rPr>
              <a:t>)</a:t>
            </a:r>
            <a:endParaRPr lang="en-US" altLang="zh-CN" sz="2400" b="1">
              <a:solidFill>
                <a:srgbClr val="7030A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3210560" y="1341755"/>
            <a:ext cx="1666875" cy="3175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05175" y="1007110"/>
            <a:ext cx="1477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UTF-8</a:t>
            </a:r>
            <a:r>
              <a:rPr lang="zh-CN" altLang="en-US" b="1"/>
              <a:t>转码</a:t>
            </a:r>
            <a:endParaRPr lang="zh-CN" altLang="en-US" b="1"/>
          </a:p>
        </p:txBody>
      </p:sp>
      <p:sp>
        <p:nvSpPr>
          <p:cNvPr id="9" name="圆角矩形 8"/>
          <p:cNvSpPr/>
          <p:nvPr/>
        </p:nvSpPr>
        <p:spPr>
          <a:xfrm>
            <a:off x="4953635" y="1138555"/>
            <a:ext cx="2246630" cy="7239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7030A0"/>
                </a:solidFill>
              </a:rPr>
              <a:t>二进制</a:t>
            </a:r>
            <a:r>
              <a:rPr lang="zh-CN" altLang="en-US" sz="2400" b="1">
                <a:solidFill>
                  <a:srgbClr val="7030A0"/>
                </a:solidFill>
              </a:rPr>
              <a:t>比特流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1853565" y="1862455"/>
            <a:ext cx="307340" cy="18211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62710" y="1862455"/>
            <a:ext cx="4908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提取字节长度</a:t>
            </a:r>
            <a:endParaRPr lang="zh-CN" altLang="en-US" b="1"/>
          </a:p>
        </p:txBody>
      </p:sp>
      <p:sp>
        <p:nvSpPr>
          <p:cNvPr id="12" name="圆角矩形 11"/>
          <p:cNvSpPr/>
          <p:nvPr/>
        </p:nvSpPr>
        <p:spPr>
          <a:xfrm>
            <a:off x="1110615" y="3683635"/>
            <a:ext cx="1792605" cy="7239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7030A0"/>
                </a:solidFill>
              </a:rPr>
              <a:t>32</a:t>
            </a:r>
            <a:r>
              <a:rPr lang="zh-CN" altLang="en-US" sz="2400" b="1">
                <a:solidFill>
                  <a:srgbClr val="7030A0"/>
                </a:solidFill>
              </a:rPr>
              <a:t>位比特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2903220" y="3886835"/>
            <a:ext cx="1059815" cy="3175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5418455" y="1862455"/>
            <a:ext cx="387350" cy="18205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4001770" y="3683000"/>
            <a:ext cx="2604135" cy="7239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7030A0"/>
                </a:solidFill>
              </a:rPr>
              <a:t>最终消息比特</a:t>
            </a:r>
            <a:r>
              <a:rPr lang="zh-CN" altLang="en-US" sz="2400" b="1">
                <a:solidFill>
                  <a:srgbClr val="7030A0"/>
                </a:solidFill>
              </a:rPr>
              <a:t>流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37840" y="3562350"/>
            <a:ext cx="789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组合</a:t>
            </a:r>
            <a:endParaRPr lang="zh-CN" altLang="en-US" b="1"/>
          </a:p>
        </p:txBody>
      </p:sp>
      <p:sp>
        <p:nvSpPr>
          <p:cNvPr id="506" name="矩形 505"/>
          <p:cNvSpPr/>
          <p:nvPr/>
        </p:nvSpPr>
        <p:spPr>
          <a:xfrm>
            <a:off x="467360" y="4591050"/>
            <a:ext cx="7049135" cy="1959610"/>
          </a:xfrm>
          <a:prstGeom prst="rect">
            <a:avLst/>
          </a:prstGeom>
          <a:solidFill>
            <a:srgbClr val="ECF3FD"/>
          </a:solidFill>
          <a:ln>
            <a:solidFill>
              <a:srgbClr val="93C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pic>
        <p:nvPicPr>
          <p:cNvPr id="18" name="图片 17" descr="宣传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395" y="5019040"/>
            <a:ext cx="914400" cy="914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23570" y="593344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载体</a:t>
            </a:r>
            <a:r>
              <a:rPr lang="zh-CN" altLang="en-US" b="1"/>
              <a:t>图片</a:t>
            </a:r>
            <a:endParaRPr lang="zh-CN" altLang="en-US" b="1"/>
          </a:p>
        </p:txBody>
      </p:sp>
      <p:sp>
        <p:nvSpPr>
          <p:cNvPr id="20" name="右箭头 19"/>
          <p:cNvSpPr/>
          <p:nvPr/>
        </p:nvSpPr>
        <p:spPr>
          <a:xfrm>
            <a:off x="1684655" y="5549265"/>
            <a:ext cx="995045" cy="189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785620" y="5180965"/>
            <a:ext cx="789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提取</a:t>
            </a:r>
            <a:endParaRPr lang="zh-CN" altLang="en-US" b="1"/>
          </a:p>
        </p:txBody>
      </p:sp>
      <p:sp>
        <p:nvSpPr>
          <p:cNvPr id="23" name="圆角矩形 22"/>
          <p:cNvSpPr/>
          <p:nvPr/>
        </p:nvSpPr>
        <p:spPr>
          <a:xfrm>
            <a:off x="2702560" y="5297170"/>
            <a:ext cx="1792605" cy="7239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7030A0"/>
                </a:solidFill>
              </a:rPr>
              <a:t>像素矩阵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sp>
        <p:nvSpPr>
          <p:cNvPr id="24" name="下箭头 23"/>
          <p:cNvSpPr/>
          <p:nvPr/>
        </p:nvSpPr>
        <p:spPr>
          <a:xfrm>
            <a:off x="4253230" y="4474845"/>
            <a:ext cx="241935" cy="7537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912235" y="4474845"/>
            <a:ext cx="39560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嵌入</a:t>
            </a:r>
            <a:endParaRPr lang="zh-CN" altLang="en-US" b="1"/>
          </a:p>
        </p:txBody>
      </p:sp>
      <p:sp>
        <p:nvSpPr>
          <p:cNvPr id="26" name="右箭头 25"/>
          <p:cNvSpPr/>
          <p:nvPr/>
        </p:nvSpPr>
        <p:spPr>
          <a:xfrm>
            <a:off x="4518025" y="5549265"/>
            <a:ext cx="709930" cy="189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宣传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2250" y="5019040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178425" y="593344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隐写图片</a:t>
            </a:r>
            <a:endParaRPr lang="zh-CN" altLang="en-US" b="1"/>
          </a:p>
        </p:txBody>
      </p:sp>
      <p:sp>
        <p:nvSpPr>
          <p:cNvPr id="29" name="右箭头 28"/>
          <p:cNvSpPr/>
          <p:nvPr/>
        </p:nvSpPr>
        <p:spPr>
          <a:xfrm>
            <a:off x="6216650" y="5549265"/>
            <a:ext cx="483870" cy="189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用户反馈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0520" y="5019040"/>
            <a:ext cx="841375" cy="84137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633210" y="5933440"/>
            <a:ext cx="976630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收信人</a:t>
            </a:r>
            <a:endParaRPr lang="zh-CN" altLang="en-US" b="1"/>
          </a:p>
          <a:p>
            <a:endParaRPr lang="zh-CN" altLang="en-US" b="1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4530796,3504179],&quot;13&quot;:[20042469],&quot;65&quot;:[20205081]}"/>
</p:tagLst>
</file>

<file path=ppt/tags/tag67.xml><?xml version="1.0" encoding="utf-8"?>
<p:tagLst xmlns:p="http://schemas.openxmlformats.org/presentationml/2006/main">
  <p:tag name="resource_record_key" val="{&quot;10&quot;:[4530796,3504179],&quot;13&quot;:[2004246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演示</Application>
  <PresentationFormat>宽屏</PresentationFormat>
  <Paragraphs>137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欧蜜（2和11）</cp:lastModifiedBy>
  <cp:revision>161</cp:revision>
  <dcterms:created xsi:type="dcterms:W3CDTF">2019-06-19T02:08:00Z</dcterms:created>
  <dcterms:modified xsi:type="dcterms:W3CDTF">2025-07-04T09:28:05Z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3CE151F7B1CA43B7A00F53042097EF9D_11</vt:lpwstr>
  </property>
</Properties>
</file>