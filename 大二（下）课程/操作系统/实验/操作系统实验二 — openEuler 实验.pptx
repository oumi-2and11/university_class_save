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28"/>
  </p:handoutMasterIdLst>
  <p:sldIdLst>
    <p:sldId id="256" r:id="rId4"/>
    <p:sldId id="273" r:id="rId6"/>
    <p:sldId id="288" r:id="rId7"/>
    <p:sldId id="275" r:id="rId8"/>
    <p:sldId id="265" r:id="rId9"/>
    <p:sldId id="289" r:id="rId10"/>
    <p:sldId id="276" r:id="rId11"/>
    <p:sldId id="278" r:id="rId12"/>
    <p:sldId id="279" r:id="rId13"/>
    <p:sldId id="285" r:id="rId14"/>
    <p:sldId id="280" r:id="rId15"/>
    <p:sldId id="286" r:id="rId16"/>
    <p:sldId id="287" r:id="rId17"/>
    <p:sldId id="297" r:id="rId18"/>
    <p:sldId id="291" r:id="rId19"/>
    <p:sldId id="294" r:id="rId20"/>
    <p:sldId id="295" r:id="rId21"/>
    <p:sldId id="296" r:id="rId22"/>
    <p:sldId id="292" r:id="rId23"/>
    <p:sldId id="298" r:id="rId24"/>
    <p:sldId id="299" r:id="rId25"/>
    <p:sldId id="300" r:id="rId26"/>
    <p:sldId id="262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7B7E2"/>
    <a:srgbClr val="94DFCA"/>
    <a:srgbClr val="656565"/>
    <a:srgbClr val="6FBEE8"/>
    <a:srgbClr val="64B9E8"/>
    <a:srgbClr val="5CB7E8"/>
    <a:srgbClr val="7E7E7E"/>
    <a:srgbClr val="787878"/>
    <a:srgbClr val="878787"/>
    <a:srgbClr val="6E6E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46" autoAdjust="0"/>
    <p:restoredTop sz="94660"/>
  </p:normalViewPr>
  <p:slideViewPr>
    <p:cSldViewPr snapToGrid="0">
      <p:cViewPr>
        <p:scale>
          <a:sx n="75" d="100"/>
          <a:sy n="75" d="100"/>
        </p:scale>
        <p:origin x="1109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8" name="组合 7"/>
            <p:cNvGrpSpPr/>
            <p:nvPr/>
          </p:nvGrpSpPr>
          <p:grpSpPr>
            <a:xfrm>
              <a:off x="0" y="0"/>
              <a:ext cx="12192000" cy="3426738"/>
              <a:chOff x="0" y="0"/>
              <a:chExt cx="12192000" cy="3426738"/>
            </a:xfrm>
          </p:grpSpPr>
          <p:pic>
            <p:nvPicPr>
              <p:cNvPr id="13" name="图片 12"/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2134"/>
              <a:stretch>
                <a:fillRect/>
              </a:stretch>
            </p:blipFill>
            <p:spPr>
              <a:xfrm>
                <a:off x="1484512" y="0"/>
                <a:ext cx="10707488" cy="3426738"/>
              </a:xfrm>
              <a:prstGeom prst="rect">
                <a:avLst/>
              </a:prstGeom>
            </p:spPr>
          </p:pic>
          <p:sp>
            <p:nvSpPr>
              <p:cNvPr id="14" name="矩形 13"/>
              <p:cNvSpPr/>
              <p:nvPr/>
            </p:nvSpPr>
            <p:spPr>
              <a:xfrm>
                <a:off x="0" y="0"/>
                <a:ext cx="2341038" cy="3426738"/>
              </a:xfrm>
              <a:prstGeom prst="rect">
                <a:avLst/>
              </a:prstGeom>
              <a:solidFill>
                <a:srgbClr val="F8FD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 flipH="1" flipV="1">
              <a:off x="0" y="3431262"/>
              <a:ext cx="12192000" cy="3426738"/>
              <a:chOff x="0" y="0"/>
              <a:chExt cx="12192000" cy="3426738"/>
            </a:xfrm>
          </p:grpSpPr>
          <p:pic>
            <p:nvPicPr>
              <p:cNvPr id="11" name="图片 10"/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2134"/>
              <a:stretch>
                <a:fillRect/>
              </a:stretch>
            </p:blipFill>
            <p:spPr>
              <a:xfrm>
                <a:off x="1484512" y="0"/>
                <a:ext cx="10707488" cy="3426738"/>
              </a:xfrm>
              <a:prstGeom prst="rect">
                <a:avLst/>
              </a:prstGeom>
            </p:spPr>
          </p:pic>
          <p:sp>
            <p:nvSpPr>
              <p:cNvPr id="12" name="矩形 11"/>
              <p:cNvSpPr/>
              <p:nvPr/>
            </p:nvSpPr>
            <p:spPr>
              <a:xfrm>
                <a:off x="0" y="0"/>
                <a:ext cx="2341038" cy="3426738"/>
              </a:xfrm>
              <a:prstGeom prst="rect">
                <a:avLst/>
              </a:prstGeom>
              <a:solidFill>
                <a:srgbClr val="F8FD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0" name="矩形 9"/>
            <p:cNvSpPr/>
            <p:nvPr/>
          </p:nvSpPr>
          <p:spPr>
            <a:xfrm>
              <a:off x="145004" y="150920"/>
              <a:ext cx="11901994" cy="6556162"/>
            </a:xfrm>
            <a:prstGeom prst="rect">
              <a:avLst/>
            </a:prstGeom>
            <a:solidFill>
              <a:schemeClr val="bg1"/>
            </a:solidFill>
            <a:ln w="19050">
              <a:noFill/>
            </a:ln>
            <a:effectLst>
              <a:outerShdw blurRad="38100" sx="102000" sy="102000" algn="ctr" rotWithShape="0">
                <a:prstClr val="black">
                  <a:alpha val="1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B45E7-6F18-48A8-B03C-C7325E0871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9D13F-E245-4C4C-9D5A-EC3FF45CF48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B45E7-6F18-48A8-B03C-C7325E0871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9D13F-E245-4C4C-9D5A-EC3FF45CF48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B45E7-6F18-48A8-B03C-C7325E0871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9D13F-E245-4C4C-9D5A-EC3FF45CF48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B45E7-6F18-48A8-B03C-C7325E0871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9D13F-E245-4C4C-9D5A-EC3FF45CF48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B45E7-6F18-48A8-B03C-C7325E0871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9D13F-E245-4C4C-9D5A-EC3FF45CF48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B45E7-6F18-48A8-B03C-C7325E0871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9D13F-E245-4C4C-9D5A-EC3FF45CF48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B45E7-6F18-48A8-B03C-C7325E0871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9D13F-E245-4C4C-9D5A-EC3FF45CF48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B45E7-6F18-48A8-B03C-C7325E0871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9D13F-E245-4C4C-9D5A-EC3FF45CF48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B45E7-6F18-48A8-B03C-C7325E0871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9D13F-E245-4C4C-9D5A-EC3FF45CF48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B45E7-6F18-48A8-B03C-C7325E0871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9D13F-E245-4C4C-9D5A-EC3FF45CF48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8" name="组合 7"/>
            <p:cNvGrpSpPr/>
            <p:nvPr/>
          </p:nvGrpSpPr>
          <p:grpSpPr>
            <a:xfrm>
              <a:off x="0" y="0"/>
              <a:ext cx="12192000" cy="3426738"/>
              <a:chOff x="0" y="0"/>
              <a:chExt cx="12192000" cy="3426738"/>
            </a:xfrm>
          </p:grpSpPr>
          <p:pic>
            <p:nvPicPr>
              <p:cNvPr id="13" name="图片 12"/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2134"/>
              <a:stretch>
                <a:fillRect/>
              </a:stretch>
            </p:blipFill>
            <p:spPr>
              <a:xfrm>
                <a:off x="1484512" y="0"/>
                <a:ext cx="10707488" cy="3426738"/>
              </a:xfrm>
              <a:prstGeom prst="rect">
                <a:avLst/>
              </a:prstGeom>
            </p:spPr>
          </p:pic>
          <p:sp>
            <p:nvSpPr>
              <p:cNvPr id="14" name="矩形 13"/>
              <p:cNvSpPr/>
              <p:nvPr/>
            </p:nvSpPr>
            <p:spPr>
              <a:xfrm>
                <a:off x="0" y="0"/>
                <a:ext cx="2341038" cy="3426738"/>
              </a:xfrm>
              <a:prstGeom prst="rect">
                <a:avLst/>
              </a:prstGeom>
              <a:solidFill>
                <a:srgbClr val="F8FD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 flipH="1" flipV="1">
              <a:off x="0" y="3431262"/>
              <a:ext cx="12192000" cy="3426738"/>
              <a:chOff x="0" y="0"/>
              <a:chExt cx="12192000" cy="3426738"/>
            </a:xfrm>
          </p:grpSpPr>
          <p:pic>
            <p:nvPicPr>
              <p:cNvPr id="11" name="图片 10"/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2134"/>
              <a:stretch>
                <a:fillRect/>
              </a:stretch>
            </p:blipFill>
            <p:spPr>
              <a:xfrm>
                <a:off x="1484512" y="0"/>
                <a:ext cx="10707488" cy="3426738"/>
              </a:xfrm>
              <a:prstGeom prst="rect">
                <a:avLst/>
              </a:prstGeom>
            </p:spPr>
          </p:pic>
          <p:sp>
            <p:nvSpPr>
              <p:cNvPr id="12" name="矩形 11"/>
              <p:cNvSpPr/>
              <p:nvPr/>
            </p:nvSpPr>
            <p:spPr>
              <a:xfrm>
                <a:off x="0" y="0"/>
                <a:ext cx="2341038" cy="3426738"/>
              </a:xfrm>
              <a:prstGeom prst="rect">
                <a:avLst/>
              </a:prstGeom>
              <a:solidFill>
                <a:srgbClr val="F8FD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0" name="矩形 9"/>
            <p:cNvSpPr/>
            <p:nvPr/>
          </p:nvSpPr>
          <p:spPr>
            <a:xfrm>
              <a:off x="145004" y="150920"/>
              <a:ext cx="11901994" cy="6556162"/>
            </a:xfrm>
            <a:prstGeom prst="rect">
              <a:avLst/>
            </a:prstGeom>
            <a:solidFill>
              <a:schemeClr val="bg1"/>
            </a:solidFill>
            <a:ln w="19050">
              <a:noFill/>
            </a:ln>
            <a:effectLst>
              <a:outerShdw blurRad="38100" sx="102000" sy="102000" algn="ctr" rotWithShape="0">
                <a:prstClr val="black">
                  <a:alpha val="1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B45E7-6F18-48A8-B03C-C7325E0871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9D13F-E245-4C4C-9D5A-EC3FF45CF48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B45E7-6F18-48A8-B03C-C7325E0871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9D13F-E245-4C4C-9D5A-EC3FF45CF48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B45E7-6F18-48A8-B03C-C7325E0871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9D13F-E245-4C4C-9D5A-EC3FF45CF48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B45E7-6F18-48A8-B03C-C7325E0871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9D13F-E245-4C4C-9D5A-EC3FF45CF48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B45E7-6F18-48A8-B03C-C7325E0871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9D13F-E245-4C4C-9D5A-EC3FF45CF48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B45E7-6F18-48A8-B03C-C7325E0871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9D13F-E245-4C4C-9D5A-EC3FF45CF48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B45E7-6F18-48A8-B03C-C7325E0871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9D13F-E245-4C4C-9D5A-EC3FF45CF48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B45E7-6F18-48A8-B03C-C7325E0871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9D13F-E245-4C4C-9D5A-EC3FF45CF48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B45E7-6F18-48A8-B03C-C7325E0871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9D13F-E245-4C4C-9D5A-EC3FF45CF48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B45E7-6F18-48A8-B03C-C7325E0871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9D13F-E245-4C4C-9D5A-EC3FF45CF48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9B45E7-6F18-48A8-B03C-C7325E0871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89D13F-E245-4C4C-9D5A-EC3FF45CF48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汉仪细等线繁" panose="02010600000101010101" charset="-122"/>
          <a:ea typeface="汉仪细等线繁" panose="02010600000101010101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9B45E7-6F18-48A8-B03C-C7325E0871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89D13F-E245-4C4C-9D5A-EC3FF45CF48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汉仪细等线繁" panose="02010600000101010101" charset="-122"/>
          <a:ea typeface="汉仪细等线繁" panose="02010600000101010101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4" Type="http://schemas.openxmlformats.org/officeDocument/2006/relationships/notesSlide" Target="../notesSlides/notesSlide20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42.png"/><Relationship Id="rId11" Type="http://schemas.openxmlformats.org/officeDocument/2006/relationships/image" Target="../media/image41.png"/><Relationship Id="rId10" Type="http://schemas.openxmlformats.org/officeDocument/2006/relationships/image" Target="../media/image40.png"/><Relationship Id="rId1" Type="http://schemas.openxmlformats.org/officeDocument/2006/relationships/tags" Target="../tags/tag2.xml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组合 7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12" name="组合 11"/>
            <p:cNvGrpSpPr/>
            <p:nvPr/>
          </p:nvGrpSpPr>
          <p:grpSpPr>
            <a:xfrm>
              <a:off x="0" y="0"/>
              <a:ext cx="12192000" cy="3426738"/>
              <a:chOff x="0" y="0"/>
              <a:chExt cx="12192000" cy="3426738"/>
            </a:xfrm>
          </p:grpSpPr>
          <p:pic>
            <p:nvPicPr>
              <p:cNvPr id="10" name="图片 9"/>
              <p:cNvPicPr>
                <a:picLocks noChangeAspect="1"/>
              </p:cNvPicPr>
              <p:nvPr/>
            </p:nvPicPr>
            <p:blipFill rotWithShape="1"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2134"/>
              <a:stretch>
                <a:fillRect/>
              </a:stretch>
            </p:blipFill>
            <p:spPr>
              <a:xfrm>
                <a:off x="1484512" y="0"/>
                <a:ext cx="10707488" cy="3426738"/>
              </a:xfrm>
              <a:prstGeom prst="rect">
                <a:avLst/>
              </a:prstGeom>
            </p:spPr>
          </p:pic>
          <p:sp>
            <p:nvSpPr>
              <p:cNvPr id="11" name="矩形 10"/>
              <p:cNvSpPr/>
              <p:nvPr/>
            </p:nvSpPr>
            <p:spPr>
              <a:xfrm>
                <a:off x="0" y="0"/>
                <a:ext cx="2341038" cy="3426738"/>
              </a:xfrm>
              <a:prstGeom prst="rect">
                <a:avLst/>
              </a:prstGeom>
              <a:solidFill>
                <a:srgbClr val="F8FD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 flipH="1" flipV="1">
              <a:off x="0" y="3431262"/>
              <a:ext cx="12192000" cy="3426738"/>
              <a:chOff x="0" y="0"/>
              <a:chExt cx="12192000" cy="3426738"/>
            </a:xfrm>
          </p:grpSpPr>
          <p:pic>
            <p:nvPicPr>
              <p:cNvPr id="14" name="图片 13"/>
              <p:cNvPicPr>
                <a:picLocks noChangeAspect="1"/>
              </p:cNvPicPr>
              <p:nvPr/>
            </p:nvPicPr>
            <p:blipFill rotWithShape="1"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2134"/>
              <a:stretch>
                <a:fillRect/>
              </a:stretch>
            </p:blipFill>
            <p:spPr>
              <a:xfrm>
                <a:off x="1484512" y="0"/>
                <a:ext cx="10707488" cy="3426738"/>
              </a:xfrm>
              <a:prstGeom prst="rect">
                <a:avLst/>
              </a:prstGeom>
            </p:spPr>
          </p:pic>
          <p:sp>
            <p:nvSpPr>
              <p:cNvPr id="15" name="矩形 14"/>
              <p:cNvSpPr/>
              <p:nvPr/>
            </p:nvSpPr>
            <p:spPr>
              <a:xfrm>
                <a:off x="0" y="0"/>
                <a:ext cx="2341038" cy="3426738"/>
              </a:xfrm>
              <a:prstGeom prst="rect">
                <a:avLst/>
              </a:prstGeom>
              <a:solidFill>
                <a:srgbClr val="F8FD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2" name="矩形 21"/>
          <p:cNvSpPr/>
          <p:nvPr/>
        </p:nvSpPr>
        <p:spPr>
          <a:xfrm>
            <a:off x="593879" y="613458"/>
            <a:ext cx="11049964" cy="5631086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8100" sx="102000" sy="102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7" name="组合 76"/>
          <p:cNvGrpSpPr/>
          <p:nvPr/>
        </p:nvGrpSpPr>
        <p:grpSpPr>
          <a:xfrm>
            <a:off x="2912110" y="2064385"/>
            <a:ext cx="6650355" cy="1271270"/>
            <a:chOff x="2912149" y="2064389"/>
            <a:chExt cx="1306370" cy="1271005"/>
          </a:xfrm>
        </p:grpSpPr>
        <p:grpSp>
          <p:nvGrpSpPr>
            <p:cNvPr id="26" name="组合 25"/>
            <p:cNvGrpSpPr/>
            <p:nvPr/>
          </p:nvGrpSpPr>
          <p:grpSpPr>
            <a:xfrm>
              <a:off x="2912149" y="2064389"/>
              <a:ext cx="1306370" cy="1271005"/>
              <a:chOff x="1973362" y="2155733"/>
              <a:chExt cx="1306370" cy="1271005"/>
            </a:xfrm>
          </p:grpSpPr>
          <p:sp>
            <p:nvSpPr>
              <p:cNvPr id="24" name="矩形 23"/>
              <p:cNvSpPr/>
              <p:nvPr/>
            </p:nvSpPr>
            <p:spPr>
              <a:xfrm rot="21124085">
                <a:off x="1973362" y="2155733"/>
                <a:ext cx="1306370" cy="1271005"/>
              </a:xfrm>
              <a:prstGeom prst="rect">
                <a:avLst/>
              </a:prstGeom>
              <a:noFill/>
              <a:ln w="12700">
                <a:solidFill>
                  <a:srgbClr val="7E7E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方正仿宋_GB2312" panose="02000000000000000000" charset="-122"/>
                  <a:ea typeface="方正仿宋_GB2312" panose="020000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25" name="矩形 24"/>
              <p:cNvSpPr/>
              <p:nvPr/>
            </p:nvSpPr>
            <p:spPr>
              <a:xfrm>
                <a:off x="1973362" y="2155733"/>
                <a:ext cx="1306370" cy="127100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7E7E7E"/>
                </a:solidFill>
              </a:ln>
              <a:effectLst>
                <a:outerShdw blurRad="38100" dist="38100" dir="2700000" sx="102000" sy="102000" algn="tl" rotWithShape="0">
                  <a:prstClr val="black">
                    <a:alpha val="13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>
                    <a:latin typeface="方正仿宋_GB2312" panose="02000000000000000000" charset="-122"/>
                    <a:ea typeface="方正仿宋_GB2312" panose="02000000000000000000" charset="-122"/>
                    <a:cs typeface="方正仿宋_GB2312" panose="02000000000000000000" charset="-122"/>
                  </a:rPr>
                  <a:t>openEuler</a:t>
                </a:r>
                <a:r>
                  <a:rPr lang="zh-CN" altLang="en-US">
                    <a:latin typeface="方正仿宋_GB2312" panose="02000000000000000000" charset="-122"/>
                    <a:ea typeface="方正仿宋_GB2312" panose="02000000000000000000" charset="-122"/>
                    <a:cs typeface="方正仿宋_GB2312" panose="02000000000000000000" charset="-122"/>
                  </a:rPr>
                  <a:t>实验</a:t>
                </a:r>
                <a:r>
                  <a:rPr lang="en-US" altLang="zh-CN">
                    <a:latin typeface="方正仿宋_GB2312" panose="02000000000000000000" charset="-122"/>
                    <a:ea typeface="方正仿宋_GB2312" panose="02000000000000000000" charset="-122"/>
                    <a:cs typeface="方正仿宋_GB2312" panose="02000000000000000000" charset="-122"/>
                  </a:rPr>
                  <a:t>openEopenEuler</a:t>
                </a:r>
                <a:r>
                  <a:rPr lang="zh-CN" altLang="en-US">
                    <a:latin typeface="方正仿宋_GB2312" panose="02000000000000000000" charset="-122"/>
                    <a:ea typeface="方正仿宋_GB2312" panose="02000000000000000000" charset="-122"/>
                    <a:cs typeface="方正仿宋_GB2312" panose="02000000000000000000" charset="-122"/>
                  </a:rPr>
                  <a:t>实验</a:t>
                </a:r>
                <a:r>
                  <a:rPr lang="en-US" altLang="zh-CN">
                    <a:latin typeface="方正仿宋_GB2312" panose="02000000000000000000" charset="-122"/>
                    <a:ea typeface="方正仿宋_GB2312" panose="02000000000000000000" charset="-122"/>
                    <a:cs typeface="方正仿宋_GB2312" panose="02000000000000000000" charset="-122"/>
                  </a:rPr>
                  <a:t>_</a:t>
                </a:r>
                <a:r>
                  <a:rPr lang="zh-CN" altLang="en-US">
                    <a:latin typeface="方正仿宋_GB2312" panose="02000000000000000000" charset="-122"/>
                    <a:ea typeface="方正仿宋_GB2312" panose="02000000000000000000" charset="-122"/>
                    <a:cs typeface="方正仿宋_GB2312" panose="02000000000000000000" charset="-122"/>
                  </a:rPr>
                  <a:t>操作系统实验二</a:t>
                </a:r>
                <a:r>
                  <a:rPr lang="en-US" altLang="zh-CN">
                    <a:latin typeface="方正仿宋_GB2312" panose="02000000000000000000" charset="-122"/>
                    <a:ea typeface="方正仿宋_GB2312" panose="02000000000000000000" charset="-122"/>
                    <a:cs typeface="方正仿宋_GB2312" panose="02000000000000000000" charset="-122"/>
                  </a:rPr>
                  <a:t> — openEuler </a:t>
                </a:r>
                <a:r>
                  <a:rPr lang="zh-CN" altLang="en-US">
                    <a:latin typeface="方正仿宋_GB2312" panose="02000000000000000000" charset="-122"/>
                    <a:ea typeface="方正仿宋_GB2312" panose="02000000000000000000" charset="-122"/>
                    <a:cs typeface="方正仿宋_GB2312" panose="02000000000000000000" charset="-122"/>
                  </a:rPr>
                  <a:t>实验操作系统实验二</a:t>
                </a:r>
                <a:r>
                  <a:rPr lang="en-US" altLang="zh-CN">
                    <a:latin typeface="方正仿宋_GB2312" panose="02000000000000000000" charset="-122"/>
                    <a:ea typeface="方正仿宋_GB2312" panose="02000000000000000000" charset="-122"/>
                    <a:cs typeface="方正仿宋_GB2312" panose="02000000000000000000" charset="-122"/>
                  </a:rPr>
                  <a:t> — openEuler </a:t>
                </a:r>
                <a:r>
                  <a:rPr lang="zh-CN" altLang="en-US">
                    <a:latin typeface="方正仿宋_GB2312" panose="02000000000000000000" charset="-122"/>
                    <a:ea typeface="方正仿宋_GB2312" panose="02000000000000000000" charset="-122"/>
                    <a:cs typeface="方正仿宋_GB2312" panose="02000000000000000000" charset="-122"/>
                  </a:rPr>
                  <a:t>实验</a:t>
                </a:r>
                <a:endParaRPr lang="zh-CN" altLang="en-US">
                  <a:latin typeface="方正仿宋_GB2312" panose="02000000000000000000" charset="-122"/>
                  <a:ea typeface="方正仿宋_GB2312" panose="02000000000000000000" charset="-122"/>
                  <a:cs typeface="方正仿宋_GB2312" panose="02000000000000000000" charset="-122"/>
                </a:endParaRPr>
              </a:p>
            </p:txBody>
          </p:sp>
        </p:grpSp>
        <p:sp>
          <p:nvSpPr>
            <p:cNvPr id="37" name="橙子演示"/>
            <p:cNvSpPr txBox="1"/>
            <p:nvPr>
              <p:custDataLst>
                <p:tags r:id="rId2"/>
              </p:custDataLst>
            </p:nvPr>
          </p:nvSpPr>
          <p:spPr>
            <a:xfrm>
              <a:off x="2912149" y="2440866"/>
              <a:ext cx="1270570" cy="68565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67B7E2"/>
                  </a:solidFill>
                  <a:effectLst/>
                  <a:uLnTx/>
                  <a:uFillTx/>
                  <a:latin typeface="思源黑体旧字形 Normal" panose="020B0400000000000000" pitchFamily="34" charset="-122"/>
                  <a:ea typeface="思源黑体旧字形 Normal" panose="020B0400000000000000" pitchFamily="34" charset="-122"/>
                  <a:cs typeface="+mn-cs"/>
                </a:rPr>
                <a:t>操作系统实验二</a:t>
              </a:r>
              <a:r>
                <a:rPr kumimoji="0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67B7E2"/>
                  </a:solidFill>
                  <a:effectLst/>
                  <a:uLnTx/>
                  <a:uFillTx/>
                  <a:latin typeface="思源黑体旧字形 Normal" panose="020B0400000000000000" pitchFamily="34" charset="-122"/>
                  <a:ea typeface="思源黑体旧字形 Normal" panose="020B0400000000000000" pitchFamily="34" charset="-122"/>
                  <a:cs typeface="+mn-cs"/>
                </a:rPr>
                <a:t> — openEuler </a:t>
              </a:r>
              <a:r>
                <a: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67B7E2"/>
                  </a:solidFill>
                  <a:effectLst/>
                  <a:uLnTx/>
                  <a:uFillTx/>
                  <a:latin typeface="思源黑体旧字形 Normal" panose="020B0400000000000000" pitchFamily="34" charset="-122"/>
                  <a:ea typeface="思源黑体旧字形 Normal" panose="020B0400000000000000" pitchFamily="34" charset="-122"/>
                  <a:cs typeface="+mn-cs"/>
                </a:rPr>
                <a:t>实验</a:t>
              </a:r>
              <a:endPara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67B7E2"/>
                </a:solidFill>
                <a:effectLst/>
                <a:uLnTx/>
                <a:uFillTx/>
                <a:latin typeface="思源黑体旧字形 Normal" panose="020B0400000000000000" pitchFamily="34" charset="-122"/>
                <a:ea typeface="思源黑体旧字形 Normal" panose="020B0400000000000000" pitchFamily="34" charset="-122"/>
                <a:cs typeface="+mn-cs"/>
              </a:endParaRPr>
            </a:p>
          </p:txBody>
        </p:sp>
      </p:grpSp>
      <p:sp>
        <p:nvSpPr>
          <p:cNvPr id="58" name="橙子演示"/>
          <p:cNvSpPr txBox="1"/>
          <p:nvPr/>
        </p:nvSpPr>
        <p:spPr>
          <a:xfrm>
            <a:off x="4791075" y="3659117"/>
            <a:ext cx="260985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90204"/>
                <a:ea typeface="思源黑体旧字形 Normal" panose="020B0400000000000000" pitchFamily="34" charset="-122"/>
                <a:cs typeface="+mn-cs"/>
                <a:sym typeface="汉仪雅酷黑简" panose="00020600040101010101" charset="-122"/>
              </a:rPr>
              <a:t>王鸣一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90204"/>
                <a:ea typeface="思源黑体旧字形 Normal" panose="020B0400000000000000" pitchFamily="34" charset="-122"/>
                <a:cs typeface="+mn-cs"/>
                <a:sym typeface="汉仪雅酷黑简" panose="00020600040101010101" charset="-122"/>
              </a:rPr>
              <a:t>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90204"/>
                <a:ea typeface="思源黑体旧字形 Normal" panose="020B0400000000000000" pitchFamily="34" charset="-122"/>
                <a:cs typeface="+mn-cs"/>
                <a:sym typeface="汉仪雅酷黑简" panose="00020600040101010101" charset="-122"/>
              </a:rPr>
              <a:t>孙溯阳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90204"/>
                <a:ea typeface="思源黑体旧字形 Normal" panose="020B0400000000000000" pitchFamily="34" charset="-122"/>
                <a:cs typeface="+mn-cs"/>
                <a:sym typeface="汉仪雅酷黑简" panose="00020600040101010101" charset="-122"/>
              </a:rPr>
              <a:t>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90204"/>
                <a:ea typeface="思源黑体旧字形 Normal" panose="020B0400000000000000" pitchFamily="34" charset="-122"/>
                <a:cs typeface="+mn-cs"/>
                <a:sym typeface="汉仪雅酷黑简" panose="00020600040101010101" charset="-122"/>
              </a:rPr>
              <a:t>章泽亮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90204"/>
              <a:ea typeface="思源黑体旧字形 Normal" panose="020B0400000000000000" pitchFamily="34" charset="-122"/>
              <a:cs typeface="+mn-cs"/>
              <a:sym typeface="汉仪雅酷黑简" panose="00020600040101010101" charset="-122"/>
            </a:endParaRPr>
          </a:p>
        </p:txBody>
      </p:sp>
      <p:grpSp>
        <p:nvGrpSpPr>
          <p:cNvPr id="63" name="橙子演示"/>
          <p:cNvGrpSpPr/>
          <p:nvPr/>
        </p:nvGrpSpPr>
        <p:grpSpPr>
          <a:xfrm flipH="1">
            <a:off x="7408843" y="3826172"/>
            <a:ext cx="2733072" cy="154870"/>
            <a:chOff x="1798547" y="3917516"/>
            <a:chExt cx="2733072" cy="154870"/>
          </a:xfrm>
        </p:grpSpPr>
        <p:cxnSp>
          <p:nvCxnSpPr>
            <p:cNvPr id="64" name="橙子演示"/>
            <p:cNvCxnSpPr/>
            <p:nvPr/>
          </p:nvCxnSpPr>
          <p:spPr>
            <a:xfrm>
              <a:off x="1798547" y="3994951"/>
              <a:ext cx="2515226" cy="0"/>
            </a:xfrm>
            <a:prstGeom prst="line">
              <a:avLst/>
            </a:prstGeom>
            <a:ln>
              <a:solidFill>
                <a:srgbClr val="7E7E7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橙子演示"/>
            <p:cNvSpPr/>
            <p:nvPr/>
          </p:nvSpPr>
          <p:spPr>
            <a:xfrm>
              <a:off x="4376749" y="3917516"/>
              <a:ext cx="154870" cy="154870"/>
            </a:xfrm>
            <a:prstGeom prst="ellipse">
              <a:avLst/>
            </a:prstGeom>
            <a:solidFill>
              <a:srgbClr val="67B7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9" name="橙子演示"/>
          <p:cNvGrpSpPr/>
          <p:nvPr/>
        </p:nvGrpSpPr>
        <p:grpSpPr>
          <a:xfrm>
            <a:off x="2050086" y="3826172"/>
            <a:ext cx="2733072" cy="154870"/>
            <a:chOff x="1798547" y="3917516"/>
            <a:chExt cx="2733072" cy="154870"/>
          </a:xfrm>
        </p:grpSpPr>
        <p:cxnSp>
          <p:nvCxnSpPr>
            <p:cNvPr id="70" name="橙子演示"/>
            <p:cNvCxnSpPr/>
            <p:nvPr/>
          </p:nvCxnSpPr>
          <p:spPr>
            <a:xfrm>
              <a:off x="1798547" y="3994951"/>
              <a:ext cx="2515226" cy="0"/>
            </a:xfrm>
            <a:prstGeom prst="line">
              <a:avLst/>
            </a:prstGeom>
            <a:ln>
              <a:solidFill>
                <a:srgbClr val="7E7E7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橙子演示"/>
            <p:cNvSpPr/>
            <p:nvPr/>
          </p:nvSpPr>
          <p:spPr>
            <a:xfrm>
              <a:off x="4376749" y="3917516"/>
              <a:ext cx="154870" cy="154870"/>
            </a:xfrm>
            <a:prstGeom prst="ellipse">
              <a:avLst/>
            </a:prstGeom>
            <a:solidFill>
              <a:srgbClr val="67B7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组合 7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12" name="组合 11"/>
            <p:cNvGrpSpPr/>
            <p:nvPr/>
          </p:nvGrpSpPr>
          <p:grpSpPr>
            <a:xfrm>
              <a:off x="0" y="0"/>
              <a:ext cx="12192000" cy="3426738"/>
              <a:chOff x="0" y="0"/>
              <a:chExt cx="12192000" cy="3426738"/>
            </a:xfrm>
          </p:grpSpPr>
          <p:pic>
            <p:nvPicPr>
              <p:cNvPr id="10" name="图片 9"/>
              <p:cNvPicPr>
                <a:picLocks noChangeAspect="1"/>
              </p:cNvPicPr>
              <p:nvPr/>
            </p:nvPicPr>
            <p:blipFill rotWithShape="1"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2134"/>
              <a:stretch>
                <a:fillRect/>
              </a:stretch>
            </p:blipFill>
            <p:spPr>
              <a:xfrm>
                <a:off x="1484512" y="0"/>
                <a:ext cx="10707488" cy="3426738"/>
              </a:xfrm>
              <a:prstGeom prst="rect">
                <a:avLst/>
              </a:prstGeom>
            </p:spPr>
          </p:pic>
          <p:sp>
            <p:nvSpPr>
              <p:cNvPr id="11" name="矩形 10"/>
              <p:cNvSpPr/>
              <p:nvPr/>
            </p:nvSpPr>
            <p:spPr>
              <a:xfrm>
                <a:off x="0" y="0"/>
                <a:ext cx="2341038" cy="3426738"/>
              </a:xfrm>
              <a:prstGeom prst="rect">
                <a:avLst/>
              </a:prstGeom>
              <a:solidFill>
                <a:srgbClr val="F8FD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 flipH="1" flipV="1">
              <a:off x="0" y="3431262"/>
              <a:ext cx="12192000" cy="3426738"/>
              <a:chOff x="0" y="0"/>
              <a:chExt cx="12192000" cy="3426738"/>
            </a:xfrm>
          </p:grpSpPr>
          <p:pic>
            <p:nvPicPr>
              <p:cNvPr id="14" name="图片 13"/>
              <p:cNvPicPr>
                <a:picLocks noChangeAspect="1"/>
              </p:cNvPicPr>
              <p:nvPr/>
            </p:nvPicPr>
            <p:blipFill rotWithShape="1"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2134"/>
              <a:stretch>
                <a:fillRect/>
              </a:stretch>
            </p:blipFill>
            <p:spPr>
              <a:xfrm>
                <a:off x="1484512" y="0"/>
                <a:ext cx="10707488" cy="3426738"/>
              </a:xfrm>
              <a:prstGeom prst="rect">
                <a:avLst/>
              </a:prstGeom>
            </p:spPr>
          </p:pic>
          <p:sp>
            <p:nvSpPr>
              <p:cNvPr id="15" name="矩形 14"/>
              <p:cNvSpPr/>
              <p:nvPr/>
            </p:nvSpPr>
            <p:spPr>
              <a:xfrm>
                <a:off x="0" y="0"/>
                <a:ext cx="2341038" cy="3426738"/>
              </a:xfrm>
              <a:prstGeom prst="rect">
                <a:avLst/>
              </a:prstGeom>
              <a:solidFill>
                <a:srgbClr val="F8FD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2" name="矩形 21"/>
          <p:cNvSpPr/>
          <p:nvPr/>
        </p:nvSpPr>
        <p:spPr>
          <a:xfrm>
            <a:off x="536728" y="611195"/>
            <a:ext cx="11049964" cy="5631086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8100" sx="102000" sy="102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实验分工：</a:t>
            </a:r>
            <a:endParaRPr lang="zh-CN" altLang="en-US"/>
          </a:p>
          <a:p>
            <a:pPr algn="ctr"/>
            <a:r>
              <a:rPr lang="zh-CN" altLang="en-US"/>
              <a:t>姓名：王鸣一</a:t>
            </a:r>
            <a:r>
              <a:rPr lang="en-US" altLang="zh-CN"/>
              <a:t> </a:t>
            </a:r>
            <a:r>
              <a:rPr lang="zh-CN" altLang="en-US"/>
              <a:t>班级：</a:t>
            </a:r>
            <a:r>
              <a:rPr lang="en-US" altLang="zh-CN"/>
              <a:t>2023211804 </a:t>
            </a:r>
            <a:r>
              <a:rPr lang="zh-CN" altLang="en-US"/>
              <a:t>学号：</a:t>
            </a:r>
            <a:r>
              <a:rPr lang="en-US" altLang="zh-CN"/>
              <a:t>2023211475 </a:t>
            </a:r>
            <a:r>
              <a:rPr lang="zh-CN" altLang="en-US"/>
              <a:t>分</a:t>
            </a:r>
            <a:r>
              <a:rPr lang="en-US" altLang="en-US"/>
              <a:t>⼯</a:t>
            </a:r>
            <a:r>
              <a:rPr lang="zh-CN" altLang="en-US"/>
              <a:t>：</a:t>
            </a:r>
            <a:r>
              <a:rPr lang="en-US" altLang="zh-CN"/>
              <a:t>33.34%</a:t>
            </a:r>
            <a:r>
              <a:rPr lang="zh-CN" altLang="en-US"/>
              <a:t>姓名：孙溯阳</a:t>
            </a:r>
            <a:r>
              <a:rPr lang="en-US" altLang="zh-CN"/>
              <a:t> </a:t>
            </a:r>
            <a:r>
              <a:rPr lang="zh-CN" altLang="en-US"/>
              <a:t>班级：</a:t>
            </a:r>
            <a:r>
              <a:rPr lang="en-US" altLang="zh-CN"/>
              <a:t>2023211804 </a:t>
            </a:r>
            <a:r>
              <a:rPr lang="zh-CN" altLang="en-US"/>
              <a:t>学号：</a:t>
            </a:r>
            <a:r>
              <a:rPr lang="en-US" altLang="zh-CN"/>
              <a:t>2023211502 </a:t>
            </a:r>
            <a:r>
              <a:rPr lang="zh-CN" altLang="en-US"/>
              <a:t>分</a:t>
            </a:r>
            <a:r>
              <a:rPr lang="en-US" altLang="en-US"/>
              <a:t>⼯</a:t>
            </a:r>
            <a:r>
              <a:rPr lang="zh-CN" altLang="en-US"/>
              <a:t>：</a:t>
            </a:r>
            <a:r>
              <a:rPr lang="en-US" altLang="zh-CN"/>
              <a:t>33.34%</a:t>
            </a:r>
            <a:r>
              <a:rPr lang="zh-CN" altLang="en-US"/>
              <a:t>姓名：章泽亮</a:t>
            </a:r>
            <a:r>
              <a:rPr lang="en-US" altLang="zh-CN"/>
              <a:t> </a:t>
            </a:r>
            <a:r>
              <a:rPr lang="zh-CN" altLang="en-US"/>
              <a:t>班级：</a:t>
            </a:r>
            <a:r>
              <a:rPr lang="en-US" altLang="zh-CN"/>
              <a:t>2023211803 </a:t>
            </a:r>
            <a:r>
              <a:rPr lang="zh-CN" altLang="en-US"/>
              <a:t>学号：</a:t>
            </a:r>
            <a:r>
              <a:rPr lang="en-US" altLang="zh-CN"/>
              <a:t>2023211490 </a:t>
            </a:r>
            <a:r>
              <a:rPr lang="zh-CN" altLang="en-US"/>
              <a:t>分</a:t>
            </a:r>
            <a:r>
              <a:rPr lang="en-US" altLang="en-US"/>
              <a:t>⼯</a:t>
            </a:r>
            <a:r>
              <a:rPr lang="zh-CN" altLang="en-US"/>
              <a:t>：</a:t>
            </a:r>
            <a:r>
              <a:rPr lang="en-US" altLang="zh-CN"/>
              <a:t>33.34%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570865" y="1797050"/>
            <a:ext cx="10934700" cy="3263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/>
              <a:t>实验分工：</a:t>
            </a:r>
            <a:endParaRPr lang="zh-CN" altLang="en-US" sz="2800"/>
          </a:p>
          <a:p>
            <a:endParaRPr lang="zh-CN" altLang="en-US" sz="2400"/>
          </a:p>
          <a:p>
            <a:r>
              <a:rPr lang="en-US" altLang="zh-CN" sz="2400"/>
              <a:t>  </a:t>
            </a:r>
            <a:r>
              <a:rPr lang="zh-CN" altLang="en-US" sz="2400"/>
              <a:t>姓名：王鸣一</a:t>
            </a:r>
            <a:r>
              <a:rPr lang="en-US" altLang="zh-CN" sz="2400"/>
              <a:t> </a:t>
            </a:r>
            <a:r>
              <a:rPr lang="zh-CN" altLang="en-US" sz="2400"/>
              <a:t>班级：</a:t>
            </a:r>
            <a:r>
              <a:rPr lang="en-US" altLang="zh-CN" sz="2400"/>
              <a:t>2023211804 </a:t>
            </a:r>
            <a:r>
              <a:rPr lang="zh-CN" altLang="en-US" sz="2400"/>
              <a:t>学号：</a:t>
            </a:r>
            <a:r>
              <a:rPr lang="en-US" altLang="zh-CN" sz="2400"/>
              <a:t>2023211475 </a:t>
            </a:r>
            <a:r>
              <a:rPr lang="zh-CN" altLang="en-US" sz="2400"/>
              <a:t>分</a:t>
            </a:r>
            <a:r>
              <a:rPr lang="en-US" altLang="en-US" sz="2400"/>
              <a:t>⼯</a:t>
            </a:r>
            <a:r>
              <a:rPr lang="zh-CN" altLang="en-US" sz="2400"/>
              <a:t>：</a:t>
            </a:r>
            <a:r>
              <a:rPr lang="en-US" altLang="zh-CN" sz="2400"/>
              <a:t>33.34%</a:t>
            </a:r>
            <a:endParaRPr lang="en-US" altLang="zh-CN" sz="2400"/>
          </a:p>
          <a:p>
            <a:endParaRPr lang="en-US" altLang="zh-CN" sz="2400"/>
          </a:p>
          <a:p>
            <a:r>
              <a:rPr lang="en-US" altLang="zh-CN" sz="2400"/>
              <a:t>  </a:t>
            </a:r>
            <a:r>
              <a:rPr lang="zh-CN" altLang="en-US" sz="2400"/>
              <a:t>姓名：孙溯阳</a:t>
            </a:r>
            <a:r>
              <a:rPr lang="en-US" altLang="zh-CN" sz="2400"/>
              <a:t> </a:t>
            </a:r>
            <a:r>
              <a:rPr lang="zh-CN" altLang="en-US" sz="2400"/>
              <a:t>班级：</a:t>
            </a:r>
            <a:r>
              <a:rPr lang="en-US" altLang="zh-CN" sz="2400"/>
              <a:t>2023211804 </a:t>
            </a:r>
            <a:r>
              <a:rPr lang="zh-CN" altLang="en-US" sz="2400"/>
              <a:t>学号：</a:t>
            </a:r>
            <a:r>
              <a:rPr lang="en-US" altLang="zh-CN" sz="2400"/>
              <a:t>2023211502 </a:t>
            </a:r>
            <a:r>
              <a:rPr lang="zh-CN" altLang="en-US" sz="2400"/>
              <a:t>分</a:t>
            </a:r>
            <a:r>
              <a:rPr lang="en-US" altLang="en-US" sz="2400"/>
              <a:t>⼯</a:t>
            </a:r>
            <a:r>
              <a:rPr lang="zh-CN" altLang="en-US" sz="2400"/>
              <a:t>：</a:t>
            </a:r>
            <a:r>
              <a:rPr lang="en-US" altLang="zh-CN" sz="2400"/>
              <a:t>33.34%</a:t>
            </a:r>
            <a:endParaRPr lang="en-US" altLang="zh-CN" sz="2400"/>
          </a:p>
          <a:p>
            <a:endParaRPr lang="en-US" altLang="zh-CN" sz="2400"/>
          </a:p>
          <a:p>
            <a:r>
              <a:rPr lang="en-US" altLang="zh-CN" sz="2400"/>
              <a:t>  </a:t>
            </a:r>
            <a:r>
              <a:rPr lang="zh-CN" altLang="en-US" sz="2400"/>
              <a:t>姓名：章泽亮</a:t>
            </a:r>
            <a:r>
              <a:rPr lang="en-US" altLang="zh-CN" sz="2400"/>
              <a:t> </a:t>
            </a:r>
            <a:r>
              <a:rPr lang="zh-CN" altLang="en-US" sz="2400"/>
              <a:t>班级：</a:t>
            </a:r>
            <a:r>
              <a:rPr lang="en-US" altLang="zh-CN" sz="2400"/>
              <a:t>2023211803 </a:t>
            </a:r>
            <a:r>
              <a:rPr lang="zh-CN" altLang="en-US" sz="2400"/>
              <a:t>学号：</a:t>
            </a:r>
            <a:r>
              <a:rPr lang="en-US" altLang="zh-CN" sz="2400"/>
              <a:t>2023211490 </a:t>
            </a:r>
            <a:r>
              <a:rPr lang="zh-CN" altLang="en-US" sz="2400"/>
              <a:t>分</a:t>
            </a:r>
            <a:r>
              <a:rPr lang="en-US" altLang="en-US" sz="2400"/>
              <a:t>⼯</a:t>
            </a:r>
            <a:r>
              <a:rPr lang="zh-CN" altLang="en-US" sz="2400"/>
              <a:t>：</a:t>
            </a:r>
            <a:r>
              <a:rPr lang="en-US" altLang="zh-CN" sz="2400"/>
              <a:t>33.34%</a:t>
            </a:r>
            <a:endParaRPr lang="en-US" altLang="zh-CN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12192000" cy="3426738"/>
          </a:xfrm>
          <a:prstGeom prst="rect">
            <a:avLst/>
          </a:prstGeom>
          <a:solidFill>
            <a:srgbClr val="F8FD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任意多边形: 形状 51"/>
          <p:cNvSpPr/>
          <p:nvPr/>
        </p:nvSpPr>
        <p:spPr>
          <a:xfrm>
            <a:off x="9377644" y="1"/>
            <a:ext cx="2862214" cy="2083273"/>
          </a:xfrm>
          <a:custGeom>
            <a:avLst/>
            <a:gdLst>
              <a:gd name="connsiteX0" fmla="*/ 0 w 2862214"/>
              <a:gd name="connsiteY0" fmla="*/ 0 h 2083273"/>
              <a:gd name="connsiteX1" fmla="*/ 2862214 w 2862214"/>
              <a:gd name="connsiteY1" fmla="*/ 0 h 2083273"/>
              <a:gd name="connsiteX2" fmla="*/ 2862214 w 2862214"/>
              <a:gd name="connsiteY2" fmla="*/ 1889566 h 2083273"/>
              <a:gd name="connsiteX3" fmla="*/ 2767048 w 2862214"/>
              <a:gd name="connsiteY3" fmla="*/ 1934668 h 2083273"/>
              <a:gd name="connsiteX4" fmla="*/ 2023899 w 2862214"/>
              <a:gd name="connsiteY4" fmla="*/ 2083273 h 2083273"/>
              <a:gd name="connsiteX5" fmla="*/ 7639 w 2862214"/>
              <a:gd name="connsiteY5" fmla="*/ 159906 h 208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62214" h="2083273">
                <a:moveTo>
                  <a:pt x="0" y="0"/>
                </a:moveTo>
                <a:lnTo>
                  <a:pt x="2862214" y="0"/>
                </a:lnTo>
                <a:lnTo>
                  <a:pt x="2862214" y="1889566"/>
                </a:lnTo>
                <a:lnTo>
                  <a:pt x="2767048" y="1934668"/>
                </a:lnTo>
                <a:cubicBezTo>
                  <a:pt x="2536943" y="2030583"/>
                  <a:pt x="2286242" y="2083273"/>
                  <a:pt x="2023899" y="2083273"/>
                </a:cubicBezTo>
                <a:cubicBezTo>
                  <a:pt x="974528" y="2083273"/>
                  <a:pt x="111427" y="1240232"/>
                  <a:pt x="7639" y="159906"/>
                </a:cubicBezTo>
                <a:close/>
              </a:path>
            </a:pathLst>
          </a:custGeom>
          <a:solidFill>
            <a:srgbClr val="67B7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 flipH="1" flipV="1">
            <a:off x="0" y="3431262"/>
            <a:ext cx="12192000" cy="3426738"/>
            <a:chOff x="0" y="0"/>
            <a:chExt cx="12192000" cy="3426738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134"/>
            <a:stretch>
              <a:fillRect/>
            </a:stretch>
          </p:blipFill>
          <p:spPr>
            <a:xfrm>
              <a:off x="1484512" y="0"/>
              <a:ext cx="10707488" cy="3426738"/>
            </a:xfrm>
            <a:prstGeom prst="rect">
              <a:avLst/>
            </a:prstGeom>
          </p:spPr>
        </p:pic>
        <p:sp>
          <p:nvSpPr>
            <p:cNvPr id="15" name="矩形 14"/>
            <p:cNvSpPr/>
            <p:nvPr/>
          </p:nvSpPr>
          <p:spPr>
            <a:xfrm>
              <a:off x="0" y="0"/>
              <a:ext cx="2341038" cy="3426738"/>
            </a:xfrm>
            <a:prstGeom prst="rect">
              <a:avLst/>
            </a:prstGeom>
            <a:solidFill>
              <a:srgbClr val="F8F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矩形 21"/>
          <p:cNvSpPr/>
          <p:nvPr/>
        </p:nvSpPr>
        <p:spPr>
          <a:xfrm>
            <a:off x="1325732" y="1029811"/>
            <a:ext cx="9540536" cy="479838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8100" sx="102000" sy="102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2" name="组合 41"/>
          <p:cNvGrpSpPr/>
          <p:nvPr/>
        </p:nvGrpSpPr>
        <p:grpSpPr>
          <a:xfrm>
            <a:off x="3443935" y="2083273"/>
            <a:ext cx="5304130" cy="2086784"/>
            <a:chOff x="3443934" y="2278582"/>
            <a:chExt cx="5304130" cy="2086784"/>
          </a:xfrm>
        </p:grpSpPr>
        <p:sp>
          <p:nvSpPr>
            <p:cNvPr id="43" name="TextBox 7"/>
            <p:cNvSpPr>
              <a:spLocks noChangeArrowheads="1"/>
            </p:cNvSpPr>
            <p:nvPr/>
          </p:nvSpPr>
          <p:spPr bwMode="auto">
            <a:xfrm>
              <a:off x="3443934" y="2984358"/>
              <a:ext cx="5304130" cy="923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>
                <a:defRPr/>
              </a:pPr>
              <a:r>
                <a:rPr lang="zh-CN" altLang="en-US" sz="6000" dirty="0">
                  <a:solidFill>
                    <a:srgbClr val="656565"/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实验</a:t>
              </a:r>
              <a:r>
                <a:rPr lang="zh-CN" altLang="en-US" sz="6000" dirty="0">
                  <a:solidFill>
                    <a:srgbClr val="656565"/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简介</a:t>
              </a:r>
              <a:endParaRPr lang="zh-CN" altLang="en-US" sz="6000" dirty="0">
                <a:solidFill>
                  <a:srgbClr val="656565"/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</p:txBody>
        </p:sp>
        <p:grpSp>
          <p:nvGrpSpPr>
            <p:cNvPr id="45" name="组合 44"/>
            <p:cNvGrpSpPr/>
            <p:nvPr/>
          </p:nvGrpSpPr>
          <p:grpSpPr>
            <a:xfrm>
              <a:off x="3714628" y="3997513"/>
              <a:ext cx="4762743" cy="367853"/>
              <a:chOff x="1227299" y="4480711"/>
              <a:chExt cx="4762743" cy="367853"/>
            </a:xfrm>
          </p:grpSpPr>
          <p:sp>
            <p:nvSpPr>
              <p:cNvPr id="47" name="文本框 46"/>
              <p:cNvSpPr txBox="1"/>
              <p:nvPr/>
            </p:nvSpPr>
            <p:spPr>
              <a:xfrm>
                <a:off x="1227299" y="4538049"/>
                <a:ext cx="4762743" cy="310515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华文细黑" panose="02010600040101010101" charset="-122"/>
                  <a:ea typeface="华文细黑" panose="02010600040101010101" charset="-122"/>
                  <a:sym typeface="微软雅黑"/>
                </a:endParaRPr>
              </a:p>
            </p:txBody>
          </p:sp>
          <p:cxnSp>
            <p:nvCxnSpPr>
              <p:cNvPr id="48" name="直接连接符 47"/>
              <p:cNvCxnSpPr/>
              <p:nvPr/>
            </p:nvCxnSpPr>
            <p:spPr>
              <a:xfrm>
                <a:off x="1277257" y="4480711"/>
                <a:ext cx="4615131" cy="0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46" name="TextBox 7"/>
            <p:cNvSpPr>
              <a:spLocks noChangeArrowheads="1"/>
            </p:cNvSpPr>
            <p:nvPr/>
          </p:nvSpPr>
          <p:spPr bwMode="auto">
            <a:xfrm>
              <a:off x="4858327" y="2278582"/>
              <a:ext cx="2475344" cy="6769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400" b="0" i="0" u="none" strike="noStrike" kern="0" cap="none" spc="0" normalizeH="0" baseline="0" noProof="0" dirty="0">
                  <a:ln>
                    <a:noFill/>
                  </a:ln>
                  <a:solidFill>
                    <a:srgbClr val="67B7E2"/>
                  </a:solidFill>
                  <a:effectLst/>
                  <a:uLnTx/>
                  <a:uFillTx/>
                  <a:latin typeface="思源黑体旧字形 Normal" panose="020B0400000000000000" pitchFamily="34" charset="-122"/>
                  <a:ea typeface="思源黑体旧字形 Normal" panose="020B0400000000000000" pitchFamily="34" charset="-122"/>
                  <a:cs typeface="+mn-ea"/>
                  <a:sym typeface="+mn-lt"/>
                </a:rPr>
                <a:t>PART.01</a:t>
              </a:r>
              <a:endPara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67B7E2"/>
                </a:solidFill>
                <a:effectLst/>
                <a:uLnTx/>
                <a:uFillTx/>
                <a:latin typeface="思源黑体旧字形 Normal" panose="020B0400000000000000" pitchFamily="34" charset="-122"/>
                <a:ea typeface="思源黑体旧字形 Normal" panose="020B0400000000000000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2764621" y="299849"/>
            <a:ext cx="6662758" cy="368935"/>
            <a:chOff x="2824480" y="299849"/>
            <a:chExt cx="6662758" cy="368935"/>
          </a:xfrm>
        </p:grpSpPr>
        <p:sp>
          <p:nvSpPr>
            <p:cNvPr id="43" name="TextBox 7"/>
            <p:cNvSpPr>
              <a:spLocks noChangeArrowheads="1"/>
            </p:cNvSpPr>
            <p:nvPr/>
          </p:nvSpPr>
          <p:spPr bwMode="auto">
            <a:xfrm>
              <a:off x="5078899" y="299849"/>
              <a:ext cx="2153920" cy="3689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>
                <a:defRPr/>
              </a:pPr>
              <a:r>
                <a:rPr lang="zh-CN" altLang="en-US" sz="2400" dirty="0">
                  <a:solidFill>
                    <a:srgbClr val="656565"/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实验</a:t>
              </a:r>
              <a:r>
                <a:rPr lang="zh-CN" altLang="en-US" sz="2400" dirty="0">
                  <a:solidFill>
                    <a:srgbClr val="656565"/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简介</a:t>
              </a:r>
              <a:endParaRPr lang="zh-CN" altLang="en-US" sz="2400" dirty="0">
                <a:solidFill>
                  <a:srgbClr val="656565"/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</p:txBody>
        </p:sp>
        <p:grpSp>
          <p:nvGrpSpPr>
            <p:cNvPr id="45" name="组合 44"/>
            <p:cNvGrpSpPr/>
            <p:nvPr/>
          </p:nvGrpSpPr>
          <p:grpSpPr>
            <a:xfrm>
              <a:off x="2824480" y="407080"/>
              <a:ext cx="2121238" cy="154870"/>
              <a:chOff x="2410381" y="3917516"/>
              <a:chExt cx="2121238" cy="154870"/>
            </a:xfrm>
          </p:grpSpPr>
          <p:cxnSp>
            <p:nvCxnSpPr>
              <p:cNvPr id="46" name="直接连接符 45"/>
              <p:cNvCxnSpPr/>
              <p:nvPr/>
            </p:nvCxnSpPr>
            <p:spPr>
              <a:xfrm>
                <a:off x="2410381" y="3994951"/>
                <a:ext cx="1903392" cy="0"/>
              </a:xfrm>
              <a:prstGeom prst="line">
                <a:avLst/>
              </a:prstGeom>
              <a:ln>
                <a:solidFill>
                  <a:srgbClr val="7E7E7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椭圆 46"/>
              <p:cNvSpPr/>
              <p:nvPr/>
            </p:nvSpPr>
            <p:spPr>
              <a:xfrm>
                <a:off x="4376749" y="3917516"/>
                <a:ext cx="154870" cy="154870"/>
              </a:xfrm>
              <a:prstGeom prst="ellipse">
                <a:avLst/>
              </a:prstGeom>
              <a:solidFill>
                <a:srgbClr val="67B7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0" name="组合 49"/>
            <p:cNvGrpSpPr/>
            <p:nvPr/>
          </p:nvGrpSpPr>
          <p:grpSpPr>
            <a:xfrm flipH="1">
              <a:off x="7366000" y="407080"/>
              <a:ext cx="2121238" cy="154870"/>
              <a:chOff x="2410381" y="3917516"/>
              <a:chExt cx="2121238" cy="154870"/>
            </a:xfrm>
          </p:grpSpPr>
          <p:cxnSp>
            <p:nvCxnSpPr>
              <p:cNvPr id="51" name="直接连接符 50"/>
              <p:cNvCxnSpPr/>
              <p:nvPr/>
            </p:nvCxnSpPr>
            <p:spPr>
              <a:xfrm>
                <a:off x="2410381" y="3994951"/>
                <a:ext cx="1903392" cy="0"/>
              </a:xfrm>
              <a:prstGeom prst="line">
                <a:avLst/>
              </a:prstGeom>
              <a:ln>
                <a:solidFill>
                  <a:srgbClr val="7E7E7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椭圆 51"/>
              <p:cNvSpPr/>
              <p:nvPr/>
            </p:nvSpPr>
            <p:spPr>
              <a:xfrm>
                <a:off x="4376749" y="3917516"/>
                <a:ext cx="154870" cy="154870"/>
              </a:xfrm>
              <a:prstGeom prst="ellipse">
                <a:avLst/>
              </a:prstGeom>
              <a:solidFill>
                <a:srgbClr val="67B7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934064" y="1733395"/>
            <a:ext cx="10323872" cy="3915092"/>
            <a:chOff x="844237" y="1724518"/>
            <a:chExt cx="10323872" cy="3915092"/>
          </a:xfrm>
        </p:grpSpPr>
        <p:grpSp>
          <p:nvGrpSpPr>
            <p:cNvPr id="2" name="组合 1"/>
            <p:cNvGrpSpPr/>
            <p:nvPr/>
          </p:nvGrpSpPr>
          <p:grpSpPr>
            <a:xfrm>
              <a:off x="844237" y="1724518"/>
              <a:ext cx="10323872" cy="3915092"/>
              <a:chOff x="391476" y="1724518"/>
              <a:chExt cx="10323872" cy="3915092"/>
            </a:xfrm>
          </p:grpSpPr>
          <p:sp>
            <p:nvSpPr>
              <p:cNvPr id="10" name="矩形 9"/>
              <p:cNvSpPr/>
              <p:nvPr/>
            </p:nvSpPr>
            <p:spPr>
              <a:xfrm>
                <a:off x="3740472" y="5273338"/>
                <a:ext cx="6974876" cy="366272"/>
              </a:xfrm>
              <a:prstGeom prst="rect">
                <a:avLst/>
              </a:prstGeom>
              <a:solidFill>
                <a:srgbClr val="67B7E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tymie Std Light Italic" panose="02010600010101010101" charset="-122"/>
                  <a:ea typeface="Stymie Std Light Italic" panose="02010600010101010101" charset="-122"/>
                  <a:cs typeface="+mn-ea"/>
                  <a:sym typeface="+mn-lt"/>
                </a:endParaRPr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391476" y="1724518"/>
                <a:ext cx="5125618" cy="2752524"/>
              </a:xfrm>
              <a:prstGeom prst="rect">
                <a:avLst/>
              </a:prstGeom>
              <a:solidFill>
                <a:srgbClr val="67B7E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tymie Std Light Italic" panose="02010600010101010101" charset="-122"/>
                  <a:ea typeface="Stymie Std Light Italic" panose="02010600010101010101" charset="-122"/>
                  <a:cs typeface="+mn-ea"/>
                  <a:sym typeface="+mn-lt"/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616890" y="1971933"/>
                <a:ext cx="5993782" cy="3450575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rgbClr val="67B7E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tymie Std Light Italic" panose="02010600010101010101" charset="-122"/>
                  <a:ea typeface="Stymie Std Light Italic" panose="02010600010101010101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1412376" y="2354611"/>
              <a:ext cx="5308471" cy="3068364"/>
              <a:chOff x="1083681" y="1883701"/>
              <a:chExt cx="5308471" cy="3068364"/>
            </a:xfrm>
          </p:grpSpPr>
          <p:sp>
            <p:nvSpPr>
              <p:cNvPr id="20" name="椭圆 19"/>
              <p:cNvSpPr/>
              <p:nvPr/>
            </p:nvSpPr>
            <p:spPr>
              <a:xfrm>
                <a:off x="1083681" y="1883701"/>
                <a:ext cx="572602" cy="572602"/>
              </a:xfrm>
              <a:prstGeom prst="ellipse">
                <a:avLst/>
              </a:prstGeom>
              <a:solidFill>
                <a:srgbClr val="67B7E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anum Gothic" panose="020D0604000000000000" charset="-127"/>
                  <a:ea typeface="思源黑体 CN Normal"/>
                  <a:cs typeface="+mn-cs"/>
                </a:endParaRPr>
              </a:p>
            </p:txBody>
          </p:sp>
          <p:grpSp>
            <p:nvGrpSpPr>
              <p:cNvPr id="21" name="组合 20"/>
              <p:cNvGrpSpPr/>
              <p:nvPr/>
            </p:nvGrpSpPr>
            <p:grpSpPr>
              <a:xfrm>
                <a:off x="1098792" y="1973915"/>
                <a:ext cx="5293360" cy="2978150"/>
                <a:chOff x="393733" y="4588799"/>
                <a:chExt cx="5293360" cy="2978150"/>
              </a:xfrm>
            </p:grpSpPr>
            <p:sp>
              <p:nvSpPr>
                <p:cNvPr id="23" name="文本"/>
                <p:cNvSpPr/>
                <p:nvPr/>
              </p:nvSpPr>
              <p:spPr>
                <a:xfrm>
                  <a:off x="1061967" y="4588799"/>
                  <a:ext cx="2926080" cy="4603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2400" dirty="0">
                      <a:solidFill>
                        <a:srgbClr val="595959"/>
                      </a:solidFill>
                      <a:latin typeface="+mj-ea"/>
                      <a:ea typeface="思源黑体旧字形 Normal" panose="020B0400000000000000" pitchFamily="34" charset="-122"/>
                      <a:cs typeface="Saturday Sans Regular" panose="02010600010101010101" charset="-122"/>
                    </a:rPr>
                    <a:t>实验简介和完成</a:t>
                  </a:r>
                  <a:r>
                    <a:rPr lang="zh-CN" altLang="en-US" sz="2400" dirty="0">
                      <a:solidFill>
                        <a:srgbClr val="595959"/>
                      </a:solidFill>
                      <a:latin typeface="+mj-ea"/>
                      <a:ea typeface="思源黑体旧字形 Normal" panose="020B0400000000000000" pitchFamily="34" charset="-122"/>
                      <a:cs typeface="Saturday Sans Regular" panose="02010600010101010101" charset="-122"/>
                    </a:rPr>
                    <a:t>情况</a:t>
                  </a:r>
                  <a:endParaRPr lang="zh-CN" altLang="en-US" sz="2400" dirty="0">
                    <a:solidFill>
                      <a:srgbClr val="595959"/>
                    </a:solidFill>
                    <a:latin typeface="+mj-ea"/>
                    <a:ea typeface="思源黑体旧字形 Normal" panose="020B0400000000000000" pitchFamily="34" charset="-122"/>
                    <a:cs typeface="Saturday Sans Regular" panose="02010600010101010101" charset="-122"/>
                  </a:endParaRPr>
                </a:p>
              </p:txBody>
            </p:sp>
            <p:sp>
              <p:nvSpPr>
                <p:cNvPr id="24" name="文本框 23"/>
                <p:cNvSpPr txBox="1"/>
                <p:nvPr/>
              </p:nvSpPr>
              <p:spPr>
                <a:xfrm>
                  <a:off x="393733" y="5094894"/>
                  <a:ext cx="5293360" cy="2472055"/>
                </a:xfrm>
                <a:prstGeom prst="rect">
                  <a:avLst/>
                </a:prstGeom>
              </p:spPr>
              <p:txBody>
                <a:bodyPr wrap="square">
                  <a:noAutofit/>
                  <a:scene3d>
                    <a:camera prst="orthographicFront"/>
                    <a:lightRig rig="threePt" dir="t"/>
                  </a:scene3d>
                  <a:sp3d contourW="12700"/>
                </a:bodyPr>
                <a:lstStyle>
                  <a:defPPr>
                    <a:defRPr lang="zh-CN"/>
                  </a:defPPr>
                  <a:lvl1pPr>
                    <a:lnSpc>
                      <a:spcPct val="130000"/>
                    </a:lnSpc>
                    <a:defRPr sz="140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微软雅黑" panose="020B0503020204020204" charset="-122"/>
                    </a:defRPr>
                  </a:lvl1pPr>
                </a:lstStyle>
                <a:p>
                  <a:pPr>
                    <a:lnSpc>
                      <a:spcPct val="150000"/>
                    </a:lnSpc>
                  </a:pP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《</a:t>
                  </a: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openEuler </a:t>
                  </a: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实验》主要是面向国产操作系统</a:t>
                  </a: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 openEuler </a:t>
                  </a: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的实验。该实验要求我们能够从零安装</a:t>
                  </a: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 openEuler </a:t>
                  </a: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操作系统，采用重新编译源码的方式将内核更新至最新版，并且完成一些基础的实验。</a:t>
                  </a:r>
                  <a:endPara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zh-CN" altLang="en-US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实验完成情况</a:t>
                  </a:r>
                  <a:r>
                    <a:rPr lang="en-US" altLang="zh-CN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：</a:t>
                  </a:r>
                  <a:endParaRPr lang="en-US" altLang="zh-CN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1.</a:t>
                  </a: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完成</a:t>
                  </a: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openEuler</a:t>
                  </a: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操作系统的</a:t>
                  </a: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安装</a:t>
                  </a:r>
                  <a:endPara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2.</a:t>
                  </a: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完成内核编译</a:t>
                  </a: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、</a:t>
                  </a: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更新</a:t>
                  </a:r>
                  <a:endPara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3.</a:t>
                  </a: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实现内核模块编程</a:t>
                  </a: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、</a:t>
                  </a: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内存管理两个</a:t>
                  </a: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功能</a:t>
                  </a:r>
                  <a:endPara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endParaRPr>
                </a:p>
              </p:txBody>
            </p:sp>
          </p:grpSp>
          <p:sp>
            <p:nvSpPr>
              <p:cNvPr id="22" name="椭圆1"/>
              <p:cNvSpPr/>
              <p:nvPr/>
            </p:nvSpPr>
            <p:spPr>
              <a:xfrm>
                <a:off x="1204481" y="2019966"/>
                <a:ext cx="311899" cy="268742"/>
              </a:xfrm>
              <a:custGeom>
                <a:avLst/>
                <a:gdLst>
                  <a:gd name="connsiteX0" fmla="*/ 124340 w 469943"/>
                  <a:gd name="connsiteY0" fmla="*/ 122210 h 404917"/>
                  <a:gd name="connsiteX1" fmla="*/ 212473 w 469943"/>
                  <a:gd name="connsiteY1" fmla="*/ 10885 h 404917"/>
                  <a:gd name="connsiteX2" fmla="*/ 252784 w 469943"/>
                  <a:gd name="connsiteY2" fmla="*/ 6199 h 404917"/>
                  <a:gd name="connsiteX3" fmla="*/ 257470 w 469943"/>
                  <a:gd name="connsiteY3" fmla="*/ 10885 h 404917"/>
                  <a:gd name="connsiteX4" fmla="*/ 345603 w 469943"/>
                  <a:gd name="connsiteY4" fmla="*/ 122210 h 404917"/>
                  <a:gd name="connsiteX5" fmla="*/ 429946 w 469943"/>
                  <a:gd name="connsiteY5" fmla="*/ 86065 h 404917"/>
                  <a:gd name="connsiteX6" fmla="*/ 467624 w 469943"/>
                  <a:gd name="connsiteY6" fmla="*/ 101141 h 404917"/>
                  <a:gd name="connsiteX7" fmla="*/ 469346 w 469943"/>
                  <a:gd name="connsiteY7" fmla="*/ 118268 h 404917"/>
                  <a:gd name="connsiteX8" fmla="*/ 420090 w 469943"/>
                  <a:gd name="connsiteY8" fmla="*/ 355591 h 404917"/>
                  <a:gd name="connsiteX9" fmla="*/ 359467 w 469943"/>
                  <a:gd name="connsiteY9" fmla="*/ 404918 h 404917"/>
                  <a:gd name="connsiteX10" fmla="*/ 110477 w 469943"/>
                  <a:gd name="connsiteY10" fmla="*/ 404918 h 404917"/>
                  <a:gd name="connsiteX11" fmla="*/ 49854 w 469943"/>
                  <a:gd name="connsiteY11" fmla="*/ 355591 h 404917"/>
                  <a:gd name="connsiteX12" fmla="*/ 603 w 469943"/>
                  <a:gd name="connsiteY12" fmla="*/ 118268 h 404917"/>
                  <a:gd name="connsiteX13" fmla="*/ 22876 w 469943"/>
                  <a:gd name="connsiteY13" fmla="*/ 84343 h 404917"/>
                  <a:gd name="connsiteX14" fmla="*/ 40002 w 469943"/>
                  <a:gd name="connsiteY14" fmla="*/ 86065 h 404917"/>
                  <a:gd name="connsiteX15" fmla="*/ 124346 w 469943"/>
                  <a:gd name="connsiteY15" fmla="*/ 122210 h 404917"/>
                  <a:gd name="connsiteX16" fmla="*/ 234972 w 469943"/>
                  <a:gd name="connsiteY16" fmla="*/ 39252 h 404917"/>
                  <a:gd name="connsiteX17" fmla="*/ 148866 w 469943"/>
                  <a:gd name="connsiteY17" fmla="*/ 148015 h 404917"/>
                  <a:gd name="connsiteX18" fmla="*/ 115065 w 469943"/>
                  <a:gd name="connsiteY18" fmla="*/ 156580 h 404917"/>
                  <a:gd name="connsiteX19" fmla="*/ 37664 w 469943"/>
                  <a:gd name="connsiteY19" fmla="*/ 123408 h 404917"/>
                  <a:gd name="connsiteX20" fmla="*/ 84365 w 469943"/>
                  <a:gd name="connsiteY20" fmla="*/ 348424 h 404917"/>
                  <a:gd name="connsiteX21" fmla="*/ 110471 w 469943"/>
                  <a:gd name="connsiteY21" fmla="*/ 369672 h 404917"/>
                  <a:gd name="connsiteX22" fmla="*/ 359472 w 469943"/>
                  <a:gd name="connsiteY22" fmla="*/ 369672 h 404917"/>
                  <a:gd name="connsiteX23" fmla="*/ 385578 w 469943"/>
                  <a:gd name="connsiteY23" fmla="*/ 348424 h 404917"/>
                  <a:gd name="connsiteX24" fmla="*/ 432279 w 469943"/>
                  <a:gd name="connsiteY24" fmla="*/ 123408 h 404917"/>
                  <a:gd name="connsiteX25" fmla="*/ 354879 w 469943"/>
                  <a:gd name="connsiteY25" fmla="*/ 156580 h 404917"/>
                  <a:gd name="connsiteX26" fmla="*/ 321078 w 469943"/>
                  <a:gd name="connsiteY26" fmla="*/ 148015 h 404917"/>
                  <a:gd name="connsiteX27" fmla="*/ 234972 w 469943"/>
                  <a:gd name="connsiteY27" fmla="*/ 39252 h 404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69943" h="404917">
                    <a:moveTo>
                      <a:pt x="124340" y="122210"/>
                    </a:moveTo>
                    <a:lnTo>
                      <a:pt x="212473" y="10885"/>
                    </a:lnTo>
                    <a:cubicBezTo>
                      <a:pt x="222311" y="-1541"/>
                      <a:pt x="240358" y="-3639"/>
                      <a:pt x="252784" y="6199"/>
                    </a:cubicBezTo>
                    <a:cubicBezTo>
                      <a:pt x="254522" y="7574"/>
                      <a:pt x="256094" y="9147"/>
                      <a:pt x="257470" y="10885"/>
                    </a:cubicBezTo>
                    <a:lnTo>
                      <a:pt x="345603" y="122210"/>
                    </a:lnTo>
                    <a:lnTo>
                      <a:pt x="429946" y="86065"/>
                    </a:lnTo>
                    <a:cubicBezTo>
                      <a:pt x="444515" y="79824"/>
                      <a:pt x="461384" y="86574"/>
                      <a:pt x="467624" y="101141"/>
                    </a:cubicBezTo>
                    <a:cubicBezTo>
                      <a:pt x="469937" y="106540"/>
                      <a:pt x="470538" y="112518"/>
                      <a:pt x="469346" y="118268"/>
                    </a:cubicBezTo>
                    <a:lnTo>
                      <a:pt x="420090" y="355591"/>
                    </a:lnTo>
                    <a:cubicBezTo>
                      <a:pt x="414125" y="384323"/>
                      <a:pt x="388810" y="404921"/>
                      <a:pt x="359467" y="404918"/>
                    </a:cubicBezTo>
                    <a:lnTo>
                      <a:pt x="110477" y="404918"/>
                    </a:lnTo>
                    <a:cubicBezTo>
                      <a:pt x="81133" y="404921"/>
                      <a:pt x="55818" y="384323"/>
                      <a:pt x="49854" y="355591"/>
                    </a:cubicBezTo>
                    <a:lnTo>
                      <a:pt x="603" y="118268"/>
                    </a:lnTo>
                    <a:cubicBezTo>
                      <a:pt x="-2614" y="102750"/>
                      <a:pt x="7358" y="87561"/>
                      <a:pt x="22876" y="84343"/>
                    </a:cubicBezTo>
                    <a:cubicBezTo>
                      <a:pt x="28627" y="83151"/>
                      <a:pt x="34604" y="83752"/>
                      <a:pt x="40002" y="86065"/>
                    </a:cubicBezTo>
                    <a:lnTo>
                      <a:pt x="124346" y="122210"/>
                    </a:lnTo>
                    <a:close/>
                    <a:moveTo>
                      <a:pt x="234972" y="39252"/>
                    </a:moveTo>
                    <a:lnTo>
                      <a:pt x="148866" y="148015"/>
                    </a:lnTo>
                    <a:cubicBezTo>
                      <a:pt x="140824" y="158173"/>
                      <a:pt x="126973" y="161683"/>
                      <a:pt x="115065" y="156580"/>
                    </a:cubicBezTo>
                    <a:lnTo>
                      <a:pt x="37664" y="123408"/>
                    </a:lnTo>
                    <a:lnTo>
                      <a:pt x="84365" y="348424"/>
                    </a:lnTo>
                    <a:cubicBezTo>
                      <a:pt x="86932" y="360798"/>
                      <a:pt x="97833" y="369671"/>
                      <a:pt x="110471" y="369672"/>
                    </a:cubicBezTo>
                    <a:lnTo>
                      <a:pt x="359472" y="369672"/>
                    </a:lnTo>
                    <a:cubicBezTo>
                      <a:pt x="372110" y="369671"/>
                      <a:pt x="383011" y="360798"/>
                      <a:pt x="385578" y="348424"/>
                    </a:cubicBezTo>
                    <a:lnTo>
                      <a:pt x="432279" y="123408"/>
                    </a:lnTo>
                    <a:lnTo>
                      <a:pt x="354879" y="156580"/>
                    </a:lnTo>
                    <a:cubicBezTo>
                      <a:pt x="342970" y="161683"/>
                      <a:pt x="329119" y="158173"/>
                      <a:pt x="321078" y="148015"/>
                    </a:cubicBezTo>
                    <a:lnTo>
                      <a:pt x="234972" y="39252"/>
                    </a:lnTo>
                    <a:close/>
                  </a:path>
                </a:pathLst>
              </a:cu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accent3"/>
                  </a:solidFill>
                </a:endParaRPr>
              </a:p>
            </p:txBody>
          </p:sp>
        </p:grp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6310" y="1901825"/>
            <a:ext cx="3218815" cy="32188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2764621" y="299849"/>
            <a:ext cx="6662758" cy="615315"/>
            <a:chOff x="2824480" y="299849"/>
            <a:chExt cx="6662758" cy="615315"/>
          </a:xfrm>
        </p:grpSpPr>
        <p:sp>
          <p:nvSpPr>
            <p:cNvPr id="43" name="TextBox 7"/>
            <p:cNvSpPr>
              <a:spLocks noChangeArrowheads="1"/>
            </p:cNvSpPr>
            <p:nvPr/>
          </p:nvSpPr>
          <p:spPr bwMode="auto">
            <a:xfrm>
              <a:off x="5078899" y="299849"/>
              <a:ext cx="2153920" cy="615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656565"/>
                  </a:solidFill>
                  <a:effectLst/>
                  <a:uLnTx/>
                  <a:uFillTx/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安装</a:t>
              </a: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656565"/>
                  </a:solidFill>
                  <a:effectLst/>
                  <a:uLnTx/>
                  <a:uFillTx/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 openEuler 20.03 LTS </a:t>
              </a:r>
              <a:endPara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656565"/>
                </a:solidFill>
                <a:effectLst/>
                <a:uLnTx/>
                <a:uFillTx/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</p:txBody>
        </p:sp>
        <p:grpSp>
          <p:nvGrpSpPr>
            <p:cNvPr id="45" name="组合 44"/>
            <p:cNvGrpSpPr/>
            <p:nvPr/>
          </p:nvGrpSpPr>
          <p:grpSpPr>
            <a:xfrm>
              <a:off x="2824480" y="407080"/>
              <a:ext cx="2121238" cy="154870"/>
              <a:chOff x="2410381" y="3917516"/>
              <a:chExt cx="2121238" cy="154870"/>
            </a:xfrm>
          </p:grpSpPr>
          <p:cxnSp>
            <p:nvCxnSpPr>
              <p:cNvPr id="46" name="直接连接符 45"/>
              <p:cNvCxnSpPr/>
              <p:nvPr/>
            </p:nvCxnSpPr>
            <p:spPr>
              <a:xfrm>
                <a:off x="2410381" y="3994951"/>
                <a:ext cx="1903392" cy="0"/>
              </a:xfrm>
              <a:prstGeom prst="line">
                <a:avLst/>
              </a:prstGeom>
              <a:ln>
                <a:solidFill>
                  <a:srgbClr val="7E7E7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椭圆 46"/>
              <p:cNvSpPr/>
              <p:nvPr/>
            </p:nvSpPr>
            <p:spPr>
              <a:xfrm>
                <a:off x="4376749" y="3917516"/>
                <a:ext cx="154870" cy="154870"/>
              </a:xfrm>
              <a:prstGeom prst="ellipse">
                <a:avLst/>
              </a:prstGeom>
              <a:solidFill>
                <a:srgbClr val="67B7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0" name="组合 49"/>
            <p:cNvGrpSpPr/>
            <p:nvPr/>
          </p:nvGrpSpPr>
          <p:grpSpPr>
            <a:xfrm flipH="1">
              <a:off x="7366000" y="407080"/>
              <a:ext cx="2121238" cy="154870"/>
              <a:chOff x="2410381" y="3917516"/>
              <a:chExt cx="2121238" cy="154870"/>
            </a:xfrm>
          </p:grpSpPr>
          <p:cxnSp>
            <p:nvCxnSpPr>
              <p:cNvPr id="51" name="直接连接符 50"/>
              <p:cNvCxnSpPr/>
              <p:nvPr/>
            </p:nvCxnSpPr>
            <p:spPr>
              <a:xfrm>
                <a:off x="2410381" y="3994951"/>
                <a:ext cx="1903392" cy="0"/>
              </a:xfrm>
              <a:prstGeom prst="line">
                <a:avLst/>
              </a:prstGeom>
              <a:ln>
                <a:solidFill>
                  <a:srgbClr val="7E7E7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椭圆 51"/>
              <p:cNvSpPr/>
              <p:nvPr/>
            </p:nvSpPr>
            <p:spPr>
              <a:xfrm>
                <a:off x="4376749" y="3917516"/>
                <a:ext cx="154870" cy="154870"/>
              </a:xfrm>
              <a:prstGeom prst="ellipse">
                <a:avLst/>
              </a:prstGeom>
              <a:solidFill>
                <a:srgbClr val="67B7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989465" y="4224080"/>
            <a:ext cx="2997676" cy="2026196"/>
            <a:chOff x="6410382" y="3895606"/>
            <a:chExt cx="2997676" cy="2026196"/>
          </a:xfrm>
        </p:grpSpPr>
        <p:sp>
          <p:nvSpPr>
            <p:cNvPr id="19" name="文本"/>
            <p:cNvSpPr/>
            <p:nvPr/>
          </p:nvSpPr>
          <p:spPr>
            <a:xfrm>
              <a:off x="7754281" y="3895606"/>
              <a:ext cx="309880" cy="3987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endParaRPr lang="zh-CN" altLang="en-US" sz="2000" dirty="0">
                <a:solidFill>
                  <a:srgbClr val="595959"/>
                </a:solidFill>
                <a:latin typeface="+mj-ea"/>
                <a:ea typeface="思源黑体旧字形 Normal" panose="020B0400000000000000" pitchFamily="34" charset="-122"/>
                <a:cs typeface="Saturday Sans Regular" panose="02010600010101010101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6410382" y="4214922"/>
              <a:ext cx="2997676" cy="1706880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>
                <a:lnSpc>
                  <a:spcPct val="130000"/>
                </a:lnSpc>
                <a:defRPr sz="140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在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VMware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配置好虚拟机之后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，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启动系统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，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选择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Install openEuler 20.03-LTS，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之后再设置用户名和密码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，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设置用户名为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bupt-os-wangmingyi2023211475</a:t>
              </a:r>
              <a:endPara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4885452" y="4224080"/>
            <a:ext cx="2997676" cy="1787436"/>
            <a:chOff x="6698672" y="3895606"/>
            <a:chExt cx="2997676" cy="1787436"/>
          </a:xfrm>
        </p:grpSpPr>
        <p:sp>
          <p:nvSpPr>
            <p:cNvPr id="23" name="文本"/>
            <p:cNvSpPr/>
            <p:nvPr/>
          </p:nvSpPr>
          <p:spPr>
            <a:xfrm>
              <a:off x="7754281" y="3895606"/>
              <a:ext cx="309880" cy="3987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endParaRPr lang="zh-CN" altLang="en-US" sz="2000" dirty="0">
                <a:solidFill>
                  <a:srgbClr val="595959"/>
                </a:solidFill>
                <a:latin typeface="+mj-ea"/>
                <a:ea typeface="思源黑体旧字形 Normal" panose="020B0400000000000000" pitchFamily="34" charset="-122"/>
                <a:cs typeface="Saturday Sans Regular" panose="02010600010101010101" charset="-122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6698672" y="4299377"/>
              <a:ext cx="2997676" cy="138366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>
                <a:lnSpc>
                  <a:spcPct val="130000"/>
                </a:lnSpc>
                <a:defRPr sz="140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安装好之后登陆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，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输入用户名和密码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，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登陆成功执行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uname-a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指令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, 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查看并记录内核版本、系统位数等信息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.</a:t>
              </a:r>
              <a:endPara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</p:txBody>
        </p:sp>
      </p:grpSp>
      <p:pic>
        <p:nvPicPr>
          <p:cNvPr id="10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770" y="1534160"/>
            <a:ext cx="3414395" cy="2469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415" y="1500505"/>
            <a:ext cx="3419475" cy="2468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4"/>
          <p:cNvPicPr>
            <a:picLocks noChangeAspect="1"/>
          </p:cNvPicPr>
          <p:nvPr/>
        </p:nvPicPr>
        <p:blipFill>
          <a:blip r:embed="rId3"/>
          <a:srcRect l="2821"/>
          <a:stretch>
            <a:fillRect/>
          </a:stretch>
        </p:blipFill>
        <p:spPr>
          <a:xfrm>
            <a:off x="3660140" y="4117340"/>
            <a:ext cx="5448300" cy="33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6010" y="1522095"/>
            <a:ext cx="3177540" cy="254825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8781177" y="4627851"/>
            <a:ext cx="2997676" cy="13836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30000"/>
              </a:lnSpc>
              <a:defRPr sz="140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rPr>
              <a:t>执行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rPr>
              <a:t> getconf PAGESIZE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rPr>
              <a:t>命令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思源黑体旧字形 Normal" panose="020B0400000000000000" pitchFamily="34" charset="-122"/>
              <a:ea typeface="思源黑体旧字形 Normal" panose="020B0400000000000000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rPr>
              <a:t>getconf PAGESIZE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rPr>
              <a:t>指令检查分页大小，为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rPr>
              <a:t>4096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rPr>
              <a:t>。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rPr>
              <a:t> 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思源黑体旧字形 Normal" panose="020B0400000000000000" pitchFamily="34" charset="-122"/>
              <a:ea typeface="思源黑体旧字形 Normal" panose="020B0400000000000000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rPr>
              <a:t>命令执行结果如上图所示：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思源黑体旧字形 Normal" panose="020B0400000000000000" pitchFamily="34" charset="-122"/>
              <a:ea typeface="思源黑体旧字形 Normal" panose="020B0400000000000000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12192000" cy="3426738"/>
          </a:xfrm>
          <a:prstGeom prst="rect">
            <a:avLst/>
          </a:prstGeom>
          <a:solidFill>
            <a:srgbClr val="F8FD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任意多边形: 形状 51"/>
          <p:cNvSpPr/>
          <p:nvPr/>
        </p:nvSpPr>
        <p:spPr>
          <a:xfrm>
            <a:off x="9377644" y="1"/>
            <a:ext cx="2862214" cy="2083273"/>
          </a:xfrm>
          <a:custGeom>
            <a:avLst/>
            <a:gdLst>
              <a:gd name="connsiteX0" fmla="*/ 0 w 2862214"/>
              <a:gd name="connsiteY0" fmla="*/ 0 h 2083273"/>
              <a:gd name="connsiteX1" fmla="*/ 2862214 w 2862214"/>
              <a:gd name="connsiteY1" fmla="*/ 0 h 2083273"/>
              <a:gd name="connsiteX2" fmla="*/ 2862214 w 2862214"/>
              <a:gd name="connsiteY2" fmla="*/ 1889566 h 2083273"/>
              <a:gd name="connsiteX3" fmla="*/ 2767048 w 2862214"/>
              <a:gd name="connsiteY3" fmla="*/ 1934668 h 2083273"/>
              <a:gd name="connsiteX4" fmla="*/ 2023899 w 2862214"/>
              <a:gd name="connsiteY4" fmla="*/ 2083273 h 2083273"/>
              <a:gd name="connsiteX5" fmla="*/ 7639 w 2862214"/>
              <a:gd name="connsiteY5" fmla="*/ 159906 h 208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62214" h="2083273">
                <a:moveTo>
                  <a:pt x="0" y="0"/>
                </a:moveTo>
                <a:lnTo>
                  <a:pt x="2862214" y="0"/>
                </a:lnTo>
                <a:lnTo>
                  <a:pt x="2862214" y="1889566"/>
                </a:lnTo>
                <a:lnTo>
                  <a:pt x="2767048" y="1934668"/>
                </a:lnTo>
                <a:cubicBezTo>
                  <a:pt x="2536943" y="2030583"/>
                  <a:pt x="2286242" y="2083273"/>
                  <a:pt x="2023899" y="2083273"/>
                </a:cubicBezTo>
                <a:cubicBezTo>
                  <a:pt x="974528" y="2083273"/>
                  <a:pt x="111427" y="1240232"/>
                  <a:pt x="7639" y="159906"/>
                </a:cubicBezTo>
                <a:close/>
              </a:path>
            </a:pathLst>
          </a:custGeom>
          <a:solidFill>
            <a:srgbClr val="67B7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 flipH="1" flipV="1">
            <a:off x="0" y="3431262"/>
            <a:ext cx="12192000" cy="3426738"/>
            <a:chOff x="0" y="0"/>
            <a:chExt cx="12192000" cy="3426738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134"/>
            <a:stretch>
              <a:fillRect/>
            </a:stretch>
          </p:blipFill>
          <p:spPr>
            <a:xfrm>
              <a:off x="1484512" y="0"/>
              <a:ext cx="10707488" cy="3426738"/>
            </a:xfrm>
            <a:prstGeom prst="rect">
              <a:avLst/>
            </a:prstGeom>
          </p:spPr>
        </p:pic>
        <p:sp>
          <p:nvSpPr>
            <p:cNvPr id="15" name="矩形 14"/>
            <p:cNvSpPr/>
            <p:nvPr/>
          </p:nvSpPr>
          <p:spPr>
            <a:xfrm>
              <a:off x="0" y="0"/>
              <a:ext cx="2341038" cy="3426738"/>
            </a:xfrm>
            <a:prstGeom prst="rect">
              <a:avLst/>
            </a:prstGeom>
            <a:solidFill>
              <a:srgbClr val="F8F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矩形 21"/>
          <p:cNvSpPr/>
          <p:nvPr/>
        </p:nvSpPr>
        <p:spPr>
          <a:xfrm>
            <a:off x="1325732" y="1029811"/>
            <a:ext cx="9540536" cy="479838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8100" sx="102000" sy="102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2" name="组合 41"/>
          <p:cNvGrpSpPr/>
          <p:nvPr/>
        </p:nvGrpSpPr>
        <p:grpSpPr>
          <a:xfrm>
            <a:off x="3443935" y="2083273"/>
            <a:ext cx="5447665" cy="2086784"/>
            <a:chOff x="3443934" y="2278582"/>
            <a:chExt cx="5447665" cy="2086784"/>
          </a:xfrm>
        </p:grpSpPr>
        <p:sp>
          <p:nvSpPr>
            <p:cNvPr id="43" name="TextBox 7"/>
            <p:cNvSpPr>
              <a:spLocks noChangeArrowheads="1"/>
            </p:cNvSpPr>
            <p:nvPr/>
          </p:nvSpPr>
          <p:spPr bwMode="auto">
            <a:xfrm>
              <a:off x="3443934" y="2984067"/>
              <a:ext cx="5447665" cy="923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>
                <a:defRPr/>
              </a:pPr>
              <a:r>
                <a:rPr lang="zh-CN" altLang="en-US" sz="6000" dirty="0">
                  <a:solidFill>
                    <a:srgbClr val="656565"/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编译并</a:t>
              </a:r>
              <a:r>
                <a:rPr lang="zh-CN" altLang="en-US" sz="6000" dirty="0">
                  <a:solidFill>
                    <a:srgbClr val="656565"/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更新内核</a:t>
              </a:r>
              <a:endParaRPr lang="zh-CN" altLang="en-US" sz="6000" dirty="0">
                <a:solidFill>
                  <a:srgbClr val="656565"/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</p:txBody>
        </p:sp>
        <p:grpSp>
          <p:nvGrpSpPr>
            <p:cNvPr id="45" name="组合 44"/>
            <p:cNvGrpSpPr/>
            <p:nvPr/>
          </p:nvGrpSpPr>
          <p:grpSpPr>
            <a:xfrm>
              <a:off x="3714628" y="3997513"/>
              <a:ext cx="4762743" cy="367853"/>
              <a:chOff x="1227299" y="4480711"/>
              <a:chExt cx="4762743" cy="367853"/>
            </a:xfrm>
          </p:grpSpPr>
          <p:sp>
            <p:nvSpPr>
              <p:cNvPr id="47" name="文本框 46"/>
              <p:cNvSpPr txBox="1"/>
              <p:nvPr/>
            </p:nvSpPr>
            <p:spPr>
              <a:xfrm>
                <a:off x="1227299" y="4538049"/>
                <a:ext cx="4762743" cy="310515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华文细黑" panose="02010600040101010101" charset="-122"/>
                  <a:ea typeface="华文细黑" panose="02010600040101010101" charset="-122"/>
                  <a:sym typeface="微软雅黑"/>
                </a:endParaRPr>
              </a:p>
            </p:txBody>
          </p:sp>
          <p:cxnSp>
            <p:nvCxnSpPr>
              <p:cNvPr id="48" name="直接连接符 47"/>
              <p:cNvCxnSpPr/>
              <p:nvPr/>
            </p:nvCxnSpPr>
            <p:spPr>
              <a:xfrm>
                <a:off x="1277257" y="4480711"/>
                <a:ext cx="4615131" cy="0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46" name="TextBox 7"/>
            <p:cNvSpPr>
              <a:spLocks noChangeArrowheads="1"/>
            </p:cNvSpPr>
            <p:nvPr/>
          </p:nvSpPr>
          <p:spPr bwMode="auto">
            <a:xfrm>
              <a:off x="4858327" y="2278582"/>
              <a:ext cx="2475344" cy="6769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400" b="0" i="0" u="none" strike="noStrike" kern="0" cap="none" spc="0" normalizeH="0" baseline="0" noProof="0" dirty="0">
                  <a:ln>
                    <a:noFill/>
                  </a:ln>
                  <a:solidFill>
                    <a:srgbClr val="67B7E2"/>
                  </a:solidFill>
                  <a:effectLst/>
                  <a:uLnTx/>
                  <a:uFillTx/>
                  <a:latin typeface="思源黑体旧字形 Normal" panose="020B0400000000000000" pitchFamily="34" charset="-122"/>
                  <a:ea typeface="思源黑体旧字形 Normal" panose="020B0400000000000000" pitchFamily="34" charset="-122"/>
                  <a:cs typeface="+mn-ea"/>
                  <a:sym typeface="+mn-lt"/>
                </a:rPr>
                <a:t>PART.02</a:t>
              </a:r>
              <a:endPara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67B7E2"/>
                </a:solidFill>
                <a:effectLst/>
                <a:uLnTx/>
                <a:uFillTx/>
                <a:latin typeface="思源黑体旧字形 Normal" panose="020B0400000000000000" pitchFamily="34" charset="-122"/>
                <a:ea typeface="思源黑体旧字形 Normal" panose="020B0400000000000000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2764621" y="299849"/>
            <a:ext cx="6662758" cy="368935"/>
            <a:chOff x="2824480" y="299849"/>
            <a:chExt cx="6662758" cy="368935"/>
          </a:xfrm>
        </p:grpSpPr>
        <p:sp>
          <p:nvSpPr>
            <p:cNvPr id="43" name="TextBox 7"/>
            <p:cNvSpPr>
              <a:spLocks noChangeArrowheads="1"/>
            </p:cNvSpPr>
            <p:nvPr/>
          </p:nvSpPr>
          <p:spPr bwMode="auto">
            <a:xfrm>
              <a:off x="5078899" y="299849"/>
              <a:ext cx="2153920" cy="3689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>
                <a:defRPr/>
              </a:pPr>
              <a:r>
                <a:rPr lang="zh-CN" altLang="en-US" sz="2400" dirty="0">
                  <a:solidFill>
                    <a:srgbClr val="656565"/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编译并更新</a:t>
              </a:r>
              <a:r>
                <a:rPr lang="zh-CN" altLang="en-US" sz="2400" dirty="0">
                  <a:solidFill>
                    <a:srgbClr val="656565"/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内核</a:t>
              </a:r>
              <a:endParaRPr lang="zh-CN" altLang="en-US" sz="2400" dirty="0">
                <a:solidFill>
                  <a:srgbClr val="656565"/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</p:txBody>
        </p:sp>
        <p:grpSp>
          <p:nvGrpSpPr>
            <p:cNvPr id="45" name="组合 44"/>
            <p:cNvGrpSpPr/>
            <p:nvPr/>
          </p:nvGrpSpPr>
          <p:grpSpPr>
            <a:xfrm>
              <a:off x="2824480" y="407080"/>
              <a:ext cx="2121238" cy="154870"/>
              <a:chOff x="2410381" y="3917516"/>
              <a:chExt cx="2121238" cy="154870"/>
            </a:xfrm>
          </p:grpSpPr>
          <p:cxnSp>
            <p:nvCxnSpPr>
              <p:cNvPr id="46" name="直接连接符 45"/>
              <p:cNvCxnSpPr/>
              <p:nvPr/>
            </p:nvCxnSpPr>
            <p:spPr>
              <a:xfrm>
                <a:off x="2410381" y="3994951"/>
                <a:ext cx="1903392" cy="0"/>
              </a:xfrm>
              <a:prstGeom prst="line">
                <a:avLst/>
              </a:prstGeom>
              <a:ln>
                <a:solidFill>
                  <a:srgbClr val="7E7E7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椭圆 46"/>
              <p:cNvSpPr/>
              <p:nvPr/>
            </p:nvSpPr>
            <p:spPr>
              <a:xfrm>
                <a:off x="4376749" y="3917516"/>
                <a:ext cx="154870" cy="154870"/>
              </a:xfrm>
              <a:prstGeom prst="ellipse">
                <a:avLst/>
              </a:prstGeom>
              <a:solidFill>
                <a:srgbClr val="67B7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0" name="组合 49"/>
            <p:cNvGrpSpPr/>
            <p:nvPr/>
          </p:nvGrpSpPr>
          <p:grpSpPr>
            <a:xfrm flipH="1">
              <a:off x="7366000" y="407080"/>
              <a:ext cx="2121238" cy="154870"/>
              <a:chOff x="2410381" y="3917516"/>
              <a:chExt cx="2121238" cy="154870"/>
            </a:xfrm>
          </p:grpSpPr>
          <p:cxnSp>
            <p:nvCxnSpPr>
              <p:cNvPr id="51" name="直接连接符 50"/>
              <p:cNvCxnSpPr/>
              <p:nvPr/>
            </p:nvCxnSpPr>
            <p:spPr>
              <a:xfrm>
                <a:off x="2410381" y="3994951"/>
                <a:ext cx="1903392" cy="0"/>
              </a:xfrm>
              <a:prstGeom prst="line">
                <a:avLst/>
              </a:prstGeom>
              <a:ln>
                <a:solidFill>
                  <a:srgbClr val="7E7E7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椭圆 51"/>
              <p:cNvSpPr/>
              <p:nvPr/>
            </p:nvSpPr>
            <p:spPr>
              <a:xfrm>
                <a:off x="4376749" y="3917516"/>
                <a:ext cx="154870" cy="154870"/>
              </a:xfrm>
              <a:prstGeom prst="ellipse">
                <a:avLst/>
              </a:prstGeom>
              <a:solidFill>
                <a:srgbClr val="67B7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934064" y="1733395"/>
            <a:ext cx="10323872" cy="3915092"/>
            <a:chOff x="844237" y="1724518"/>
            <a:chExt cx="10323872" cy="3915092"/>
          </a:xfrm>
        </p:grpSpPr>
        <p:grpSp>
          <p:nvGrpSpPr>
            <p:cNvPr id="2" name="组合 1"/>
            <p:cNvGrpSpPr/>
            <p:nvPr/>
          </p:nvGrpSpPr>
          <p:grpSpPr>
            <a:xfrm>
              <a:off x="844237" y="1724518"/>
              <a:ext cx="10323872" cy="3915092"/>
              <a:chOff x="391476" y="1724518"/>
              <a:chExt cx="10323872" cy="3915092"/>
            </a:xfrm>
          </p:grpSpPr>
          <p:sp>
            <p:nvSpPr>
              <p:cNvPr id="10" name="矩形 9"/>
              <p:cNvSpPr/>
              <p:nvPr/>
            </p:nvSpPr>
            <p:spPr>
              <a:xfrm>
                <a:off x="3740472" y="5273338"/>
                <a:ext cx="6974876" cy="366272"/>
              </a:xfrm>
              <a:prstGeom prst="rect">
                <a:avLst/>
              </a:prstGeom>
              <a:solidFill>
                <a:srgbClr val="67B7E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tymie Std Light Italic" panose="02010600010101010101" charset="-122"/>
                  <a:ea typeface="Stymie Std Light Italic" panose="02010600010101010101" charset="-122"/>
                  <a:cs typeface="+mn-ea"/>
                  <a:sym typeface="+mn-lt"/>
                </a:endParaRPr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391476" y="1724518"/>
                <a:ext cx="5125618" cy="2752524"/>
              </a:xfrm>
              <a:prstGeom prst="rect">
                <a:avLst/>
              </a:prstGeom>
              <a:solidFill>
                <a:srgbClr val="67B7E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tymie Std Light Italic" panose="02010600010101010101" charset="-122"/>
                  <a:ea typeface="Stymie Std Light Italic" panose="02010600010101010101" charset="-122"/>
                  <a:cs typeface="+mn-ea"/>
                  <a:sym typeface="+mn-lt"/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616890" y="1971933"/>
                <a:ext cx="5993782" cy="3450575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rgbClr val="67B7E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tymie Std Light Italic" panose="02010600010101010101" charset="-122"/>
                  <a:ea typeface="Stymie Std Light Italic" panose="02010600010101010101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1412376" y="2354611"/>
              <a:ext cx="5308471" cy="3151549"/>
              <a:chOff x="1083681" y="1883701"/>
              <a:chExt cx="5308471" cy="3151549"/>
            </a:xfrm>
          </p:grpSpPr>
          <p:sp>
            <p:nvSpPr>
              <p:cNvPr id="20" name="椭圆 19"/>
              <p:cNvSpPr/>
              <p:nvPr/>
            </p:nvSpPr>
            <p:spPr>
              <a:xfrm>
                <a:off x="1083681" y="1883701"/>
                <a:ext cx="572602" cy="572602"/>
              </a:xfrm>
              <a:prstGeom prst="ellipse">
                <a:avLst/>
              </a:prstGeom>
              <a:solidFill>
                <a:srgbClr val="67B7E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anum Gothic" panose="020D0604000000000000" charset="-127"/>
                  <a:ea typeface="思源黑体 CN Normal"/>
                  <a:cs typeface="+mn-cs"/>
                </a:endParaRPr>
              </a:p>
            </p:txBody>
          </p:sp>
          <p:grpSp>
            <p:nvGrpSpPr>
              <p:cNvPr id="21" name="组合 20"/>
              <p:cNvGrpSpPr/>
              <p:nvPr/>
            </p:nvGrpSpPr>
            <p:grpSpPr>
              <a:xfrm>
                <a:off x="1098792" y="1973915"/>
                <a:ext cx="5293360" cy="3061335"/>
                <a:chOff x="393733" y="4588799"/>
                <a:chExt cx="5293360" cy="3061335"/>
              </a:xfrm>
            </p:grpSpPr>
            <p:sp>
              <p:nvSpPr>
                <p:cNvPr id="23" name="文本"/>
                <p:cNvSpPr/>
                <p:nvPr/>
              </p:nvSpPr>
              <p:spPr>
                <a:xfrm>
                  <a:off x="1061967" y="4588799"/>
                  <a:ext cx="2011680" cy="4603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2400" dirty="0">
                      <a:solidFill>
                        <a:srgbClr val="595959"/>
                      </a:solidFill>
                      <a:latin typeface="+mj-ea"/>
                      <a:ea typeface="思源黑体旧字形 Normal" panose="020B0400000000000000" pitchFamily="34" charset="-122"/>
                      <a:cs typeface="Saturday Sans Regular" panose="02010600010101010101" charset="-122"/>
                    </a:rPr>
                    <a:t>网络环境</a:t>
                  </a:r>
                  <a:r>
                    <a:rPr lang="zh-CN" altLang="en-US" sz="2400" dirty="0">
                      <a:solidFill>
                        <a:srgbClr val="595959"/>
                      </a:solidFill>
                      <a:latin typeface="+mj-ea"/>
                      <a:ea typeface="思源黑体旧字形 Normal" panose="020B0400000000000000" pitchFamily="34" charset="-122"/>
                      <a:cs typeface="Saturday Sans Regular" panose="02010600010101010101" charset="-122"/>
                    </a:rPr>
                    <a:t>准备</a:t>
                  </a:r>
                  <a:endParaRPr lang="zh-CN" altLang="en-US" sz="2400" dirty="0">
                    <a:solidFill>
                      <a:srgbClr val="595959"/>
                    </a:solidFill>
                    <a:latin typeface="+mj-ea"/>
                    <a:ea typeface="思源黑体旧字形 Normal" panose="020B0400000000000000" pitchFamily="34" charset="-122"/>
                    <a:cs typeface="Saturday Sans Regular" panose="02010600010101010101" charset="-122"/>
                  </a:endParaRPr>
                </a:p>
              </p:txBody>
            </p:sp>
            <p:sp>
              <p:nvSpPr>
                <p:cNvPr id="24" name="文本框 23"/>
                <p:cNvSpPr txBox="1"/>
                <p:nvPr/>
              </p:nvSpPr>
              <p:spPr>
                <a:xfrm>
                  <a:off x="393733" y="5094894"/>
                  <a:ext cx="5293360" cy="2555240"/>
                </a:xfrm>
                <a:prstGeom prst="rect">
                  <a:avLst/>
                </a:prstGeom>
              </p:spPr>
              <p:txBody>
                <a:bodyPr wrap="square">
                  <a:noAutofit/>
                  <a:scene3d>
                    <a:camera prst="orthographicFront"/>
                    <a:lightRig rig="threePt" dir="t"/>
                  </a:scene3d>
                  <a:sp3d contourW="12700"/>
                </a:bodyPr>
                <a:lstStyle>
                  <a:defPPr>
                    <a:defRPr lang="zh-CN"/>
                  </a:defPPr>
                  <a:lvl1pPr>
                    <a:lnSpc>
                      <a:spcPct val="130000"/>
                    </a:lnSpc>
                    <a:defRPr sz="140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微软雅黑" panose="020B0503020204020204" charset="-122"/>
                    </a:defRPr>
                  </a:lvl1pPr>
                </a:lstStyle>
                <a:p>
                  <a:pPr>
                    <a:lnSpc>
                      <a:spcPct val="150000"/>
                    </a:lnSpc>
                  </a:pPr>
                  <a:r>
                    <a:rPr lang="zh-CN" altLang="en-US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之后会下载</a:t>
                  </a:r>
                  <a:r>
                    <a:rPr lang="en-US" altLang="zh-CN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openEuler </a:t>
                  </a:r>
                  <a:r>
                    <a:rPr lang="zh-CN" altLang="en-US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内核源码，先查看虚拟机与网络的连接情况，输入</a:t>
                  </a:r>
                  <a:r>
                    <a:rPr lang="en-US" altLang="zh-CN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ip a</a:t>
                  </a:r>
                  <a:r>
                    <a:rPr lang="zh-CN" altLang="en-US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，查看网卡</a:t>
                  </a:r>
                  <a:r>
                    <a:rPr lang="en-US" altLang="zh-CN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，</a:t>
                  </a:r>
                  <a:r>
                    <a:rPr lang="zh-CN" altLang="en-US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有</a:t>
                  </a:r>
                  <a:r>
                    <a:rPr lang="en-US" altLang="zh-CN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ens160</a:t>
                  </a:r>
                  <a:r>
                    <a:rPr lang="zh-CN" altLang="en-US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网卡，输入</a:t>
                  </a:r>
                  <a:r>
                    <a:rPr lang="en-US" altLang="zh-CN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sudo nmcli connection  up ens160</a:t>
                  </a:r>
                  <a:r>
                    <a:rPr lang="zh-CN" altLang="en-US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，连接</a:t>
                  </a:r>
                  <a:r>
                    <a:rPr lang="en-US" altLang="zh-CN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，</a:t>
                  </a:r>
                  <a:r>
                    <a:rPr lang="zh-CN" altLang="en-US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连接成功后尝试</a:t>
                  </a:r>
                  <a:r>
                    <a:rPr lang="en-US" altLang="zh-CN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ping 8.8.8.8，</a:t>
                  </a:r>
                  <a:r>
                    <a:rPr lang="zh-CN" altLang="en-US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发现可以</a:t>
                  </a:r>
                  <a:r>
                    <a:rPr lang="en-US" altLang="zh-CN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ping</a:t>
                  </a:r>
                  <a:r>
                    <a:rPr lang="zh-CN" altLang="en-US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通</a:t>
                  </a:r>
                  <a:endPara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endParaRPr>
                </a:p>
              </p:txBody>
            </p:sp>
          </p:grpSp>
          <p:sp>
            <p:nvSpPr>
              <p:cNvPr id="22" name="椭圆1"/>
              <p:cNvSpPr/>
              <p:nvPr/>
            </p:nvSpPr>
            <p:spPr>
              <a:xfrm>
                <a:off x="1204481" y="2019966"/>
                <a:ext cx="311899" cy="268742"/>
              </a:xfrm>
              <a:custGeom>
                <a:avLst/>
                <a:gdLst>
                  <a:gd name="connsiteX0" fmla="*/ 124340 w 469943"/>
                  <a:gd name="connsiteY0" fmla="*/ 122210 h 404917"/>
                  <a:gd name="connsiteX1" fmla="*/ 212473 w 469943"/>
                  <a:gd name="connsiteY1" fmla="*/ 10885 h 404917"/>
                  <a:gd name="connsiteX2" fmla="*/ 252784 w 469943"/>
                  <a:gd name="connsiteY2" fmla="*/ 6199 h 404917"/>
                  <a:gd name="connsiteX3" fmla="*/ 257470 w 469943"/>
                  <a:gd name="connsiteY3" fmla="*/ 10885 h 404917"/>
                  <a:gd name="connsiteX4" fmla="*/ 345603 w 469943"/>
                  <a:gd name="connsiteY4" fmla="*/ 122210 h 404917"/>
                  <a:gd name="connsiteX5" fmla="*/ 429946 w 469943"/>
                  <a:gd name="connsiteY5" fmla="*/ 86065 h 404917"/>
                  <a:gd name="connsiteX6" fmla="*/ 467624 w 469943"/>
                  <a:gd name="connsiteY6" fmla="*/ 101141 h 404917"/>
                  <a:gd name="connsiteX7" fmla="*/ 469346 w 469943"/>
                  <a:gd name="connsiteY7" fmla="*/ 118268 h 404917"/>
                  <a:gd name="connsiteX8" fmla="*/ 420090 w 469943"/>
                  <a:gd name="connsiteY8" fmla="*/ 355591 h 404917"/>
                  <a:gd name="connsiteX9" fmla="*/ 359467 w 469943"/>
                  <a:gd name="connsiteY9" fmla="*/ 404918 h 404917"/>
                  <a:gd name="connsiteX10" fmla="*/ 110477 w 469943"/>
                  <a:gd name="connsiteY10" fmla="*/ 404918 h 404917"/>
                  <a:gd name="connsiteX11" fmla="*/ 49854 w 469943"/>
                  <a:gd name="connsiteY11" fmla="*/ 355591 h 404917"/>
                  <a:gd name="connsiteX12" fmla="*/ 603 w 469943"/>
                  <a:gd name="connsiteY12" fmla="*/ 118268 h 404917"/>
                  <a:gd name="connsiteX13" fmla="*/ 22876 w 469943"/>
                  <a:gd name="connsiteY13" fmla="*/ 84343 h 404917"/>
                  <a:gd name="connsiteX14" fmla="*/ 40002 w 469943"/>
                  <a:gd name="connsiteY14" fmla="*/ 86065 h 404917"/>
                  <a:gd name="connsiteX15" fmla="*/ 124346 w 469943"/>
                  <a:gd name="connsiteY15" fmla="*/ 122210 h 404917"/>
                  <a:gd name="connsiteX16" fmla="*/ 234972 w 469943"/>
                  <a:gd name="connsiteY16" fmla="*/ 39252 h 404917"/>
                  <a:gd name="connsiteX17" fmla="*/ 148866 w 469943"/>
                  <a:gd name="connsiteY17" fmla="*/ 148015 h 404917"/>
                  <a:gd name="connsiteX18" fmla="*/ 115065 w 469943"/>
                  <a:gd name="connsiteY18" fmla="*/ 156580 h 404917"/>
                  <a:gd name="connsiteX19" fmla="*/ 37664 w 469943"/>
                  <a:gd name="connsiteY19" fmla="*/ 123408 h 404917"/>
                  <a:gd name="connsiteX20" fmla="*/ 84365 w 469943"/>
                  <a:gd name="connsiteY20" fmla="*/ 348424 h 404917"/>
                  <a:gd name="connsiteX21" fmla="*/ 110471 w 469943"/>
                  <a:gd name="connsiteY21" fmla="*/ 369672 h 404917"/>
                  <a:gd name="connsiteX22" fmla="*/ 359472 w 469943"/>
                  <a:gd name="connsiteY22" fmla="*/ 369672 h 404917"/>
                  <a:gd name="connsiteX23" fmla="*/ 385578 w 469943"/>
                  <a:gd name="connsiteY23" fmla="*/ 348424 h 404917"/>
                  <a:gd name="connsiteX24" fmla="*/ 432279 w 469943"/>
                  <a:gd name="connsiteY24" fmla="*/ 123408 h 404917"/>
                  <a:gd name="connsiteX25" fmla="*/ 354879 w 469943"/>
                  <a:gd name="connsiteY25" fmla="*/ 156580 h 404917"/>
                  <a:gd name="connsiteX26" fmla="*/ 321078 w 469943"/>
                  <a:gd name="connsiteY26" fmla="*/ 148015 h 404917"/>
                  <a:gd name="connsiteX27" fmla="*/ 234972 w 469943"/>
                  <a:gd name="connsiteY27" fmla="*/ 39252 h 404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69943" h="404917">
                    <a:moveTo>
                      <a:pt x="124340" y="122210"/>
                    </a:moveTo>
                    <a:lnTo>
                      <a:pt x="212473" y="10885"/>
                    </a:lnTo>
                    <a:cubicBezTo>
                      <a:pt x="222311" y="-1541"/>
                      <a:pt x="240358" y="-3639"/>
                      <a:pt x="252784" y="6199"/>
                    </a:cubicBezTo>
                    <a:cubicBezTo>
                      <a:pt x="254522" y="7574"/>
                      <a:pt x="256094" y="9147"/>
                      <a:pt x="257470" y="10885"/>
                    </a:cubicBezTo>
                    <a:lnTo>
                      <a:pt x="345603" y="122210"/>
                    </a:lnTo>
                    <a:lnTo>
                      <a:pt x="429946" y="86065"/>
                    </a:lnTo>
                    <a:cubicBezTo>
                      <a:pt x="444515" y="79824"/>
                      <a:pt x="461384" y="86574"/>
                      <a:pt x="467624" y="101141"/>
                    </a:cubicBezTo>
                    <a:cubicBezTo>
                      <a:pt x="469937" y="106540"/>
                      <a:pt x="470538" y="112518"/>
                      <a:pt x="469346" y="118268"/>
                    </a:cubicBezTo>
                    <a:lnTo>
                      <a:pt x="420090" y="355591"/>
                    </a:lnTo>
                    <a:cubicBezTo>
                      <a:pt x="414125" y="384323"/>
                      <a:pt x="388810" y="404921"/>
                      <a:pt x="359467" y="404918"/>
                    </a:cubicBezTo>
                    <a:lnTo>
                      <a:pt x="110477" y="404918"/>
                    </a:lnTo>
                    <a:cubicBezTo>
                      <a:pt x="81133" y="404921"/>
                      <a:pt x="55818" y="384323"/>
                      <a:pt x="49854" y="355591"/>
                    </a:cubicBezTo>
                    <a:lnTo>
                      <a:pt x="603" y="118268"/>
                    </a:lnTo>
                    <a:cubicBezTo>
                      <a:pt x="-2614" y="102750"/>
                      <a:pt x="7358" y="87561"/>
                      <a:pt x="22876" y="84343"/>
                    </a:cubicBezTo>
                    <a:cubicBezTo>
                      <a:pt x="28627" y="83151"/>
                      <a:pt x="34604" y="83752"/>
                      <a:pt x="40002" y="86065"/>
                    </a:cubicBezTo>
                    <a:lnTo>
                      <a:pt x="124346" y="122210"/>
                    </a:lnTo>
                    <a:close/>
                    <a:moveTo>
                      <a:pt x="234972" y="39252"/>
                    </a:moveTo>
                    <a:lnTo>
                      <a:pt x="148866" y="148015"/>
                    </a:lnTo>
                    <a:cubicBezTo>
                      <a:pt x="140824" y="158173"/>
                      <a:pt x="126973" y="161683"/>
                      <a:pt x="115065" y="156580"/>
                    </a:cubicBezTo>
                    <a:lnTo>
                      <a:pt x="37664" y="123408"/>
                    </a:lnTo>
                    <a:lnTo>
                      <a:pt x="84365" y="348424"/>
                    </a:lnTo>
                    <a:cubicBezTo>
                      <a:pt x="86932" y="360798"/>
                      <a:pt x="97833" y="369671"/>
                      <a:pt x="110471" y="369672"/>
                    </a:cubicBezTo>
                    <a:lnTo>
                      <a:pt x="359472" y="369672"/>
                    </a:lnTo>
                    <a:cubicBezTo>
                      <a:pt x="372110" y="369671"/>
                      <a:pt x="383011" y="360798"/>
                      <a:pt x="385578" y="348424"/>
                    </a:cubicBezTo>
                    <a:lnTo>
                      <a:pt x="432279" y="123408"/>
                    </a:lnTo>
                    <a:lnTo>
                      <a:pt x="354879" y="156580"/>
                    </a:lnTo>
                    <a:cubicBezTo>
                      <a:pt x="342970" y="161683"/>
                      <a:pt x="329119" y="158173"/>
                      <a:pt x="321078" y="148015"/>
                    </a:cubicBezTo>
                    <a:lnTo>
                      <a:pt x="234972" y="39252"/>
                    </a:lnTo>
                    <a:close/>
                  </a:path>
                </a:pathLst>
              </a:cu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accent3"/>
                  </a:solidFill>
                </a:endParaRPr>
              </a:p>
            </p:txBody>
          </p:sp>
        </p:grpSp>
      </p:grpSp>
      <p:pic>
        <p:nvPicPr>
          <p:cNvPr id="17" name="图片 2"/>
          <p:cNvPicPr>
            <a:picLocks noChangeAspect="1"/>
          </p:cNvPicPr>
          <p:nvPr/>
        </p:nvPicPr>
        <p:blipFill>
          <a:blip r:embed="rId1"/>
          <a:srcRect r="5040"/>
          <a:stretch>
            <a:fillRect/>
          </a:stretch>
        </p:blipFill>
        <p:spPr>
          <a:xfrm>
            <a:off x="7153275" y="1186180"/>
            <a:ext cx="4773295" cy="4485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2764621" y="299849"/>
            <a:ext cx="6662758" cy="368935"/>
            <a:chOff x="2824480" y="299849"/>
            <a:chExt cx="6662758" cy="368935"/>
          </a:xfrm>
        </p:grpSpPr>
        <p:sp>
          <p:nvSpPr>
            <p:cNvPr id="43" name="TextBox 7"/>
            <p:cNvSpPr>
              <a:spLocks noChangeArrowheads="1"/>
            </p:cNvSpPr>
            <p:nvPr/>
          </p:nvSpPr>
          <p:spPr bwMode="auto">
            <a:xfrm>
              <a:off x="5078899" y="299849"/>
              <a:ext cx="2153920" cy="3689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>
                <a:defRPr/>
              </a:pPr>
              <a:r>
                <a:rPr lang="zh-CN" altLang="en-US" sz="2400" dirty="0">
                  <a:solidFill>
                    <a:srgbClr val="656565"/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  <a:sym typeface="+mn-ea"/>
                </a:rPr>
                <a:t>编译并更新内核</a:t>
              </a:r>
              <a:endParaRPr lang="zh-CN" altLang="en-US" sz="2400" dirty="0">
                <a:solidFill>
                  <a:srgbClr val="656565"/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</p:txBody>
        </p:sp>
        <p:grpSp>
          <p:nvGrpSpPr>
            <p:cNvPr id="45" name="组合 44"/>
            <p:cNvGrpSpPr/>
            <p:nvPr/>
          </p:nvGrpSpPr>
          <p:grpSpPr>
            <a:xfrm>
              <a:off x="2824480" y="407080"/>
              <a:ext cx="2121238" cy="154870"/>
              <a:chOff x="2410381" y="3917516"/>
              <a:chExt cx="2121238" cy="154870"/>
            </a:xfrm>
          </p:grpSpPr>
          <p:cxnSp>
            <p:nvCxnSpPr>
              <p:cNvPr id="46" name="直接连接符 45"/>
              <p:cNvCxnSpPr/>
              <p:nvPr/>
            </p:nvCxnSpPr>
            <p:spPr>
              <a:xfrm>
                <a:off x="2410381" y="3994951"/>
                <a:ext cx="1903392" cy="0"/>
              </a:xfrm>
              <a:prstGeom prst="line">
                <a:avLst/>
              </a:prstGeom>
              <a:ln>
                <a:solidFill>
                  <a:srgbClr val="7E7E7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椭圆 46"/>
              <p:cNvSpPr/>
              <p:nvPr/>
            </p:nvSpPr>
            <p:spPr>
              <a:xfrm>
                <a:off x="4376749" y="3917516"/>
                <a:ext cx="154870" cy="154870"/>
              </a:xfrm>
              <a:prstGeom prst="ellipse">
                <a:avLst/>
              </a:prstGeom>
              <a:solidFill>
                <a:srgbClr val="67B7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0" name="组合 49"/>
            <p:cNvGrpSpPr/>
            <p:nvPr/>
          </p:nvGrpSpPr>
          <p:grpSpPr>
            <a:xfrm flipH="1">
              <a:off x="7366000" y="407080"/>
              <a:ext cx="2121238" cy="154870"/>
              <a:chOff x="2410381" y="3917516"/>
              <a:chExt cx="2121238" cy="154870"/>
            </a:xfrm>
          </p:grpSpPr>
          <p:cxnSp>
            <p:nvCxnSpPr>
              <p:cNvPr id="51" name="直接连接符 50"/>
              <p:cNvCxnSpPr/>
              <p:nvPr/>
            </p:nvCxnSpPr>
            <p:spPr>
              <a:xfrm>
                <a:off x="2410381" y="3994951"/>
                <a:ext cx="1903392" cy="0"/>
              </a:xfrm>
              <a:prstGeom prst="line">
                <a:avLst/>
              </a:prstGeom>
              <a:ln>
                <a:solidFill>
                  <a:srgbClr val="7E7E7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椭圆 51"/>
              <p:cNvSpPr/>
              <p:nvPr/>
            </p:nvSpPr>
            <p:spPr>
              <a:xfrm>
                <a:off x="4376749" y="3917516"/>
                <a:ext cx="154870" cy="154870"/>
              </a:xfrm>
              <a:prstGeom prst="ellipse">
                <a:avLst/>
              </a:prstGeom>
              <a:solidFill>
                <a:srgbClr val="67B7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934064" y="1733395"/>
            <a:ext cx="10323872" cy="3961982"/>
            <a:chOff x="844237" y="1724518"/>
            <a:chExt cx="10323872" cy="3961982"/>
          </a:xfrm>
        </p:grpSpPr>
        <p:grpSp>
          <p:nvGrpSpPr>
            <p:cNvPr id="2" name="组合 1"/>
            <p:cNvGrpSpPr/>
            <p:nvPr/>
          </p:nvGrpSpPr>
          <p:grpSpPr>
            <a:xfrm>
              <a:off x="844237" y="1724518"/>
              <a:ext cx="10323872" cy="3915092"/>
              <a:chOff x="391476" y="1724518"/>
              <a:chExt cx="10323872" cy="3915092"/>
            </a:xfrm>
          </p:grpSpPr>
          <p:sp>
            <p:nvSpPr>
              <p:cNvPr id="10" name="矩形 9"/>
              <p:cNvSpPr/>
              <p:nvPr/>
            </p:nvSpPr>
            <p:spPr>
              <a:xfrm>
                <a:off x="3740472" y="5273338"/>
                <a:ext cx="6974876" cy="366272"/>
              </a:xfrm>
              <a:prstGeom prst="rect">
                <a:avLst/>
              </a:prstGeom>
              <a:solidFill>
                <a:srgbClr val="67B7E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tymie Std Light Italic" panose="02010600010101010101" charset="-122"/>
                  <a:ea typeface="Stymie Std Light Italic" panose="02010600010101010101" charset="-122"/>
                  <a:cs typeface="+mn-ea"/>
                  <a:sym typeface="+mn-lt"/>
                </a:endParaRPr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391476" y="1724518"/>
                <a:ext cx="5125618" cy="2752524"/>
              </a:xfrm>
              <a:prstGeom prst="rect">
                <a:avLst/>
              </a:prstGeom>
              <a:solidFill>
                <a:srgbClr val="67B7E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tymie Std Light Italic" panose="02010600010101010101" charset="-122"/>
                  <a:ea typeface="Stymie Std Light Italic" panose="02010600010101010101" charset="-122"/>
                  <a:cs typeface="+mn-ea"/>
                  <a:sym typeface="+mn-lt"/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616901" y="1972168"/>
                <a:ext cx="5993765" cy="3667125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rgbClr val="67B7E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tymie Std Light Italic" panose="02010600010101010101" charset="-122"/>
                  <a:ea typeface="Stymie Std Light Italic" panose="02010600010101010101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1426346" y="1971706"/>
              <a:ext cx="5293866" cy="3714794"/>
              <a:chOff x="1097651" y="1500796"/>
              <a:chExt cx="5293866" cy="3714794"/>
            </a:xfrm>
          </p:grpSpPr>
          <p:sp>
            <p:nvSpPr>
              <p:cNvPr id="20" name="椭圆 19"/>
              <p:cNvSpPr/>
              <p:nvPr/>
            </p:nvSpPr>
            <p:spPr>
              <a:xfrm>
                <a:off x="1097651" y="1500796"/>
                <a:ext cx="572602" cy="572602"/>
              </a:xfrm>
              <a:prstGeom prst="ellipse">
                <a:avLst/>
              </a:prstGeom>
              <a:solidFill>
                <a:srgbClr val="67B7E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anum Gothic" panose="020D0604000000000000" charset="-127"/>
                  <a:ea typeface="思源黑体 CN Normal"/>
                  <a:cs typeface="+mn-cs"/>
                </a:endParaRPr>
              </a:p>
            </p:txBody>
          </p:sp>
          <p:grpSp>
            <p:nvGrpSpPr>
              <p:cNvPr id="21" name="组合 20"/>
              <p:cNvGrpSpPr/>
              <p:nvPr/>
            </p:nvGrpSpPr>
            <p:grpSpPr>
              <a:xfrm>
                <a:off x="1098157" y="1559895"/>
                <a:ext cx="5293360" cy="3655695"/>
                <a:chOff x="393098" y="4174779"/>
                <a:chExt cx="5293360" cy="3655695"/>
              </a:xfrm>
            </p:grpSpPr>
            <p:sp>
              <p:nvSpPr>
                <p:cNvPr id="23" name="文本"/>
                <p:cNvSpPr/>
                <p:nvPr/>
              </p:nvSpPr>
              <p:spPr>
                <a:xfrm>
                  <a:off x="1061967" y="4174779"/>
                  <a:ext cx="1673860" cy="4603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2400" dirty="0">
                      <a:solidFill>
                        <a:srgbClr val="595959"/>
                      </a:solidFill>
                      <a:latin typeface="+mj-ea"/>
                      <a:ea typeface="思源黑体旧字形 Normal" panose="020B0400000000000000" pitchFamily="34" charset="-122"/>
                      <a:cs typeface="Saturday Sans Regular" panose="02010600010101010101" charset="-122"/>
                    </a:rPr>
                    <a:t>配置</a:t>
                  </a:r>
                  <a:r>
                    <a:rPr lang="en-US" altLang="zh-CN" sz="2400" dirty="0">
                      <a:solidFill>
                        <a:srgbClr val="595959"/>
                      </a:solidFill>
                      <a:latin typeface="+mj-ea"/>
                      <a:ea typeface="思源黑体旧字形 Normal" panose="020B0400000000000000" pitchFamily="34" charset="-122"/>
                      <a:cs typeface="Saturday Sans Regular" panose="02010600010101010101" charset="-122"/>
                    </a:rPr>
                    <a:t>YUM</a:t>
                  </a:r>
                  <a:r>
                    <a:rPr lang="zh-CN" altLang="en-US" sz="2400" dirty="0">
                      <a:solidFill>
                        <a:srgbClr val="595959"/>
                      </a:solidFill>
                      <a:latin typeface="+mj-ea"/>
                      <a:ea typeface="思源黑体旧字形 Normal" panose="020B0400000000000000" pitchFamily="34" charset="-122"/>
                      <a:cs typeface="Saturday Sans Regular" panose="02010600010101010101" charset="-122"/>
                    </a:rPr>
                    <a:t>源</a:t>
                  </a:r>
                  <a:endParaRPr lang="zh-CN" altLang="en-US" sz="2400" dirty="0">
                    <a:solidFill>
                      <a:srgbClr val="595959"/>
                    </a:solidFill>
                    <a:latin typeface="+mj-ea"/>
                    <a:ea typeface="思源黑体旧字形 Normal" panose="020B0400000000000000" pitchFamily="34" charset="-122"/>
                    <a:cs typeface="Saturday Sans Regular" panose="02010600010101010101" charset="-122"/>
                  </a:endParaRPr>
                </a:p>
              </p:txBody>
            </p:sp>
            <p:sp>
              <p:nvSpPr>
                <p:cNvPr id="24" name="文本框 23"/>
                <p:cNvSpPr txBox="1"/>
                <p:nvPr/>
              </p:nvSpPr>
              <p:spPr>
                <a:xfrm>
                  <a:off x="393098" y="4635154"/>
                  <a:ext cx="5293360" cy="3195320"/>
                </a:xfrm>
                <a:prstGeom prst="rect">
                  <a:avLst/>
                </a:prstGeom>
              </p:spPr>
              <p:txBody>
                <a:bodyPr wrap="square">
                  <a:noAutofit/>
                  <a:scene3d>
                    <a:camera prst="orthographicFront"/>
                    <a:lightRig rig="threePt" dir="t"/>
                  </a:scene3d>
                  <a:sp3d contourW="12700"/>
                </a:bodyPr>
                <a:lstStyle>
                  <a:defPPr>
                    <a:defRPr lang="zh-CN"/>
                  </a:defPPr>
                  <a:lvl1pPr>
                    <a:lnSpc>
                      <a:spcPct val="130000"/>
                    </a:lnSpc>
                    <a:defRPr sz="140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微软雅黑" panose="020B0503020204020204" charset="-122"/>
                    </a:defRPr>
                  </a:lvl1pPr>
                </a:lstStyle>
                <a:p>
                  <a:pPr>
                    <a:lnSpc>
                      <a:spcPct val="150000"/>
                    </a:lnSpc>
                  </a:pP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为确保</a:t>
                  </a: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 openEuler </a:t>
                  </a: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系统能够正常获取内核编译所需的软件包，使用命令</a:t>
                  </a: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sudo vi /etc/yum.repos.d/openEuler.repo</a:t>
                  </a: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手动创建了</a:t>
                  </a: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 YUM </a:t>
                  </a: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仓库配置文件</a:t>
                  </a: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 /etc/yum.repos.d/openEuler.repo</a:t>
                  </a:r>
                  <a:endPara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输入下面的指令编辑</a:t>
                  </a: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openEuler.repo</a:t>
                  </a: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文件</a:t>
                  </a:r>
                  <a:endPara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[openEuler]</a:t>
                  </a:r>
                  <a:endPara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name=openEuler</a:t>
                  </a:r>
                  <a:endPara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baseurl=https://mirrors.aliyun.com/openeuler/openEuler-20.03-LTS/OS/$basearch/</a:t>
                  </a:r>
                  <a:endPara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enabled=1</a:t>
                  </a:r>
                  <a:endPara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gpgcheck=0</a:t>
                  </a:r>
                  <a:endPara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使用阿里云的</a:t>
                  </a: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 openEuler </a:t>
                  </a: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镜像站。</a:t>
                  </a:r>
                  <a:endPara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endParaRPr>
                </a:p>
              </p:txBody>
            </p:sp>
          </p:grpSp>
          <p:sp>
            <p:nvSpPr>
              <p:cNvPr id="22" name="椭圆1"/>
              <p:cNvSpPr/>
              <p:nvPr/>
            </p:nvSpPr>
            <p:spPr>
              <a:xfrm>
                <a:off x="1204481" y="1655476"/>
                <a:ext cx="311899" cy="268742"/>
              </a:xfrm>
              <a:custGeom>
                <a:avLst/>
                <a:gdLst>
                  <a:gd name="connsiteX0" fmla="*/ 124340 w 469943"/>
                  <a:gd name="connsiteY0" fmla="*/ 122210 h 404917"/>
                  <a:gd name="connsiteX1" fmla="*/ 212473 w 469943"/>
                  <a:gd name="connsiteY1" fmla="*/ 10885 h 404917"/>
                  <a:gd name="connsiteX2" fmla="*/ 252784 w 469943"/>
                  <a:gd name="connsiteY2" fmla="*/ 6199 h 404917"/>
                  <a:gd name="connsiteX3" fmla="*/ 257470 w 469943"/>
                  <a:gd name="connsiteY3" fmla="*/ 10885 h 404917"/>
                  <a:gd name="connsiteX4" fmla="*/ 345603 w 469943"/>
                  <a:gd name="connsiteY4" fmla="*/ 122210 h 404917"/>
                  <a:gd name="connsiteX5" fmla="*/ 429946 w 469943"/>
                  <a:gd name="connsiteY5" fmla="*/ 86065 h 404917"/>
                  <a:gd name="connsiteX6" fmla="*/ 467624 w 469943"/>
                  <a:gd name="connsiteY6" fmla="*/ 101141 h 404917"/>
                  <a:gd name="connsiteX7" fmla="*/ 469346 w 469943"/>
                  <a:gd name="connsiteY7" fmla="*/ 118268 h 404917"/>
                  <a:gd name="connsiteX8" fmla="*/ 420090 w 469943"/>
                  <a:gd name="connsiteY8" fmla="*/ 355591 h 404917"/>
                  <a:gd name="connsiteX9" fmla="*/ 359467 w 469943"/>
                  <a:gd name="connsiteY9" fmla="*/ 404918 h 404917"/>
                  <a:gd name="connsiteX10" fmla="*/ 110477 w 469943"/>
                  <a:gd name="connsiteY10" fmla="*/ 404918 h 404917"/>
                  <a:gd name="connsiteX11" fmla="*/ 49854 w 469943"/>
                  <a:gd name="connsiteY11" fmla="*/ 355591 h 404917"/>
                  <a:gd name="connsiteX12" fmla="*/ 603 w 469943"/>
                  <a:gd name="connsiteY12" fmla="*/ 118268 h 404917"/>
                  <a:gd name="connsiteX13" fmla="*/ 22876 w 469943"/>
                  <a:gd name="connsiteY13" fmla="*/ 84343 h 404917"/>
                  <a:gd name="connsiteX14" fmla="*/ 40002 w 469943"/>
                  <a:gd name="connsiteY14" fmla="*/ 86065 h 404917"/>
                  <a:gd name="connsiteX15" fmla="*/ 124346 w 469943"/>
                  <a:gd name="connsiteY15" fmla="*/ 122210 h 404917"/>
                  <a:gd name="connsiteX16" fmla="*/ 234972 w 469943"/>
                  <a:gd name="connsiteY16" fmla="*/ 39252 h 404917"/>
                  <a:gd name="connsiteX17" fmla="*/ 148866 w 469943"/>
                  <a:gd name="connsiteY17" fmla="*/ 148015 h 404917"/>
                  <a:gd name="connsiteX18" fmla="*/ 115065 w 469943"/>
                  <a:gd name="connsiteY18" fmla="*/ 156580 h 404917"/>
                  <a:gd name="connsiteX19" fmla="*/ 37664 w 469943"/>
                  <a:gd name="connsiteY19" fmla="*/ 123408 h 404917"/>
                  <a:gd name="connsiteX20" fmla="*/ 84365 w 469943"/>
                  <a:gd name="connsiteY20" fmla="*/ 348424 h 404917"/>
                  <a:gd name="connsiteX21" fmla="*/ 110471 w 469943"/>
                  <a:gd name="connsiteY21" fmla="*/ 369672 h 404917"/>
                  <a:gd name="connsiteX22" fmla="*/ 359472 w 469943"/>
                  <a:gd name="connsiteY22" fmla="*/ 369672 h 404917"/>
                  <a:gd name="connsiteX23" fmla="*/ 385578 w 469943"/>
                  <a:gd name="connsiteY23" fmla="*/ 348424 h 404917"/>
                  <a:gd name="connsiteX24" fmla="*/ 432279 w 469943"/>
                  <a:gd name="connsiteY24" fmla="*/ 123408 h 404917"/>
                  <a:gd name="connsiteX25" fmla="*/ 354879 w 469943"/>
                  <a:gd name="connsiteY25" fmla="*/ 156580 h 404917"/>
                  <a:gd name="connsiteX26" fmla="*/ 321078 w 469943"/>
                  <a:gd name="connsiteY26" fmla="*/ 148015 h 404917"/>
                  <a:gd name="connsiteX27" fmla="*/ 234972 w 469943"/>
                  <a:gd name="connsiteY27" fmla="*/ 39252 h 404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69943" h="404917">
                    <a:moveTo>
                      <a:pt x="124340" y="122210"/>
                    </a:moveTo>
                    <a:lnTo>
                      <a:pt x="212473" y="10885"/>
                    </a:lnTo>
                    <a:cubicBezTo>
                      <a:pt x="222311" y="-1541"/>
                      <a:pt x="240358" y="-3639"/>
                      <a:pt x="252784" y="6199"/>
                    </a:cubicBezTo>
                    <a:cubicBezTo>
                      <a:pt x="254522" y="7574"/>
                      <a:pt x="256094" y="9147"/>
                      <a:pt x="257470" y="10885"/>
                    </a:cubicBezTo>
                    <a:lnTo>
                      <a:pt x="345603" y="122210"/>
                    </a:lnTo>
                    <a:lnTo>
                      <a:pt x="429946" y="86065"/>
                    </a:lnTo>
                    <a:cubicBezTo>
                      <a:pt x="444515" y="79824"/>
                      <a:pt x="461384" y="86574"/>
                      <a:pt x="467624" y="101141"/>
                    </a:cubicBezTo>
                    <a:cubicBezTo>
                      <a:pt x="469937" y="106540"/>
                      <a:pt x="470538" y="112518"/>
                      <a:pt x="469346" y="118268"/>
                    </a:cubicBezTo>
                    <a:lnTo>
                      <a:pt x="420090" y="355591"/>
                    </a:lnTo>
                    <a:cubicBezTo>
                      <a:pt x="414125" y="384323"/>
                      <a:pt x="388810" y="404921"/>
                      <a:pt x="359467" y="404918"/>
                    </a:cubicBezTo>
                    <a:lnTo>
                      <a:pt x="110477" y="404918"/>
                    </a:lnTo>
                    <a:cubicBezTo>
                      <a:pt x="81133" y="404921"/>
                      <a:pt x="55818" y="384323"/>
                      <a:pt x="49854" y="355591"/>
                    </a:cubicBezTo>
                    <a:lnTo>
                      <a:pt x="603" y="118268"/>
                    </a:lnTo>
                    <a:cubicBezTo>
                      <a:pt x="-2614" y="102750"/>
                      <a:pt x="7358" y="87561"/>
                      <a:pt x="22876" y="84343"/>
                    </a:cubicBezTo>
                    <a:cubicBezTo>
                      <a:pt x="28627" y="83151"/>
                      <a:pt x="34604" y="83752"/>
                      <a:pt x="40002" y="86065"/>
                    </a:cubicBezTo>
                    <a:lnTo>
                      <a:pt x="124346" y="122210"/>
                    </a:lnTo>
                    <a:close/>
                    <a:moveTo>
                      <a:pt x="234972" y="39252"/>
                    </a:moveTo>
                    <a:lnTo>
                      <a:pt x="148866" y="148015"/>
                    </a:lnTo>
                    <a:cubicBezTo>
                      <a:pt x="140824" y="158173"/>
                      <a:pt x="126973" y="161683"/>
                      <a:pt x="115065" y="156580"/>
                    </a:cubicBezTo>
                    <a:lnTo>
                      <a:pt x="37664" y="123408"/>
                    </a:lnTo>
                    <a:lnTo>
                      <a:pt x="84365" y="348424"/>
                    </a:lnTo>
                    <a:cubicBezTo>
                      <a:pt x="86932" y="360798"/>
                      <a:pt x="97833" y="369671"/>
                      <a:pt x="110471" y="369672"/>
                    </a:cubicBezTo>
                    <a:lnTo>
                      <a:pt x="359472" y="369672"/>
                    </a:lnTo>
                    <a:cubicBezTo>
                      <a:pt x="372110" y="369671"/>
                      <a:pt x="383011" y="360798"/>
                      <a:pt x="385578" y="348424"/>
                    </a:cubicBezTo>
                    <a:lnTo>
                      <a:pt x="432279" y="123408"/>
                    </a:lnTo>
                    <a:lnTo>
                      <a:pt x="354879" y="156580"/>
                    </a:lnTo>
                    <a:cubicBezTo>
                      <a:pt x="342970" y="161683"/>
                      <a:pt x="329119" y="158173"/>
                      <a:pt x="321078" y="148015"/>
                    </a:cubicBezTo>
                    <a:lnTo>
                      <a:pt x="234972" y="39252"/>
                    </a:lnTo>
                    <a:close/>
                  </a:path>
                </a:pathLst>
              </a:cu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accent3"/>
                  </a:solidFill>
                </a:endParaRPr>
              </a:p>
            </p:txBody>
          </p:sp>
        </p:grpSp>
      </p:grpSp>
      <p:pic>
        <p:nvPicPr>
          <p:cNvPr id="4" name="图片 6" descr="IMG_2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5285" y="2941638"/>
            <a:ext cx="5264150" cy="174561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2764621" y="299849"/>
            <a:ext cx="6662758" cy="368935"/>
            <a:chOff x="2824480" y="299849"/>
            <a:chExt cx="6662758" cy="368935"/>
          </a:xfrm>
        </p:grpSpPr>
        <p:sp>
          <p:nvSpPr>
            <p:cNvPr id="43" name="TextBox 7"/>
            <p:cNvSpPr>
              <a:spLocks noChangeArrowheads="1"/>
            </p:cNvSpPr>
            <p:nvPr/>
          </p:nvSpPr>
          <p:spPr bwMode="auto">
            <a:xfrm>
              <a:off x="5078899" y="299849"/>
              <a:ext cx="2153920" cy="3689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>
                <a:defRPr/>
              </a:pPr>
              <a:r>
                <a:rPr lang="zh-CN" altLang="en-US" sz="2400" dirty="0">
                  <a:solidFill>
                    <a:srgbClr val="656565"/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  <a:sym typeface="+mn-ea"/>
                </a:rPr>
                <a:t>编译并更新内核</a:t>
              </a:r>
              <a:endParaRPr lang="zh-CN" altLang="en-US" sz="2400" dirty="0">
                <a:solidFill>
                  <a:srgbClr val="656565"/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</p:txBody>
        </p:sp>
        <p:grpSp>
          <p:nvGrpSpPr>
            <p:cNvPr id="45" name="组合 44"/>
            <p:cNvGrpSpPr/>
            <p:nvPr/>
          </p:nvGrpSpPr>
          <p:grpSpPr>
            <a:xfrm>
              <a:off x="2824480" y="407080"/>
              <a:ext cx="2121238" cy="154870"/>
              <a:chOff x="2410381" y="3917516"/>
              <a:chExt cx="2121238" cy="154870"/>
            </a:xfrm>
          </p:grpSpPr>
          <p:cxnSp>
            <p:nvCxnSpPr>
              <p:cNvPr id="46" name="直接连接符 45"/>
              <p:cNvCxnSpPr/>
              <p:nvPr/>
            </p:nvCxnSpPr>
            <p:spPr>
              <a:xfrm>
                <a:off x="2410381" y="3994951"/>
                <a:ext cx="1903392" cy="0"/>
              </a:xfrm>
              <a:prstGeom prst="line">
                <a:avLst/>
              </a:prstGeom>
              <a:ln>
                <a:solidFill>
                  <a:srgbClr val="7E7E7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椭圆 46"/>
              <p:cNvSpPr/>
              <p:nvPr/>
            </p:nvSpPr>
            <p:spPr>
              <a:xfrm>
                <a:off x="4376749" y="3917516"/>
                <a:ext cx="154870" cy="154870"/>
              </a:xfrm>
              <a:prstGeom prst="ellipse">
                <a:avLst/>
              </a:prstGeom>
              <a:solidFill>
                <a:srgbClr val="67B7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0" name="组合 49"/>
            <p:cNvGrpSpPr/>
            <p:nvPr/>
          </p:nvGrpSpPr>
          <p:grpSpPr>
            <a:xfrm flipH="1">
              <a:off x="7366000" y="407080"/>
              <a:ext cx="2121238" cy="154870"/>
              <a:chOff x="2410381" y="3917516"/>
              <a:chExt cx="2121238" cy="154870"/>
            </a:xfrm>
          </p:grpSpPr>
          <p:cxnSp>
            <p:nvCxnSpPr>
              <p:cNvPr id="51" name="直接连接符 50"/>
              <p:cNvCxnSpPr/>
              <p:nvPr/>
            </p:nvCxnSpPr>
            <p:spPr>
              <a:xfrm>
                <a:off x="2410381" y="3994951"/>
                <a:ext cx="1903392" cy="0"/>
              </a:xfrm>
              <a:prstGeom prst="line">
                <a:avLst/>
              </a:prstGeom>
              <a:ln>
                <a:solidFill>
                  <a:srgbClr val="7E7E7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椭圆 51"/>
              <p:cNvSpPr/>
              <p:nvPr/>
            </p:nvSpPr>
            <p:spPr>
              <a:xfrm>
                <a:off x="4376749" y="3917516"/>
                <a:ext cx="154870" cy="154870"/>
              </a:xfrm>
              <a:prstGeom prst="ellipse">
                <a:avLst/>
              </a:prstGeom>
              <a:solidFill>
                <a:srgbClr val="67B7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934064" y="1733395"/>
            <a:ext cx="10323872" cy="3915092"/>
            <a:chOff x="844237" y="1724518"/>
            <a:chExt cx="10323872" cy="3915092"/>
          </a:xfrm>
        </p:grpSpPr>
        <p:grpSp>
          <p:nvGrpSpPr>
            <p:cNvPr id="2" name="组合 1"/>
            <p:cNvGrpSpPr/>
            <p:nvPr/>
          </p:nvGrpSpPr>
          <p:grpSpPr>
            <a:xfrm>
              <a:off x="844237" y="1724518"/>
              <a:ext cx="10323872" cy="3915092"/>
              <a:chOff x="391476" y="1724518"/>
              <a:chExt cx="10323872" cy="3915092"/>
            </a:xfrm>
          </p:grpSpPr>
          <p:sp>
            <p:nvSpPr>
              <p:cNvPr id="10" name="矩形 9"/>
              <p:cNvSpPr/>
              <p:nvPr/>
            </p:nvSpPr>
            <p:spPr>
              <a:xfrm>
                <a:off x="3740472" y="5273338"/>
                <a:ext cx="6974876" cy="366272"/>
              </a:xfrm>
              <a:prstGeom prst="rect">
                <a:avLst/>
              </a:prstGeom>
              <a:solidFill>
                <a:srgbClr val="67B7E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tymie Std Light Italic" panose="02010600010101010101" charset="-122"/>
                  <a:ea typeface="Stymie Std Light Italic" panose="02010600010101010101" charset="-122"/>
                  <a:cs typeface="+mn-ea"/>
                  <a:sym typeface="+mn-lt"/>
                </a:endParaRPr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391476" y="1724518"/>
                <a:ext cx="5125618" cy="2752524"/>
              </a:xfrm>
              <a:prstGeom prst="rect">
                <a:avLst/>
              </a:prstGeom>
              <a:solidFill>
                <a:srgbClr val="67B7E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tymie Std Light Italic" panose="02010600010101010101" charset="-122"/>
                  <a:ea typeface="Stymie Std Light Italic" panose="02010600010101010101" charset="-122"/>
                  <a:cs typeface="+mn-ea"/>
                  <a:sym typeface="+mn-lt"/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616890" y="1971933"/>
                <a:ext cx="5993782" cy="3450575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rgbClr val="67B7E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tymie Std Light Italic" panose="02010600010101010101" charset="-122"/>
                  <a:ea typeface="Stymie Std Light Italic" panose="02010600010101010101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1412376" y="2354611"/>
              <a:ext cx="5308471" cy="2595924"/>
              <a:chOff x="1083681" y="1883701"/>
              <a:chExt cx="5308471" cy="2595924"/>
            </a:xfrm>
          </p:grpSpPr>
          <p:sp>
            <p:nvSpPr>
              <p:cNvPr id="20" name="椭圆 19"/>
              <p:cNvSpPr/>
              <p:nvPr/>
            </p:nvSpPr>
            <p:spPr>
              <a:xfrm>
                <a:off x="1083681" y="1883701"/>
                <a:ext cx="572602" cy="572602"/>
              </a:xfrm>
              <a:prstGeom prst="ellipse">
                <a:avLst/>
              </a:prstGeom>
              <a:solidFill>
                <a:srgbClr val="67B7E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anum Gothic" panose="020D0604000000000000" charset="-127"/>
                  <a:ea typeface="思源黑体 CN Normal"/>
                  <a:cs typeface="+mn-cs"/>
                </a:endParaRPr>
              </a:p>
            </p:txBody>
          </p:sp>
          <p:grpSp>
            <p:nvGrpSpPr>
              <p:cNvPr id="21" name="组合 20"/>
              <p:cNvGrpSpPr/>
              <p:nvPr/>
            </p:nvGrpSpPr>
            <p:grpSpPr>
              <a:xfrm>
                <a:off x="1098792" y="1973915"/>
                <a:ext cx="5293360" cy="2505710"/>
                <a:chOff x="393733" y="4588799"/>
                <a:chExt cx="5293360" cy="2505710"/>
              </a:xfrm>
            </p:grpSpPr>
            <p:sp>
              <p:nvSpPr>
                <p:cNvPr id="23" name="文本"/>
                <p:cNvSpPr/>
                <p:nvPr/>
              </p:nvSpPr>
              <p:spPr>
                <a:xfrm>
                  <a:off x="1061967" y="4588799"/>
                  <a:ext cx="3753485" cy="4603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2400" dirty="0">
                      <a:solidFill>
                        <a:srgbClr val="595959"/>
                      </a:solidFill>
                      <a:latin typeface="+mj-ea"/>
                      <a:ea typeface="思源黑体旧字形 Normal" panose="020B0400000000000000" pitchFamily="34" charset="-122"/>
                      <a:cs typeface="Saturday Sans Regular" panose="02010600010101010101" charset="-122"/>
                    </a:rPr>
                    <a:t>创建</a:t>
                  </a:r>
                  <a:r>
                    <a:rPr lang="en-US" altLang="zh-CN" sz="2400" dirty="0">
                      <a:solidFill>
                        <a:srgbClr val="595959"/>
                      </a:solidFill>
                      <a:latin typeface="+mj-ea"/>
                      <a:ea typeface="思源黑体旧字形 Normal" panose="020B0400000000000000" pitchFamily="34" charset="-122"/>
                      <a:cs typeface="Saturday Sans Regular" panose="02010600010101010101" charset="-122"/>
                    </a:rPr>
                    <a:t>openEuler</a:t>
                  </a:r>
                  <a:r>
                    <a:rPr lang="zh-CN" altLang="en-US" sz="2400" dirty="0">
                      <a:solidFill>
                        <a:srgbClr val="595959"/>
                      </a:solidFill>
                      <a:latin typeface="+mj-ea"/>
                      <a:ea typeface="思源黑体旧字形 Normal" panose="020B0400000000000000" pitchFamily="34" charset="-122"/>
                      <a:cs typeface="Saturday Sans Regular" panose="02010600010101010101" charset="-122"/>
                    </a:rPr>
                    <a:t>基础仓库</a:t>
                  </a:r>
                  <a:r>
                    <a:rPr lang="zh-CN" altLang="en-US" sz="2400" dirty="0">
                      <a:solidFill>
                        <a:srgbClr val="595959"/>
                      </a:solidFill>
                      <a:latin typeface="+mj-ea"/>
                      <a:ea typeface="思源黑体旧字形 Normal" panose="020B0400000000000000" pitchFamily="34" charset="-122"/>
                      <a:cs typeface="Saturday Sans Regular" panose="02010600010101010101" charset="-122"/>
                    </a:rPr>
                    <a:t>文件</a:t>
                  </a:r>
                  <a:endParaRPr lang="zh-CN" altLang="en-US" sz="2400" dirty="0">
                    <a:solidFill>
                      <a:srgbClr val="595959"/>
                    </a:solidFill>
                    <a:latin typeface="+mj-ea"/>
                    <a:ea typeface="思源黑体旧字形 Normal" panose="020B0400000000000000" pitchFamily="34" charset="-122"/>
                    <a:cs typeface="Saturday Sans Regular" panose="02010600010101010101" charset="-122"/>
                  </a:endParaRPr>
                </a:p>
              </p:txBody>
            </p:sp>
            <p:sp>
              <p:nvSpPr>
                <p:cNvPr id="24" name="文本框 23"/>
                <p:cNvSpPr txBox="1"/>
                <p:nvPr/>
              </p:nvSpPr>
              <p:spPr>
                <a:xfrm>
                  <a:off x="393733" y="5094894"/>
                  <a:ext cx="5293360" cy="1999615"/>
                </a:xfrm>
                <a:prstGeom prst="rect">
                  <a:avLst/>
                </a:prstGeom>
              </p:spPr>
              <p:txBody>
                <a:bodyPr wrap="square">
                  <a:noAutofit/>
                  <a:scene3d>
                    <a:camera prst="orthographicFront"/>
                    <a:lightRig rig="threePt" dir="t"/>
                  </a:scene3d>
                  <a:sp3d contourW="12700"/>
                </a:bodyPr>
                <a:lstStyle>
                  <a:defPPr>
                    <a:defRPr lang="zh-CN"/>
                  </a:defPPr>
                  <a:lvl1pPr>
                    <a:lnSpc>
                      <a:spcPct val="130000"/>
                    </a:lnSpc>
                    <a:defRPr sz="140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微软雅黑" panose="020B0503020204020204" charset="-122"/>
                    </a:defRPr>
                  </a:lvl1pPr>
                </a:lstStyle>
                <a:p>
                  <a:pPr>
                    <a:lnSpc>
                      <a:spcPct val="150000"/>
                    </a:lnSpc>
                  </a:pP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保险起见用</a:t>
                  </a: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sudo dnf clean all</a:t>
                  </a: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，清除旧的缓存</a:t>
                  </a:r>
                  <a:endPara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重建仓库元数据：</a:t>
                  </a: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sudo dnf makecache</a:t>
                  </a:r>
                  <a:endPara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用</a:t>
                  </a: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sudo dnf repolist </a:t>
                  </a: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验证新仓库是否启用成功并可以使用</a:t>
                  </a:r>
                  <a:endPara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安装必要的依赖包</a:t>
                  </a:r>
                  <a:endPara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sudo dnf groupinstall "Development Tools" -y</a:t>
                  </a:r>
                  <a:endPara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sudo dnf install ncurses-devel bc openssl-devel elfutils-libelf-devel flex bison -y</a:t>
                  </a:r>
                  <a:endPara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endParaRPr>
                </a:p>
              </p:txBody>
            </p:sp>
          </p:grpSp>
          <p:sp>
            <p:nvSpPr>
              <p:cNvPr id="22" name="椭圆1"/>
              <p:cNvSpPr/>
              <p:nvPr/>
            </p:nvSpPr>
            <p:spPr>
              <a:xfrm>
                <a:off x="1204481" y="2019966"/>
                <a:ext cx="311899" cy="268742"/>
              </a:xfrm>
              <a:custGeom>
                <a:avLst/>
                <a:gdLst>
                  <a:gd name="connsiteX0" fmla="*/ 124340 w 469943"/>
                  <a:gd name="connsiteY0" fmla="*/ 122210 h 404917"/>
                  <a:gd name="connsiteX1" fmla="*/ 212473 w 469943"/>
                  <a:gd name="connsiteY1" fmla="*/ 10885 h 404917"/>
                  <a:gd name="connsiteX2" fmla="*/ 252784 w 469943"/>
                  <a:gd name="connsiteY2" fmla="*/ 6199 h 404917"/>
                  <a:gd name="connsiteX3" fmla="*/ 257470 w 469943"/>
                  <a:gd name="connsiteY3" fmla="*/ 10885 h 404917"/>
                  <a:gd name="connsiteX4" fmla="*/ 345603 w 469943"/>
                  <a:gd name="connsiteY4" fmla="*/ 122210 h 404917"/>
                  <a:gd name="connsiteX5" fmla="*/ 429946 w 469943"/>
                  <a:gd name="connsiteY5" fmla="*/ 86065 h 404917"/>
                  <a:gd name="connsiteX6" fmla="*/ 467624 w 469943"/>
                  <a:gd name="connsiteY6" fmla="*/ 101141 h 404917"/>
                  <a:gd name="connsiteX7" fmla="*/ 469346 w 469943"/>
                  <a:gd name="connsiteY7" fmla="*/ 118268 h 404917"/>
                  <a:gd name="connsiteX8" fmla="*/ 420090 w 469943"/>
                  <a:gd name="connsiteY8" fmla="*/ 355591 h 404917"/>
                  <a:gd name="connsiteX9" fmla="*/ 359467 w 469943"/>
                  <a:gd name="connsiteY9" fmla="*/ 404918 h 404917"/>
                  <a:gd name="connsiteX10" fmla="*/ 110477 w 469943"/>
                  <a:gd name="connsiteY10" fmla="*/ 404918 h 404917"/>
                  <a:gd name="connsiteX11" fmla="*/ 49854 w 469943"/>
                  <a:gd name="connsiteY11" fmla="*/ 355591 h 404917"/>
                  <a:gd name="connsiteX12" fmla="*/ 603 w 469943"/>
                  <a:gd name="connsiteY12" fmla="*/ 118268 h 404917"/>
                  <a:gd name="connsiteX13" fmla="*/ 22876 w 469943"/>
                  <a:gd name="connsiteY13" fmla="*/ 84343 h 404917"/>
                  <a:gd name="connsiteX14" fmla="*/ 40002 w 469943"/>
                  <a:gd name="connsiteY14" fmla="*/ 86065 h 404917"/>
                  <a:gd name="connsiteX15" fmla="*/ 124346 w 469943"/>
                  <a:gd name="connsiteY15" fmla="*/ 122210 h 404917"/>
                  <a:gd name="connsiteX16" fmla="*/ 234972 w 469943"/>
                  <a:gd name="connsiteY16" fmla="*/ 39252 h 404917"/>
                  <a:gd name="connsiteX17" fmla="*/ 148866 w 469943"/>
                  <a:gd name="connsiteY17" fmla="*/ 148015 h 404917"/>
                  <a:gd name="connsiteX18" fmla="*/ 115065 w 469943"/>
                  <a:gd name="connsiteY18" fmla="*/ 156580 h 404917"/>
                  <a:gd name="connsiteX19" fmla="*/ 37664 w 469943"/>
                  <a:gd name="connsiteY19" fmla="*/ 123408 h 404917"/>
                  <a:gd name="connsiteX20" fmla="*/ 84365 w 469943"/>
                  <a:gd name="connsiteY20" fmla="*/ 348424 h 404917"/>
                  <a:gd name="connsiteX21" fmla="*/ 110471 w 469943"/>
                  <a:gd name="connsiteY21" fmla="*/ 369672 h 404917"/>
                  <a:gd name="connsiteX22" fmla="*/ 359472 w 469943"/>
                  <a:gd name="connsiteY22" fmla="*/ 369672 h 404917"/>
                  <a:gd name="connsiteX23" fmla="*/ 385578 w 469943"/>
                  <a:gd name="connsiteY23" fmla="*/ 348424 h 404917"/>
                  <a:gd name="connsiteX24" fmla="*/ 432279 w 469943"/>
                  <a:gd name="connsiteY24" fmla="*/ 123408 h 404917"/>
                  <a:gd name="connsiteX25" fmla="*/ 354879 w 469943"/>
                  <a:gd name="connsiteY25" fmla="*/ 156580 h 404917"/>
                  <a:gd name="connsiteX26" fmla="*/ 321078 w 469943"/>
                  <a:gd name="connsiteY26" fmla="*/ 148015 h 404917"/>
                  <a:gd name="connsiteX27" fmla="*/ 234972 w 469943"/>
                  <a:gd name="connsiteY27" fmla="*/ 39252 h 404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69943" h="404917">
                    <a:moveTo>
                      <a:pt x="124340" y="122210"/>
                    </a:moveTo>
                    <a:lnTo>
                      <a:pt x="212473" y="10885"/>
                    </a:lnTo>
                    <a:cubicBezTo>
                      <a:pt x="222311" y="-1541"/>
                      <a:pt x="240358" y="-3639"/>
                      <a:pt x="252784" y="6199"/>
                    </a:cubicBezTo>
                    <a:cubicBezTo>
                      <a:pt x="254522" y="7574"/>
                      <a:pt x="256094" y="9147"/>
                      <a:pt x="257470" y="10885"/>
                    </a:cubicBezTo>
                    <a:lnTo>
                      <a:pt x="345603" y="122210"/>
                    </a:lnTo>
                    <a:lnTo>
                      <a:pt x="429946" y="86065"/>
                    </a:lnTo>
                    <a:cubicBezTo>
                      <a:pt x="444515" y="79824"/>
                      <a:pt x="461384" y="86574"/>
                      <a:pt x="467624" y="101141"/>
                    </a:cubicBezTo>
                    <a:cubicBezTo>
                      <a:pt x="469937" y="106540"/>
                      <a:pt x="470538" y="112518"/>
                      <a:pt x="469346" y="118268"/>
                    </a:cubicBezTo>
                    <a:lnTo>
                      <a:pt x="420090" y="355591"/>
                    </a:lnTo>
                    <a:cubicBezTo>
                      <a:pt x="414125" y="384323"/>
                      <a:pt x="388810" y="404921"/>
                      <a:pt x="359467" y="404918"/>
                    </a:cubicBezTo>
                    <a:lnTo>
                      <a:pt x="110477" y="404918"/>
                    </a:lnTo>
                    <a:cubicBezTo>
                      <a:pt x="81133" y="404921"/>
                      <a:pt x="55818" y="384323"/>
                      <a:pt x="49854" y="355591"/>
                    </a:cubicBezTo>
                    <a:lnTo>
                      <a:pt x="603" y="118268"/>
                    </a:lnTo>
                    <a:cubicBezTo>
                      <a:pt x="-2614" y="102750"/>
                      <a:pt x="7358" y="87561"/>
                      <a:pt x="22876" y="84343"/>
                    </a:cubicBezTo>
                    <a:cubicBezTo>
                      <a:pt x="28627" y="83151"/>
                      <a:pt x="34604" y="83752"/>
                      <a:pt x="40002" y="86065"/>
                    </a:cubicBezTo>
                    <a:lnTo>
                      <a:pt x="124346" y="122210"/>
                    </a:lnTo>
                    <a:close/>
                    <a:moveTo>
                      <a:pt x="234972" y="39252"/>
                    </a:moveTo>
                    <a:lnTo>
                      <a:pt x="148866" y="148015"/>
                    </a:lnTo>
                    <a:cubicBezTo>
                      <a:pt x="140824" y="158173"/>
                      <a:pt x="126973" y="161683"/>
                      <a:pt x="115065" y="156580"/>
                    </a:cubicBezTo>
                    <a:lnTo>
                      <a:pt x="37664" y="123408"/>
                    </a:lnTo>
                    <a:lnTo>
                      <a:pt x="84365" y="348424"/>
                    </a:lnTo>
                    <a:cubicBezTo>
                      <a:pt x="86932" y="360798"/>
                      <a:pt x="97833" y="369671"/>
                      <a:pt x="110471" y="369672"/>
                    </a:cubicBezTo>
                    <a:lnTo>
                      <a:pt x="359472" y="369672"/>
                    </a:lnTo>
                    <a:cubicBezTo>
                      <a:pt x="372110" y="369671"/>
                      <a:pt x="383011" y="360798"/>
                      <a:pt x="385578" y="348424"/>
                    </a:cubicBezTo>
                    <a:lnTo>
                      <a:pt x="432279" y="123408"/>
                    </a:lnTo>
                    <a:lnTo>
                      <a:pt x="354879" y="156580"/>
                    </a:lnTo>
                    <a:cubicBezTo>
                      <a:pt x="342970" y="161683"/>
                      <a:pt x="329119" y="158173"/>
                      <a:pt x="321078" y="148015"/>
                    </a:cubicBezTo>
                    <a:lnTo>
                      <a:pt x="234972" y="39252"/>
                    </a:lnTo>
                    <a:close/>
                  </a:path>
                </a:pathLst>
              </a:cu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accent3"/>
                  </a:solidFill>
                </a:endParaRPr>
              </a:p>
            </p:txBody>
          </p:sp>
        </p:grpSp>
      </p:grpSp>
      <p:pic>
        <p:nvPicPr>
          <p:cNvPr id="2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3840" y="1781810"/>
            <a:ext cx="5266690" cy="85534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8128000" y="14135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配置仓库完成</a:t>
            </a:r>
            <a:r>
              <a:rPr lang="en-US" altLang="zh-CN"/>
              <a:t>：</a:t>
            </a:r>
            <a:endParaRPr lang="en-US" altLang="zh-CN"/>
          </a:p>
        </p:txBody>
      </p:sp>
      <p:pic>
        <p:nvPicPr>
          <p:cNvPr id="2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1270" y="3284855"/>
            <a:ext cx="4062095" cy="1348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270" y="4845685"/>
            <a:ext cx="4152265" cy="103378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8472805" y="28943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安装必要的依赖</a:t>
            </a:r>
            <a:r>
              <a:rPr lang="zh-CN" altLang="en-US"/>
              <a:t>包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2764621" y="299849"/>
            <a:ext cx="6662758" cy="368935"/>
            <a:chOff x="2824480" y="299849"/>
            <a:chExt cx="6662758" cy="368935"/>
          </a:xfrm>
        </p:grpSpPr>
        <p:sp>
          <p:nvSpPr>
            <p:cNvPr id="43" name="TextBox 7"/>
            <p:cNvSpPr>
              <a:spLocks noChangeArrowheads="1"/>
            </p:cNvSpPr>
            <p:nvPr/>
          </p:nvSpPr>
          <p:spPr bwMode="auto">
            <a:xfrm>
              <a:off x="5078899" y="299849"/>
              <a:ext cx="2153920" cy="3689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>
                <a:defRPr/>
              </a:pPr>
              <a:r>
                <a:rPr lang="zh-CN" altLang="en-US" sz="2400" dirty="0">
                  <a:solidFill>
                    <a:srgbClr val="656565"/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  <a:sym typeface="+mn-ea"/>
                </a:rPr>
                <a:t>编译并更新内核</a:t>
              </a:r>
              <a:endParaRPr lang="zh-CN" altLang="en-US" sz="2400" dirty="0">
                <a:solidFill>
                  <a:srgbClr val="656565"/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</p:txBody>
        </p:sp>
        <p:grpSp>
          <p:nvGrpSpPr>
            <p:cNvPr id="45" name="组合 44"/>
            <p:cNvGrpSpPr/>
            <p:nvPr/>
          </p:nvGrpSpPr>
          <p:grpSpPr>
            <a:xfrm>
              <a:off x="2824480" y="407080"/>
              <a:ext cx="2121238" cy="154870"/>
              <a:chOff x="2410381" y="3917516"/>
              <a:chExt cx="2121238" cy="154870"/>
            </a:xfrm>
          </p:grpSpPr>
          <p:cxnSp>
            <p:nvCxnSpPr>
              <p:cNvPr id="46" name="直接连接符 45"/>
              <p:cNvCxnSpPr/>
              <p:nvPr/>
            </p:nvCxnSpPr>
            <p:spPr>
              <a:xfrm>
                <a:off x="2410381" y="3994951"/>
                <a:ext cx="1903392" cy="0"/>
              </a:xfrm>
              <a:prstGeom prst="line">
                <a:avLst/>
              </a:prstGeom>
              <a:ln>
                <a:solidFill>
                  <a:srgbClr val="7E7E7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椭圆 46"/>
              <p:cNvSpPr/>
              <p:nvPr/>
            </p:nvSpPr>
            <p:spPr>
              <a:xfrm>
                <a:off x="4376749" y="3917516"/>
                <a:ext cx="154870" cy="154870"/>
              </a:xfrm>
              <a:prstGeom prst="ellipse">
                <a:avLst/>
              </a:prstGeom>
              <a:solidFill>
                <a:srgbClr val="67B7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0" name="组合 49"/>
            <p:cNvGrpSpPr/>
            <p:nvPr/>
          </p:nvGrpSpPr>
          <p:grpSpPr>
            <a:xfrm flipH="1">
              <a:off x="7366000" y="407080"/>
              <a:ext cx="2121238" cy="154870"/>
              <a:chOff x="2410381" y="3917516"/>
              <a:chExt cx="2121238" cy="154870"/>
            </a:xfrm>
          </p:grpSpPr>
          <p:cxnSp>
            <p:nvCxnSpPr>
              <p:cNvPr id="51" name="直接连接符 50"/>
              <p:cNvCxnSpPr/>
              <p:nvPr/>
            </p:nvCxnSpPr>
            <p:spPr>
              <a:xfrm>
                <a:off x="2410381" y="3994951"/>
                <a:ext cx="1903392" cy="0"/>
              </a:xfrm>
              <a:prstGeom prst="line">
                <a:avLst/>
              </a:prstGeom>
              <a:ln>
                <a:solidFill>
                  <a:srgbClr val="7E7E7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椭圆 51"/>
              <p:cNvSpPr/>
              <p:nvPr/>
            </p:nvSpPr>
            <p:spPr>
              <a:xfrm>
                <a:off x="4376749" y="3917516"/>
                <a:ext cx="154870" cy="154870"/>
              </a:xfrm>
              <a:prstGeom prst="ellipse">
                <a:avLst/>
              </a:prstGeom>
              <a:solidFill>
                <a:srgbClr val="67B7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4" name="组合 3"/>
          <p:cNvGrpSpPr/>
          <p:nvPr/>
        </p:nvGrpSpPr>
        <p:grpSpPr>
          <a:xfrm>
            <a:off x="1171704" y="1293865"/>
            <a:ext cx="9987528" cy="4708328"/>
            <a:chOff x="1171704" y="1418152"/>
            <a:chExt cx="9987528" cy="4708328"/>
          </a:xfrm>
        </p:grpSpPr>
        <p:grpSp>
          <p:nvGrpSpPr>
            <p:cNvPr id="2" name="组合 1"/>
            <p:cNvGrpSpPr/>
            <p:nvPr/>
          </p:nvGrpSpPr>
          <p:grpSpPr>
            <a:xfrm>
              <a:off x="1171704" y="1443129"/>
              <a:ext cx="4087017" cy="4562772"/>
              <a:chOff x="798842" y="1721079"/>
              <a:chExt cx="3710817" cy="4142780"/>
            </a:xfrm>
          </p:grpSpPr>
          <p:sp>
            <p:nvSpPr>
              <p:cNvPr id="99" name="橙子演示"/>
              <p:cNvSpPr/>
              <p:nvPr/>
            </p:nvSpPr>
            <p:spPr bwMode="auto">
              <a:xfrm>
                <a:off x="3356102" y="3214671"/>
                <a:ext cx="1153557" cy="1155597"/>
              </a:xfrm>
              <a:prstGeom prst="ellipse">
                <a:avLst/>
              </a:prstGeom>
              <a:solidFill>
                <a:srgbClr val="67B7E2"/>
              </a:solidFill>
              <a:ln w="12700" cap="flat" cmpd="sng" algn="ctr">
                <a:solidFill>
                  <a:sysClr val="window" lastClr="FFFFFF">
                    <a:lumMod val="95000"/>
                  </a:sysClr>
                </a:solidFill>
                <a:prstDash val="solid"/>
                <a:miter lim="800000"/>
              </a:ln>
              <a:effectLst/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tymie Std Light Italic" panose="02010600010101010101" charset="-122"/>
                  <a:ea typeface="Nanum Gothic" panose="020D0604000000000000" charset="-127"/>
                  <a:cs typeface="Nanum Gothic" panose="020D0604000000000000" charset="-127"/>
                  <a:sym typeface="+mn-lt"/>
                </a:endParaRPr>
              </a:p>
            </p:txBody>
          </p:sp>
          <p:sp>
            <p:nvSpPr>
              <p:cNvPr id="100" name="橙子演示"/>
              <p:cNvSpPr/>
              <p:nvPr/>
            </p:nvSpPr>
            <p:spPr bwMode="auto">
              <a:xfrm>
                <a:off x="2500462" y="4708262"/>
                <a:ext cx="1153557" cy="1155597"/>
              </a:xfrm>
              <a:prstGeom prst="ellipse">
                <a:avLst/>
              </a:prstGeom>
              <a:solidFill>
                <a:srgbClr val="67B7E2"/>
              </a:solidFill>
              <a:ln w="12700" cap="flat" cmpd="sng" algn="ctr">
                <a:solidFill>
                  <a:sysClr val="window" lastClr="FFFFFF">
                    <a:lumMod val="95000"/>
                  </a:sysClr>
                </a:solidFill>
                <a:prstDash val="solid"/>
                <a:miter lim="800000"/>
              </a:ln>
              <a:effectLst/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tymie Std Light Italic" panose="02010600010101010101" charset="-122"/>
                  <a:ea typeface="Nanum Gothic" panose="020D0604000000000000" charset="-127"/>
                  <a:cs typeface="Nanum Gothic" panose="020D0604000000000000" charset="-127"/>
                  <a:sym typeface="+mn-lt"/>
                </a:endParaRPr>
              </a:p>
            </p:txBody>
          </p:sp>
          <p:sp>
            <p:nvSpPr>
              <p:cNvPr id="101" name="橙子演示"/>
              <p:cNvSpPr/>
              <p:nvPr/>
            </p:nvSpPr>
            <p:spPr bwMode="auto">
              <a:xfrm>
                <a:off x="2500462" y="1721079"/>
                <a:ext cx="1153557" cy="1155597"/>
              </a:xfrm>
              <a:prstGeom prst="ellipse">
                <a:avLst/>
              </a:prstGeom>
              <a:solidFill>
                <a:srgbClr val="67B7E2"/>
              </a:solidFill>
              <a:ln w="12700" cap="flat" cmpd="sng" algn="ctr">
                <a:solidFill>
                  <a:sysClr val="window" lastClr="FFFFFF">
                    <a:lumMod val="95000"/>
                  </a:sysClr>
                </a:solidFill>
                <a:prstDash val="solid"/>
                <a:miter lim="800000"/>
              </a:ln>
              <a:effectLst/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tymie Std Light Italic" panose="02010600010101010101" charset="-122"/>
                  <a:ea typeface="Nanum Gothic" panose="020D0604000000000000" charset="-127"/>
                  <a:cs typeface="Nanum Gothic" panose="020D0604000000000000" charset="-127"/>
                  <a:sym typeface="+mn-lt"/>
                </a:endParaRPr>
              </a:p>
            </p:txBody>
          </p:sp>
          <p:sp>
            <p:nvSpPr>
              <p:cNvPr id="102" name="橙子演示"/>
              <p:cNvSpPr/>
              <p:nvPr/>
            </p:nvSpPr>
            <p:spPr>
              <a:xfrm>
                <a:off x="798842" y="3025072"/>
                <a:ext cx="1534794" cy="1534794"/>
              </a:xfrm>
              <a:prstGeom prst="ellipse">
                <a:avLst/>
              </a:prstGeom>
              <a:solidFill>
                <a:srgbClr val="FFFFFF"/>
              </a:solidFill>
              <a:ln w="38100" cap="flat" cmpd="sng" algn="ctr">
                <a:solidFill>
                  <a:srgbClr val="67B7E2"/>
                </a:solidFill>
                <a:prstDash val="solid"/>
                <a:miter lim="800000"/>
              </a:ln>
              <a:effectLst/>
            </p:spPr>
            <p:txBody>
              <a:bodyPr wrap="square" lIns="91440" tIns="45720" rIns="91440" bIns="45720" rtlCol="0" anchor="ctr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tymie Std Light Italic" panose="02010600010101010101" charset="-122"/>
                  <a:ea typeface="Stymie Std Light Italic" panose="02010600010101010101" charset="-122"/>
                  <a:cs typeface="+mn-ea"/>
                  <a:sym typeface="+mn-lt"/>
                </a:endParaRPr>
              </a:p>
            </p:txBody>
          </p:sp>
          <p:sp>
            <p:nvSpPr>
              <p:cNvPr id="103" name="橙子演示"/>
              <p:cNvSpPr/>
              <p:nvPr/>
            </p:nvSpPr>
            <p:spPr bwMode="auto">
              <a:xfrm>
                <a:off x="2038884" y="3634920"/>
                <a:ext cx="1084852" cy="315096"/>
              </a:xfrm>
              <a:custGeom>
                <a:avLst/>
                <a:gdLst>
                  <a:gd name="T0" fmla="*/ 881 w 881"/>
                  <a:gd name="T1" fmla="*/ 129 h 257"/>
                  <a:gd name="T2" fmla="*/ 711 w 881"/>
                  <a:gd name="T3" fmla="*/ 0 h 257"/>
                  <a:gd name="T4" fmla="*/ 711 w 881"/>
                  <a:gd name="T5" fmla="*/ 79 h 257"/>
                  <a:gd name="T6" fmla="*/ 50 w 881"/>
                  <a:gd name="T7" fmla="*/ 79 h 257"/>
                  <a:gd name="T8" fmla="*/ 0 w 881"/>
                  <a:gd name="T9" fmla="*/ 129 h 257"/>
                  <a:gd name="T10" fmla="*/ 50 w 881"/>
                  <a:gd name="T11" fmla="*/ 178 h 257"/>
                  <a:gd name="T12" fmla="*/ 711 w 881"/>
                  <a:gd name="T13" fmla="*/ 178 h 257"/>
                  <a:gd name="T14" fmla="*/ 711 w 881"/>
                  <a:gd name="T15" fmla="*/ 257 h 257"/>
                  <a:gd name="T16" fmla="*/ 881 w 881"/>
                  <a:gd name="T17" fmla="*/ 129 h 2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81" h="257">
                    <a:moveTo>
                      <a:pt x="881" y="129"/>
                    </a:moveTo>
                    <a:cubicBezTo>
                      <a:pt x="711" y="0"/>
                      <a:pt x="711" y="0"/>
                      <a:pt x="711" y="0"/>
                    </a:cubicBezTo>
                    <a:cubicBezTo>
                      <a:pt x="711" y="79"/>
                      <a:pt x="711" y="79"/>
                      <a:pt x="711" y="79"/>
                    </a:cubicBezTo>
                    <a:cubicBezTo>
                      <a:pt x="50" y="79"/>
                      <a:pt x="50" y="79"/>
                      <a:pt x="50" y="79"/>
                    </a:cubicBezTo>
                    <a:cubicBezTo>
                      <a:pt x="21" y="79"/>
                      <a:pt x="0" y="100"/>
                      <a:pt x="0" y="129"/>
                    </a:cubicBezTo>
                    <a:cubicBezTo>
                      <a:pt x="0" y="153"/>
                      <a:pt x="20" y="178"/>
                      <a:pt x="50" y="178"/>
                    </a:cubicBezTo>
                    <a:cubicBezTo>
                      <a:pt x="711" y="178"/>
                      <a:pt x="711" y="178"/>
                      <a:pt x="711" y="178"/>
                    </a:cubicBezTo>
                    <a:cubicBezTo>
                      <a:pt x="711" y="257"/>
                      <a:pt x="711" y="257"/>
                      <a:pt x="711" y="257"/>
                    </a:cubicBezTo>
                    <a:lnTo>
                      <a:pt x="881" y="129"/>
                    </a:lnTo>
                    <a:close/>
                  </a:path>
                </a:pathLst>
              </a:custGeom>
              <a:solidFill>
                <a:srgbClr val="67B7E2"/>
              </a:solidFill>
              <a:ln w="28575" cap="rnd" cmpd="sng" algn="ctr">
                <a:solidFill>
                  <a:srgbClr val="67B7E2"/>
                </a:solidFill>
                <a:prstDash val="solid"/>
                <a:round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92500" lnSpcReduction="20000"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tymie Std Light Italic" panose="02010600010101010101" charset="-122"/>
                  <a:ea typeface="Stymie Std Light Italic" panose="02010600010101010101" charset="-122"/>
                  <a:cs typeface="+mn-ea"/>
                  <a:sym typeface="+mn-lt"/>
                </a:endParaRPr>
              </a:p>
            </p:txBody>
          </p:sp>
          <p:sp>
            <p:nvSpPr>
              <p:cNvPr id="104" name="橙子演示"/>
              <p:cNvSpPr/>
              <p:nvPr/>
            </p:nvSpPr>
            <p:spPr bwMode="auto">
              <a:xfrm>
                <a:off x="1897162" y="4201087"/>
                <a:ext cx="513650" cy="507176"/>
              </a:xfrm>
              <a:custGeom>
                <a:avLst/>
                <a:gdLst>
                  <a:gd name="T0" fmla="*/ 330 w 417"/>
                  <a:gd name="T1" fmla="*/ 259 h 413"/>
                  <a:gd name="T2" fmla="*/ 87 w 417"/>
                  <a:gd name="T3" fmla="*/ 20 h 413"/>
                  <a:gd name="T4" fmla="*/ 16 w 417"/>
                  <a:gd name="T5" fmla="*/ 20 h 413"/>
                  <a:gd name="T6" fmla="*/ 0 w 417"/>
                  <a:gd name="T7" fmla="*/ 52 h 413"/>
                  <a:gd name="T8" fmla="*/ 16 w 417"/>
                  <a:gd name="T9" fmla="*/ 91 h 413"/>
                  <a:gd name="T10" fmla="*/ 258 w 417"/>
                  <a:gd name="T11" fmla="*/ 329 h 413"/>
                  <a:gd name="T12" fmla="*/ 204 w 417"/>
                  <a:gd name="T13" fmla="*/ 383 h 413"/>
                  <a:gd name="T14" fmla="*/ 417 w 417"/>
                  <a:gd name="T15" fmla="*/ 413 h 413"/>
                  <a:gd name="T16" fmla="*/ 387 w 417"/>
                  <a:gd name="T17" fmla="*/ 203 h 413"/>
                  <a:gd name="T18" fmla="*/ 330 w 417"/>
                  <a:gd name="T19" fmla="*/ 259 h 4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17" h="413">
                    <a:moveTo>
                      <a:pt x="330" y="259"/>
                    </a:moveTo>
                    <a:cubicBezTo>
                      <a:pt x="87" y="20"/>
                      <a:pt x="87" y="20"/>
                      <a:pt x="87" y="20"/>
                    </a:cubicBezTo>
                    <a:cubicBezTo>
                      <a:pt x="66" y="0"/>
                      <a:pt x="37" y="0"/>
                      <a:pt x="16" y="20"/>
                    </a:cubicBezTo>
                    <a:cubicBezTo>
                      <a:pt x="7" y="27"/>
                      <a:pt x="1" y="39"/>
                      <a:pt x="0" y="52"/>
                    </a:cubicBezTo>
                    <a:cubicBezTo>
                      <a:pt x="0" y="66"/>
                      <a:pt x="5" y="80"/>
                      <a:pt x="16" y="91"/>
                    </a:cubicBezTo>
                    <a:cubicBezTo>
                      <a:pt x="258" y="329"/>
                      <a:pt x="258" y="329"/>
                      <a:pt x="258" y="329"/>
                    </a:cubicBezTo>
                    <a:cubicBezTo>
                      <a:pt x="204" y="383"/>
                      <a:pt x="204" y="383"/>
                      <a:pt x="204" y="383"/>
                    </a:cubicBezTo>
                    <a:cubicBezTo>
                      <a:pt x="417" y="413"/>
                      <a:pt x="417" y="413"/>
                      <a:pt x="417" y="413"/>
                    </a:cubicBezTo>
                    <a:cubicBezTo>
                      <a:pt x="387" y="203"/>
                      <a:pt x="387" y="203"/>
                      <a:pt x="387" y="203"/>
                    </a:cubicBezTo>
                    <a:lnTo>
                      <a:pt x="330" y="259"/>
                    </a:lnTo>
                    <a:close/>
                  </a:path>
                </a:pathLst>
              </a:custGeom>
              <a:solidFill>
                <a:srgbClr val="67B7E2"/>
              </a:solidFill>
              <a:ln w="28575" cap="rnd" cmpd="sng" algn="ctr">
                <a:solidFill>
                  <a:srgbClr val="67B7E2"/>
                </a:solidFill>
                <a:prstDash val="solid"/>
                <a:round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tymie Std Light Italic" panose="02010600010101010101" charset="-122"/>
                  <a:ea typeface="Stymie Std Light Italic" panose="02010600010101010101" charset="-122"/>
                  <a:cs typeface="+mn-ea"/>
                  <a:sym typeface="+mn-lt"/>
                </a:endParaRPr>
              </a:p>
            </p:txBody>
          </p:sp>
          <p:sp>
            <p:nvSpPr>
              <p:cNvPr id="105" name="橙子演示"/>
              <p:cNvSpPr/>
              <p:nvPr/>
            </p:nvSpPr>
            <p:spPr bwMode="auto">
              <a:xfrm>
                <a:off x="1897162" y="2876676"/>
                <a:ext cx="513650" cy="507176"/>
              </a:xfrm>
              <a:custGeom>
                <a:avLst/>
                <a:gdLst>
                  <a:gd name="T0" fmla="*/ 50 w 417"/>
                  <a:gd name="T1" fmla="*/ 411 h 411"/>
                  <a:gd name="T2" fmla="*/ 87 w 417"/>
                  <a:gd name="T3" fmla="*/ 398 h 411"/>
                  <a:gd name="T4" fmla="*/ 330 w 417"/>
                  <a:gd name="T5" fmla="*/ 157 h 411"/>
                  <a:gd name="T6" fmla="*/ 387 w 417"/>
                  <a:gd name="T7" fmla="*/ 210 h 411"/>
                  <a:gd name="T8" fmla="*/ 417 w 417"/>
                  <a:gd name="T9" fmla="*/ 0 h 411"/>
                  <a:gd name="T10" fmla="*/ 205 w 417"/>
                  <a:gd name="T11" fmla="*/ 30 h 411"/>
                  <a:gd name="T12" fmla="*/ 259 w 417"/>
                  <a:gd name="T13" fmla="*/ 86 h 411"/>
                  <a:gd name="T14" fmla="*/ 16 w 417"/>
                  <a:gd name="T15" fmla="*/ 327 h 411"/>
                  <a:gd name="T16" fmla="*/ 0 w 417"/>
                  <a:gd name="T17" fmla="*/ 363 h 411"/>
                  <a:gd name="T18" fmla="*/ 16 w 417"/>
                  <a:gd name="T19" fmla="*/ 398 h 411"/>
                  <a:gd name="T20" fmla="*/ 50 w 417"/>
                  <a:gd name="T21" fmla="*/ 411 h 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17" h="411">
                    <a:moveTo>
                      <a:pt x="50" y="411"/>
                    </a:moveTo>
                    <a:cubicBezTo>
                      <a:pt x="66" y="411"/>
                      <a:pt x="78" y="407"/>
                      <a:pt x="87" y="398"/>
                    </a:cubicBezTo>
                    <a:cubicBezTo>
                      <a:pt x="330" y="157"/>
                      <a:pt x="330" y="157"/>
                      <a:pt x="330" y="157"/>
                    </a:cubicBezTo>
                    <a:cubicBezTo>
                      <a:pt x="387" y="210"/>
                      <a:pt x="387" y="210"/>
                      <a:pt x="387" y="210"/>
                    </a:cubicBezTo>
                    <a:cubicBezTo>
                      <a:pt x="417" y="0"/>
                      <a:pt x="417" y="0"/>
                      <a:pt x="417" y="0"/>
                    </a:cubicBezTo>
                    <a:cubicBezTo>
                      <a:pt x="205" y="30"/>
                      <a:pt x="205" y="30"/>
                      <a:pt x="205" y="30"/>
                    </a:cubicBezTo>
                    <a:cubicBezTo>
                      <a:pt x="259" y="86"/>
                      <a:pt x="259" y="86"/>
                      <a:pt x="259" y="86"/>
                    </a:cubicBezTo>
                    <a:cubicBezTo>
                      <a:pt x="16" y="327"/>
                      <a:pt x="16" y="327"/>
                      <a:pt x="16" y="327"/>
                    </a:cubicBezTo>
                    <a:cubicBezTo>
                      <a:pt x="6" y="337"/>
                      <a:pt x="0" y="350"/>
                      <a:pt x="0" y="363"/>
                    </a:cubicBezTo>
                    <a:cubicBezTo>
                      <a:pt x="0" y="376"/>
                      <a:pt x="6" y="388"/>
                      <a:pt x="16" y="398"/>
                    </a:cubicBezTo>
                    <a:cubicBezTo>
                      <a:pt x="24" y="406"/>
                      <a:pt x="37" y="411"/>
                      <a:pt x="50" y="411"/>
                    </a:cubicBezTo>
                    <a:close/>
                  </a:path>
                </a:pathLst>
              </a:custGeom>
              <a:solidFill>
                <a:srgbClr val="67B7E2"/>
              </a:solidFill>
              <a:ln w="28575" cap="rnd" cmpd="sng" algn="ctr">
                <a:solidFill>
                  <a:srgbClr val="67B7E2"/>
                </a:solidFill>
                <a:prstDash val="solid"/>
                <a:round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tymie Std Light Italic" panose="02010600010101010101" charset="-122"/>
                  <a:ea typeface="Stymie Std Light Italic" panose="02010600010101010101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114" name="文本框 113"/>
            <p:cNvSpPr txBox="1"/>
            <p:nvPr/>
          </p:nvSpPr>
          <p:spPr>
            <a:xfrm>
              <a:off x="4817239" y="1418152"/>
              <a:ext cx="5799455" cy="73723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>
                <a:lnSpc>
                  <a:spcPct val="130000"/>
                </a:lnSpc>
                <a:defRPr sz="140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  <a:sym typeface="+mn-ea"/>
                </a:rPr>
                <a:t>用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  <a:sym typeface="+mn-ea"/>
                </a:rPr>
                <a:t>curl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  <a:sym typeface="+mn-ea"/>
                </a:rPr>
                <a:t>下载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  <a:sym typeface="+mn-ea"/>
                </a:rPr>
                <a:t>fc6966431495e208fd9372cb5924ca4484455368.tar.gz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  <a:sym typeface="+mn-ea"/>
                </a:rPr>
                <a:t>包用于更新内核</a:t>
              </a: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  <a:sym typeface="+mn-ea"/>
              </a:endParaRPr>
            </a:p>
          </p:txBody>
        </p:sp>
        <p:grpSp>
          <p:nvGrpSpPr>
            <p:cNvPr id="115" name="组合 114"/>
            <p:cNvGrpSpPr/>
            <p:nvPr/>
          </p:nvGrpSpPr>
          <p:grpSpPr>
            <a:xfrm>
              <a:off x="5514644" y="3274473"/>
              <a:ext cx="5644588" cy="687616"/>
              <a:chOff x="7199934" y="1905574"/>
              <a:chExt cx="5644588" cy="687616"/>
            </a:xfrm>
          </p:grpSpPr>
          <p:sp>
            <p:nvSpPr>
              <p:cNvPr id="116" name="文本"/>
              <p:cNvSpPr/>
              <p:nvPr/>
            </p:nvSpPr>
            <p:spPr>
              <a:xfrm>
                <a:off x="7199934" y="1905574"/>
                <a:ext cx="1706880" cy="3987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dirty="0">
                    <a:solidFill>
                      <a:srgbClr val="595959"/>
                    </a:solidFill>
                    <a:latin typeface="+mj-ea"/>
                    <a:ea typeface="思源黑体旧字形 Normal" panose="020B0400000000000000" pitchFamily="34" charset="-122"/>
                    <a:cs typeface="Saturday Sans Regular" panose="02010600010101010101" charset="-122"/>
                  </a:rPr>
                  <a:t>验证下载</a:t>
                </a:r>
                <a:r>
                  <a:rPr lang="zh-CN" altLang="en-US" sz="2000" dirty="0">
                    <a:solidFill>
                      <a:srgbClr val="595959"/>
                    </a:solidFill>
                    <a:latin typeface="+mj-ea"/>
                    <a:ea typeface="思源黑体旧字形 Normal" panose="020B0400000000000000" pitchFamily="34" charset="-122"/>
                    <a:cs typeface="Saturday Sans Regular" panose="02010600010101010101" charset="-122"/>
                  </a:rPr>
                  <a:t>完成</a:t>
                </a:r>
                <a:endParaRPr lang="zh-CN" altLang="en-US" sz="2000" dirty="0">
                  <a:solidFill>
                    <a:srgbClr val="595959"/>
                  </a:solidFill>
                  <a:latin typeface="+mj-ea"/>
                  <a:ea typeface="思源黑体旧字形 Normal" panose="020B0400000000000000" pitchFamily="34" charset="-122"/>
                  <a:cs typeface="Saturday Sans Regular" panose="02010600010101010101" charset="-122"/>
                </a:endParaRPr>
              </a:p>
            </p:txBody>
          </p:sp>
          <p:sp>
            <p:nvSpPr>
              <p:cNvPr id="117" name="文本框 116"/>
              <p:cNvSpPr txBox="1"/>
              <p:nvPr/>
            </p:nvSpPr>
            <p:spPr>
              <a:xfrm>
                <a:off x="7199934" y="2224890"/>
                <a:ext cx="5644588" cy="368300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140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微软雅黑" panose="020B0503020204020204" charset="-122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rPr>
                  <a:t>用</a:t>
                </a:r>
                <a:r>
                  <a: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rPr>
                  <a:t>ls -lh kernel.tar.gz	File kernel.tar.gz </a:t>
                </a:r>
                <a:r>
                  <a: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rPr>
                  <a:t>验证，如下图</a:t>
                </a:r>
                <a:endPara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endParaRPr>
              </a:p>
            </p:txBody>
          </p:sp>
        </p:grpSp>
        <p:grpSp>
          <p:nvGrpSpPr>
            <p:cNvPr id="118" name="组合 117"/>
            <p:cNvGrpSpPr/>
            <p:nvPr/>
          </p:nvGrpSpPr>
          <p:grpSpPr>
            <a:xfrm>
              <a:off x="4613930" y="5010150"/>
              <a:ext cx="4695190" cy="1116330"/>
              <a:chOff x="7199934" y="1905574"/>
              <a:chExt cx="4695190" cy="1116330"/>
            </a:xfrm>
          </p:grpSpPr>
          <p:sp>
            <p:nvSpPr>
              <p:cNvPr id="119" name="文本"/>
              <p:cNvSpPr/>
              <p:nvPr/>
            </p:nvSpPr>
            <p:spPr>
              <a:xfrm>
                <a:off x="7199934" y="1905574"/>
                <a:ext cx="1198880" cy="3987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dirty="0">
                    <a:solidFill>
                      <a:srgbClr val="595959"/>
                    </a:solidFill>
                    <a:latin typeface="+mj-ea"/>
                    <a:ea typeface="思源黑体旧字形 Normal" panose="020B0400000000000000" pitchFamily="34" charset="-122"/>
                    <a:cs typeface="Saturday Sans Regular" panose="02010600010101010101" charset="-122"/>
                  </a:rPr>
                  <a:t>解压</a:t>
                </a:r>
                <a:r>
                  <a:rPr lang="zh-CN" altLang="en-US" sz="2000" dirty="0">
                    <a:solidFill>
                      <a:srgbClr val="595959"/>
                    </a:solidFill>
                    <a:latin typeface="+mj-ea"/>
                    <a:ea typeface="思源黑体旧字形 Normal" panose="020B0400000000000000" pitchFamily="34" charset="-122"/>
                    <a:cs typeface="Saturday Sans Regular" panose="02010600010101010101" charset="-122"/>
                  </a:rPr>
                  <a:t>源码</a:t>
                </a:r>
                <a:endParaRPr lang="zh-CN" altLang="en-US" sz="2000" dirty="0">
                  <a:solidFill>
                    <a:srgbClr val="595959"/>
                  </a:solidFill>
                  <a:latin typeface="+mj-ea"/>
                  <a:ea typeface="思源黑体旧字形 Normal" panose="020B0400000000000000" pitchFamily="34" charset="-122"/>
                  <a:cs typeface="Saturday Sans Regular" panose="02010600010101010101" charset="-122"/>
                </a:endParaRPr>
              </a:p>
            </p:txBody>
          </p:sp>
          <p:sp>
            <p:nvSpPr>
              <p:cNvPr id="120" name="文本框 119"/>
              <p:cNvSpPr txBox="1"/>
              <p:nvPr/>
            </p:nvSpPr>
            <p:spPr>
              <a:xfrm>
                <a:off x="7199934" y="2224979"/>
                <a:ext cx="4695190" cy="796925"/>
              </a:xfrm>
              <a:prstGeom prst="rect">
                <a:avLst/>
              </a:prstGeom>
            </p:spPr>
            <p:txBody>
              <a:bodyPr wrap="square">
                <a:noAutofit/>
                <a:scene3d>
                  <a:camera prst="orthographicFront"/>
                  <a:lightRig rig="threePt" dir="t"/>
                </a:scene3d>
                <a:sp3d contourW="12700"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defRPr sz="140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微软雅黑" panose="020B0503020204020204" charset="-122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rPr>
                  <a:t>解压</a:t>
                </a:r>
                <a:r>
                  <a: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rPr>
                  <a:t>fc6966431495e208fd9372cb5924ca4484455368.tar.gz</a:t>
                </a:r>
                <a:r>
                  <a: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rPr>
                  <a:t>包</a:t>
                </a:r>
                <a:endPara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rPr>
                  <a:t>解压文件：</a:t>
                </a:r>
                <a:r>
                  <a: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rPr>
                  <a:t>tar -xzvf kernel.tar.gz</a:t>
                </a:r>
                <a:r>
                  <a: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rPr>
                  <a:t>，并进入</a:t>
                </a:r>
                <a:r>
                  <a: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rPr>
                  <a:t>kernel-fc6966431495e208fd9372cb5924ca4484455368</a:t>
                </a:r>
                <a:r>
                  <a: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rPr>
                  <a:t>目录</a:t>
                </a:r>
                <a:endPara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endParaRPr>
              </a:p>
            </p:txBody>
          </p:sp>
        </p:grpSp>
      </p:grpSp>
      <p:sp>
        <p:nvSpPr>
          <p:cNvPr id="121" name="椭圆1"/>
          <p:cNvSpPr/>
          <p:nvPr/>
        </p:nvSpPr>
        <p:spPr>
          <a:xfrm>
            <a:off x="4347762" y="3312738"/>
            <a:ext cx="551414" cy="475116"/>
          </a:xfrm>
          <a:custGeom>
            <a:avLst/>
            <a:gdLst>
              <a:gd name="connsiteX0" fmla="*/ 124340 w 469943"/>
              <a:gd name="connsiteY0" fmla="*/ 122210 h 404917"/>
              <a:gd name="connsiteX1" fmla="*/ 212473 w 469943"/>
              <a:gd name="connsiteY1" fmla="*/ 10885 h 404917"/>
              <a:gd name="connsiteX2" fmla="*/ 252784 w 469943"/>
              <a:gd name="connsiteY2" fmla="*/ 6199 h 404917"/>
              <a:gd name="connsiteX3" fmla="*/ 257470 w 469943"/>
              <a:gd name="connsiteY3" fmla="*/ 10885 h 404917"/>
              <a:gd name="connsiteX4" fmla="*/ 345603 w 469943"/>
              <a:gd name="connsiteY4" fmla="*/ 122210 h 404917"/>
              <a:gd name="connsiteX5" fmla="*/ 429946 w 469943"/>
              <a:gd name="connsiteY5" fmla="*/ 86065 h 404917"/>
              <a:gd name="connsiteX6" fmla="*/ 467624 w 469943"/>
              <a:gd name="connsiteY6" fmla="*/ 101141 h 404917"/>
              <a:gd name="connsiteX7" fmla="*/ 469346 w 469943"/>
              <a:gd name="connsiteY7" fmla="*/ 118268 h 404917"/>
              <a:gd name="connsiteX8" fmla="*/ 420090 w 469943"/>
              <a:gd name="connsiteY8" fmla="*/ 355591 h 404917"/>
              <a:gd name="connsiteX9" fmla="*/ 359467 w 469943"/>
              <a:gd name="connsiteY9" fmla="*/ 404918 h 404917"/>
              <a:gd name="connsiteX10" fmla="*/ 110477 w 469943"/>
              <a:gd name="connsiteY10" fmla="*/ 404918 h 404917"/>
              <a:gd name="connsiteX11" fmla="*/ 49854 w 469943"/>
              <a:gd name="connsiteY11" fmla="*/ 355591 h 404917"/>
              <a:gd name="connsiteX12" fmla="*/ 603 w 469943"/>
              <a:gd name="connsiteY12" fmla="*/ 118268 h 404917"/>
              <a:gd name="connsiteX13" fmla="*/ 22876 w 469943"/>
              <a:gd name="connsiteY13" fmla="*/ 84343 h 404917"/>
              <a:gd name="connsiteX14" fmla="*/ 40002 w 469943"/>
              <a:gd name="connsiteY14" fmla="*/ 86065 h 404917"/>
              <a:gd name="connsiteX15" fmla="*/ 124346 w 469943"/>
              <a:gd name="connsiteY15" fmla="*/ 122210 h 404917"/>
              <a:gd name="connsiteX16" fmla="*/ 234972 w 469943"/>
              <a:gd name="connsiteY16" fmla="*/ 39252 h 404917"/>
              <a:gd name="connsiteX17" fmla="*/ 148866 w 469943"/>
              <a:gd name="connsiteY17" fmla="*/ 148015 h 404917"/>
              <a:gd name="connsiteX18" fmla="*/ 115065 w 469943"/>
              <a:gd name="connsiteY18" fmla="*/ 156580 h 404917"/>
              <a:gd name="connsiteX19" fmla="*/ 37664 w 469943"/>
              <a:gd name="connsiteY19" fmla="*/ 123408 h 404917"/>
              <a:gd name="connsiteX20" fmla="*/ 84365 w 469943"/>
              <a:gd name="connsiteY20" fmla="*/ 348424 h 404917"/>
              <a:gd name="connsiteX21" fmla="*/ 110471 w 469943"/>
              <a:gd name="connsiteY21" fmla="*/ 369672 h 404917"/>
              <a:gd name="connsiteX22" fmla="*/ 359472 w 469943"/>
              <a:gd name="connsiteY22" fmla="*/ 369672 h 404917"/>
              <a:gd name="connsiteX23" fmla="*/ 385578 w 469943"/>
              <a:gd name="connsiteY23" fmla="*/ 348424 h 404917"/>
              <a:gd name="connsiteX24" fmla="*/ 432279 w 469943"/>
              <a:gd name="connsiteY24" fmla="*/ 123408 h 404917"/>
              <a:gd name="connsiteX25" fmla="*/ 354879 w 469943"/>
              <a:gd name="connsiteY25" fmla="*/ 156580 h 404917"/>
              <a:gd name="connsiteX26" fmla="*/ 321078 w 469943"/>
              <a:gd name="connsiteY26" fmla="*/ 148015 h 404917"/>
              <a:gd name="connsiteX27" fmla="*/ 234972 w 469943"/>
              <a:gd name="connsiteY27" fmla="*/ 39252 h 4049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69943" h="404917">
                <a:moveTo>
                  <a:pt x="124340" y="122210"/>
                </a:moveTo>
                <a:lnTo>
                  <a:pt x="212473" y="10885"/>
                </a:lnTo>
                <a:cubicBezTo>
                  <a:pt x="222311" y="-1541"/>
                  <a:pt x="240358" y="-3639"/>
                  <a:pt x="252784" y="6199"/>
                </a:cubicBezTo>
                <a:cubicBezTo>
                  <a:pt x="254522" y="7574"/>
                  <a:pt x="256094" y="9147"/>
                  <a:pt x="257470" y="10885"/>
                </a:cubicBezTo>
                <a:lnTo>
                  <a:pt x="345603" y="122210"/>
                </a:lnTo>
                <a:lnTo>
                  <a:pt x="429946" y="86065"/>
                </a:lnTo>
                <a:cubicBezTo>
                  <a:pt x="444515" y="79824"/>
                  <a:pt x="461384" y="86574"/>
                  <a:pt x="467624" y="101141"/>
                </a:cubicBezTo>
                <a:cubicBezTo>
                  <a:pt x="469937" y="106540"/>
                  <a:pt x="470538" y="112518"/>
                  <a:pt x="469346" y="118268"/>
                </a:cubicBezTo>
                <a:lnTo>
                  <a:pt x="420090" y="355591"/>
                </a:lnTo>
                <a:cubicBezTo>
                  <a:pt x="414125" y="384323"/>
                  <a:pt x="388810" y="404921"/>
                  <a:pt x="359467" y="404918"/>
                </a:cubicBezTo>
                <a:lnTo>
                  <a:pt x="110477" y="404918"/>
                </a:lnTo>
                <a:cubicBezTo>
                  <a:pt x="81133" y="404921"/>
                  <a:pt x="55818" y="384323"/>
                  <a:pt x="49854" y="355591"/>
                </a:cubicBezTo>
                <a:lnTo>
                  <a:pt x="603" y="118268"/>
                </a:lnTo>
                <a:cubicBezTo>
                  <a:pt x="-2614" y="102750"/>
                  <a:pt x="7358" y="87561"/>
                  <a:pt x="22876" y="84343"/>
                </a:cubicBezTo>
                <a:cubicBezTo>
                  <a:pt x="28627" y="83151"/>
                  <a:pt x="34604" y="83752"/>
                  <a:pt x="40002" y="86065"/>
                </a:cubicBezTo>
                <a:lnTo>
                  <a:pt x="124346" y="122210"/>
                </a:lnTo>
                <a:close/>
                <a:moveTo>
                  <a:pt x="234972" y="39252"/>
                </a:moveTo>
                <a:lnTo>
                  <a:pt x="148866" y="148015"/>
                </a:lnTo>
                <a:cubicBezTo>
                  <a:pt x="140824" y="158173"/>
                  <a:pt x="126973" y="161683"/>
                  <a:pt x="115065" y="156580"/>
                </a:cubicBezTo>
                <a:lnTo>
                  <a:pt x="37664" y="123408"/>
                </a:lnTo>
                <a:lnTo>
                  <a:pt x="84365" y="348424"/>
                </a:lnTo>
                <a:cubicBezTo>
                  <a:pt x="86932" y="360798"/>
                  <a:pt x="97833" y="369671"/>
                  <a:pt x="110471" y="369672"/>
                </a:cubicBezTo>
                <a:lnTo>
                  <a:pt x="359472" y="369672"/>
                </a:lnTo>
                <a:cubicBezTo>
                  <a:pt x="372110" y="369671"/>
                  <a:pt x="383011" y="360798"/>
                  <a:pt x="385578" y="348424"/>
                </a:cubicBezTo>
                <a:lnTo>
                  <a:pt x="432279" y="123408"/>
                </a:lnTo>
                <a:lnTo>
                  <a:pt x="354879" y="156580"/>
                </a:lnTo>
                <a:cubicBezTo>
                  <a:pt x="342970" y="161683"/>
                  <a:pt x="329119" y="158173"/>
                  <a:pt x="321078" y="148015"/>
                </a:cubicBezTo>
                <a:lnTo>
                  <a:pt x="234972" y="39252"/>
                </a:ln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accent3"/>
              </a:solidFill>
            </a:endParaRPr>
          </a:p>
        </p:txBody>
      </p:sp>
      <p:sp>
        <p:nvSpPr>
          <p:cNvPr id="122" name="椭圆3"/>
          <p:cNvSpPr/>
          <p:nvPr/>
        </p:nvSpPr>
        <p:spPr>
          <a:xfrm>
            <a:off x="3427925" y="4960612"/>
            <a:ext cx="551414" cy="551414"/>
          </a:xfrm>
          <a:custGeom>
            <a:avLst/>
            <a:gdLst>
              <a:gd name="connsiteX0" fmla="*/ 340711 w 446448"/>
              <a:gd name="connsiteY0" fmla="*/ 35246 h 446448"/>
              <a:gd name="connsiteX1" fmla="*/ 381855 w 446448"/>
              <a:gd name="connsiteY1" fmla="*/ 35246 h 446448"/>
              <a:gd name="connsiteX2" fmla="*/ 446449 w 446448"/>
              <a:gd name="connsiteY2" fmla="*/ 99916 h 446448"/>
              <a:gd name="connsiteX3" fmla="*/ 446449 w 446448"/>
              <a:gd name="connsiteY3" fmla="*/ 381773 h 446448"/>
              <a:gd name="connsiteX4" fmla="*/ 381855 w 446448"/>
              <a:gd name="connsiteY4" fmla="*/ 446449 h 446448"/>
              <a:gd name="connsiteX5" fmla="*/ 64594 w 446448"/>
              <a:gd name="connsiteY5" fmla="*/ 446449 h 446448"/>
              <a:gd name="connsiteX6" fmla="*/ 0 w 446448"/>
              <a:gd name="connsiteY6" fmla="*/ 381779 h 446448"/>
              <a:gd name="connsiteX7" fmla="*/ 0 w 446448"/>
              <a:gd name="connsiteY7" fmla="*/ 99922 h 446448"/>
              <a:gd name="connsiteX8" fmla="*/ 64594 w 446448"/>
              <a:gd name="connsiteY8" fmla="*/ 35246 h 446448"/>
              <a:gd name="connsiteX9" fmla="*/ 105738 w 446448"/>
              <a:gd name="connsiteY9" fmla="*/ 35246 h 446448"/>
              <a:gd name="connsiteX10" fmla="*/ 105738 w 446448"/>
              <a:gd name="connsiteY10" fmla="*/ 17623 h 446448"/>
              <a:gd name="connsiteX11" fmla="*/ 123361 w 446448"/>
              <a:gd name="connsiteY11" fmla="*/ 0 h 446448"/>
              <a:gd name="connsiteX12" fmla="*/ 140984 w 446448"/>
              <a:gd name="connsiteY12" fmla="*/ 17623 h 446448"/>
              <a:gd name="connsiteX13" fmla="*/ 140984 w 446448"/>
              <a:gd name="connsiteY13" fmla="*/ 35246 h 446448"/>
              <a:gd name="connsiteX14" fmla="*/ 305465 w 446448"/>
              <a:gd name="connsiteY14" fmla="*/ 35246 h 446448"/>
              <a:gd name="connsiteX15" fmla="*/ 305465 w 446448"/>
              <a:gd name="connsiteY15" fmla="*/ 17623 h 446448"/>
              <a:gd name="connsiteX16" fmla="*/ 323088 w 446448"/>
              <a:gd name="connsiteY16" fmla="*/ 0 h 446448"/>
              <a:gd name="connsiteX17" fmla="*/ 340711 w 446448"/>
              <a:gd name="connsiteY17" fmla="*/ 17623 h 446448"/>
              <a:gd name="connsiteX18" fmla="*/ 340711 w 446448"/>
              <a:gd name="connsiteY18" fmla="*/ 35246 h 446448"/>
              <a:gd name="connsiteX19" fmla="*/ 340711 w 446448"/>
              <a:gd name="connsiteY19" fmla="*/ 70492 h 446448"/>
              <a:gd name="connsiteX20" fmla="*/ 340711 w 446448"/>
              <a:gd name="connsiteY20" fmla="*/ 88115 h 446448"/>
              <a:gd name="connsiteX21" fmla="*/ 323088 w 446448"/>
              <a:gd name="connsiteY21" fmla="*/ 105738 h 446448"/>
              <a:gd name="connsiteX22" fmla="*/ 305465 w 446448"/>
              <a:gd name="connsiteY22" fmla="*/ 88115 h 446448"/>
              <a:gd name="connsiteX23" fmla="*/ 305465 w 446448"/>
              <a:gd name="connsiteY23" fmla="*/ 70492 h 446448"/>
              <a:gd name="connsiteX24" fmla="*/ 140984 w 446448"/>
              <a:gd name="connsiteY24" fmla="*/ 70492 h 446448"/>
              <a:gd name="connsiteX25" fmla="*/ 140984 w 446448"/>
              <a:gd name="connsiteY25" fmla="*/ 88115 h 446448"/>
              <a:gd name="connsiteX26" fmla="*/ 123361 w 446448"/>
              <a:gd name="connsiteY26" fmla="*/ 105738 h 446448"/>
              <a:gd name="connsiteX27" fmla="*/ 105738 w 446448"/>
              <a:gd name="connsiteY27" fmla="*/ 88115 h 446448"/>
              <a:gd name="connsiteX28" fmla="*/ 105738 w 446448"/>
              <a:gd name="connsiteY28" fmla="*/ 70492 h 446448"/>
              <a:gd name="connsiteX29" fmla="*/ 64594 w 446448"/>
              <a:gd name="connsiteY29" fmla="*/ 70492 h 446448"/>
              <a:gd name="connsiteX30" fmla="*/ 35246 w 446448"/>
              <a:gd name="connsiteY30" fmla="*/ 99910 h 446448"/>
              <a:gd name="connsiteX31" fmla="*/ 35246 w 446448"/>
              <a:gd name="connsiteY31" fmla="*/ 99916 h 446448"/>
              <a:gd name="connsiteX32" fmla="*/ 35246 w 446448"/>
              <a:gd name="connsiteY32" fmla="*/ 381773 h 446448"/>
              <a:gd name="connsiteX33" fmla="*/ 64523 w 446448"/>
              <a:gd name="connsiteY33" fmla="*/ 411203 h 446448"/>
              <a:gd name="connsiteX34" fmla="*/ 64594 w 446448"/>
              <a:gd name="connsiteY34" fmla="*/ 411203 h 446448"/>
              <a:gd name="connsiteX35" fmla="*/ 381855 w 446448"/>
              <a:gd name="connsiteY35" fmla="*/ 411203 h 446448"/>
              <a:gd name="connsiteX36" fmla="*/ 411203 w 446448"/>
              <a:gd name="connsiteY36" fmla="*/ 381785 h 446448"/>
              <a:gd name="connsiteX37" fmla="*/ 411203 w 446448"/>
              <a:gd name="connsiteY37" fmla="*/ 381779 h 446448"/>
              <a:gd name="connsiteX38" fmla="*/ 411203 w 446448"/>
              <a:gd name="connsiteY38" fmla="*/ 99922 h 446448"/>
              <a:gd name="connsiteX39" fmla="*/ 381926 w 446448"/>
              <a:gd name="connsiteY39" fmla="*/ 70492 h 446448"/>
              <a:gd name="connsiteX40" fmla="*/ 381855 w 446448"/>
              <a:gd name="connsiteY40" fmla="*/ 70492 h 446448"/>
              <a:gd name="connsiteX41" fmla="*/ 340711 w 446448"/>
              <a:gd name="connsiteY41" fmla="*/ 70492 h 446448"/>
              <a:gd name="connsiteX42" fmla="*/ 334837 w 446448"/>
              <a:gd name="connsiteY42" fmla="*/ 193853 h 446448"/>
              <a:gd name="connsiteX43" fmla="*/ 352460 w 446448"/>
              <a:gd name="connsiteY43" fmla="*/ 211476 h 446448"/>
              <a:gd name="connsiteX44" fmla="*/ 334837 w 446448"/>
              <a:gd name="connsiteY44" fmla="*/ 229099 h 446448"/>
              <a:gd name="connsiteX45" fmla="*/ 111612 w 446448"/>
              <a:gd name="connsiteY45" fmla="*/ 229099 h 446448"/>
              <a:gd name="connsiteX46" fmla="*/ 93989 w 446448"/>
              <a:gd name="connsiteY46" fmla="*/ 211476 h 446448"/>
              <a:gd name="connsiteX47" fmla="*/ 111612 w 446448"/>
              <a:gd name="connsiteY47" fmla="*/ 193853 h 446448"/>
              <a:gd name="connsiteX48" fmla="*/ 334837 w 446448"/>
              <a:gd name="connsiteY48" fmla="*/ 193853 h 446448"/>
              <a:gd name="connsiteX49" fmla="*/ 264345 w 446448"/>
              <a:gd name="connsiteY49" fmla="*/ 281968 h 446448"/>
              <a:gd name="connsiteX50" fmla="*/ 281968 w 446448"/>
              <a:gd name="connsiteY50" fmla="*/ 299591 h 446448"/>
              <a:gd name="connsiteX51" fmla="*/ 264345 w 446448"/>
              <a:gd name="connsiteY51" fmla="*/ 317214 h 446448"/>
              <a:gd name="connsiteX52" fmla="*/ 111612 w 446448"/>
              <a:gd name="connsiteY52" fmla="*/ 317214 h 446448"/>
              <a:gd name="connsiteX53" fmla="*/ 93989 w 446448"/>
              <a:gd name="connsiteY53" fmla="*/ 299591 h 446448"/>
              <a:gd name="connsiteX54" fmla="*/ 111612 w 446448"/>
              <a:gd name="connsiteY54" fmla="*/ 281968 h 446448"/>
              <a:gd name="connsiteX55" fmla="*/ 264345 w 446448"/>
              <a:gd name="connsiteY55" fmla="*/ 281968 h 446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446448" h="446448">
                <a:moveTo>
                  <a:pt x="340711" y="35246"/>
                </a:moveTo>
                <a:lnTo>
                  <a:pt x="381855" y="35246"/>
                </a:lnTo>
                <a:cubicBezTo>
                  <a:pt x="417547" y="35246"/>
                  <a:pt x="446449" y="64171"/>
                  <a:pt x="446449" y="99916"/>
                </a:cubicBezTo>
                <a:lnTo>
                  <a:pt x="446449" y="381773"/>
                </a:lnTo>
                <a:cubicBezTo>
                  <a:pt x="446449" y="417494"/>
                  <a:pt x="417536" y="446449"/>
                  <a:pt x="381855" y="446449"/>
                </a:cubicBezTo>
                <a:lnTo>
                  <a:pt x="64594" y="446449"/>
                </a:lnTo>
                <a:cubicBezTo>
                  <a:pt x="28902" y="446449"/>
                  <a:pt x="0" y="417524"/>
                  <a:pt x="0" y="381779"/>
                </a:cubicBezTo>
                <a:lnTo>
                  <a:pt x="0" y="99922"/>
                </a:lnTo>
                <a:cubicBezTo>
                  <a:pt x="0" y="64201"/>
                  <a:pt x="28913" y="35246"/>
                  <a:pt x="64594" y="35246"/>
                </a:cubicBezTo>
                <a:lnTo>
                  <a:pt x="105738" y="35246"/>
                </a:lnTo>
                <a:lnTo>
                  <a:pt x="105738" y="17623"/>
                </a:lnTo>
                <a:cubicBezTo>
                  <a:pt x="105738" y="7890"/>
                  <a:pt x="113628" y="0"/>
                  <a:pt x="123361" y="0"/>
                </a:cubicBezTo>
                <a:cubicBezTo>
                  <a:pt x="133094" y="0"/>
                  <a:pt x="140984" y="7890"/>
                  <a:pt x="140984" y="17623"/>
                </a:cubicBezTo>
                <a:lnTo>
                  <a:pt x="140984" y="35246"/>
                </a:lnTo>
                <a:lnTo>
                  <a:pt x="305465" y="35246"/>
                </a:lnTo>
                <a:lnTo>
                  <a:pt x="305465" y="17623"/>
                </a:lnTo>
                <a:cubicBezTo>
                  <a:pt x="305465" y="7890"/>
                  <a:pt x="313355" y="0"/>
                  <a:pt x="323088" y="0"/>
                </a:cubicBezTo>
                <a:cubicBezTo>
                  <a:pt x="332821" y="0"/>
                  <a:pt x="340711" y="7890"/>
                  <a:pt x="340711" y="17623"/>
                </a:cubicBezTo>
                <a:lnTo>
                  <a:pt x="340711" y="35246"/>
                </a:lnTo>
                <a:close/>
                <a:moveTo>
                  <a:pt x="340711" y="70492"/>
                </a:moveTo>
                <a:lnTo>
                  <a:pt x="340711" y="88115"/>
                </a:lnTo>
                <a:cubicBezTo>
                  <a:pt x="340711" y="97848"/>
                  <a:pt x="332821" y="105738"/>
                  <a:pt x="323088" y="105738"/>
                </a:cubicBezTo>
                <a:cubicBezTo>
                  <a:pt x="313355" y="105738"/>
                  <a:pt x="305465" y="97848"/>
                  <a:pt x="305465" y="88115"/>
                </a:cubicBezTo>
                <a:lnTo>
                  <a:pt x="305465" y="70492"/>
                </a:lnTo>
                <a:lnTo>
                  <a:pt x="140984" y="70492"/>
                </a:lnTo>
                <a:lnTo>
                  <a:pt x="140984" y="88115"/>
                </a:lnTo>
                <a:cubicBezTo>
                  <a:pt x="140984" y="97848"/>
                  <a:pt x="133094" y="105738"/>
                  <a:pt x="123361" y="105738"/>
                </a:cubicBezTo>
                <a:cubicBezTo>
                  <a:pt x="113628" y="105738"/>
                  <a:pt x="105738" y="97848"/>
                  <a:pt x="105738" y="88115"/>
                </a:cubicBezTo>
                <a:lnTo>
                  <a:pt x="105738" y="70492"/>
                </a:lnTo>
                <a:lnTo>
                  <a:pt x="64594" y="70492"/>
                </a:lnTo>
                <a:cubicBezTo>
                  <a:pt x="48366" y="70511"/>
                  <a:pt x="35226" y="83682"/>
                  <a:pt x="35246" y="99910"/>
                </a:cubicBezTo>
                <a:cubicBezTo>
                  <a:pt x="35246" y="99912"/>
                  <a:pt x="35246" y="99914"/>
                  <a:pt x="35246" y="99916"/>
                </a:cubicBezTo>
                <a:lnTo>
                  <a:pt x="35246" y="381773"/>
                </a:lnTo>
                <a:cubicBezTo>
                  <a:pt x="35204" y="397985"/>
                  <a:pt x="48312" y="411161"/>
                  <a:pt x="64523" y="411203"/>
                </a:cubicBezTo>
                <a:cubicBezTo>
                  <a:pt x="64547" y="411203"/>
                  <a:pt x="64571" y="411203"/>
                  <a:pt x="64594" y="411203"/>
                </a:cubicBezTo>
                <a:lnTo>
                  <a:pt x="381855" y="411203"/>
                </a:lnTo>
                <a:cubicBezTo>
                  <a:pt x="398083" y="411184"/>
                  <a:pt x="411223" y="398013"/>
                  <a:pt x="411203" y="381785"/>
                </a:cubicBezTo>
                <a:cubicBezTo>
                  <a:pt x="411203" y="381782"/>
                  <a:pt x="411203" y="381781"/>
                  <a:pt x="411203" y="381779"/>
                </a:cubicBezTo>
                <a:lnTo>
                  <a:pt x="411203" y="99922"/>
                </a:lnTo>
                <a:cubicBezTo>
                  <a:pt x="411245" y="83710"/>
                  <a:pt x="398137" y="70534"/>
                  <a:pt x="381926" y="70492"/>
                </a:cubicBezTo>
                <a:cubicBezTo>
                  <a:pt x="381902" y="70492"/>
                  <a:pt x="381878" y="70492"/>
                  <a:pt x="381855" y="70492"/>
                </a:cubicBezTo>
                <a:lnTo>
                  <a:pt x="340711" y="70492"/>
                </a:lnTo>
                <a:close/>
                <a:moveTo>
                  <a:pt x="334837" y="193853"/>
                </a:moveTo>
                <a:cubicBezTo>
                  <a:pt x="344570" y="193853"/>
                  <a:pt x="352460" y="201743"/>
                  <a:pt x="352460" y="211476"/>
                </a:cubicBezTo>
                <a:cubicBezTo>
                  <a:pt x="352460" y="221209"/>
                  <a:pt x="344570" y="229099"/>
                  <a:pt x="334837" y="229099"/>
                </a:cubicBezTo>
                <a:lnTo>
                  <a:pt x="111612" y="229099"/>
                </a:lnTo>
                <a:cubicBezTo>
                  <a:pt x="101879" y="229099"/>
                  <a:pt x="93989" y="221209"/>
                  <a:pt x="93989" y="211476"/>
                </a:cubicBezTo>
                <a:cubicBezTo>
                  <a:pt x="93989" y="201743"/>
                  <a:pt x="101879" y="193853"/>
                  <a:pt x="111612" y="193853"/>
                </a:cubicBezTo>
                <a:lnTo>
                  <a:pt x="334837" y="193853"/>
                </a:lnTo>
                <a:close/>
                <a:moveTo>
                  <a:pt x="264345" y="281968"/>
                </a:moveTo>
                <a:cubicBezTo>
                  <a:pt x="274078" y="281968"/>
                  <a:pt x="281968" y="289858"/>
                  <a:pt x="281968" y="299591"/>
                </a:cubicBezTo>
                <a:cubicBezTo>
                  <a:pt x="281968" y="309324"/>
                  <a:pt x="274078" y="317214"/>
                  <a:pt x="264345" y="317214"/>
                </a:cubicBezTo>
                <a:lnTo>
                  <a:pt x="111612" y="317214"/>
                </a:lnTo>
                <a:cubicBezTo>
                  <a:pt x="101879" y="317214"/>
                  <a:pt x="93989" y="309324"/>
                  <a:pt x="93989" y="299591"/>
                </a:cubicBezTo>
                <a:cubicBezTo>
                  <a:pt x="93989" y="289858"/>
                  <a:pt x="101879" y="281968"/>
                  <a:pt x="111612" y="281968"/>
                </a:cubicBezTo>
                <a:lnTo>
                  <a:pt x="264345" y="281968"/>
                </a:ln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accent3"/>
              </a:solidFill>
            </a:endParaRPr>
          </a:p>
        </p:txBody>
      </p:sp>
      <p:sp>
        <p:nvSpPr>
          <p:cNvPr id="123" name="椭圆4"/>
          <p:cNvSpPr/>
          <p:nvPr/>
        </p:nvSpPr>
        <p:spPr>
          <a:xfrm>
            <a:off x="3427925" y="1675553"/>
            <a:ext cx="551414" cy="523967"/>
          </a:xfrm>
          <a:custGeom>
            <a:avLst/>
            <a:gdLst>
              <a:gd name="connsiteX0" fmla="*/ 100163 w 469946"/>
              <a:gd name="connsiteY0" fmla="*/ 32234 h 446555"/>
              <a:gd name="connsiteX1" fmla="*/ 187673 w 469946"/>
              <a:gd name="connsiteY1" fmla="*/ 8284 h 446555"/>
              <a:gd name="connsiteX2" fmla="*/ 371828 w 469946"/>
              <a:gd name="connsiteY2" fmla="*/ 94742 h 446555"/>
              <a:gd name="connsiteX3" fmla="*/ 405329 w 469946"/>
              <a:gd name="connsiteY3" fmla="*/ 94742 h 446555"/>
              <a:gd name="connsiteX4" fmla="*/ 469947 w 469946"/>
              <a:gd name="connsiteY4" fmla="*/ 159243 h 446555"/>
              <a:gd name="connsiteX5" fmla="*/ 469947 w 469946"/>
              <a:gd name="connsiteY5" fmla="*/ 382056 h 446555"/>
              <a:gd name="connsiteX6" fmla="*/ 405329 w 469946"/>
              <a:gd name="connsiteY6" fmla="*/ 446556 h 446555"/>
              <a:gd name="connsiteX7" fmla="*/ 64618 w 469946"/>
              <a:gd name="connsiteY7" fmla="*/ 446556 h 446555"/>
              <a:gd name="connsiteX8" fmla="*/ 0 w 469946"/>
              <a:gd name="connsiteY8" fmla="*/ 382056 h 446555"/>
              <a:gd name="connsiteX9" fmla="*/ 0 w 469946"/>
              <a:gd name="connsiteY9" fmla="*/ 159243 h 446555"/>
              <a:gd name="connsiteX10" fmla="*/ 64066 w 469946"/>
              <a:gd name="connsiteY10" fmla="*/ 94748 h 446555"/>
              <a:gd name="connsiteX11" fmla="*/ 405329 w 469946"/>
              <a:gd name="connsiteY11" fmla="*/ 129924 h 446555"/>
              <a:gd name="connsiteX12" fmla="*/ 370271 w 469946"/>
              <a:gd name="connsiteY12" fmla="*/ 129936 h 446555"/>
              <a:gd name="connsiteX13" fmla="*/ 366088 w 469946"/>
              <a:gd name="connsiteY13" fmla="*/ 129936 h 446555"/>
              <a:gd name="connsiteX14" fmla="*/ 64618 w 469946"/>
              <a:gd name="connsiteY14" fmla="*/ 129930 h 446555"/>
              <a:gd name="connsiteX15" fmla="*/ 35246 w 469946"/>
              <a:gd name="connsiteY15" fmla="*/ 159243 h 446555"/>
              <a:gd name="connsiteX16" fmla="*/ 35246 w 469946"/>
              <a:gd name="connsiteY16" fmla="*/ 382056 h 446555"/>
              <a:gd name="connsiteX17" fmla="*/ 64612 w 469946"/>
              <a:gd name="connsiteY17" fmla="*/ 411375 h 446555"/>
              <a:gd name="connsiteX18" fmla="*/ 64618 w 469946"/>
              <a:gd name="connsiteY18" fmla="*/ 411375 h 446555"/>
              <a:gd name="connsiteX19" fmla="*/ 405329 w 469946"/>
              <a:gd name="connsiteY19" fmla="*/ 411375 h 446555"/>
              <a:gd name="connsiteX20" fmla="*/ 434701 w 469946"/>
              <a:gd name="connsiteY20" fmla="*/ 382062 h 446555"/>
              <a:gd name="connsiteX21" fmla="*/ 434701 w 469946"/>
              <a:gd name="connsiteY21" fmla="*/ 159243 h 446555"/>
              <a:gd name="connsiteX22" fmla="*/ 405335 w 469946"/>
              <a:gd name="connsiteY22" fmla="*/ 129924 h 446555"/>
              <a:gd name="connsiteX23" fmla="*/ 405329 w 469946"/>
              <a:gd name="connsiteY23" fmla="*/ 129924 h 446555"/>
              <a:gd name="connsiteX24" fmla="*/ 277674 w 469946"/>
              <a:gd name="connsiteY24" fmla="*/ 204745 h 446555"/>
              <a:gd name="connsiteX25" fmla="*/ 301007 w 469946"/>
              <a:gd name="connsiteY25" fmla="*/ 196010 h 446555"/>
              <a:gd name="connsiteX26" fmla="*/ 309775 w 469946"/>
              <a:gd name="connsiteY26" fmla="*/ 219268 h 446555"/>
              <a:gd name="connsiteX27" fmla="*/ 309759 w 469946"/>
              <a:gd name="connsiteY27" fmla="*/ 219302 h 446555"/>
              <a:gd name="connsiteX28" fmla="*/ 251016 w 469946"/>
              <a:gd name="connsiteY28" fmla="*/ 348302 h 446555"/>
              <a:gd name="connsiteX29" fmla="*/ 218930 w 469946"/>
              <a:gd name="connsiteY29" fmla="*/ 348302 h 446555"/>
              <a:gd name="connsiteX30" fmla="*/ 160187 w 469946"/>
              <a:gd name="connsiteY30" fmla="*/ 219302 h 446555"/>
              <a:gd name="connsiteX31" fmla="*/ 168907 w 469946"/>
              <a:gd name="connsiteY31" fmla="*/ 196025 h 446555"/>
              <a:gd name="connsiteX32" fmla="*/ 168940 w 469946"/>
              <a:gd name="connsiteY32" fmla="*/ 196010 h 446555"/>
              <a:gd name="connsiteX33" fmla="*/ 192273 w 469946"/>
              <a:gd name="connsiteY33" fmla="*/ 204745 h 446555"/>
              <a:gd name="connsiteX34" fmla="*/ 234973 w 469946"/>
              <a:gd name="connsiteY34" fmla="*/ 298505 h 446555"/>
              <a:gd name="connsiteX35" fmla="*/ 170784 w 469946"/>
              <a:gd name="connsiteY35" fmla="*/ 39153 h 446555"/>
              <a:gd name="connsiteX36" fmla="*/ 130690 w 469946"/>
              <a:gd name="connsiteY36" fmla="*/ 49850 h 446555"/>
              <a:gd name="connsiteX37" fmla="*/ 130687 w 469946"/>
              <a:gd name="connsiteY37" fmla="*/ 49857 h 446555"/>
              <a:gd name="connsiteX38" fmla="*/ 104769 w 469946"/>
              <a:gd name="connsiteY38" fmla="*/ 94742 h 446555"/>
              <a:gd name="connsiteX39" fmla="*/ 289047 w 469946"/>
              <a:gd name="connsiteY39" fmla="*/ 94742 h 446555"/>
              <a:gd name="connsiteX40" fmla="*/ 172106 w 469946"/>
              <a:gd name="connsiteY40" fmla="*/ 39847 h 446555"/>
              <a:gd name="connsiteX41" fmla="*/ 171436 w 469946"/>
              <a:gd name="connsiteY41" fmla="*/ 39512 h 446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469946" h="446555">
                <a:moveTo>
                  <a:pt x="100163" y="32234"/>
                </a:moveTo>
                <a:cubicBezTo>
                  <a:pt x="117845" y="1617"/>
                  <a:pt x="156874" y="-9004"/>
                  <a:pt x="187673" y="8284"/>
                </a:cubicBezTo>
                <a:lnTo>
                  <a:pt x="371828" y="94742"/>
                </a:lnTo>
                <a:lnTo>
                  <a:pt x="405329" y="94742"/>
                </a:lnTo>
                <a:cubicBezTo>
                  <a:pt x="441015" y="94742"/>
                  <a:pt x="469947" y="123627"/>
                  <a:pt x="469947" y="159243"/>
                </a:cubicBezTo>
                <a:lnTo>
                  <a:pt x="469947" y="382056"/>
                </a:lnTo>
                <a:cubicBezTo>
                  <a:pt x="469947" y="417678"/>
                  <a:pt x="441015" y="446556"/>
                  <a:pt x="405329" y="446556"/>
                </a:cubicBezTo>
                <a:lnTo>
                  <a:pt x="64618" y="446556"/>
                </a:lnTo>
                <a:cubicBezTo>
                  <a:pt x="28931" y="446556"/>
                  <a:pt x="0" y="417678"/>
                  <a:pt x="0" y="382056"/>
                </a:cubicBezTo>
                <a:lnTo>
                  <a:pt x="0" y="159243"/>
                </a:lnTo>
                <a:cubicBezTo>
                  <a:pt x="0" y="123808"/>
                  <a:pt x="28632" y="95048"/>
                  <a:pt x="64066" y="94748"/>
                </a:cubicBezTo>
                <a:close/>
                <a:moveTo>
                  <a:pt x="405329" y="129924"/>
                </a:moveTo>
                <a:lnTo>
                  <a:pt x="370271" y="129936"/>
                </a:lnTo>
                <a:cubicBezTo>
                  <a:pt x="368882" y="130102"/>
                  <a:pt x="367478" y="130102"/>
                  <a:pt x="366088" y="129936"/>
                </a:cubicBezTo>
                <a:lnTo>
                  <a:pt x="64618" y="129930"/>
                </a:lnTo>
                <a:cubicBezTo>
                  <a:pt x="48399" y="129930"/>
                  <a:pt x="35246" y="143053"/>
                  <a:pt x="35246" y="159243"/>
                </a:cubicBezTo>
                <a:lnTo>
                  <a:pt x="35246" y="382056"/>
                </a:lnTo>
                <a:cubicBezTo>
                  <a:pt x="35259" y="398261"/>
                  <a:pt x="48406" y="411388"/>
                  <a:pt x="64612" y="411375"/>
                </a:cubicBezTo>
                <a:cubicBezTo>
                  <a:pt x="64614" y="411375"/>
                  <a:pt x="64616" y="411375"/>
                  <a:pt x="64618" y="411375"/>
                </a:cubicBezTo>
                <a:lnTo>
                  <a:pt x="405329" y="411375"/>
                </a:lnTo>
                <a:cubicBezTo>
                  <a:pt x="421548" y="411375"/>
                  <a:pt x="434701" y="398251"/>
                  <a:pt x="434701" y="382062"/>
                </a:cubicBezTo>
                <a:lnTo>
                  <a:pt x="434701" y="159243"/>
                </a:lnTo>
                <a:cubicBezTo>
                  <a:pt x="434688" y="143037"/>
                  <a:pt x="421540" y="129911"/>
                  <a:pt x="405335" y="129924"/>
                </a:cubicBezTo>
                <a:cubicBezTo>
                  <a:pt x="405333" y="129924"/>
                  <a:pt x="405331" y="129924"/>
                  <a:pt x="405329" y="129924"/>
                </a:cubicBezTo>
                <a:close/>
                <a:moveTo>
                  <a:pt x="277674" y="204745"/>
                </a:moveTo>
                <a:cubicBezTo>
                  <a:pt x="281712" y="195897"/>
                  <a:pt x="292151" y="191990"/>
                  <a:pt x="301007" y="196010"/>
                </a:cubicBezTo>
                <a:cubicBezTo>
                  <a:pt x="309851" y="200011"/>
                  <a:pt x="313776" y="210425"/>
                  <a:pt x="309775" y="219268"/>
                </a:cubicBezTo>
                <a:cubicBezTo>
                  <a:pt x="309770" y="219279"/>
                  <a:pt x="309764" y="219291"/>
                  <a:pt x="309759" y="219302"/>
                </a:cubicBezTo>
                <a:lnTo>
                  <a:pt x="251016" y="348302"/>
                </a:lnTo>
                <a:cubicBezTo>
                  <a:pt x="244754" y="362048"/>
                  <a:pt x="225193" y="362048"/>
                  <a:pt x="218930" y="348302"/>
                </a:cubicBezTo>
                <a:lnTo>
                  <a:pt x="160187" y="219302"/>
                </a:lnTo>
                <a:cubicBezTo>
                  <a:pt x="156167" y="210466"/>
                  <a:pt x="160071" y="200045"/>
                  <a:pt x="168907" y="196025"/>
                </a:cubicBezTo>
                <a:cubicBezTo>
                  <a:pt x="168918" y="196020"/>
                  <a:pt x="168929" y="196015"/>
                  <a:pt x="168940" y="196010"/>
                </a:cubicBezTo>
                <a:cubicBezTo>
                  <a:pt x="177796" y="191990"/>
                  <a:pt x="188234" y="195897"/>
                  <a:pt x="192273" y="204745"/>
                </a:cubicBezTo>
                <a:lnTo>
                  <a:pt x="234973" y="298505"/>
                </a:lnTo>
                <a:close/>
                <a:moveTo>
                  <a:pt x="170784" y="39153"/>
                </a:moveTo>
                <a:cubicBezTo>
                  <a:pt x="156759" y="31035"/>
                  <a:pt x="138809" y="35824"/>
                  <a:pt x="130690" y="49850"/>
                </a:cubicBezTo>
                <a:cubicBezTo>
                  <a:pt x="130689" y="49852"/>
                  <a:pt x="130688" y="49854"/>
                  <a:pt x="130687" y="49857"/>
                </a:cubicBezTo>
                <a:lnTo>
                  <a:pt x="104769" y="94742"/>
                </a:lnTo>
                <a:lnTo>
                  <a:pt x="289047" y="94742"/>
                </a:lnTo>
                <a:lnTo>
                  <a:pt x="172106" y="39847"/>
                </a:lnTo>
                <a:cubicBezTo>
                  <a:pt x="171881" y="39740"/>
                  <a:pt x="171657" y="39628"/>
                  <a:pt x="171436" y="39512"/>
                </a:cubicBez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accent3"/>
              </a:solidFill>
            </a:endParaRPr>
          </a:p>
        </p:txBody>
      </p:sp>
      <p:pic>
        <p:nvPicPr>
          <p:cNvPr id="3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7465" y="2037080"/>
            <a:ext cx="5323840" cy="79629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"/>
          <p:cNvSpPr/>
          <p:nvPr/>
        </p:nvSpPr>
        <p:spPr>
          <a:xfrm>
            <a:off x="4500549" y="1019761"/>
            <a:ext cx="1198880" cy="398780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zh-CN" altLang="en-US" sz="2000" dirty="0">
                <a:solidFill>
                  <a:srgbClr val="595959"/>
                </a:solidFill>
                <a:latin typeface="+mj-ea"/>
                <a:ea typeface="思源黑体旧字形 Normal" panose="020B0400000000000000" pitchFamily="34" charset="-122"/>
                <a:cs typeface="Saturday Sans Regular" panose="02010600010101010101" charset="-122"/>
              </a:rPr>
              <a:t>获取</a:t>
            </a:r>
            <a:r>
              <a:rPr lang="zh-CN" altLang="en-US" sz="2000" dirty="0">
                <a:solidFill>
                  <a:srgbClr val="595959"/>
                </a:solidFill>
                <a:latin typeface="+mj-ea"/>
                <a:ea typeface="思源黑体旧字形 Normal" panose="020B0400000000000000" pitchFamily="34" charset="-122"/>
                <a:cs typeface="Saturday Sans Regular" panose="02010600010101010101" charset="-122"/>
              </a:rPr>
              <a:t>源码</a:t>
            </a:r>
            <a:endParaRPr lang="zh-CN" altLang="en-US" sz="2000" dirty="0">
              <a:solidFill>
                <a:srgbClr val="595959"/>
              </a:solidFill>
              <a:latin typeface="+mj-ea"/>
              <a:ea typeface="思源黑体旧字形 Normal" panose="020B0400000000000000" pitchFamily="34" charset="-122"/>
              <a:cs typeface="Saturday Sans Regular" panose="02010600010101010101" charset="-122"/>
            </a:endParaRPr>
          </a:p>
        </p:txBody>
      </p:sp>
      <p:pic>
        <p:nvPicPr>
          <p:cNvPr id="3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438" y="3812858"/>
            <a:ext cx="5272405" cy="880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图片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5155" y="6105525"/>
            <a:ext cx="5798820" cy="398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2764621" y="299849"/>
            <a:ext cx="6662758" cy="368935"/>
            <a:chOff x="2824480" y="299849"/>
            <a:chExt cx="6662758" cy="368935"/>
          </a:xfrm>
        </p:grpSpPr>
        <p:sp>
          <p:nvSpPr>
            <p:cNvPr id="43" name="TextBox 7"/>
            <p:cNvSpPr>
              <a:spLocks noChangeArrowheads="1"/>
            </p:cNvSpPr>
            <p:nvPr/>
          </p:nvSpPr>
          <p:spPr bwMode="auto">
            <a:xfrm>
              <a:off x="5078899" y="299849"/>
              <a:ext cx="2153920" cy="3689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>
                <a:defRPr/>
              </a:pPr>
              <a:r>
                <a:rPr lang="zh-CN" altLang="en-US" sz="2400" dirty="0">
                  <a:solidFill>
                    <a:srgbClr val="656565"/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  <a:sym typeface="+mn-ea"/>
                </a:rPr>
                <a:t>编译并更新内核</a:t>
              </a:r>
              <a:endParaRPr lang="zh-CN" altLang="en-US" sz="2400" dirty="0">
                <a:solidFill>
                  <a:srgbClr val="656565"/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</p:txBody>
        </p:sp>
        <p:grpSp>
          <p:nvGrpSpPr>
            <p:cNvPr id="45" name="组合 44"/>
            <p:cNvGrpSpPr/>
            <p:nvPr/>
          </p:nvGrpSpPr>
          <p:grpSpPr>
            <a:xfrm>
              <a:off x="2824480" y="407080"/>
              <a:ext cx="2121238" cy="154870"/>
              <a:chOff x="2410381" y="3917516"/>
              <a:chExt cx="2121238" cy="154870"/>
            </a:xfrm>
          </p:grpSpPr>
          <p:cxnSp>
            <p:nvCxnSpPr>
              <p:cNvPr id="46" name="直接连接符 45"/>
              <p:cNvCxnSpPr/>
              <p:nvPr/>
            </p:nvCxnSpPr>
            <p:spPr>
              <a:xfrm>
                <a:off x="2410381" y="3994951"/>
                <a:ext cx="1903392" cy="0"/>
              </a:xfrm>
              <a:prstGeom prst="line">
                <a:avLst/>
              </a:prstGeom>
              <a:ln>
                <a:solidFill>
                  <a:srgbClr val="7E7E7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椭圆 46"/>
              <p:cNvSpPr/>
              <p:nvPr/>
            </p:nvSpPr>
            <p:spPr>
              <a:xfrm>
                <a:off x="4376749" y="3917516"/>
                <a:ext cx="154870" cy="154870"/>
              </a:xfrm>
              <a:prstGeom prst="ellipse">
                <a:avLst/>
              </a:prstGeom>
              <a:solidFill>
                <a:srgbClr val="67B7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0" name="组合 49"/>
            <p:cNvGrpSpPr/>
            <p:nvPr/>
          </p:nvGrpSpPr>
          <p:grpSpPr>
            <a:xfrm flipH="1">
              <a:off x="7366000" y="407080"/>
              <a:ext cx="2121238" cy="154870"/>
              <a:chOff x="2410381" y="3917516"/>
              <a:chExt cx="2121238" cy="154870"/>
            </a:xfrm>
          </p:grpSpPr>
          <p:cxnSp>
            <p:nvCxnSpPr>
              <p:cNvPr id="51" name="直接连接符 50"/>
              <p:cNvCxnSpPr/>
              <p:nvPr/>
            </p:nvCxnSpPr>
            <p:spPr>
              <a:xfrm>
                <a:off x="2410381" y="3994951"/>
                <a:ext cx="1903392" cy="0"/>
              </a:xfrm>
              <a:prstGeom prst="line">
                <a:avLst/>
              </a:prstGeom>
              <a:ln>
                <a:solidFill>
                  <a:srgbClr val="7E7E7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椭圆 51"/>
              <p:cNvSpPr/>
              <p:nvPr/>
            </p:nvSpPr>
            <p:spPr>
              <a:xfrm>
                <a:off x="4376749" y="3917516"/>
                <a:ext cx="154870" cy="154870"/>
              </a:xfrm>
              <a:prstGeom prst="ellipse">
                <a:avLst/>
              </a:prstGeom>
              <a:solidFill>
                <a:srgbClr val="67B7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934064" y="1733395"/>
            <a:ext cx="10323872" cy="3915092"/>
            <a:chOff x="844237" y="1724518"/>
            <a:chExt cx="10323872" cy="3915092"/>
          </a:xfrm>
        </p:grpSpPr>
        <p:grpSp>
          <p:nvGrpSpPr>
            <p:cNvPr id="2" name="组合 1"/>
            <p:cNvGrpSpPr/>
            <p:nvPr/>
          </p:nvGrpSpPr>
          <p:grpSpPr>
            <a:xfrm>
              <a:off x="844237" y="1724518"/>
              <a:ext cx="10323872" cy="3915092"/>
              <a:chOff x="391476" y="1724518"/>
              <a:chExt cx="10323872" cy="3915092"/>
            </a:xfrm>
          </p:grpSpPr>
          <p:sp>
            <p:nvSpPr>
              <p:cNvPr id="10" name="矩形 9"/>
              <p:cNvSpPr/>
              <p:nvPr/>
            </p:nvSpPr>
            <p:spPr>
              <a:xfrm>
                <a:off x="3740472" y="5273338"/>
                <a:ext cx="6974876" cy="366272"/>
              </a:xfrm>
              <a:prstGeom prst="rect">
                <a:avLst/>
              </a:prstGeom>
              <a:solidFill>
                <a:srgbClr val="67B7E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tymie Std Light Italic" panose="02010600010101010101" charset="-122"/>
                  <a:ea typeface="Stymie Std Light Italic" panose="02010600010101010101" charset="-122"/>
                  <a:cs typeface="+mn-ea"/>
                  <a:sym typeface="+mn-lt"/>
                </a:endParaRPr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391476" y="1724518"/>
                <a:ext cx="5125618" cy="2752524"/>
              </a:xfrm>
              <a:prstGeom prst="rect">
                <a:avLst/>
              </a:prstGeom>
              <a:solidFill>
                <a:srgbClr val="67B7E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tymie Std Light Italic" panose="02010600010101010101" charset="-122"/>
                  <a:ea typeface="Stymie Std Light Italic" panose="02010600010101010101" charset="-122"/>
                  <a:cs typeface="+mn-ea"/>
                  <a:sym typeface="+mn-lt"/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616890" y="1971933"/>
                <a:ext cx="5993782" cy="3450575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rgbClr val="67B7E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tymie Std Light Italic" panose="02010600010101010101" charset="-122"/>
                  <a:ea typeface="Stymie Std Light Italic" panose="02010600010101010101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1412376" y="2354611"/>
              <a:ext cx="5308471" cy="2876594"/>
              <a:chOff x="1083681" y="1883701"/>
              <a:chExt cx="5308471" cy="2876594"/>
            </a:xfrm>
          </p:grpSpPr>
          <p:sp>
            <p:nvSpPr>
              <p:cNvPr id="20" name="椭圆 19"/>
              <p:cNvSpPr/>
              <p:nvPr/>
            </p:nvSpPr>
            <p:spPr>
              <a:xfrm>
                <a:off x="1083681" y="1883701"/>
                <a:ext cx="572602" cy="572602"/>
              </a:xfrm>
              <a:prstGeom prst="ellipse">
                <a:avLst/>
              </a:prstGeom>
              <a:solidFill>
                <a:srgbClr val="67B7E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anum Gothic" panose="020D0604000000000000" charset="-127"/>
                  <a:ea typeface="思源黑体 CN Normal"/>
                  <a:cs typeface="+mn-cs"/>
                </a:endParaRPr>
              </a:p>
            </p:txBody>
          </p:sp>
          <p:grpSp>
            <p:nvGrpSpPr>
              <p:cNvPr id="21" name="组合 20"/>
              <p:cNvGrpSpPr/>
              <p:nvPr/>
            </p:nvGrpSpPr>
            <p:grpSpPr>
              <a:xfrm>
                <a:off x="1098792" y="1973915"/>
                <a:ext cx="5293360" cy="2786380"/>
                <a:chOff x="393733" y="4588799"/>
                <a:chExt cx="5293360" cy="2786380"/>
              </a:xfrm>
            </p:grpSpPr>
            <p:sp>
              <p:nvSpPr>
                <p:cNvPr id="23" name="文本"/>
                <p:cNvSpPr/>
                <p:nvPr/>
              </p:nvSpPr>
              <p:spPr>
                <a:xfrm>
                  <a:off x="1061967" y="4588799"/>
                  <a:ext cx="4145280" cy="4603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2400" dirty="0">
                      <a:solidFill>
                        <a:srgbClr val="595959"/>
                      </a:solidFill>
                      <a:latin typeface="+mj-ea"/>
                      <a:ea typeface="思源黑体旧字形 Normal" panose="020B0400000000000000" pitchFamily="34" charset="-122"/>
                      <a:cs typeface="Saturday Sans Regular" panose="02010600010101010101" charset="-122"/>
                    </a:rPr>
                    <a:t>安装编译依赖工具</a:t>
                  </a:r>
                  <a:r>
                    <a:rPr lang="en-US" altLang="zh-CN" sz="2400" dirty="0">
                      <a:solidFill>
                        <a:srgbClr val="595959"/>
                      </a:solidFill>
                      <a:latin typeface="+mj-ea"/>
                      <a:ea typeface="思源黑体旧字形 Normal" panose="020B0400000000000000" pitchFamily="34" charset="-122"/>
                      <a:cs typeface="Saturday Sans Regular" panose="02010600010101010101" charset="-122"/>
                    </a:rPr>
                    <a:t>、</a:t>
                  </a:r>
                  <a:r>
                    <a:rPr lang="zh-CN" altLang="en-US" sz="2400" dirty="0">
                      <a:solidFill>
                        <a:srgbClr val="595959"/>
                      </a:solidFill>
                      <a:latin typeface="+mj-ea"/>
                      <a:ea typeface="思源黑体旧字形 Normal" panose="020B0400000000000000" pitchFamily="34" charset="-122"/>
                      <a:cs typeface="Saturday Sans Regular" panose="02010600010101010101" charset="-122"/>
                    </a:rPr>
                    <a:t>配置</a:t>
                  </a:r>
                  <a:r>
                    <a:rPr lang="zh-CN" altLang="en-US" sz="2400" dirty="0">
                      <a:solidFill>
                        <a:srgbClr val="595959"/>
                      </a:solidFill>
                      <a:latin typeface="+mj-ea"/>
                      <a:ea typeface="思源黑体旧字形 Normal" panose="020B0400000000000000" pitchFamily="34" charset="-122"/>
                      <a:cs typeface="Saturday Sans Regular" panose="02010600010101010101" charset="-122"/>
                    </a:rPr>
                    <a:t>内核</a:t>
                  </a:r>
                  <a:endParaRPr lang="zh-CN" altLang="en-US" sz="2400" dirty="0">
                    <a:solidFill>
                      <a:srgbClr val="595959"/>
                    </a:solidFill>
                    <a:latin typeface="+mj-ea"/>
                    <a:ea typeface="思源黑体旧字形 Normal" panose="020B0400000000000000" pitchFamily="34" charset="-122"/>
                    <a:cs typeface="Saturday Sans Regular" panose="02010600010101010101" charset="-122"/>
                  </a:endParaRPr>
                </a:p>
              </p:txBody>
            </p:sp>
            <p:sp>
              <p:nvSpPr>
                <p:cNvPr id="24" name="文本框 23"/>
                <p:cNvSpPr txBox="1"/>
                <p:nvPr/>
              </p:nvSpPr>
              <p:spPr>
                <a:xfrm>
                  <a:off x="393733" y="5094894"/>
                  <a:ext cx="5293360" cy="2280285"/>
                </a:xfrm>
                <a:prstGeom prst="rect">
                  <a:avLst/>
                </a:prstGeom>
              </p:spPr>
              <p:txBody>
                <a:bodyPr wrap="square">
                  <a:noAutofit/>
                  <a:scene3d>
                    <a:camera prst="orthographicFront"/>
                    <a:lightRig rig="threePt" dir="t"/>
                  </a:scene3d>
                  <a:sp3d contourW="12700"/>
                </a:bodyPr>
                <a:lstStyle>
                  <a:defPPr>
                    <a:defRPr lang="zh-CN"/>
                  </a:defPPr>
                  <a:lvl1pPr>
                    <a:lnSpc>
                      <a:spcPct val="130000"/>
                    </a:lnSpc>
                    <a:defRPr sz="140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微软雅黑" panose="020B0503020204020204" charset="-122"/>
                    </a:defRPr>
                  </a:lvl1pPr>
                </a:lstStyle>
                <a:p>
                  <a:pPr>
                    <a:lnSpc>
                      <a:spcPct val="150000"/>
                    </a:lnSpc>
                  </a:pP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安装编译依赖工具</a:t>
                  </a: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：sudo dnf install -y bc openssl-devel elfutils-libelf-devel flex bison ncurses-devel rsync</a:t>
                  </a:r>
                  <a:endPara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配置内核</a:t>
                  </a: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：</a:t>
                  </a:r>
                  <a:endPara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cp /boot/config-$(uname -r) .config</a:t>
                  </a:r>
                  <a:endPara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make menuconfig，</a:t>
                  </a: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在弹出界面配置</a:t>
                  </a: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内核</a:t>
                  </a:r>
                  <a:endPara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先</a:t>
                  </a: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Load</a:t>
                  </a: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载入原始</a:t>
                  </a: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.config</a:t>
                  </a: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配置</a:t>
                  </a:r>
                  <a:endPara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然后选择</a:t>
                  </a: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Save</a:t>
                  </a: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，生成了一个</a:t>
                  </a: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.config</a:t>
                  </a: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文件</a:t>
                  </a:r>
                  <a:endPara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完成内核配置，保存配置用于后续的内核编译操作</a:t>
                  </a:r>
                  <a:endPara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endParaRPr>
                </a:p>
              </p:txBody>
            </p:sp>
          </p:grpSp>
          <p:sp>
            <p:nvSpPr>
              <p:cNvPr id="22" name="椭圆1"/>
              <p:cNvSpPr/>
              <p:nvPr/>
            </p:nvSpPr>
            <p:spPr>
              <a:xfrm>
                <a:off x="1204481" y="2019966"/>
                <a:ext cx="311899" cy="268742"/>
              </a:xfrm>
              <a:custGeom>
                <a:avLst/>
                <a:gdLst>
                  <a:gd name="connsiteX0" fmla="*/ 124340 w 469943"/>
                  <a:gd name="connsiteY0" fmla="*/ 122210 h 404917"/>
                  <a:gd name="connsiteX1" fmla="*/ 212473 w 469943"/>
                  <a:gd name="connsiteY1" fmla="*/ 10885 h 404917"/>
                  <a:gd name="connsiteX2" fmla="*/ 252784 w 469943"/>
                  <a:gd name="connsiteY2" fmla="*/ 6199 h 404917"/>
                  <a:gd name="connsiteX3" fmla="*/ 257470 w 469943"/>
                  <a:gd name="connsiteY3" fmla="*/ 10885 h 404917"/>
                  <a:gd name="connsiteX4" fmla="*/ 345603 w 469943"/>
                  <a:gd name="connsiteY4" fmla="*/ 122210 h 404917"/>
                  <a:gd name="connsiteX5" fmla="*/ 429946 w 469943"/>
                  <a:gd name="connsiteY5" fmla="*/ 86065 h 404917"/>
                  <a:gd name="connsiteX6" fmla="*/ 467624 w 469943"/>
                  <a:gd name="connsiteY6" fmla="*/ 101141 h 404917"/>
                  <a:gd name="connsiteX7" fmla="*/ 469346 w 469943"/>
                  <a:gd name="connsiteY7" fmla="*/ 118268 h 404917"/>
                  <a:gd name="connsiteX8" fmla="*/ 420090 w 469943"/>
                  <a:gd name="connsiteY8" fmla="*/ 355591 h 404917"/>
                  <a:gd name="connsiteX9" fmla="*/ 359467 w 469943"/>
                  <a:gd name="connsiteY9" fmla="*/ 404918 h 404917"/>
                  <a:gd name="connsiteX10" fmla="*/ 110477 w 469943"/>
                  <a:gd name="connsiteY10" fmla="*/ 404918 h 404917"/>
                  <a:gd name="connsiteX11" fmla="*/ 49854 w 469943"/>
                  <a:gd name="connsiteY11" fmla="*/ 355591 h 404917"/>
                  <a:gd name="connsiteX12" fmla="*/ 603 w 469943"/>
                  <a:gd name="connsiteY12" fmla="*/ 118268 h 404917"/>
                  <a:gd name="connsiteX13" fmla="*/ 22876 w 469943"/>
                  <a:gd name="connsiteY13" fmla="*/ 84343 h 404917"/>
                  <a:gd name="connsiteX14" fmla="*/ 40002 w 469943"/>
                  <a:gd name="connsiteY14" fmla="*/ 86065 h 404917"/>
                  <a:gd name="connsiteX15" fmla="*/ 124346 w 469943"/>
                  <a:gd name="connsiteY15" fmla="*/ 122210 h 404917"/>
                  <a:gd name="connsiteX16" fmla="*/ 234972 w 469943"/>
                  <a:gd name="connsiteY16" fmla="*/ 39252 h 404917"/>
                  <a:gd name="connsiteX17" fmla="*/ 148866 w 469943"/>
                  <a:gd name="connsiteY17" fmla="*/ 148015 h 404917"/>
                  <a:gd name="connsiteX18" fmla="*/ 115065 w 469943"/>
                  <a:gd name="connsiteY18" fmla="*/ 156580 h 404917"/>
                  <a:gd name="connsiteX19" fmla="*/ 37664 w 469943"/>
                  <a:gd name="connsiteY19" fmla="*/ 123408 h 404917"/>
                  <a:gd name="connsiteX20" fmla="*/ 84365 w 469943"/>
                  <a:gd name="connsiteY20" fmla="*/ 348424 h 404917"/>
                  <a:gd name="connsiteX21" fmla="*/ 110471 w 469943"/>
                  <a:gd name="connsiteY21" fmla="*/ 369672 h 404917"/>
                  <a:gd name="connsiteX22" fmla="*/ 359472 w 469943"/>
                  <a:gd name="connsiteY22" fmla="*/ 369672 h 404917"/>
                  <a:gd name="connsiteX23" fmla="*/ 385578 w 469943"/>
                  <a:gd name="connsiteY23" fmla="*/ 348424 h 404917"/>
                  <a:gd name="connsiteX24" fmla="*/ 432279 w 469943"/>
                  <a:gd name="connsiteY24" fmla="*/ 123408 h 404917"/>
                  <a:gd name="connsiteX25" fmla="*/ 354879 w 469943"/>
                  <a:gd name="connsiteY25" fmla="*/ 156580 h 404917"/>
                  <a:gd name="connsiteX26" fmla="*/ 321078 w 469943"/>
                  <a:gd name="connsiteY26" fmla="*/ 148015 h 404917"/>
                  <a:gd name="connsiteX27" fmla="*/ 234972 w 469943"/>
                  <a:gd name="connsiteY27" fmla="*/ 39252 h 404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69943" h="404917">
                    <a:moveTo>
                      <a:pt x="124340" y="122210"/>
                    </a:moveTo>
                    <a:lnTo>
                      <a:pt x="212473" y="10885"/>
                    </a:lnTo>
                    <a:cubicBezTo>
                      <a:pt x="222311" y="-1541"/>
                      <a:pt x="240358" y="-3639"/>
                      <a:pt x="252784" y="6199"/>
                    </a:cubicBezTo>
                    <a:cubicBezTo>
                      <a:pt x="254522" y="7574"/>
                      <a:pt x="256094" y="9147"/>
                      <a:pt x="257470" y="10885"/>
                    </a:cubicBezTo>
                    <a:lnTo>
                      <a:pt x="345603" y="122210"/>
                    </a:lnTo>
                    <a:lnTo>
                      <a:pt x="429946" y="86065"/>
                    </a:lnTo>
                    <a:cubicBezTo>
                      <a:pt x="444515" y="79824"/>
                      <a:pt x="461384" y="86574"/>
                      <a:pt x="467624" y="101141"/>
                    </a:cubicBezTo>
                    <a:cubicBezTo>
                      <a:pt x="469937" y="106540"/>
                      <a:pt x="470538" y="112518"/>
                      <a:pt x="469346" y="118268"/>
                    </a:cubicBezTo>
                    <a:lnTo>
                      <a:pt x="420090" y="355591"/>
                    </a:lnTo>
                    <a:cubicBezTo>
                      <a:pt x="414125" y="384323"/>
                      <a:pt x="388810" y="404921"/>
                      <a:pt x="359467" y="404918"/>
                    </a:cubicBezTo>
                    <a:lnTo>
                      <a:pt x="110477" y="404918"/>
                    </a:lnTo>
                    <a:cubicBezTo>
                      <a:pt x="81133" y="404921"/>
                      <a:pt x="55818" y="384323"/>
                      <a:pt x="49854" y="355591"/>
                    </a:cubicBezTo>
                    <a:lnTo>
                      <a:pt x="603" y="118268"/>
                    </a:lnTo>
                    <a:cubicBezTo>
                      <a:pt x="-2614" y="102750"/>
                      <a:pt x="7358" y="87561"/>
                      <a:pt x="22876" y="84343"/>
                    </a:cubicBezTo>
                    <a:cubicBezTo>
                      <a:pt x="28627" y="83151"/>
                      <a:pt x="34604" y="83752"/>
                      <a:pt x="40002" y="86065"/>
                    </a:cubicBezTo>
                    <a:lnTo>
                      <a:pt x="124346" y="122210"/>
                    </a:lnTo>
                    <a:close/>
                    <a:moveTo>
                      <a:pt x="234972" y="39252"/>
                    </a:moveTo>
                    <a:lnTo>
                      <a:pt x="148866" y="148015"/>
                    </a:lnTo>
                    <a:cubicBezTo>
                      <a:pt x="140824" y="158173"/>
                      <a:pt x="126973" y="161683"/>
                      <a:pt x="115065" y="156580"/>
                    </a:cubicBezTo>
                    <a:lnTo>
                      <a:pt x="37664" y="123408"/>
                    </a:lnTo>
                    <a:lnTo>
                      <a:pt x="84365" y="348424"/>
                    </a:lnTo>
                    <a:cubicBezTo>
                      <a:pt x="86932" y="360798"/>
                      <a:pt x="97833" y="369671"/>
                      <a:pt x="110471" y="369672"/>
                    </a:cubicBezTo>
                    <a:lnTo>
                      <a:pt x="359472" y="369672"/>
                    </a:lnTo>
                    <a:cubicBezTo>
                      <a:pt x="372110" y="369671"/>
                      <a:pt x="383011" y="360798"/>
                      <a:pt x="385578" y="348424"/>
                    </a:cubicBezTo>
                    <a:lnTo>
                      <a:pt x="432279" y="123408"/>
                    </a:lnTo>
                    <a:lnTo>
                      <a:pt x="354879" y="156580"/>
                    </a:lnTo>
                    <a:cubicBezTo>
                      <a:pt x="342970" y="161683"/>
                      <a:pt x="329119" y="158173"/>
                      <a:pt x="321078" y="148015"/>
                    </a:cubicBezTo>
                    <a:lnTo>
                      <a:pt x="234972" y="39252"/>
                    </a:lnTo>
                    <a:close/>
                  </a:path>
                </a:pathLst>
              </a:cu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accent3"/>
                  </a:solidFill>
                </a:endParaRPr>
              </a:p>
            </p:txBody>
          </p:sp>
        </p:grpSp>
      </p:grpSp>
      <p:pic>
        <p:nvPicPr>
          <p:cNvPr id="4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0058" y="1502410"/>
            <a:ext cx="5272405" cy="3779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2764621" y="299849"/>
            <a:ext cx="6662758" cy="368935"/>
            <a:chOff x="2824480" y="299849"/>
            <a:chExt cx="6662758" cy="368935"/>
          </a:xfrm>
        </p:grpSpPr>
        <p:sp>
          <p:nvSpPr>
            <p:cNvPr id="43" name="TextBox 7"/>
            <p:cNvSpPr>
              <a:spLocks noChangeArrowheads="1"/>
            </p:cNvSpPr>
            <p:nvPr/>
          </p:nvSpPr>
          <p:spPr bwMode="auto">
            <a:xfrm>
              <a:off x="5078899" y="299849"/>
              <a:ext cx="2153920" cy="3689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>
                <a:defRPr/>
              </a:pPr>
              <a:r>
                <a:rPr lang="zh-CN" altLang="en-US" sz="2400" dirty="0">
                  <a:solidFill>
                    <a:srgbClr val="656565"/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  <a:sym typeface="+mn-ea"/>
                </a:rPr>
                <a:t>编译并更新内核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656565"/>
                </a:solidFill>
                <a:effectLst/>
                <a:uLnTx/>
                <a:uFillTx/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</p:txBody>
        </p:sp>
        <p:grpSp>
          <p:nvGrpSpPr>
            <p:cNvPr id="45" name="组合 44"/>
            <p:cNvGrpSpPr/>
            <p:nvPr/>
          </p:nvGrpSpPr>
          <p:grpSpPr>
            <a:xfrm>
              <a:off x="2824480" y="407080"/>
              <a:ext cx="2121238" cy="154870"/>
              <a:chOff x="2410381" y="3917516"/>
              <a:chExt cx="2121238" cy="154870"/>
            </a:xfrm>
          </p:grpSpPr>
          <p:cxnSp>
            <p:nvCxnSpPr>
              <p:cNvPr id="46" name="直接连接符 45"/>
              <p:cNvCxnSpPr/>
              <p:nvPr/>
            </p:nvCxnSpPr>
            <p:spPr>
              <a:xfrm>
                <a:off x="2410381" y="3994951"/>
                <a:ext cx="1903392" cy="0"/>
              </a:xfrm>
              <a:prstGeom prst="line">
                <a:avLst/>
              </a:prstGeom>
              <a:ln>
                <a:solidFill>
                  <a:srgbClr val="7E7E7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椭圆 46"/>
              <p:cNvSpPr/>
              <p:nvPr/>
            </p:nvSpPr>
            <p:spPr>
              <a:xfrm>
                <a:off x="4376749" y="3917516"/>
                <a:ext cx="154870" cy="154870"/>
              </a:xfrm>
              <a:prstGeom prst="ellipse">
                <a:avLst/>
              </a:prstGeom>
              <a:solidFill>
                <a:srgbClr val="67B7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0" name="组合 49"/>
            <p:cNvGrpSpPr/>
            <p:nvPr/>
          </p:nvGrpSpPr>
          <p:grpSpPr>
            <a:xfrm flipH="1">
              <a:off x="7366000" y="407080"/>
              <a:ext cx="2121238" cy="154870"/>
              <a:chOff x="2410381" y="3917516"/>
              <a:chExt cx="2121238" cy="154870"/>
            </a:xfrm>
          </p:grpSpPr>
          <p:cxnSp>
            <p:nvCxnSpPr>
              <p:cNvPr id="51" name="直接连接符 50"/>
              <p:cNvCxnSpPr/>
              <p:nvPr/>
            </p:nvCxnSpPr>
            <p:spPr>
              <a:xfrm>
                <a:off x="2410381" y="3994951"/>
                <a:ext cx="1903392" cy="0"/>
              </a:xfrm>
              <a:prstGeom prst="line">
                <a:avLst/>
              </a:prstGeom>
              <a:ln>
                <a:solidFill>
                  <a:srgbClr val="7E7E7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椭圆 51"/>
              <p:cNvSpPr/>
              <p:nvPr/>
            </p:nvSpPr>
            <p:spPr>
              <a:xfrm>
                <a:off x="4376749" y="3917516"/>
                <a:ext cx="154870" cy="154870"/>
              </a:xfrm>
              <a:prstGeom prst="ellipse">
                <a:avLst/>
              </a:prstGeom>
              <a:solidFill>
                <a:srgbClr val="67B7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989465" y="4224080"/>
            <a:ext cx="2997676" cy="964476"/>
            <a:chOff x="6410382" y="3895606"/>
            <a:chExt cx="2997676" cy="964476"/>
          </a:xfrm>
        </p:grpSpPr>
        <p:sp>
          <p:nvSpPr>
            <p:cNvPr id="19" name="文本"/>
            <p:cNvSpPr/>
            <p:nvPr/>
          </p:nvSpPr>
          <p:spPr>
            <a:xfrm>
              <a:off x="7309785" y="3895606"/>
              <a:ext cx="1198880" cy="3987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595959"/>
                  </a:solidFill>
                  <a:latin typeface="+mj-ea"/>
                  <a:ea typeface="思源黑体旧字形 Normal" panose="020B0400000000000000" pitchFamily="34" charset="-122"/>
                  <a:cs typeface="Saturday Sans Regular" panose="02010600010101010101" charset="-122"/>
                </a:rPr>
                <a:t>编译</a:t>
              </a:r>
              <a:r>
                <a:rPr lang="zh-CN" altLang="en-US" sz="2000" dirty="0">
                  <a:solidFill>
                    <a:srgbClr val="595959"/>
                  </a:solidFill>
                  <a:latin typeface="+mj-ea"/>
                  <a:ea typeface="思源黑体旧字形 Normal" panose="020B0400000000000000" pitchFamily="34" charset="-122"/>
                  <a:cs typeface="Saturday Sans Regular" panose="02010600010101010101" charset="-122"/>
                </a:rPr>
                <a:t>内核</a:t>
              </a:r>
              <a:endParaRPr lang="zh-CN" altLang="en-US" sz="2000" dirty="0">
                <a:solidFill>
                  <a:srgbClr val="595959"/>
                </a:solidFill>
                <a:latin typeface="+mj-ea"/>
                <a:ea typeface="思源黑体旧字形 Normal" panose="020B0400000000000000" pitchFamily="34" charset="-122"/>
                <a:cs typeface="Saturday Sans Regular" panose="02010600010101010101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6410382" y="4214922"/>
              <a:ext cx="2997676" cy="645160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>
                <a:lnSpc>
                  <a:spcPct val="130000"/>
                </a:lnSpc>
                <a:defRPr sz="140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  <a:sym typeface="+mn-ea"/>
                </a:rPr>
                <a:t>执行命令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  <a:sym typeface="+mn-ea"/>
                </a:rPr>
                <a:t>make -j$(nproc)，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  <a:sym typeface="+mn-ea"/>
                </a:rPr>
                <a:t>等待编译完成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4774327" y="4224080"/>
            <a:ext cx="2997676" cy="928281"/>
            <a:chOff x="6587547" y="3895606"/>
            <a:chExt cx="2997676" cy="928281"/>
          </a:xfrm>
        </p:grpSpPr>
        <p:sp>
          <p:nvSpPr>
            <p:cNvPr id="23" name="文本"/>
            <p:cNvSpPr/>
            <p:nvPr/>
          </p:nvSpPr>
          <p:spPr>
            <a:xfrm>
              <a:off x="7754281" y="3895606"/>
              <a:ext cx="309880" cy="3987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endParaRPr lang="zh-CN" altLang="en-US" sz="2000" dirty="0">
                <a:solidFill>
                  <a:srgbClr val="595959"/>
                </a:solidFill>
                <a:latin typeface="+mj-ea"/>
                <a:ea typeface="思源黑体旧字形 Normal" panose="020B0400000000000000" pitchFamily="34" charset="-122"/>
                <a:cs typeface="Saturday Sans Regular" panose="02010600010101010101" charset="-122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6587547" y="4178727"/>
              <a:ext cx="2997676" cy="645160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>
                <a:lnSpc>
                  <a:spcPct val="130000"/>
                </a:lnSpc>
                <a:defRPr sz="140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执行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make modules_install 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安装模块，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安装完成如上图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所示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8560556" y="4224080"/>
            <a:ext cx="2997676" cy="2031276"/>
            <a:chOff x="6624377" y="3895606"/>
            <a:chExt cx="2997676" cy="2031276"/>
          </a:xfrm>
        </p:grpSpPr>
        <p:sp>
          <p:nvSpPr>
            <p:cNvPr id="26" name="文本"/>
            <p:cNvSpPr/>
            <p:nvPr/>
          </p:nvSpPr>
          <p:spPr>
            <a:xfrm>
              <a:off x="7754281" y="3895606"/>
              <a:ext cx="309880" cy="3987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endParaRPr lang="zh-CN" altLang="en-US" sz="2000" dirty="0">
                <a:solidFill>
                  <a:srgbClr val="595959"/>
                </a:solidFill>
                <a:latin typeface="+mj-ea"/>
                <a:ea typeface="思源黑体旧字形 Normal" panose="020B0400000000000000" pitchFamily="34" charset="-122"/>
                <a:cs typeface="Saturday Sans Regular" panose="02010600010101010101" charset="-122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6624377" y="4173647"/>
              <a:ext cx="2997676" cy="175323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>
                <a:lnSpc>
                  <a:spcPct val="130000"/>
                </a:lnSpc>
                <a:defRPr sz="140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运行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make install 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安装内核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，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安装完成如上图所示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，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输入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“ls -lh /boot/vmlinuz* /boot/System.map*”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检查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/boot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目录确认文件生成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，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如图片所示：有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“vmlinuz-4.19.98”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和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“System.map-4.19.98”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文件，</a:t>
              </a:r>
              <a:r>
                <a:rPr lang="zh-CN" altLang="en-US" sz="1200" dirty="0">
                  <a:solidFill>
                    <a:srgbClr val="FF0000"/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安装成功</a:t>
              </a:r>
              <a:r>
                <a:rPr lang="en-US" altLang="zh-CN" sz="1200" dirty="0">
                  <a:solidFill>
                    <a:srgbClr val="FF0000"/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！</a:t>
              </a:r>
              <a:endParaRPr lang="en-US" altLang="zh-CN" sz="1200" dirty="0">
                <a:solidFill>
                  <a:srgbClr val="FF0000"/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</p:txBody>
        </p:sp>
      </p:grpSp>
      <p:pic>
        <p:nvPicPr>
          <p:cNvPr id="3" name="图片 30"/>
          <p:cNvPicPr>
            <a:picLocks noChangeAspect="1"/>
          </p:cNvPicPr>
          <p:nvPr/>
        </p:nvPicPr>
        <p:blipFill>
          <a:blip r:embed="rId1"/>
          <a:srcRect l="3746" t="8334"/>
          <a:stretch>
            <a:fillRect/>
          </a:stretch>
        </p:blipFill>
        <p:spPr>
          <a:xfrm>
            <a:off x="840740" y="1087755"/>
            <a:ext cx="3146425" cy="2852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图片 32"/>
          <p:cNvPicPr>
            <a:picLocks noChangeAspect="1"/>
          </p:cNvPicPr>
          <p:nvPr/>
        </p:nvPicPr>
        <p:blipFill>
          <a:blip r:embed="rId2"/>
          <a:srcRect b="10182"/>
          <a:stretch>
            <a:fillRect/>
          </a:stretch>
        </p:blipFill>
        <p:spPr>
          <a:xfrm>
            <a:off x="4465955" y="1080135"/>
            <a:ext cx="3473450" cy="2824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图片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20" y="1859280"/>
            <a:ext cx="4058920" cy="41973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3048000" y="422402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000" dirty="0">
                <a:solidFill>
                  <a:srgbClr val="595959"/>
                </a:solidFill>
                <a:latin typeface="+mj-ea"/>
                <a:ea typeface="思源黑体旧字形 Normal" panose="020B0400000000000000" pitchFamily="34" charset="-122"/>
                <a:cs typeface="Saturday Sans Regular" panose="02010600010101010101" charset="-122"/>
                <a:sym typeface="+mn-ea"/>
              </a:rPr>
              <a:t>安装模块</a:t>
            </a:r>
            <a:endParaRPr lang="zh-CN" altLang="en-US" sz="2000" dirty="0">
              <a:solidFill>
                <a:srgbClr val="595959"/>
              </a:solidFill>
              <a:latin typeface="+mj-ea"/>
              <a:ea typeface="思源黑体旧字形 Normal" panose="020B0400000000000000" pitchFamily="34" charset="-122"/>
              <a:cs typeface="Saturday Sans Regular" panose="0201060001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920865" y="422402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000" dirty="0">
                <a:solidFill>
                  <a:srgbClr val="595959"/>
                </a:solidFill>
                <a:latin typeface="+mj-ea"/>
                <a:ea typeface="思源黑体旧字形 Normal" panose="020B0400000000000000" pitchFamily="34" charset="-122"/>
                <a:cs typeface="Saturday Sans Regular" panose="02010600010101010101" charset="-122"/>
                <a:sym typeface="+mn-ea"/>
              </a:rPr>
              <a:t>安装内核</a:t>
            </a:r>
            <a:endParaRPr lang="zh-CN" altLang="en-US" sz="2000" dirty="0">
              <a:solidFill>
                <a:srgbClr val="595959"/>
              </a:solidFill>
              <a:latin typeface="+mj-ea"/>
              <a:ea typeface="思源黑体旧字形 Normal" panose="020B0400000000000000" pitchFamily="34" charset="-122"/>
              <a:cs typeface="Saturday Sans Regular" panose="02010600010101010101" charset="-122"/>
              <a:sym typeface="+mn-ea"/>
            </a:endParaRPr>
          </a:p>
        </p:txBody>
      </p:sp>
      <p:pic>
        <p:nvPicPr>
          <p:cNvPr id="55" name="图片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9405" y="2957195"/>
            <a:ext cx="4051935" cy="5880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2764621" y="299849"/>
            <a:ext cx="6662758" cy="368935"/>
            <a:chOff x="2824480" y="299849"/>
            <a:chExt cx="6662758" cy="368935"/>
          </a:xfrm>
        </p:grpSpPr>
        <p:sp>
          <p:nvSpPr>
            <p:cNvPr id="43" name="TextBox 7"/>
            <p:cNvSpPr>
              <a:spLocks noChangeArrowheads="1"/>
            </p:cNvSpPr>
            <p:nvPr/>
          </p:nvSpPr>
          <p:spPr bwMode="auto">
            <a:xfrm>
              <a:off x="5078899" y="299849"/>
              <a:ext cx="2153920" cy="3689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>
                <a:defRPr/>
              </a:pPr>
              <a:r>
                <a:rPr lang="zh-CN" altLang="en-US" sz="2400" dirty="0">
                  <a:solidFill>
                    <a:srgbClr val="656565"/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编译并更新</a:t>
              </a:r>
              <a:r>
                <a:rPr lang="zh-CN" altLang="en-US" sz="2400" dirty="0">
                  <a:solidFill>
                    <a:srgbClr val="656565"/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内核</a:t>
              </a:r>
              <a:endParaRPr lang="zh-CN" altLang="en-US" sz="2400" dirty="0">
                <a:solidFill>
                  <a:srgbClr val="656565"/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</p:txBody>
        </p:sp>
        <p:grpSp>
          <p:nvGrpSpPr>
            <p:cNvPr id="45" name="组合 44"/>
            <p:cNvGrpSpPr/>
            <p:nvPr/>
          </p:nvGrpSpPr>
          <p:grpSpPr>
            <a:xfrm>
              <a:off x="2824480" y="407080"/>
              <a:ext cx="2121238" cy="154870"/>
              <a:chOff x="2410381" y="3917516"/>
              <a:chExt cx="2121238" cy="154870"/>
            </a:xfrm>
          </p:grpSpPr>
          <p:cxnSp>
            <p:nvCxnSpPr>
              <p:cNvPr id="46" name="直接连接符 45"/>
              <p:cNvCxnSpPr/>
              <p:nvPr/>
            </p:nvCxnSpPr>
            <p:spPr>
              <a:xfrm>
                <a:off x="2410381" y="3994951"/>
                <a:ext cx="1903392" cy="0"/>
              </a:xfrm>
              <a:prstGeom prst="line">
                <a:avLst/>
              </a:prstGeom>
              <a:ln>
                <a:solidFill>
                  <a:srgbClr val="7E7E7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椭圆 46"/>
              <p:cNvSpPr/>
              <p:nvPr/>
            </p:nvSpPr>
            <p:spPr>
              <a:xfrm>
                <a:off x="4376749" y="3917516"/>
                <a:ext cx="154870" cy="154870"/>
              </a:xfrm>
              <a:prstGeom prst="ellipse">
                <a:avLst/>
              </a:prstGeom>
              <a:solidFill>
                <a:srgbClr val="67B7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0" name="组合 49"/>
            <p:cNvGrpSpPr/>
            <p:nvPr/>
          </p:nvGrpSpPr>
          <p:grpSpPr>
            <a:xfrm flipH="1">
              <a:off x="7366000" y="407080"/>
              <a:ext cx="2121238" cy="154870"/>
              <a:chOff x="2410381" y="3917516"/>
              <a:chExt cx="2121238" cy="154870"/>
            </a:xfrm>
          </p:grpSpPr>
          <p:cxnSp>
            <p:nvCxnSpPr>
              <p:cNvPr id="51" name="直接连接符 50"/>
              <p:cNvCxnSpPr/>
              <p:nvPr/>
            </p:nvCxnSpPr>
            <p:spPr>
              <a:xfrm>
                <a:off x="2410381" y="3994951"/>
                <a:ext cx="1903392" cy="0"/>
              </a:xfrm>
              <a:prstGeom prst="line">
                <a:avLst/>
              </a:prstGeom>
              <a:ln>
                <a:solidFill>
                  <a:srgbClr val="7E7E7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椭圆 51"/>
              <p:cNvSpPr/>
              <p:nvPr/>
            </p:nvSpPr>
            <p:spPr>
              <a:xfrm>
                <a:off x="4376749" y="3917516"/>
                <a:ext cx="154870" cy="154870"/>
              </a:xfrm>
              <a:prstGeom prst="ellipse">
                <a:avLst/>
              </a:prstGeom>
              <a:solidFill>
                <a:srgbClr val="67B7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pic>
        <p:nvPicPr>
          <p:cNvPr id="57" name="图片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98" y="1138873"/>
            <a:ext cx="5269865" cy="7918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组合 10"/>
          <p:cNvGrpSpPr/>
          <p:nvPr/>
        </p:nvGrpSpPr>
        <p:grpSpPr>
          <a:xfrm>
            <a:off x="782816" y="1204925"/>
            <a:ext cx="10513835" cy="4261736"/>
            <a:chOff x="782816" y="945891"/>
            <a:chExt cx="10513835" cy="4261736"/>
          </a:xfrm>
        </p:grpSpPr>
        <p:grpSp>
          <p:nvGrpSpPr>
            <p:cNvPr id="12" name="组合 11"/>
            <p:cNvGrpSpPr/>
            <p:nvPr/>
          </p:nvGrpSpPr>
          <p:grpSpPr>
            <a:xfrm>
              <a:off x="782816" y="945891"/>
              <a:ext cx="7319828" cy="4261736"/>
              <a:chOff x="782816" y="1150405"/>
              <a:chExt cx="7319828" cy="4261736"/>
            </a:xfrm>
          </p:grpSpPr>
          <p:sp>
            <p:nvSpPr>
              <p:cNvPr id="19" name="任意多边形: 形状 18"/>
              <p:cNvSpPr/>
              <p:nvPr/>
            </p:nvSpPr>
            <p:spPr>
              <a:xfrm>
                <a:off x="782816" y="3274788"/>
                <a:ext cx="4644922" cy="2137353"/>
              </a:xfrm>
              <a:custGeom>
                <a:avLst/>
                <a:gdLst>
                  <a:gd name="connsiteX0" fmla="*/ 0 w 11216868"/>
                  <a:gd name="connsiteY0" fmla="*/ 0 h 3771165"/>
                  <a:gd name="connsiteX1" fmla="*/ 4239250 w 11216868"/>
                  <a:gd name="connsiteY1" fmla="*/ 0 h 3771165"/>
                  <a:gd name="connsiteX2" fmla="*/ 4239250 w 11216868"/>
                  <a:gd name="connsiteY2" fmla="*/ 937962 h 3771165"/>
                  <a:gd name="connsiteX3" fmla="*/ 6961336 w 11216868"/>
                  <a:gd name="connsiteY3" fmla="*/ 937962 h 3771165"/>
                  <a:gd name="connsiteX4" fmla="*/ 6961336 w 11216868"/>
                  <a:gd name="connsiteY4" fmla="*/ 0 h 3771165"/>
                  <a:gd name="connsiteX5" fmla="*/ 11216868 w 11216868"/>
                  <a:gd name="connsiteY5" fmla="*/ 0 h 3771165"/>
                  <a:gd name="connsiteX6" fmla="*/ 11216868 w 11216868"/>
                  <a:gd name="connsiteY6" fmla="*/ 3771165 h 3771165"/>
                  <a:gd name="connsiteX7" fmla="*/ 0 w 11216868"/>
                  <a:gd name="connsiteY7" fmla="*/ 3771165 h 3771165"/>
                  <a:gd name="connsiteX8" fmla="*/ 0 w 11216868"/>
                  <a:gd name="connsiteY8" fmla="*/ 0 h 3771165"/>
                  <a:gd name="connsiteX0-1" fmla="*/ 0 w 11216868"/>
                  <a:gd name="connsiteY0-2" fmla="*/ 0 h 3771165"/>
                  <a:gd name="connsiteX1-3" fmla="*/ 4239250 w 11216868"/>
                  <a:gd name="connsiteY1-4" fmla="*/ 0 h 3771165"/>
                  <a:gd name="connsiteX2-5" fmla="*/ 6961336 w 11216868"/>
                  <a:gd name="connsiteY2-6" fmla="*/ 937962 h 3771165"/>
                  <a:gd name="connsiteX3-7" fmla="*/ 6961336 w 11216868"/>
                  <a:gd name="connsiteY3-8" fmla="*/ 0 h 3771165"/>
                  <a:gd name="connsiteX4-9" fmla="*/ 11216868 w 11216868"/>
                  <a:gd name="connsiteY4-10" fmla="*/ 0 h 3771165"/>
                  <a:gd name="connsiteX5-11" fmla="*/ 11216868 w 11216868"/>
                  <a:gd name="connsiteY5-12" fmla="*/ 3771165 h 3771165"/>
                  <a:gd name="connsiteX6-13" fmla="*/ 0 w 11216868"/>
                  <a:gd name="connsiteY6-14" fmla="*/ 3771165 h 3771165"/>
                  <a:gd name="connsiteX7-15" fmla="*/ 0 w 11216868"/>
                  <a:gd name="connsiteY7-16" fmla="*/ 0 h 3771165"/>
                  <a:gd name="connsiteX0-17" fmla="*/ 0 w 11216868"/>
                  <a:gd name="connsiteY0-18" fmla="*/ 0 h 3771165"/>
                  <a:gd name="connsiteX1-19" fmla="*/ 4239250 w 11216868"/>
                  <a:gd name="connsiteY1-20" fmla="*/ 0 h 3771165"/>
                  <a:gd name="connsiteX2-21" fmla="*/ 6961336 w 11216868"/>
                  <a:gd name="connsiteY2-22" fmla="*/ 0 h 3771165"/>
                  <a:gd name="connsiteX3-23" fmla="*/ 11216868 w 11216868"/>
                  <a:gd name="connsiteY3-24" fmla="*/ 0 h 3771165"/>
                  <a:gd name="connsiteX4-25" fmla="*/ 11216868 w 11216868"/>
                  <a:gd name="connsiteY4-26" fmla="*/ 3771165 h 3771165"/>
                  <a:gd name="connsiteX5-27" fmla="*/ 0 w 11216868"/>
                  <a:gd name="connsiteY5-28" fmla="*/ 3771165 h 3771165"/>
                  <a:gd name="connsiteX6-29" fmla="*/ 0 w 11216868"/>
                  <a:gd name="connsiteY6-30" fmla="*/ 0 h 3771165"/>
                  <a:gd name="connsiteX0-31" fmla="*/ 0 w 11216868"/>
                  <a:gd name="connsiteY0-32" fmla="*/ 0 h 3771165"/>
                  <a:gd name="connsiteX1-33" fmla="*/ 4239250 w 11216868"/>
                  <a:gd name="connsiteY1-34" fmla="*/ 0 h 3771165"/>
                  <a:gd name="connsiteX2-35" fmla="*/ 11216868 w 11216868"/>
                  <a:gd name="connsiteY2-36" fmla="*/ 0 h 3771165"/>
                  <a:gd name="connsiteX3-37" fmla="*/ 11216868 w 11216868"/>
                  <a:gd name="connsiteY3-38" fmla="*/ 3771165 h 3771165"/>
                  <a:gd name="connsiteX4-39" fmla="*/ 0 w 11216868"/>
                  <a:gd name="connsiteY4-40" fmla="*/ 3771165 h 3771165"/>
                  <a:gd name="connsiteX5-41" fmla="*/ 0 w 11216868"/>
                  <a:gd name="connsiteY5-42" fmla="*/ 0 h 3771165"/>
                  <a:gd name="connsiteX0-43" fmla="*/ 0 w 11216868"/>
                  <a:gd name="connsiteY0-44" fmla="*/ 0 h 3771165"/>
                  <a:gd name="connsiteX1-45" fmla="*/ 11216868 w 11216868"/>
                  <a:gd name="connsiteY1-46" fmla="*/ 0 h 3771165"/>
                  <a:gd name="connsiteX2-47" fmla="*/ 11216868 w 11216868"/>
                  <a:gd name="connsiteY2-48" fmla="*/ 3771165 h 3771165"/>
                  <a:gd name="connsiteX3-49" fmla="*/ 0 w 11216868"/>
                  <a:gd name="connsiteY3-50" fmla="*/ 3771165 h 3771165"/>
                  <a:gd name="connsiteX4-51" fmla="*/ 0 w 11216868"/>
                  <a:gd name="connsiteY4-52" fmla="*/ 0 h 3771165"/>
                  <a:gd name="connsiteX0-53" fmla="*/ 0 w 11216868"/>
                  <a:gd name="connsiteY0-54" fmla="*/ 0 h 3771165"/>
                  <a:gd name="connsiteX1-55" fmla="*/ 7371080 w 11216868"/>
                  <a:gd name="connsiteY1-56" fmla="*/ 0 h 3771165"/>
                  <a:gd name="connsiteX2-57" fmla="*/ 11216868 w 11216868"/>
                  <a:gd name="connsiteY2-58" fmla="*/ 0 h 3771165"/>
                  <a:gd name="connsiteX3-59" fmla="*/ 11216868 w 11216868"/>
                  <a:gd name="connsiteY3-60" fmla="*/ 3771165 h 3771165"/>
                  <a:gd name="connsiteX4-61" fmla="*/ 0 w 11216868"/>
                  <a:gd name="connsiteY4-62" fmla="*/ 3771165 h 3771165"/>
                  <a:gd name="connsiteX5-63" fmla="*/ 0 w 11216868"/>
                  <a:gd name="connsiteY5-64" fmla="*/ 0 h 3771165"/>
                  <a:gd name="connsiteX0-65" fmla="*/ 0 w 11216868"/>
                  <a:gd name="connsiteY0-66" fmla="*/ 26279 h 3797444"/>
                  <a:gd name="connsiteX1-67" fmla="*/ 7371080 w 11216868"/>
                  <a:gd name="connsiteY1-68" fmla="*/ 26279 h 3797444"/>
                  <a:gd name="connsiteX2-69" fmla="*/ 8235190 w 11216868"/>
                  <a:gd name="connsiteY2-70" fmla="*/ 0 h 3797444"/>
                  <a:gd name="connsiteX3-71" fmla="*/ 11216868 w 11216868"/>
                  <a:gd name="connsiteY3-72" fmla="*/ 26279 h 3797444"/>
                  <a:gd name="connsiteX4-73" fmla="*/ 11216868 w 11216868"/>
                  <a:gd name="connsiteY4-74" fmla="*/ 3797444 h 3797444"/>
                  <a:gd name="connsiteX5-75" fmla="*/ 0 w 11216868"/>
                  <a:gd name="connsiteY5-76" fmla="*/ 3797444 h 3797444"/>
                  <a:gd name="connsiteX6-77" fmla="*/ 0 w 11216868"/>
                  <a:gd name="connsiteY6-78" fmla="*/ 26279 h 3797444"/>
                  <a:gd name="connsiteX0-79" fmla="*/ 0 w 11216868"/>
                  <a:gd name="connsiteY0-80" fmla="*/ 0 h 3771165"/>
                  <a:gd name="connsiteX1-81" fmla="*/ 7371080 w 11216868"/>
                  <a:gd name="connsiteY1-82" fmla="*/ 0 h 3771165"/>
                  <a:gd name="connsiteX2-83" fmla="*/ 8235190 w 11216868"/>
                  <a:gd name="connsiteY2-84" fmla="*/ 0 h 3771165"/>
                  <a:gd name="connsiteX3-85" fmla="*/ 11216868 w 11216868"/>
                  <a:gd name="connsiteY3-86" fmla="*/ 0 h 3771165"/>
                  <a:gd name="connsiteX4-87" fmla="*/ 11216868 w 11216868"/>
                  <a:gd name="connsiteY4-88" fmla="*/ 3771165 h 3771165"/>
                  <a:gd name="connsiteX5-89" fmla="*/ 0 w 11216868"/>
                  <a:gd name="connsiteY5-90" fmla="*/ 3771165 h 3771165"/>
                  <a:gd name="connsiteX6-91" fmla="*/ 0 w 11216868"/>
                  <a:gd name="connsiteY6-92" fmla="*/ 0 h 3771165"/>
                  <a:gd name="connsiteX0-93" fmla="*/ 0 w 11216868"/>
                  <a:gd name="connsiteY0-94" fmla="*/ 0 h 3771165"/>
                  <a:gd name="connsiteX1-95" fmla="*/ 7371080 w 11216868"/>
                  <a:gd name="connsiteY1-96" fmla="*/ 0 h 3771165"/>
                  <a:gd name="connsiteX2-97" fmla="*/ 7833996 w 11216868"/>
                  <a:gd name="connsiteY2-98" fmla="*/ 0 h 3771165"/>
                  <a:gd name="connsiteX3-99" fmla="*/ 8235190 w 11216868"/>
                  <a:gd name="connsiteY3-100" fmla="*/ 0 h 3771165"/>
                  <a:gd name="connsiteX4-101" fmla="*/ 11216868 w 11216868"/>
                  <a:gd name="connsiteY4-102" fmla="*/ 0 h 3771165"/>
                  <a:gd name="connsiteX5-103" fmla="*/ 11216868 w 11216868"/>
                  <a:gd name="connsiteY5-104" fmla="*/ 3771165 h 3771165"/>
                  <a:gd name="connsiteX6-105" fmla="*/ 0 w 11216868"/>
                  <a:gd name="connsiteY6-106" fmla="*/ 3771165 h 3771165"/>
                  <a:gd name="connsiteX7-107" fmla="*/ 0 w 11216868"/>
                  <a:gd name="connsiteY7-108" fmla="*/ 0 h 3771165"/>
                  <a:gd name="connsiteX0-109" fmla="*/ 0 w 11216868"/>
                  <a:gd name="connsiteY0-110" fmla="*/ 420479 h 4191644"/>
                  <a:gd name="connsiteX1-111" fmla="*/ 7371080 w 11216868"/>
                  <a:gd name="connsiteY1-112" fmla="*/ 420479 h 4191644"/>
                  <a:gd name="connsiteX2-113" fmla="*/ 8235190 w 11216868"/>
                  <a:gd name="connsiteY2-114" fmla="*/ 0 h 4191644"/>
                  <a:gd name="connsiteX3-115" fmla="*/ 8235190 w 11216868"/>
                  <a:gd name="connsiteY3-116" fmla="*/ 420479 h 4191644"/>
                  <a:gd name="connsiteX4-117" fmla="*/ 11216868 w 11216868"/>
                  <a:gd name="connsiteY4-118" fmla="*/ 420479 h 4191644"/>
                  <a:gd name="connsiteX5-119" fmla="*/ 11216868 w 11216868"/>
                  <a:gd name="connsiteY5-120" fmla="*/ 4191644 h 4191644"/>
                  <a:gd name="connsiteX6-121" fmla="*/ 0 w 11216868"/>
                  <a:gd name="connsiteY6-122" fmla="*/ 4191644 h 4191644"/>
                  <a:gd name="connsiteX7-123" fmla="*/ 0 w 11216868"/>
                  <a:gd name="connsiteY7-124" fmla="*/ 420479 h 4191644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</a:cxnLst>
                <a:rect l="l" t="t" r="r" b="b"/>
                <a:pathLst>
                  <a:path w="11216868" h="4191644">
                    <a:moveTo>
                      <a:pt x="0" y="420479"/>
                    </a:moveTo>
                    <a:lnTo>
                      <a:pt x="7371080" y="420479"/>
                    </a:lnTo>
                    <a:lnTo>
                      <a:pt x="8235190" y="0"/>
                    </a:lnTo>
                    <a:lnTo>
                      <a:pt x="8235190" y="420479"/>
                    </a:lnTo>
                    <a:lnTo>
                      <a:pt x="11216868" y="420479"/>
                    </a:lnTo>
                    <a:lnTo>
                      <a:pt x="11216868" y="4191644"/>
                    </a:lnTo>
                    <a:lnTo>
                      <a:pt x="0" y="4191644"/>
                    </a:lnTo>
                    <a:lnTo>
                      <a:pt x="0" y="420479"/>
                    </a:lnTo>
                    <a:close/>
                  </a:path>
                </a:pathLst>
              </a:custGeom>
              <a:noFill/>
              <a:ln w="19050" cap="flat" cmpd="sng" algn="ctr">
                <a:solidFill>
                  <a:srgbClr val="67B7E2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endParaRPr>
              </a:p>
            </p:txBody>
          </p:sp>
          <p:sp>
            <p:nvSpPr>
              <p:cNvPr id="21" name="椭圆 20"/>
              <p:cNvSpPr/>
              <p:nvPr/>
            </p:nvSpPr>
            <p:spPr>
              <a:xfrm rot="5400000">
                <a:off x="6001507" y="1188869"/>
                <a:ext cx="2094751" cy="2094752"/>
              </a:xfrm>
              <a:prstGeom prst="ellipse">
                <a:avLst/>
              </a:prstGeom>
              <a:solidFill>
                <a:schemeClr val="bg1">
                  <a:lumMod val="65000"/>
                  <a:alpha val="2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 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endParaRPr>
              </a:p>
            </p:txBody>
          </p:sp>
          <p:sp>
            <p:nvSpPr>
              <p:cNvPr id="22" name="椭圆 21"/>
              <p:cNvSpPr/>
              <p:nvPr/>
            </p:nvSpPr>
            <p:spPr>
              <a:xfrm rot="5400000">
                <a:off x="6056041" y="1281792"/>
                <a:ext cx="2046603" cy="2046603"/>
              </a:xfrm>
              <a:prstGeom prst="ellipse">
                <a:avLst/>
              </a:prstGeom>
              <a:solidFill>
                <a:srgbClr val="67B7E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endParaRPr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6405199" y="1944713"/>
                <a:ext cx="1697370" cy="5530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5000"/>
                  </a:lnSpc>
                </a:pPr>
                <a:r>
                  <a:rPr lang="zh-CN" altLang="en-US" sz="2400" b="1" dirty="0">
                    <a:solidFill>
                      <a:srgbClr val="FFFFFF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重启</a:t>
                </a:r>
                <a:r>
                  <a:rPr lang="zh-CN" altLang="en-US" sz="2400" b="1" dirty="0">
                    <a:solidFill>
                      <a:srgbClr val="FFFFFF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验证</a:t>
                </a:r>
                <a:endParaRPr lang="zh-CN" altLang="en-US" sz="2400" b="1" dirty="0">
                  <a:solidFill>
                    <a:srgbClr val="FFFFFF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endParaRPr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4177720" y="1150405"/>
                <a:ext cx="2042860" cy="2042859"/>
              </a:xfrm>
              <a:prstGeom prst="ellipse">
                <a:avLst/>
              </a:prstGeom>
              <a:solidFill>
                <a:srgbClr val="3B424C">
                  <a:alpha val="1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 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endParaRPr>
              </a:p>
            </p:txBody>
          </p:sp>
          <p:sp>
            <p:nvSpPr>
              <p:cNvPr id="25" name="椭圆 24"/>
              <p:cNvSpPr/>
              <p:nvPr/>
            </p:nvSpPr>
            <p:spPr>
              <a:xfrm>
                <a:off x="4183152" y="1248773"/>
                <a:ext cx="2042234" cy="2042232"/>
              </a:xfrm>
              <a:prstGeom prst="ellipse">
                <a:avLst/>
              </a:prstGeom>
              <a:solidFill>
                <a:srgbClr val="67B7E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pitchFamily="34" charset="-122"/>
                  <a:ea typeface="思源黑体 CN Normal" panose="020B0400000000000000" pitchFamily="34" charset="-122"/>
                </a:endParaRPr>
              </a:p>
            </p:txBody>
          </p:sp>
          <p:sp>
            <p:nvSpPr>
              <p:cNvPr id="26" name="矩形 25"/>
              <p:cNvSpPr/>
              <p:nvPr/>
            </p:nvSpPr>
            <p:spPr>
              <a:xfrm>
                <a:off x="4358670" y="1944641"/>
                <a:ext cx="1697370" cy="5530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5000"/>
                  </a:lnSpc>
                </a:pPr>
                <a:r>
                  <a:rPr lang="zh-CN" altLang="en-US" sz="2400" b="1" dirty="0">
                    <a:solidFill>
                      <a:srgbClr val="FFFFFF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引导更新</a:t>
                </a:r>
                <a:endParaRPr lang="zh-CN" altLang="en-US" sz="2400" b="1" dirty="0">
                  <a:solidFill>
                    <a:srgbClr val="FFFFFF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endParaRP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6764262" y="4167906"/>
              <a:ext cx="4532389" cy="680453"/>
              <a:chOff x="4489691" y="1343414"/>
              <a:chExt cx="4532389" cy="680453"/>
            </a:xfrm>
          </p:grpSpPr>
          <p:sp>
            <p:nvSpPr>
              <p:cNvPr id="17" name="文本"/>
              <p:cNvSpPr txBox="1"/>
              <p:nvPr/>
            </p:nvSpPr>
            <p:spPr>
              <a:xfrm>
                <a:off x="4493584" y="1343414"/>
                <a:ext cx="309880" cy="3987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zh-CN" altLang="en-US" sz="20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 flipH="1">
                <a:off x="4489691" y="1655567"/>
                <a:ext cx="4532389" cy="368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endPara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endParaRP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 flipH="1">
              <a:off x="838841" y="3334519"/>
              <a:ext cx="4532630" cy="1724025"/>
              <a:chOff x="4489691" y="510027"/>
              <a:chExt cx="4532630" cy="1724025"/>
            </a:xfrm>
          </p:grpSpPr>
          <p:sp>
            <p:nvSpPr>
              <p:cNvPr id="15" name="文本"/>
              <p:cNvSpPr txBox="1"/>
              <p:nvPr/>
            </p:nvSpPr>
            <p:spPr>
              <a:xfrm>
                <a:off x="5907253" y="1343414"/>
                <a:ext cx="309880" cy="3987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endParaRPr lang="zh-CN" altLang="en-US" sz="20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 flipH="1">
                <a:off x="4489691" y="510027"/>
                <a:ext cx="4532630" cy="1724025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rPr>
                  <a:t>在安装完成新内核后，为使系统能够正确引导至新版本内核，需要重新生成</a:t>
                </a:r>
                <a:r>
                  <a: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rPr>
                  <a:t> GRUB </a:t>
                </a:r>
                <a:r>
                  <a: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rPr>
                  <a:t>启动引导配置文件。执行</a:t>
                </a:r>
                <a:r>
                  <a: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rPr>
                  <a:t> sudo grub2-mkconfig -o /boot/grub2/grub.cfg </a:t>
                </a:r>
                <a:r>
                  <a: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rPr>
                  <a:t>命令会自动将新安装的内核添加到启动菜单中。随后通过</a:t>
                </a:r>
                <a:r>
                  <a: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rPr>
                  <a:t> sudo grub2-set-default 0 </a:t>
                </a:r>
                <a:r>
                  <a: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rPr>
                  <a:t>将新内核设为默认启动项。最后，执行</a:t>
                </a:r>
                <a:r>
                  <a: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rPr>
                  <a:t> sudo reboot </a:t>
                </a:r>
                <a:r>
                  <a: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rPr>
                  <a:t>重启系统</a:t>
                </a:r>
                <a:r>
                  <a: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rPr>
                  <a:t>，</a:t>
                </a:r>
                <a:r>
                  <a: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rPr>
                  <a:t>系统将在下一次引导中加载新内核</a:t>
                </a:r>
                <a:endPara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endParaRPr>
              </a:p>
            </p:txBody>
          </p:sp>
        </p:grpSp>
      </p:grpSp>
      <p:pic>
        <p:nvPicPr>
          <p:cNvPr id="58" name="图片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" y="2820988"/>
            <a:ext cx="5270500" cy="29273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00965" y="2449830"/>
            <a:ext cx="45326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执行</a:t>
            </a:r>
            <a:r>
              <a:rPr lang="en-US" altLang="zh-CN" sz="1600"/>
              <a:t>uname -a</a:t>
            </a:r>
            <a:r>
              <a:rPr lang="zh-CN" altLang="en-US" sz="1600"/>
              <a:t>指令，好于之后的新内核做对比</a:t>
            </a:r>
            <a:endParaRPr lang="zh-CN" altLang="en-US" sz="1600"/>
          </a:p>
        </p:txBody>
      </p:sp>
      <p:sp>
        <p:nvSpPr>
          <p:cNvPr id="3" name="文本框 2"/>
          <p:cNvSpPr txBox="1"/>
          <p:nvPr/>
        </p:nvSpPr>
        <p:spPr>
          <a:xfrm>
            <a:off x="294640" y="8286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更新引导</a:t>
            </a:r>
            <a:r>
              <a:rPr lang="en-US" altLang="zh-CN"/>
              <a:t>：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7638415" y="130302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然后重启系统就可以看到多个内核，其中一个就是我们新安装的内核：</a:t>
            </a:r>
            <a:r>
              <a:rPr lang="en-US" altLang="zh-CN"/>
              <a:t>openEuler (4.19.90) 20.03 (LTS)</a:t>
            </a:r>
            <a:endParaRPr lang="en-US" altLang="zh-CN"/>
          </a:p>
        </p:txBody>
      </p:sp>
      <p:pic>
        <p:nvPicPr>
          <p:cNvPr id="59" name="图片 38"/>
          <p:cNvPicPr>
            <a:picLocks noChangeAspect="1"/>
          </p:cNvPicPr>
          <p:nvPr/>
        </p:nvPicPr>
        <p:blipFill>
          <a:blip r:embed="rId3"/>
          <a:srcRect l="3726" t="4376" r="5743" b="11327"/>
          <a:stretch>
            <a:fillRect/>
          </a:stretch>
        </p:blipFill>
        <p:spPr>
          <a:xfrm>
            <a:off x="7078028" y="2455863"/>
            <a:ext cx="4772025" cy="276542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6405245" y="554037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登录新内核后，执行</a:t>
            </a:r>
            <a:r>
              <a:rPr lang="en-US" altLang="zh-CN"/>
              <a:t>uname -a，</a:t>
            </a:r>
            <a:r>
              <a:rPr lang="zh-CN" altLang="en-US"/>
              <a:t>发现是新内核</a:t>
            </a:r>
            <a:r>
              <a:rPr lang="zh-CN" altLang="en-US"/>
              <a:t>了</a:t>
            </a:r>
            <a:endParaRPr lang="zh-CN" altLang="en-US"/>
          </a:p>
        </p:txBody>
      </p:sp>
      <p:pic>
        <p:nvPicPr>
          <p:cNvPr id="60" name="图片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5540" y="6177598"/>
            <a:ext cx="5273040" cy="43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12192000" cy="3426738"/>
          </a:xfrm>
          <a:prstGeom prst="rect">
            <a:avLst/>
          </a:prstGeom>
          <a:solidFill>
            <a:srgbClr val="F8FD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任意多边形: 形状 51"/>
          <p:cNvSpPr/>
          <p:nvPr/>
        </p:nvSpPr>
        <p:spPr>
          <a:xfrm>
            <a:off x="9377644" y="1"/>
            <a:ext cx="2862214" cy="2083273"/>
          </a:xfrm>
          <a:custGeom>
            <a:avLst/>
            <a:gdLst>
              <a:gd name="connsiteX0" fmla="*/ 0 w 2862214"/>
              <a:gd name="connsiteY0" fmla="*/ 0 h 2083273"/>
              <a:gd name="connsiteX1" fmla="*/ 2862214 w 2862214"/>
              <a:gd name="connsiteY1" fmla="*/ 0 h 2083273"/>
              <a:gd name="connsiteX2" fmla="*/ 2862214 w 2862214"/>
              <a:gd name="connsiteY2" fmla="*/ 1889566 h 2083273"/>
              <a:gd name="connsiteX3" fmla="*/ 2767048 w 2862214"/>
              <a:gd name="connsiteY3" fmla="*/ 1934668 h 2083273"/>
              <a:gd name="connsiteX4" fmla="*/ 2023899 w 2862214"/>
              <a:gd name="connsiteY4" fmla="*/ 2083273 h 2083273"/>
              <a:gd name="connsiteX5" fmla="*/ 7639 w 2862214"/>
              <a:gd name="connsiteY5" fmla="*/ 159906 h 208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62214" h="2083273">
                <a:moveTo>
                  <a:pt x="0" y="0"/>
                </a:moveTo>
                <a:lnTo>
                  <a:pt x="2862214" y="0"/>
                </a:lnTo>
                <a:lnTo>
                  <a:pt x="2862214" y="1889566"/>
                </a:lnTo>
                <a:lnTo>
                  <a:pt x="2767048" y="1934668"/>
                </a:lnTo>
                <a:cubicBezTo>
                  <a:pt x="2536943" y="2030583"/>
                  <a:pt x="2286242" y="2083273"/>
                  <a:pt x="2023899" y="2083273"/>
                </a:cubicBezTo>
                <a:cubicBezTo>
                  <a:pt x="974528" y="2083273"/>
                  <a:pt x="111427" y="1240232"/>
                  <a:pt x="7639" y="159906"/>
                </a:cubicBezTo>
                <a:close/>
              </a:path>
            </a:pathLst>
          </a:custGeom>
          <a:solidFill>
            <a:srgbClr val="67B7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 flipH="1" flipV="1">
            <a:off x="0" y="3431262"/>
            <a:ext cx="12192000" cy="3426738"/>
            <a:chOff x="0" y="0"/>
            <a:chExt cx="12192000" cy="3426738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134"/>
            <a:stretch>
              <a:fillRect/>
            </a:stretch>
          </p:blipFill>
          <p:spPr>
            <a:xfrm>
              <a:off x="1484512" y="0"/>
              <a:ext cx="10707488" cy="3426738"/>
            </a:xfrm>
            <a:prstGeom prst="rect">
              <a:avLst/>
            </a:prstGeom>
          </p:spPr>
        </p:pic>
        <p:sp>
          <p:nvSpPr>
            <p:cNvPr id="15" name="矩形 14"/>
            <p:cNvSpPr/>
            <p:nvPr/>
          </p:nvSpPr>
          <p:spPr>
            <a:xfrm>
              <a:off x="0" y="0"/>
              <a:ext cx="2341038" cy="3426738"/>
            </a:xfrm>
            <a:prstGeom prst="rect">
              <a:avLst/>
            </a:prstGeom>
            <a:solidFill>
              <a:srgbClr val="F8F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矩形 21"/>
          <p:cNvSpPr/>
          <p:nvPr/>
        </p:nvSpPr>
        <p:spPr>
          <a:xfrm>
            <a:off x="1325732" y="1029811"/>
            <a:ext cx="9540536" cy="479838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8100" sx="102000" sy="102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2" name="组合 41"/>
          <p:cNvGrpSpPr/>
          <p:nvPr/>
        </p:nvGrpSpPr>
        <p:grpSpPr>
          <a:xfrm>
            <a:off x="3012770" y="2083273"/>
            <a:ext cx="6215380" cy="2329354"/>
            <a:chOff x="3012769" y="2278582"/>
            <a:chExt cx="6215380" cy="2329354"/>
          </a:xfrm>
        </p:grpSpPr>
        <p:sp>
          <p:nvSpPr>
            <p:cNvPr id="43" name="TextBox 7"/>
            <p:cNvSpPr>
              <a:spLocks noChangeArrowheads="1"/>
            </p:cNvSpPr>
            <p:nvPr/>
          </p:nvSpPr>
          <p:spPr bwMode="auto">
            <a:xfrm>
              <a:off x="3012769" y="2984067"/>
              <a:ext cx="6215380" cy="923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>
                <a:defRPr/>
              </a:pPr>
              <a:r>
                <a:rPr lang="zh-CN" altLang="en-US" sz="6000" dirty="0">
                  <a:solidFill>
                    <a:srgbClr val="656565"/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  <a:sym typeface="+mn-ea"/>
                </a:rPr>
                <a:t>基础操作系统实验</a:t>
              </a:r>
              <a:endParaRPr lang="zh-CN" altLang="en-US" sz="6000" dirty="0">
                <a:solidFill>
                  <a:srgbClr val="656565"/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</p:txBody>
        </p:sp>
        <p:grpSp>
          <p:nvGrpSpPr>
            <p:cNvPr id="45" name="组合 44"/>
            <p:cNvGrpSpPr/>
            <p:nvPr/>
          </p:nvGrpSpPr>
          <p:grpSpPr>
            <a:xfrm>
              <a:off x="3714628" y="3997513"/>
              <a:ext cx="4762743" cy="610423"/>
              <a:chOff x="1227299" y="4480711"/>
              <a:chExt cx="4762743" cy="610423"/>
            </a:xfrm>
          </p:grpSpPr>
          <p:sp>
            <p:nvSpPr>
              <p:cNvPr id="47" name="文本框 46"/>
              <p:cNvSpPr txBox="1"/>
              <p:nvPr/>
            </p:nvSpPr>
            <p:spPr>
              <a:xfrm>
                <a:off x="1227299" y="4538049"/>
                <a:ext cx="4762743" cy="553085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华文细黑" panose="02010600040101010101" charset="-122"/>
                    <a:ea typeface="华文细黑" panose="02010600040101010101" charset="-122"/>
                    <a:sym typeface="微软雅黑"/>
                  </a:rPr>
                  <a:t>1.</a:t>
                </a:r>
                <a:r>
                  <a:rPr kumimoji="0" lang="zh-CN" alt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华文细黑" panose="02010600040101010101" charset="-122"/>
                    <a:ea typeface="华文细黑" panose="02010600040101010101" charset="-122"/>
                    <a:sym typeface="微软雅黑"/>
                  </a:rPr>
                  <a:t>内核模块</a:t>
                </a:r>
                <a:r>
                  <a:rPr kumimoji="0" lang="zh-CN" alt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华文细黑" panose="02010600040101010101" charset="-122"/>
                    <a:ea typeface="华文细黑" panose="02010600040101010101" charset="-122"/>
                    <a:sym typeface="微软雅黑"/>
                  </a:rPr>
                  <a:t>编程</a:t>
                </a:r>
                <a:endPara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华文细黑" panose="02010600040101010101" charset="-122"/>
                  <a:ea typeface="华文细黑" panose="02010600040101010101" charset="-122"/>
                  <a:sym typeface="微软雅黑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华文细黑" panose="02010600040101010101" charset="-122"/>
                    <a:ea typeface="华文细黑" panose="02010600040101010101" charset="-122"/>
                    <a:sym typeface="微软雅黑"/>
                  </a:rPr>
                  <a:t>2.</a:t>
                </a:r>
                <a:r>
                  <a:rPr kumimoji="0" lang="zh-CN" alt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华文细黑" panose="02010600040101010101" charset="-122"/>
                    <a:ea typeface="华文细黑" panose="02010600040101010101" charset="-122"/>
                    <a:sym typeface="微软雅黑"/>
                  </a:rPr>
                  <a:t>内存管理</a:t>
                </a:r>
                <a:endPara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华文细黑" panose="02010600040101010101" charset="-122"/>
                  <a:ea typeface="华文细黑" panose="02010600040101010101" charset="-122"/>
                  <a:sym typeface="微软雅黑"/>
                </a:endParaRPr>
              </a:p>
            </p:txBody>
          </p:sp>
          <p:cxnSp>
            <p:nvCxnSpPr>
              <p:cNvPr id="48" name="直接连接符 47"/>
              <p:cNvCxnSpPr/>
              <p:nvPr/>
            </p:nvCxnSpPr>
            <p:spPr>
              <a:xfrm>
                <a:off x="1277257" y="4480711"/>
                <a:ext cx="4615131" cy="0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46" name="TextBox 7"/>
            <p:cNvSpPr>
              <a:spLocks noChangeArrowheads="1"/>
            </p:cNvSpPr>
            <p:nvPr/>
          </p:nvSpPr>
          <p:spPr bwMode="auto">
            <a:xfrm>
              <a:off x="4858327" y="2278582"/>
              <a:ext cx="2475344" cy="6771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400" b="0" i="0" u="none" strike="noStrike" kern="0" cap="none" spc="0" normalizeH="0" baseline="0" noProof="0" dirty="0">
                  <a:ln>
                    <a:noFill/>
                  </a:ln>
                  <a:solidFill>
                    <a:srgbClr val="67B7E2"/>
                  </a:solidFill>
                  <a:effectLst/>
                  <a:uLnTx/>
                  <a:uFillTx/>
                  <a:latin typeface="思源黑体旧字形 Normal" panose="020B0400000000000000" pitchFamily="34" charset="-122"/>
                  <a:ea typeface="思源黑体旧字形 Normal" panose="020B0400000000000000" pitchFamily="34" charset="-122"/>
                  <a:cs typeface="+mn-ea"/>
                  <a:sym typeface="+mn-lt"/>
                </a:rPr>
                <a:t>PART.03</a:t>
              </a:r>
              <a:endPara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67B7E2"/>
                </a:solidFill>
                <a:effectLst/>
                <a:uLnTx/>
                <a:uFillTx/>
                <a:latin typeface="思源黑体旧字形 Normal" panose="020B0400000000000000" pitchFamily="34" charset="-122"/>
                <a:ea typeface="思源黑体旧字形 Normal" panose="020B0400000000000000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2764621" y="299849"/>
            <a:ext cx="6662758" cy="368935"/>
            <a:chOff x="2824480" y="299849"/>
            <a:chExt cx="6662758" cy="368935"/>
          </a:xfrm>
        </p:grpSpPr>
        <p:sp>
          <p:nvSpPr>
            <p:cNvPr id="43" name="TextBox 7"/>
            <p:cNvSpPr>
              <a:spLocks noChangeArrowheads="1"/>
            </p:cNvSpPr>
            <p:nvPr/>
          </p:nvSpPr>
          <p:spPr bwMode="auto">
            <a:xfrm>
              <a:off x="5078899" y="299849"/>
              <a:ext cx="2153920" cy="3689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>
                <a:defRPr/>
              </a:pPr>
              <a:r>
                <a:rPr lang="zh-CN" altLang="en-US" sz="2400" dirty="0">
                  <a:solidFill>
                    <a:srgbClr val="656565"/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内核模块</a:t>
              </a:r>
              <a:r>
                <a:rPr lang="zh-CN" altLang="en-US" sz="2400" dirty="0">
                  <a:solidFill>
                    <a:srgbClr val="656565"/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编程</a:t>
              </a:r>
              <a:endParaRPr lang="zh-CN" altLang="en-US" sz="2400" dirty="0">
                <a:solidFill>
                  <a:srgbClr val="656565"/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</p:txBody>
        </p:sp>
        <p:grpSp>
          <p:nvGrpSpPr>
            <p:cNvPr id="45" name="组合 44"/>
            <p:cNvGrpSpPr/>
            <p:nvPr/>
          </p:nvGrpSpPr>
          <p:grpSpPr>
            <a:xfrm>
              <a:off x="2824480" y="407080"/>
              <a:ext cx="2121238" cy="154870"/>
              <a:chOff x="2410381" y="3917516"/>
              <a:chExt cx="2121238" cy="154870"/>
            </a:xfrm>
          </p:grpSpPr>
          <p:cxnSp>
            <p:nvCxnSpPr>
              <p:cNvPr id="46" name="直接连接符 45"/>
              <p:cNvCxnSpPr/>
              <p:nvPr/>
            </p:nvCxnSpPr>
            <p:spPr>
              <a:xfrm>
                <a:off x="2410381" y="3994951"/>
                <a:ext cx="1903392" cy="0"/>
              </a:xfrm>
              <a:prstGeom prst="line">
                <a:avLst/>
              </a:prstGeom>
              <a:ln>
                <a:solidFill>
                  <a:srgbClr val="7E7E7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椭圆 46"/>
              <p:cNvSpPr/>
              <p:nvPr/>
            </p:nvSpPr>
            <p:spPr>
              <a:xfrm>
                <a:off x="4376749" y="3917516"/>
                <a:ext cx="154870" cy="154870"/>
              </a:xfrm>
              <a:prstGeom prst="ellipse">
                <a:avLst/>
              </a:prstGeom>
              <a:solidFill>
                <a:srgbClr val="67B7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0" name="组合 49"/>
            <p:cNvGrpSpPr/>
            <p:nvPr/>
          </p:nvGrpSpPr>
          <p:grpSpPr>
            <a:xfrm flipH="1">
              <a:off x="7366000" y="407080"/>
              <a:ext cx="2121238" cy="154870"/>
              <a:chOff x="2410381" y="3917516"/>
              <a:chExt cx="2121238" cy="154870"/>
            </a:xfrm>
          </p:grpSpPr>
          <p:cxnSp>
            <p:nvCxnSpPr>
              <p:cNvPr id="51" name="直接连接符 50"/>
              <p:cNvCxnSpPr/>
              <p:nvPr/>
            </p:nvCxnSpPr>
            <p:spPr>
              <a:xfrm>
                <a:off x="2410381" y="3994951"/>
                <a:ext cx="1903392" cy="0"/>
              </a:xfrm>
              <a:prstGeom prst="line">
                <a:avLst/>
              </a:prstGeom>
              <a:ln>
                <a:solidFill>
                  <a:srgbClr val="7E7E7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椭圆 51"/>
              <p:cNvSpPr/>
              <p:nvPr/>
            </p:nvSpPr>
            <p:spPr>
              <a:xfrm>
                <a:off x="4376749" y="3917516"/>
                <a:ext cx="154870" cy="154870"/>
              </a:xfrm>
              <a:prstGeom prst="ellipse">
                <a:avLst/>
              </a:prstGeom>
              <a:solidFill>
                <a:srgbClr val="67B7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934064" y="1733395"/>
            <a:ext cx="10323872" cy="3915092"/>
            <a:chOff x="844237" y="1724518"/>
            <a:chExt cx="10323872" cy="3915092"/>
          </a:xfrm>
        </p:grpSpPr>
        <p:grpSp>
          <p:nvGrpSpPr>
            <p:cNvPr id="2" name="组合 1"/>
            <p:cNvGrpSpPr/>
            <p:nvPr/>
          </p:nvGrpSpPr>
          <p:grpSpPr>
            <a:xfrm>
              <a:off x="844237" y="1724518"/>
              <a:ext cx="10323872" cy="3915092"/>
              <a:chOff x="391476" y="1724518"/>
              <a:chExt cx="10323872" cy="3915092"/>
            </a:xfrm>
          </p:grpSpPr>
          <p:sp>
            <p:nvSpPr>
              <p:cNvPr id="10" name="矩形 9"/>
              <p:cNvSpPr/>
              <p:nvPr/>
            </p:nvSpPr>
            <p:spPr>
              <a:xfrm>
                <a:off x="3740472" y="5273338"/>
                <a:ext cx="6974876" cy="366272"/>
              </a:xfrm>
              <a:prstGeom prst="rect">
                <a:avLst/>
              </a:prstGeom>
              <a:solidFill>
                <a:srgbClr val="67B7E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tymie Std Light Italic" panose="02010600010101010101" charset="-122"/>
                  <a:ea typeface="Stymie Std Light Italic" panose="02010600010101010101" charset="-122"/>
                  <a:cs typeface="+mn-ea"/>
                  <a:sym typeface="+mn-lt"/>
                </a:endParaRPr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391476" y="1724518"/>
                <a:ext cx="5125618" cy="2752524"/>
              </a:xfrm>
              <a:prstGeom prst="rect">
                <a:avLst/>
              </a:prstGeom>
              <a:solidFill>
                <a:srgbClr val="67B7E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tymie Std Light Italic" panose="02010600010101010101" charset="-122"/>
                  <a:ea typeface="Stymie Std Light Italic" panose="02010600010101010101" charset="-122"/>
                  <a:cs typeface="+mn-ea"/>
                  <a:sym typeface="+mn-lt"/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616890" y="1971933"/>
                <a:ext cx="5993782" cy="3450575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rgbClr val="67B7E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tymie Std Light Italic" panose="02010600010101010101" charset="-122"/>
                  <a:ea typeface="Stymie Std Light Italic" panose="02010600010101010101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1412376" y="2354611"/>
              <a:ext cx="5308471" cy="2843574"/>
              <a:chOff x="1083681" y="1883701"/>
              <a:chExt cx="5308471" cy="2843574"/>
            </a:xfrm>
          </p:grpSpPr>
          <p:sp>
            <p:nvSpPr>
              <p:cNvPr id="20" name="椭圆 19"/>
              <p:cNvSpPr/>
              <p:nvPr/>
            </p:nvSpPr>
            <p:spPr>
              <a:xfrm>
                <a:off x="1083681" y="1883701"/>
                <a:ext cx="572602" cy="572602"/>
              </a:xfrm>
              <a:prstGeom prst="ellipse">
                <a:avLst/>
              </a:prstGeom>
              <a:solidFill>
                <a:srgbClr val="67B7E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anum Gothic" panose="020D0604000000000000" charset="-127"/>
                  <a:ea typeface="思源黑体 CN Normal"/>
                  <a:cs typeface="+mn-cs"/>
                </a:endParaRPr>
              </a:p>
            </p:txBody>
          </p:sp>
          <p:grpSp>
            <p:nvGrpSpPr>
              <p:cNvPr id="21" name="组合 20"/>
              <p:cNvGrpSpPr/>
              <p:nvPr/>
            </p:nvGrpSpPr>
            <p:grpSpPr>
              <a:xfrm>
                <a:off x="1098792" y="1973915"/>
                <a:ext cx="5293360" cy="2753360"/>
                <a:chOff x="393733" y="4588799"/>
                <a:chExt cx="5293360" cy="2753360"/>
              </a:xfrm>
            </p:grpSpPr>
            <p:sp>
              <p:nvSpPr>
                <p:cNvPr id="23" name="文本"/>
                <p:cNvSpPr/>
                <p:nvPr/>
              </p:nvSpPr>
              <p:spPr>
                <a:xfrm>
                  <a:off x="1061967" y="4588799"/>
                  <a:ext cx="1402080" cy="4603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2400" dirty="0">
                      <a:solidFill>
                        <a:srgbClr val="595959"/>
                      </a:solidFill>
                      <a:latin typeface="+mj-ea"/>
                      <a:ea typeface="思源黑体旧字形 Normal" panose="020B0400000000000000" pitchFamily="34" charset="-122"/>
                      <a:cs typeface="Saturday Sans Regular" panose="02010600010101010101" charset="-122"/>
                    </a:rPr>
                    <a:t>环境准备</a:t>
                  </a:r>
                  <a:endParaRPr lang="zh-CN" altLang="en-US" sz="2400" dirty="0">
                    <a:solidFill>
                      <a:srgbClr val="595959"/>
                    </a:solidFill>
                    <a:latin typeface="+mj-ea"/>
                    <a:ea typeface="思源黑体旧字形 Normal" panose="020B0400000000000000" pitchFamily="34" charset="-122"/>
                    <a:cs typeface="Saturday Sans Regular" panose="02010600010101010101" charset="-122"/>
                  </a:endParaRPr>
                </a:p>
              </p:txBody>
            </p:sp>
            <p:sp>
              <p:nvSpPr>
                <p:cNvPr id="24" name="文本框 23"/>
                <p:cNvSpPr txBox="1"/>
                <p:nvPr/>
              </p:nvSpPr>
              <p:spPr>
                <a:xfrm>
                  <a:off x="393733" y="5094894"/>
                  <a:ext cx="5293360" cy="2247265"/>
                </a:xfrm>
                <a:prstGeom prst="rect">
                  <a:avLst/>
                </a:prstGeom>
              </p:spPr>
              <p:txBody>
                <a:bodyPr wrap="square">
                  <a:noAutofit/>
                  <a:scene3d>
                    <a:camera prst="orthographicFront"/>
                    <a:lightRig rig="threePt" dir="t"/>
                  </a:scene3d>
                  <a:sp3d contourW="12700"/>
                </a:bodyPr>
                <a:lstStyle>
                  <a:defPPr>
                    <a:defRPr lang="zh-CN"/>
                  </a:defPPr>
                  <a:lvl1pPr>
                    <a:lnSpc>
                      <a:spcPct val="130000"/>
                    </a:lnSpc>
                    <a:defRPr sz="140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微软雅黑" panose="020B0503020204020204" charset="-122"/>
                    </a:defRPr>
                  </a:lvl1pPr>
                </a:lstStyle>
                <a:p>
                  <a:pPr>
                    <a:lnSpc>
                      <a:spcPct val="150000"/>
                    </a:lnSpc>
                  </a:pP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安装</a:t>
                  </a: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C</a:t>
                  </a: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语言编译器、</a:t>
                  </a: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make </a:t>
                  </a: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工具、以及与当前内核版本对应的内核开发头文件</a:t>
                  </a: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 sudo dnf install gcc make kernel-devel-$(uname -r) -y</a:t>
                  </a:r>
                  <a:endPara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endParaRPr>
                </a:p>
                <a:p>
                  <a:pPr>
                    <a:lnSpc>
                      <a:spcPct val="150000"/>
                    </a:lnSpc>
                  </a:pPr>
                  <a:endPara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为管理内核模块实验相关的源代码与构建文件，在用户主目录下创建内核模块编程专用目录</a:t>
                  </a: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 kernel_lab</a:t>
                  </a: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，并立即进入该目录。</a:t>
                  </a:r>
                  <a:endPara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mkdir ~/kernel_lab &amp;&amp; cd ~/kernel_lab</a:t>
                  </a:r>
                  <a:endPara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endParaRPr>
                </a:p>
              </p:txBody>
            </p:sp>
          </p:grpSp>
          <p:sp>
            <p:nvSpPr>
              <p:cNvPr id="22" name="椭圆1"/>
              <p:cNvSpPr/>
              <p:nvPr/>
            </p:nvSpPr>
            <p:spPr>
              <a:xfrm>
                <a:off x="1204481" y="2019966"/>
                <a:ext cx="311899" cy="268742"/>
              </a:xfrm>
              <a:custGeom>
                <a:avLst/>
                <a:gdLst>
                  <a:gd name="connsiteX0" fmla="*/ 124340 w 469943"/>
                  <a:gd name="connsiteY0" fmla="*/ 122210 h 404917"/>
                  <a:gd name="connsiteX1" fmla="*/ 212473 w 469943"/>
                  <a:gd name="connsiteY1" fmla="*/ 10885 h 404917"/>
                  <a:gd name="connsiteX2" fmla="*/ 252784 w 469943"/>
                  <a:gd name="connsiteY2" fmla="*/ 6199 h 404917"/>
                  <a:gd name="connsiteX3" fmla="*/ 257470 w 469943"/>
                  <a:gd name="connsiteY3" fmla="*/ 10885 h 404917"/>
                  <a:gd name="connsiteX4" fmla="*/ 345603 w 469943"/>
                  <a:gd name="connsiteY4" fmla="*/ 122210 h 404917"/>
                  <a:gd name="connsiteX5" fmla="*/ 429946 w 469943"/>
                  <a:gd name="connsiteY5" fmla="*/ 86065 h 404917"/>
                  <a:gd name="connsiteX6" fmla="*/ 467624 w 469943"/>
                  <a:gd name="connsiteY6" fmla="*/ 101141 h 404917"/>
                  <a:gd name="connsiteX7" fmla="*/ 469346 w 469943"/>
                  <a:gd name="connsiteY7" fmla="*/ 118268 h 404917"/>
                  <a:gd name="connsiteX8" fmla="*/ 420090 w 469943"/>
                  <a:gd name="connsiteY8" fmla="*/ 355591 h 404917"/>
                  <a:gd name="connsiteX9" fmla="*/ 359467 w 469943"/>
                  <a:gd name="connsiteY9" fmla="*/ 404918 h 404917"/>
                  <a:gd name="connsiteX10" fmla="*/ 110477 w 469943"/>
                  <a:gd name="connsiteY10" fmla="*/ 404918 h 404917"/>
                  <a:gd name="connsiteX11" fmla="*/ 49854 w 469943"/>
                  <a:gd name="connsiteY11" fmla="*/ 355591 h 404917"/>
                  <a:gd name="connsiteX12" fmla="*/ 603 w 469943"/>
                  <a:gd name="connsiteY12" fmla="*/ 118268 h 404917"/>
                  <a:gd name="connsiteX13" fmla="*/ 22876 w 469943"/>
                  <a:gd name="connsiteY13" fmla="*/ 84343 h 404917"/>
                  <a:gd name="connsiteX14" fmla="*/ 40002 w 469943"/>
                  <a:gd name="connsiteY14" fmla="*/ 86065 h 404917"/>
                  <a:gd name="connsiteX15" fmla="*/ 124346 w 469943"/>
                  <a:gd name="connsiteY15" fmla="*/ 122210 h 404917"/>
                  <a:gd name="connsiteX16" fmla="*/ 234972 w 469943"/>
                  <a:gd name="connsiteY16" fmla="*/ 39252 h 404917"/>
                  <a:gd name="connsiteX17" fmla="*/ 148866 w 469943"/>
                  <a:gd name="connsiteY17" fmla="*/ 148015 h 404917"/>
                  <a:gd name="connsiteX18" fmla="*/ 115065 w 469943"/>
                  <a:gd name="connsiteY18" fmla="*/ 156580 h 404917"/>
                  <a:gd name="connsiteX19" fmla="*/ 37664 w 469943"/>
                  <a:gd name="connsiteY19" fmla="*/ 123408 h 404917"/>
                  <a:gd name="connsiteX20" fmla="*/ 84365 w 469943"/>
                  <a:gd name="connsiteY20" fmla="*/ 348424 h 404917"/>
                  <a:gd name="connsiteX21" fmla="*/ 110471 w 469943"/>
                  <a:gd name="connsiteY21" fmla="*/ 369672 h 404917"/>
                  <a:gd name="connsiteX22" fmla="*/ 359472 w 469943"/>
                  <a:gd name="connsiteY22" fmla="*/ 369672 h 404917"/>
                  <a:gd name="connsiteX23" fmla="*/ 385578 w 469943"/>
                  <a:gd name="connsiteY23" fmla="*/ 348424 h 404917"/>
                  <a:gd name="connsiteX24" fmla="*/ 432279 w 469943"/>
                  <a:gd name="connsiteY24" fmla="*/ 123408 h 404917"/>
                  <a:gd name="connsiteX25" fmla="*/ 354879 w 469943"/>
                  <a:gd name="connsiteY25" fmla="*/ 156580 h 404917"/>
                  <a:gd name="connsiteX26" fmla="*/ 321078 w 469943"/>
                  <a:gd name="connsiteY26" fmla="*/ 148015 h 404917"/>
                  <a:gd name="connsiteX27" fmla="*/ 234972 w 469943"/>
                  <a:gd name="connsiteY27" fmla="*/ 39252 h 404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69943" h="404917">
                    <a:moveTo>
                      <a:pt x="124340" y="122210"/>
                    </a:moveTo>
                    <a:lnTo>
                      <a:pt x="212473" y="10885"/>
                    </a:lnTo>
                    <a:cubicBezTo>
                      <a:pt x="222311" y="-1541"/>
                      <a:pt x="240358" y="-3639"/>
                      <a:pt x="252784" y="6199"/>
                    </a:cubicBezTo>
                    <a:cubicBezTo>
                      <a:pt x="254522" y="7574"/>
                      <a:pt x="256094" y="9147"/>
                      <a:pt x="257470" y="10885"/>
                    </a:cubicBezTo>
                    <a:lnTo>
                      <a:pt x="345603" y="122210"/>
                    </a:lnTo>
                    <a:lnTo>
                      <a:pt x="429946" y="86065"/>
                    </a:lnTo>
                    <a:cubicBezTo>
                      <a:pt x="444515" y="79824"/>
                      <a:pt x="461384" y="86574"/>
                      <a:pt x="467624" y="101141"/>
                    </a:cubicBezTo>
                    <a:cubicBezTo>
                      <a:pt x="469937" y="106540"/>
                      <a:pt x="470538" y="112518"/>
                      <a:pt x="469346" y="118268"/>
                    </a:cubicBezTo>
                    <a:lnTo>
                      <a:pt x="420090" y="355591"/>
                    </a:lnTo>
                    <a:cubicBezTo>
                      <a:pt x="414125" y="384323"/>
                      <a:pt x="388810" y="404921"/>
                      <a:pt x="359467" y="404918"/>
                    </a:cubicBezTo>
                    <a:lnTo>
                      <a:pt x="110477" y="404918"/>
                    </a:lnTo>
                    <a:cubicBezTo>
                      <a:pt x="81133" y="404921"/>
                      <a:pt x="55818" y="384323"/>
                      <a:pt x="49854" y="355591"/>
                    </a:cubicBezTo>
                    <a:lnTo>
                      <a:pt x="603" y="118268"/>
                    </a:lnTo>
                    <a:cubicBezTo>
                      <a:pt x="-2614" y="102750"/>
                      <a:pt x="7358" y="87561"/>
                      <a:pt x="22876" y="84343"/>
                    </a:cubicBezTo>
                    <a:cubicBezTo>
                      <a:pt x="28627" y="83151"/>
                      <a:pt x="34604" y="83752"/>
                      <a:pt x="40002" y="86065"/>
                    </a:cubicBezTo>
                    <a:lnTo>
                      <a:pt x="124346" y="122210"/>
                    </a:lnTo>
                    <a:close/>
                    <a:moveTo>
                      <a:pt x="234972" y="39252"/>
                    </a:moveTo>
                    <a:lnTo>
                      <a:pt x="148866" y="148015"/>
                    </a:lnTo>
                    <a:cubicBezTo>
                      <a:pt x="140824" y="158173"/>
                      <a:pt x="126973" y="161683"/>
                      <a:pt x="115065" y="156580"/>
                    </a:cubicBezTo>
                    <a:lnTo>
                      <a:pt x="37664" y="123408"/>
                    </a:lnTo>
                    <a:lnTo>
                      <a:pt x="84365" y="348424"/>
                    </a:lnTo>
                    <a:cubicBezTo>
                      <a:pt x="86932" y="360798"/>
                      <a:pt x="97833" y="369671"/>
                      <a:pt x="110471" y="369672"/>
                    </a:cubicBezTo>
                    <a:lnTo>
                      <a:pt x="359472" y="369672"/>
                    </a:lnTo>
                    <a:cubicBezTo>
                      <a:pt x="372110" y="369671"/>
                      <a:pt x="383011" y="360798"/>
                      <a:pt x="385578" y="348424"/>
                    </a:cubicBezTo>
                    <a:lnTo>
                      <a:pt x="432279" y="123408"/>
                    </a:lnTo>
                    <a:lnTo>
                      <a:pt x="354879" y="156580"/>
                    </a:lnTo>
                    <a:cubicBezTo>
                      <a:pt x="342970" y="161683"/>
                      <a:pt x="329119" y="158173"/>
                      <a:pt x="321078" y="148015"/>
                    </a:cubicBezTo>
                    <a:lnTo>
                      <a:pt x="234972" y="39252"/>
                    </a:lnTo>
                    <a:close/>
                  </a:path>
                </a:pathLst>
              </a:cu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accent3"/>
                  </a:solidFill>
                </a:endParaRPr>
              </a:p>
            </p:txBody>
          </p:sp>
        </p:grpSp>
      </p:grpSp>
      <p:pic>
        <p:nvPicPr>
          <p:cNvPr id="15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6063" y="1733233"/>
            <a:ext cx="5272405" cy="1036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6063" y="4485640"/>
            <a:ext cx="5447665" cy="2882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2764621" y="299849"/>
            <a:ext cx="6662758" cy="368935"/>
            <a:chOff x="2824480" y="299849"/>
            <a:chExt cx="6662758" cy="368935"/>
          </a:xfrm>
        </p:grpSpPr>
        <p:sp>
          <p:nvSpPr>
            <p:cNvPr id="43" name="TextBox 7"/>
            <p:cNvSpPr>
              <a:spLocks noChangeArrowheads="1"/>
            </p:cNvSpPr>
            <p:nvPr/>
          </p:nvSpPr>
          <p:spPr bwMode="auto">
            <a:xfrm>
              <a:off x="5078899" y="299849"/>
              <a:ext cx="2153920" cy="3689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>
                <a:defRPr/>
              </a:pPr>
              <a:r>
                <a:rPr lang="zh-CN" altLang="en-US" sz="2400" dirty="0">
                  <a:solidFill>
                    <a:srgbClr val="656565"/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  <a:sym typeface="+mn-ea"/>
                </a:rPr>
                <a:t>内核模块编程</a:t>
              </a:r>
              <a:endParaRPr lang="zh-CN" altLang="en-US" sz="2400" dirty="0">
                <a:solidFill>
                  <a:srgbClr val="656565"/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</p:txBody>
        </p:sp>
        <p:grpSp>
          <p:nvGrpSpPr>
            <p:cNvPr id="45" name="组合 44"/>
            <p:cNvGrpSpPr/>
            <p:nvPr/>
          </p:nvGrpSpPr>
          <p:grpSpPr>
            <a:xfrm>
              <a:off x="2824480" y="407080"/>
              <a:ext cx="2121238" cy="154870"/>
              <a:chOff x="2410381" y="3917516"/>
              <a:chExt cx="2121238" cy="154870"/>
            </a:xfrm>
          </p:grpSpPr>
          <p:cxnSp>
            <p:nvCxnSpPr>
              <p:cNvPr id="46" name="直接连接符 45"/>
              <p:cNvCxnSpPr/>
              <p:nvPr/>
            </p:nvCxnSpPr>
            <p:spPr>
              <a:xfrm>
                <a:off x="2410381" y="3994951"/>
                <a:ext cx="1903392" cy="0"/>
              </a:xfrm>
              <a:prstGeom prst="line">
                <a:avLst/>
              </a:prstGeom>
              <a:ln>
                <a:solidFill>
                  <a:srgbClr val="7E7E7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椭圆 46"/>
              <p:cNvSpPr/>
              <p:nvPr/>
            </p:nvSpPr>
            <p:spPr>
              <a:xfrm>
                <a:off x="4376749" y="3917516"/>
                <a:ext cx="154870" cy="154870"/>
              </a:xfrm>
              <a:prstGeom prst="ellipse">
                <a:avLst/>
              </a:prstGeom>
              <a:solidFill>
                <a:srgbClr val="67B7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0" name="组合 49"/>
            <p:cNvGrpSpPr/>
            <p:nvPr/>
          </p:nvGrpSpPr>
          <p:grpSpPr>
            <a:xfrm flipH="1">
              <a:off x="7366000" y="407080"/>
              <a:ext cx="2121238" cy="154870"/>
              <a:chOff x="2410381" y="3917516"/>
              <a:chExt cx="2121238" cy="154870"/>
            </a:xfrm>
          </p:grpSpPr>
          <p:cxnSp>
            <p:nvCxnSpPr>
              <p:cNvPr id="51" name="直接连接符 50"/>
              <p:cNvCxnSpPr/>
              <p:nvPr/>
            </p:nvCxnSpPr>
            <p:spPr>
              <a:xfrm>
                <a:off x="2410381" y="3994951"/>
                <a:ext cx="1903392" cy="0"/>
              </a:xfrm>
              <a:prstGeom prst="line">
                <a:avLst/>
              </a:prstGeom>
              <a:ln>
                <a:solidFill>
                  <a:srgbClr val="7E7E7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椭圆 51"/>
              <p:cNvSpPr/>
              <p:nvPr/>
            </p:nvSpPr>
            <p:spPr>
              <a:xfrm>
                <a:off x="4376749" y="3917516"/>
                <a:ext cx="154870" cy="154870"/>
              </a:xfrm>
              <a:prstGeom prst="ellipse">
                <a:avLst/>
              </a:prstGeom>
              <a:solidFill>
                <a:srgbClr val="67B7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289560" y="1724945"/>
            <a:ext cx="11612880" cy="4239512"/>
            <a:chOff x="289560" y="1724945"/>
            <a:chExt cx="11612880" cy="4239512"/>
          </a:xfrm>
        </p:grpSpPr>
        <p:sp>
          <p:nvSpPr>
            <p:cNvPr id="55" name="矩形 54"/>
            <p:cNvSpPr/>
            <p:nvPr/>
          </p:nvSpPr>
          <p:spPr>
            <a:xfrm>
              <a:off x="289560" y="1828399"/>
              <a:ext cx="11612880" cy="1645920"/>
            </a:xfrm>
            <a:prstGeom prst="rect">
              <a:avLst/>
            </a:prstGeom>
            <a:solidFill>
              <a:srgbClr val="67B7E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ymie Std Light Italic" panose="02010600010101010101" charset="-122"/>
                <a:ea typeface="Stymie Std Light Italic" panose="02010600010101010101" charset="-122"/>
                <a:cs typeface="+mn-ea"/>
                <a:sym typeface="+mn-lt"/>
              </a:endParaRP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4272656" y="2549427"/>
              <a:ext cx="6875903" cy="3415030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>
                <a:lnSpc>
                  <a:spcPct val="130000"/>
                </a:lnSpc>
                <a:defRPr sz="140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</a:defRPr>
              </a:lvl1pPr>
            </a:lstStyle>
            <a:p>
              <a:pPr indent="0">
                <a:lnSpc>
                  <a:spcPct val="150000"/>
                </a:lnSpc>
                <a:buFont typeface="Arial" panose="020B0604020202090204" pitchFamily="34" charset="0"/>
                <a:buNone/>
              </a:pP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#include &lt;linux/module.h&gt;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  <a:p>
              <a:pPr indent="0">
                <a:lnSpc>
                  <a:spcPct val="150000"/>
                </a:lnSpc>
                <a:buFont typeface="Arial" panose="020B0604020202090204" pitchFamily="34" charset="0"/>
                <a:buNone/>
              </a:pP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MODULE_LICENSE("GPL");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  <a:p>
              <a:pPr indent="0">
                <a:lnSpc>
                  <a:spcPct val="150000"/>
                </a:lnSpc>
                <a:buFont typeface="Arial" panose="020B0604020202090204" pitchFamily="34" charset="0"/>
                <a:buNone/>
              </a:pP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int __init hello_init(void) {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  <a:p>
              <a:pPr indent="0">
                <a:lnSpc>
                  <a:spcPct val="150000"/>
                </a:lnSpc>
                <a:buFont typeface="Arial" panose="020B0604020202090204" pitchFamily="34" charset="0"/>
                <a:buNone/>
              </a:pP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    printk("=== Hello Kernel! ===\n");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  <a:p>
              <a:pPr indent="0">
                <a:lnSpc>
                  <a:spcPct val="150000"/>
                </a:lnSpc>
                <a:buFont typeface="Arial" panose="020B0604020202090204" pitchFamily="34" charset="0"/>
                <a:buNone/>
              </a:pP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    printk("This message is from my first module.\n");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  <a:p>
              <a:pPr indent="0">
                <a:lnSpc>
                  <a:spcPct val="150000"/>
                </a:lnSpc>
                <a:buFont typeface="Arial" panose="020B0604020202090204" pitchFamily="34" charset="0"/>
                <a:buNone/>
              </a:pP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    return 0;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  <a:p>
              <a:pPr indent="0">
                <a:lnSpc>
                  <a:spcPct val="150000"/>
                </a:lnSpc>
                <a:buFont typeface="Arial" panose="020B0604020202090204" pitchFamily="34" charset="0"/>
                <a:buNone/>
              </a:pP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}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  <a:p>
              <a:pPr indent="0">
                <a:lnSpc>
                  <a:spcPct val="150000"/>
                </a:lnSpc>
                <a:buFont typeface="Arial" panose="020B0604020202090204" pitchFamily="34" charset="0"/>
                <a:buNone/>
              </a:pP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void __exit hello_exit(void) {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  <a:p>
              <a:pPr indent="0">
                <a:lnSpc>
                  <a:spcPct val="150000"/>
                </a:lnSpc>
                <a:buFont typeface="Arial" panose="020B0604020202090204" pitchFamily="34" charset="0"/>
                <a:buNone/>
              </a:pP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    printk("=== Goodbye Kernel! ===\n");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  <a:p>
              <a:pPr indent="0">
                <a:lnSpc>
                  <a:spcPct val="150000"/>
                </a:lnSpc>
                <a:buFont typeface="Arial" panose="020B0604020202090204" pitchFamily="34" charset="0"/>
                <a:buNone/>
              </a:pP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}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  <a:p>
              <a:pPr indent="0">
                <a:lnSpc>
                  <a:spcPct val="150000"/>
                </a:lnSpc>
                <a:buFont typeface="Arial" panose="020B0604020202090204" pitchFamily="34" charset="0"/>
                <a:buNone/>
              </a:pP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module_init(hello_init);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  <a:p>
              <a:pPr indent="0">
                <a:lnSpc>
                  <a:spcPct val="150000"/>
                </a:lnSpc>
                <a:buFont typeface="Arial" panose="020B0604020202090204" pitchFamily="34" charset="0"/>
                <a:buNone/>
              </a:pP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module_exit(hello_exit);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4194551" y="4871686"/>
              <a:ext cx="6875903" cy="368300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>
                <a:lnSpc>
                  <a:spcPct val="130000"/>
                </a:lnSpc>
                <a:defRPr sz="140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</a:defRPr>
              </a:lvl1pPr>
            </a:lstStyle>
            <a:p>
              <a:pPr marL="171450" indent="-171450">
                <a:lnSpc>
                  <a:spcPct val="150000"/>
                </a:lnSpc>
                <a:buFont typeface="Arial" panose="020B0604020202090204" pitchFamily="34" charset="0"/>
                <a:buChar char="•"/>
              </a:pP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4273101" y="1724945"/>
              <a:ext cx="7375037" cy="953135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>
                <a:lnSpc>
                  <a:spcPct val="130000"/>
                </a:lnSpc>
                <a:defRPr sz="140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</a:defRPr>
              </a:lvl1pPr>
            </a:lstStyle>
            <a:p>
              <a:pPr>
                <a:lnSpc>
                  <a:spcPct val="200000"/>
                </a:lnSpc>
              </a:pPr>
              <a:r>
                <a:rPr lang="zh-CN" altLang="en-US" dirty="0">
                  <a:solidFill>
                    <a:schemeClr val="bg1"/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用</a:t>
              </a:r>
              <a:r>
                <a:rPr lang="en-US" altLang="zh-CN" dirty="0">
                  <a:solidFill>
                    <a:schemeClr val="bg1"/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vi helloworld.c </a:t>
              </a:r>
              <a:r>
                <a:rPr lang="zh-CN" altLang="en-US" dirty="0">
                  <a:solidFill>
                    <a:schemeClr val="bg1"/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创建模块源文件</a:t>
              </a:r>
              <a:endParaRPr lang="zh-CN" altLang="en-US" dirty="0">
                <a:solidFill>
                  <a:schemeClr val="bg1"/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  <a:p>
              <a:pPr>
                <a:lnSpc>
                  <a:spcPct val="200000"/>
                </a:lnSpc>
              </a:pPr>
              <a:r>
                <a:rPr lang="zh-CN" altLang="en-US" dirty="0">
                  <a:solidFill>
                    <a:schemeClr val="bg1"/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按</a:t>
              </a:r>
              <a:r>
                <a:rPr lang="en-US" altLang="zh-CN" dirty="0">
                  <a:solidFill>
                    <a:schemeClr val="bg1"/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i</a:t>
              </a:r>
              <a:r>
                <a:rPr lang="zh-CN" altLang="en-US" dirty="0">
                  <a:solidFill>
                    <a:schemeClr val="bg1"/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进入编辑模式，写入下面的代码</a:t>
              </a:r>
              <a:endParaRPr lang="zh-CN" altLang="en-US" dirty="0">
                <a:solidFill>
                  <a:schemeClr val="bg1"/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</p:txBody>
        </p:sp>
      </p:grpSp>
      <p:pic>
        <p:nvPicPr>
          <p:cNvPr id="25" name="图片 5"/>
          <p:cNvPicPr>
            <a:picLocks noChangeAspect="1"/>
          </p:cNvPicPr>
          <p:nvPr/>
        </p:nvPicPr>
        <p:blipFill>
          <a:blip r:embed="rId1"/>
          <a:srcRect r="14880"/>
          <a:stretch>
            <a:fillRect/>
          </a:stretch>
        </p:blipFill>
        <p:spPr>
          <a:xfrm>
            <a:off x="136525" y="1828165"/>
            <a:ext cx="4135755" cy="315023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2176780" y="5964555"/>
            <a:ext cx="8255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该模块会在插入时打印</a:t>
            </a:r>
            <a:r>
              <a:rPr lang="en-US" altLang="zh-CN"/>
              <a:t>“Hello Kernel”</a:t>
            </a:r>
            <a:r>
              <a:rPr lang="zh-CN" altLang="en-US"/>
              <a:t>，在卸载时输出</a:t>
            </a:r>
            <a:r>
              <a:rPr lang="en-US" altLang="zh-CN"/>
              <a:t>“Goodbye Kernel”</a:t>
            </a:r>
            <a:r>
              <a:rPr lang="zh-CN" altLang="en-US"/>
              <a:t>，用于验证内核模块编写与加载机制是否正常运行</a:t>
            </a:r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2764621" y="299849"/>
            <a:ext cx="6662758" cy="368935"/>
            <a:chOff x="2824480" y="299849"/>
            <a:chExt cx="6662758" cy="368935"/>
          </a:xfrm>
        </p:grpSpPr>
        <p:sp>
          <p:nvSpPr>
            <p:cNvPr id="43" name="TextBox 7"/>
            <p:cNvSpPr>
              <a:spLocks noChangeArrowheads="1"/>
            </p:cNvSpPr>
            <p:nvPr/>
          </p:nvSpPr>
          <p:spPr bwMode="auto">
            <a:xfrm>
              <a:off x="5078899" y="299849"/>
              <a:ext cx="2153920" cy="3689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>
                <a:defRPr/>
              </a:pPr>
              <a:r>
                <a:rPr lang="zh-CN" altLang="en-US" sz="2400" dirty="0">
                  <a:solidFill>
                    <a:srgbClr val="656565"/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内核模块</a:t>
              </a:r>
              <a:r>
                <a:rPr lang="zh-CN" altLang="en-US" sz="2400" dirty="0">
                  <a:solidFill>
                    <a:srgbClr val="656565"/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编程</a:t>
              </a:r>
              <a:endParaRPr lang="zh-CN" altLang="en-US" sz="2400" dirty="0">
                <a:solidFill>
                  <a:srgbClr val="656565"/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</p:txBody>
        </p:sp>
        <p:grpSp>
          <p:nvGrpSpPr>
            <p:cNvPr id="45" name="组合 44"/>
            <p:cNvGrpSpPr/>
            <p:nvPr/>
          </p:nvGrpSpPr>
          <p:grpSpPr>
            <a:xfrm>
              <a:off x="2824480" y="407080"/>
              <a:ext cx="2121238" cy="154870"/>
              <a:chOff x="2410381" y="3917516"/>
              <a:chExt cx="2121238" cy="154870"/>
            </a:xfrm>
          </p:grpSpPr>
          <p:cxnSp>
            <p:nvCxnSpPr>
              <p:cNvPr id="46" name="直接连接符 45"/>
              <p:cNvCxnSpPr/>
              <p:nvPr/>
            </p:nvCxnSpPr>
            <p:spPr>
              <a:xfrm>
                <a:off x="2410381" y="3994951"/>
                <a:ext cx="1903392" cy="0"/>
              </a:xfrm>
              <a:prstGeom prst="line">
                <a:avLst/>
              </a:prstGeom>
              <a:ln>
                <a:solidFill>
                  <a:srgbClr val="7E7E7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椭圆 46"/>
              <p:cNvSpPr/>
              <p:nvPr/>
            </p:nvSpPr>
            <p:spPr>
              <a:xfrm>
                <a:off x="4376749" y="3917516"/>
                <a:ext cx="154870" cy="154870"/>
              </a:xfrm>
              <a:prstGeom prst="ellipse">
                <a:avLst/>
              </a:prstGeom>
              <a:solidFill>
                <a:srgbClr val="67B7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0" name="组合 49"/>
            <p:cNvGrpSpPr/>
            <p:nvPr/>
          </p:nvGrpSpPr>
          <p:grpSpPr>
            <a:xfrm flipH="1">
              <a:off x="7366000" y="407080"/>
              <a:ext cx="2121238" cy="154870"/>
              <a:chOff x="2410381" y="3917516"/>
              <a:chExt cx="2121238" cy="154870"/>
            </a:xfrm>
          </p:grpSpPr>
          <p:cxnSp>
            <p:nvCxnSpPr>
              <p:cNvPr id="51" name="直接连接符 50"/>
              <p:cNvCxnSpPr/>
              <p:nvPr/>
            </p:nvCxnSpPr>
            <p:spPr>
              <a:xfrm>
                <a:off x="2410381" y="3994951"/>
                <a:ext cx="1903392" cy="0"/>
              </a:xfrm>
              <a:prstGeom prst="line">
                <a:avLst/>
              </a:prstGeom>
              <a:ln>
                <a:solidFill>
                  <a:srgbClr val="7E7E7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椭圆 51"/>
              <p:cNvSpPr/>
              <p:nvPr/>
            </p:nvSpPr>
            <p:spPr>
              <a:xfrm>
                <a:off x="4376749" y="3917516"/>
                <a:ext cx="154870" cy="154870"/>
              </a:xfrm>
              <a:prstGeom prst="ellipse">
                <a:avLst/>
              </a:prstGeom>
              <a:solidFill>
                <a:srgbClr val="67B7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934064" y="1733395"/>
            <a:ext cx="10323872" cy="3915092"/>
            <a:chOff x="844237" y="1724518"/>
            <a:chExt cx="10323872" cy="3915092"/>
          </a:xfrm>
        </p:grpSpPr>
        <p:grpSp>
          <p:nvGrpSpPr>
            <p:cNvPr id="2" name="组合 1"/>
            <p:cNvGrpSpPr/>
            <p:nvPr/>
          </p:nvGrpSpPr>
          <p:grpSpPr>
            <a:xfrm>
              <a:off x="844237" y="1724518"/>
              <a:ext cx="10323872" cy="3915092"/>
              <a:chOff x="391476" y="1724518"/>
              <a:chExt cx="10323872" cy="3915092"/>
            </a:xfrm>
          </p:grpSpPr>
          <p:sp>
            <p:nvSpPr>
              <p:cNvPr id="10" name="矩形 9"/>
              <p:cNvSpPr/>
              <p:nvPr/>
            </p:nvSpPr>
            <p:spPr>
              <a:xfrm>
                <a:off x="3740472" y="5273338"/>
                <a:ext cx="6974876" cy="366272"/>
              </a:xfrm>
              <a:prstGeom prst="rect">
                <a:avLst/>
              </a:prstGeom>
              <a:solidFill>
                <a:srgbClr val="67B7E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tymie Std Light Italic" panose="02010600010101010101" charset="-122"/>
                  <a:ea typeface="Stymie Std Light Italic" panose="02010600010101010101" charset="-122"/>
                  <a:cs typeface="+mn-ea"/>
                  <a:sym typeface="+mn-lt"/>
                </a:endParaRPr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391476" y="1724518"/>
                <a:ext cx="5125618" cy="2752524"/>
              </a:xfrm>
              <a:prstGeom prst="rect">
                <a:avLst/>
              </a:prstGeom>
              <a:solidFill>
                <a:srgbClr val="67B7E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tymie Std Light Italic" panose="02010600010101010101" charset="-122"/>
                  <a:ea typeface="Stymie Std Light Italic" panose="02010600010101010101" charset="-122"/>
                  <a:cs typeface="+mn-ea"/>
                  <a:sym typeface="+mn-lt"/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616890" y="1971933"/>
                <a:ext cx="5993782" cy="3450575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rgbClr val="67B7E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tymie Std Light Italic" panose="02010600010101010101" charset="-122"/>
                  <a:ea typeface="Stymie Std Light Italic" panose="02010600010101010101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1412376" y="2354611"/>
              <a:ext cx="5308471" cy="2843574"/>
              <a:chOff x="1083681" y="1883701"/>
              <a:chExt cx="5308471" cy="2843574"/>
            </a:xfrm>
          </p:grpSpPr>
          <p:sp>
            <p:nvSpPr>
              <p:cNvPr id="20" name="椭圆 19"/>
              <p:cNvSpPr/>
              <p:nvPr/>
            </p:nvSpPr>
            <p:spPr>
              <a:xfrm>
                <a:off x="1083681" y="1883701"/>
                <a:ext cx="572602" cy="572602"/>
              </a:xfrm>
              <a:prstGeom prst="ellipse">
                <a:avLst/>
              </a:prstGeom>
              <a:solidFill>
                <a:srgbClr val="67B7E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anum Gothic" panose="020D0604000000000000" charset="-127"/>
                  <a:ea typeface="思源黑体 CN Normal"/>
                  <a:cs typeface="+mn-cs"/>
                </a:endParaRPr>
              </a:p>
            </p:txBody>
          </p:sp>
          <p:grpSp>
            <p:nvGrpSpPr>
              <p:cNvPr id="21" name="组合 20"/>
              <p:cNvGrpSpPr/>
              <p:nvPr/>
            </p:nvGrpSpPr>
            <p:grpSpPr>
              <a:xfrm>
                <a:off x="1098792" y="1973915"/>
                <a:ext cx="5293360" cy="2753360"/>
                <a:chOff x="393733" y="4588799"/>
                <a:chExt cx="5293360" cy="2753360"/>
              </a:xfrm>
            </p:grpSpPr>
            <p:sp>
              <p:nvSpPr>
                <p:cNvPr id="23" name="文本"/>
                <p:cNvSpPr/>
                <p:nvPr/>
              </p:nvSpPr>
              <p:spPr>
                <a:xfrm>
                  <a:off x="1061967" y="4588799"/>
                  <a:ext cx="3317240" cy="4603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2400" dirty="0">
                      <a:solidFill>
                        <a:srgbClr val="595959"/>
                      </a:solidFill>
                      <a:latin typeface="+mj-ea"/>
                      <a:ea typeface="思源黑体旧字形 Normal" panose="020B0400000000000000" pitchFamily="34" charset="-122"/>
                      <a:cs typeface="Saturday Sans Regular" panose="02010600010101010101" charset="-122"/>
                    </a:rPr>
                    <a:t>编写</a:t>
                  </a:r>
                  <a:r>
                    <a:rPr lang="en-US" altLang="zh-CN" sz="2400" dirty="0">
                      <a:solidFill>
                        <a:srgbClr val="595959"/>
                      </a:solidFill>
                      <a:latin typeface="+mj-ea"/>
                      <a:ea typeface="思源黑体旧字形 Normal" panose="020B0400000000000000" pitchFamily="34" charset="-122"/>
                      <a:cs typeface="Saturday Sans Regular" panose="02010600010101010101" charset="-122"/>
                    </a:rPr>
                    <a:t>Makefile</a:t>
                  </a:r>
                  <a:r>
                    <a:rPr lang="zh-CN" altLang="en-US" sz="2400" dirty="0">
                      <a:solidFill>
                        <a:srgbClr val="595959"/>
                      </a:solidFill>
                      <a:latin typeface="+mj-ea"/>
                      <a:ea typeface="思源黑体旧字形 Normal" panose="020B0400000000000000" pitchFamily="34" charset="-122"/>
                      <a:cs typeface="Saturday Sans Regular" panose="02010600010101010101" charset="-122"/>
                    </a:rPr>
                    <a:t>并进行</a:t>
                  </a:r>
                  <a:r>
                    <a:rPr lang="zh-CN" altLang="en-US" sz="2400" dirty="0">
                      <a:solidFill>
                        <a:srgbClr val="595959"/>
                      </a:solidFill>
                      <a:latin typeface="+mj-ea"/>
                      <a:ea typeface="思源黑体旧字形 Normal" panose="020B0400000000000000" pitchFamily="34" charset="-122"/>
                      <a:cs typeface="Saturday Sans Regular" panose="02010600010101010101" charset="-122"/>
                    </a:rPr>
                    <a:t>编译</a:t>
                  </a:r>
                  <a:endParaRPr lang="zh-CN" altLang="en-US" sz="2400" dirty="0">
                    <a:solidFill>
                      <a:srgbClr val="595959"/>
                    </a:solidFill>
                    <a:latin typeface="+mj-ea"/>
                    <a:ea typeface="思源黑体旧字形 Normal" panose="020B0400000000000000" pitchFamily="34" charset="-122"/>
                    <a:cs typeface="Saturday Sans Regular" panose="02010600010101010101" charset="-122"/>
                  </a:endParaRPr>
                </a:p>
              </p:txBody>
            </p:sp>
            <p:sp>
              <p:nvSpPr>
                <p:cNvPr id="24" name="文本框 23"/>
                <p:cNvSpPr txBox="1"/>
                <p:nvPr/>
              </p:nvSpPr>
              <p:spPr>
                <a:xfrm>
                  <a:off x="393733" y="5094894"/>
                  <a:ext cx="5293360" cy="2247265"/>
                </a:xfrm>
                <a:prstGeom prst="rect">
                  <a:avLst/>
                </a:prstGeom>
              </p:spPr>
              <p:txBody>
                <a:bodyPr wrap="square">
                  <a:noAutofit/>
                  <a:scene3d>
                    <a:camera prst="orthographicFront"/>
                    <a:lightRig rig="threePt" dir="t"/>
                  </a:scene3d>
                  <a:sp3d contourW="12700"/>
                </a:bodyPr>
                <a:lstStyle>
                  <a:defPPr>
                    <a:defRPr lang="zh-CN"/>
                  </a:defPPr>
                  <a:lvl1pPr>
                    <a:lnSpc>
                      <a:spcPct val="130000"/>
                    </a:lnSpc>
                    <a:defRPr sz="140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微软雅黑" panose="020B0503020204020204" charset="-122"/>
                    </a:defRPr>
                  </a:lvl1pPr>
                </a:lstStyle>
                <a:p>
                  <a:pPr>
                    <a:lnSpc>
                      <a:spcPct val="150000"/>
                    </a:lnSpc>
                  </a:pP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编写</a:t>
                  </a: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 Linux </a:t>
                  </a: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内核模块的标准</a:t>
                  </a: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 Makefile</a:t>
                  </a: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，用于编译之前写的</a:t>
                  </a: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 helloworld.c </a:t>
                  </a: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模块</a:t>
                  </a:r>
                  <a:endPara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endParaRPr>
                </a:p>
                <a:p>
                  <a:pPr>
                    <a:lnSpc>
                      <a:spcPct val="150000"/>
                    </a:lnSpc>
                  </a:pPr>
                  <a:endPara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调用</a:t>
                  </a: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 Makefile </a:t>
                  </a: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中定义的规则完成对</a:t>
                  </a: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 helloworld.c </a:t>
                  </a: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模块的编译，最终生成</a:t>
                  </a: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 helloworld.ko，</a:t>
                  </a: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最后检查生成的</a:t>
                  </a: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文件</a:t>
                  </a:r>
                  <a:endPara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endParaRPr>
                </a:p>
              </p:txBody>
            </p:sp>
          </p:grpSp>
          <p:sp>
            <p:nvSpPr>
              <p:cNvPr id="22" name="椭圆1"/>
              <p:cNvSpPr/>
              <p:nvPr/>
            </p:nvSpPr>
            <p:spPr>
              <a:xfrm>
                <a:off x="1204481" y="2019966"/>
                <a:ext cx="311899" cy="268742"/>
              </a:xfrm>
              <a:custGeom>
                <a:avLst/>
                <a:gdLst>
                  <a:gd name="connsiteX0" fmla="*/ 124340 w 469943"/>
                  <a:gd name="connsiteY0" fmla="*/ 122210 h 404917"/>
                  <a:gd name="connsiteX1" fmla="*/ 212473 w 469943"/>
                  <a:gd name="connsiteY1" fmla="*/ 10885 h 404917"/>
                  <a:gd name="connsiteX2" fmla="*/ 252784 w 469943"/>
                  <a:gd name="connsiteY2" fmla="*/ 6199 h 404917"/>
                  <a:gd name="connsiteX3" fmla="*/ 257470 w 469943"/>
                  <a:gd name="connsiteY3" fmla="*/ 10885 h 404917"/>
                  <a:gd name="connsiteX4" fmla="*/ 345603 w 469943"/>
                  <a:gd name="connsiteY4" fmla="*/ 122210 h 404917"/>
                  <a:gd name="connsiteX5" fmla="*/ 429946 w 469943"/>
                  <a:gd name="connsiteY5" fmla="*/ 86065 h 404917"/>
                  <a:gd name="connsiteX6" fmla="*/ 467624 w 469943"/>
                  <a:gd name="connsiteY6" fmla="*/ 101141 h 404917"/>
                  <a:gd name="connsiteX7" fmla="*/ 469346 w 469943"/>
                  <a:gd name="connsiteY7" fmla="*/ 118268 h 404917"/>
                  <a:gd name="connsiteX8" fmla="*/ 420090 w 469943"/>
                  <a:gd name="connsiteY8" fmla="*/ 355591 h 404917"/>
                  <a:gd name="connsiteX9" fmla="*/ 359467 w 469943"/>
                  <a:gd name="connsiteY9" fmla="*/ 404918 h 404917"/>
                  <a:gd name="connsiteX10" fmla="*/ 110477 w 469943"/>
                  <a:gd name="connsiteY10" fmla="*/ 404918 h 404917"/>
                  <a:gd name="connsiteX11" fmla="*/ 49854 w 469943"/>
                  <a:gd name="connsiteY11" fmla="*/ 355591 h 404917"/>
                  <a:gd name="connsiteX12" fmla="*/ 603 w 469943"/>
                  <a:gd name="connsiteY12" fmla="*/ 118268 h 404917"/>
                  <a:gd name="connsiteX13" fmla="*/ 22876 w 469943"/>
                  <a:gd name="connsiteY13" fmla="*/ 84343 h 404917"/>
                  <a:gd name="connsiteX14" fmla="*/ 40002 w 469943"/>
                  <a:gd name="connsiteY14" fmla="*/ 86065 h 404917"/>
                  <a:gd name="connsiteX15" fmla="*/ 124346 w 469943"/>
                  <a:gd name="connsiteY15" fmla="*/ 122210 h 404917"/>
                  <a:gd name="connsiteX16" fmla="*/ 234972 w 469943"/>
                  <a:gd name="connsiteY16" fmla="*/ 39252 h 404917"/>
                  <a:gd name="connsiteX17" fmla="*/ 148866 w 469943"/>
                  <a:gd name="connsiteY17" fmla="*/ 148015 h 404917"/>
                  <a:gd name="connsiteX18" fmla="*/ 115065 w 469943"/>
                  <a:gd name="connsiteY18" fmla="*/ 156580 h 404917"/>
                  <a:gd name="connsiteX19" fmla="*/ 37664 w 469943"/>
                  <a:gd name="connsiteY19" fmla="*/ 123408 h 404917"/>
                  <a:gd name="connsiteX20" fmla="*/ 84365 w 469943"/>
                  <a:gd name="connsiteY20" fmla="*/ 348424 h 404917"/>
                  <a:gd name="connsiteX21" fmla="*/ 110471 w 469943"/>
                  <a:gd name="connsiteY21" fmla="*/ 369672 h 404917"/>
                  <a:gd name="connsiteX22" fmla="*/ 359472 w 469943"/>
                  <a:gd name="connsiteY22" fmla="*/ 369672 h 404917"/>
                  <a:gd name="connsiteX23" fmla="*/ 385578 w 469943"/>
                  <a:gd name="connsiteY23" fmla="*/ 348424 h 404917"/>
                  <a:gd name="connsiteX24" fmla="*/ 432279 w 469943"/>
                  <a:gd name="connsiteY24" fmla="*/ 123408 h 404917"/>
                  <a:gd name="connsiteX25" fmla="*/ 354879 w 469943"/>
                  <a:gd name="connsiteY25" fmla="*/ 156580 h 404917"/>
                  <a:gd name="connsiteX26" fmla="*/ 321078 w 469943"/>
                  <a:gd name="connsiteY26" fmla="*/ 148015 h 404917"/>
                  <a:gd name="connsiteX27" fmla="*/ 234972 w 469943"/>
                  <a:gd name="connsiteY27" fmla="*/ 39252 h 404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69943" h="404917">
                    <a:moveTo>
                      <a:pt x="124340" y="122210"/>
                    </a:moveTo>
                    <a:lnTo>
                      <a:pt x="212473" y="10885"/>
                    </a:lnTo>
                    <a:cubicBezTo>
                      <a:pt x="222311" y="-1541"/>
                      <a:pt x="240358" y="-3639"/>
                      <a:pt x="252784" y="6199"/>
                    </a:cubicBezTo>
                    <a:cubicBezTo>
                      <a:pt x="254522" y="7574"/>
                      <a:pt x="256094" y="9147"/>
                      <a:pt x="257470" y="10885"/>
                    </a:cubicBezTo>
                    <a:lnTo>
                      <a:pt x="345603" y="122210"/>
                    </a:lnTo>
                    <a:lnTo>
                      <a:pt x="429946" y="86065"/>
                    </a:lnTo>
                    <a:cubicBezTo>
                      <a:pt x="444515" y="79824"/>
                      <a:pt x="461384" y="86574"/>
                      <a:pt x="467624" y="101141"/>
                    </a:cubicBezTo>
                    <a:cubicBezTo>
                      <a:pt x="469937" y="106540"/>
                      <a:pt x="470538" y="112518"/>
                      <a:pt x="469346" y="118268"/>
                    </a:cubicBezTo>
                    <a:lnTo>
                      <a:pt x="420090" y="355591"/>
                    </a:lnTo>
                    <a:cubicBezTo>
                      <a:pt x="414125" y="384323"/>
                      <a:pt x="388810" y="404921"/>
                      <a:pt x="359467" y="404918"/>
                    </a:cubicBezTo>
                    <a:lnTo>
                      <a:pt x="110477" y="404918"/>
                    </a:lnTo>
                    <a:cubicBezTo>
                      <a:pt x="81133" y="404921"/>
                      <a:pt x="55818" y="384323"/>
                      <a:pt x="49854" y="355591"/>
                    </a:cubicBezTo>
                    <a:lnTo>
                      <a:pt x="603" y="118268"/>
                    </a:lnTo>
                    <a:cubicBezTo>
                      <a:pt x="-2614" y="102750"/>
                      <a:pt x="7358" y="87561"/>
                      <a:pt x="22876" y="84343"/>
                    </a:cubicBezTo>
                    <a:cubicBezTo>
                      <a:pt x="28627" y="83151"/>
                      <a:pt x="34604" y="83752"/>
                      <a:pt x="40002" y="86065"/>
                    </a:cubicBezTo>
                    <a:lnTo>
                      <a:pt x="124346" y="122210"/>
                    </a:lnTo>
                    <a:close/>
                    <a:moveTo>
                      <a:pt x="234972" y="39252"/>
                    </a:moveTo>
                    <a:lnTo>
                      <a:pt x="148866" y="148015"/>
                    </a:lnTo>
                    <a:cubicBezTo>
                      <a:pt x="140824" y="158173"/>
                      <a:pt x="126973" y="161683"/>
                      <a:pt x="115065" y="156580"/>
                    </a:cubicBezTo>
                    <a:lnTo>
                      <a:pt x="37664" y="123408"/>
                    </a:lnTo>
                    <a:lnTo>
                      <a:pt x="84365" y="348424"/>
                    </a:lnTo>
                    <a:cubicBezTo>
                      <a:pt x="86932" y="360798"/>
                      <a:pt x="97833" y="369671"/>
                      <a:pt x="110471" y="369672"/>
                    </a:cubicBezTo>
                    <a:lnTo>
                      <a:pt x="359472" y="369672"/>
                    </a:lnTo>
                    <a:cubicBezTo>
                      <a:pt x="372110" y="369671"/>
                      <a:pt x="383011" y="360798"/>
                      <a:pt x="385578" y="348424"/>
                    </a:cubicBezTo>
                    <a:lnTo>
                      <a:pt x="432279" y="123408"/>
                    </a:lnTo>
                    <a:lnTo>
                      <a:pt x="354879" y="156580"/>
                    </a:lnTo>
                    <a:cubicBezTo>
                      <a:pt x="342970" y="161683"/>
                      <a:pt x="329119" y="158173"/>
                      <a:pt x="321078" y="148015"/>
                    </a:cubicBezTo>
                    <a:lnTo>
                      <a:pt x="234972" y="39252"/>
                    </a:lnTo>
                    <a:close/>
                  </a:path>
                </a:pathLst>
              </a:cu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accent3"/>
                  </a:solidFill>
                </a:endParaRPr>
              </a:p>
            </p:txBody>
          </p:sp>
        </p:grpSp>
      </p:grpSp>
      <p:pic>
        <p:nvPicPr>
          <p:cNvPr id="5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5783" y="668338"/>
            <a:ext cx="4848225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5783" y="3911600"/>
            <a:ext cx="5271135" cy="96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4143" y="5252720"/>
            <a:ext cx="5269865" cy="467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2764621" y="299849"/>
            <a:ext cx="6662758" cy="368935"/>
            <a:chOff x="2824480" y="299849"/>
            <a:chExt cx="6662758" cy="368935"/>
          </a:xfrm>
        </p:grpSpPr>
        <p:sp>
          <p:nvSpPr>
            <p:cNvPr id="43" name="TextBox 7"/>
            <p:cNvSpPr>
              <a:spLocks noChangeArrowheads="1"/>
            </p:cNvSpPr>
            <p:nvPr/>
          </p:nvSpPr>
          <p:spPr bwMode="auto">
            <a:xfrm>
              <a:off x="5078899" y="299849"/>
              <a:ext cx="2153920" cy="3689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656565"/>
                  </a:solidFill>
                  <a:effectLst/>
                  <a:uLnTx/>
                  <a:uFillTx/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内核模块</a:t>
              </a: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656565"/>
                  </a:solidFill>
                  <a:effectLst/>
                  <a:uLnTx/>
                  <a:uFillTx/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编程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656565"/>
                </a:solidFill>
                <a:effectLst/>
                <a:uLnTx/>
                <a:uFillTx/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</p:txBody>
        </p:sp>
        <p:grpSp>
          <p:nvGrpSpPr>
            <p:cNvPr id="45" name="组合 44"/>
            <p:cNvGrpSpPr/>
            <p:nvPr/>
          </p:nvGrpSpPr>
          <p:grpSpPr>
            <a:xfrm>
              <a:off x="2824480" y="407080"/>
              <a:ext cx="2121238" cy="154870"/>
              <a:chOff x="2410381" y="3917516"/>
              <a:chExt cx="2121238" cy="154870"/>
            </a:xfrm>
          </p:grpSpPr>
          <p:cxnSp>
            <p:nvCxnSpPr>
              <p:cNvPr id="46" name="直接连接符 45"/>
              <p:cNvCxnSpPr/>
              <p:nvPr/>
            </p:nvCxnSpPr>
            <p:spPr>
              <a:xfrm>
                <a:off x="2410381" y="3994951"/>
                <a:ext cx="1903392" cy="0"/>
              </a:xfrm>
              <a:prstGeom prst="line">
                <a:avLst/>
              </a:prstGeom>
              <a:ln>
                <a:solidFill>
                  <a:srgbClr val="7E7E7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椭圆 46"/>
              <p:cNvSpPr/>
              <p:nvPr/>
            </p:nvSpPr>
            <p:spPr>
              <a:xfrm>
                <a:off x="4376749" y="3917516"/>
                <a:ext cx="154870" cy="154870"/>
              </a:xfrm>
              <a:prstGeom prst="ellipse">
                <a:avLst/>
              </a:prstGeom>
              <a:solidFill>
                <a:srgbClr val="67B7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0" name="组合 49"/>
            <p:cNvGrpSpPr/>
            <p:nvPr/>
          </p:nvGrpSpPr>
          <p:grpSpPr>
            <a:xfrm flipH="1">
              <a:off x="7366000" y="407080"/>
              <a:ext cx="2121238" cy="154870"/>
              <a:chOff x="2410381" y="3917516"/>
              <a:chExt cx="2121238" cy="154870"/>
            </a:xfrm>
          </p:grpSpPr>
          <p:cxnSp>
            <p:nvCxnSpPr>
              <p:cNvPr id="51" name="直接连接符 50"/>
              <p:cNvCxnSpPr/>
              <p:nvPr/>
            </p:nvCxnSpPr>
            <p:spPr>
              <a:xfrm>
                <a:off x="2410381" y="3994951"/>
                <a:ext cx="1903392" cy="0"/>
              </a:xfrm>
              <a:prstGeom prst="line">
                <a:avLst/>
              </a:prstGeom>
              <a:ln>
                <a:solidFill>
                  <a:srgbClr val="7E7E7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椭圆 51"/>
              <p:cNvSpPr/>
              <p:nvPr/>
            </p:nvSpPr>
            <p:spPr>
              <a:xfrm>
                <a:off x="4376749" y="3917516"/>
                <a:ext cx="154870" cy="154870"/>
              </a:xfrm>
              <a:prstGeom prst="ellipse">
                <a:avLst/>
              </a:prstGeom>
              <a:solidFill>
                <a:srgbClr val="67B7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989465" y="4224080"/>
            <a:ext cx="2997676" cy="964476"/>
            <a:chOff x="6410382" y="3895606"/>
            <a:chExt cx="2997676" cy="964476"/>
          </a:xfrm>
        </p:grpSpPr>
        <p:sp>
          <p:nvSpPr>
            <p:cNvPr id="19" name="文本"/>
            <p:cNvSpPr/>
            <p:nvPr/>
          </p:nvSpPr>
          <p:spPr>
            <a:xfrm>
              <a:off x="7754281" y="3895606"/>
              <a:ext cx="309880" cy="3987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endParaRPr lang="zh-CN" altLang="en-US" sz="2000" dirty="0">
                <a:solidFill>
                  <a:srgbClr val="595959"/>
                </a:solidFill>
                <a:latin typeface="+mj-ea"/>
                <a:ea typeface="思源黑体旧字形 Normal" panose="020B0400000000000000" pitchFamily="34" charset="-122"/>
                <a:cs typeface="Saturday Sans Regular" panose="02010600010101010101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6410382" y="4214922"/>
              <a:ext cx="2997676" cy="645160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>
                <a:lnSpc>
                  <a:spcPct val="130000"/>
                </a:lnSpc>
                <a:defRPr sz="140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加载模块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sudo insmod helloworld.ko，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查看日志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dmesg | tail -3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4597162" y="4224080"/>
            <a:ext cx="2997676" cy="1241336"/>
            <a:chOff x="6410382" y="3895606"/>
            <a:chExt cx="2997676" cy="1241336"/>
          </a:xfrm>
        </p:grpSpPr>
        <p:sp>
          <p:nvSpPr>
            <p:cNvPr id="23" name="文本"/>
            <p:cNvSpPr/>
            <p:nvPr/>
          </p:nvSpPr>
          <p:spPr>
            <a:xfrm>
              <a:off x="7754281" y="3895606"/>
              <a:ext cx="309880" cy="3987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endParaRPr lang="zh-CN" altLang="en-US" sz="2000" dirty="0">
                <a:solidFill>
                  <a:srgbClr val="595959"/>
                </a:solidFill>
                <a:latin typeface="+mj-ea"/>
                <a:ea typeface="思源黑体旧字形 Normal" panose="020B0400000000000000" pitchFamily="34" charset="-122"/>
                <a:cs typeface="Saturday Sans Regular" panose="02010600010101010101" charset="-122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6410382" y="4214922"/>
              <a:ext cx="2997676" cy="922020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>
                <a:lnSpc>
                  <a:spcPct val="130000"/>
                </a:lnSpc>
                <a:defRPr sz="140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使用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 lsmod | grep helloworld 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命令验证模块是否已成功加载至内核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，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输出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helloworld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说明成功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8346561" y="4224080"/>
            <a:ext cx="2997676" cy="1518196"/>
            <a:chOff x="6410382" y="3895606"/>
            <a:chExt cx="2997676" cy="1518196"/>
          </a:xfrm>
        </p:grpSpPr>
        <p:sp>
          <p:nvSpPr>
            <p:cNvPr id="26" name="文本"/>
            <p:cNvSpPr/>
            <p:nvPr/>
          </p:nvSpPr>
          <p:spPr>
            <a:xfrm>
              <a:off x="7754281" y="3895606"/>
              <a:ext cx="309880" cy="3987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endParaRPr lang="zh-CN" altLang="en-US" sz="2000" dirty="0">
                <a:solidFill>
                  <a:srgbClr val="595959"/>
                </a:solidFill>
                <a:latin typeface="+mj-ea"/>
                <a:ea typeface="思源黑体旧字形 Normal" panose="020B0400000000000000" pitchFamily="34" charset="-122"/>
                <a:cs typeface="Saturday Sans Regular" panose="02010600010101010101" charset="-122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6410382" y="4214922"/>
              <a:ext cx="2997676" cy="1198880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>
                <a:lnSpc>
                  <a:spcPct val="130000"/>
                </a:lnSpc>
                <a:defRPr sz="140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卸载模块，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sudo rmmod helloworld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用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dmesg | tail -1 </a:t>
              </a: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查看内核日志的最新一条，查看是否输出了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 “Goodbye Kernel”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</p:txBody>
        </p:sp>
      </p:grpSp>
      <p:pic>
        <p:nvPicPr>
          <p:cNvPr id="66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040" y="2552065"/>
            <a:ext cx="4281805" cy="64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1068" y="3371215"/>
            <a:ext cx="5269865" cy="405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2583" y="2552065"/>
            <a:ext cx="5268595" cy="567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2764621" y="299849"/>
            <a:ext cx="6662758" cy="368935"/>
            <a:chOff x="2824480" y="299849"/>
            <a:chExt cx="6662758" cy="368935"/>
          </a:xfrm>
        </p:grpSpPr>
        <p:sp>
          <p:nvSpPr>
            <p:cNvPr id="43" name="TextBox 7"/>
            <p:cNvSpPr>
              <a:spLocks noChangeArrowheads="1"/>
            </p:cNvSpPr>
            <p:nvPr/>
          </p:nvSpPr>
          <p:spPr bwMode="auto">
            <a:xfrm>
              <a:off x="5078899" y="299849"/>
              <a:ext cx="2153920" cy="3689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>
                <a:defRPr/>
              </a:pPr>
              <a:r>
                <a:rPr lang="zh-CN" altLang="en-US" sz="2400" dirty="0">
                  <a:solidFill>
                    <a:srgbClr val="656565"/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内存管理</a:t>
              </a:r>
              <a:endParaRPr lang="zh-CN" altLang="en-US" sz="2400" dirty="0">
                <a:solidFill>
                  <a:srgbClr val="656565"/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</p:txBody>
        </p:sp>
        <p:grpSp>
          <p:nvGrpSpPr>
            <p:cNvPr id="45" name="组合 44"/>
            <p:cNvGrpSpPr/>
            <p:nvPr/>
          </p:nvGrpSpPr>
          <p:grpSpPr>
            <a:xfrm>
              <a:off x="2824480" y="407080"/>
              <a:ext cx="2121238" cy="154870"/>
              <a:chOff x="2410381" y="3917516"/>
              <a:chExt cx="2121238" cy="154870"/>
            </a:xfrm>
          </p:grpSpPr>
          <p:cxnSp>
            <p:nvCxnSpPr>
              <p:cNvPr id="46" name="直接连接符 45"/>
              <p:cNvCxnSpPr/>
              <p:nvPr/>
            </p:nvCxnSpPr>
            <p:spPr>
              <a:xfrm>
                <a:off x="2410381" y="3994951"/>
                <a:ext cx="1903392" cy="0"/>
              </a:xfrm>
              <a:prstGeom prst="line">
                <a:avLst/>
              </a:prstGeom>
              <a:ln>
                <a:solidFill>
                  <a:srgbClr val="7E7E7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椭圆 46"/>
              <p:cNvSpPr/>
              <p:nvPr/>
            </p:nvSpPr>
            <p:spPr>
              <a:xfrm>
                <a:off x="4376749" y="3917516"/>
                <a:ext cx="154870" cy="154870"/>
              </a:xfrm>
              <a:prstGeom prst="ellipse">
                <a:avLst/>
              </a:prstGeom>
              <a:solidFill>
                <a:srgbClr val="67B7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0" name="组合 49"/>
            <p:cNvGrpSpPr/>
            <p:nvPr/>
          </p:nvGrpSpPr>
          <p:grpSpPr>
            <a:xfrm flipH="1">
              <a:off x="7366000" y="407080"/>
              <a:ext cx="2121238" cy="154870"/>
              <a:chOff x="2410381" y="3917516"/>
              <a:chExt cx="2121238" cy="154870"/>
            </a:xfrm>
          </p:grpSpPr>
          <p:cxnSp>
            <p:nvCxnSpPr>
              <p:cNvPr id="51" name="直接连接符 50"/>
              <p:cNvCxnSpPr/>
              <p:nvPr/>
            </p:nvCxnSpPr>
            <p:spPr>
              <a:xfrm>
                <a:off x="2410381" y="3994951"/>
                <a:ext cx="1903392" cy="0"/>
              </a:xfrm>
              <a:prstGeom prst="line">
                <a:avLst/>
              </a:prstGeom>
              <a:ln>
                <a:solidFill>
                  <a:srgbClr val="7E7E7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椭圆 51"/>
              <p:cNvSpPr/>
              <p:nvPr/>
            </p:nvSpPr>
            <p:spPr>
              <a:xfrm>
                <a:off x="4376749" y="3917516"/>
                <a:ext cx="154870" cy="154870"/>
              </a:xfrm>
              <a:prstGeom prst="ellipse">
                <a:avLst/>
              </a:prstGeom>
              <a:solidFill>
                <a:srgbClr val="67B7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934064" y="1733395"/>
            <a:ext cx="10323872" cy="3915092"/>
            <a:chOff x="844237" y="1724518"/>
            <a:chExt cx="10323872" cy="3915092"/>
          </a:xfrm>
        </p:grpSpPr>
        <p:grpSp>
          <p:nvGrpSpPr>
            <p:cNvPr id="2" name="组合 1"/>
            <p:cNvGrpSpPr/>
            <p:nvPr/>
          </p:nvGrpSpPr>
          <p:grpSpPr>
            <a:xfrm>
              <a:off x="844237" y="1724518"/>
              <a:ext cx="10323872" cy="3915092"/>
              <a:chOff x="391476" y="1724518"/>
              <a:chExt cx="10323872" cy="3915092"/>
            </a:xfrm>
          </p:grpSpPr>
          <p:sp>
            <p:nvSpPr>
              <p:cNvPr id="10" name="矩形 9"/>
              <p:cNvSpPr/>
              <p:nvPr/>
            </p:nvSpPr>
            <p:spPr>
              <a:xfrm>
                <a:off x="3740472" y="5273338"/>
                <a:ext cx="6974876" cy="366272"/>
              </a:xfrm>
              <a:prstGeom prst="rect">
                <a:avLst/>
              </a:prstGeom>
              <a:solidFill>
                <a:srgbClr val="67B7E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tymie Std Light Italic" panose="02010600010101010101" charset="-122"/>
                  <a:ea typeface="Stymie Std Light Italic" panose="02010600010101010101" charset="-122"/>
                  <a:cs typeface="+mn-ea"/>
                  <a:sym typeface="+mn-lt"/>
                </a:endParaRPr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391476" y="1724518"/>
                <a:ext cx="5125618" cy="2752524"/>
              </a:xfrm>
              <a:prstGeom prst="rect">
                <a:avLst/>
              </a:prstGeom>
              <a:solidFill>
                <a:srgbClr val="67B7E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tymie Std Light Italic" panose="02010600010101010101" charset="-122"/>
                  <a:ea typeface="Stymie Std Light Italic" panose="02010600010101010101" charset="-122"/>
                  <a:cs typeface="+mn-ea"/>
                  <a:sym typeface="+mn-lt"/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616890" y="1971933"/>
                <a:ext cx="5993782" cy="3450575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rgbClr val="67B7E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tymie Std Light Italic" panose="02010600010101010101" charset="-122"/>
                  <a:ea typeface="Stymie Std Light Italic" panose="02010600010101010101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1412376" y="2354611"/>
              <a:ext cx="5308471" cy="2860084"/>
              <a:chOff x="1083681" y="1883701"/>
              <a:chExt cx="5308471" cy="2860084"/>
            </a:xfrm>
          </p:grpSpPr>
          <p:sp>
            <p:nvSpPr>
              <p:cNvPr id="20" name="椭圆 19"/>
              <p:cNvSpPr/>
              <p:nvPr/>
            </p:nvSpPr>
            <p:spPr>
              <a:xfrm>
                <a:off x="1083681" y="1883701"/>
                <a:ext cx="572602" cy="572602"/>
              </a:xfrm>
              <a:prstGeom prst="ellipse">
                <a:avLst/>
              </a:prstGeom>
              <a:solidFill>
                <a:srgbClr val="67B7E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anum Gothic" panose="020D0604000000000000" charset="-127"/>
                  <a:ea typeface="思源黑体 CN Normal"/>
                  <a:cs typeface="+mn-cs"/>
                </a:endParaRPr>
              </a:p>
            </p:txBody>
          </p:sp>
          <p:grpSp>
            <p:nvGrpSpPr>
              <p:cNvPr id="21" name="组合 20"/>
              <p:cNvGrpSpPr/>
              <p:nvPr/>
            </p:nvGrpSpPr>
            <p:grpSpPr>
              <a:xfrm>
                <a:off x="1098792" y="1973915"/>
                <a:ext cx="5293360" cy="2769870"/>
                <a:chOff x="393733" y="4588799"/>
                <a:chExt cx="5293360" cy="2769870"/>
              </a:xfrm>
            </p:grpSpPr>
            <p:sp>
              <p:nvSpPr>
                <p:cNvPr id="23" name="文本"/>
                <p:cNvSpPr/>
                <p:nvPr/>
              </p:nvSpPr>
              <p:spPr>
                <a:xfrm>
                  <a:off x="1061967" y="4588799"/>
                  <a:ext cx="309880" cy="4603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endParaRPr lang="zh-CN" altLang="en-US" sz="2400" dirty="0">
                    <a:solidFill>
                      <a:srgbClr val="595959"/>
                    </a:solidFill>
                    <a:latin typeface="+mj-ea"/>
                    <a:ea typeface="思源黑体旧字形 Normal" panose="020B0400000000000000" pitchFamily="34" charset="-122"/>
                    <a:cs typeface="Saturday Sans Regular" panose="02010600010101010101" charset="-122"/>
                  </a:endParaRPr>
                </a:p>
              </p:txBody>
            </p:sp>
            <p:sp>
              <p:nvSpPr>
                <p:cNvPr id="24" name="文本框 23"/>
                <p:cNvSpPr txBox="1"/>
                <p:nvPr/>
              </p:nvSpPr>
              <p:spPr>
                <a:xfrm>
                  <a:off x="393733" y="5094894"/>
                  <a:ext cx="5293360" cy="2263775"/>
                </a:xfrm>
                <a:prstGeom prst="rect">
                  <a:avLst/>
                </a:prstGeom>
              </p:spPr>
              <p:txBody>
                <a:bodyPr wrap="square">
                  <a:noAutofit/>
                  <a:scene3d>
                    <a:camera prst="orthographicFront"/>
                    <a:lightRig rig="threePt" dir="t"/>
                  </a:scene3d>
                  <a:sp3d contourW="12700"/>
                </a:bodyPr>
                <a:lstStyle>
                  <a:defPPr>
                    <a:defRPr lang="zh-CN"/>
                  </a:defPPr>
                  <a:lvl1pPr>
                    <a:lnSpc>
                      <a:spcPct val="130000"/>
                    </a:lnSpc>
                    <a:defRPr sz="140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微软雅黑" panose="020B0503020204020204" charset="-122"/>
                    </a:defRPr>
                  </a:lvl1pPr>
                </a:lstStyle>
                <a:p>
                  <a:pPr>
                    <a:lnSpc>
                      <a:spcPct val="150000"/>
                    </a:lnSpc>
                  </a:pP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创建实验目录</a:t>
                  </a: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mkdir ~/memory_lab &amp;&amp; cd ~/memory_lab</a:t>
                  </a:r>
                  <a:endPara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编写内核模块代码</a:t>
                  </a: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：</a:t>
                  </a:r>
                  <a:endPara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创建文件：</a:t>
                  </a: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vi kmem.c</a:t>
                  </a:r>
                  <a:endPara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编写代码，如</a:t>
                  </a: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右图</a:t>
                  </a:r>
                  <a:endPara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该模块加载时，会分别分配</a:t>
                  </a: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 1024 </a:t>
                  </a: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字节的物理连续内存和</a:t>
                  </a: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 8192 </a:t>
                  </a: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字节的虚拟连续内存，并通过</a:t>
                  </a:r>
                  <a:r>
                    <a:rPr lang="en-US" altLang="zh-CN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 printk </a:t>
                  </a:r>
                  <a:r>
                    <a:rPr lang="zh-CN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输出内存地址。</a:t>
                  </a:r>
                  <a:endPara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endParaRPr>
                </a:p>
                <a:p>
                  <a:pPr>
                    <a:lnSpc>
                      <a:spcPct val="150000"/>
                    </a:lnSpc>
                  </a:pPr>
                  <a:endPara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endParaRPr>
                </a:p>
              </p:txBody>
            </p:sp>
          </p:grpSp>
          <p:sp>
            <p:nvSpPr>
              <p:cNvPr id="22" name="椭圆1"/>
              <p:cNvSpPr/>
              <p:nvPr/>
            </p:nvSpPr>
            <p:spPr>
              <a:xfrm>
                <a:off x="1204481" y="2019966"/>
                <a:ext cx="311899" cy="268742"/>
              </a:xfrm>
              <a:custGeom>
                <a:avLst/>
                <a:gdLst>
                  <a:gd name="connsiteX0" fmla="*/ 124340 w 469943"/>
                  <a:gd name="connsiteY0" fmla="*/ 122210 h 404917"/>
                  <a:gd name="connsiteX1" fmla="*/ 212473 w 469943"/>
                  <a:gd name="connsiteY1" fmla="*/ 10885 h 404917"/>
                  <a:gd name="connsiteX2" fmla="*/ 252784 w 469943"/>
                  <a:gd name="connsiteY2" fmla="*/ 6199 h 404917"/>
                  <a:gd name="connsiteX3" fmla="*/ 257470 w 469943"/>
                  <a:gd name="connsiteY3" fmla="*/ 10885 h 404917"/>
                  <a:gd name="connsiteX4" fmla="*/ 345603 w 469943"/>
                  <a:gd name="connsiteY4" fmla="*/ 122210 h 404917"/>
                  <a:gd name="connsiteX5" fmla="*/ 429946 w 469943"/>
                  <a:gd name="connsiteY5" fmla="*/ 86065 h 404917"/>
                  <a:gd name="connsiteX6" fmla="*/ 467624 w 469943"/>
                  <a:gd name="connsiteY6" fmla="*/ 101141 h 404917"/>
                  <a:gd name="connsiteX7" fmla="*/ 469346 w 469943"/>
                  <a:gd name="connsiteY7" fmla="*/ 118268 h 404917"/>
                  <a:gd name="connsiteX8" fmla="*/ 420090 w 469943"/>
                  <a:gd name="connsiteY8" fmla="*/ 355591 h 404917"/>
                  <a:gd name="connsiteX9" fmla="*/ 359467 w 469943"/>
                  <a:gd name="connsiteY9" fmla="*/ 404918 h 404917"/>
                  <a:gd name="connsiteX10" fmla="*/ 110477 w 469943"/>
                  <a:gd name="connsiteY10" fmla="*/ 404918 h 404917"/>
                  <a:gd name="connsiteX11" fmla="*/ 49854 w 469943"/>
                  <a:gd name="connsiteY11" fmla="*/ 355591 h 404917"/>
                  <a:gd name="connsiteX12" fmla="*/ 603 w 469943"/>
                  <a:gd name="connsiteY12" fmla="*/ 118268 h 404917"/>
                  <a:gd name="connsiteX13" fmla="*/ 22876 w 469943"/>
                  <a:gd name="connsiteY13" fmla="*/ 84343 h 404917"/>
                  <a:gd name="connsiteX14" fmla="*/ 40002 w 469943"/>
                  <a:gd name="connsiteY14" fmla="*/ 86065 h 404917"/>
                  <a:gd name="connsiteX15" fmla="*/ 124346 w 469943"/>
                  <a:gd name="connsiteY15" fmla="*/ 122210 h 404917"/>
                  <a:gd name="connsiteX16" fmla="*/ 234972 w 469943"/>
                  <a:gd name="connsiteY16" fmla="*/ 39252 h 404917"/>
                  <a:gd name="connsiteX17" fmla="*/ 148866 w 469943"/>
                  <a:gd name="connsiteY17" fmla="*/ 148015 h 404917"/>
                  <a:gd name="connsiteX18" fmla="*/ 115065 w 469943"/>
                  <a:gd name="connsiteY18" fmla="*/ 156580 h 404917"/>
                  <a:gd name="connsiteX19" fmla="*/ 37664 w 469943"/>
                  <a:gd name="connsiteY19" fmla="*/ 123408 h 404917"/>
                  <a:gd name="connsiteX20" fmla="*/ 84365 w 469943"/>
                  <a:gd name="connsiteY20" fmla="*/ 348424 h 404917"/>
                  <a:gd name="connsiteX21" fmla="*/ 110471 w 469943"/>
                  <a:gd name="connsiteY21" fmla="*/ 369672 h 404917"/>
                  <a:gd name="connsiteX22" fmla="*/ 359472 w 469943"/>
                  <a:gd name="connsiteY22" fmla="*/ 369672 h 404917"/>
                  <a:gd name="connsiteX23" fmla="*/ 385578 w 469943"/>
                  <a:gd name="connsiteY23" fmla="*/ 348424 h 404917"/>
                  <a:gd name="connsiteX24" fmla="*/ 432279 w 469943"/>
                  <a:gd name="connsiteY24" fmla="*/ 123408 h 404917"/>
                  <a:gd name="connsiteX25" fmla="*/ 354879 w 469943"/>
                  <a:gd name="connsiteY25" fmla="*/ 156580 h 404917"/>
                  <a:gd name="connsiteX26" fmla="*/ 321078 w 469943"/>
                  <a:gd name="connsiteY26" fmla="*/ 148015 h 404917"/>
                  <a:gd name="connsiteX27" fmla="*/ 234972 w 469943"/>
                  <a:gd name="connsiteY27" fmla="*/ 39252 h 404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69943" h="404917">
                    <a:moveTo>
                      <a:pt x="124340" y="122210"/>
                    </a:moveTo>
                    <a:lnTo>
                      <a:pt x="212473" y="10885"/>
                    </a:lnTo>
                    <a:cubicBezTo>
                      <a:pt x="222311" y="-1541"/>
                      <a:pt x="240358" y="-3639"/>
                      <a:pt x="252784" y="6199"/>
                    </a:cubicBezTo>
                    <a:cubicBezTo>
                      <a:pt x="254522" y="7574"/>
                      <a:pt x="256094" y="9147"/>
                      <a:pt x="257470" y="10885"/>
                    </a:cubicBezTo>
                    <a:lnTo>
                      <a:pt x="345603" y="122210"/>
                    </a:lnTo>
                    <a:lnTo>
                      <a:pt x="429946" y="86065"/>
                    </a:lnTo>
                    <a:cubicBezTo>
                      <a:pt x="444515" y="79824"/>
                      <a:pt x="461384" y="86574"/>
                      <a:pt x="467624" y="101141"/>
                    </a:cubicBezTo>
                    <a:cubicBezTo>
                      <a:pt x="469937" y="106540"/>
                      <a:pt x="470538" y="112518"/>
                      <a:pt x="469346" y="118268"/>
                    </a:cubicBezTo>
                    <a:lnTo>
                      <a:pt x="420090" y="355591"/>
                    </a:lnTo>
                    <a:cubicBezTo>
                      <a:pt x="414125" y="384323"/>
                      <a:pt x="388810" y="404921"/>
                      <a:pt x="359467" y="404918"/>
                    </a:cubicBezTo>
                    <a:lnTo>
                      <a:pt x="110477" y="404918"/>
                    </a:lnTo>
                    <a:cubicBezTo>
                      <a:pt x="81133" y="404921"/>
                      <a:pt x="55818" y="384323"/>
                      <a:pt x="49854" y="355591"/>
                    </a:cubicBezTo>
                    <a:lnTo>
                      <a:pt x="603" y="118268"/>
                    </a:lnTo>
                    <a:cubicBezTo>
                      <a:pt x="-2614" y="102750"/>
                      <a:pt x="7358" y="87561"/>
                      <a:pt x="22876" y="84343"/>
                    </a:cubicBezTo>
                    <a:cubicBezTo>
                      <a:pt x="28627" y="83151"/>
                      <a:pt x="34604" y="83752"/>
                      <a:pt x="40002" y="86065"/>
                    </a:cubicBezTo>
                    <a:lnTo>
                      <a:pt x="124346" y="122210"/>
                    </a:lnTo>
                    <a:close/>
                    <a:moveTo>
                      <a:pt x="234972" y="39252"/>
                    </a:moveTo>
                    <a:lnTo>
                      <a:pt x="148866" y="148015"/>
                    </a:lnTo>
                    <a:cubicBezTo>
                      <a:pt x="140824" y="158173"/>
                      <a:pt x="126973" y="161683"/>
                      <a:pt x="115065" y="156580"/>
                    </a:cubicBezTo>
                    <a:lnTo>
                      <a:pt x="37664" y="123408"/>
                    </a:lnTo>
                    <a:lnTo>
                      <a:pt x="84365" y="348424"/>
                    </a:lnTo>
                    <a:cubicBezTo>
                      <a:pt x="86932" y="360798"/>
                      <a:pt x="97833" y="369671"/>
                      <a:pt x="110471" y="369672"/>
                    </a:cubicBezTo>
                    <a:lnTo>
                      <a:pt x="359472" y="369672"/>
                    </a:lnTo>
                    <a:cubicBezTo>
                      <a:pt x="372110" y="369671"/>
                      <a:pt x="383011" y="360798"/>
                      <a:pt x="385578" y="348424"/>
                    </a:cubicBezTo>
                    <a:lnTo>
                      <a:pt x="432279" y="123408"/>
                    </a:lnTo>
                    <a:lnTo>
                      <a:pt x="354879" y="156580"/>
                    </a:lnTo>
                    <a:cubicBezTo>
                      <a:pt x="342970" y="161683"/>
                      <a:pt x="329119" y="158173"/>
                      <a:pt x="321078" y="148015"/>
                    </a:cubicBezTo>
                    <a:lnTo>
                      <a:pt x="234972" y="39252"/>
                    </a:lnTo>
                    <a:close/>
                  </a:path>
                </a:pathLst>
              </a:cu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accent3"/>
                  </a:solidFill>
                </a:endParaRPr>
              </a:p>
            </p:txBody>
          </p:sp>
        </p:grpSp>
      </p:grpSp>
      <p:pic>
        <p:nvPicPr>
          <p:cNvPr id="73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7168" y="832803"/>
            <a:ext cx="5271135" cy="1147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图片 21"/>
          <p:cNvPicPr>
            <a:picLocks noChangeAspect="1"/>
          </p:cNvPicPr>
          <p:nvPr/>
        </p:nvPicPr>
        <p:blipFill>
          <a:blip r:embed="rId2"/>
          <a:srcRect r="24532"/>
          <a:stretch>
            <a:fillRect/>
          </a:stretch>
        </p:blipFill>
        <p:spPr>
          <a:xfrm>
            <a:off x="7813040" y="2145030"/>
            <a:ext cx="2739390" cy="46259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"/>
          <p:cNvSpPr/>
          <p:nvPr/>
        </p:nvSpPr>
        <p:spPr>
          <a:xfrm>
            <a:off x="2185548" y="2453702"/>
            <a:ext cx="2621280" cy="460375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zh-CN" altLang="en-US" sz="2400" dirty="0">
                <a:solidFill>
                  <a:srgbClr val="595959"/>
                </a:solidFill>
                <a:latin typeface="+mj-ea"/>
                <a:ea typeface="思源黑体旧字形 Normal" panose="020B0400000000000000" pitchFamily="34" charset="-122"/>
                <a:cs typeface="Saturday Sans Regular" panose="02010600010101010101" charset="-122"/>
              </a:rPr>
              <a:t>内核模块内存</a:t>
            </a:r>
            <a:r>
              <a:rPr lang="zh-CN" altLang="en-US" sz="2400" dirty="0">
                <a:solidFill>
                  <a:srgbClr val="595959"/>
                </a:solidFill>
                <a:latin typeface="+mj-ea"/>
                <a:ea typeface="思源黑体旧字形 Normal" panose="020B0400000000000000" pitchFamily="34" charset="-122"/>
                <a:cs typeface="Saturday Sans Regular" panose="02010600010101010101" charset="-122"/>
              </a:rPr>
              <a:t>操作</a:t>
            </a:r>
            <a:endParaRPr lang="zh-CN" altLang="en-US" sz="2400" dirty="0">
              <a:solidFill>
                <a:srgbClr val="595959"/>
              </a:solidFill>
              <a:latin typeface="+mj-ea"/>
              <a:ea typeface="思源黑体旧字形 Normal" panose="020B0400000000000000" pitchFamily="34" charset="-122"/>
              <a:cs typeface="Saturday Sans Regular" panose="02010600010101010101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2764621" y="299849"/>
            <a:ext cx="6662758" cy="368935"/>
            <a:chOff x="2824480" y="299849"/>
            <a:chExt cx="6662758" cy="368935"/>
          </a:xfrm>
        </p:grpSpPr>
        <p:sp>
          <p:nvSpPr>
            <p:cNvPr id="43" name="TextBox 7"/>
            <p:cNvSpPr>
              <a:spLocks noChangeArrowheads="1"/>
            </p:cNvSpPr>
            <p:nvPr/>
          </p:nvSpPr>
          <p:spPr bwMode="auto">
            <a:xfrm>
              <a:off x="5078899" y="299849"/>
              <a:ext cx="2153920" cy="3689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>
                <a:defRPr/>
              </a:pPr>
              <a:r>
                <a:rPr lang="zh-CN" altLang="en-US" sz="2400" dirty="0">
                  <a:solidFill>
                    <a:srgbClr val="656565"/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内存管理</a:t>
              </a:r>
              <a:endParaRPr lang="zh-CN" altLang="en-US" sz="2400" dirty="0">
                <a:solidFill>
                  <a:srgbClr val="656565"/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</p:txBody>
        </p:sp>
        <p:grpSp>
          <p:nvGrpSpPr>
            <p:cNvPr id="45" name="组合 44"/>
            <p:cNvGrpSpPr/>
            <p:nvPr/>
          </p:nvGrpSpPr>
          <p:grpSpPr>
            <a:xfrm>
              <a:off x="2824480" y="407080"/>
              <a:ext cx="2121238" cy="154870"/>
              <a:chOff x="2410381" y="3917516"/>
              <a:chExt cx="2121238" cy="154870"/>
            </a:xfrm>
          </p:grpSpPr>
          <p:cxnSp>
            <p:nvCxnSpPr>
              <p:cNvPr id="46" name="直接连接符 45"/>
              <p:cNvCxnSpPr/>
              <p:nvPr/>
            </p:nvCxnSpPr>
            <p:spPr>
              <a:xfrm>
                <a:off x="2410381" y="3994951"/>
                <a:ext cx="1903392" cy="0"/>
              </a:xfrm>
              <a:prstGeom prst="line">
                <a:avLst/>
              </a:prstGeom>
              <a:ln>
                <a:solidFill>
                  <a:srgbClr val="7E7E7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椭圆 46"/>
              <p:cNvSpPr/>
              <p:nvPr/>
            </p:nvSpPr>
            <p:spPr>
              <a:xfrm>
                <a:off x="4376749" y="3917516"/>
                <a:ext cx="154870" cy="154870"/>
              </a:xfrm>
              <a:prstGeom prst="ellipse">
                <a:avLst/>
              </a:prstGeom>
              <a:solidFill>
                <a:srgbClr val="67B7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0" name="组合 49"/>
            <p:cNvGrpSpPr/>
            <p:nvPr/>
          </p:nvGrpSpPr>
          <p:grpSpPr>
            <a:xfrm flipH="1">
              <a:off x="7366000" y="407080"/>
              <a:ext cx="2121238" cy="154870"/>
              <a:chOff x="2410381" y="3917516"/>
              <a:chExt cx="2121238" cy="154870"/>
            </a:xfrm>
          </p:grpSpPr>
          <p:cxnSp>
            <p:nvCxnSpPr>
              <p:cNvPr id="51" name="直接连接符 50"/>
              <p:cNvCxnSpPr/>
              <p:nvPr/>
            </p:nvCxnSpPr>
            <p:spPr>
              <a:xfrm>
                <a:off x="2410381" y="3994951"/>
                <a:ext cx="1903392" cy="0"/>
              </a:xfrm>
              <a:prstGeom prst="line">
                <a:avLst/>
              </a:prstGeom>
              <a:ln>
                <a:solidFill>
                  <a:srgbClr val="7E7E7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椭圆 51"/>
              <p:cNvSpPr/>
              <p:nvPr/>
            </p:nvSpPr>
            <p:spPr>
              <a:xfrm>
                <a:off x="4376749" y="3917516"/>
                <a:ext cx="154870" cy="154870"/>
              </a:xfrm>
              <a:prstGeom prst="ellipse">
                <a:avLst/>
              </a:prstGeom>
              <a:solidFill>
                <a:srgbClr val="67B7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934064" y="1733395"/>
            <a:ext cx="10323872" cy="3915092"/>
            <a:chOff x="844237" y="1724518"/>
            <a:chExt cx="10323872" cy="3915092"/>
          </a:xfrm>
        </p:grpSpPr>
        <p:grpSp>
          <p:nvGrpSpPr>
            <p:cNvPr id="2" name="组合 1"/>
            <p:cNvGrpSpPr/>
            <p:nvPr/>
          </p:nvGrpSpPr>
          <p:grpSpPr>
            <a:xfrm>
              <a:off x="844237" y="1724518"/>
              <a:ext cx="10323872" cy="3915092"/>
              <a:chOff x="391476" y="1724518"/>
              <a:chExt cx="10323872" cy="3915092"/>
            </a:xfrm>
          </p:grpSpPr>
          <p:sp>
            <p:nvSpPr>
              <p:cNvPr id="10" name="矩形 9"/>
              <p:cNvSpPr/>
              <p:nvPr/>
            </p:nvSpPr>
            <p:spPr>
              <a:xfrm>
                <a:off x="3740472" y="5273338"/>
                <a:ext cx="6974876" cy="366272"/>
              </a:xfrm>
              <a:prstGeom prst="rect">
                <a:avLst/>
              </a:prstGeom>
              <a:solidFill>
                <a:srgbClr val="67B7E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tymie Std Light Italic" panose="02010600010101010101" charset="-122"/>
                  <a:ea typeface="Stymie Std Light Italic" panose="02010600010101010101" charset="-122"/>
                  <a:cs typeface="+mn-ea"/>
                  <a:sym typeface="+mn-lt"/>
                </a:endParaRPr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391476" y="1724518"/>
                <a:ext cx="5125618" cy="2752524"/>
              </a:xfrm>
              <a:prstGeom prst="rect">
                <a:avLst/>
              </a:prstGeom>
              <a:solidFill>
                <a:srgbClr val="67B7E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tymie Std Light Italic" panose="02010600010101010101" charset="-122"/>
                  <a:ea typeface="Stymie Std Light Italic" panose="02010600010101010101" charset="-122"/>
                  <a:cs typeface="+mn-ea"/>
                  <a:sym typeface="+mn-lt"/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616890" y="1971933"/>
                <a:ext cx="5993782" cy="3450575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rgbClr val="67B7E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tymie Std Light Italic" panose="02010600010101010101" charset="-122"/>
                  <a:ea typeface="Stymie Std Light Italic" panose="02010600010101010101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1412376" y="2354611"/>
              <a:ext cx="5308471" cy="2860084"/>
              <a:chOff x="1083681" y="1883701"/>
              <a:chExt cx="5308471" cy="2860084"/>
            </a:xfrm>
          </p:grpSpPr>
          <p:sp>
            <p:nvSpPr>
              <p:cNvPr id="20" name="椭圆 19"/>
              <p:cNvSpPr/>
              <p:nvPr/>
            </p:nvSpPr>
            <p:spPr>
              <a:xfrm>
                <a:off x="1083681" y="1883701"/>
                <a:ext cx="572602" cy="572602"/>
              </a:xfrm>
              <a:prstGeom prst="ellipse">
                <a:avLst/>
              </a:prstGeom>
              <a:solidFill>
                <a:srgbClr val="67B7E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anum Gothic" panose="020D0604000000000000" charset="-127"/>
                  <a:ea typeface="思源黑体 CN Normal"/>
                  <a:cs typeface="+mn-cs"/>
                </a:endParaRPr>
              </a:p>
            </p:txBody>
          </p:sp>
          <p:grpSp>
            <p:nvGrpSpPr>
              <p:cNvPr id="21" name="组合 20"/>
              <p:cNvGrpSpPr/>
              <p:nvPr/>
            </p:nvGrpSpPr>
            <p:grpSpPr>
              <a:xfrm>
                <a:off x="1098792" y="1973915"/>
                <a:ext cx="5293360" cy="2769870"/>
                <a:chOff x="393733" y="4588799"/>
                <a:chExt cx="5293360" cy="2769870"/>
              </a:xfrm>
            </p:grpSpPr>
            <p:sp>
              <p:nvSpPr>
                <p:cNvPr id="23" name="文本"/>
                <p:cNvSpPr/>
                <p:nvPr/>
              </p:nvSpPr>
              <p:spPr>
                <a:xfrm>
                  <a:off x="1061967" y="4588799"/>
                  <a:ext cx="309880" cy="4603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endParaRPr lang="zh-CN" altLang="en-US" sz="2400" dirty="0">
                    <a:solidFill>
                      <a:srgbClr val="595959"/>
                    </a:solidFill>
                    <a:latin typeface="+mj-ea"/>
                    <a:ea typeface="思源黑体旧字形 Normal" panose="020B0400000000000000" pitchFamily="34" charset="-122"/>
                    <a:cs typeface="Saturday Sans Regular" panose="02010600010101010101" charset="-122"/>
                  </a:endParaRPr>
                </a:p>
              </p:txBody>
            </p:sp>
            <p:sp>
              <p:nvSpPr>
                <p:cNvPr id="24" name="文本框 23"/>
                <p:cNvSpPr txBox="1"/>
                <p:nvPr/>
              </p:nvSpPr>
              <p:spPr>
                <a:xfrm>
                  <a:off x="393733" y="5094894"/>
                  <a:ext cx="5293360" cy="2263775"/>
                </a:xfrm>
                <a:prstGeom prst="rect">
                  <a:avLst/>
                </a:prstGeom>
              </p:spPr>
              <p:txBody>
                <a:bodyPr wrap="square">
                  <a:noAutofit/>
                  <a:scene3d>
                    <a:camera prst="orthographicFront"/>
                    <a:lightRig rig="threePt" dir="t"/>
                  </a:scene3d>
                  <a:sp3d contourW="12700"/>
                </a:bodyPr>
                <a:lstStyle>
                  <a:defPPr>
                    <a:defRPr lang="zh-CN"/>
                  </a:defPPr>
                  <a:lvl1pPr>
                    <a:lnSpc>
                      <a:spcPct val="130000"/>
                    </a:lnSpc>
                    <a:defRPr sz="140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微软雅黑" panose="020B0503020204020204" charset="-122"/>
                    </a:defRPr>
                  </a:lvl1pPr>
                </a:lstStyle>
                <a:p>
                  <a:pPr>
                    <a:lnSpc>
                      <a:spcPct val="150000"/>
                    </a:lnSpc>
                  </a:pPr>
                  <a:r>
                    <a:rPr lang="zh-CN" altLang="en-US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编写</a:t>
                  </a:r>
                  <a:r>
                    <a:rPr lang="en-US" altLang="zh-CN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Makefile, </a:t>
                  </a:r>
                  <a:r>
                    <a:rPr lang="zh-CN" altLang="en-US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编译之前写</a:t>
                  </a:r>
                  <a:r>
                    <a:rPr lang="en-US" altLang="zh-CN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kmem.c,</a:t>
                  </a:r>
                  <a:r>
                    <a:rPr lang="zh-CN" altLang="en-US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如右图</a:t>
                  </a:r>
                  <a:endPara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zh-CN" altLang="en-US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思源黑体旧字形 Normal" panose="020B0400000000000000" pitchFamily="34" charset="-122"/>
                      <a:ea typeface="思源黑体旧字形 Normal" panose="020B0400000000000000" pitchFamily="34" charset="-122"/>
                    </a:rPr>
                    <a:t>编译，并查看结果</a:t>
                  </a:r>
                  <a:endPara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旧字形 Normal" panose="020B0400000000000000" pitchFamily="34" charset="-122"/>
                    <a:ea typeface="思源黑体旧字形 Normal" panose="020B0400000000000000" pitchFamily="34" charset="-122"/>
                  </a:endParaRPr>
                </a:p>
              </p:txBody>
            </p:sp>
          </p:grpSp>
          <p:sp>
            <p:nvSpPr>
              <p:cNvPr id="22" name="椭圆1"/>
              <p:cNvSpPr/>
              <p:nvPr/>
            </p:nvSpPr>
            <p:spPr>
              <a:xfrm>
                <a:off x="1204481" y="2019966"/>
                <a:ext cx="311899" cy="268742"/>
              </a:xfrm>
              <a:custGeom>
                <a:avLst/>
                <a:gdLst>
                  <a:gd name="connsiteX0" fmla="*/ 124340 w 469943"/>
                  <a:gd name="connsiteY0" fmla="*/ 122210 h 404917"/>
                  <a:gd name="connsiteX1" fmla="*/ 212473 w 469943"/>
                  <a:gd name="connsiteY1" fmla="*/ 10885 h 404917"/>
                  <a:gd name="connsiteX2" fmla="*/ 252784 w 469943"/>
                  <a:gd name="connsiteY2" fmla="*/ 6199 h 404917"/>
                  <a:gd name="connsiteX3" fmla="*/ 257470 w 469943"/>
                  <a:gd name="connsiteY3" fmla="*/ 10885 h 404917"/>
                  <a:gd name="connsiteX4" fmla="*/ 345603 w 469943"/>
                  <a:gd name="connsiteY4" fmla="*/ 122210 h 404917"/>
                  <a:gd name="connsiteX5" fmla="*/ 429946 w 469943"/>
                  <a:gd name="connsiteY5" fmla="*/ 86065 h 404917"/>
                  <a:gd name="connsiteX6" fmla="*/ 467624 w 469943"/>
                  <a:gd name="connsiteY6" fmla="*/ 101141 h 404917"/>
                  <a:gd name="connsiteX7" fmla="*/ 469346 w 469943"/>
                  <a:gd name="connsiteY7" fmla="*/ 118268 h 404917"/>
                  <a:gd name="connsiteX8" fmla="*/ 420090 w 469943"/>
                  <a:gd name="connsiteY8" fmla="*/ 355591 h 404917"/>
                  <a:gd name="connsiteX9" fmla="*/ 359467 w 469943"/>
                  <a:gd name="connsiteY9" fmla="*/ 404918 h 404917"/>
                  <a:gd name="connsiteX10" fmla="*/ 110477 w 469943"/>
                  <a:gd name="connsiteY10" fmla="*/ 404918 h 404917"/>
                  <a:gd name="connsiteX11" fmla="*/ 49854 w 469943"/>
                  <a:gd name="connsiteY11" fmla="*/ 355591 h 404917"/>
                  <a:gd name="connsiteX12" fmla="*/ 603 w 469943"/>
                  <a:gd name="connsiteY12" fmla="*/ 118268 h 404917"/>
                  <a:gd name="connsiteX13" fmla="*/ 22876 w 469943"/>
                  <a:gd name="connsiteY13" fmla="*/ 84343 h 404917"/>
                  <a:gd name="connsiteX14" fmla="*/ 40002 w 469943"/>
                  <a:gd name="connsiteY14" fmla="*/ 86065 h 404917"/>
                  <a:gd name="connsiteX15" fmla="*/ 124346 w 469943"/>
                  <a:gd name="connsiteY15" fmla="*/ 122210 h 404917"/>
                  <a:gd name="connsiteX16" fmla="*/ 234972 w 469943"/>
                  <a:gd name="connsiteY16" fmla="*/ 39252 h 404917"/>
                  <a:gd name="connsiteX17" fmla="*/ 148866 w 469943"/>
                  <a:gd name="connsiteY17" fmla="*/ 148015 h 404917"/>
                  <a:gd name="connsiteX18" fmla="*/ 115065 w 469943"/>
                  <a:gd name="connsiteY18" fmla="*/ 156580 h 404917"/>
                  <a:gd name="connsiteX19" fmla="*/ 37664 w 469943"/>
                  <a:gd name="connsiteY19" fmla="*/ 123408 h 404917"/>
                  <a:gd name="connsiteX20" fmla="*/ 84365 w 469943"/>
                  <a:gd name="connsiteY20" fmla="*/ 348424 h 404917"/>
                  <a:gd name="connsiteX21" fmla="*/ 110471 w 469943"/>
                  <a:gd name="connsiteY21" fmla="*/ 369672 h 404917"/>
                  <a:gd name="connsiteX22" fmla="*/ 359472 w 469943"/>
                  <a:gd name="connsiteY22" fmla="*/ 369672 h 404917"/>
                  <a:gd name="connsiteX23" fmla="*/ 385578 w 469943"/>
                  <a:gd name="connsiteY23" fmla="*/ 348424 h 404917"/>
                  <a:gd name="connsiteX24" fmla="*/ 432279 w 469943"/>
                  <a:gd name="connsiteY24" fmla="*/ 123408 h 404917"/>
                  <a:gd name="connsiteX25" fmla="*/ 354879 w 469943"/>
                  <a:gd name="connsiteY25" fmla="*/ 156580 h 404917"/>
                  <a:gd name="connsiteX26" fmla="*/ 321078 w 469943"/>
                  <a:gd name="connsiteY26" fmla="*/ 148015 h 404917"/>
                  <a:gd name="connsiteX27" fmla="*/ 234972 w 469943"/>
                  <a:gd name="connsiteY27" fmla="*/ 39252 h 404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69943" h="404917">
                    <a:moveTo>
                      <a:pt x="124340" y="122210"/>
                    </a:moveTo>
                    <a:lnTo>
                      <a:pt x="212473" y="10885"/>
                    </a:lnTo>
                    <a:cubicBezTo>
                      <a:pt x="222311" y="-1541"/>
                      <a:pt x="240358" y="-3639"/>
                      <a:pt x="252784" y="6199"/>
                    </a:cubicBezTo>
                    <a:cubicBezTo>
                      <a:pt x="254522" y="7574"/>
                      <a:pt x="256094" y="9147"/>
                      <a:pt x="257470" y="10885"/>
                    </a:cubicBezTo>
                    <a:lnTo>
                      <a:pt x="345603" y="122210"/>
                    </a:lnTo>
                    <a:lnTo>
                      <a:pt x="429946" y="86065"/>
                    </a:lnTo>
                    <a:cubicBezTo>
                      <a:pt x="444515" y="79824"/>
                      <a:pt x="461384" y="86574"/>
                      <a:pt x="467624" y="101141"/>
                    </a:cubicBezTo>
                    <a:cubicBezTo>
                      <a:pt x="469937" y="106540"/>
                      <a:pt x="470538" y="112518"/>
                      <a:pt x="469346" y="118268"/>
                    </a:cubicBezTo>
                    <a:lnTo>
                      <a:pt x="420090" y="355591"/>
                    </a:lnTo>
                    <a:cubicBezTo>
                      <a:pt x="414125" y="384323"/>
                      <a:pt x="388810" y="404921"/>
                      <a:pt x="359467" y="404918"/>
                    </a:cubicBezTo>
                    <a:lnTo>
                      <a:pt x="110477" y="404918"/>
                    </a:lnTo>
                    <a:cubicBezTo>
                      <a:pt x="81133" y="404921"/>
                      <a:pt x="55818" y="384323"/>
                      <a:pt x="49854" y="355591"/>
                    </a:cubicBezTo>
                    <a:lnTo>
                      <a:pt x="603" y="118268"/>
                    </a:lnTo>
                    <a:cubicBezTo>
                      <a:pt x="-2614" y="102750"/>
                      <a:pt x="7358" y="87561"/>
                      <a:pt x="22876" y="84343"/>
                    </a:cubicBezTo>
                    <a:cubicBezTo>
                      <a:pt x="28627" y="83151"/>
                      <a:pt x="34604" y="83752"/>
                      <a:pt x="40002" y="86065"/>
                    </a:cubicBezTo>
                    <a:lnTo>
                      <a:pt x="124346" y="122210"/>
                    </a:lnTo>
                    <a:close/>
                    <a:moveTo>
                      <a:pt x="234972" y="39252"/>
                    </a:moveTo>
                    <a:lnTo>
                      <a:pt x="148866" y="148015"/>
                    </a:lnTo>
                    <a:cubicBezTo>
                      <a:pt x="140824" y="158173"/>
                      <a:pt x="126973" y="161683"/>
                      <a:pt x="115065" y="156580"/>
                    </a:cubicBezTo>
                    <a:lnTo>
                      <a:pt x="37664" y="123408"/>
                    </a:lnTo>
                    <a:lnTo>
                      <a:pt x="84365" y="348424"/>
                    </a:lnTo>
                    <a:cubicBezTo>
                      <a:pt x="86932" y="360798"/>
                      <a:pt x="97833" y="369671"/>
                      <a:pt x="110471" y="369672"/>
                    </a:cubicBezTo>
                    <a:lnTo>
                      <a:pt x="359472" y="369672"/>
                    </a:lnTo>
                    <a:cubicBezTo>
                      <a:pt x="372110" y="369671"/>
                      <a:pt x="383011" y="360798"/>
                      <a:pt x="385578" y="348424"/>
                    </a:cubicBezTo>
                    <a:lnTo>
                      <a:pt x="432279" y="123408"/>
                    </a:lnTo>
                    <a:lnTo>
                      <a:pt x="354879" y="156580"/>
                    </a:lnTo>
                    <a:cubicBezTo>
                      <a:pt x="342970" y="161683"/>
                      <a:pt x="329119" y="158173"/>
                      <a:pt x="321078" y="148015"/>
                    </a:cubicBezTo>
                    <a:lnTo>
                      <a:pt x="234972" y="39252"/>
                    </a:lnTo>
                    <a:close/>
                  </a:path>
                </a:pathLst>
              </a:cu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accent3"/>
                  </a:solidFill>
                </a:endParaRPr>
              </a:p>
            </p:txBody>
          </p:sp>
        </p:grpSp>
      </p:grpSp>
      <p:sp>
        <p:nvSpPr>
          <p:cNvPr id="4" name="文本"/>
          <p:cNvSpPr/>
          <p:nvPr/>
        </p:nvSpPr>
        <p:spPr>
          <a:xfrm>
            <a:off x="2185548" y="2453702"/>
            <a:ext cx="2621280" cy="460375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zh-CN" altLang="en-US" sz="2400" dirty="0">
                <a:solidFill>
                  <a:srgbClr val="595959"/>
                </a:solidFill>
                <a:latin typeface="+mj-ea"/>
                <a:ea typeface="思源黑体旧字形 Normal" panose="020B0400000000000000" pitchFamily="34" charset="-122"/>
                <a:cs typeface="Saturday Sans Regular" panose="02010600010101010101" charset="-122"/>
              </a:rPr>
              <a:t>内核模块内存</a:t>
            </a:r>
            <a:r>
              <a:rPr lang="zh-CN" altLang="en-US" sz="2400" dirty="0">
                <a:solidFill>
                  <a:srgbClr val="595959"/>
                </a:solidFill>
                <a:latin typeface="+mj-ea"/>
                <a:ea typeface="思源黑体旧字形 Normal" panose="020B0400000000000000" pitchFamily="34" charset="-122"/>
                <a:cs typeface="Saturday Sans Regular" panose="02010600010101010101" charset="-122"/>
              </a:rPr>
              <a:t>操作</a:t>
            </a:r>
            <a:endParaRPr lang="zh-CN" altLang="en-US" sz="2400" dirty="0">
              <a:solidFill>
                <a:srgbClr val="595959"/>
              </a:solidFill>
              <a:latin typeface="+mj-ea"/>
              <a:ea typeface="思源黑体旧字形 Normal" panose="020B0400000000000000" pitchFamily="34" charset="-122"/>
              <a:cs typeface="Saturday Sans Regular" panose="02010600010101010101" charset="-122"/>
            </a:endParaRPr>
          </a:p>
        </p:txBody>
      </p:sp>
      <p:pic>
        <p:nvPicPr>
          <p:cNvPr id="76" name="图片 23"/>
          <p:cNvPicPr>
            <a:picLocks noChangeAspect="1"/>
          </p:cNvPicPr>
          <p:nvPr/>
        </p:nvPicPr>
        <p:blipFill>
          <a:blip r:embed="rId1"/>
          <a:srcRect b="54023"/>
          <a:stretch>
            <a:fillRect/>
          </a:stretch>
        </p:blipFill>
        <p:spPr>
          <a:xfrm>
            <a:off x="7305993" y="758190"/>
            <a:ext cx="4563745" cy="1353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2900" y="2959735"/>
            <a:ext cx="5267960" cy="1023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图片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2583" y="4485323"/>
            <a:ext cx="5272405" cy="12884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2764621" y="299849"/>
            <a:ext cx="6662758" cy="738505"/>
            <a:chOff x="2824480" y="299849"/>
            <a:chExt cx="6662758" cy="738505"/>
          </a:xfrm>
        </p:grpSpPr>
        <p:sp>
          <p:nvSpPr>
            <p:cNvPr id="43" name="TextBox 7"/>
            <p:cNvSpPr>
              <a:spLocks noChangeArrowheads="1"/>
            </p:cNvSpPr>
            <p:nvPr/>
          </p:nvSpPr>
          <p:spPr bwMode="auto">
            <a:xfrm>
              <a:off x="5078899" y="299849"/>
              <a:ext cx="2153920" cy="7385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656565"/>
                  </a:solidFill>
                  <a:effectLst/>
                  <a:uLnTx/>
                  <a:uFillTx/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内存管理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656565"/>
                  </a:solidFill>
                  <a:effectLst/>
                  <a:uLnTx/>
                  <a:uFillTx/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—</a:t>
              </a: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656565"/>
                  </a:solidFill>
                  <a:effectLst/>
                  <a:uLnTx/>
                  <a:uFillTx/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用户内存</a:t>
              </a: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656565"/>
                  </a:solidFill>
                  <a:effectLst/>
                  <a:uLnTx/>
                  <a:uFillTx/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映射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656565"/>
                </a:solidFill>
                <a:effectLst/>
                <a:uLnTx/>
                <a:uFillTx/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</p:txBody>
        </p:sp>
        <p:grpSp>
          <p:nvGrpSpPr>
            <p:cNvPr id="45" name="组合 44"/>
            <p:cNvGrpSpPr/>
            <p:nvPr/>
          </p:nvGrpSpPr>
          <p:grpSpPr>
            <a:xfrm>
              <a:off x="2824480" y="407080"/>
              <a:ext cx="2121238" cy="154870"/>
              <a:chOff x="2410381" y="3917516"/>
              <a:chExt cx="2121238" cy="154870"/>
            </a:xfrm>
          </p:grpSpPr>
          <p:cxnSp>
            <p:nvCxnSpPr>
              <p:cNvPr id="46" name="直接连接符 45"/>
              <p:cNvCxnSpPr/>
              <p:nvPr/>
            </p:nvCxnSpPr>
            <p:spPr>
              <a:xfrm>
                <a:off x="2410381" y="3994951"/>
                <a:ext cx="1903392" cy="0"/>
              </a:xfrm>
              <a:prstGeom prst="line">
                <a:avLst/>
              </a:prstGeom>
              <a:ln>
                <a:solidFill>
                  <a:srgbClr val="7E7E7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椭圆 46"/>
              <p:cNvSpPr/>
              <p:nvPr/>
            </p:nvSpPr>
            <p:spPr>
              <a:xfrm>
                <a:off x="4376749" y="3917516"/>
                <a:ext cx="154870" cy="154870"/>
              </a:xfrm>
              <a:prstGeom prst="ellipse">
                <a:avLst/>
              </a:prstGeom>
              <a:solidFill>
                <a:srgbClr val="67B7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0" name="组合 49"/>
            <p:cNvGrpSpPr/>
            <p:nvPr/>
          </p:nvGrpSpPr>
          <p:grpSpPr>
            <a:xfrm flipH="1">
              <a:off x="7366000" y="407080"/>
              <a:ext cx="2121238" cy="154870"/>
              <a:chOff x="2410381" y="3917516"/>
              <a:chExt cx="2121238" cy="154870"/>
            </a:xfrm>
          </p:grpSpPr>
          <p:cxnSp>
            <p:nvCxnSpPr>
              <p:cNvPr id="51" name="直接连接符 50"/>
              <p:cNvCxnSpPr/>
              <p:nvPr/>
            </p:nvCxnSpPr>
            <p:spPr>
              <a:xfrm>
                <a:off x="2410381" y="3994951"/>
                <a:ext cx="1903392" cy="0"/>
              </a:xfrm>
              <a:prstGeom prst="line">
                <a:avLst/>
              </a:prstGeom>
              <a:ln>
                <a:solidFill>
                  <a:srgbClr val="7E7E7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椭圆 51"/>
              <p:cNvSpPr/>
              <p:nvPr/>
            </p:nvSpPr>
            <p:spPr>
              <a:xfrm>
                <a:off x="4376749" y="3917516"/>
                <a:ext cx="154870" cy="154870"/>
              </a:xfrm>
              <a:prstGeom prst="ellipse">
                <a:avLst/>
              </a:prstGeom>
              <a:solidFill>
                <a:srgbClr val="67B7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1574300" y="3763070"/>
            <a:ext cx="4521835" cy="2999740"/>
            <a:chOff x="6995217" y="3434596"/>
            <a:chExt cx="4521835" cy="2999740"/>
          </a:xfrm>
        </p:grpSpPr>
        <p:sp>
          <p:nvSpPr>
            <p:cNvPr id="19" name="文本"/>
            <p:cNvSpPr/>
            <p:nvPr/>
          </p:nvSpPr>
          <p:spPr>
            <a:xfrm>
              <a:off x="7754281" y="3895606"/>
              <a:ext cx="309880" cy="3987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endParaRPr lang="zh-CN" altLang="en-US" sz="2000" dirty="0">
                <a:solidFill>
                  <a:srgbClr val="595959"/>
                </a:solidFill>
                <a:latin typeface="+mj-ea"/>
                <a:ea typeface="思源黑体旧字形 Normal" panose="020B0400000000000000" pitchFamily="34" charset="-122"/>
                <a:cs typeface="Saturday Sans Regular" panose="02010600010101010101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6995217" y="3434596"/>
              <a:ext cx="4521835" cy="2999740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>
                <a:lnSpc>
                  <a:spcPct val="130000"/>
                </a:lnSpc>
                <a:defRPr sz="140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</a:defRPr>
              </a:lvl1pPr>
            </a:lstStyle>
            <a:p>
              <a:pPr algn="l">
                <a:lnSpc>
                  <a:spcPct val="150000"/>
                </a:lnSpc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创建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user_mmap.c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文件，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vi user_mmap.c ，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编写文件内容，如上图</a:t>
              </a: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  <a:p>
              <a:pPr algn="l">
                <a:lnSpc>
                  <a:spcPct val="150000"/>
                </a:lnSpc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代码通过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 mmap() 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系统调用演示了匿名映射和文件映射两种内存管理机制。在匿名映射中，通过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MAP_ANONYMOUS|MAP_PRIVATE 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获取一段私有内存，用于临时数据的读写。在文件映射中，先通过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 open 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和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 ftruncate 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创建并调整文件大小，再使用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 MAP_SHARED 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映射文件内容到内存，写入内容后通过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 msync() 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同步回磁盘。</a:t>
              </a: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7172959" y="3762933"/>
            <a:ext cx="4365625" cy="2353310"/>
            <a:chOff x="5893799" y="3823142"/>
            <a:chExt cx="3431406" cy="2353221"/>
          </a:xfrm>
        </p:grpSpPr>
        <p:sp>
          <p:nvSpPr>
            <p:cNvPr id="26" name="文本"/>
            <p:cNvSpPr/>
            <p:nvPr/>
          </p:nvSpPr>
          <p:spPr>
            <a:xfrm>
              <a:off x="7754281" y="3895606"/>
              <a:ext cx="309880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endParaRPr lang="zh-CN" altLang="en-US" sz="2000" dirty="0">
                <a:solidFill>
                  <a:srgbClr val="595959"/>
                </a:solidFill>
                <a:latin typeface="+mj-ea"/>
                <a:ea typeface="思源黑体旧字形 Normal" panose="020B0400000000000000" pitchFamily="34" charset="-122"/>
                <a:cs typeface="Saturday Sans Regular" panose="02010600010101010101" charset="-122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5893799" y="3823142"/>
              <a:ext cx="3431406" cy="235322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>
                <a:lnSpc>
                  <a:spcPct val="130000"/>
                </a:lnSpc>
                <a:defRPr sz="140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</a:defRPr>
              </a:lvl1pPr>
            </a:lstStyle>
            <a:p>
              <a:pPr algn="l">
                <a:lnSpc>
                  <a:spcPct val="150000"/>
                </a:lnSpc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编译文件，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gcc user_mmap.c -o user_mmap</a:t>
              </a:r>
              <a:endPara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  <a:p>
              <a:pPr algn="l">
                <a:lnSpc>
                  <a:spcPct val="150000"/>
                </a:lnSpc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运行程序，执行匿名映射和文件映射逻辑，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./user_mmap</a:t>
              </a:r>
              <a:endPara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  <a:p>
              <a:pPr algn="l">
                <a:lnSpc>
                  <a:spcPct val="150000"/>
                </a:lnSpc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打印映射写入的文件内容，验证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 "File mapping test" 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是否写入成功，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cat testfile</a:t>
              </a:r>
              <a:endPara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  <a:p>
              <a:pPr algn="l">
                <a:lnSpc>
                  <a:spcPct val="150000"/>
                </a:lnSpc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输出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 "File mapping test"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，说明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 mmap 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与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 msync 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调用已成功完成数据同步。</a:t>
              </a: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</p:txBody>
        </p:sp>
      </p:grpSp>
      <p:pic>
        <p:nvPicPr>
          <p:cNvPr id="81" name="图片 2"/>
          <p:cNvPicPr>
            <a:picLocks noChangeAspect="1"/>
          </p:cNvPicPr>
          <p:nvPr/>
        </p:nvPicPr>
        <p:blipFill>
          <a:blip r:embed="rId1"/>
          <a:srcRect b="8532"/>
          <a:stretch>
            <a:fillRect/>
          </a:stretch>
        </p:blipFill>
        <p:spPr>
          <a:xfrm>
            <a:off x="1082675" y="1600200"/>
            <a:ext cx="5267960" cy="2061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533" y="2160588"/>
            <a:ext cx="5272405" cy="939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2764621" y="299849"/>
            <a:ext cx="6662758" cy="738505"/>
            <a:chOff x="2824480" y="299849"/>
            <a:chExt cx="6662758" cy="738505"/>
          </a:xfrm>
        </p:grpSpPr>
        <p:sp>
          <p:nvSpPr>
            <p:cNvPr id="43" name="TextBox 7"/>
            <p:cNvSpPr>
              <a:spLocks noChangeArrowheads="1"/>
            </p:cNvSpPr>
            <p:nvPr/>
          </p:nvSpPr>
          <p:spPr bwMode="auto">
            <a:xfrm>
              <a:off x="5078899" y="299849"/>
              <a:ext cx="2153920" cy="7385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kern="0" noProof="0" dirty="0">
                  <a:ln>
                    <a:noFill/>
                  </a:ln>
                  <a:solidFill>
                    <a:srgbClr val="656565"/>
                  </a:solidFill>
                  <a:effectLst/>
                  <a:uLnTx/>
                  <a:uFillTx/>
                  <a:latin typeface="思源黑体旧字形 Normal" panose="020B0400000000000000" pitchFamily="34" charset="-122"/>
                  <a:ea typeface="思源黑体旧字形 Normal" panose="020B0400000000000000" pitchFamily="34" charset="-122"/>
                  <a:sym typeface="+mn-ea"/>
                </a:rPr>
                <a:t>内存管理</a:t>
              </a:r>
              <a:r>
                <a:rPr lang="en-US" altLang="zh-CN" sz="2400" kern="0" noProof="0" dirty="0">
                  <a:ln>
                    <a:noFill/>
                  </a:ln>
                  <a:solidFill>
                    <a:srgbClr val="656565"/>
                  </a:solidFill>
                  <a:effectLst/>
                  <a:uLnTx/>
                  <a:uFillTx/>
                  <a:latin typeface="思源黑体旧字形 Normal" panose="020B0400000000000000" pitchFamily="34" charset="-122"/>
                  <a:ea typeface="思源黑体旧字形 Normal" panose="020B0400000000000000" pitchFamily="34" charset="-122"/>
                  <a:sym typeface="+mn-ea"/>
                </a:rPr>
                <a:t>—</a:t>
              </a:r>
              <a:r>
                <a:rPr lang="zh-CN" altLang="en-US" sz="2400" kern="0" noProof="0" dirty="0">
                  <a:ln>
                    <a:noFill/>
                  </a:ln>
                  <a:solidFill>
                    <a:srgbClr val="656565"/>
                  </a:solidFill>
                  <a:effectLst/>
                  <a:uLnTx/>
                  <a:uFillTx/>
                  <a:latin typeface="思源黑体旧字形 Normal" panose="020B0400000000000000" pitchFamily="34" charset="-122"/>
                  <a:ea typeface="思源黑体旧字形 Normal" panose="020B0400000000000000" pitchFamily="34" charset="-122"/>
                  <a:sym typeface="+mn-ea"/>
                </a:rPr>
                <a:t>系统内存</a:t>
              </a:r>
              <a:r>
                <a:rPr lang="zh-CN" altLang="en-US" sz="2400" kern="0" noProof="0" dirty="0">
                  <a:ln>
                    <a:noFill/>
                  </a:ln>
                  <a:solidFill>
                    <a:srgbClr val="656565"/>
                  </a:solidFill>
                  <a:effectLst/>
                  <a:uLnTx/>
                  <a:uFillTx/>
                  <a:latin typeface="思源黑体旧字形 Normal" panose="020B0400000000000000" pitchFamily="34" charset="-122"/>
                  <a:ea typeface="思源黑体旧字形 Normal" panose="020B0400000000000000" pitchFamily="34" charset="-122"/>
                  <a:sym typeface="+mn-ea"/>
                </a:rPr>
                <a:t>监控</a:t>
              </a:r>
              <a:endParaRPr lang="zh-CN" altLang="en-US" sz="2400" kern="0" noProof="0" dirty="0">
                <a:ln>
                  <a:noFill/>
                </a:ln>
                <a:solidFill>
                  <a:srgbClr val="656565"/>
                </a:solidFill>
                <a:effectLst/>
                <a:uLnTx/>
                <a:uFillTx/>
                <a:latin typeface="思源黑体旧字形 Normal" panose="020B0400000000000000" pitchFamily="34" charset="-122"/>
                <a:ea typeface="思源黑体旧字形 Normal" panose="020B0400000000000000" pitchFamily="34" charset="-122"/>
                <a:sym typeface="+mn-ea"/>
              </a:endParaRPr>
            </a:p>
          </p:txBody>
        </p:sp>
        <p:grpSp>
          <p:nvGrpSpPr>
            <p:cNvPr id="45" name="组合 44"/>
            <p:cNvGrpSpPr/>
            <p:nvPr/>
          </p:nvGrpSpPr>
          <p:grpSpPr>
            <a:xfrm>
              <a:off x="2824480" y="407080"/>
              <a:ext cx="2121238" cy="154870"/>
              <a:chOff x="2410381" y="3917516"/>
              <a:chExt cx="2121238" cy="154870"/>
            </a:xfrm>
          </p:grpSpPr>
          <p:cxnSp>
            <p:nvCxnSpPr>
              <p:cNvPr id="46" name="直接连接符 45"/>
              <p:cNvCxnSpPr/>
              <p:nvPr/>
            </p:nvCxnSpPr>
            <p:spPr>
              <a:xfrm>
                <a:off x="2410381" y="3994951"/>
                <a:ext cx="1903392" cy="0"/>
              </a:xfrm>
              <a:prstGeom prst="line">
                <a:avLst/>
              </a:prstGeom>
              <a:ln>
                <a:solidFill>
                  <a:srgbClr val="7E7E7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椭圆 46"/>
              <p:cNvSpPr/>
              <p:nvPr/>
            </p:nvSpPr>
            <p:spPr>
              <a:xfrm>
                <a:off x="4376749" y="3917516"/>
                <a:ext cx="154870" cy="154870"/>
              </a:xfrm>
              <a:prstGeom prst="ellipse">
                <a:avLst/>
              </a:prstGeom>
              <a:solidFill>
                <a:srgbClr val="67B7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0" name="组合 49"/>
            <p:cNvGrpSpPr/>
            <p:nvPr/>
          </p:nvGrpSpPr>
          <p:grpSpPr>
            <a:xfrm flipH="1">
              <a:off x="7366000" y="407080"/>
              <a:ext cx="2121238" cy="154870"/>
              <a:chOff x="2410381" y="3917516"/>
              <a:chExt cx="2121238" cy="154870"/>
            </a:xfrm>
          </p:grpSpPr>
          <p:cxnSp>
            <p:nvCxnSpPr>
              <p:cNvPr id="51" name="直接连接符 50"/>
              <p:cNvCxnSpPr/>
              <p:nvPr/>
            </p:nvCxnSpPr>
            <p:spPr>
              <a:xfrm>
                <a:off x="2410381" y="3994951"/>
                <a:ext cx="1903392" cy="0"/>
              </a:xfrm>
              <a:prstGeom prst="line">
                <a:avLst/>
              </a:prstGeom>
              <a:ln>
                <a:solidFill>
                  <a:srgbClr val="7E7E7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椭圆 51"/>
              <p:cNvSpPr/>
              <p:nvPr/>
            </p:nvSpPr>
            <p:spPr>
              <a:xfrm>
                <a:off x="4376749" y="3917516"/>
                <a:ext cx="154870" cy="154870"/>
              </a:xfrm>
              <a:prstGeom prst="ellipse">
                <a:avLst/>
              </a:prstGeom>
              <a:solidFill>
                <a:srgbClr val="67B7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660535" y="4087555"/>
            <a:ext cx="3451225" cy="2353310"/>
            <a:chOff x="6081452" y="3759081"/>
            <a:chExt cx="3451225" cy="2353310"/>
          </a:xfrm>
        </p:grpSpPr>
        <p:sp>
          <p:nvSpPr>
            <p:cNvPr id="19" name="文本"/>
            <p:cNvSpPr/>
            <p:nvPr>
              <p:custDataLst>
                <p:tags r:id="rId2"/>
              </p:custDataLst>
            </p:nvPr>
          </p:nvSpPr>
          <p:spPr>
            <a:xfrm>
              <a:off x="7754281" y="3895606"/>
              <a:ext cx="309880" cy="3987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endParaRPr lang="zh-CN" altLang="en-US" sz="2000" dirty="0">
                <a:solidFill>
                  <a:srgbClr val="595959"/>
                </a:solidFill>
                <a:latin typeface="+mj-ea"/>
                <a:ea typeface="思源黑体旧字形 Normal" panose="020B0400000000000000" pitchFamily="34" charset="-122"/>
                <a:cs typeface="Saturday Sans Regular" panose="02010600010101010101" charset="-122"/>
              </a:endParaRPr>
            </a:p>
          </p:txBody>
        </p:sp>
        <p:sp>
          <p:nvSpPr>
            <p:cNvPr id="20" name="文本框 19"/>
            <p:cNvSpPr txBox="1"/>
            <p:nvPr>
              <p:custDataLst>
                <p:tags r:id="rId3"/>
              </p:custDataLst>
            </p:nvPr>
          </p:nvSpPr>
          <p:spPr>
            <a:xfrm>
              <a:off x="6081452" y="3759081"/>
              <a:ext cx="3451225" cy="2353310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>
                <a:lnSpc>
                  <a:spcPct val="130000"/>
                </a:lnSpc>
                <a:defRPr sz="140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监控内存使用变化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watch -n 1 "free -h; cat /proc/meminfo | grep -E 'MemTotal|MemFree'"</a:t>
              </a:r>
              <a:endPara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该命令每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 1 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秒刷新一次输出，通过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 free -h 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命令查看整体内存使用状态包括总量、使用、剩余，并通过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 /proc/meminfo 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提取精确的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 MemTotal 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与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 MemFree 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数值。</a:t>
              </a: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</p:txBody>
        </p:sp>
      </p:grpSp>
      <p:grpSp>
        <p:nvGrpSpPr>
          <p:cNvPr id="22" name="组合 21"/>
          <p:cNvGrpSpPr/>
          <p:nvPr>
            <p:custDataLst>
              <p:tags r:id="rId4"/>
            </p:custDataLst>
          </p:nvPr>
        </p:nvGrpSpPr>
        <p:grpSpPr>
          <a:xfrm>
            <a:off x="4667647" y="4087466"/>
            <a:ext cx="2997676" cy="2353310"/>
            <a:chOff x="6480867" y="3758992"/>
            <a:chExt cx="2997676" cy="2353310"/>
          </a:xfrm>
        </p:grpSpPr>
        <p:sp>
          <p:nvSpPr>
            <p:cNvPr id="23" name="文本"/>
            <p:cNvSpPr/>
            <p:nvPr>
              <p:custDataLst>
                <p:tags r:id="rId5"/>
              </p:custDataLst>
            </p:nvPr>
          </p:nvSpPr>
          <p:spPr>
            <a:xfrm>
              <a:off x="7754281" y="3895606"/>
              <a:ext cx="309880" cy="3987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endParaRPr lang="zh-CN" altLang="en-US" sz="2000" dirty="0">
                <a:solidFill>
                  <a:srgbClr val="595959"/>
                </a:solidFill>
                <a:latin typeface="+mj-ea"/>
                <a:ea typeface="思源黑体旧字形 Normal" panose="020B0400000000000000" pitchFamily="34" charset="-122"/>
                <a:cs typeface="Saturday Sans Regular" panose="02010600010101010101" charset="-122"/>
              </a:endParaRPr>
            </a:p>
          </p:txBody>
        </p:sp>
        <p:sp>
          <p:nvSpPr>
            <p:cNvPr id="24" name="文本框 23"/>
            <p:cNvSpPr txBox="1"/>
            <p:nvPr>
              <p:custDataLst>
                <p:tags r:id="rId6"/>
              </p:custDataLst>
            </p:nvPr>
          </p:nvSpPr>
          <p:spPr>
            <a:xfrm>
              <a:off x="6480867" y="3758992"/>
              <a:ext cx="2997676" cy="2353310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>
                <a:lnSpc>
                  <a:spcPct val="130000"/>
                </a:lnSpc>
                <a:defRPr sz="140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 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实时监控系统的物理内存碎片情况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, watch -n 1 "cat /proc/buddyinfo"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，</a:t>
              </a: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/proc/buddyinfo 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文件记录了系统伙伴系统（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buddy system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）中各阶内存块的空闲数量，反映出不同大小连续内存块的可用性。</a:t>
              </a: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</p:txBody>
        </p:sp>
      </p:grpSp>
      <p:grpSp>
        <p:nvGrpSpPr>
          <p:cNvPr id="25" name="组合 24"/>
          <p:cNvGrpSpPr/>
          <p:nvPr>
            <p:custDataLst>
              <p:tags r:id="rId7"/>
            </p:custDataLst>
          </p:nvPr>
        </p:nvGrpSpPr>
        <p:grpSpPr>
          <a:xfrm>
            <a:off x="8346561" y="4087466"/>
            <a:ext cx="2997676" cy="1060450"/>
            <a:chOff x="6410382" y="3758992"/>
            <a:chExt cx="2997676" cy="1060450"/>
          </a:xfrm>
        </p:grpSpPr>
        <p:sp>
          <p:nvSpPr>
            <p:cNvPr id="26" name="文本"/>
            <p:cNvSpPr/>
            <p:nvPr>
              <p:custDataLst>
                <p:tags r:id="rId8"/>
              </p:custDataLst>
            </p:nvPr>
          </p:nvSpPr>
          <p:spPr>
            <a:xfrm>
              <a:off x="7754281" y="3895606"/>
              <a:ext cx="309880" cy="3987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endParaRPr lang="zh-CN" altLang="en-US" sz="2000" dirty="0">
                <a:solidFill>
                  <a:srgbClr val="595959"/>
                </a:solidFill>
                <a:latin typeface="+mj-ea"/>
                <a:ea typeface="思源黑体旧字形 Normal" panose="020B0400000000000000" pitchFamily="34" charset="-122"/>
                <a:cs typeface="Saturday Sans Regular" panose="02010600010101010101" charset="-122"/>
              </a:endParaRPr>
            </a:p>
          </p:txBody>
        </p:sp>
        <p:sp>
          <p:nvSpPr>
            <p:cNvPr id="27" name="文本框 26"/>
            <p:cNvSpPr txBox="1"/>
            <p:nvPr>
              <p:custDataLst>
                <p:tags r:id="rId9"/>
              </p:custDataLst>
            </p:nvPr>
          </p:nvSpPr>
          <p:spPr>
            <a:xfrm>
              <a:off x="6410382" y="3758992"/>
              <a:ext cx="2997676" cy="1060450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>
                <a:lnSpc>
                  <a:spcPct val="130000"/>
                </a:lnSpc>
                <a:defRPr sz="140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查看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SLAB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分配器</a:t>
              </a: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旧字形 Normal" panose="020B0400000000000000" pitchFamily="34" charset="-122"/>
                  <a:ea typeface="思源黑体旧字形 Normal" panose="020B0400000000000000" pitchFamily="34" charset="-122"/>
                </a:rPr>
                <a:t>watch -n 1 "cat /proc/slabinfo | head -n 10</a:t>
              </a:r>
              <a:endPara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旧字形 Normal" panose="020B0400000000000000" pitchFamily="34" charset="-122"/>
                <a:ea typeface="思源黑体旧字形 Normal" panose="020B0400000000000000" pitchFamily="34" charset="-122"/>
              </a:endParaRPr>
            </a:p>
          </p:txBody>
        </p:sp>
      </p:grpSp>
      <p:pic>
        <p:nvPicPr>
          <p:cNvPr id="86" name="图片 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0200" y="2874645"/>
            <a:ext cx="411099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图片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64635" y="1441450"/>
            <a:ext cx="4062730" cy="1029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图片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07960" y="2874645"/>
            <a:ext cx="3949700" cy="7200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组合 7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12" name="组合 11"/>
            <p:cNvGrpSpPr/>
            <p:nvPr/>
          </p:nvGrpSpPr>
          <p:grpSpPr>
            <a:xfrm>
              <a:off x="0" y="0"/>
              <a:ext cx="12192000" cy="3426738"/>
              <a:chOff x="0" y="0"/>
              <a:chExt cx="12192000" cy="3426738"/>
            </a:xfrm>
          </p:grpSpPr>
          <p:pic>
            <p:nvPicPr>
              <p:cNvPr id="10" name="图片 9"/>
              <p:cNvPicPr>
                <a:picLocks noChangeAspect="1"/>
              </p:cNvPicPr>
              <p:nvPr/>
            </p:nvPicPr>
            <p:blipFill rotWithShape="1"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2134"/>
              <a:stretch>
                <a:fillRect/>
              </a:stretch>
            </p:blipFill>
            <p:spPr>
              <a:xfrm>
                <a:off x="1484512" y="0"/>
                <a:ext cx="10707488" cy="3426738"/>
              </a:xfrm>
              <a:prstGeom prst="rect">
                <a:avLst/>
              </a:prstGeom>
            </p:spPr>
          </p:pic>
          <p:sp>
            <p:nvSpPr>
              <p:cNvPr id="11" name="矩形 10"/>
              <p:cNvSpPr/>
              <p:nvPr/>
            </p:nvSpPr>
            <p:spPr>
              <a:xfrm>
                <a:off x="0" y="0"/>
                <a:ext cx="2341038" cy="3426738"/>
              </a:xfrm>
              <a:prstGeom prst="rect">
                <a:avLst/>
              </a:prstGeom>
              <a:solidFill>
                <a:srgbClr val="F8FD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 flipH="1" flipV="1">
              <a:off x="0" y="3431262"/>
              <a:ext cx="12192000" cy="3426738"/>
              <a:chOff x="0" y="0"/>
              <a:chExt cx="12192000" cy="3426738"/>
            </a:xfrm>
          </p:grpSpPr>
          <p:pic>
            <p:nvPicPr>
              <p:cNvPr id="14" name="图片 13"/>
              <p:cNvPicPr>
                <a:picLocks noChangeAspect="1"/>
              </p:cNvPicPr>
              <p:nvPr/>
            </p:nvPicPr>
            <p:blipFill rotWithShape="1"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2134"/>
              <a:stretch>
                <a:fillRect/>
              </a:stretch>
            </p:blipFill>
            <p:spPr>
              <a:xfrm>
                <a:off x="1484512" y="0"/>
                <a:ext cx="10707488" cy="3426738"/>
              </a:xfrm>
              <a:prstGeom prst="rect">
                <a:avLst/>
              </a:prstGeom>
            </p:spPr>
          </p:pic>
          <p:sp>
            <p:nvSpPr>
              <p:cNvPr id="15" name="矩形 14"/>
              <p:cNvSpPr/>
              <p:nvPr/>
            </p:nvSpPr>
            <p:spPr>
              <a:xfrm>
                <a:off x="0" y="0"/>
                <a:ext cx="2341038" cy="3426738"/>
              </a:xfrm>
              <a:prstGeom prst="rect">
                <a:avLst/>
              </a:prstGeom>
              <a:solidFill>
                <a:srgbClr val="F8FD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2" name="矩形 21"/>
          <p:cNvSpPr/>
          <p:nvPr/>
        </p:nvSpPr>
        <p:spPr>
          <a:xfrm>
            <a:off x="571019" y="613458"/>
            <a:ext cx="11049964" cy="5631086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8100" sx="102000" sy="102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7" name="组合 76"/>
          <p:cNvGrpSpPr/>
          <p:nvPr/>
        </p:nvGrpSpPr>
        <p:grpSpPr>
          <a:xfrm>
            <a:off x="2912149" y="2064389"/>
            <a:ext cx="1306370" cy="1271005"/>
            <a:chOff x="2912149" y="2064389"/>
            <a:chExt cx="1306370" cy="1271005"/>
          </a:xfrm>
        </p:grpSpPr>
        <p:grpSp>
          <p:nvGrpSpPr>
            <p:cNvPr id="26" name="组合 25"/>
            <p:cNvGrpSpPr/>
            <p:nvPr/>
          </p:nvGrpSpPr>
          <p:grpSpPr>
            <a:xfrm>
              <a:off x="2912149" y="2064389"/>
              <a:ext cx="1306370" cy="1271005"/>
              <a:chOff x="1973362" y="2155733"/>
              <a:chExt cx="1306370" cy="1271005"/>
            </a:xfrm>
          </p:grpSpPr>
          <p:sp>
            <p:nvSpPr>
              <p:cNvPr id="24" name="矩形 23"/>
              <p:cNvSpPr/>
              <p:nvPr/>
            </p:nvSpPr>
            <p:spPr>
              <a:xfrm rot="21124085">
                <a:off x="1973362" y="2155733"/>
                <a:ext cx="1306370" cy="1271005"/>
              </a:xfrm>
              <a:prstGeom prst="rect">
                <a:avLst/>
              </a:prstGeom>
              <a:noFill/>
              <a:ln w="12700">
                <a:solidFill>
                  <a:srgbClr val="7E7E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方正仿宋_GB2312" panose="02000000000000000000" charset="-122"/>
                  <a:ea typeface="方正仿宋_GB2312" panose="020000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25" name="矩形 24"/>
              <p:cNvSpPr/>
              <p:nvPr/>
            </p:nvSpPr>
            <p:spPr>
              <a:xfrm>
                <a:off x="1973362" y="2155733"/>
                <a:ext cx="1306370" cy="127100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7E7E7E"/>
                </a:solidFill>
              </a:ln>
              <a:effectLst>
                <a:outerShdw blurRad="38100" dist="38100" dir="2700000" sx="102000" sy="102000" algn="tl" rotWithShape="0">
                  <a:prstClr val="black">
                    <a:alpha val="13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方正仿宋_GB2312" panose="02000000000000000000" charset="-122"/>
                  <a:ea typeface="方正仿宋_GB2312" panose="02000000000000000000" charset="-122"/>
                  <a:cs typeface="方正仿宋_GB2312" panose="02000000000000000000" charset="-122"/>
                </a:endParaRPr>
              </a:p>
            </p:txBody>
          </p:sp>
        </p:grpSp>
        <p:sp>
          <p:nvSpPr>
            <p:cNvPr id="37" name="橙子演示"/>
            <p:cNvSpPr txBox="1"/>
            <p:nvPr>
              <p:custDataLst>
                <p:tags r:id="rId2"/>
              </p:custDataLst>
            </p:nvPr>
          </p:nvSpPr>
          <p:spPr>
            <a:xfrm>
              <a:off x="3023071" y="2099726"/>
              <a:ext cx="1133645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7200" b="1" i="0" u="none" strike="noStrike" kern="0" cap="none" spc="0" normalizeH="0" baseline="0" noProof="0" dirty="0">
                  <a:ln>
                    <a:noFill/>
                  </a:ln>
                  <a:solidFill>
                    <a:srgbClr val="67B7E2"/>
                  </a:solidFill>
                  <a:effectLst/>
                  <a:uLnTx/>
                  <a:uFillTx/>
                  <a:latin typeface="思源黑体旧字形 Normal" panose="020B0400000000000000" pitchFamily="34" charset="-122"/>
                  <a:ea typeface="思源黑体旧字形 Normal" panose="020B0400000000000000" pitchFamily="34" charset="-122"/>
                  <a:cs typeface="+mn-cs"/>
                </a:rPr>
                <a:t>谢</a:t>
              </a:r>
              <a:endParaRPr kumimoji="0" lang="zh-CN" altLang="en-US" sz="7200" b="1" i="0" u="none" strike="noStrike" kern="0" cap="none" spc="0" normalizeH="0" baseline="0" noProof="0" dirty="0">
                <a:ln>
                  <a:noFill/>
                </a:ln>
                <a:solidFill>
                  <a:srgbClr val="67B7E2"/>
                </a:solidFill>
                <a:effectLst/>
                <a:uLnTx/>
                <a:uFillTx/>
                <a:latin typeface="思源黑体旧字形 Normal" panose="020B0400000000000000" pitchFamily="34" charset="-122"/>
                <a:ea typeface="思源黑体旧字形 Normal" panose="020B0400000000000000" pitchFamily="34" charset="-122"/>
                <a:cs typeface="+mn-cs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4599260" y="2064389"/>
            <a:ext cx="1306370" cy="1271005"/>
            <a:chOff x="1973362" y="2155733"/>
            <a:chExt cx="1306370" cy="1271005"/>
          </a:xfrm>
        </p:grpSpPr>
        <p:sp>
          <p:nvSpPr>
            <p:cNvPr id="42" name="矩形 41"/>
            <p:cNvSpPr/>
            <p:nvPr/>
          </p:nvSpPr>
          <p:spPr>
            <a:xfrm rot="21124085">
              <a:off x="1973362" y="2155733"/>
              <a:ext cx="1306370" cy="1271005"/>
            </a:xfrm>
            <a:prstGeom prst="rect">
              <a:avLst/>
            </a:prstGeom>
            <a:noFill/>
            <a:ln w="12700">
              <a:solidFill>
                <a:srgbClr val="7E7E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方正仿宋_GB2312" panose="02000000000000000000" charset="-122"/>
                <a:ea typeface="方正仿宋_GB2312" panose="02000000000000000000" charset="-122"/>
                <a:cs typeface="方正仿宋_GB2312" panose="02000000000000000000" charset="-122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1973362" y="2155733"/>
              <a:ext cx="1306370" cy="127100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7E7E7E"/>
              </a:solidFill>
            </a:ln>
            <a:effectLst>
              <a:outerShdw blurRad="38100" dist="38100" dir="2700000" sx="102000" sy="102000" algn="tl" rotWithShape="0">
                <a:prstClr val="black">
                  <a:alpha val="1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方正仿宋_GB2312" panose="02000000000000000000" charset="-122"/>
                <a:ea typeface="方正仿宋_GB2312" panose="02000000000000000000" charset="-122"/>
                <a:cs typeface="方正仿宋_GB2312" panose="02000000000000000000" charset="-122"/>
              </a:endParaRPr>
            </a:p>
          </p:txBody>
        </p:sp>
      </p:grpSp>
      <p:sp>
        <p:nvSpPr>
          <p:cNvPr id="41" name="橙子演示"/>
          <p:cNvSpPr txBox="1"/>
          <p:nvPr>
            <p:custDataLst>
              <p:tags r:id="rId3"/>
            </p:custDataLst>
          </p:nvPr>
        </p:nvSpPr>
        <p:spPr>
          <a:xfrm>
            <a:off x="4710182" y="2099726"/>
            <a:ext cx="113364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1" i="0" u="none" strike="noStrike" kern="0" cap="none" spc="0" normalizeH="0" baseline="0" noProof="0" dirty="0">
                <a:ln>
                  <a:noFill/>
                </a:ln>
                <a:solidFill>
                  <a:srgbClr val="67B7E2"/>
                </a:solidFill>
                <a:effectLst/>
                <a:uLnTx/>
                <a:uFillTx/>
                <a:latin typeface="思源黑体旧字形 Normal" panose="020B0400000000000000" pitchFamily="34" charset="-122"/>
                <a:ea typeface="思源黑体旧字形 Normal" panose="020B0400000000000000" pitchFamily="34" charset="-122"/>
                <a:cs typeface="+mn-cs"/>
              </a:rPr>
              <a:t>谢</a:t>
            </a:r>
            <a:endParaRPr kumimoji="0" lang="zh-CN" altLang="en-US" sz="7200" b="1" i="0" u="none" strike="noStrike" kern="0" cap="none" spc="0" normalizeH="0" baseline="0" noProof="0" dirty="0">
              <a:ln>
                <a:noFill/>
              </a:ln>
              <a:solidFill>
                <a:srgbClr val="67B7E2"/>
              </a:solidFill>
              <a:effectLst/>
              <a:uLnTx/>
              <a:uFillTx/>
              <a:latin typeface="思源黑体旧字形 Normal" panose="020B0400000000000000" pitchFamily="34" charset="-122"/>
              <a:ea typeface="思源黑体旧字形 Normal" panose="020B0400000000000000" pitchFamily="34" charset="-122"/>
              <a:cs typeface="+mn-cs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6286371" y="2064389"/>
            <a:ext cx="1306370" cy="1271005"/>
            <a:chOff x="1973362" y="2155733"/>
            <a:chExt cx="1306370" cy="1271005"/>
          </a:xfrm>
        </p:grpSpPr>
        <p:sp>
          <p:nvSpPr>
            <p:cNvPr id="47" name="矩形 46"/>
            <p:cNvSpPr/>
            <p:nvPr/>
          </p:nvSpPr>
          <p:spPr>
            <a:xfrm rot="21124085">
              <a:off x="1973362" y="2155733"/>
              <a:ext cx="1306370" cy="1271005"/>
            </a:xfrm>
            <a:prstGeom prst="rect">
              <a:avLst/>
            </a:prstGeom>
            <a:noFill/>
            <a:ln w="12700">
              <a:solidFill>
                <a:srgbClr val="7E7E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方正仿宋_GB2312" panose="02000000000000000000" charset="-122"/>
                <a:ea typeface="方正仿宋_GB2312" panose="02000000000000000000" charset="-122"/>
                <a:cs typeface="方正仿宋_GB2312" panose="02000000000000000000" charset="-122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1973362" y="2155733"/>
              <a:ext cx="1306370" cy="127100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7E7E7E"/>
              </a:solidFill>
            </a:ln>
            <a:effectLst>
              <a:outerShdw blurRad="38100" dist="38100" dir="2700000" sx="102000" sy="102000" algn="tl" rotWithShape="0">
                <a:prstClr val="black">
                  <a:alpha val="1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方正仿宋_GB2312" panose="02000000000000000000" charset="-122"/>
                <a:ea typeface="方正仿宋_GB2312" panose="02000000000000000000" charset="-122"/>
                <a:cs typeface="方正仿宋_GB2312" panose="02000000000000000000" charset="-122"/>
              </a:endParaRPr>
            </a:p>
          </p:txBody>
        </p:sp>
      </p:grpSp>
      <p:sp>
        <p:nvSpPr>
          <p:cNvPr id="46" name="橙子演示"/>
          <p:cNvSpPr txBox="1"/>
          <p:nvPr>
            <p:custDataLst>
              <p:tags r:id="rId4"/>
            </p:custDataLst>
          </p:nvPr>
        </p:nvSpPr>
        <p:spPr>
          <a:xfrm>
            <a:off x="6397293" y="2099726"/>
            <a:ext cx="113364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1" i="0" u="none" strike="noStrike" kern="0" cap="none" spc="0" normalizeH="0" baseline="0" noProof="0" dirty="0">
                <a:ln>
                  <a:noFill/>
                </a:ln>
                <a:solidFill>
                  <a:srgbClr val="656565"/>
                </a:solidFill>
                <a:effectLst/>
                <a:uLnTx/>
                <a:uFillTx/>
                <a:latin typeface="思源黑体旧字形 Normal" panose="020B0400000000000000" pitchFamily="34" charset="-122"/>
                <a:ea typeface="思源黑体旧字形 Normal" panose="020B0400000000000000" pitchFamily="34" charset="-122"/>
                <a:cs typeface="+mn-cs"/>
              </a:rPr>
              <a:t>观</a:t>
            </a:r>
            <a:endParaRPr kumimoji="0" lang="zh-CN" altLang="en-US" sz="7200" b="1" i="0" u="none" strike="noStrike" kern="0" cap="none" spc="0" normalizeH="0" baseline="0" noProof="0" dirty="0">
              <a:ln>
                <a:noFill/>
              </a:ln>
              <a:solidFill>
                <a:srgbClr val="656565"/>
              </a:solidFill>
              <a:effectLst/>
              <a:uLnTx/>
              <a:uFillTx/>
              <a:latin typeface="思源黑体旧字形 Normal" panose="020B0400000000000000" pitchFamily="34" charset="-122"/>
              <a:ea typeface="思源黑体旧字形 Normal" panose="020B0400000000000000" pitchFamily="34" charset="-122"/>
              <a:cs typeface="+mn-cs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7973481" y="2064389"/>
            <a:ext cx="1306370" cy="1271005"/>
            <a:chOff x="1973362" y="2155733"/>
            <a:chExt cx="1306370" cy="1271005"/>
          </a:xfrm>
        </p:grpSpPr>
        <p:sp>
          <p:nvSpPr>
            <p:cNvPr id="52" name="矩形 51"/>
            <p:cNvSpPr/>
            <p:nvPr/>
          </p:nvSpPr>
          <p:spPr>
            <a:xfrm rot="21124085">
              <a:off x="1973362" y="2155733"/>
              <a:ext cx="1306370" cy="1271005"/>
            </a:xfrm>
            <a:prstGeom prst="rect">
              <a:avLst/>
            </a:prstGeom>
            <a:noFill/>
            <a:ln w="12700">
              <a:solidFill>
                <a:srgbClr val="7E7E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方正仿宋_GB2312" panose="02000000000000000000" charset="-122"/>
                <a:ea typeface="方正仿宋_GB2312" panose="02000000000000000000" charset="-122"/>
                <a:cs typeface="方正仿宋_GB2312" panose="02000000000000000000" charset="-122"/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1973362" y="2155733"/>
              <a:ext cx="1306370" cy="127100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7E7E7E"/>
              </a:solidFill>
            </a:ln>
            <a:effectLst>
              <a:outerShdw blurRad="38100" dist="38100" dir="2700000" sx="102000" sy="102000" algn="tl" rotWithShape="0">
                <a:prstClr val="black">
                  <a:alpha val="1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方正仿宋_GB2312" panose="02000000000000000000" charset="-122"/>
                <a:ea typeface="方正仿宋_GB2312" panose="02000000000000000000" charset="-122"/>
                <a:cs typeface="方正仿宋_GB2312" panose="02000000000000000000" charset="-122"/>
              </a:endParaRPr>
            </a:p>
          </p:txBody>
        </p:sp>
      </p:grpSp>
      <p:sp>
        <p:nvSpPr>
          <p:cNvPr id="51" name="橙子演示"/>
          <p:cNvSpPr txBox="1"/>
          <p:nvPr>
            <p:custDataLst>
              <p:tags r:id="rId5"/>
            </p:custDataLst>
          </p:nvPr>
        </p:nvSpPr>
        <p:spPr>
          <a:xfrm>
            <a:off x="8084403" y="2099726"/>
            <a:ext cx="113364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1" i="0" u="none" strike="noStrike" kern="0" cap="none" spc="0" normalizeH="0" baseline="0" noProof="0" dirty="0">
                <a:ln>
                  <a:noFill/>
                </a:ln>
                <a:solidFill>
                  <a:srgbClr val="656565"/>
                </a:solidFill>
                <a:effectLst/>
                <a:uLnTx/>
                <a:uFillTx/>
                <a:latin typeface="思源黑体旧字形 Normal" panose="020B0400000000000000" pitchFamily="34" charset="-122"/>
                <a:ea typeface="思源黑体旧字形 Normal" panose="020B0400000000000000" pitchFamily="34" charset="-122"/>
                <a:cs typeface="+mn-cs"/>
              </a:rPr>
              <a:t>看</a:t>
            </a:r>
            <a:endParaRPr kumimoji="0" lang="zh-CN" altLang="en-US" sz="7200" b="1" i="0" u="none" strike="noStrike" kern="0" cap="none" spc="0" normalizeH="0" baseline="0" noProof="0" dirty="0">
              <a:ln>
                <a:noFill/>
              </a:ln>
              <a:solidFill>
                <a:srgbClr val="656565"/>
              </a:solidFill>
              <a:effectLst/>
              <a:uLnTx/>
              <a:uFillTx/>
              <a:latin typeface="思源黑体旧字形 Normal" panose="020B0400000000000000" pitchFamily="34" charset="-122"/>
              <a:ea typeface="思源黑体旧字形 Normal" panose="020B0400000000000000" pitchFamily="34" charset="-122"/>
              <a:cs typeface="+mn-cs"/>
            </a:endParaRPr>
          </a:p>
        </p:txBody>
      </p:sp>
      <p:sp>
        <p:nvSpPr>
          <p:cNvPr id="58" name="橙子演示"/>
          <p:cNvSpPr txBox="1"/>
          <p:nvPr/>
        </p:nvSpPr>
        <p:spPr>
          <a:xfrm>
            <a:off x="5941060" y="3659117"/>
            <a:ext cx="309880" cy="5308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90204"/>
              <a:ea typeface="思源黑体旧字形 Normal" panose="020B0400000000000000" pitchFamily="34" charset="-122"/>
              <a:cs typeface="+mn-cs"/>
              <a:sym typeface="汉仪雅酷黑简" panose="00020600040101010101" charset="-122"/>
            </a:endParaRPr>
          </a:p>
        </p:txBody>
      </p:sp>
      <p:grpSp>
        <p:nvGrpSpPr>
          <p:cNvPr id="63" name="组合 62"/>
          <p:cNvGrpSpPr/>
          <p:nvPr/>
        </p:nvGrpSpPr>
        <p:grpSpPr>
          <a:xfrm flipH="1">
            <a:off x="7408843" y="3826172"/>
            <a:ext cx="2733072" cy="154870"/>
            <a:chOff x="1798547" y="3917516"/>
            <a:chExt cx="2733072" cy="154870"/>
          </a:xfrm>
        </p:grpSpPr>
        <p:cxnSp>
          <p:nvCxnSpPr>
            <p:cNvPr id="64" name="直接连接符 63"/>
            <p:cNvCxnSpPr/>
            <p:nvPr/>
          </p:nvCxnSpPr>
          <p:spPr>
            <a:xfrm>
              <a:off x="1798547" y="3994951"/>
              <a:ext cx="2515226" cy="0"/>
            </a:xfrm>
            <a:prstGeom prst="line">
              <a:avLst/>
            </a:prstGeom>
            <a:ln>
              <a:solidFill>
                <a:srgbClr val="7E7E7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椭圆 64"/>
            <p:cNvSpPr/>
            <p:nvPr/>
          </p:nvSpPr>
          <p:spPr>
            <a:xfrm>
              <a:off x="4376749" y="3917516"/>
              <a:ext cx="154870" cy="154870"/>
            </a:xfrm>
            <a:prstGeom prst="ellipse">
              <a:avLst/>
            </a:prstGeom>
            <a:solidFill>
              <a:srgbClr val="67B7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2050086" y="3826172"/>
            <a:ext cx="2733072" cy="154870"/>
            <a:chOff x="1798547" y="3917516"/>
            <a:chExt cx="2733072" cy="154870"/>
          </a:xfrm>
        </p:grpSpPr>
        <p:cxnSp>
          <p:nvCxnSpPr>
            <p:cNvPr id="70" name="直接连接符 69"/>
            <p:cNvCxnSpPr/>
            <p:nvPr/>
          </p:nvCxnSpPr>
          <p:spPr>
            <a:xfrm>
              <a:off x="1798547" y="3994951"/>
              <a:ext cx="2515226" cy="0"/>
            </a:xfrm>
            <a:prstGeom prst="line">
              <a:avLst/>
            </a:prstGeom>
            <a:ln>
              <a:solidFill>
                <a:srgbClr val="7E7E7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椭圆 70"/>
            <p:cNvSpPr/>
            <p:nvPr/>
          </p:nvSpPr>
          <p:spPr>
            <a:xfrm>
              <a:off x="4376749" y="3917516"/>
              <a:ext cx="154870" cy="154870"/>
            </a:xfrm>
            <a:prstGeom prst="ellipse">
              <a:avLst/>
            </a:prstGeom>
            <a:solidFill>
              <a:srgbClr val="67B7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5" name="文本框 74"/>
          <p:cNvSpPr txBox="1"/>
          <p:nvPr/>
        </p:nvSpPr>
        <p:spPr>
          <a:xfrm>
            <a:off x="2222012" y="4193447"/>
            <a:ext cx="7747976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zh-CN" alt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5.2.11"/>
</p:tagLst>
</file>

<file path=ppt/tags/tag2.xml><?xml version="1.0" encoding="utf-8"?>
<p:tagLst xmlns:p="http://schemas.openxmlformats.org/presentationml/2006/main">
  <p:tag name="KSO_WM_DIAGRAM_VIRTUALLY_FRAME" val="{&quot;height&quot;:455.8622047244095,&quot;left&quot;:52.01062992125983,&quot;top&quot;:127.18551181102362,&quot;width&quot;:841.2363779527557}"/>
</p:tagLst>
</file>

<file path=ppt/tags/tag3.xml><?xml version="1.0" encoding="utf-8"?>
<p:tagLst xmlns:p="http://schemas.openxmlformats.org/presentationml/2006/main">
  <p:tag name="KSO_WM_DIAGRAM_VIRTUALLY_FRAME" val="{&quot;height&quot;:455.8622047244095,&quot;left&quot;:52.01062992125983,&quot;top&quot;:127.18551181102362,&quot;width&quot;:841.2363779527557}"/>
</p:tagLst>
</file>

<file path=ppt/tags/tag4.xml><?xml version="1.0" encoding="utf-8"?>
<p:tagLst xmlns:p="http://schemas.openxmlformats.org/presentationml/2006/main">
  <p:tag name="KSO_WM_DIAGRAM_VIRTUALLY_FRAME" val="{&quot;height&quot;:455.8622047244095,&quot;left&quot;:52.01062992125983,&quot;top&quot;:127.18551181102362,&quot;width&quot;:841.2363779527557}"/>
</p:tagLst>
</file>

<file path=ppt/tags/tag5.xml><?xml version="1.0" encoding="utf-8"?>
<p:tagLst xmlns:p="http://schemas.openxmlformats.org/presentationml/2006/main">
  <p:tag name="KSO_WM_DIAGRAM_VIRTUALLY_FRAME" val="{&quot;height&quot;:455.8622047244095,&quot;left&quot;:52.01062992125983,&quot;top&quot;:127.18551181102362,&quot;width&quot;:841.2363779527557}"/>
</p:tagLst>
</file>

<file path=ppt/tags/tag6.xml><?xml version="1.0" encoding="utf-8"?>
<p:tagLst xmlns:p="http://schemas.openxmlformats.org/presentationml/2006/main">
  <p:tag name="KSO_WM_DIAGRAM_VIRTUALLY_FRAME" val="{&quot;height&quot;:455.8622047244095,&quot;left&quot;:52.01062992125983,&quot;top&quot;:127.18551181102362,&quot;width&quot;:841.2363779527557}"/>
</p:tagLst>
</file>

<file path=ppt/tags/tag7.xml><?xml version="1.0" encoding="utf-8"?>
<p:tagLst xmlns:p="http://schemas.openxmlformats.org/presentationml/2006/main">
  <p:tag name="KSO_WM_DIAGRAM_VIRTUALLY_FRAME" val="{&quot;height&quot;:455.8622047244095,&quot;left&quot;:52.01062992125983,&quot;top&quot;:127.18551181102362,&quot;width&quot;:841.2363779527557}"/>
</p:tagLst>
</file>

<file path=ppt/tags/tag8.xml><?xml version="1.0" encoding="utf-8"?>
<p:tagLst xmlns:p="http://schemas.openxmlformats.org/presentationml/2006/main">
  <p:tag name="KSO_WM_DIAGRAM_VIRTUALLY_FRAME" val="{&quot;height&quot;:455.8622047244095,&quot;left&quot;:52.01062992125983,&quot;top&quot;:127.18551181102362,&quot;width&quot;:841.2363779527557}"/>
</p:tagLst>
</file>

<file path=ppt/tags/tag9.xml><?xml version="1.0" encoding="utf-8"?>
<p:tagLst xmlns:p="http://schemas.openxmlformats.org/presentationml/2006/main">
  <p:tag name="KSO_WM_DIAGRAM_VIRTUALLY_FRAME" val="{&quot;height&quot;:455.8622047244095,&quot;left&quot;:52.01062992125983,&quot;top&quot;:127.18551181102362,&quot;width&quot;:841.2363779527557}"/>
</p:tagLst>
</file>

<file path=ppt/tags/tag10.xml><?xml version="1.0" encoding="utf-8"?>
<p:tagLst xmlns:p="http://schemas.openxmlformats.org/presentationml/2006/main">
  <p:tag name="KSO_WM_DIAGRAM_VIRTUALLY_FRAME" val="{&quot;height&quot;:455.8622047244095,&quot;left&quot;:52.01062992125983,&quot;top&quot;:127.18551181102362,&quot;width&quot;:841.2363779527557}"/>
</p:tagLst>
</file>

<file path=ppt/tags/tag11.xml><?xml version="1.0" encoding="utf-8"?>
<p:tagLst xmlns:p="http://schemas.openxmlformats.org/presentationml/2006/main">
  <p:tag name="PA" val="v5.2.11"/>
</p:tagLst>
</file>

<file path=ppt/tags/tag12.xml><?xml version="1.0" encoding="utf-8"?>
<p:tagLst xmlns:p="http://schemas.openxmlformats.org/presentationml/2006/main">
  <p:tag name="PA" val="v5.2.11"/>
</p:tagLst>
</file>

<file path=ppt/tags/tag13.xml><?xml version="1.0" encoding="utf-8"?>
<p:tagLst xmlns:p="http://schemas.openxmlformats.org/presentationml/2006/main">
  <p:tag name="PA" val="v5.2.11"/>
</p:tagLst>
</file>

<file path=ppt/tags/tag14.xml><?xml version="1.0" encoding="utf-8"?>
<p:tagLst xmlns:p="http://schemas.openxmlformats.org/presentationml/2006/main">
  <p:tag name="PA" val="v5.2.1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汉仪细等线繁"/>
        <a:ea typeface=""/>
        <a:cs typeface=""/>
        <a:font script="Jpan" typeface="游ゴシック Light"/>
        <a:font script="Hang" typeface="맑은 고딕"/>
        <a:font script="Hans" typeface="汉仪细等线繁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汉仪细等线繁"/>
        <a:ea typeface=""/>
        <a:cs typeface=""/>
        <a:font script="Jpan" typeface="游ゴシック Light"/>
        <a:font script="Hang" typeface="맑은 고딕"/>
        <a:font script="Hans" typeface="汉仪细等线繁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4515</Words>
  <Application>WPS 演示</Application>
  <PresentationFormat>宽屏</PresentationFormat>
  <Paragraphs>240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54" baseType="lpstr">
      <vt:lpstr>Arial</vt:lpstr>
      <vt:lpstr>宋体</vt:lpstr>
      <vt:lpstr>Wingdings</vt:lpstr>
      <vt:lpstr>汉仪细等线繁</vt:lpstr>
      <vt:lpstr>方正仿宋_GB2312</vt:lpstr>
      <vt:lpstr>思源黑体旧字形 Normal</vt:lpstr>
      <vt:lpstr>汉仪中黑KW</vt:lpstr>
      <vt:lpstr>Arial</vt:lpstr>
      <vt:lpstr>汉仪雅酷黑简</vt:lpstr>
      <vt:lpstr>华文细黑</vt:lpstr>
      <vt:lpstr>微软雅黑</vt:lpstr>
      <vt:lpstr>Stymie Std Light Italic</vt:lpstr>
      <vt:lpstr>Nanum Gothic</vt:lpstr>
      <vt:lpstr>思源黑体 CN Normal</vt:lpstr>
      <vt:lpstr>Saturday Sans Regular</vt:lpstr>
      <vt:lpstr>微软雅黑</vt:lpstr>
      <vt:lpstr>等线</vt:lpstr>
      <vt:lpstr>汉仪中等线KW</vt:lpstr>
      <vt:lpstr>汉仪旗黑</vt:lpstr>
      <vt:lpstr>宋体</vt:lpstr>
      <vt:lpstr>Arial Unicode MS</vt:lpstr>
      <vt:lpstr>Calibri</vt:lpstr>
      <vt:lpstr>Helvetica Neue</vt:lpstr>
      <vt:lpstr>汉仪书宋二KW</vt:lpstr>
      <vt:lpstr>思源黑体 CN Normal</vt:lpstr>
      <vt:lpstr>微软雅黑</vt:lpstr>
      <vt:lpstr>思源黑体 CN Normal</vt:lpstr>
      <vt:lpstr>思源黑体旧字形 Normal</vt:lpstr>
      <vt:lpstr>宋体-简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 kaimeng</dc:creator>
  <cp:lastModifiedBy>。</cp:lastModifiedBy>
  <cp:revision>21</cp:revision>
  <dcterms:created xsi:type="dcterms:W3CDTF">2025-05-27T11:08:44Z</dcterms:created>
  <dcterms:modified xsi:type="dcterms:W3CDTF">2025-05-27T11:08:44Z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2052-7.4.1.8983</vt:lpwstr>
  </property>
  <property fmtid="{D5CDD505-2E9C-101B-9397-08002B2CF9AE}" pid="3" name="KSOTemplateUUID">
    <vt:lpwstr>v1.0_mb_L6GNNHB3WbDzwlbegBisww==</vt:lpwstr>
  </property>
  <property fmtid="{D5CDD505-2E9C-101B-9397-08002B2CF9AE}" pid="4" name="ICV">
    <vt:lpwstr>8628A664AB8FB38FF81C3568BD8CD9F9_41</vt:lpwstr>
  </property>
</Properties>
</file>